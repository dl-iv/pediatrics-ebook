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9"/>
  </p:notesMasterIdLst>
  <p:sldIdLst>
    <p:sldId id="256" r:id="rId2"/>
    <p:sldId id="257" r:id="rId3"/>
    <p:sldId id="258" r:id="rId4"/>
    <p:sldId id="259" r:id="rId5"/>
    <p:sldId id="260" r:id="rId6"/>
    <p:sldId id="261" r:id="rId7"/>
    <p:sldId id="263" r:id="rId8"/>
    <p:sldId id="264" r:id="rId9"/>
    <p:sldId id="265" r:id="rId10"/>
    <p:sldId id="267" r:id="rId11"/>
    <p:sldId id="262" r:id="rId12"/>
    <p:sldId id="277" r:id="rId13"/>
    <p:sldId id="278" r:id="rId14"/>
    <p:sldId id="286" r:id="rId15"/>
    <p:sldId id="279" r:id="rId16"/>
    <p:sldId id="283" r:id="rId17"/>
    <p:sldId id="281" r:id="rId18"/>
    <p:sldId id="282" r:id="rId19"/>
    <p:sldId id="284" r:id="rId20"/>
    <p:sldId id="285" r:id="rId21"/>
    <p:sldId id="287" r:id="rId22"/>
    <p:sldId id="288" r:id="rId23"/>
    <p:sldId id="289" r:id="rId24"/>
    <p:sldId id="290" r:id="rId25"/>
    <p:sldId id="291" r:id="rId26"/>
    <p:sldId id="292" r:id="rId27"/>
    <p:sldId id="280" r:id="rId28"/>
    <p:sldId id="266" r:id="rId29"/>
    <p:sldId id="293" r:id="rId30"/>
    <p:sldId id="268" r:id="rId31"/>
    <p:sldId id="269" r:id="rId32"/>
    <p:sldId id="270" r:id="rId33"/>
    <p:sldId id="273" r:id="rId34"/>
    <p:sldId id="271" r:id="rId35"/>
    <p:sldId id="276" r:id="rId36"/>
    <p:sldId id="275" r:id="rId37"/>
    <p:sldId id="27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a:srgbClr val="FFFF99"/>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95" autoAdjust="0"/>
  </p:normalViewPr>
  <p:slideViewPr>
    <p:cSldViewPr snapToGrid="0">
      <p:cViewPr varScale="1">
        <p:scale>
          <a:sx n="61" d="100"/>
          <a:sy n="61" d="100"/>
        </p:scale>
        <p:origin x="8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B8C828-5497-4C9C-A58E-3BD695E60BEA}" type="datetimeFigureOut">
              <a:rPr lang="en-US" smtClean="0"/>
              <a:t>3/16/2021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DCEF6-A718-4F5C-9C1D-4AB308BAD90C}" type="slidenum">
              <a:rPr lang="en-US" smtClean="0"/>
              <a:t>‹#›</a:t>
            </a:fld>
            <a:endParaRPr lang="en-US"/>
          </a:p>
        </p:txBody>
      </p:sp>
    </p:spTree>
    <p:extLst>
      <p:ext uri="{BB962C8B-B14F-4D97-AF65-F5344CB8AC3E}">
        <p14:creationId xmlns:p14="http://schemas.microsoft.com/office/powerpoint/2010/main" val="2193287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uptodate.com/contents/malnutrition-in-children-in-resource-limited-countries-clinical-assessment/abstract/24-26"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uptodate.com/contents/malnutrition-in-children-in-resource-limited-countries-clinical-assessment/abstract/24-26"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uptodate.com/contents/malnutrition-in-children-in-resource-limited-countries-clinical-assessment/abstract/46"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panose="020B0604020202020204" pitchFamily="34" charset="0"/>
                <a:cs typeface="Arial" panose="020B0604020202020204" pitchFamily="34" charset="0"/>
              </a:rPr>
              <a:t>WHO: SDD </a:t>
            </a:r>
            <a:r>
              <a:rPr lang="en-US" dirty="0" err="1" smtClean="0">
                <a:latin typeface="Arial" panose="020B0604020202020204" pitchFamily="34" charset="0"/>
                <a:cs typeface="Arial" panose="020B0604020202020204" pitchFamily="34" charset="0"/>
              </a:rPr>
              <a:t>là</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nguyên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nhân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hàng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đầu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gây</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tử</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vong</a:t>
            </a:r>
            <a:r>
              <a:rPr lang="en-US" dirty="0" smtClean="0">
                <a:latin typeface="Arial" panose="020B0604020202020204" pitchFamily="34" charset="0"/>
                <a:cs typeface="Arial" panose="020B0604020202020204" pitchFamily="34" charset="0"/>
              </a:rPr>
              <a:t> ở </a:t>
            </a:r>
            <a:r>
              <a:rPr lang="en-US" dirty="0" err="1" smtClean="0">
                <a:latin typeface="Arial" panose="020B0604020202020204" pitchFamily="34" charset="0"/>
                <a:cs typeface="Arial" panose="020B0604020202020204" pitchFamily="34" charset="0"/>
              </a:rPr>
              <a:t>trẻ</a:t>
            </a:r>
            <a:r>
              <a:rPr lang="en-US" dirty="0" smtClean="0">
                <a:latin typeface="Arial" panose="020B0604020202020204" pitchFamily="34" charset="0"/>
                <a:cs typeface="Arial" panose="020B0604020202020204" pitchFamily="34" charset="0"/>
              </a:rPr>
              <a:t> &lt; 5 </a:t>
            </a:r>
            <a:r>
              <a:rPr lang="en-US" dirty="0" err="1" smtClean="0">
                <a:latin typeface="Arial" panose="020B0604020202020204" pitchFamily="34" charset="0"/>
                <a:cs typeface="Arial" panose="020B0604020202020204" pitchFamily="34" charset="0"/>
              </a:rPr>
              <a:t>tuổi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Năm</a:t>
            </a:r>
            <a:r>
              <a:rPr lang="en-US" dirty="0" smtClean="0">
                <a:latin typeface="Arial" panose="020B0604020202020204" pitchFamily="34" charset="0"/>
                <a:cs typeface="Arial" panose="020B0604020202020204" pitchFamily="34" charset="0"/>
              </a:rPr>
              <a:t> 2005, ở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nước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nhập</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thấp</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và</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trung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bình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có</a:t>
            </a:r>
            <a:r>
              <a:rPr lang="en-US" dirty="0" smtClean="0">
                <a:latin typeface="Arial" panose="020B0604020202020204" pitchFamily="34" charset="0"/>
                <a:cs typeface="Arial" panose="020B0604020202020204" pitchFamily="34" charset="0"/>
              </a:rPr>
              <a:t> 20% </a:t>
            </a:r>
            <a:r>
              <a:rPr lang="en-US" dirty="0" err="1" smtClean="0">
                <a:latin typeface="Arial" panose="020B0604020202020204" pitchFamily="34" charset="0"/>
                <a:cs typeface="Arial" panose="020B0604020202020204" pitchFamily="34" charset="0"/>
              </a:rPr>
              <a:t>trẻ</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em</a:t>
            </a:r>
            <a:r>
              <a:rPr lang="en-US" dirty="0" smtClean="0">
                <a:latin typeface="Arial" panose="020B0604020202020204" pitchFamily="34" charset="0"/>
                <a:cs typeface="Arial" panose="020B0604020202020204" pitchFamily="34" charset="0"/>
              </a:rPr>
              <a:t> &lt; 5 </a:t>
            </a:r>
            <a:r>
              <a:rPr lang="en-US" dirty="0" err="1" smtClean="0">
                <a:latin typeface="Arial" panose="020B0604020202020204" pitchFamily="34" charset="0"/>
                <a:cs typeface="Arial" panose="020B0604020202020204" pitchFamily="34" charset="0"/>
              </a:rPr>
              <a:t>tuổi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nhẹ</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cân</a:t>
            </a:r>
            <a:r>
              <a:rPr lang="en-US" dirty="0" smtClean="0">
                <a:latin typeface="Arial" panose="020B0604020202020204" pitchFamily="34" charset="0"/>
                <a:cs typeface="Arial" panose="020B0604020202020204" pitchFamily="34" charset="0"/>
              </a:rPr>
              <a:t> ( CN/T &lt; - 2SD) </a:t>
            </a:r>
            <a:r>
              <a:rPr lang="en-US" dirty="0" err="1" smtClean="0">
                <a:latin typeface="Arial" panose="020B0604020202020204" pitchFamily="34" charset="0"/>
                <a:cs typeface="Arial" panose="020B0604020202020204" pitchFamily="34" charset="0"/>
              </a:rPr>
              <a:t>và</a:t>
            </a:r>
            <a:r>
              <a:rPr lang="en-US" dirty="0" smtClean="0">
                <a:latin typeface="Arial" panose="020B0604020202020204" pitchFamily="34" charset="0"/>
                <a:cs typeface="Arial" panose="020B0604020202020204" pitchFamily="34" charset="0"/>
              </a:rPr>
              <a:t> 32% </a:t>
            </a:r>
            <a:r>
              <a:rPr lang="en-US" dirty="0" err="1" smtClean="0">
                <a:latin typeface="Arial" panose="020B0604020202020204" pitchFamily="34" charset="0"/>
                <a:cs typeface="Arial" panose="020B0604020202020204" pitchFamily="34" charset="0"/>
              </a:rPr>
              <a:t>thấp</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còi</a:t>
            </a:r>
            <a:r>
              <a:rPr lang="en-US" dirty="0" smtClean="0">
                <a:latin typeface="Arial" panose="020B0604020202020204" pitchFamily="34" charset="0"/>
                <a:cs typeface="Arial" panose="020B0604020202020204" pitchFamily="34" charset="0"/>
              </a:rPr>
              <a:t> (CC/T &lt; - 2SD).</a:t>
            </a:r>
          </a:p>
          <a:p>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7</a:t>
            </a:fld>
            <a:endParaRPr lang="en-US"/>
          </a:p>
        </p:txBody>
      </p:sp>
    </p:spTree>
    <p:extLst>
      <p:ext uri="{BB962C8B-B14F-4D97-AF65-F5344CB8AC3E}">
        <p14:creationId xmlns:p14="http://schemas.microsoft.com/office/powerpoint/2010/main" val="2352852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IgA: immunoglobulin A; IL-6: interleukin 6; CRP: Protein phản ứng C; MRI: chụp cộng hưởng từ; GFR: mức lọc cầu thận; UTI: nhiễm trùng đường tiết niệu; GH: hormone tăng trưởng; IGF-1: yếu tố tăng trưởng giống insulin 1; BMR: tỷ lệ trao đổi chất cơ bản.</a:t>
            </a:r>
            <a:r>
              <a:rPr lang="vi-VN" dirty="0" smtClean="0"/>
              <a:t/>
            </a:r>
            <a:br>
              <a:rPr lang="vi-VN" dirty="0" smtClean="0"/>
            </a:br>
            <a:r>
              <a:rPr lang="vi-VN" sz="1200" b="0" i="0" kern="1200" dirty="0" smtClean="0">
                <a:solidFill>
                  <a:schemeClr val="tx1"/>
                </a:solidFill>
                <a:effectLst/>
                <a:latin typeface="+mn-lt"/>
                <a:ea typeface="+mn-ea"/>
                <a:cs typeface="+mn-cs"/>
              </a:rPr>
              <a:t>* Cung lượng tim giảm tương ứng với khối lượng cơ thể gầy. Chỉ số tim (liên quan đến cung lượng tim với diện tích bề mặt cơ thể) là bình thường.</a:t>
            </a:r>
            <a:r>
              <a:rPr lang="vi-VN" dirty="0" smtClean="0"/>
              <a:t/>
            </a:r>
            <a:br>
              <a:rPr lang="vi-VN" dirty="0" smtClean="0"/>
            </a:br>
            <a:r>
              <a:rPr lang="vi-VN" sz="1200" b="0" i="0" kern="1200" dirty="0" smtClean="0">
                <a:solidFill>
                  <a:schemeClr val="tx1"/>
                </a:solidFill>
                <a:effectLst/>
                <a:latin typeface="+mn-lt"/>
                <a:ea typeface="+mn-ea"/>
                <a:cs typeface="+mn-cs"/>
              </a:rPr>
              <a:t>¶ Trẻ em bị marasmus hoặc kwashiorkor (suy dinh dưỡng phù nề) có cân bằng chất lỏng không ổn định: Quá tải chất lỏng có thể gây ra suy tim sung huyết cấp tính, trong khi giảm thể tích tuần hoàn nhanh chóng làm giảm tưới máu mô.</a:t>
            </a:r>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14</a:t>
            </a:fld>
            <a:endParaRPr lang="en-US"/>
          </a:p>
        </p:txBody>
      </p:sp>
    </p:spTree>
    <p:extLst>
      <p:ext uri="{BB962C8B-B14F-4D97-AF65-F5344CB8AC3E}">
        <p14:creationId xmlns:p14="http://schemas.microsoft.com/office/powerpoint/2010/main" val="769576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Giảm</a:t>
            </a:r>
            <a:r>
              <a:rPr lang="en-US" baseline="0" dirty="0" smtClean="0"/>
              <a:t> </a:t>
            </a:r>
            <a:r>
              <a:rPr lang="en-US" baseline="0" dirty="0" err="1" smtClean="0"/>
              <a:t>cảm</a:t>
            </a:r>
            <a:r>
              <a:rPr lang="en-US" baseline="0" dirty="0" smtClean="0"/>
              <a:t> </a:t>
            </a:r>
            <a:r>
              <a:rPr lang="en-US" baseline="0" dirty="0" err="1" smtClean="0"/>
              <a:t>giác</a:t>
            </a:r>
            <a:r>
              <a:rPr lang="en-US" baseline="0" dirty="0" smtClean="0"/>
              <a:t> them </a:t>
            </a:r>
            <a:r>
              <a:rPr lang="en-US" baseline="0" dirty="0" err="1" smtClean="0"/>
              <a:t>ăn</a:t>
            </a:r>
            <a:r>
              <a:rPr lang="en-US" baseline="0" dirty="0" smtClean="0"/>
              <a:t>, </a:t>
            </a:r>
            <a:r>
              <a:rPr lang="en-US" baseline="0" dirty="0" err="1" smtClean="0"/>
              <a:t>thiếu</a:t>
            </a:r>
            <a:r>
              <a:rPr lang="en-US" baseline="0" dirty="0" smtClean="0"/>
              <a:t> </a:t>
            </a:r>
            <a:r>
              <a:rPr lang="en-US" baseline="0" dirty="0" err="1" smtClean="0"/>
              <a:t>hụt</a:t>
            </a:r>
            <a:r>
              <a:rPr lang="en-US" baseline="0" dirty="0" smtClean="0"/>
              <a:t> DD, </a:t>
            </a:r>
            <a:r>
              <a:rPr lang="en-US" baseline="0" dirty="0" err="1" smtClean="0"/>
              <a:t>kém</a:t>
            </a:r>
            <a:r>
              <a:rPr lang="en-US" baseline="0" dirty="0" smtClean="0"/>
              <a:t> </a:t>
            </a:r>
            <a:r>
              <a:rPr lang="en-US" baseline="0" dirty="0" err="1" smtClean="0"/>
              <a:t>hấp</a:t>
            </a:r>
            <a:r>
              <a:rPr lang="en-US" baseline="0" dirty="0" smtClean="0"/>
              <a:t> </a:t>
            </a:r>
            <a:r>
              <a:rPr lang="en-US" baseline="0" dirty="0" err="1" smtClean="0"/>
              <a:t>thu</a:t>
            </a:r>
            <a:r>
              <a:rPr lang="en-US" baseline="0" dirty="0" smtClean="0"/>
              <a:t>, </a:t>
            </a:r>
            <a:r>
              <a:rPr lang="en-US" baseline="0" dirty="0" err="1" smtClean="0"/>
              <a:t>thay</a:t>
            </a:r>
            <a:r>
              <a:rPr lang="en-US" baseline="0" dirty="0" smtClean="0"/>
              <a:t> </a:t>
            </a:r>
            <a:r>
              <a:rPr lang="en-US" baseline="0" dirty="0" err="1" smtClean="0"/>
              <a:t>đởi</a:t>
            </a:r>
            <a:r>
              <a:rPr lang="en-US" baseline="0" dirty="0" smtClean="0"/>
              <a:t> </a:t>
            </a:r>
            <a:r>
              <a:rPr lang="en-US" baseline="0" dirty="0" err="1" smtClean="0"/>
              <a:t>chuyển</a:t>
            </a:r>
            <a:r>
              <a:rPr lang="en-US" baseline="0" dirty="0" smtClean="0"/>
              <a:t> </a:t>
            </a:r>
            <a:r>
              <a:rPr lang="en-US" baseline="0" dirty="0" err="1" smtClean="0"/>
              <a:t>hóa</a:t>
            </a:r>
            <a:r>
              <a:rPr lang="en-US" baseline="0" dirty="0" smtClean="0"/>
              <a:t> =&gt; SDD =&gt; </a:t>
            </a:r>
            <a:r>
              <a:rPr lang="en-US" baseline="0" dirty="0" err="1" smtClean="0"/>
              <a:t>giảm</a:t>
            </a:r>
            <a:r>
              <a:rPr lang="en-US" baseline="0" dirty="0" smtClean="0"/>
              <a:t> </a:t>
            </a:r>
            <a:r>
              <a:rPr lang="en-US" baseline="0" dirty="0" err="1" smtClean="0"/>
              <a:t>miễn</a:t>
            </a:r>
            <a:r>
              <a:rPr lang="en-US" baseline="0" dirty="0" smtClean="0"/>
              <a:t> </a:t>
            </a:r>
            <a:r>
              <a:rPr lang="en-US" baseline="0" dirty="0" err="1" smtClean="0"/>
              <a:t>dịch</a:t>
            </a:r>
            <a:r>
              <a:rPr lang="en-US" baseline="0" dirty="0" smtClean="0"/>
              <a:t>, </a:t>
            </a:r>
            <a:r>
              <a:rPr lang="en-US" baseline="0" dirty="0" err="1" smtClean="0"/>
              <a:t>đe</a:t>
            </a:r>
            <a:r>
              <a:rPr lang="en-US" baseline="0" dirty="0" smtClean="0"/>
              <a:t> </a:t>
            </a:r>
            <a:r>
              <a:rPr lang="en-US" baseline="0" dirty="0" err="1" smtClean="0"/>
              <a:t>dọa</a:t>
            </a:r>
            <a:r>
              <a:rPr lang="en-US" baseline="0" dirty="0" smtClean="0"/>
              <a:t> hang </a:t>
            </a:r>
            <a:r>
              <a:rPr lang="en-US" baseline="0" dirty="0" err="1" smtClean="0"/>
              <a:t>rào</a:t>
            </a:r>
            <a:r>
              <a:rPr lang="en-US" baseline="0" dirty="0" smtClean="0"/>
              <a:t> </a:t>
            </a:r>
            <a:r>
              <a:rPr lang="en-US" baseline="0" dirty="0" err="1" smtClean="0"/>
              <a:t>biểu</a:t>
            </a:r>
            <a:r>
              <a:rPr lang="en-US" baseline="0" dirty="0" smtClean="0"/>
              <a:t> </a:t>
            </a:r>
            <a:r>
              <a:rPr lang="en-US" baseline="0" dirty="0" err="1" smtClean="0"/>
              <a:t>mô</a:t>
            </a:r>
            <a:r>
              <a:rPr lang="en-US" baseline="0" dirty="0" smtClean="0"/>
              <a:t>, </a:t>
            </a:r>
            <a:r>
              <a:rPr lang="en-US" baseline="0" dirty="0" err="1" smtClean="0"/>
              <a:t>sụt</a:t>
            </a:r>
            <a:r>
              <a:rPr lang="en-US" baseline="0" dirty="0" smtClean="0"/>
              <a:t> </a:t>
            </a:r>
            <a:r>
              <a:rPr lang="en-US" baseline="0" dirty="0" err="1" smtClean="0"/>
              <a:t>cân</a:t>
            </a:r>
            <a:r>
              <a:rPr lang="en-US" baseline="0" dirty="0" smtClean="0"/>
              <a:t>, </a:t>
            </a:r>
            <a:r>
              <a:rPr lang="en-US" baseline="0" dirty="0" err="1" smtClean="0"/>
              <a:t>chậm</a:t>
            </a:r>
            <a:r>
              <a:rPr lang="en-US" baseline="0" dirty="0" smtClean="0"/>
              <a:t> </a:t>
            </a:r>
            <a:r>
              <a:rPr lang="en-US" baseline="0" dirty="0" err="1" smtClean="0"/>
              <a:t>tăng</a:t>
            </a:r>
            <a:r>
              <a:rPr lang="en-US" baseline="0" dirty="0" smtClean="0"/>
              <a:t> </a:t>
            </a:r>
            <a:r>
              <a:rPr lang="en-US" baseline="0" dirty="0" err="1" smtClean="0"/>
              <a:t>trưởng</a:t>
            </a:r>
            <a:endParaRPr lang="en-US" baseline="0" dirty="0" smtClean="0"/>
          </a:p>
          <a:p>
            <a:r>
              <a:rPr lang="en-US" baseline="0" dirty="0" smtClean="0"/>
              <a:t>=&gt; </a:t>
            </a:r>
            <a:r>
              <a:rPr lang="en-US" baseline="0" dirty="0" err="1" smtClean="0"/>
              <a:t>nhiễm</a:t>
            </a:r>
            <a:r>
              <a:rPr lang="en-US" baseline="0" dirty="0" smtClean="0"/>
              <a:t> </a:t>
            </a:r>
            <a:r>
              <a:rPr lang="en-US" baseline="0" dirty="0" err="1" smtClean="0"/>
              <a:t>trùng</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16</a:t>
            </a:fld>
            <a:endParaRPr lang="en-US"/>
          </a:p>
        </p:txBody>
      </p:sp>
    </p:spTree>
    <p:extLst>
      <p:ext uri="{BB962C8B-B14F-4D97-AF65-F5344CB8AC3E}">
        <p14:creationId xmlns:p14="http://schemas.microsoft.com/office/powerpoint/2010/main" val="3121298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17</a:t>
            </a:fld>
            <a:endParaRPr lang="en-US"/>
          </a:p>
        </p:txBody>
      </p:sp>
    </p:spTree>
    <p:extLst>
      <p:ext uri="{BB962C8B-B14F-4D97-AF65-F5344CB8AC3E}">
        <p14:creationId xmlns:p14="http://schemas.microsoft.com/office/powerpoint/2010/main" val="787974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Rối loạn chức năng ruột do môi trường, còn được gọi là bệnh ruột suy dinh dưỡng, có liên quan đến teo lông nhung, mỏng niêm mạc, tăng tính thấm ruột, mất các protein nối chặt (dẫn đến mất chức năng hàng rào ruột), thâm nhiễm tế bào lympho và rối loạn sinh học ruột [ </a:t>
            </a:r>
            <a:r>
              <a:rPr lang="vi-VN" sz="1200" b="0" i="0" u="sng" kern="1200" dirty="0" smtClean="0">
                <a:solidFill>
                  <a:schemeClr val="tx1"/>
                </a:solidFill>
                <a:effectLst/>
                <a:latin typeface="+mn-lt"/>
                <a:ea typeface="+mn-ea"/>
                <a:cs typeface="+mn-cs"/>
                <a:hlinkClick r:id="rId3"/>
              </a:rPr>
              <a:t>24-26</a:t>
            </a:r>
            <a:r>
              <a:rPr lang="vi-VN" sz="1200" b="0" i="0" kern="1200" dirty="0" smtClean="0">
                <a:solidFill>
                  <a:schemeClr val="tx1"/>
                </a:solidFill>
                <a:effectLst/>
                <a:latin typeface="+mn-lt"/>
                <a:ea typeface="+mn-ea"/>
                <a:cs typeface="+mn-cs"/>
              </a:rPr>
              <a:t> ]. Sự phát triển quá mức của vi khuẩn Luminal là phổ biến và chức năng hàng rào đường ruột bị suy giảm, vốn thường hạn chế sự di chuyển của vi khuẩn và độc tố của chúng, có thể dẫn đến nhiễm khuẩn huyết và nhiễm trùng huyết.</a:t>
            </a:r>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19</a:t>
            </a:fld>
            <a:endParaRPr lang="en-US"/>
          </a:p>
        </p:txBody>
      </p:sp>
    </p:spTree>
    <p:extLst>
      <p:ext uri="{BB962C8B-B14F-4D97-AF65-F5344CB8AC3E}">
        <p14:creationId xmlns:p14="http://schemas.microsoft.com/office/powerpoint/2010/main" val="4254437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dirty="0" smtClean="0">
                <a:solidFill>
                  <a:schemeClr val="tx1"/>
                </a:solidFill>
                <a:effectLst/>
                <a:latin typeface="+mn-lt"/>
                <a:ea typeface="+mn-ea"/>
                <a:cs typeface="+mn-cs"/>
              </a:rPr>
              <a:t>Rối loạn chức năng ruột do môi trường, còn được gọi là bệnh ruột suy dinh dưỡng, có liên quan đến teo lông nhung, mỏng niêm mạc, tăng tính thấm ruột, mất các protein nối chặt (dẫn đến mất chức năng hàng rào ruột), thâm nhiễm tế bào lympho và rối loạn sinh học ruột [ </a:t>
            </a:r>
            <a:r>
              <a:rPr lang="vi-VN" sz="1200" b="0" i="0" u="sng" kern="1200" dirty="0" smtClean="0">
                <a:solidFill>
                  <a:schemeClr val="tx1"/>
                </a:solidFill>
                <a:effectLst/>
                <a:latin typeface="+mn-lt"/>
                <a:ea typeface="+mn-ea"/>
                <a:cs typeface="+mn-cs"/>
                <a:hlinkClick r:id="rId3"/>
              </a:rPr>
              <a:t>24-26</a:t>
            </a:r>
            <a:r>
              <a:rPr lang="vi-VN" sz="1200" b="0" i="0" kern="1200" dirty="0" smtClean="0">
                <a:solidFill>
                  <a:schemeClr val="tx1"/>
                </a:solidFill>
                <a:effectLst/>
                <a:latin typeface="+mn-lt"/>
                <a:ea typeface="+mn-ea"/>
                <a:cs typeface="+mn-cs"/>
              </a:rPr>
              <a:t> ]. Sự phát triển quá mức của vi khuẩn Luminal là phổ biến và chức năng hàng rào đường ruột bị suy giảm, vốn thường hạn chế sự di chuyển của vi khuẩn và độc tố của chúng, có thể dẫn đến nhiễm khuẩn huyết và nhiễm trùng huyết.</a:t>
            </a: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Commensal bacterial: VK </a:t>
            </a:r>
            <a:r>
              <a:rPr lang="en-US" sz="1200" b="0" i="0" kern="1200" dirty="0" err="1" smtClean="0">
                <a:solidFill>
                  <a:schemeClr val="tx1"/>
                </a:solidFill>
                <a:effectLst/>
                <a:latin typeface="+mn-lt"/>
                <a:ea typeface="+mn-ea"/>
                <a:cs typeface="+mn-cs"/>
              </a:rPr>
              <a:t>cộng</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sinh</a:t>
            </a:r>
            <a:r>
              <a:rPr lang="en-US" sz="1200" b="0" i="0" kern="1200" baseline="0" dirty="0" smtClean="0">
                <a:solidFill>
                  <a:schemeClr val="tx1"/>
                </a:solidFill>
                <a:effectLst/>
                <a:latin typeface="+mn-lt"/>
                <a:ea typeface="+mn-ea"/>
                <a:cs typeface="+mn-cs"/>
              </a:rPr>
              <a:t>; Ubiquitin: </a:t>
            </a:r>
            <a:r>
              <a:rPr lang="en-US" sz="1200" b="0" i="0" kern="1200" baseline="0" dirty="0" err="1" smtClean="0">
                <a:solidFill>
                  <a:schemeClr val="tx1"/>
                </a:solidFill>
                <a:effectLst/>
                <a:latin typeface="+mn-lt"/>
                <a:ea typeface="+mn-ea"/>
                <a:cs typeface="+mn-cs"/>
              </a:rPr>
              <a:t>hệ</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thống</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phân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giải</a:t>
            </a:r>
            <a:r>
              <a:rPr lang="en-US" sz="1200" b="0" i="0" kern="1200" baseline="0" dirty="0" smtClean="0">
                <a:solidFill>
                  <a:schemeClr val="tx1"/>
                </a:solidFill>
                <a:effectLst/>
                <a:latin typeface="+mn-lt"/>
                <a:ea typeface="+mn-ea"/>
                <a:cs typeface="+mn-cs"/>
              </a:rPr>
              <a:t> protein; </a:t>
            </a:r>
            <a:r>
              <a:rPr lang="en-US" sz="1200" b="0" i="0" kern="1200" baseline="0" dirty="0" err="1" smtClean="0">
                <a:solidFill>
                  <a:schemeClr val="tx1"/>
                </a:solidFill>
                <a:effectLst/>
                <a:latin typeface="+mn-lt"/>
                <a:ea typeface="+mn-ea"/>
                <a:cs typeface="+mn-cs"/>
              </a:rPr>
              <a:t>Gliadin</a:t>
            </a:r>
            <a:r>
              <a:rPr lang="en-US" sz="1200" b="0" i="0" kern="1200" baseline="0" dirty="0" smtClean="0">
                <a:solidFill>
                  <a:schemeClr val="tx1"/>
                </a:solidFill>
                <a:effectLst/>
                <a:latin typeface="+mn-lt"/>
                <a:ea typeface="+mn-ea"/>
                <a:cs typeface="+mn-cs"/>
              </a:rPr>
              <a:t>: protein </a:t>
            </a:r>
            <a:r>
              <a:rPr lang="en-US" sz="1200" b="0" i="0" kern="1200" baseline="0" dirty="0" err="1" smtClean="0">
                <a:solidFill>
                  <a:schemeClr val="tx1"/>
                </a:solidFill>
                <a:effectLst/>
                <a:latin typeface="+mn-lt"/>
                <a:ea typeface="+mn-ea"/>
                <a:cs typeface="+mn-cs"/>
              </a:rPr>
              <a:t>trong</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cỏ</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lúa</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mỳ</a:t>
            </a:r>
            <a:r>
              <a:rPr lang="en-US" sz="1200" b="0" i="0" kern="1200" baseline="0" dirty="0" smtClean="0">
                <a:solidFill>
                  <a:schemeClr val="tx1"/>
                </a:solidFill>
                <a:effectLst/>
                <a:latin typeface="+mn-lt"/>
                <a:ea typeface="+mn-ea"/>
                <a:cs typeface="+mn-cs"/>
              </a:rPr>
              <a:t>. Tight junction : </a:t>
            </a:r>
            <a:r>
              <a:rPr lang="en-US" sz="1200" b="0" i="0" kern="1200" baseline="0" dirty="0" err="1" smtClean="0">
                <a:solidFill>
                  <a:schemeClr val="tx1"/>
                </a:solidFill>
                <a:effectLst/>
                <a:latin typeface="+mn-lt"/>
                <a:ea typeface="+mn-ea"/>
                <a:cs typeface="+mn-cs"/>
              </a:rPr>
              <a:t>cầu</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nối</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kiểu</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chữ</a:t>
            </a:r>
            <a:r>
              <a:rPr lang="en-US" sz="1200" b="0" i="0" kern="1200" baseline="0" dirty="0" smtClean="0">
                <a:solidFill>
                  <a:schemeClr val="tx1"/>
                </a:solidFill>
                <a:effectLst/>
                <a:latin typeface="+mn-lt"/>
                <a:ea typeface="+mn-ea"/>
                <a:cs typeface="+mn-cs"/>
              </a:rPr>
              <a:t> X </a:t>
            </a:r>
            <a:r>
              <a:rPr lang="en-US" sz="1200" b="0" i="0" kern="1200" baseline="0" dirty="0" err="1" smtClean="0">
                <a:solidFill>
                  <a:schemeClr val="tx1"/>
                </a:solidFill>
                <a:effectLst/>
                <a:latin typeface="+mn-lt"/>
                <a:ea typeface="+mn-ea"/>
                <a:cs typeface="+mn-cs"/>
              </a:rPr>
              <a:t>liên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kết</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chặt</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chẽ</a:t>
            </a:r>
            <a:r>
              <a:rPr lang="en-US" sz="1200" b="0" i="0" kern="1200" baseline="0" dirty="0" smtClean="0">
                <a:solidFill>
                  <a:schemeClr val="tx1"/>
                </a:solidFill>
                <a:effectLst/>
                <a:latin typeface="+mn-lt"/>
                <a:ea typeface="+mn-ea"/>
                <a:cs typeface="+mn-cs"/>
              </a:rPr>
              <a:t> 2 TB </a:t>
            </a:r>
            <a:r>
              <a:rPr lang="en-US" sz="1200" b="0" i="0" kern="1200" baseline="0" dirty="0" err="1" smtClean="0">
                <a:solidFill>
                  <a:schemeClr val="tx1"/>
                </a:solidFill>
                <a:effectLst/>
                <a:latin typeface="+mn-lt"/>
                <a:ea typeface="+mn-ea"/>
                <a:cs typeface="+mn-cs"/>
              </a:rPr>
              <a:t>ruột</a:t>
            </a:r>
            <a:r>
              <a:rPr lang="en-US" sz="1200" b="0" i="0" kern="1200" baseline="0" dirty="0" smtClean="0">
                <a:solidFill>
                  <a:schemeClr val="tx1"/>
                </a:solidFill>
                <a:effectLst/>
                <a:latin typeface="+mn-lt"/>
                <a:ea typeface="+mn-ea"/>
                <a:cs typeface="+mn-cs"/>
              </a:rPr>
              <a:t>. NF –</a:t>
            </a:r>
            <a:r>
              <a:rPr lang="en-US" sz="1200" b="0" i="0" kern="1200" baseline="0" dirty="0" err="1" smtClean="0">
                <a:solidFill>
                  <a:schemeClr val="tx1"/>
                </a:solidFill>
                <a:effectLst/>
                <a:latin typeface="+mn-lt"/>
                <a:ea typeface="+mn-ea"/>
                <a:cs typeface="+mn-cs"/>
              </a:rPr>
              <a:t>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yếu</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tố</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điều</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hòa</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sx</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các</a:t>
            </a:r>
            <a:r>
              <a:rPr lang="en-US" sz="1200" b="0" i="0" kern="1200" baseline="0" dirty="0" smtClean="0">
                <a:solidFill>
                  <a:schemeClr val="tx1"/>
                </a:solidFill>
                <a:effectLst/>
                <a:latin typeface="+mn-lt"/>
                <a:ea typeface="+mn-ea"/>
                <a:cs typeface="+mn-cs"/>
              </a:rPr>
              <a:t> cytokine </a:t>
            </a:r>
            <a:r>
              <a:rPr lang="en-US" sz="1200" b="0" i="0" kern="1200" baseline="0" dirty="0" err="1" smtClean="0">
                <a:solidFill>
                  <a:schemeClr val="tx1"/>
                </a:solidFill>
                <a:effectLst/>
                <a:latin typeface="+mn-lt"/>
                <a:ea typeface="+mn-ea"/>
                <a:cs typeface="+mn-cs"/>
              </a:rPr>
              <a:t>và</a:t>
            </a:r>
            <a:r>
              <a:rPr lang="en-US" sz="1200" b="0" i="0" kern="1200" baseline="0" dirty="0" smtClean="0">
                <a:solidFill>
                  <a:schemeClr val="tx1"/>
                </a:solidFill>
                <a:effectLst/>
                <a:latin typeface="+mn-lt"/>
                <a:ea typeface="+mn-ea"/>
                <a:cs typeface="+mn-cs"/>
              </a:rPr>
              <a:t> interferon, </a:t>
            </a:r>
            <a:r>
              <a:rPr lang="en-US" sz="1200" b="0" i="0" kern="1200" baseline="0" dirty="0" err="1" smtClean="0">
                <a:solidFill>
                  <a:schemeClr val="tx1"/>
                </a:solidFill>
                <a:effectLst/>
                <a:latin typeface="+mn-lt"/>
                <a:ea typeface="+mn-ea"/>
                <a:cs typeface="+mn-cs"/>
              </a:rPr>
              <a:t>IkB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yếu</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tố</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ức</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chế</a:t>
            </a:r>
            <a:r>
              <a:rPr lang="en-US" sz="1200" b="0" i="0" kern="1200" baseline="0" dirty="0" smtClean="0">
                <a:solidFill>
                  <a:schemeClr val="tx1"/>
                </a:solidFill>
                <a:effectLst/>
                <a:latin typeface="+mn-lt"/>
                <a:ea typeface="+mn-ea"/>
                <a:cs typeface="+mn-cs"/>
              </a:rPr>
              <a:t> NF – </a:t>
            </a:r>
            <a:r>
              <a:rPr lang="en-US" sz="1200" b="0" i="0" kern="1200" baseline="0" dirty="0" err="1" smtClean="0">
                <a:solidFill>
                  <a:schemeClr val="tx1"/>
                </a:solidFill>
                <a:effectLst/>
                <a:latin typeface="+mn-lt"/>
                <a:ea typeface="+mn-ea"/>
                <a:cs typeface="+mn-cs"/>
              </a:rPr>
              <a:t>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bt</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ko</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gắn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với</a:t>
            </a:r>
            <a:r>
              <a:rPr lang="en-US" sz="1200" b="0" i="0" kern="1200" baseline="0" dirty="0" smtClean="0">
                <a:solidFill>
                  <a:schemeClr val="tx1"/>
                </a:solidFill>
                <a:effectLst/>
                <a:latin typeface="+mn-lt"/>
                <a:ea typeface="+mn-ea"/>
                <a:cs typeface="+mn-cs"/>
              </a:rPr>
              <a:t> NF – </a:t>
            </a:r>
            <a:r>
              <a:rPr lang="en-US" sz="1200" b="0" i="0" kern="1200" baseline="0" dirty="0" err="1" smtClean="0">
                <a:solidFill>
                  <a:schemeClr val="tx1"/>
                </a:solidFill>
                <a:effectLst/>
                <a:latin typeface="+mn-lt"/>
                <a:ea typeface="+mn-ea"/>
                <a:cs typeface="+mn-cs"/>
              </a:rPr>
              <a:t>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khi</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gắn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vào</a:t>
            </a:r>
            <a:r>
              <a:rPr lang="en-US" sz="1200" b="0" i="0" kern="1200" baseline="0" dirty="0" smtClean="0">
                <a:solidFill>
                  <a:schemeClr val="tx1"/>
                </a:solidFill>
                <a:effectLst/>
                <a:latin typeface="+mn-lt"/>
                <a:ea typeface="+mn-ea"/>
                <a:cs typeface="+mn-cs"/>
              </a:rPr>
              <a:t> NF – </a:t>
            </a:r>
            <a:r>
              <a:rPr lang="en-US" sz="1200" b="0" i="0" kern="1200" baseline="0" dirty="0" err="1" smtClean="0">
                <a:solidFill>
                  <a:schemeClr val="tx1"/>
                </a:solidFill>
                <a:effectLst/>
                <a:latin typeface="+mn-lt"/>
                <a:ea typeface="+mn-ea"/>
                <a:cs typeface="+mn-cs"/>
              </a:rPr>
              <a:t>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làm</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cho</a:t>
            </a:r>
            <a:r>
              <a:rPr lang="en-US" sz="1200" b="0" i="0" kern="1200" baseline="0" dirty="0" smtClean="0">
                <a:solidFill>
                  <a:schemeClr val="tx1"/>
                </a:solidFill>
                <a:effectLst/>
                <a:latin typeface="+mn-lt"/>
                <a:ea typeface="+mn-ea"/>
                <a:cs typeface="+mn-cs"/>
              </a:rPr>
              <a:t> NF – </a:t>
            </a:r>
            <a:r>
              <a:rPr lang="en-US" sz="1200" b="0" i="0" kern="1200" baseline="0" dirty="0" err="1" smtClean="0">
                <a:solidFill>
                  <a:schemeClr val="tx1"/>
                </a:solidFill>
                <a:effectLst/>
                <a:latin typeface="+mn-lt"/>
                <a:ea typeface="+mn-ea"/>
                <a:cs typeface="+mn-cs"/>
              </a:rPr>
              <a:t>kB</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ko</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thể</a:t>
            </a:r>
            <a:r>
              <a:rPr lang="en-US" sz="1200" b="0" i="0" kern="1200" baseline="0" dirty="0" smtClean="0">
                <a:solidFill>
                  <a:schemeClr val="tx1"/>
                </a:solidFill>
                <a:effectLst/>
                <a:latin typeface="+mn-lt"/>
                <a:ea typeface="+mn-ea"/>
                <a:cs typeface="+mn-cs"/>
              </a:rPr>
              <a:t> di </a:t>
            </a:r>
            <a:r>
              <a:rPr lang="en-US" sz="1200" b="0" i="0" kern="1200" baseline="0" dirty="0" err="1" smtClean="0">
                <a:solidFill>
                  <a:schemeClr val="tx1"/>
                </a:solidFill>
                <a:effectLst/>
                <a:latin typeface="+mn-lt"/>
                <a:ea typeface="+mn-ea"/>
                <a:cs typeface="+mn-cs"/>
              </a:rPr>
              <a:t>chuyển</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từ</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bào</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tương</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vào</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nhân</a:t>
            </a:r>
            <a:r>
              <a:rPr lang="en-US" sz="1200" b="0" i="0" kern="1200" baseline="0" smtClean="0">
                <a:solidFill>
                  <a:schemeClr val="tx1"/>
                </a:solidFill>
                <a:effectLst/>
                <a:latin typeface="+mn-lt"/>
                <a:ea typeface="+mn-ea"/>
                <a:cs typeface="+mn-cs"/>
              </a:rPr>
              <a:t>.</a:t>
            </a:r>
            <a:endParaRPr lang="en-US" dirty="0" smtClean="0"/>
          </a:p>
          <a:p>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20</a:t>
            </a:fld>
            <a:endParaRPr lang="en-US"/>
          </a:p>
        </p:txBody>
      </p:sp>
    </p:spTree>
    <p:extLst>
      <p:ext uri="{BB962C8B-B14F-4D97-AF65-F5344CB8AC3E}">
        <p14:creationId xmlns:p14="http://schemas.microsoft.com/office/powerpoint/2010/main" val="910745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vi-VN" dirty="0" smtClean="0"/>
              <a:t>một số bệnh nhân bị suy dinh dưỡng phù nề mà không có hạ albumin máu</a:t>
            </a:r>
            <a:r>
              <a:rPr lang="en-US" dirty="0" smtClean="0"/>
              <a:t>; 1 </a:t>
            </a:r>
            <a:r>
              <a:rPr lang="en-US" dirty="0" err="1" smtClean="0"/>
              <a:t>số</a:t>
            </a:r>
            <a:r>
              <a:rPr lang="en-US" dirty="0" smtClean="0"/>
              <a:t> BN </a:t>
            </a:r>
            <a:r>
              <a:rPr lang="en-US" dirty="0" err="1" smtClean="0"/>
              <a:t>vẫn</a:t>
            </a:r>
            <a:r>
              <a:rPr lang="en-US" dirty="0" smtClean="0"/>
              <a:t> </a:t>
            </a:r>
            <a:r>
              <a:rPr lang="en-US" dirty="0" err="1" smtClean="0"/>
              <a:t>bị</a:t>
            </a:r>
            <a:r>
              <a:rPr lang="en-US" dirty="0" smtClean="0"/>
              <a:t> </a:t>
            </a:r>
            <a:r>
              <a:rPr lang="vi-VN" dirty="0" smtClean="0"/>
              <a:t>suy dinh dưỡng phù nề mặc dù có đủ protein trong chế độ ăn (ví dụ, ở trẻ bú mẹ hoàn toàn) và </a:t>
            </a:r>
            <a:r>
              <a:rPr lang="en-US" dirty="0" err="1" smtClean="0"/>
              <a:t>có</a:t>
            </a:r>
            <a:r>
              <a:rPr lang="en-US" dirty="0" smtClean="0"/>
              <a:t> </a:t>
            </a:r>
            <a:r>
              <a:rPr lang="vi-VN" dirty="0" smtClean="0"/>
              <a:t>những </a:t>
            </a:r>
            <a:r>
              <a:rPr lang="en-US" dirty="0" smtClean="0"/>
              <a:t>BN </a:t>
            </a:r>
            <a:r>
              <a:rPr lang="en-US" dirty="0" err="1" smtClean="0"/>
              <a:t>phục</a:t>
            </a:r>
            <a:r>
              <a:rPr lang="en-US" dirty="0" smtClean="0"/>
              <a:t> </a:t>
            </a:r>
            <a:r>
              <a:rPr lang="en-US" dirty="0" err="1" smtClean="0"/>
              <a:t>hồi</a:t>
            </a:r>
            <a:r>
              <a:rPr lang="vi-VN" dirty="0" smtClean="0"/>
              <a:t> sau suy dinh dưỡng phù nề với sự chăm sóc hỗ trợ không </a:t>
            </a:r>
            <a:r>
              <a:rPr lang="en-US" dirty="0" err="1" smtClean="0"/>
              <a:t>cần</a:t>
            </a:r>
            <a:r>
              <a:rPr lang="en-US" dirty="0" smtClean="0"/>
              <a:t> </a:t>
            </a:r>
            <a:r>
              <a:rPr lang="vi-VN" dirty="0" smtClean="0"/>
              <a:t>tăng cường protein trong chế độ ăn.</a:t>
            </a:r>
          </a:p>
          <a:p>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24</a:t>
            </a:fld>
            <a:endParaRPr lang="en-US"/>
          </a:p>
        </p:txBody>
      </p:sp>
    </p:spTree>
    <p:extLst>
      <p:ext uri="{BB962C8B-B14F-4D97-AF65-F5344CB8AC3E}">
        <p14:creationId xmlns:p14="http://schemas.microsoft.com/office/powerpoint/2010/main" val="198955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Trong một nghiên cứu, suy dinh dưỡng được gây ra ở chuột bằng cách chuyển hệ vi sinh vật trong phân những trẻ bị suy dinh dưỡng </a:t>
            </a:r>
            <a:r>
              <a:rPr lang="en-US" dirty="0" err="1" smtClean="0"/>
              <a:t>vàò</a:t>
            </a:r>
            <a:r>
              <a:rPr lang="en-US" baseline="0" dirty="0" smtClean="0"/>
              <a:t> </a:t>
            </a:r>
            <a:r>
              <a:rPr lang="en-US" baseline="0" dirty="0" err="1" smtClean="0"/>
              <a:t>ruột</a:t>
            </a:r>
            <a:r>
              <a:rPr lang="en-US" baseline="0" dirty="0" smtClean="0"/>
              <a:t> </a:t>
            </a:r>
            <a:r>
              <a:rPr lang="en-US" baseline="0" dirty="0" err="1" smtClean="0"/>
              <a:t>của</a:t>
            </a:r>
            <a:r>
              <a:rPr lang="en-US" baseline="0" dirty="0" smtClean="0"/>
              <a:t> </a:t>
            </a:r>
            <a:r>
              <a:rPr lang="en-US" baseline="0" dirty="0" err="1" smtClean="0"/>
              <a:t>chột</a:t>
            </a:r>
            <a:r>
              <a:rPr lang="en-US" baseline="0" dirty="0" smtClean="0"/>
              <a:t> </a:t>
            </a:r>
            <a:r>
              <a:rPr lang="en-US" baseline="0" dirty="0" err="1" smtClean="0"/>
              <a:t>và</a:t>
            </a:r>
            <a:r>
              <a:rPr lang="en-US" baseline="0" dirty="0" smtClean="0"/>
              <a:t> </a:t>
            </a:r>
            <a:r>
              <a:rPr lang="en-US" baseline="0" dirty="0" err="1" smtClean="0"/>
              <a:t>cho</a:t>
            </a:r>
            <a:r>
              <a:rPr lang="vi-VN" dirty="0" smtClean="0"/>
              <a:t> chúng ăn chế độ ăn nghèo dinh dưỡng </a:t>
            </a:r>
            <a:r>
              <a:rPr lang="en-US" dirty="0" err="1" smtClean="0"/>
              <a:t>như</a:t>
            </a:r>
            <a:r>
              <a:rPr lang="en-US" baseline="0" dirty="0" smtClean="0"/>
              <a:t> </a:t>
            </a:r>
            <a:r>
              <a:rPr lang="en-US" baseline="0" dirty="0" err="1" smtClean="0"/>
              <a:t>đứa</a:t>
            </a:r>
            <a:r>
              <a:rPr lang="en-US" baseline="0" dirty="0" smtClean="0"/>
              <a:t> </a:t>
            </a:r>
            <a:r>
              <a:rPr lang="en-US" baseline="0" dirty="0" err="1" smtClean="0"/>
              <a:t>trẻ</a:t>
            </a:r>
            <a:r>
              <a:rPr lang="vi-VN" dirty="0" smtClean="0"/>
              <a:t> [ </a:t>
            </a:r>
            <a:r>
              <a:rPr lang="vi-VN" u="sng" dirty="0" smtClean="0">
                <a:hlinkClick r:id="rId3"/>
              </a:rPr>
              <a:t>46</a:t>
            </a:r>
            <a:r>
              <a:rPr lang="vi-VN" dirty="0" smtClean="0"/>
              <a:t> ]. Cả sự chuyển giao hệ vi sinh vật trong phân hay chế độ ăn uống tại chỗ đều không đủ để gây ra suy dinh dưỡng.</a:t>
            </a:r>
            <a:endParaRPr lang="en-US" dirty="0"/>
          </a:p>
        </p:txBody>
      </p:sp>
      <p:sp>
        <p:nvSpPr>
          <p:cNvPr id="4" name="Slide Number Placeholder 3"/>
          <p:cNvSpPr>
            <a:spLocks noGrp="1"/>
          </p:cNvSpPr>
          <p:nvPr>
            <p:ph type="sldNum" sz="quarter" idx="10"/>
          </p:nvPr>
        </p:nvSpPr>
        <p:spPr/>
        <p:txBody>
          <a:bodyPr/>
          <a:lstStyle/>
          <a:p>
            <a:fld id="{534DCEF6-A718-4F5C-9C1D-4AB308BAD90C}" type="slidenum">
              <a:rPr lang="en-US" smtClean="0"/>
              <a:t>26</a:t>
            </a:fld>
            <a:endParaRPr lang="en-US"/>
          </a:p>
        </p:txBody>
      </p:sp>
    </p:spTree>
    <p:extLst>
      <p:ext uri="{BB962C8B-B14F-4D97-AF65-F5344CB8AC3E}">
        <p14:creationId xmlns:p14="http://schemas.microsoft.com/office/powerpoint/2010/main" val="1316729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296455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1434085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824601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67590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B8F8953-874A-48F2-AC47-319385A61F7B}" type="datetimeFigureOut">
              <a:rPr lang="en-US" smtClean="0"/>
              <a:t>3/16/2021</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76940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B8F8953-874A-48F2-AC47-319385A61F7B}" type="datetimeFigureOut">
              <a:rPr lang="en-US" smtClean="0"/>
              <a:t>3/16/2021</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197472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8F8953-874A-48F2-AC47-319385A61F7B}" type="datetimeFigureOut">
              <a:rPr lang="en-US" smtClean="0"/>
              <a:t>3/16/2021</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050346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4233442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741335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1406360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EFEB2D-5995-4555-8671-2192E263DE3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8395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2281968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EFEB2D-5995-4555-8671-2192E263DE3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86538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B8F8953-874A-48F2-AC47-319385A61F7B}" type="datetimeFigureOut">
              <a:rPr lang="en-US" smtClean="0"/>
              <a:t>3/16/2021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2000295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3014980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8F8953-874A-48F2-AC47-319385A61F7B}" type="datetimeFigureOut">
              <a:rPr lang="en-US" smtClean="0"/>
              <a:t>3/16/2021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EFEB2D-5995-4555-8671-2192E263DE38}" type="slidenum">
              <a:rPr lang="en-US" smtClean="0"/>
              <a:t>‹#›</a:t>
            </a:fld>
            <a:endParaRPr lang="en-US"/>
          </a:p>
        </p:txBody>
      </p:sp>
    </p:spTree>
    <p:extLst>
      <p:ext uri="{BB962C8B-B14F-4D97-AF65-F5344CB8AC3E}">
        <p14:creationId xmlns:p14="http://schemas.microsoft.com/office/powerpoint/2010/main" val="759985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extBox 1"/>
          <p:cNvSpPr txBox="1"/>
          <p:nvPr userDrawn="1"/>
        </p:nvSpPr>
        <p:spPr>
          <a:xfrm>
            <a:off x="203200" y="6477001"/>
            <a:ext cx="1245854" cy="246221"/>
          </a:xfrm>
          <a:prstGeom prst="rect">
            <a:avLst/>
          </a:prstGeom>
          <a:noFill/>
        </p:spPr>
        <p:txBody>
          <a:bodyPr wrap="none" rtlCol="0">
            <a:spAutoFit/>
          </a:bodyPr>
          <a:lstStyle/>
          <a:p>
            <a:r>
              <a:rPr lang="en-US" sz="1000" dirty="0" smtClean="0"/>
              <a:t>Copyrights apply</a:t>
            </a:r>
            <a:endParaRPr lang="en-US" sz="1000" dirty="0"/>
          </a:p>
        </p:txBody>
      </p:sp>
    </p:spTree>
    <p:extLst>
      <p:ext uri="{BB962C8B-B14F-4D97-AF65-F5344CB8AC3E}">
        <p14:creationId xmlns:p14="http://schemas.microsoft.com/office/powerpoint/2010/main" val="2099664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B8F8953-874A-48F2-AC47-319385A61F7B}" type="datetimeFigureOut">
              <a:rPr lang="en-US" smtClean="0"/>
              <a:t>3/16/2021</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9EFEB2D-5995-4555-8671-2192E263DE38}" type="slidenum">
              <a:rPr lang="en-US" smtClean="0"/>
              <a:t>‹#›</a:t>
            </a:fld>
            <a:endParaRPr lang="en-US"/>
          </a:p>
        </p:txBody>
      </p:sp>
    </p:spTree>
    <p:extLst>
      <p:ext uri="{BB962C8B-B14F-4D97-AF65-F5344CB8AC3E}">
        <p14:creationId xmlns:p14="http://schemas.microsoft.com/office/powerpoint/2010/main" val="2351789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fif"/><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who.int/nutrition/publications/severemalnutrition/9789241598163_eng.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uptodate.com/contents/sodium-chloride-preparations-saline-and-oral-salt-tablets-pediatric-drug-information?search=sinh+l%C3%BD+b%E1%BB%87nh+c%E1%BB%A7a+suy+dinh+d%C6%B0%E1%BB%A1ng&amp;topicRef=5883&amp;source=see_link"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8250" y="1428148"/>
            <a:ext cx="8915399" cy="2262781"/>
          </a:xfrm>
        </p:spPr>
        <p:txBody>
          <a:bodyPr>
            <a:normAutofit fontScale="90000"/>
          </a:bodyPr>
          <a:lstStyle/>
          <a:p>
            <a:pPr>
              <a:lnSpc>
                <a:spcPct val="150000"/>
              </a:lnSpc>
            </a:pPr>
            <a:r>
              <a:rPr lang="en-US" dirty="0" smtClean="0">
                <a:latin typeface="Arial" panose="020B0604020202020204" pitchFamily="34" charset="0"/>
                <a:cs typeface="Arial" panose="020B0604020202020204" pitchFamily="34" charset="0"/>
              </a:rPr>
              <a:t>SUY DINH DƯỠNG PROTEIN VÀ NĂNG LƯỢNG</a:t>
            </a:r>
            <a:endParaRPr lang="en-US"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165600" y="4381500"/>
            <a:ext cx="8026400" cy="1877763"/>
          </a:xfrm>
        </p:spPr>
        <p:txBody>
          <a:bodyPr>
            <a:normAutofit/>
          </a:bodyPr>
          <a:lstStyle/>
          <a:p>
            <a:pPr algn="just"/>
            <a:r>
              <a:rPr lang="en-US" sz="2000" dirty="0" smtClean="0">
                <a:solidFill>
                  <a:srgbClr val="00B050"/>
                </a:solidFill>
                <a:latin typeface="Arial" panose="020B0604020202020204" pitchFamily="34" charset="0"/>
                <a:cs typeface="Arial" panose="020B0604020202020204" pitchFamily="34" charset="0"/>
              </a:rPr>
              <a:t>BS. </a:t>
            </a:r>
            <a:r>
              <a:rPr lang="en-US" sz="2000" dirty="0" err="1" smtClean="0">
                <a:solidFill>
                  <a:srgbClr val="00B050"/>
                </a:solidFill>
                <a:latin typeface="Arial" panose="020B0604020202020204" pitchFamily="34" charset="0"/>
                <a:cs typeface="Arial" panose="020B0604020202020204" pitchFamily="34" charset="0"/>
              </a:rPr>
              <a:t>Trần</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Thị</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Hải</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Yến</a:t>
            </a:r>
            <a:r>
              <a:rPr lang="en-US" sz="2000" dirty="0" smtClean="0">
                <a:solidFill>
                  <a:srgbClr val="00B050"/>
                </a:solidFill>
                <a:latin typeface="Arial" panose="020B0604020202020204" pitchFamily="34" charset="0"/>
                <a:cs typeface="Arial" panose="020B0604020202020204" pitchFamily="34" charset="0"/>
              </a:rPr>
              <a:t> _ </a:t>
            </a:r>
            <a:r>
              <a:rPr lang="en-US" sz="2000" dirty="0" err="1" smtClean="0">
                <a:solidFill>
                  <a:srgbClr val="00B050"/>
                </a:solidFill>
                <a:latin typeface="Arial" panose="020B0604020202020204" pitchFamily="34" charset="0"/>
                <a:cs typeface="Arial" panose="020B0604020202020204" pitchFamily="34" charset="0"/>
              </a:rPr>
              <a:t>Bộ</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môn</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Nhi</a:t>
            </a:r>
            <a:endParaRPr lang="en-US" sz="2000" dirty="0" smtClean="0">
              <a:solidFill>
                <a:srgbClr val="00B050"/>
              </a:solidFill>
              <a:latin typeface="Arial" panose="020B0604020202020204" pitchFamily="34" charset="0"/>
              <a:cs typeface="Arial" panose="020B0604020202020204" pitchFamily="34" charset="0"/>
            </a:endParaRPr>
          </a:p>
          <a:p>
            <a:pPr algn="just"/>
            <a:r>
              <a:rPr lang="en-US" sz="2000" dirty="0" err="1" smtClean="0">
                <a:solidFill>
                  <a:srgbClr val="00B050"/>
                </a:solidFill>
                <a:latin typeface="Arial" panose="020B0604020202020204" pitchFamily="34" charset="0"/>
                <a:cs typeface="Arial" panose="020B0604020202020204" pitchFamily="34" charset="0"/>
              </a:rPr>
              <a:t>Đối</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tượng</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Sinh</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viên</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đa</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khoa</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năm</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thứ</a:t>
            </a:r>
            <a:r>
              <a:rPr lang="en-US" sz="2000" dirty="0" smtClean="0">
                <a:solidFill>
                  <a:srgbClr val="00B050"/>
                </a:solidFill>
                <a:latin typeface="Arial" panose="020B0604020202020204" pitchFamily="34" charset="0"/>
                <a:cs typeface="Arial" panose="020B0604020202020204" pitchFamily="34" charset="0"/>
              </a:rPr>
              <a:t> 4 – </a:t>
            </a:r>
            <a:r>
              <a:rPr lang="en-US" sz="2000" dirty="0" err="1" smtClean="0">
                <a:solidFill>
                  <a:srgbClr val="00B050"/>
                </a:solidFill>
                <a:latin typeface="Arial" panose="020B0604020202020204" pitchFamily="34" charset="0"/>
                <a:cs typeface="Arial" panose="020B0604020202020204" pitchFamily="34" charset="0"/>
              </a:rPr>
              <a:t>vòng</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luân</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khoa</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Nhi</a:t>
            </a:r>
            <a:r>
              <a:rPr lang="en-US" sz="2000" dirty="0" smtClean="0">
                <a:solidFill>
                  <a:srgbClr val="00B050"/>
                </a:solidFill>
                <a:latin typeface="Arial" panose="020B0604020202020204" pitchFamily="34" charset="0"/>
                <a:cs typeface="Arial" panose="020B0604020202020204" pitchFamily="34" charset="0"/>
              </a:rPr>
              <a:t> </a:t>
            </a:r>
          </a:p>
          <a:p>
            <a:pPr algn="just"/>
            <a:r>
              <a:rPr lang="en-US" sz="2000" dirty="0" err="1" smtClean="0">
                <a:solidFill>
                  <a:srgbClr val="00B050"/>
                </a:solidFill>
                <a:latin typeface="Arial" panose="020B0604020202020204" pitchFamily="34" charset="0"/>
                <a:cs typeface="Arial" panose="020B0604020202020204" pitchFamily="34" charset="0"/>
              </a:rPr>
              <a:t>Số</a:t>
            </a:r>
            <a:r>
              <a:rPr lang="en-US" sz="2000" dirty="0" smtClean="0">
                <a:solidFill>
                  <a:srgbClr val="00B050"/>
                </a:solidFill>
                <a:latin typeface="Arial" panose="020B0604020202020204" pitchFamily="34" charset="0"/>
                <a:cs typeface="Arial" panose="020B0604020202020204" pitchFamily="34" charset="0"/>
              </a:rPr>
              <a:t> </a:t>
            </a:r>
            <a:r>
              <a:rPr lang="en-US" sz="2000" dirty="0" err="1" smtClean="0">
                <a:solidFill>
                  <a:srgbClr val="00B050"/>
                </a:solidFill>
                <a:latin typeface="Arial" panose="020B0604020202020204" pitchFamily="34" charset="0"/>
                <a:cs typeface="Arial" panose="020B0604020202020204" pitchFamily="34" charset="0"/>
              </a:rPr>
              <a:t>tiết</a:t>
            </a:r>
            <a:r>
              <a:rPr lang="en-US" sz="2000" dirty="0" smtClean="0">
                <a:solidFill>
                  <a:srgbClr val="00B050"/>
                </a:solidFill>
                <a:latin typeface="Arial" panose="020B0604020202020204" pitchFamily="34" charset="0"/>
                <a:cs typeface="Arial" panose="020B0604020202020204" pitchFamily="34" charset="0"/>
              </a:rPr>
              <a:t> : 2</a:t>
            </a:r>
            <a:endParaRPr lang="en-US" sz="20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9312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Những</a:t>
            </a:r>
            <a:r>
              <a:rPr lang="en-US" dirty="0" smtClean="0"/>
              <a:t> </a:t>
            </a:r>
            <a:r>
              <a:rPr lang="en-US" dirty="0" err="1" smtClean="0"/>
              <a:t>trẻ</a:t>
            </a:r>
            <a:r>
              <a:rPr lang="en-US" dirty="0" smtClean="0"/>
              <a:t> </a:t>
            </a:r>
            <a:r>
              <a:rPr lang="en-US" dirty="0" err="1" smtClean="0"/>
              <a:t>sau</a:t>
            </a:r>
            <a:r>
              <a:rPr lang="en-US" dirty="0" smtClean="0"/>
              <a:t> </a:t>
            </a:r>
            <a:r>
              <a:rPr lang="en-US" dirty="0" err="1" smtClean="0"/>
              <a:t>có</a:t>
            </a:r>
            <a:r>
              <a:rPr lang="en-US" dirty="0" smtClean="0"/>
              <a:t> </a:t>
            </a:r>
            <a:r>
              <a:rPr lang="en-US" dirty="0" err="1" smtClean="0"/>
              <a:t>vấn</a:t>
            </a:r>
            <a:r>
              <a:rPr lang="en-US" dirty="0" smtClean="0"/>
              <a:t> </a:t>
            </a:r>
            <a:r>
              <a:rPr lang="en-US" dirty="0" err="1" smtClean="0"/>
              <a:t>đề</a:t>
            </a:r>
            <a:r>
              <a:rPr lang="en-US" dirty="0" smtClean="0"/>
              <a:t> </a:t>
            </a:r>
            <a:r>
              <a:rPr lang="en-US" dirty="0" err="1" smtClean="0"/>
              <a:t>về</a:t>
            </a:r>
            <a:r>
              <a:rPr lang="en-US" dirty="0" smtClean="0"/>
              <a:t> </a:t>
            </a:r>
            <a:r>
              <a:rPr lang="en-US" dirty="0" err="1" smtClean="0"/>
              <a:t>dinh</a:t>
            </a:r>
            <a:r>
              <a:rPr lang="en-US" dirty="0" smtClean="0"/>
              <a:t> </a:t>
            </a:r>
            <a:r>
              <a:rPr lang="en-US" dirty="0" err="1" smtClean="0"/>
              <a:t>dưỡng</a:t>
            </a:r>
            <a:r>
              <a:rPr lang="en-US" dirty="0" smtClean="0"/>
              <a:t> </a:t>
            </a:r>
            <a:r>
              <a:rPr lang="en-US" dirty="0" err="1" smtClean="0"/>
              <a:t>không</a:t>
            </a:r>
            <a:r>
              <a:rPr lang="en-US" dirty="0" smtClean="0"/>
              <a: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954" y="1924250"/>
            <a:ext cx="7209321" cy="4264793"/>
          </a:xfrm>
        </p:spPr>
      </p:pic>
    </p:spTree>
    <p:extLst>
      <p:ext uri="{BB962C8B-B14F-4D97-AF65-F5344CB8AC3E}">
        <p14:creationId xmlns:p14="http://schemas.microsoft.com/office/powerpoint/2010/main" val="3963033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Những</a:t>
            </a:r>
            <a:r>
              <a:rPr lang="en-US" dirty="0" smtClean="0"/>
              <a:t> con </a:t>
            </a:r>
            <a:r>
              <a:rPr lang="en-US" dirty="0" err="1" smtClean="0"/>
              <a:t>số</a:t>
            </a:r>
            <a:r>
              <a:rPr lang="en-US" dirty="0" smtClean="0"/>
              <a:t> </a:t>
            </a:r>
            <a:r>
              <a:rPr lang="en-US" dirty="0" err="1" smtClean="0"/>
              <a:t>nói</a:t>
            </a:r>
            <a:r>
              <a:rPr lang="en-US" dirty="0" smtClean="0"/>
              <a:t> </a:t>
            </a:r>
            <a:r>
              <a:rPr lang="en-US" dirty="0" err="1" smtClean="0"/>
              <a:t>gì</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4342" y="1600919"/>
            <a:ext cx="8248851" cy="4302493"/>
          </a:xfrm>
        </p:spPr>
      </p:pic>
      <p:sp>
        <p:nvSpPr>
          <p:cNvPr id="5" name="Rectangle 4"/>
          <p:cNvSpPr/>
          <p:nvPr/>
        </p:nvSpPr>
        <p:spPr>
          <a:xfrm>
            <a:off x="3567764" y="6233890"/>
            <a:ext cx="6096000" cy="646331"/>
          </a:xfrm>
          <a:prstGeom prst="rect">
            <a:avLst/>
          </a:prstGeom>
        </p:spPr>
        <p:txBody>
          <a:bodyPr>
            <a:spAutoFit/>
          </a:bodyPr>
          <a:lstStyle/>
          <a:p>
            <a:r>
              <a:rPr lang="en-US" b="0" i="0" dirty="0" smtClean="0">
                <a:solidFill>
                  <a:srgbClr val="666666"/>
                </a:solidFill>
                <a:effectLst/>
                <a:latin typeface="Open Sans"/>
              </a:rPr>
              <a:t>Overview UNICEF – WHO – The World Bank Joint Child Malnutrition Estimates 2014</a:t>
            </a:r>
            <a:endParaRPr lang="en-US" dirty="0"/>
          </a:p>
        </p:txBody>
      </p:sp>
    </p:spTree>
    <p:extLst>
      <p:ext uri="{BB962C8B-B14F-4D97-AF65-F5344CB8AC3E}">
        <p14:creationId xmlns:p14="http://schemas.microsoft.com/office/powerpoint/2010/main" val="3215003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MỤC TIÊU</a:t>
            </a:r>
            <a:endParaRPr lang="en-US" b="1" dirty="0"/>
          </a:p>
        </p:txBody>
      </p:sp>
      <p:sp>
        <p:nvSpPr>
          <p:cNvPr id="3" name="Content Placeholder 2"/>
          <p:cNvSpPr>
            <a:spLocks noGrp="1"/>
          </p:cNvSpPr>
          <p:nvPr>
            <p:ph idx="1"/>
          </p:nvPr>
        </p:nvSpPr>
        <p:spPr>
          <a:xfrm>
            <a:off x="1549667" y="1443789"/>
            <a:ext cx="9954945" cy="4467433"/>
          </a:xfrm>
        </p:spPr>
        <p:txBody>
          <a:bodyPr>
            <a:normAutofit fontScale="92500"/>
          </a:bodyPr>
          <a:lstStyle/>
          <a:p>
            <a:pPr marL="0" indent="0" algn="just">
              <a:lnSpc>
                <a:spcPct val="150000"/>
              </a:lnSpc>
              <a:buNone/>
            </a:pPr>
            <a:r>
              <a:rPr lang="en-US" sz="2800" dirty="0" err="1" smtClean="0">
                <a:latin typeface="Arial" panose="020B0604020202020204" pitchFamily="34" charset="0"/>
                <a:cs typeface="Arial" panose="020B0604020202020204" pitchFamily="34" charset="0"/>
              </a:rPr>
              <a:t>Sau</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khi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học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xong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bài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này</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sinh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viên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có</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khả</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năng</a:t>
            </a:r>
            <a:r>
              <a:rPr lang="en-US" sz="2800" dirty="0" smtClean="0">
                <a:latin typeface="Arial" panose="020B0604020202020204" pitchFamily="34" charset="0"/>
                <a:cs typeface="Arial" panose="020B0604020202020204" pitchFamily="34" charset="0"/>
              </a:rPr>
              <a:t>:</a:t>
            </a:r>
          </a:p>
          <a:p>
            <a:pPr algn="just">
              <a:lnSpc>
                <a:spcPct val="150000"/>
              </a:lnSpc>
            </a:pPr>
            <a:r>
              <a:rPr lang="en-US" sz="2800" dirty="0" smtClean="0">
                <a:latin typeface="Arial" panose="020B0604020202020204" pitchFamily="34" charset="0"/>
                <a:cs typeface="Arial" panose="020B0604020202020204" pitchFamily="34" charset="0"/>
              </a:rPr>
              <a:t>1</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bày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được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cách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phân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loại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suy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dưỡng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theo</a:t>
            </a:r>
            <a:r>
              <a:rPr lang="en-US" sz="2800" dirty="0">
                <a:latin typeface="Arial" panose="020B0604020202020204" pitchFamily="34" charset="0"/>
                <a:cs typeface="Arial" panose="020B0604020202020204" pitchFamily="34" charset="0"/>
              </a:rPr>
              <a:t> WHO</a:t>
            </a:r>
          </a:p>
          <a:p>
            <a:pPr algn="just">
              <a:lnSpc>
                <a:spcPct val="150000"/>
              </a:lnSpc>
            </a:pPr>
            <a:r>
              <a:rPr lang="en-US" sz="2800" dirty="0">
                <a:latin typeface="Arial" panose="020B0604020202020204" pitchFamily="34" charset="0"/>
                <a:cs typeface="Arial" panose="020B0604020202020204" pitchFamily="34" charset="0"/>
              </a:rPr>
              <a:t>2. </a:t>
            </a:r>
            <a:r>
              <a:rPr lang="en-US" sz="2800" dirty="0" err="1">
                <a:latin typeface="Arial" panose="020B0604020202020204" pitchFamily="34" charset="0"/>
                <a:cs typeface="Arial" panose="020B0604020202020204" pitchFamily="34" charset="0"/>
              </a:rPr>
              <a:t>Chỉ</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định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được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và</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phân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tích</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được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các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xét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nghiệm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phù</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hợp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đối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với</a:t>
            </a:r>
            <a:r>
              <a:rPr lang="en-US" sz="2800" dirty="0">
                <a:latin typeface="Arial" panose="020B0604020202020204" pitchFamily="34" charset="0"/>
                <a:cs typeface="Arial" panose="020B0604020202020204" pitchFamily="34" charset="0"/>
              </a:rPr>
              <a:t> 1 </a:t>
            </a:r>
            <a:r>
              <a:rPr lang="en-US" sz="2800" dirty="0" err="1">
                <a:latin typeface="Arial" panose="020B0604020202020204" pitchFamily="34" charset="0"/>
                <a:cs typeface="Arial" panose="020B0604020202020204" pitchFamily="34" charset="0"/>
              </a:rPr>
              <a:t>trường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hợp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bị</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suy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dưỡng</a:t>
            </a:r>
            <a:endParaRPr lang="en-US" sz="2800" dirty="0">
              <a:latin typeface="Arial" panose="020B0604020202020204" pitchFamily="34" charset="0"/>
              <a:cs typeface="Arial" panose="020B0604020202020204" pitchFamily="34" charset="0"/>
            </a:endParaRPr>
          </a:p>
          <a:p>
            <a:pPr algn="just">
              <a:lnSpc>
                <a:spcPct val="150000"/>
              </a:lnSpc>
            </a:pPr>
            <a:r>
              <a:rPr lang="en-US" sz="2800" dirty="0">
                <a:latin typeface="Arial" panose="020B0604020202020204" pitchFamily="34" charset="0"/>
                <a:cs typeface="Arial" panose="020B0604020202020204" pitchFamily="34" charset="0"/>
              </a:rPr>
              <a:t>3. </a:t>
            </a:r>
            <a:r>
              <a:rPr lang="en-US" sz="2800" dirty="0" err="1" smtClean="0">
                <a:latin typeface="Arial" panose="020B0604020202020204" pitchFamily="34" charset="0"/>
                <a:cs typeface="Arial" panose="020B0604020202020204" pitchFamily="34" charset="0"/>
              </a:rPr>
              <a:t>Chẩn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đoán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được</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trạng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dưỡng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một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trường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hợp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bệnh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đưa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quyết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định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phù</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hợp</a:t>
            </a:r>
            <a:endParaRPr lang="en-US" sz="2800" dirty="0">
              <a:latin typeface="Arial" panose="020B0604020202020204" pitchFamily="34" charset="0"/>
              <a:cs typeface="Arial" panose="020B0604020202020204" pitchFamily="34" charset="0"/>
            </a:endParaRPr>
          </a:p>
          <a:p>
            <a:pPr marL="0" indent="0">
              <a:lnSpc>
                <a:spcPct val="150000"/>
              </a:lnSpc>
              <a:buNone/>
            </a:pPr>
            <a:endParaRPr lang="en-US" dirty="0"/>
          </a:p>
        </p:txBody>
      </p:sp>
    </p:spTree>
    <p:extLst>
      <p:ext uri="{BB962C8B-B14F-4D97-AF65-F5344CB8AC3E}">
        <p14:creationId xmlns:p14="http://schemas.microsoft.com/office/powerpoint/2010/main" val="244638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Làm</a:t>
            </a:r>
            <a:r>
              <a:rPr lang="en-US" dirty="0" smtClean="0"/>
              <a:t> </a:t>
            </a:r>
            <a:r>
              <a:rPr lang="en-US" dirty="0" err="1" smtClean="0"/>
              <a:t>thế</a:t>
            </a:r>
            <a:r>
              <a:rPr lang="en-US" dirty="0" smtClean="0"/>
              <a:t> </a:t>
            </a:r>
            <a:r>
              <a:rPr lang="en-US" dirty="0" err="1" smtClean="0"/>
              <a:t>nào</a:t>
            </a:r>
            <a:r>
              <a:rPr lang="en-US" dirty="0" smtClean="0"/>
              <a:t> </a:t>
            </a:r>
            <a:r>
              <a:rPr lang="en-US" dirty="0" err="1" smtClean="0"/>
              <a:t>để</a:t>
            </a:r>
            <a:r>
              <a:rPr lang="en-US" dirty="0" smtClean="0"/>
              <a:t> </a:t>
            </a:r>
            <a:r>
              <a:rPr lang="en-US" dirty="0" err="1" smtClean="0"/>
              <a:t>biết</a:t>
            </a:r>
            <a:r>
              <a:rPr lang="en-US" dirty="0" smtClean="0"/>
              <a:t> 1 </a:t>
            </a:r>
            <a:r>
              <a:rPr lang="en-US" dirty="0" err="1" smtClean="0"/>
              <a:t>đứa</a:t>
            </a:r>
            <a:r>
              <a:rPr lang="en-US" dirty="0" smtClean="0"/>
              <a:t> </a:t>
            </a:r>
            <a:r>
              <a:rPr lang="en-US" dirty="0" err="1" smtClean="0"/>
              <a:t>trẻ</a:t>
            </a:r>
            <a:r>
              <a:rPr lang="en-US" dirty="0" smtClean="0"/>
              <a:t> </a:t>
            </a:r>
            <a:r>
              <a:rPr lang="en-US" dirty="0" err="1" smtClean="0"/>
              <a:t>gặp</a:t>
            </a:r>
            <a:r>
              <a:rPr lang="en-US" dirty="0" smtClean="0"/>
              <a:t> </a:t>
            </a:r>
            <a:r>
              <a:rPr lang="en-US" dirty="0" err="1" smtClean="0"/>
              <a:t>vấn</a:t>
            </a:r>
            <a:r>
              <a:rPr lang="en-US" dirty="0" smtClean="0"/>
              <a:t> </a:t>
            </a:r>
            <a:r>
              <a:rPr lang="en-US" dirty="0" err="1" smtClean="0"/>
              <a:t>đề</a:t>
            </a:r>
            <a:r>
              <a:rPr lang="en-US" dirty="0" smtClean="0"/>
              <a:t> </a:t>
            </a:r>
            <a:r>
              <a:rPr lang="en-US" dirty="0" err="1" smtClean="0"/>
              <a:t>về</a:t>
            </a:r>
            <a:r>
              <a:rPr lang="en-US" dirty="0" smtClean="0"/>
              <a:t> </a:t>
            </a:r>
            <a:r>
              <a:rPr lang="en-US" dirty="0" err="1" smtClean="0"/>
              <a:t>dinh</a:t>
            </a:r>
            <a:r>
              <a:rPr lang="en-US" dirty="0" smtClean="0"/>
              <a:t> </a:t>
            </a:r>
            <a:r>
              <a:rPr lang="en-US" dirty="0" err="1" smtClean="0"/>
              <a:t>dưỡng</a:t>
            </a:r>
            <a:r>
              <a:rPr lang="en-US" dirty="0" smtClean="0"/>
              <a:t>?</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7588" y="1905000"/>
            <a:ext cx="4018674" cy="377825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8996" y="4381500"/>
            <a:ext cx="4593247" cy="24765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2937" y="1905000"/>
            <a:ext cx="5715000" cy="2476500"/>
          </a:xfrm>
          <a:prstGeom prst="rect">
            <a:avLst/>
          </a:prstGeom>
        </p:spPr>
      </p:pic>
    </p:spTree>
    <p:extLst>
      <p:ext uri="{BB962C8B-B14F-4D97-AF65-F5344CB8AC3E}">
        <p14:creationId xmlns:p14="http://schemas.microsoft.com/office/powerpoint/2010/main" val="17940315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0488" y="374074"/>
            <a:ext cx="4861415" cy="627610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6480" y="457200"/>
            <a:ext cx="5773554" cy="6411191"/>
          </a:xfrm>
          <a:prstGeom prst="rect">
            <a:avLst/>
          </a:prstGeom>
        </p:spPr>
      </p:pic>
    </p:spTree>
    <p:extLst>
      <p:ext uri="{BB962C8B-B14F-4D97-AF65-F5344CB8AC3E}">
        <p14:creationId xmlns:p14="http://schemas.microsoft.com/office/powerpoint/2010/main" val="6052690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921" y="287226"/>
            <a:ext cx="8911687" cy="742677"/>
          </a:xfrm>
        </p:spPr>
        <p:txBody>
          <a:bodyPr/>
          <a:lstStyle/>
          <a:p>
            <a:r>
              <a:rPr lang="en-US" dirty="0" smtClean="0"/>
              <a:t>ĐỊNH NGHĨA SUY SINH DƯỠNG</a:t>
            </a:r>
            <a:endParaRPr lang="en-US" dirty="0"/>
          </a:p>
        </p:txBody>
      </p:sp>
      <p:sp>
        <p:nvSpPr>
          <p:cNvPr id="3" name="Content Placeholder 2"/>
          <p:cNvSpPr>
            <a:spLocks noGrp="1"/>
          </p:cNvSpPr>
          <p:nvPr>
            <p:ph idx="1"/>
          </p:nvPr>
        </p:nvSpPr>
        <p:spPr>
          <a:xfrm>
            <a:off x="741145" y="1029903"/>
            <a:ext cx="11450855" cy="5534525"/>
          </a:xfrm>
        </p:spPr>
        <p:txBody>
          <a:bodyPr>
            <a:normAutofit fontScale="92500"/>
          </a:bodyPr>
          <a:lstStyle/>
          <a:p>
            <a:pPr>
              <a:lnSpc>
                <a:spcPct val="150000"/>
              </a:lnSpc>
            </a:pPr>
            <a:r>
              <a:rPr lang="en-US" sz="2400" dirty="0" err="1">
                <a:latin typeface="Arial" panose="020B0604020202020204" pitchFamily="34" charset="0"/>
                <a:cs typeface="Arial" panose="020B0604020202020204" pitchFamily="34" charset="0"/>
              </a:rPr>
              <a:t>Suy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dưỡng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malnutrion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undernutrion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dùng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chỉ</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hậu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dưỡng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đầy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dài</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bằng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cao</a:t>
            </a:r>
            <a:r>
              <a:rPr lang="en-US" sz="2400" dirty="0" smtClean="0">
                <a:latin typeface="Arial" panose="020B0604020202020204" pitchFamily="34" charset="0"/>
                <a:cs typeface="Arial" panose="020B0604020202020204" pitchFamily="34" charset="0"/>
              </a:rPr>
              <a:t>.</a:t>
            </a:r>
          </a:p>
          <a:p>
            <a:pPr marL="0" indent="0">
              <a:buNone/>
            </a:pPr>
            <a:r>
              <a:rPr lang="en-US" sz="1600" dirty="0"/>
              <a:t>(*) </a:t>
            </a:r>
            <a:r>
              <a:rPr lang="en-US" sz="1600" dirty="0" err="1"/>
              <a:t>Kliengman</a:t>
            </a:r>
            <a:r>
              <a:rPr lang="en-US" sz="1600" dirty="0"/>
              <a:t> RM, Behrman RE, et al ( 2007).</a:t>
            </a:r>
            <a:r>
              <a:rPr lang="en-US" sz="1600" i="1" dirty="0"/>
              <a:t> Nelson Textbook of Pediatric</a:t>
            </a:r>
            <a:r>
              <a:rPr lang="en-US" sz="1600" dirty="0"/>
              <a:t>. Elsevier </a:t>
            </a:r>
            <a:r>
              <a:rPr lang="en-US" sz="1600" dirty="0" err="1"/>
              <a:t>Saunder</a:t>
            </a:r>
            <a:r>
              <a:rPr lang="en-US" sz="1600" dirty="0"/>
              <a:t>, 19</a:t>
            </a:r>
            <a:r>
              <a:rPr lang="en-US" sz="1600" baseline="30000" dirty="0"/>
              <a:t>th</a:t>
            </a:r>
            <a:r>
              <a:rPr lang="en-US" sz="1600" dirty="0"/>
              <a:t> ed. Philadelphia, PA.</a:t>
            </a:r>
          </a:p>
          <a:p>
            <a:pPr marL="0" indent="0">
              <a:buNone/>
            </a:pPr>
            <a:endParaRPr lang="en-US" dirty="0">
              <a:latin typeface="Arial" panose="020B0604020202020204" pitchFamily="34" charset="0"/>
              <a:cs typeface="Arial" panose="020B0604020202020204" pitchFamily="34" charset="0"/>
            </a:endParaRPr>
          </a:p>
          <a:p>
            <a:pPr>
              <a:lnSpc>
                <a:spcPct val="150000"/>
              </a:lnSpc>
            </a:pPr>
            <a:r>
              <a:rPr lang="en-US"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dưỡng</a:t>
            </a:r>
            <a:r>
              <a:rPr lang="en-US" sz="2400" dirty="0">
                <a:latin typeface="Arial" panose="020B0604020202020204" pitchFamily="34" charset="0"/>
                <a:cs typeface="Arial" panose="020B0604020202020204" pitchFamily="34" charset="0"/>
              </a:rPr>
              <a:t> Protein –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lượng</a:t>
            </a:r>
            <a:r>
              <a:rPr lang="en-US" sz="2400" dirty="0">
                <a:latin typeface="Arial" panose="020B0604020202020204" pitchFamily="34" charset="0"/>
                <a:cs typeface="Arial" panose="020B0604020202020204" pitchFamily="34" charset="0"/>
              </a:rPr>
              <a:t> ( Protein Calorie </a:t>
            </a:r>
            <a:r>
              <a:rPr lang="en-US" sz="2400" dirty="0" err="1">
                <a:latin typeface="Arial" panose="020B0604020202020204" pitchFamily="34" charset="0"/>
                <a:cs typeface="Arial" panose="020B0604020202020204" pitchFamily="34" charset="0"/>
              </a:rPr>
              <a:t>Malnutrion</a:t>
            </a:r>
            <a:r>
              <a:rPr lang="en-US" sz="2400" dirty="0">
                <a:latin typeface="Arial" panose="020B0604020202020204" pitchFamily="34" charset="0"/>
                <a:cs typeface="Arial" panose="020B0604020202020204" pitchFamily="34" charset="0"/>
              </a:rPr>
              <a:t> – PEM)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do </a:t>
            </a:r>
            <a:r>
              <a:rPr lang="en-US" sz="2400" dirty="0" err="1">
                <a:latin typeface="Arial" panose="020B0604020202020204" pitchFamily="34" charset="0"/>
                <a:cs typeface="Arial" panose="020B0604020202020204" pitchFamily="34" charset="0"/>
              </a:rPr>
              <a:t>chế</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nghèo</a:t>
            </a:r>
            <a:r>
              <a:rPr lang="en-US" sz="2400" dirty="0">
                <a:latin typeface="Arial" panose="020B0604020202020204" pitchFamily="34" charset="0"/>
                <a:cs typeface="Arial" panose="020B0604020202020204" pitchFamily="34" charset="0"/>
              </a:rPr>
              <a:t> Protein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lượng</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nhau</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a:t>
            </a:r>
          </a:p>
          <a:p>
            <a:pPr marL="0" indent="0">
              <a:lnSpc>
                <a:spcPct val="150000"/>
              </a:lnSpc>
              <a:buNone/>
            </a:pPr>
            <a:r>
              <a:rPr lang="en-US" sz="1700" dirty="0"/>
              <a:t>(**) </a:t>
            </a:r>
            <a:r>
              <a:rPr lang="en-US" sz="1700" dirty="0" err="1"/>
              <a:t>Marcdante</a:t>
            </a:r>
            <a:r>
              <a:rPr lang="en-US" sz="1700" dirty="0"/>
              <a:t> KJ, </a:t>
            </a:r>
            <a:r>
              <a:rPr lang="en-US" sz="1700" dirty="0" err="1"/>
              <a:t>Kliengman</a:t>
            </a:r>
            <a:r>
              <a:rPr lang="en-US" sz="1700" dirty="0"/>
              <a:t>, Jenson RM, et al (2011). </a:t>
            </a:r>
            <a:r>
              <a:rPr lang="en-US" sz="1700" i="1" dirty="0"/>
              <a:t>Nelson Essentials of Pediatrics</a:t>
            </a:r>
            <a:r>
              <a:rPr lang="en-US" sz="1700" dirty="0"/>
              <a:t>. Elsevier Saunders, 6</a:t>
            </a:r>
            <a:r>
              <a:rPr lang="en-US" sz="1700" baseline="30000" dirty="0"/>
              <a:t>th</a:t>
            </a:r>
            <a:r>
              <a:rPr lang="en-US" sz="1700" dirty="0"/>
              <a:t> </a:t>
            </a:r>
            <a:r>
              <a:rPr lang="en-US" sz="1700" dirty="0" err="1"/>
              <a:t>ed</a:t>
            </a:r>
            <a:r>
              <a:rPr lang="en-US" sz="1700" dirty="0"/>
              <a:t>, Philadelphia, PA.</a:t>
            </a:r>
          </a:p>
          <a:p>
            <a:pPr marL="0" indent="0">
              <a:lnSpc>
                <a:spcPct val="150000"/>
              </a:lnSpc>
              <a:buNone/>
            </a:pPr>
            <a:endParaRPr lang="en-US" sz="2400" dirty="0" smtClean="0">
              <a:latin typeface="Arial" panose="020B0604020202020204" pitchFamily="34" charset="0"/>
              <a:cs typeface="Arial" panose="020B0604020202020204" pitchFamily="34" charset="0"/>
            </a:endParaRPr>
          </a:p>
          <a:p>
            <a:pPr marL="0" indent="0">
              <a:lnSpc>
                <a:spcPct val="150000"/>
              </a:lnSpc>
              <a:buNone/>
            </a:pPr>
            <a:endParaRPr lang="en-US" sz="2400"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53990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789" y="624110"/>
            <a:ext cx="10060823" cy="1280890"/>
          </a:xfrm>
        </p:spPr>
        <p:txBody>
          <a:bodyPr/>
          <a:lstStyle/>
          <a:p>
            <a:r>
              <a:rPr lang="en-US" dirty="0" smtClean="0"/>
              <a:t>CÁC CHỈ TIÊU ĐÁNH GIÁ SUY DINH DƯỠNG</a:t>
            </a:r>
            <a:endParaRPr lang="en-US" dirty="0"/>
          </a:p>
        </p:txBody>
      </p:sp>
      <p:sp>
        <p:nvSpPr>
          <p:cNvPr id="3" name="Content Placeholder 2"/>
          <p:cNvSpPr>
            <a:spLocks noGrp="1"/>
          </p:cNvSpPr>
          <p:nvPr>
            <p:ph idx="1"/>
          </p:nvPr>
        </p:nvSpPr>
        <p:spPr>
          <a:xfrm>
            <a:off x="2156058" y="1694047"/>
            <a:ext cx="9483307" cy="4908884"/>
          </a:xfrm>
        </p:spPr>
        <p:txBody>
          <a:bodyPr>
            <a:normAutofit/>
          </a:bodyPr>
          <a:lstStyle/>
          <a:p>
            <a:pPr>
              <a:lnSpc>
                <a:spcPct val="150000"/>
              </a:lnSpc>
            </a:pPr>
            <a:r>
              <a:rPr lang="en-US" sz="2800" dirty="0"/>
              <a:t>WH: weight of height/ length.</a:t>
            </a:r>
          </a:p>
          <a:p>
            <a:pPr>
              <a:lnSpc>
                <a:spcPct val="150000"/>
              </a:lnSpc>
            </a:pPr>
            <a:r>
              <a:rPr lang="en-US" sz="2800" dirty="0"/>
              <a:t>BMI: body mass index.</a:t>
            </a:r>
          </a:p>
          <a:p>
            <a:pPr>
              <a:lnSpc>
                <a:spcPct val="150000"/>
              </a:lnSpc>
            </a:pPr>
            <a:r>
              <a:rPr lang="en-US" sz="2800" dirty="0"/>
              <a:t>WA: weight of age</a:t>
            </a:r>
          </a:p>
          <a:p>
            <a:pPr>
              <a:lnSpc>
                <a:spcPct val="150000"/>
              </a:lnSpc>
            </a:pPr>
            <a:r>
              <a:rPr lang="en-US" sz="2800" dirty="0"/>
              <a:t>MUAC: mid – upper arm circumference.</a:t>
            </a:r>
          </a:p>
          <a:p>
            <a:pPr>
              <a:lnSpc>
                <a:spcPct val="150000"/>
              </a:lnSpc>
            </a:pPr>
            <a:r>
              <a:rPr lang="en-US" sz="2800" dirty="0"/>
              <a:t>HA: height/ length of age.</a:t>
            </a:r>
          </a:p>
        </p:txBody>
      </p:sp>
    </p:spTree>
    <p:extLst>
      <p:ext uri="{BB962C8B-B14F-4D97-AF65-F5344CB8AC3E}">
        <p14:creationId xmlns:p14="http://schemas.microsoft.com/office/powerpoint/2010/main" val="3504295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3908" y="221381"/>
            <a:ext cx="10270156" cy="6439302"/>
          </a:xfrm>
        </p:spPr>
      </p:pic>
    </p:spTree>
    <p:extLst>
      <p:ext uri="{BB962C8B-B14F-4D97-AF65-F5344CB8AC3E}">
        <p14:creationId xmlns:p14="http://schemas.microsoft.com/office/powerpoint/2010/main" val="41024443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NGUYÊN NHÂN GÂY SUY DINH DƯỠNG</a:t>
            </a:r>
            <a:endParaRPr lang="en-US"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726362" y="1335964"/>
            <a:ext cx="3778250" cy="3778250"/>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4266" y="1303506"/>
            <a:ext cx="4691164" cy="2472446"/>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3862" y="3989961"/>
            <a:ext cx="4762500" cy="2676525"/>
          </a:xfrm>
          <a:prstGeom prst="rect">
            <a:avLst/>
          </a:prstGeom>
        </p:spPr>
      </p:pic>
    </p:spTree>
    <p:extLst>
      <p:ext uri="{BB962C8B-B14F-4D97-AF65-F5344CB8AC3E}">
        <p14:creationId xmlns:p14="http://schemas.microsoft.com/office/powerpoint/2010/main" val="1482140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4542" y="1"/>
            <a:ext cx="8911687" cy="436417"/>
          </a:xfrm>
        </p:spPr>
        <p:txBody>
          <a:bodyPr>
            <a:normAutofit fontScale="90000"/>
          </a:bodyPr>
          <a:lstStyle/>
          <a:p>
            <a:r>
              <a:rPr lang="en-US" b="1" dirty="0" err="1" smtClean="0"/>
              <a:t>Phân</a:t>
            </a:r>
            <a:r>
              <a:rPr lang="en-US" b="1" dirty="0" smtClean="0"/>
              <a:t> </a:t>
            </a:r>
            <a:r>
              <a:rPr lang="en-US" b="1" dirty="0" err="1" smtClean="0"/>
              <a:t>loại</a:t>
            </a:r>
            <a:r>
              <a:rPr lang="en-US" b="1" dirty="0" smtClean="0"/>
              <a:t> </a:t>
            </a:r>
            <a:r>
              <a:rPr lang="en-US" b="1" dirty="0" err="1" smtClean="0"/>
              <a:t>suy</a:t>
            </a:r>
            <a:r>
              <a:rPr lang="en-US" b="1" dirty="0" smtClean="0"/>
              <a:t> </a:t>
            </a:r>
            <a:r>
              <a:rPr lang="en-US" b="1" dirty="0" err="1" smtClean="0"/>
              <a:t>dinh</a:t>
            </a:r>
            <a:r>
              <a:rPr lang="en-US" b="1" dirty="0" smtClean="0"/>
              <a:t> </a:t>
            </a:r>
            <a:r>
              <a:rPr lang="en-US" b="1" dirty="0" err="1" smtClean="0"/>
              <a:t>dưỡng</a:t>
            </a:r>
            <a:r>
              <a:rPr lang="en-US" b="1" dirty="0"/>
              <a:t> </a:t>
            </a:r>
            <a:r>
              <a:rPr lang="en-US" b="1" dirty="0" err="1" smtClean="0"/>
              <a:t>theo</a:t>
            </a:r>
            <a:r>
              <a:rPr lang="en-US" b="1" dirty="0" smtClean="0"/>
              <a:t> WHO</a:t>
            </a:r>
            <a:endParaRPr lang="en-US" b="1" dirty="0"/>
          </a:p>
        </p:txBody>
      </p:sp>
      <p:sp>
        <p:nvSpPr>
          <p:cNvPr id="3" name="Content Placeholder 2"/>
          <p:cNvSpPr>
            <a:spLocks noGrp="1"/>
          </p:cNvSpPr>
          <p:nvPr>
            <p:ph idx="1"/>
          </p:nvPr>
        </p:nvSpPr>
        <p:spPr/>
        <p:txBody>
          <a:bodyPr/>
          <a:lstStyle/>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80235453"/>
              </p:ext>
            </p:extLst>
          </p:nvPr>
        </p:nvGraphicFramePr>
        <p:xfrm>
          <a:off x="-1" y="602676"/>
          <a:ext cx="12192001" cy="6342368"/>
        </p:xfrm>
        <a:graphic>
          <a:graphicData uri="http://schemas.openxmlformats.org/drawingml/2006/table">
            <a:tbl>
              <a:tblPr firstRow="1" bandRow="1"/>
              <a:tblGrid>
                <a:gridCol w="3636819"/>
                <a:gridCol w="2847107"/>
                <a:gridCol w="1880757"/>
                <a:gridCol w="2088573"/>
                <a:gridCol w="1738745"/>
              </a:tblGrid>
              <a:tr h="563750">
                <a:tc>
                  <a:txBody>
                    <a:bodyPr/>
                    <a:lstStyle>
                      <a:lvl1pPr marL="0" algn="l" defTabSz="457200" rtl="0" eaLnBrk="1" latinLnBrk="0" hangingPunct="1">
                        <a:defRPr sz="1800" b="1" kern="1200">
                          <a:solidFill>
                            <a:schemeClr val="lt1"/>
                          </a:solidFill>
                          <a:latin typeface="Trebuchet MS" panose="020B0603020202020204"/>
                          <a:ea typeface=""/>
                          <a:cs typeface=""/>
                        </a:defRPr>
                      </a:lvl1pPr>
                      <a:lvl2pPr marL="457200" algn="l" defTabSz="457200" rtl="0" eaLnBrk="1" latinLnBrk="0" hangingPunct="1">
                        <a:defRPr sz="1800" b="1" kern="1200">
                          <a:solidFill>
                            <a:schemeClr val="lt1"/>
                          </a:solidFill>
                          <a:latin typeface="Trebuchet MS" panose="020B0603020202020204"/>
                          <a:ea typeface=""/>
                          <a:cs typeface=""/>
                        </a:defRPr>
                      </a:lvl2pPr>
                      <a:lvl3pPr marL="914400" algn="l" defTabSz="457200" rtl="0" eaLnBrk="1" latinLnBrk="0" hangingPunct="1">
                        <a:defRPr sz="1800" b="1" kern="1200">
                          <a:solidFill>
                            <a:schemeClr val="lt1"/>
                          </a:solidFill>
                          <a:latin typeface="Trebuchet MS" panose="020B0603020202020204"/>
                          <a:ea typeface=""/>
                          <a:cs typeface=""/>
                        </a:defRPr>
                      </a:lvl3pPr>
                      <a:lvl4pPr marL="1371600" algn="l" defTabSz="457200" rtl="0" eaLnBrk="1" latinLnBrk="0" hangingPunct="1">
                        <a:defRPr sz="1800" b="1" kern="1200">
                          <a:solidFill>
                            <a:schemeClr val="lt1"/>
                          </a:solidFill>
                          <a:latin typeface="Trebuchet MS" panose="020B0603020202020204"/>
                          <a:ea typeface=""/>
                          <a:cs typeface=""/>
                        </a:defRPr>
                      </a:lvl4pPr>
                      <a:lvl5pPr marL="1828800" algn="l" defTabSz="457200" rtl="0" eaLnBrk="1" latinLnBrk="0" hangingPunct="1">
                        <a:defRPr sz="1800" b="1" kern="1200">
                          <a:solidFill>
                            <a:schemeClr val="lt1"/>
                          </a:solidFill>
                          <a:latin typeface="Trebuchet MS" panose="020B0603020202020204"/>
                          <a:ea typeface=""/>
                          <a:cs typeface=""/>
                        </a:defRPr>
                      </a:lvl5pPr>
                      <a:lvl6pPr marL="2286000" algn="l" defTabSz="457200" rtl="0" eaLnBrk="1" latinLnBrk="0" hangingPunct="1">
                        <a:defRPr sz="1800" b="1" kern="1200">
                          <a:solidFill>
                            <a:schemeClr val="lt1"/>
                          </a:solidFill>
                          <a:latin typeface="Trebuchet MS" panose="020B0603020202020204"/>
                          <a:ea typeface=""/>
                          <a:cs typeface=""/>
                        </a:defRPr>
                      </a:lvl6pPr>
                      <a:lvl7pPr marL="2743200" algn="l" defTabSz="457200" rtl="0" eaLnBrk="1" latinLnBrk="0" hangingPunct="1">
                        <a:defRPr sz="1800" b="1" kern="1200">
                          <a:solidFill>
                            <a:schemeClr val="lt1"/>
                          </a:solidFill>
                          <a:latin typeface="Trebuchet MS" panose="020B0603020202020204"/>
                          <a:ea typeface=""/>
                          <a:cs typeface=""/>
                        </a:defRPr>
                      </a:lvl7pPr>
                      <a:lvl8pPr marL="3200400" algn="l" defTabSz="457200" rtl="0" eaLnBrk="1" latinLnBrk="0" hangingPunct="1">
                        <a:defRPr sz="1800" b="1" kern="1200">
                          <a:solidFill>
                            <a:schemeClr val="lt1"/>
                          </a:solidFill>
                          <a:latin typeface="Trebuchet MS" panose="020B0603020202020204"/>
                          <a:ea typeface=""/>
                          <a:cs typeface=""/>
                        </a:defRPr>
                      </a:lvl8pPr>
                      <a:lvl9pPr marL="3657600" algn="l" defTabSz="457200" rtl="0" eaLnBrk="1" latinLnBrk="0" hangingPunct="1">
                        <a:defRPr sz="1800" b="1" kern="1200">
                          <a:solidFill>
                            <a:schemeClr val="lt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G</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75000"/>
                      </a:schemeClr>
                    </a:solidFill>
                  </a:tcPr>
                </a:tc>
                <a:tc>
                  <a:txBody>
                    <a:bodyPr/>
                    <a:lstStyle>
                      <a:lvl1pPr marL="0" algn="l" defTabSz="457200" rtl="0" eaLnBrk="1" latinLnBrk="0" hangingPunct="1">
                        <a:defRPr sz="1800" b="1" kern="1200">
                          <a:solidFill>
                            <a:schemeClr val="lt1"/>
                          </a:solidFill>
                          <a:latin typeface="Trebuchet MS" panose="020B0603020202020204"/>
                          <a:ea typeface=""/>
                          <a:cs typeface=""/>
                        </a:defRPr>
                      </a:lvl1pPr>
                      <a:lvl2pPr marL="457200" algn="l" defTabSz="457200" rtl="0" eaLnBrk="1" latinLnBrk="0" hangingPunct="1">
                        <a:defRPr sz="1800" b="1" kern="1200">
                          <a:solidFill>
                            <a:schemeClr val="lt1"/>
                          </a:solidFill>
                          <a:latin typeface="Trebuchet MS" panose="020B0603020202020204"/>
                          <a:ea typeface=""/>
                          <a:cs typeface=""/>
                        </a:defRPr>
                      </a:lvl2pPr>
                      <a:lvl3pPr marL="914400" algn="l" defTabSz="457200" rtl="0" eaLnBrk="1" latinLnBrk="0" hangingPunct="1">
                        <a:defRPr sz="1800" b="1" kern="1200">
                          <a:solidFill>
                            <a:schemeClr val="lt1"/>
                          </a:solidFill>
                          <a:latin typeface="Trebuchet MS" panose="020B0603020202020204"/>
                          <a:ea typeface=""/>
                          <a:cs typeface=""/>
                        </a:defRPr>
                      </a:lvl3pPr>
                      <a:lvl4pPr marL="1371600" algn="l" defTabSz="457200" rtl="0" eaLnBrk="1" latinLnBrk="0" hangingPunct="1">
                        <a:defRPr sz="1800" b="1" kern="1200">
                          <a:solidFill>
                            <a:schemeClr val="lt1"/>
                          </a:solidFill>
                          <a:latin typeface="Trebuchet MS" panose="020B0603020202020204"/>
                          <a:ea typeface=""/>
                          <a:cs typeface=""/>
                        </a:defRPr>
                      </a:lvl4pPr>
                      <a:lvl5pPr marL="1828800" algn="l" defTabSz="457200" rtl="0" eaLnBrk="1" latinLnBrk="0" hangingPunct="1">
                        <a:defRPr sz="1800" b="1" kern="1200">
                          <a:solidFill>
                            <a:schemeClr val="lt1"/>
                          </a:solidFill>
                          <a:latin typeface="Trebuchet MS" panose="020B0603020202020204"/>
                          <a:ea typeface=""/>
                          <a:cs typeface=""/>
                        </a:defRPr>
                      </a:lvl5pPr>
                      <a:lvl6pPr marL="2286000" algn="l" defTabSz="457200" rtl="0" eaLnBrk="1" latinLnBrk="0" hangingPunct="1">
                        <a:defRPr sz="1800" b="1" kern="1200">
                          <a:solidFill>
                            <a:schemeClr val="lt1"/>
                          </a:solidFill>
                          <a:latin typeface="Trebuchet MS" panose="020B0603020202020204"/>
                          <a:ea typeface=""/>
                          <a:cs typeface=""/>
                        </a:defRPr>
                      </a:lvl6pPr>
                      <a:lvl7pPr marL="2743200" algn="l" defTabSz="457200" rtl="0" eaLnBrk="1" latinLnBrk="0" hangingPunct="1">
                        <a:defRPr sz="1800" b="1" kern="1200">
                          <a:solidFill>
                            <a:schemeClr val="lt1"/>
                          </a:solidFill>
                          <a:latin typeface="Trebuchet MS" panose="020B0603020202020204"/>
                          <a:ea typeface=""/>
                          <a:cs typeface=""/>
                        </a:defRPr>
                      </a:lvl7pPr>
                      <a:lvl8pPr marL="3200400" algn="l" defTabSz="457200" rtl="0" eaLnBrk="1" latinLnBrk="0" hangingPunct="1">
                        <a:defRPr sz="1800" b="1" kern="1200">
                          <a:solidFill>
                            <a:schemeClr val="lt1"/>
                          </a:solidFill>
                          <a:latin typeface="Trebuchet MS" panose="020B0603020202020204"/>
                          <a:ea typeface=""/>
                          <a:cs typeface=""/>
                        </a:defRPr>
                      </a:lvl8pPr>
                      <a:lvl9pPr marL="3657600" algn="l" defTabSz="457200" rtl="0" eaLnBrk="1" latinLnBrk="0" hangingPunct="1">
                        <a:defRPr sz="1800" b="1" kern="1200">
                          <a:solidFill>
                            <a:schemeClr val="lt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75000"/>
                      </a:schemeClr>
                    </a:solidFill>
                  </a:tcPr>
                </a:tc>
                <a:tc>
                  <a:txBody>
                    <a:bodyPr/>
                    <a:lstStyle>
                      <a:lvl1pPr marL="0" algn="l" defTabSz="457200" rtl="0" eaLnBrk="1" latinLnBrk="0" hangingPunct="1">
                        <a:defRPr sz="1800" b="1" kern="1200">
                          <a:solidFill>
                            <a:schemeClr val="lt1"/>
                          </a:solidFill>
                          <a:latin typeface="Trebuchet MS" panose="020B0603020202020204"/>
                          <a:ea typeface=""/>
                          <a:cs typeface=""/>
                        </a:defRPr>
                      </a:lvl1pPr>
                      <a:lvl2pPr marL="457200" algn="l" defTabSz="457200" rtl="0" eaLnBrk="1" latinLnBrk="0" hangingPunct="1">
                        <a:defRPr sz="1800" b="1" kern="1200">
                          <a:solidFill>
                            <a:schemeClr val="lt1"/>
                          </a:solidFill>
                          <a:latin typeface="Trebuchet MS" panose="020B0603020202020204"/>
                          <a:ea typeface=""/>
                          <a:cs typeface=""/>
                        </a:defRPr>
                      </a:lvl2pPr>
                      <a:lvl3pPr marL="914400" algn="l" defTabSz="457200" rtl="0" eaLnBrk="1" latinLnBrk="0" hangingPunct="1">
                        <a:defRPr sz="1800" b="1" kern="1200">
                          <a:solidFill>
                            <a:schemeClr val="lt1"/>
                          </a:solidFill>
                          <a:latin typeface="Trebuchet MS" panose="020B0603020202020204"/>
                          <a:ea typeface=""/>
                          <a:cs typeface=""/>
                        </a:defRPr>
                      </a:lvl3pPr>
                      <a:lvl4pPr marL="1371600" algn="l" defTabSz="457200" rtl="0" eaLnBrk="1" latinLnBrk="0" hangingPunct="1">
                        <a:defRPr sz="1800" b="1" kern="1200">
                          <a:solidFill>
                            <a:schemeClr val="lt1"/>
                          </a:solidFill>
                          <a:latin typeface="Trebuchet MS" panose="020B0603020202020204"/>
                          <a:ea typeface=""/>
                          <a:cs typeface=""/>
                        </a:defRPr>
                      </a:lvl4pPr>
                      <a:lvl5pPr marL="1828800" algn="l" defTabSz="457200" rtl="0" eaLnBrk="1" latinLnBrk="0" hangingPunct="1">
                        <a:defRPr sz="1800" b="1" kern="1200">
                          <a:solidFill>
                            <a:schemeClr val="lt1"/>
                          </a:solidFill>
                          <a:latin typeface="Trebuchet MS" panose="020B0603020202020204"/>
                          <a:ea typeface=""/>
                          <a:cs typeface=""/>
                        </a:defRPr>
                      </a:lvl5pPr>
                      <a:lvl6pPr marL="2286000" algn="l" defTabSz="457200" rtl="0" eaLnBrk="1" latinLnBrk="0" hangingPunct="1">
                        <a:defRPr sz="1800" b="1" kern="1200">
                          <a:solidFill>
                            <a:schemeClr val="lt1"/>
                          </a:solidFill>
                          <a:latin typeface="Trebuchet MS" panose="020B0603020202020204"/>
                          <a:ea typeface=""/>
                          <a:cs typeface=""/>
                        </a:defRPr>
                      </a:lvl6pPr>
                      <a:lvl7pPr marL="2743200" algn="l" defTabSz="457200" rtl="0" eaLnBrk="1" latinLnBrk="0" hangingPunct="1">
                        <a:defRPr sz="1800" b="1" kern="1200">
                          <a:solidFill>
                            <a:schemeClr val="lt1"/>
                          </a:solidFill>
                          <a:latin typeface="Trebuchet MS" panose="020B0603020202020204"/>
                          <a:ea typeface=""/>
                          <a:cs typeface=""/>
                        </a:defRPr>
                      </a:lvl7pPr>
                      <a:lvl8pPr marL="3200400" algn="l" defTabSz="457200" rtl="0" eaLnBrk="1" latinLnBrk="0" hangingPunct="1">
                        <a:defRPr sz="1800" b="1" kern="1200">
                          <a:solidFill>
                            <a:schemeClr val="lt1"/>
                          </a:solidFill>
                          <a:latin typeface="Trebuchet MS" panose="020B0603020202020204"/>
                          <a:ea typeface=""/>
                          <a:cs typeface=""/>
                        </a:defRPr>
                      </a:lvl8pPr>
                      <a:lvl9pPr marL="3657600" algn="l" defTabSz="457200" rtl="0" eaLnBrk="1" latinLnBrk="0" hangingPunct="1">
                        <a:defRPr sz="1800" b="1" kern="1200">
                          <a:solidFill>
                            <a:schemeClr val="lt1"/>
                          </a:solidFill>
                          <a:latin typeface="Trebuchet MS" panose="020B0603020202020204"/>
                          <a:ea typeface=""/>
                          <a:cs typeface=""/>
                        </a:defRPr>
                      </a:lvl9pPr>
                    </a:lstStyle>
                    <a:p>
                      <a:r>
                        <a:rPr lang="en-US" sz="2000" dirty="0" err="1" smtClean="0">
                          <a:solidFill>
                            <a:schemeClr val="tx1"/>
                          </a:solidFill>
                          <a:latin typeface="Arial" panose="020B0604020202020204" pitchFamily="34" charset="0"/>
                          <a:cs typeface="Arial" panose="020B0604020202020204" pitchFamily="34" charset="0"/>
                        </a:rPr>
                        <a:t>Tiêu</a:t>
                      </a:r>
                      <a:r>
                        <a:rPr lang="en-US" sz="2000" baseline="0" dirty="0" smtClean="0">
                          <a:solidFill>
                            <a:schemeClr val="tx1"/>
                          </a:solidFill>
                          <a:latin typeface="Arial" panose="020B0604020202020204" pitchFamily="34" charset="0"/>
                          <a:cs typeface="Arial" panose="020B0604020202020204" pitchFamily="34" charset="0"/>
                        </a:rPr>
                        <a:t> </a:t>
                      </a:r>
                      <a:r>
                        <a:rPr lang="en-US" sz="2000" baseline="0" dirty="0" err="1" smtClean="0">
                          <a:solidFill>
                            <a:schemeClr val="tx1"/>
                          </a:solidFill>
                          <a:latin typeface="Arial" panose="020B0604020202020204" pitchFamily="34" charset="0"/>
                          <a:cs typeface="Arial" panose="020B0604020202020204" pitchFamily="34" charset="0"/>
                        </a:rPr>
                        <a:t>chuẩn</a:t>
                      </a:r>
                      <a:endParaRPr lang="en-US" sz="2000" dirty="0">
                        <a:solidFill>
                          <a:schemeClr val="tx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75000"/>
                      </a:schemeClr>
                    </a:solidFill>
                  </a:tcPr>
                </a:tc>
                <a:tc>
                  <a:txBody>
                    <a:bodyPr/>
                    <a:lstStyle>
                      <a:lvl1pPr marL="0" algn="l" defTabSz="457200" rtl="0" eaLnBrk="1" latinLnBrk="0" hangingPunct="1">
                        <a:defRPr sz="1800" b="1" kern="1200">
                          <a:solidFill>
                            <a:schemeClr val="lt1"/>
                          </a:solidFill>
                          <a:latin typeface="Trebuchet MS" panose="020B0603020202020204"/>
                          <a:ea typeface=""/>
                          <a:cs typeface=""/>
                        </a:defRPr>
                      </a:lvl1pPr>
                      <a:lvl2pPr marL="457200" algn="l" defTabSz="457200" rtl="0" eaLnBrk="1" latinLnBrk="0" hangingPunct="1">
                        <a:defRPr sz="1800" b="1" kern="1200">
                          <a:solidFill>
                            <a:schemeClr val="lt1"/>
                          </a:solidFill>
                          <a:latin typeface="Trebuchet MS" panose="020B0603020202020204"/>
                          <a:ea typeface=""/>
                          <a:cs typeface=""/>
                        </a:defRPr>
                      </a:lvl2pPr>
                      <a:lvl3pPr marL="914400" algn="l" defTabSz="457200" rtl="0" eaLnBrk="1" latinLnBrk="0" hangingPunct="1">
                        <a:defRPr sz="1800" b="1" kern="1200">
                          <a:solidFill>
                            <a:schemeClr val="lt1"/>
                          </a:solidFill>
                          <a:latin typeface="Trebuchet MS" panose="020B0603020202020204"/>
                          <a:ea typeface=""/>
                          <a:cs typeface=""/>
                        </a:defRPr>
                      </a:lvl3pPr>
                      <a:lvl4pPr marL="1371600" algn="l" defTabSz="457200" rtl="0" eaLnBrk="1" latinLnBrk="0" hangingPunct="1">
                        <a:defRPr sz="1800" b="1" kern="1200">
                          <a:solidFill>
                            <a:schemeClr val="lt1"/>
                          </a:solidFill>
                          <a:latin typeface="Trebuchet MS" panose="020B0603020202020204"/>
                          <a:ea typeface=""/>
                          <a:cs typeface=""/>
                        </a:defRPr>
                      </a:lvl4pPr>
                      <a:lvl5pPr marL="1828800" algn="l" defTabSz="457200" rtl="0" eaLnBrk="1" latinLnBrk="0" hangingPunct="1">
                        <a:defRPr sz="1800" b="1" kern="1200">
                          <a:solidFill>
                            <a:schemeClr val="lt1"/>
                          </a:solidFill>
                          <a:latin typeface="Trebuchet MS" panose="020B0603020202020204"/>
                          <a:ea typeface=""/>
                          <a:cs typeface=""/>
                        </a:defRPr>
                      </a:lvl5pPr>
                      <a:lvl6pPr marL="2286000" algn="l" defTabSz="457200" rtl="0" eaLnBrk="1" latinLnBrk="0" hangingPunct="1">
                        <a:defRPr sz="1800" b="1" kern="1200">
                          <a:solidFill>
                            <a:schemeClr val="lt1"/>
                          </a:solidFill>
                          <a:latin typeface="Trebuchet MS" panose="020B0603020202020204"/>
                          <a:ea typeface=""/>
                          <a:cs typeface=""/>
                        </a:defRPr>
                      </a:lvl6pPr>
                      <a:lvl7pPr marL="2743200" algn="l" defTabSz="457200" rtl="0" eaLnBrk="1" latinLnBrk="0" hangingPunct="1">
                        <a:defRPr sz="1800" b="1" kern="1200">
                          <a:solidFill>
                            <a:schemeClr val="lt1"/>
                          </a:solidFill>
                          <a:latin typeface="Trebuchet MS" panose="020B0603020202020204"/>
                          <a:ea typeface=""/>
                          <a:cs typeface=""/>
                        </a:defRPr>
                      </a:lvl7pPr>
                      <a:lvl8pPr marL="3200400" algn="l" defTabSz="457200" rtl="0" eaLnBrk="1" latinLnBrk="0" hangingPunct="1">
                        <a:defRPr sz="1800" b="1" kern="1200">
                          <a:solidFill>
                            <a:schemeClr val="lt1"/>
                          </a:solidFill>
                          <a:latin typeface="Trebuchet MS" panose="020B0603020202020204"/>
                          <a:ea typeface=""/>
                          <a:cs typeface=""/>
                        </a:defRPr>
                      </a:lvl8pPr>
                      <a:lvl9pPr marL="3657600" algn="l" defTabSz="457200" rtl="0" eaLnBrk="1" latinLnBrk="0" hangingPunct="1">
                        <a:defRPr sz="1800" b="1" kern="1200">
                          <a:solidFill>
                            <a:schemeClr val="lt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75000"/>
                      </a:schemeClr>
                    </a:solidFill>
                  </a:tcPr>
                </a:tc>
                <a:tc>
                  <a:txBody>
                    <a:bodyPr/>
                    <a:lstStyle>
                      <a:lvl1pPr marL="0" algn="l" defTabSz="457200" rtl="0" eaLnBrk="1" latinLnBrk="0" hangingPunct="1">
                        <a:defRPr sz="1800" b="1" kern="1200">
                          <a:solidFill>
                            <a:schemeClr val="lt1"/>
                          </a:solidFill>
                          <a:latin typeface="Trebuchet MS" panose="020B0603020202020204"/>
                          <a:ea typeface=""/>
                          <a:cs typeface=""/>
                        </a:defRPr>
                      </a:lvl1pPr>
                      <a:lvl2pPr marL="457200" algn="l" defTabSz="457200" rtl="0" eaLnBrk="1" latinLnBrk="0" hangingPunct="1">
                        <a:defRPr sz="1800" b="1" kern="1200">
                          <a:solidFill>
                            <a:schemeClr val="lt1"/>
                          </a:solidFill>
                          <a:latin typeface="Trebuchet MS" panose="020B0603020202020204"/>
                          <a:ea typeface=""/>
                          <a:cs typeface=""/>
                        </a:defRPr>
                      </a:lvl2pPr>
                      <a:lvl3pPr marL="914400" algn="l" defTabSz="457200" rtl="0" eaLnBrk="1" latinLnBrk="0" hangingPunct="1">
                        <a:defRPr sz="1800" b="1" kern="1200">
                          <a:solidFill>
                            <a:schemeClr val="lt1"/>
                          </a:solidFill>
                          <a:latin typeface="Trebuchet MS" panose="020B0603020202020204"/>
                          <a:ea typeface=""/>
                          <a:cs typeface=""/>
                        </a:defRPr>
                      </a:lvl3pPr>
                      <a:lvl4pPr marL="1371600" algn="l" defTabSz="457200" rtl="0" eaLnBrk="1" latinLnBrk="0" hangingPunct="1">
                        <a:defRPr sz="1800" b="1" kern="1200">
                          <a:solidFill>
                            <a:schemeClr val="lt1"/>
                          </a:solidFill>
                          <a:latin typeface="Trebuchet MS" panose="020B0603020202020204"/>
                          <a:ea typeface=""/>
                          <a:cs typeface=""/>
                        </a:defRPr>
                      </a:lvl4pPr>
                      <a:lvl5pPr marL="1828800" algn="l" defTabSz="457200" rtl="0" eaLnBrk="1" latinLnBrk="0" hangingPunct="1">
                        <a:defRPr sz="1800" b="1" kern="1200">
                          <a:solidFill>
                            <a:schemeClr val="lt1"/>
                          </a:solidFill>
                          <a:latin typeface="Trebuchet MS" panose="020B0603020202020204"/>
                          <a:ea typeface=""/>
                          <a:cs typeface=""/>
                        </a:defRPr>
                      </a:lvl5pPr>
                      <a:lvl6pPr marL="2286000" algn="l" defTabSz="457200" rtl="0" eaLnBrk="1" latinLnBrk="0" hangingPunct="1">
                        <a:defRPr sz="1800" b="1" kern="1200">
                          <a:solidFill>
                            <a:schemeClr val="lt1"/>
                          </a:solidFill>
                          <a:latin typeface="Trebuchet MS" panose="020B0603020202020204"/>
                          <a:ea typeface=""/>
                          <a:cs typeface=""/>
                        </a:defRPr>
                      </a:lvl6pPr>
                      <a:lvl7pPr marL="2743200" algn="l" defTabSz="457200" rtl="0" eaLnBrk="1" latinLnBrk="0" hangingPunct="1">
                        <a:defRPr sz="1800" b="1" kern="1200">
                          <a:solidFill>
                            <a:schemeClr val="lt1"/>
                          </a:solidFill>
                          <a:latin typeface="Trebuchet MS" panose="020B0603020202020204"/>
                          <a:ea typeface=""/>
                          <a:cs typeface=""/>
                        </a:defRPr>
                      </a:lvl7pPr>
                      <a:lvl8pPr marL="3200400" algn="l" defTabSz="457200" rtl="0" eaLnBrk="1" latinLnBrk="0" hangingPunct="1">
                        <a:defRPr sz="1800" b="1" kern="1200">
                          <a:solidFill>
                            <a:schemeClr val="lt1"/>
                          </a:solidFill>
                          <a:latin typeface="Trebuchet MS" panose="020B0603020202020204"/>
                          <a:ea typeface=""/>
                          <a:cs typeface=""/>
                        </a:defRPr>
                      </a:lvl8pPr>
                      <a:lvl9pPr marL="3657600" algn="l" defTabSz="457200" rtl="0" eaLnBrk="1" latinLnBrk="0" hangingPunct="1">
                        <a:defRPr sz="1800" b="1" kern="1200">
                          <a:solidFill>
                            <a:schemeClr val="lt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NHẸ</a:t>
                      </a:r>
                      <a:r>
                        <a:rPr lang="en-US" sz="2000" baseline="0" dirty="0" smtClean="0">
                          <a:latin typeface="Arial" panose="020B0604020202020204" pitchFamily="34" charset="0"/>
                          <a:cs typeface="Arial" panose="020B0604020202020204" pitchFamily="34" charset="0"/>
                        </a:rPr>
                        <a:t> CÂN TB</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6FFFF"/>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 -3SD</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và</a:t>
                      </a:r>
                      <a:r>
                        <a:rPr lang="en-US" sz="2000" baseline="0" dirty="0" smtClean="0">
                          <a:latin typeface="Arial" panose="020B0604020202020204" pitchFamily="34" charset="0"/>
                          <a:cs typeface="Arial" panose="020B0604020202020204" pitchFamily="34" charset="0"/>
                        </a:rPr>
                        <a:t> &lt; -2SD</a:t>
                      </a:r>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6FFFF"/>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WA</a:t>
                      </a:r>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solidFill>
                            <a:schemeClr val="bg1"/>
                          </a:solidFill>
                          <a:latin typeface="Arial" panose="020B0604020202020204" pitchFamily="34" charset="0"/>
                          <a:cs typeface="Arial" panose="020B0604020202020204" pitchFamily="34" charset="0"/>
                        </a:rPr>
                        <a:t>NHẸ</a:t>
                      </a:r>
                      <a:r>
                        <a:rPr lang="en-US" sz="2000" baseline="0" dirty="0" smtClean="0">
                          <a:solidFill>
                            <a:schemeClr val="bg1"/>
                          </a:solidFill>
                          <a:latin typeface="Arial" panose="020B0604020202020204" pitchFamily="34" charset="0"/>
                          <a:cs typeface="Arial" panose="020B0604020202020204" pitchFamily="34" charset="0"/>
                        </a:rPr>
                        <a:t> CÂN NẶNG</a:t>
                      </a:r>
                      <a:endParaRPr lang="en-US" sz="20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solidFill>
                            <a:schemeClr val="bg1"/>
                          </a:solidFill>
                          <a:latin typeface="Arial" panose="020B0604020202020204" pitchFamily="34" charset="0"/>
                          <a:cs typeface="Arial" panose="020B0604020202020204" pitchFamily="34" charset="0"/>
                        </a:rPr>
                        <a:t>&lt; -3SD</a:t>
                      </a:r>
                      <a:endParaRPr lang="en-US" sz="20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WA</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81613">
                <a:tc rowSpan="3">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SDD</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cấp</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trung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bình</a:t>
                      </a:r>
                      <a:r>
                        <a:rPr lang="en-US" sz="2000" baseline="0" dirty="0" smtClean="0">
                          <a:latin typeface="Arial" panose="020B0604020202020204" pitchFamily="34" charset="0"/>
                          <a:cs typeface="Arial" panose="020B0604020202020204" pitchFamily="34" charset="0"/>
                        </a:rPr>
                        <a:t> (MAM)</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schemeClr>
                    </a:solidFill>
                  </a:tcPr>
                </a:tc>
                <a:tc rowSpan="2">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 -3SD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&lt; -2SD</a:t>
                      </a:r>
                    </a:p>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schemeClr>
                    </a:solidFill>
                  </a:tcPr>
                </a:tc>
                <a:tc rowSpan="2">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WH</a:t>
                      </a:r>
                      <a:r>
                        <a:rPr lang="en-US" sz="2000" baseline="0" dirty="0" smtClean="0">
                          <a:latin typeface="Arial" panose="020B0604020202020204" pitchFamily="34" charset="0"/>
                          <a:cs typeface="Arial" panose="020B0604020202020204" pitchFamily="34" charset="0"/>
                        </a:rPr>
                        <a:t> or BMI</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pPr marL="0" indent="0">
                        <a:buFont typeface="Wingdings" panose="05000000000000000000" pitchFamily="2" charset="2"/>
                        <a:buNone/>
                      </a:pPr>
                      <a:r>
                        <a:rPr lang="en-US" sz="1800" baseline="0" dirty="0" smtClean="0">
                          <a:solidFill>
                            <a:schemeClr val="bg1"/>
                          </a:solidFill>
                          <a:latin typeface="Arial" panose="020B0604020202020204" pitchFamily="34" charset="0"/>
                          <a:cs typeface="Arial" panose="020B0604020202020204" pitchFamily="34" charset="0"/>
                        </a:rPr>
                        <a:t>3SD</a:t>
                      </a:r>
                    </a:p>
                    <a:p>
                      <a:pPr marL="0" indent="0">
                        <a:buFont typeface="Wingdings" panose="05000000000000000000" pitchFamily="2" charset="2"/>
                        <a:buNone/>
                      </a:pPr>
                      <a:endParaRPr lang="en-US" sz="18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1800" dirty="0" smtClean="0">
                          <a:solidFill>
                            <a:schemeClr val="bg1"/>
                          </a:solidFill>
                          <a:latin typeface="Arial" panose="020B0604020202020204" pitchFamily="34" charset="0"/>
                          <a:cs typeface="Arial" panose="020B0604020202020204" pitchFamily="34" charset="0"/>
                        </a:rPr>
                        <a:t>BÉO</a:t>
                      </a:r>
                    </a:p>
                    <a:p>
                      <a:endParaRPr lang="en-US" sz="1800" dirty="0">
                        <a:solidFill>
                          <a:schemeClr val="bg1"/>
                        </a:solidFill>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r>
              <a:tr h="43520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800" dirty="0" smtClean="0">
                          <a:solidFill>
                            <a:schemeClr val="bg1"/>
                          </a:solidFill>
                          <a:latin typeface="Arial" panose="020B0604020202020204" pitchFamily="34" charset="0"/>
                          <a:cs typeface="Arial" panose="020B0604020202020204" pitchFamily="34" charset="0"/>
                        </a:rPr>
                        <a:t>&gt;</a:t>
                      </a:r>
                      <a:r>
                        <a:rPr lang="en-US" sz="1800" baseline="0" dirty="0" smtClean="0">
                          <a:solidFill>
                            <a:schemeClr val="bg1"/>
                          </a:solidFill>
                          <a:latin typeface="Arial" panose="020B0604020202020204" pitchFamily="34" charset="0"/>
                          <a:cs typeface="Arial" panose="020B0604020202020204" pitchFamily="34" charset="0"/>
                        </a:rPr>
                        <a:t> 2SD </a:t>
                      </a:r>
                      <a:r>
                        <a:rPr lang="en-US" sz="1800" baseline="0" dirty="0" err="1" smtClean="0">
                          <a:solidFill>
                            <a:schemeClr val="bg1"/>
                          </a:solidFill>
                          <a:latin typeface="Arial" panose="020B0604020202020204" pitchFamily="34" charset="0"/>
                          <a:cs typeface="Arial" panose="020B0604020202020204" pitchFamily="34" charset="0"/>
                        </a:rPr>
                        <a:t>và</a:t>
                      </a:r>
                      <a:r>
                        <a:rPr lang="en-US" sz="1800" baseline="0" dirty="0" smtClean="0">
                          <a:solidFill>
                            <a:schemeClr val="bg1"/>
                          </a:solidFill>
                          <a:latin typeface="Arial" panose="020B0604020202020204" pitchFamily="34" charset="0"/>
                          <a:cs typeface="Arial" panose="020B0604020202020204" pitchFamily="34" charset="0"/>
                        </a:rPr>
                        <a:t> ≤ 3SD</a:t>
                      </a:r>
                      <a:endParaRPr lang="en-US" sz="1800" dirty="0" smtClean="0">
                        <a:solidFill>
                          <a:schemeClr val="bg1"/>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endParaRPr lang="en-US" sz="1800" dirty="0">
                        <a:solidFill>
                          <a:schemeClr val="bg1"/>
                        </a:solidFill>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800" dirty="0" smtClean="0">
                          <a:solidFill>
                            <a:schemeClr val="bg1"/>
                          </a:solidFill>
                          <a:latin typeface="Arial" panose="020B0604020202020204" pitchFamily="34" charset="0"/>
                          <a:cs typeface="Arial" panose="020B0604020202020204" pitchFamily="34" charset="0"/>
                        </a:rPr>
                        <a:t>THỪA</a:t>
                      </a:r>
                      <a:r>
                        <a:rPr lang="en-US" sz="1800" baseline="0" dirty="0" smtClean="0">
                          <a:solidFill>
                            <a:schemeClr val="bg1"/>
                          </a:solidFill>
                          <a:latin typeface="Arial" panose="020B0604020202020204" pitchFamily="34" charset="0"/>
                          <a:cs typeface="Arial" panose="020B0604020202020204" pitchFamily="34" charset="0"/>
                        </a:rPr>
                        <a:t> CÂN</a:t>
                      </a:r>
                      <a:endParaRPr lang="en-US" sz="1800" dirty="0">
                        <a:solidFill>
                          <a:schemeClr val="bg1"/>
                        </a:solidFill>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r>
              <a:tr h="253706">
                <a:tc vMerge="1">
                  <a:txBody>
                    <a:bodyPr/>
                    <a:lstStyle/>
                    <a:p>
                      <a:endParaRPr lang="en-US" dirty="0"/>
                    </a:p>
                  </a:txBody>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 115mm </a:t>
                      </a:r>
                      <a:r>
                        <a:rPr lang="en-US" sz="2000" dirty="0" err="1" smtClean="0">
                          <a:latin typeface="Arial" panose="020B0604020202020204" pitchFamily="34" charset="0"/>
                          <a:cs typeface="Arial" panose="020B0604020202020204" pitchFamily="34" charset="0"/>
                        </a:rPr>
                        <a:t>và</a:t>
                      </a:r>
                      <a:r>
                        <a:rPr lang="en-US" sz="2000" baseline="0" dirty="0" smtClean="0">
                          <a:latin typeface="Arial" panose="020B0604020202020204" pitchFamily="34" charset="0"/>
                          <a:cs typeface="Arial" panose="020B0604020202020204" pitchFamily="34" charset="0"/>
                        </a:rPr>
                        <a:t> &lt; 125mm</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MUAC</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591757">
                <a:tc rowSpan="2">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solidFill>
                            <a:schemeClr val="bg1"/>
                          </a:solidFill>
                          <a:latin typeface="Arial" panose="020B0604020202020204" pitchFamily="34" charset="0"/>
                          <a:cs typeface="Arial" panose="020B0604020202020204" pitchFamily="34" charset="0"/>
                        </a:rPr>
                        <a:t>SDD</a:t>
                      </a:r>
                      <a:r>
                        <a:rPr lang="en-US" sz="2000" baseline="0" dirty="0" smtClean="0">
                          <a:solidFill>
                            <a:schemeClr val="bg1"/>
                          </a:solidFill>
                          <a:latin typeface="Arial" panose="020B0604020202020204" pitchFamily="34" charset="0"/>
                          <a:cs typeface="Arial" panose="020B0604020202020204" pitchFamily="34" charset="0"/>
                        </a:rPr>
                        <a:t> </a:t>
                      </a:r>
                      <a:r>
                        <a:rPr lang="en-US" sz="2000" baseline="0" dirty="0" err="1" smtClean="0">
                          <a:solidFill>
                            <a:schemeClr val="bg1"/>
                          </a:solidFill>
                          <a:latin typeface="Arial" panose="020B0604020202020204" pitchFamily="34" charset="0"/>
                          <a:cs typeface="Arial" panose="020B0604020202020204" pitchFamily="34" charset="0"/>
                        </a:rPr>
                        <a:t>cấp</a:t>
                      </a:r>
                      <a:r>
                        <a:rPr lang="en-US" sz="2000" baseline="0" dirty="0" smtClean="0">
                          <a:solidFill>
                            <a:schemeClr val="bg1"/>
                          </a:solidFill>
                          <a:latin typeface="Arial" panose="020B0604020202020204" pitchFamily="34" charset="0"/>
                          <a:cs typeface="Arial" panose="020B0604020202020204" pitchFamily="34" charset="0"/>
                        </a:rPr>
                        <a:t> </a:t>
                      </a:r>
                      <a:r>
                        <a:rPr lang="en-US" sz="2000" baseline="0" dirty="0" err="1" smtClean="0">
                          <a:solidFill>
                            <a:schemeClr val="bg1"/>
                          </a:solidFill>
                          <a:latin typeface="Arial" panose="020B0604020202020204" pitchFamily="34" charset="0"/>
                          <a:cs typeface="Arial" panose="020B0604020202020204" pitchFamily="34" charset="0"/>
                        </a:rPr>
                        <a:t>nặng</a:t>
                      </a:r>
                      <a:r>
                        <a:rPr lang="en-US" sz="2000" baseline="0" dirty="0" smtClean="0">
                          <a:solidFill>
                            <a:schemeClr val="bg1"/>
                          </a:solidFill>
                          <a:latin typeface="Arial" panose="020B0604020202020204" pitchFamily="34" charset="0"/>
                          <a:cs typeface="Arial" panose="020B0604020202020204" pitchFamily="34" charset="0"/>
                        </a:rPr>
                        <a:t> (SAM)</a:t>
                      </a:r>
                      <a:endParaRPr lang="en-US" sz="20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5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solidFill>
                            <a:schemeClr val="bg1"/>
                          </a:solidFill>
                          <a:latin typeface="Arial" panose="020B0604020202020204" pitchFamily="34" charset="0"/>
                          <a:cs typeface="Arial" panose="020B0604020202020204" pitchFamily="34" charset="0"/>
                        </a:rPr>
                        <a:t>&lt; -3SD</a:t>
                      </a:r>
                      <a:endParaRPr lang="en-US" sz="20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5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WH</a:t>
                      </a:r>
                      <a:r>
                        <a:rPr lang="en-US" sz="2000" baseline="0" dirty="0" smtClean="0">
                          <a:latin typeface="Arial" panose="020B0604020202020204" pitchFamily="34" charset="0"/>
                          <a:cs typeface="Arial" panose="020B0604020202020204" pitchFamily="34" charset="0"/>
                        </a:rPr>
                        <a:t> or BMI</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720951">
                <a:tc vMerge="1">
                  <a:txBody>
                    <a:bodyPr/>
                    <a:lstStyle/>
                    <a:p>
                      <a:endParaRPr lang="en-US" dirty="0"/>
                    </a:p>
                  </a:txBody>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solidFill>
                            <a:schemeClr val="bg1"/>
                          </a:solidFill>
                          <a:latin typeface="Arial" panose="020B0604020202020204" pitchFamily="34" charset="0"/>
                          <a:cs typeface="Arial" panose="020B0604020202020204" pitchFamily="34" charset="0"/>
                        </a:rPr>
                        <a:t>&lt;</a:t>
                      </a:r>
                      <a:r>
                        <a:rPr lang="en-US" sz="2000" baseline="0" dirty="0" smtClean="0">
                          <a:solidFill>
                            <a:schemeClr val="bg1"/>
                          </a:solidFill>
                          <a:latin typeface="Arial" panose="020B0604020202020204" pitchFamily="34" charset="0"/>
                          <a:cs typeface="Arial" panose="020B0604020202020204" pitchFamily="34" charset="0"/>
                        </a:rPr>
                        <a:t> 115mm</a:t>
                      </a:r>
                      <a:endParaRPr lang="en-US" sz="2000"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5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MUAC or</a:t>
                      </a:r>
                      <a:r>
                        <a:rPr lang="en-US" sz="2000" baseline="0" dirty="0" smtClean="0">
                          <a:latin typeface="Arial" panose="020B0604020202020204" pitchFamily="34" charset="0"/>
                          <a:cs typeface="Arial" panose="020B0604020202020204" pitchFamily="34" charset="0"/>
                        </a:rPr>
                        <a:t> </a:t>
                      </a:r>
                    </a:p>
                    <a:p>
                      <a:r>
                        <a:rPr lang="en-US" sz="2000" baseline="0" dirty="0" err="1" smtClean="0">
                          <a:latin typeface="Arial" panose="020B0604020202020204" pitchFamily="34" charset="0"/>
                          <a:cs typeface="Arial" panose="020B0604020202020204" pitchFamily="34" charset="0"/>
                        </a:rPr>
                        <a:t>Phù</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ấn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lõm</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SDD </a:t>
                      </a:r>
                      <a:r>
                        <a:rPr lang="en-US" sz="2000" dirty="0" err="1" smtClean="0">
                          <a:latin typeface="Arial" panose="020B0604020202020204" pitchFamily="34" charset="0"/>
                          <a:cs typeface="Arial" panose="020B0604020202020204" pitchFamily="34" charset="0"/>
                        </a:rPr>
                        <a:t>mạn</a:t>
                      </a:r>
                      <a:r>
                        <a:rPr lang="en-US" sz="2000" baseline="0" dirty="0" smtClean="0">
                          <a:latin typeface="Arial" panose="020B0604020202020204" pitchFamily="34" charset="0"/>
                          <a:cs typeface="Arial" panose="020B0604020202020204" pitchFamily="34" charset="0"/>
                        </a:rPr>
                        <a:t> TB (MCM , </a:t>
                      </a:r>
                      <a:r>
                        <a:rPr lang="en-US" sz="2000" baseline="0" dirty="0" err="1" smtClean="0">
                          <a:latin typeface="Arial" panose="020B0604020202020204" pitchFamily="34" charset="0"/>
                          <a:cs typeface="Arial" panose="020B0604020202020204" pitchFamily="34" charset="0"/>
                        </a:rPr>
                        <a:t>thấp</a:t>
                      </a:r>
                      <a:r>
                        <a:rPr lang="en-US" sz="2000" baseline="0" dirty="0" smtClean="0">
                          <a:latin typeface="Arial" panose="020B0604020202020204" pitchFamily="34" charset="0"/>
                          <a:cs typeface="Arial" panose="020B0604020202020204" pitchFamily="34" charset="0"/>
                        </a:rPr>
                        <a:t> TB)</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a:t>
                      </a:r>
                      <a:r>
                        <a:rPr lang="en-US" sz="2000" baseline="0" dirty="0" smtClean="0">
                          <a:latin typeface="Arial" panose="020B0604020202020204" pitchFamily="34" charset="0"/>
                          <a:cs typeface="Arial" panose="020B0604020202020204" pitchFamily="34" charset="0"/>
                        </a:rPr>
                        <a:t> -3SD </a:t>
                      </a:r>
                      <a:r>
                        <a:rPr lang="en-US" sz="2000" baseline="0" dirty="0" err="1" smtClean="0">
                          <a:latin typeface="Arial" panose="020B0604020202020204" pitchFamily="34" charset="0"/>
                          <a:cs typeface="Arial" panose="020B0604020202020204" pitchFamily="34" charset="0"/>
                        </a:rPr>
                        <a:t>và</a:t>
                      </a:r>
                      <a:r>
                        <a:rPr lang="en-US" sz="2000" baseline="0" dirty="0" smtClean="0">
                          <a:latin typeface="Arial" panose="020B0604020202020204" pitchFamily="34" charset="0"/>
                          <a:cs typeface="Arial" panose="020B0604020202020204" pitchFamily="34" charset="0"/>
                        </a:rPr>
                        <a:t> &lt; – 2SD</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HA</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SDD</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mạn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nặng</a:t>
                      </a:r>
                      <a:r>
                        <a:rPr lang="en-US" sz="2000" baseline="0" dirty="0" smtClean="0">
                          <a:latin typeface="Arial" panose="020B0604020202020204" pitchFamily="34" charset="0"/>
                          <a:cs typeface="Arial" panose="020B0604020202020204" pitchFamily="34" charset="0"/>
                        </a:rPr>
                        <a:t> (SCM, </a:t>
                      </a:r>
                      <a:r>
                        <a:rPr lang="en-US" sz="2000" baseline="0" dirty="0" err="1" smtClean="0">
                          <a:latin typeface="Arial" panose="020B0604020202020204" pitchFamily="34" charset="0"/>
                          <a:cs typeface="Arial" panose="020B0604020202020204" pitchFamily="34" charset="0"/>
                        </a:rPr>
                        <a:t>thấp</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nặng</a:t>
                      </a:r>
                      <a:r>
                        <a:rPr lang="en-US" sz="2000" baseline="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&lt; -</a:t>
                      </a:r>
                      <a:r>
                        <a:rPr lang="en-US" sz="2000" baseline="0" dirty="0" smtClean="0">
                          <a:latin typeface="Arial" panose="020B0604020202020204" pitchFamily="34" charset="0"/>
                          <a:cs typeface="Arial" panose="020B0604020202020204" pitchFamily="34" charset="0"/>
                        </a:rPr>
                        <a:t> 3SD</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HA</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(wasted)</a:t>
                      </a:r>
                      <a:r>
                        <a:rPr lang="en-US" sz="2000" baseline="0" dirty="0" smtClean="0">
                          <a:latin typeface="Arial" panose="020B0604020202020204" pitchFamily="34" charset="0"/>
                          <a:cs typeface="Arial" panose="020B0604020202020204" pitchFamily="34" charset="0"/>
                        </a:rPr>
                        <a:t> TB</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99"/>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 - 3SD</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và</a:t>
                      </a:r>
                      <a:r>
                        <a:rPr lang="en-US" sz="2000" baseline="0" dirty="0" smtClean="0">
                          <a:latin typeface="Arial" panose="020B0604020202020204" pitchFamily="34" charset="0"/>
                          <a:cs typeface="Arial" panose="020B0604020202020204" pitchFamily="34" charset="0"/>
                        </a:rPr>
                        <a:t> &lt; - 2SD</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99"/>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WH</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r>
              <a:tr h="417694">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nặng</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C000"/>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&lt;</a:t>
                      </a:r>
                      <a:r>
                        <a:rPr lang="en-US" sz="2000" baseline="0" dirty="0" smtClean="0">
                          <a:latin typeface="Arial" panose="020B0604020202020204" pitchFamily="34" charset="0"/>
                          <a:cs typeface="Arial" panose="020B0604020202020204" pitchFamily="34" charset="0"/>
                        </a:rPr>
                        <a:t> -3SD</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C000"/>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r>
                        <a:rPr lang="en-US" sz="2000" dirty="0" smtClean="0">
                          <a:latin typeface="Arial" panose="020B0604020202020204" pitchFamily="34" charset="0"/>
                          <a:cs typeface="Arial" panose="020B0604020202020204" pitchFamily="34" charset="0"/>
                        </a:rPr>
                        <a:t>WH</a:t>
                      </a:r>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457200" rtl="0" eaLnBrk="1" latinLnBrk="0" hangingPunct="1">
                        <a:defRPr sz="1800" kern="1200">
                          <a:solidFill>
                            <a:schemeClr val="dk1"/>
                          </a:solidFill>
                          <a:latin typeface="Trebuchet MS" panose="020B0603020202020204"/>
                          <a:ea typeface=""/>
                          <a:cs typeface=""/>
                        </a:defRPr>
                      </a:lvl1pPr>
                      <a:lvl2pPr marL="457200" algn="l" defTabSz="457200" rtl="0" eaLnBrk="1" latinLnBrk="0" hangingPunct="1">
                        <a:defRPr sz="1800" kern="1200">
                          <a:solidFill>
                            <a:schemeClr val="dk1"/>
                          </a:solidFill>
                          <a:latin typeface="Trebuchet MS" panose="020B0603020202020204"/>
                          <a:ea typeface=""/>
                          <a:cs typeface=""/>
                        </a:defRPr>
                      </a:lvl2pPr>
                      <a:lvl3pPr marL="914400" algn="l" defTabSz="457200" rtl="0" eaLnBrk="1" latinLnBrk="0" hangingPunct="1">
                        <a:defRPr sz="1800" kern="1200">
                          <a:solidFill>
                            <a:schemeClr val="dk1"/>
                          </a:solidFill>
                          <a:latin typeface="Trebuchet MS" panose="020B0603020202020204"/>
                          <a:ea typeface=""/>
                          <a:cs typeface=""/>
                        </a:defRPr>
                      </a:lvl3pPr>
                      <a:lvl4pPr marL="1371600" algn="l" defTabSz="457200" rtl="0" eaLnBrk="1" latinLnBrk="0" hangingPunct="1">
                        <a:defRPr sz="1800" kern="1200">
                          <a:solidFill>
                            <a:schemeClr val="dk1"/>
                          </a:solidFill>
                          <a:latin typeface="Trebuchet MS" panose="020B0603020202020204"/>
                          <a:ea typeface=""/>
                          <a:cs typeface=""/>
                        </a:defRPr>
                      </a:lvl4pPr>
                      <a:lvl5pPr marL="1828800" algn="l" defTabSz="457200" rtl="0" eaLnBrk="1" latinLnBrk="0" hangingPunct="1">
                        <a:defRPr sz="1800" kern="1200">
                          <a:solidFill>
                            <a:schemeClr val="dk1"/>
                          </a:solidFill>
                          <a:latin typeface="Trebuchet MS" panose="020B0603020202020204"/>
                          <a:ea typeface=""/>
                          <a:cs typeface=""/>
                        </a:defRPr>
                      </a:lvl5pPr>
                      <a:lvl6pPr marL="2286000" algn="l" defTabSz="457200" rtl="0" eaLnBrk="1" latinLnBrk="0" hangingPunct="1">
                        <a:defRPr sz="1800" kern="1200">
                          <a:solidFill>
                            <a:schemeClr val="dk1"/>
                          </a:solidFill>
                          <a:latin typeface="Trebuchet MS" panose="020B0603020202020204"/>
                          <a:ea typeface=""/>
                          <a:cs typeface=""/>
                        </a:defRPr>
                      </a:lvl6pPr>
                      <a:lvl7pPr marL="2743200" algn="l" defTabSz="457200" rtl="0" eaLnBrk="1" latinLnBrk="0" hangingPunct="1">
                        <a:defRPr sz="1800" kern="1200">
                          <a:solidFill>
                            <a:schemeClr val="dk1"/>
                          </a:solidFill>
                          <a:latin typeface="Trebuchet MS" panose="020B0603020202020204"/>
                          <a:ea typeface=""/>
                          <a:cs typeface=""/>
                        </a:defRPr>
                      </a:lvl7pPr>
                      <a:lvl8pPr marL="3200400" algn="l" defTabSz="457200" rtl="0" eaLnBrk="1" latinLnBrk="0" hangingPunct="1">
                        <a:defRPr sz="1800" kern="1200">
                          <a:solidFill>
                            <a:schemeClr val="dk1"/>
                          </a:solidFill>
                          <a:latin typeface="Trebuchet MS" panose="020B0603020202020204"/>
                          <a:ea typeface=""/>
                          <a:cs typeface=""/>
                        </a:defRPr>
                      </a:lvl8pPr>
                      <a:lvl9pPr marL="3657600" algn="l" defTabSz="457200" rtl="0" eaLnBrk="1" latinLnBrk="0" hangingPunct="1">
                        <a:defRPr sz="1800" kern="1200">
                          <a:solidFill>
                            <a:schemeClr val="dk1"/>
                          </a:solidFill>
                          <a:latin typeface="Trebuchet MS" panose="020B0603020202020204"/>
                          <a:ea typeface=""/>
                          <a:cs typeface=""/>
                        </a:defRPr>
                      </a:lvl9pPr>
                    </a:lstStyle>
                    <a:p>
                      <a:endParaRPr lang="en-US" sz="2000" dirty="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0000"/>
                        <a:lumOff val="80000"/>
                      </a:schemeClr>
                    </a:solidFill>
                  </a:tcPr>
                </a:tc>
              </a:tr>
            </a:tbl>
          </a:graphicData>
        </a:graphic>
      </p:graphicFrame>
    </p:spTree>
    <p:extLst>
      <p:ext uri="{BB962C8B-B14F-4D97-AF65-F5344CB8AC3E}">
        <p14:creationId xmlns:p14="http://schemas.microsoft.com/office/powerpoint/2010/main" val="1246962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11827" y="2133599"/>
            <a:ext cx="10392785" cy="4298373"/>
          </a:xfrm>
        </p:spPr>
        <p:txBody>
          <a:bodyPr>
            <a:normAutofit/>
          </a:bodyPr>
          <a:lstStyle/>
          <a:p>
            <a:pPr marL="0" indent="0">
              <a:buNone/>
            </a:pPr>
            <a:r>
              <a:rPr lang="en-US" sz="2400" dirty="0">
                <a:latin typeface="Arial" panose="020B0604020202020204" pitchFamily="34" charset="0"/>
                <a:cs typeface="Arial" panose="020B0604020202020204" pitchFamily="34" charset="0"/>
                <a:hlinkClick r:id="rId2"/>
              </a:rPr>
              <a:t>https://</a:t>
            </a:r>
            <a:r>
              <a:rPr lang="en-US" sz="2400" dirty="0" smtClean="0">
                <a:latin typeface="Arial" panose="020B0604020202020204" pitchFamily="34" charset="0"/>
                <a:cs typeface="Arial" panose="020B0604020202020204" pitchFamily="34" charset="0"/>
                <a:hlinkClick r:id="rId2"/>
              </a:rPr>
              <a:t>www.who.int/nutrition/publications/severemalnutrition/9789241598163_eng.pdf</a:t>
            </a:r>
            <a:endParaRPr lang="en-US" sz="2400" dirty="0" smtClean="0">
              <a:latin typeface="Arial" panose="020B0604020202020204" pitchFamily="34" charset="0"/>
              <a:cs typeface="Arial" panose="020B0604020202020204" pitchFamily="34" charset="0"/>
            </a:endParaRPr>
          </a:p>
          <a:p>
            <a:pPr marL="0" indent="0">
              <a:buNone/>
            </a:pPr>
            <a:r>
              <a:rPr lang="en-US" sz="2800" dirty="0">
                <a:solidFill>
                  <a:srgbClr val="0070C0"/>
                </a:solidFill>
                <a:latin typeface="Arial" panose="020B0604020202020204" pitchFamily="34" charset="0"/>
                <a:cs typeface="Arial" panose="020B0604020202020204" pitchFamily="34" charset="0"/>
              </a:rPr>
              <a:t>https://</a:t>
            </a:r>
            <a:r>
              <a:rPr lang="en-US" sz="2800" dirty="0" smtClean="0">
                <a:solidFill>
                  <a:srgbClr val="0070C0"/>
                </a:solidFill>
                <a:latin typeface="Arial" panose="020B0604020202020204" pitchFamily="34" charset="0"/>
                <a:cs typeface="Arial" panose="020B0604020202020204" pitchFamily="34" charset="0"/>
              </a:rPr>
              <a:t>www.who.int/childgrowth/standards</a:t>
            </a:r>
          </a:p>
          <a:p>
            <a:pPr marL="0" indent="0">
              <a:buNone/>
            </a:pPr>
            <a:endParaRPr lang="en-US" dirty="0" smtClean="0"/>
          </a:p>
          <a:p>
            <a:pPr marL="0" indent="0" defTabSz="914400">
              <a:lnSpc>
                <a:spcPct val="150000"/>
              </a:lnSpc>
              <a:spcBef>
                <a:spcPts val="0"/>
              </a:spcBef>
              <a:buClrTx/>
              <a:buNone/>
              <a:defRPr/>
            </a:pPr>
            <a:r>
              <a:rPr lang="en-US" sz="2400" dirty="0" smtClean="0">
                <a:solidFill>
                  <a:schemeClr val="tx1"/>
                </a:solidFill>
                <a:latin typeface="Arial" panose="020B0604020202020204" pitchFamily="34" charset="0"/>
                <a:cs typeface="Arial" panose="020B0604020202020204" pitchFamily="34" charset="0"/>
              </a:rPr>
              <a:t>WHO </a:t>
            </a:r>
            <a:r>
              <a:rPr lang="en-US" sz="2400" dirty="0">
                <a:solidFill>
                  <a:schemeClr val="tx1"/>
                </a:solidFill>
                <a:latin typeface="Arial" panose="020B0604020202020204" pitchFamily="34" charset="0"/>
                <a:cs typeface="Arial" panose="020B0604020202020204" pitchFamily="34" charset="0"/>
              </a:rPr>
              <a:t>2017 Guideline: Assessing and Managing Children at Primary Health-Care Facilities to Prevent Overweight and Obesity in the Context of the Double Burden of Malnutrition: Updates for the Integrated Management of Childhood Illness (IMCI</a:t>
            </a:r>
            <a:r>
              <a:rPr lang="en-US" sz="2400" dirty="0" smtClean="0">
                <a:solidFill>
                  <a:schemeClr val="tx1"/>
                </a:solidFill>
                <a:latin typeface="Arial" panose="020B0604020202020204" pitchFamily="34" charset="0"/>
                <a:cs typeface="Arial" panose="020B0604020202020204" pitchFamily="34" charset="0"/>
              </a:rPr>
              <a:t>).</a:t>
            </a:r>
          </a:p>
          <a:p>
            <a:pPr marL="0" indent="0" defTabSz="914400">
              <a:lnSpc>
                <a:spcPct val="150000"/>
              </a:lnSpc>
              <a:spcBef>
                <a:spcPts val="0"/>
              </a:spcBef>
              <a:buClrTx/>
              <a:buNone/>
              <a:defRPr/>
            </a:pPr>
            <a:endParaRPr lang="en-US"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6784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356135"/>
          </a:xfrm>
        </p:spPr>
        <p:txBody>
          <a:bodyPr>
            <a:normAutofit fontScale="90000"/>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19264" cy="6858000"/>
          </a:xfrm>
        </p:spPr>
      </p:pic>
    </p:spTree>
    <p:extLst>
      <p:ext uri="{BB962C8B-B14F-4D97-AF65-F5344CB8AC3E}">
        <p14:creationId xmlns:p14="http://schemas.microsoft.com/office/powerpoint/2010/main" val="2830067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5191" y="0"/>
            <a:ext cx="11876809" cy="7107382"/>
          </a:xfrm>
        </p:spPr>
      </p:pic>
    </p:spTree>
    <p:extLst>
      <p:ext uri="{BB962C8B-B14F-4D97-AF65-F5344CB8AC3E}">
        <p14:creationId xmlns:p14="http://schemas.microsoft.com/office/powerpoint/2010/main" val="12612673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773" y="0"/>
            <a:ext cx="11772900" cy="1236518"/>
          </a:xfrm>
        </p:spPr>
        <p:txBody>
          <a:bodyPr>
            <a:normAutofit/>
          </a:bodyPr>
          <a:lstStyle/>
          <a:p>
            <a:pPr algn="ctr"/>
            <a:r>
              <a:rPr lang="en-US" b="1" dirty="0" smtClean="0">
                <a:latin typeface="Arial" panose="020B0604020202020204" pitchFamily="34" charset="0"/>
                <a:cs typeface="Arial" panose="020B0604020202020204" pitchFamily="34" charset="0"/>
              </a:rPr>
              <a:t>SINH LÝ BỆNH</a:t>
            </a:r>
            <a:br>
              <a:rPr lang="en-US" b="1" dirty="0" smtClean="0">
                <a:latin typeface="Arial" panose="020B0604020202020204" pitchFamily="34" charset="0"/>
                <a:cs typeface="Arial" panose="020B0604020202020204" pitchFamily="34" charset="0"/>
              </a:rPr>
            </a:br>
            <a:r>
              <a:rPr lang="en-US" b="1" dirty="0" smtClean="0">
                <a:latin typeface="Arial" panose="020B0604020202020204" pitchFamily="34" charset="0"/>
                <a:cs typeface="Arial" panose="020B0604020202020204" pitchFamily="34" charset="0"/>
              </a:rPr>
              <a:t> </a:t>
            </a:r>
            <a:r>
              <a:rPr lang="en-US" sz="1800" dirty="0" smtClean="0">
                <a:solidFill>
                  <a:srgbClr val="0070C0"/>
                </a:solidFill>
                <a:latin typeface="Arial" panose="020B0604020202020204" pitchFamily="34" charset="0"/>
                <a:cs typeface="Arial" panose="020B0604020202020204" pitchFamily="34" charset="0"/>
              </a:rPr>
              <a:t>(https</a:t>
            </a:r>
            <a:r>
              <a:rPr lang="en-US" sz="1800" dirty="0">
                <a:solidFill>
                  <a:srgbClr val="0070C0"/>
                </a:solidFill>
                <a:latin typeface="Arial" panose="020B0604020202020204" pitchFamily="34" charset="0"/>
                <a:cs typeface="Arial" panose="020B0604020202020204" pitchFamily="34" charset="0"/>
              </a:rPr>
              <a:t>://www.uptodate.com/contents/malnutrition-in-children-in-resource-limited-countries-clinical-assessment</a:t>
            </a:r>
          </a:p>
        </p:txBody>
      </p:sp>
      <p:sp>
        <p:nvSpPr>
          <p:cNvPr id="3" name="Content Placeholder 2"/>
          <p:cNvSpPr>
            <a:spLocks noGrp="1"/>
          </p:cNvSpPr>
          <p:nvPr>
            <p:ph idx="1"/>
          </p:nvPr>
        </p:nvSpPr>
        <p:spPr>
          <a:xfrm>
            <a:off x="446809" y="1236518"/>
            <a:ext cx="11585864" cy="5714999"/>
          </a:xfrm>
        </p:spPr>
        <p:txBody>
          <a:bodyPr>
            <a:normAutofit fontScale="92500" lnSpcReduction="20000"/>
          </a:bodyPr>
          <a:lstStyle/>
          <a:p>
            <a:pPr marL="0" indent="0">
              <a:lnSpc>
                <a:spcPct val="150000"/>
              </a:lnSpc>
              <a:buNone/>
            </a:pPr>
            <a:r>
              <a:rPr lang="en-US" sz="1000" dirty="0" smtClean="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SUY DINH DƯỠNG – NHIỄM TRÙNG </a:t>
            </a:r>
            <a:r>
              <a:rPr lang="en-US" sz="2200" dirty="0" smtClean="0">
                <a:solidFill>
                  <a:srgbClr val="FF0000"/>
                </a:solidFill>
                <a:latin typeface="Arial" panose="020B0604020202020204" pitchFamily="34" charset="0"/>
                <a:cs typeface="Arial" panose="020B0604020202020204" pitchFamily="34" charset="0"/>
              </a:rPr>
              <a:t>( </a:t>
            </a:r>
            <a:r>
              <a:rPr lang="en-US" sz="2200" dirty="0" err="1" smtClean="0">
                <a:solidFill>
                  <a:srgbClr val="FF0000"/>
                </a:solidFill>
                <a:latin typeface="Arial" panose="020B0604020202020204" pitchFamily="34" charset="0"/>
                <a:cs typeface="Arial" panose="020B0604020202020204" pitchFamily="34" charset="0"/>
              </a:rPr>
              <a:t>Malnitrition</a:t>
            </a:r>
            <a:r>
              <a:rPr lang="en-US" sz="2200" dirty="0" smtClean="0">
                <a:solidFill>
                  <a:srgbClr val="FF0000"/>
                </a:solidFill>
                <a:latin typeface="Arial" panose="020B0604020202020204" pitchFamily="34" charset="0"/>
                <a:cs typeface="Arial" panose="020B0604020202020204" pitchFamily="34" charset="0"/>
              </a:rPr>
              <a:t> – Infection Cycle)</a:t>
            </a:r>
          </a:p>
          <a:p>
            <a:pPr marL="0" indent="0">
              <a:lnSpc>
                <a:spcPct val="150000"/>
              </a:lnSpc>
              <a:buNone/>
            </a:pPr>
            <a:r>
              <a:rPr lang="en-US" sz="2200" dirty="0" smtClean="0">
                <a:latin typeface="Arial" panose="020B0604020202020204" pitchFamily="34" charset="0"/>
                <a:cs typeface="Arial" panose="020B0604020202020204" pitchFamily="34" charset="0"/>
              </a:rPr>
              <a:t>RL </a:t>
            </a:r>
            <a:r>
              <a:rPr lang="en-US" sz="2200" dirty="0" err="1" smtClean="0">
                <a:latin typeface="Arial" panose="020B0604020202020204" pitchFamily="34" charset="0"/>
                <a:cs typeface="Arial" panose="020B0604020202020204" pitchFamily="34" charset="0"/>
              </a:rPr>
              <a:t>chức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năng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miễn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dịch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và</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nhiễm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trùng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vừa</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là</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nguyên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nhân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vừa</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là</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hậu</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quả</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của</a:t>
            </a:r>
            <a:r>
              <a:rPr lang="en-US" sz="2200" dirty="0" smtClean="0">
                <a:latin typeface="Arial" panose="020B0604020202020204" pitchFamily="34" charset="0"/>
                <a:cs typeface="Arial" panose="020B0604020202020204" pitchFamily="34" charset="0"/>
              </a:rPr>
              <a:t> SDD</a:t>
            </a:r>
          </a:p>
          <a:p>
            <a:pPr>
              <a:lnSpc>
                <a:spcPct val="150000"/>
              </a:lnSpc>
              <a:buFontTx/>
              <a:buChar char="-"/>
            </a:pPr>
            <a:r>
              <a:rPr lang="en-US" sz="2000" dirty="0" err="1" smtClean="0">
                <a:latin typeface="Arial" panose="020B0604020202020204" pitchFamily="34" charset="0"/>
                <a:cs typeface="Arial" panose="020B0604020202020204" pitchFamily="34" charset="0"/>
              </a:rPr>
              <a:t>Nhiễm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trùng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tăng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cầu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chuyển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hóa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của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gây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chán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ăn</a:t>
            </a:r>
            <a:endParaRPr lang="en-US" sz="2000" dirty="0" smtClean="0">
              <a:latin typeface="Arial" panose="020B0604020202020204" pitchFamily="34" charset="0"/>
              <a:cs typeface="Arial" panose="020B0604020202020204" pitchFamily="34" charset="0"/>
            </a:endParaRPr>
          </a:p>
          <a:p>
            <a:pPr marL="0" indent="0">
              <a:lnSpc>
                <a:spcPct val="150000"/>
              </a:lnSpc>
              <a:buNone/>
            </a:pPr>
            <a:r>
              <a:rPr lang="vi-VN"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 Nhiều chức năng miễn dịch bị suy giảm trong </a:t>
            </a:r>
            <a:r>
              <a:rPr lang="vi-VN" sz="2000" dirty="0" smtClean="0">
                <a:latin typeface="Arial" panose="020B0604020202020204" pitchFamily="34" charset="0"/>
                <a:cs typeface="Arial" panose="020B0604020202020204" pitchFamily="34" charset="0"/>
              </a:rPr>
              <a:t>marasmus</a:t>
            </a:r>
            <a:endParaRPr lang="en-US" sz="2000" dirty="0" smtClean="0">
              <a:latin typeface="Arial" panose="020B0604020202020204" pitchFamily="34" charset="0"/>
              <a:cs typeface="Arial" panose="020B0604020202020204" pitchFamily="34" charset="0"/>
            </a:endParaRPr>
          </a:p>
          <a:p>
            <a:pPr marL="0" indent="0">
              <a:lnSpc>
                <a:spcPct val="150000"/>
              </a:lnSpc>
              <a:buNone/>
            </a:pP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thay </a:t>
            </a:r>
            <a:r>
              <a:rPr lang="vi-VN" sz="2000" dirty="0">
                <a:latin typeface="Arial" panose="020B0604020202020204" pitchFamily="34" charset="0"/>
                <a:cs typeface="Arial" panose="020B0604020202020204" pitchFamily="34" charset="0"/>
              </a:rPr>
              <a:t>đổi chức năng hàng rào ruột, rối loạn </a:t>
            </a:r>
            <a:r>
              <a:rPr lang="en-US" sz="2000" dirty="0" smtClean="0">
                <a:latin typeface="Arial" panose="020B0604020202020204" pitchFamily="34" charset="0"/>
                <a:cs typeface="Arial" panose="020B0604020202020204" pitchFamily="34" charset="0"/>
              </a:rPr>
              <a:t>VK </a:t>
            </a:r>
            <a:r>
              <a:rPr lang="vi-VN" sz="2000" dirty="0" smtClean="0">
                <a:latin typeface="Arial" panose="020B0604020202020204" pitchFamily="34" charset="0"/>
                <a:cs typeface="Arial" panose="020B0604020202020204" pitchFamily="34" charset="0"/>
              </a:rPr>
              <a:t>đường </a:t>
            </a:r>
            <a:r>
              <a:rPr lang="vi-VN" sz="2000" dirty="0">
                <a:latin typeface="Arial" panose="020B0604020202020204" pitchFamily="34" charset="0"/>
                <a:cs typeface="Arial" panose="020B0604020202020204" pitchFamily="34" charset="0"/>
              </a:rPr>
              <a:t>ruột và miễn dịch niêm mạc, giảm sản xuất cytokine tiền viêm của mô mỡ ("adipokines"), và thiếu vi chất dinh </a:t>
            </a:r>
            <a:r>
              <a:rPr lang="vi-VN" sz="2000" dirty="0" smtClean="0">
                <a:latin typeface="Arial" panose="020B0604020202020204" pitchFamily="34" charset="0"/>
                <a:cs typeface="Arial" panose="020B0604020202020204" pitchFamily="34" charset="0"/>
              </a:rPr>
              <a:t>dưỡng</a:t>
            </a:r>
            <a:endParaRPr lang="en-US" sz="2000" dirty="0">
              <a:latin typeface="Arial" panose="020B0604020202020204" pitchFamily="34" charset="0"/>
              <a:cs typeface="Arial" panose="020B0604020202020204" pitchFamily="34" charset="0"/>
            </a:endParaRPr>
          </a:p>
          <a:p>
            <a:pPr marL="0" indent="0">
              <a:lnSpc>
                <a:spcPct val="150000"/>
              </a:lnSpc>
              <a:buNone/>
            </a:pPr>
            <a:r>
              <a:rPr lang="en-US" sz="2000" dirty="0" smtClean="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 Các tuyến bạch huyết, amiđan và tuyến ức bị teo</a:t>
            </a:r>
            <a:r>
              <a:rPr lang="vi-VN" sz="2000" dirty="0" smtClean="0">
                <a:latin typeface="Arial" panose="020B0604020202020204" pitchFamily="34" charset="0"/>
                <a:cs typeface="Arial" panose="020B0604020202020204" pitchFamily="34" charset="0"/>
              </a:rPr>
              <a:t>.</a:t>
            </a:r>
            <a:endParaRPr lang="en-US" sz="2000" dirty="0" smtClean="0">
              <a:latin typeface="Arial" panose="020B0604020202020204" pitchFamily="34" charset="0"/>
              <a:cs typeface="Arial" panose="020B0604020202020204" pitchFamily="34" charset="0"/>
            </a:endParaRPr>
          </a:p>
          <a:p>
            <a:pPr marL="0" indent="0">
              <a:lnSpc>
                <a:spcPct val="150000"/>
              </a:lnSpc>
              <a:buNone/>
            </a:pPr>
            <a:r>
              <a:rPr lang="vi-VN"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MD </a:t>
            </a:r>
            <a:r>
              <a:rPr lang="vi-VN" sz="2000" dirty="0" smtClean="0">
                <a:latin typeface="Arial" panose="020B0604020202020204" pitchFamily="34" charset="0"/>
                <a:cs typeface="Arial" panose="020B0604020202020204" pitchFamily="34" charset="0"/>
              </a:rPr>
              <a:t>qua </a:t>
            </a:r>
            <a:r>
              <a:rPr lang="vi-VN" sz="2000" dirty="0">
                <a:latin typeface="Arial" panose="020B0604020202020204" pitchFamily="34" charset="0"/>
                <a:cs typeface="Arial" panose="020B0604020202020204" pitchFamily="34" charset="0"/>
              </a:rPr>
              <a:t>trung gian tế bào (tế bào T), nồng độ </a:t>
            </a:r>
            <a:r>
              <a:rPr lang="vi-VN" sz="2000" dirty="0" smtClean="0">
                <a:latin typeface="Arial" panose="020B0604020202020204" pitchFamily="34" charset="0"/>
                <a:cs typeface="Arial" panose="020B0604020202020204" pitchFamily="34" charset="0"/>
              </a:rPr>
              <a:t>IgA </a:t>
            </a:r>
            <a:r>
              <a:rPr lang="vi-VN" sz="2000" dirty="0">
                <a:latin typeface="Arial" panose="020B0604020202020204" pitchFamily="34" charset="0"/>
                <a:cs typeface="Arial" panose="020B0604020202020204" pitchFamily="34" charset="0"/>
              </a:rPr>
              <a:t>trong dịch tiết, </a:t>
            </a:r>
            <a:r>
              <a:rPr lang="vi-VN" sz="2000" dirty="0" smtClean="0">
                <a:latin typeface="Arial" panose="020B0604020202020204" pitchFamily="34" charset="0"/>
                <a:cs typeface="Arial" panose="020B0604020202020204" pitchFamily="34" charset="0"/>
              </a:rPr>
              <a:t>bổ </a:t>
            </a:r>
            <a:r>
              <a:rPr lang="vi-VN" sz="2000" dirty="0">
                <a:latin typeface="Arial" panose="020B0604020202020204" pitchFamily="34" charset="0"/>
                <a:cs typeface="Arial" panose="020B0604020202020204" pitchFamily="34" charset="0"/>
              </a:rPr>
              <a:t>thể và khả năng thực bào đều giảm. Mặc dù đáp ứng miễn dịch ở giai đoạn cấp tính còn nguyên vẹn, nhưng các dấu hiệu nhiễm trùng điển hình như tăng bạch cầu và sốt thường không có </a:t>
            </a:r>
            <a:endParaRPr lang="en-US" sz="2000" dirty="0" smtClean="0">
              <a:latin typeface="Arial" panose="020B0604020202020204" pitchFamily="34" charset="0"/>
              <a:cs typeface="Arial" panose="020B0604020202020204" pitchFamily="34" charset="0"/>
            </a:endParaRPr>
          </a:p>
          <a:p>
            <a:pPr marL="0" indent="0">
              <a:lnSpc>
                <a:spcPct val="150000"/>
              </a:lnSpc>
              <a:buNone/>
            </a:pP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 Các chất trung gian gây viêm khác </a:t>
            </a:r>
            <a:r>
              <a:rPr lang="en-US" sz="2000" dirty="0">
                <a:latin typeface="Arial" panose="020B0604020202020204" pitchFamily="34" charset="0"/>
                <a:cs typeface="Arial" panose="020B0604020202020204" pitchFamily="34" charset="0"/>
              </a:rPr>
              <a:t>(</a:t>
            </a:r>
            <a:r>
              <a:rPr lang="vi-VN" sz="2000" dirty="0" smtClean="0">
                <a:latin typeface="Arial" panose="020B0604020202020204" pitchFamily="34" charset="0"/>
                <a:cs typeface="Arial" panose="020B0604020202020204" pitchFamily="34" charset="0"/>
              </a:rPr>
              <a:t>interleukin-6 </a:t>
            </a:r>
            <a:r>
              <a:rPr lang="vi-VN" sz="2000" dirty="0">
                <a:latin typeface="Arial" panose="020B0604020202020204" pitchFamily="34" charset="0"/>
                <a:cs typeface="Arial" panose="020B0604020202020204" pitchFamily="34" charset="0"/>
              </a:rPr>
              <a:t>và protein phản ứng C) được tăng lên, đặc biệt là ở kwashiorkor (suy dinh dưỡng phù nề)</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66808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2925" y="436417"/>
            <a:ext cx="7839548" cy="6224155"/>
          </a:xfrm>
        </p:spPr>
      </p:pic>
    </p:spTree>
    <p:extLst>
      <p:ext uri="{BB962C8B-B14F-4D97-AF65-F5344CB8AC3E}">
        <p14:creationId xmlns:p14="http://schemas.microsoft.com/office/powerpoint/2010/main" val="28916313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627" y="93518"/>
            <a:ext cx="10849985" cy="633846"/>
          </a:xfrm>
        </p:spPr>
        <p:txBody>
          <a:bodyPr>
            <a:normAutofit fontScale="90000"/>
          </a:bodyPr>
          <a:lstStyle/>
          <a:p>
            <a:pPr algn="ctr"/>
            <a:r>
              <a:rPr lang="en-US" b="1" dirty="0">
                <a:latin typeface="Arial" panose="020B0604020202020204" pitchFamily="34" charset="0"/>
                <a:cs typeface="Arial" panose="020B0604020202020204" pitchFamily="34" charset="0"/>
              </a:rPr>
              <a:t>SINH LÝ BỆNH</a:t>
            </a:r>
            <a:endParaRPr lang="en-US" dirty="0"/>
          </a:p>
        </p:txBody>
      </p:sp>
      <p:sp>
        <p:nvSpPr>
          <p:cNvPr id="3" name="Content Placeholder 2"/>
          <p:cNvSpPr>
            <a:spLocks noGrp="1"/>
          </p:cNvSpPr>
          <p:nvPr>
            <p:ph idx="1"/>
          </p:nvPr>
        </p:nvSpPr>
        <p:spPr>
          <a:xfrm>
            <a:off x="0" y="644235"/>
            <a:ext cx="12074236" cy="6213765"/>
          </a:xfrm>
        </p:spPr>
        <p:txBody>
          <a:bodyPr>
            <a:normAutofit fontScale="92500" lnSpcReduction="10000"/>
          </a:bodyPr>
          <a:lstStyle/>
          <a:p>
            <a:pPr marL="0" indent="0">
              <a:buNone/>
            </a:pPr>
            <a:r>
              <a:rPr lang="en-US" sz="2400" b="1" dirty="0" smtClean="0">
                <a:solidFill>
                  <a:schemeClr val="tx1"/>
                </a:solidFill>
                <a:latin typeface="Arial" panose="020B0604020202020204" pitchFamily="34" charset="0"/>
                <a:cs typeface="Arial" panose="020B0604020202020204" pitchFamily="34" charset="0"/>
              </a:rPr>
              <a:t>                                 </a:t>
            </a:r>
            <a:r>
              <a:rPr lang="en-US" sz="2400" b="1" dirty="0" smtClean="0">
                <a:solidFill>
                  <a:srgbClr val="FF0000"/>
                </a:solidFill>
                <a:latin typeface="Arial" panose="020B0604020202020204" pitchFamily="34" charset="0"/>
                <a:cs typeface="Arial" panose="020B0604020202020204" pitchFamily="34" charset="0"/>
              </a:rPr>
              <a:t>HỆ TIM MẠCH _ HÔ HẤP</a:t>
            </a:r>
          </a:p>
          <a:p>
            <a:pPr marL="0" indent="0">
              <a:lnSpc>
                <a:spcPct val="150000"/>
              </a:lnSpc>
              <a:buNone/>
            </a:pPr>
            <a:r>
              <a:rPr lang="en-US" sz="2400" b="1" dirty="0" smtClean="0">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TIM MẠCH</a:t>
            </a:r>
            <a:r>
              <a:rPr lang="vi-VN" sz="2400" dirty="0">
                <a:latin typeface="Arial" panose="020B0604020202020204" pitchFamily="34" charset="0"/>
                <a:cs typeface="Arial" panose="020B0604020202020204" pitchFamily="34" charset="0"/>
              </a:rPr>
              <a:t> - Trẻ mắc chứng marasmus hoặc kwashiorkor có cân bằng chất lỏng không ổn </a:t>
            </a:r>
            <a:r>
              <a:rPr lang="vi-VN" sz="2400" dirty="0" smtClean="0">
                <a:latin typeface="Arial" panose="020B0604020202020204" pitchFamily="34" charset="0"/>
                <a:cs typeface="Arial" panose="020B0604020202020204" pitchFamily="34" charset="0"/>
              </a:rPr>
              <a:t>định</a:t>
            </a:r>
            <a:endParaRPr lang="en-US" sz="2400" dirty="0" smtClean="0">
              <a:latin typeface="Arial" panose="020B0604020202020204" pitchFamily="34" charset="0"/>
              <a:cs typeface="Arial" panose="020B0604020202020204" pitchFamily="34" charset="0"/>
            </a:endParaRPr>
          </a:p>
          <a:p>
            <a:pPr marL="0" indent="0">
              <a:lnSpc>
                <a:spcPct val="150000"/>
              </a:lnSpc>
              <a:buNone/>
            </a:pPr>
            <a:r>
              <a:rPr lang="en-US" sz="2400" dirty="0" smtClean="0">
                <a:latin typeface="Arial" panose="020B0604020202020204" pitchFamily="34" charset="0"/>
                <a:cs typeface="Arial" panose="020B0604020202020204" pitchFamily="34" charset="0"/>
              </a:rPr>
              <a:t>=&gt;</a:t>
            </a:r>
            <a:r>
              <a:rPr lang="vi-VN" sz="2400" dirty="0">
                <a:latin typeface="Arial" panose="020B0604020202020204" pitchFamily="34" charset="0"/>
                <a:cs typeface="Arial" panose="020B0604020202020204" pitchFamily="34" charset="0"/>
              </a:rPr>
              <a:t> truyền </a:t>
            </a:r>
            <a:r>
              <a:rPr lang="vi-VN" sz="2400" u="sng" dirty="0">
                <a:latin typeface="Arial" panose="020B0604020202020204" pitchFamily="34" charset="0"/>
                <a:cs typeface="Arial" panose="020B0604020202020204" pitchFamily="34" charset="0"/>
                <a:hlinkClick r:id="rId3"/>
              </a:rPr>
              <a:t>nước muối</a:t>
            </a:r>
            <a:r>
              <a:rPr lang="vi-VN" sz="2400" dirty="0">
                <a:latin typeface="Arial" panose="020B0604020202020204" pitchFamily="34" charset="0"/>
                <a:cs typeface="Arial" panose="020B0604020202020204" pitchFamily="34" charset="0"/>
              </a:rPr>
              <a:t> có thể gây tăng áp lực tĩnh mạch và suy tim cấp tính, trong khi giảm thể </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tích </a:t>
            </a:r>
            <a:r>
              <a:rPr lang="vi-VN" sz="2400" dirty="0">
                <a:latin typeface="Arial" panose="020B0604020202020204" pitchFamily="34" charset="0"/>
                <a:cs typeface="Arial" panose="020B0604020202020204" pitchFamily="34" charset="0"/>
              </a:rPr>
              <a:t>máu có thể ảnh hưởng đến tưới máu mô</a:t>
            </a:r>
            <a:r>
              <a:rPr lang="vi-VN"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a:lnSpc>
                <a:spcPct val="150000"/>
              </a:lnSpc>
            </a:pPr>
            <a:r>
              <a:rPr lang="vi-VN" sz="2400" dirty="0">
                <a:latin typeface="Arial" panose="020B0604020202020204" pitchFamily="34" charset="0"/>
                <a:cs typeface="Arial" panose="020B0604020202020204" pitchFamily="34" charset="0"/>
              </a:rPr>
              <a:t> Ở trẻ em chậm phát triển, cung lượng </a:t>
            </a:r>
            <a:r>
              <a:rPr lang="vi-VN" sz="2400" dirty="0" smtClean="0">
                <a:latin typeface="Arial" panose="020B0604020202020204" pitchFamily="34" charset="0"/>
                <a:cs typeface="Arial" panose="020B0604020202020204" pitchFamily="34" charset="0"/>
              </a:rPr>
              <a:t>tim </a:t>
            </a:r>
            <a:r>
              <a:rPr lang="vi-VN" sz="2400" dirty="0">
                <a:latin typeface="Arial" panose="020B0604020202020204" pitchFamily="34" charset="0"/>
                <a:cs typeface="Arial" panose="020B0604020202020204" pitchFamily="34" charset="0"/>
              </a:rPr>
              <a:t>và </a:t>
            </a:r>
            <a:r>
              <a:rPr lang="en-US" sz="2400" dirty="0" smtClean="0">
                <a:latin typeface="Arial" panose="020B0604020202020204" pitchFamily="34" charset="0"/>
                <a:cs typeface="Arial" panose="020B0604020202020204" pitchFamily="34" charset="0"/>
              </a:rPr>
              <a:t>Stock Volume ( </a:t>
            </a:r>
            <a:r>
              <a:rPr lang="en-US" sz="2400" dirty="0" err="1" smtClean="0">
                <a:latin typeface="Arial" panose="020B0604020202020204" pitchFamily="34" charset="0"/>
                <a:cs typeface="Arial" panose="020B0604020202020204" pitchFamily="34" charset="0"/>
              </a:rPr>
              <a:t>thể</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máu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bơm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ra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từ</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tâm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thất</a:t>
            </a:r>
            <a:r>
              <a:rPr lang="en-US" sz="2400" dirty="0" smtClean="0">
                <a:latin typeface="Arial" panose="020B0604020202020204" pitchFamily="34" charset="0"/>
                <a:cs typeface="Arial" panose="020B0604020202020204" pitchFamily="34" charset="0"/>
              </a:rPr>
              <a:t> T/ </a:t>
            </a:r>
            <a:r>
              <a:rPr lang="en-US" sz="2400" dirty="0" err="1" smtClean="0">
                <a:latin typeface="Arial" panose="020B0604020202020204" pitchFamily="34" charset="0"/>
                <a:cs typeface="Arial" panose="020B0604020202020204" pitchFamily="34" charset="0"/>
              </a:rPr>
              <a:t>nhát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bóp</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giảm </a:t>
            </a:r>
            <a:r>
              <a:rPr lang="vi-VN" sz="2400" dirty="0">
                <a:latin typeface="Arial" panose="020B0604020202020204" pitchFamily="34" charset="0"/>
                <a:cs typeface="Arial" panose="020B0604020202020204" pitchFamily="34" charset="0"/>
              </a:rPr>
              <a:t>tương ứng với sự mất khối lượng cơ </a:t>
            </a:r>
            <a:r>
              <a:rPr lang="vi-VN" sz="2400" dirty="0" smtClean="0">
                <a:latin typeface="Arial" panose="020B0604020202020204" pitchFamily="34" charset="0"/>
                <a:cs typeface="Arial" panose="020B0604020202020204" pitchFamily="34" charset="0"/>
              </a:rPr>
              <a:t>thể</a:t>
            </a:r>
            <a:r>
              <a:rPr lang="en-US" sz="2400"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=&gt; </a:t>
            </a:r>
            <a:r>
              <a:rPr lang="vi-VN" sz="2400" dirty="0" smtClean="0">
                <a:latin typeface="Arial" panose="020B0604020202020204" pitchFamily="34" charset="0"/>
                <a:cs typeface="Arial" panose="020B0604020202020204" pitchFamily="34" charset="0"/>
              </a:rPr>
              <a:t>chỉ </a:t>
            </a:r>
            <a:r>
              <a:rPr lang="vi-VN" sz="2400" dirty="0">
                <a:latin typeface="Arial" panose="020B0604020202020204" pitchFamily="34" charset="0"/>
                <a:cs typeface="Arial" panose="020B0604020202020204" pitchFamily="34" charset="0"/>
              </a:rPr>
              <a:t>số tim </a:t>
            </a:r>
            <a:r>
              <a:rPr lang="vi-VN" sz="2400" dirty="0" smtClean="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chỉ</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số</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cung </a:t>
            </a:r>
            <a:r>
              <a:rPr lang="vi-VN" sz="2400" dirty="0">
                <a:latin typeface="Arial" panose="020B0604020202020204" pitchFamily="34" charset="0"/>
                <a:cs typeface="Arial" panose="020B0604020202020204" pitchFamily="34" charset="0"/>
              </a:rPr>
              <a:t>lượng </a:t>
            </a:r>
            <a:r>
              <a:rPr lang="vi-VN" sz="2400" dirty="0" smtClean="0">
                <a:latin typeface="Arial" panose="020B0604020202020204" pitchFamily="34" charset="0"/>
                <a:cs typeface="Arial" panose="020B0604020202020204" pitchFamily="34" charset="0"/>
              </a:rPr>
              <a:t>tim</a:t>
            </a:r>
            <a:r>
              <a:rPr lang="en-US" sz="2400" dirty="0" smtClean="0">
                <a:latin typeface="Arial" panose="020B0604020202020204" pitchFamily="34" charset="0"/>
                <a:cs typeface="Arial" panose="020B0604020202020204" pitchFamily="34" charset="0"/>
              </a:rPr>
              <a:t>/</a:t>
            </a: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diện tích bề mặt cơ thể) là bình thường. </a:t>
            </a:r>
            <a:endParaRPr lang="en-US" sz="2400" dirty="0" smtClean="0">
              <a:latin typeface="Arial" panose="020B0604020202020204" pitchFamily="34" charset="0"/>
              <a:cs typeface="Arial" panose="020B0604020202020204" pitchFamily="34" charset="0"/>
            </a:endParaRPr>
          </a:p>
          <a:p>
            <a:pPr>
              <a:lnSpc>
                <a:spcPct val="150000"/>
              </a:lnSpc>
            </a:pPr>
            <a:r>
              <a:rPr lang="vi-VN" sz="2400" dirty="0" smtClean="0">
                <a:latin typeface="Arial" panose="020B0604020202020204" pitchFamily="34" charset="0"/>
                <a:cs typeface="Arial" panose="020B0604020202020204" pitchFamily="34" charset="0"/>
              </a:rPr>
              <a:t>Tuy nhiên, có một </a:t>
            </a:r>
            <a:r>
              <a:rPr lang="en-US" sz="2400" dirty="0" err="1" smtClean="0">
                <a:latin typeface="Arial" panose="020B0604020202020204" pitchFamily="34" charset="0"/>
                <a:cs typeface="Arial" panose="020B0604020202020204" pitchFamily="34" charset="0"/>
              </a:rPr>
              <a:t>số</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trường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hợp</a:t>
            </a:r>
            <a:r>
              <a:rPr lang="en-US" sz="2400" dirty="0" smtClean="0">
                <a:latin typeface="Arial" panose="020B0604020202020204" pitchFamily="34" charset="0"/>
                <a:cs typeface="Arial" panose="020B0604020202020204" pitchFamily="34" charset="0"/>
              </a:rPr>
              <a:t> RL </a:t>
            </a:r>
            <a:r>
              <a:rPr lang="en-US" sz="2400" dirty="0" err="1" smtClean="0">
                <a:latin typeface="Arial" panose="020B0604020202020204" pitchFamily="34" charset="0"/>
                <a:cs typeface="Arial" panose="020B0604020202020204" pitchFamily="34" charset="0"/>
              </a:rPr>
              <a:t>chức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năng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tim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vẫn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xảy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ra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trở</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lại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bình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thường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sau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trị</a:t>
            </a:r>
            <a:r>
              <a:rPr lang="en-US" sz="2400" dirty="0" smtClean="0">
                <a:latin typeface="Arial" panose="020B0604020202020204" pitchFamily="34" charset="0"/>
                <a:cs typeface="Arial" panose="020B0604020202020204" pitchFamily="34" charset="0"/>
              </a:rPr>
              <a:t> 7 </a:t>
            </a:r>
            <a:r>
              <a:rPr lang="en-US" sz="2400" dirty="0" err="1" smtClean="0">
                <a:latin typeface="Arial" panose="020B0604020202020204" pitchFamily="34" charset="0"/>
                <a:cs typeface="Arial" panose="020B0604020202020204" pitchFamily="34" charset="0"/>
              </a:rPr>
              <a:t>ngày</a:t>
            </a:r>
            <a:endParaRPr lang="en-US" sz="2400" dirty="0" smtClean="0">
              <a:latin typeface="Arial" panose="020B0604020202020204" pitchFamily="34" charset="0"/>
              <a:cs typeface="Arial" panose="020B0604020202020204" pitchFamily="34" charset="0"/>
            </a:endParaRPr>
          </a:p>
          <a:p>
            <a:pPr>
              <a:lnSpc>
                <a:spcPct val="150000"/>
              </a:lnSpc>
            </a:pPr>
            <a:r>
              <a:rPr lang="en-US" sz="2400" b="1" dirty="0" smtClean="0">
                <a:solidFill>
                  <a:schemeClr val="tx1"/>
                </a:solidFill>
                <a:latin typeface="Arial" panose="020B0604020202020204" pitchFamily="34" charset="0"/>
                <a:cs typeface="Arial" panose="020B0604020202020204" pitchFamily="34" charset="0"/>
              </a:rPr>
              <a:t>HÔ HẤP:  </a:t>
            </a:r>
            <a:r>
              <a:rPr lang="en-US" sz="2400" dirty="0" err="1" smtClean="0">
                <a:solidFill>
                  <a:schemeClr val="tx1"/>
                </a:solidFill>
                <a:latin typeface="Arial" panose="020B0604020202020204" pitchFamily="34" charset="0"/>
                <a:cs typeface="Arial" panose="020B0604020202020204" pitchFamily="34" charset="0"/>
              </a:rPr>
              <a:t>Trẻ</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sị</a:t>
            </a:r>
            <a:r>
              <a:rPr lang="en-US" sz="2400" dirty="0" smtClean="0">
                <a:solidFill>
                  <a:schemeClr val="tx1"/>
                </a:solidFill>
                <a:latin typeface="Arial" panose="020B0604020202020204" pitchFamily="34" charset="0"/>
                <a:cs typeface="Arial" panose="020B0604020202020204" pitchFamily="34" charset="0"/>
              </a:rPr>
              <a:t> SAM </a:t>
            </a:r>
            <a:r>
              <a:rPr lang="en-US" sz="2400" dirty="0" err="1" smtClean="0">
                <a:solidFill>
                  <a:schemeClr val="tx1"/>
                </a:solidFill>
                <a:latin typeface="Arial" panose="020B0604020202020204" pitchFamily="34" charset="0"/>
                <a:cs typeface="Arial" panose="020B0604020202020204" pitchFamily="34" charset="0"/>
              </a:rPr>
              <a:t>được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điều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trị</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không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có</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ảnh</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hưởng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tiêu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cực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tới</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chức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năng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phổi</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sau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này</a:t>
            </a:r>
            <a:endParaRPr lang="en-US" sz="2400" b="1" dirty="0" smtClean="0">
              <a:solidFill>
                <a:schemeClr val="tx1"/>
              </a:solidFill>
              <a:latin typeface="Arial" panose="020B0604020202020204" pitchFamily="34" charset="0"/>
              <a:cs typeface="Arial" panose="020B0604020202020204" pitchFamily="34" charset="0"/>
            </a:endParaRPr>
          </a:p>
          <a:p>
            <a:pPr>
              <a:lnSpc>
                <a:spcPct val="1500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14545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14955"/>
            <a:ext cx="8911687" cy="737099"/>
          </a:xfrm>
        </p:spPr>
        <p:txBody>
          <a:bodyPr>
            <a:normAutofit/>
          </a:bodyPr>
          <a:lstStyle/>
          <a:p>
            <a:r>
              <a:rPr lang="en-US" b="1" dirty="0">
                <a:latin typeface="Arial" panose="020B0604020202020204" pitchFamily="34" charset="0"/>
                <a:cs typeface="Arial" panose="020B0604020202020204" pitchFamily="34" charset="0"/>
              </a:rPr>
              <a:t>SINH LÝ BỆNH </a:t>
            </a:r>
            <a:r>
              <a:rPr lang="en-US" dirty="0">
                <a:solidFill>
                  <a:srgbClr val="0070C0"/>
                </a:solidFill>
                <a:latin typeface="Arial" panose="020B0604020202020204" pitchFamily="34" charset="0"/>
                <a:cs typeface="Arial" panose="020B0604020202020204" pitchFamily="34" charset="0"/>
              </a:rPr>
              <a:t>(</a:t>
            </a:r>
            <a:r>
              <a:rPr lang="en-US" dirty="0" err="1">
                <a:solidFill>
                  <a:srgbClr val="0070C0"/>
                </a:solidFill>
                <a:latin typeface="Arial" panose="020B0604020202020204" pitchFamily="34" charset="0"/>
                <a:cs typeface="Arial" panose="020B0604020202020204" pitchFamily="34" charset="0"/>
              </a:rPr>
              <a:t>Uptodate</a:t>
            </a:r>
            <a:r>
              <a:rPr lang="en-US" dirty="0">
                <a:solidFill>
                  <a:srgbClr val="0070C0"/>
                </a:solidFill>
                <a:latin typeface="Arial" panose="020B0604020202020204" pitchFamily="34" charset="0"/>
                <a:cs typeface="Arial" panose="020B0604020202020204" pitchFamily="34" charset="0"/>
              </a:rPr>
              <a:t>)</a:t>
            </a:r>
            <a:endParaRPr lang="en-US" dirty="0"/>
          </a:p>
        </p:txBody>
      </p:sp>
      <p:sp>
        <p:nvSpPr>
          <p:cNvPr id="3" name="Content Placeholder 2"/>
          <p:cNvSpPr>
            <a:spLocks noGrp="1"/>
          </p:cNvSpPr>
          <p:nvPr>
            <p:ph idx="1"/>
          </p:nvPr>
        </p:nvSpPr>
        <p:spPr>
          <a:xfrm>
            <a:off x="446809" y="935181"/>
            <a:ext cx="11648209" cy="5777346"/>
          </a:xfrm>
        </p:spPr>
        <p:txBody>
          <a:bodyPr>
            <a:normAutofit/>
          </a:bodyPr>
          <a:lstStyle/>
          <a:p>
            <a:endParaRPr lang="en-US" b="1" dirty="0" smtClean="0"/>
          </a:p>
          <a:p>
            <a:r>
              <a:rPr lang="vi-VN" sz="2400" b="1" dirty="0" smtClean="0">
                <a:latin typeface="Arial" panose="020B0604020202020204" pitchFamily="34" charset="0"/>
                <a:cs typeface="Arial" panose="020B0604020202020204" pitchFamily="34" charset="0"/>
              </a:rPr>
              <a:t>Gan</a:t>
            </a:r>
            <a:r>
              <a:rPr lang="vi-VN" sz="2400" dirty="0">
                <a:latin typeface="Arial" panose="020B0604020202020204" pitchFamily="34" charset="0"/>
                <a:cs typeface="Arial" panose="020B0604020202020204" pitchFamily="34" charset="0"/>
              </a:rPr>
              <a:t> - Gan to do gan nhiễm mỡ thường </a:t>
            </a:r>
            <a:r>
              <a:rPr lang="vi-VN" sz="2400" dirty="0" smtClean="0">
                <a:latin typeface="Arial" panose="020B0604020202020204" pitchFamily="34" charset="0"/>
                <a:cs typeface="Arial" panose="020B0604020202020204" pitchFamily="34" charset="0"/>
              </a:rPr>
              <a:t>gặp</a:t>
            </a:r>
            <a:r>
              <a:rPr lang="en-US" sz="2400" dirty="0" smtClean="0">
                <a:latin typeface="Arial" panose="020B0604020202020204" pitchFamily="34" charset="0"/>
                <a:cs typeface="Arial" panose="020B0604020202020204" pitchFamily="34" charset="0"/>
              </a:rPr>
              <a:t> (</a:t>
            </a:r>
            <a:r>
              <a:rPr lang="vi-VN" sz="2400" dirty="0" smtClean="0">
                <a:solidFill>
                  <a:srgbClr val="FF0000"/>
                </a:solidFill>
                <a:latin typeface="Arial" panose="020B0604020202020204" pitchFamily="34" charset="0"/>
                <a:cs typeface="Arial" panose="020B0604020202020204" pitchFamily="34" charset="0"/>
              </a:rPr>
              <a:t>kwashiorkor</a:t>
            </a:r>
            <a:r>
              <a:rPr lang="en-US" sz="2400" dirty="0" smtClean="0">
                <a:solidFill>
                  <a:srgbClr val="FF0000"/>
                </a:solidFill>
                <a:latin typeface="Arial" panose="020B0604020202020204" pitchFamily="34" charset="0"/>
                <a:cs typeface="Arial" panose="020B0604020202020204" pitchFamily="34" charset="0"/>
              </a:rPr>
              <a:t>)</a:t>
            </a:r>
            <a:r>
              <a:rPr lang="vi-VN" sz="2400" dirty="0" smtClean="0">
                <a:solidFill>
                  <a:srgbClr val="FF0000"/>
                </a:solidFill>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 Quá trình tạo </a:t>
            </a:r>
            <a:r>
              <a:rPr lang="vi-VN" sz="2400" dirty="0" smtClean="0">
                <a:latin typeface="Arial" panose="020B0604020202020204" pitchFamily="34" charset="0"/>
                <a:cs typeface="Arial" panose="020B0604020202020204" pitchFamily="34" charset="0"/>
              </a:rPr>
              <a:t>gluco</a:t>
            </a:r>
            <a:r>
              <a:rPr lang="en-US" sz="2400" dirty="0" smtClean="0">
                <a:latin typeface="Arial" panose="020B0604020202020204" pitchFamily="34" charset="0"/>
                <a:cs typeface="Arial" panose="020B0604020202020204" pitchFamily="34" charset="0"/>
              </a:rPr>
              <a:t>se</a:t>
            </a: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ở gan giảm ở những bệnh nhân bị giảm albumin </a:t>
            </a:r>
            <a:r>
              <a:rPr lang="vi-VN" sz="2400" dirty="0" smtClean="0">
                <a:latin typeface="Arial" panose="020B0604020202020204" pitchFamily="34" charset="0"/>
                <a:cs typeface="Arial" panose="020B0604020202020204" pitchFamily="34" charset="0"/>
              </a:rPr>
              <a:t>máu</a:t>
            </a:r>
            <a:r>
              <a:rPr lang="en-US" sz="2400" dirty="0" smtClean="0">
                <a:latin typeface="Arial" panose="020B0604020202020204" pitchFamily="34" charset="0"/>
                <a:cs typeface="Arial" panose="020B0604020202020204" pitchFamily="34" charset="0"/>
              </a:rPr>
              <a:t> =&gt; </a:t>
            </a:r>
            <a:r>
              <a:rPr lang="vi-VN" sz="2400" dirty="0" smtClean="0">
                <a:latin typeface="Arial" panose="020B0604020202020204" pitchFamily="34" charset="0"/>
                <a:cs typeface="Arial" panose="020B0604020202020204" pitchFamily="34" charset="0"/>
              </a:rPr>
              <a:t>tăng </a:t>
            </a:r>
            <a:r>
              <a:rPr lang="vi-VN" sz="2400" dirty="0">
                <a:latin typeface="Arial" panose="020B0604020202020204" pitchFamily="34" charset="0"/>
                <a:cs typeface="Arial" panose="020B0604020202020204" pitchFamily="34" charset="0"/>
              </a:rPr>
              <a:t>nguy cơ hạ đường huyết, và </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giảm</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việc </a:t>
            </a:r>
            <a:r>
              <a:rPr lang="vi-VN" sz="2400" dirty="0">
                <a:latin typeface="Arial" panose="020B0604020202020204" pitchFamily="34" charset="0"/>
                <a:cs typeface="Arial" panose="020B0604020202020204" pitchFamily="34" charset="0"/>
              </a:rPr>
              <a:t>sản xuất năng lượng từ các chất nền như galactose và </a:t>
            </a:r>
            <a:r>
              <a:rPr lang="vi-VN" sz="2400" dirty="0" smtClean="0">
                <a:latin typeface="Arial" panose="020B0604020202020204" pitchFamily="34" charset="0"/>
                <a:cs typeface="Arial" panose="020B0604020202020204" pitchFamily="34" charset="0"/>
              </a:rPr>
              <a:t>fructose.</a:t>
            </a:r>
            <a:endParaRPr lang="en-US" sz="2400" dirty="0" smtClean="0">
              <a:latin typeface="Arial" panose="020B0604020202020204" pitchFamily="34" charset="0"/>
              <a:cs typeface="Arial" panose="020B0604020202020204" pitchFamily="34" charset="0"/>
            </a:endParaRPr>
          </a:p>
          <a:p>
            <a:pPr>
              <a:buFontTx/>
              <a:buChar char="-"/>
            </a:pPr>
            <a:r>
              <a:rPr lang="vi-VN" sz="2400" dirty="0">
                <a:latin typeface="Arial" panose="020B0604020202020204" pitchFamily="34" charset="0"/>
                <a:cs typeface="Arial" panose="020B0604020202020204" pitchFamily="34" charset="0"/>
              </a:rPr>
              <a:t> Có sự giảm nghiêm </a:t>
            </a:r>
            <a:r>
              <a:rPr lang="vi-VN" sz="2400" dirty="0" smtClean="0">
                <a:latin typeface="Arial" panose="020B0604020202020204" pitchFamily="34" charset="0"/>
                <a:cs typeface="Arial" panose="020B0604020202020204" pitchFamily="34" charset="0"/>
              </a:rPr>
              <a:t>trọng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chức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năng</a:t>
            </a:r>
            <a:r>
              <a:rPr lang="en-US" sz="2400" dirty="0" smtClean="0">
                <a:latin typeface="Arial" panose="020B0604020202020204" pitchFamily="34" charset="0"/>
                <a:cs typeface="Arial" panose="020B0604020202020204" pitchFamily="34" charset="0"/>
              </a:rPr>
              <a:t> ở </a:t>
            </a:r>
            <a:r>
              <a:rPr lang="en-US" sz="2400" dirty="0" err="1" smtClean="0">
                <a:latin typeface="Arial" panose="020B0604020202020204" pitchFamily="34" charset="0"/>
                <a:cs typeface="Arial" panose="020B0604020202020204" pitchFamily="34" charset="0"/>
              </a:rPr>
              <a:t>gan</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chuyển hóa</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bài </a:t>
            </a:r>
            <a:r>
              <a:rPr lang="vi-VN" sz="2400" dirty="0">
                <a:latin typeface="Arial" panose="020B0604020202020204" pitchFamily="34" charset="0"/>
                <a:cs typeface="Arial" panose="020B0604020202020204" pitchFamily="34" charset="0"/>
              </a:rPr>
              <a:t>tiết chất </a:t>
            </a:r>
            <a:r>
              <a:rPr lang="vi-VN" sz="2400" dirty="0" smtClean="0">
                <a:latin typeface="Arial" panose="020B0604020202020204" pitchFamily="34" charset="0"/>
                <a:cs typeface="Arial" panose="020B0604020202020204" pitchFamily="34" charset="0"/>
              </a:rPr>
              <a:t>độc,</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tổng </a:t>
            </a:r>
            <a:r>
              <a:rPr lang="vi-VN" sz="2400" dirty="0">
                <a:latin typeface="Arial" panose="020B0604020202020204" pitchFamily="34" charset="0"/>
                <a:cs typeface="Arial" panose="020B0604020202020204" pitchFamily="34" charset="0"/>
              </a:rPr>
              <a:t>hợp </a:t>
            </a:r>
            <a:r>
              <a:rPr lang="vi-VN" sz="2400" dirty="0" smtClean="0">
                <a:latin typeface="Arial" panose="020B0604020202020204" pitchFamily="34" charset="0"/>
                <a:cs typeface="Arial" panose="020B0604020202020204" pitchFamily="34" charset="0"/>
              </a:rPr>
              <a:t>protein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sản </a:t>
            </a:r>
            <a:r>
              <a:rPr lang="vi-VN" sz="2400" dirty="0">
                <a:latin typeface="Arial" panose="020B0604020202020204" pitchFamily="34" charset="0"/>
                <a:cs typeface="Arial" panose="020B0604020202020204" pitchFamily="34" charset="0"/>
              </a:rPr>
              <a:t>xuất các chất chuyển hóa bất thường của axit amin</a:t>
            </a:r>
            <a:r>
              <a:rPr lang="vi-VN"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a:buFontTx/>
              <a:buChar char="-"/>
            </a:pPr>
            <a:endParaRPr lang="en-US" sz="2400" dirty="0">
              <a:latin typeface="Arial" panose="020B0604020202020204" pitchFamily="34" charset="0"/>
              <a:cs typeface="Arial" panose="020B0604020202020204" pitchFamily="34" charset="0"/>
            </a:endParaRPr>
          </a:p>
          <a:p>
            <a:pPr>
              <a:buFontTx/>
              <a:buChar char="-"/>
            </a:pPr>
            <a:endParaRPr lang="en-US" sz="24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24278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14301"/>
            <a:ext cx="8911687" cy="592282"/>
          </a:xfrm>
        </p:spPr>
        <p:txBody>
          <a:bodyPr>
            <a:normAutofit fontScale="90000"/>
          </a:bodyPr>
          <a:lstStyle/>
          <a:p>
            <a:r>
              <a:rPr lang="en-US" b="1" dirty="0">
                <a:latin typeface="Arial" panose="020B0604020202020204" pitchFamily="34" charset="0"/>
                <a:cs typeface="Arial" panose="020B0604020202020204" pitchFamily="34" charset="0"/>
              </a:rPr>
              <a:t>SINH LÝ BỆNH</a:t>
            </a:r>
            <a:endParaRPr lang="en-US" dirty="0"/>
          </a:p>
        </p:txBody>
      </p:sp>
      <p:sp>
        <p:nvSpPr>
          <p:cNvPr id="3" name="Content Placeholder 2"/>
          <p:cNvSpPr>
            <a:spLocks noGrp="1"/>
          </p:cNvSpPr>
          <p:nvPr>
            <p:ph idx="1"/>
          </p:nvPr>
        </p:nvSpPr>
        <p:spPr>
          <a:xfrm>
            <a:off x="0" y="800099"/>
            <a:ext cx="12192000" cy="6141028"/>
          </a:xfrm>
        </p:spPr>
        <p:txBody>
          <a:bodyPr>
            <a:normAutofit lnSpcReduction="10000"/>
          </a:bodyPr>
          <a:lstStyle/>
          <a:p>
            <a:pPr marL="0" indent="0">
              <a:buNone/>
            </a:pPr>
            <a:r>
              <a:rPr lang="en-US" sz="2000" b="1" dirty="0" smtClean="0">
                <a:solidFill>
                  <a:srgbClr val="FF0000"/>
                </a:solidFill>
                <a:latin typeface="Arial" panose="020B0604020202020204" pitchFamily="34" charset="0"/>
                <a:cs typeface="Arial" panose="020B0604020202020204" pitchFamily="34" charset="0"/>
              </a:rPr>
              <a:t>                                                             </a:t>
            </a:r>
            <a:r>
              <a:rPr lang="en-US" sz="2400" b="1" dirty="0" smtClean="0">
                <a:solidFill>
                  <a:srgbClr val="FF0000"/>
                </a:solidFill>
                <a:latin typeface="Arial" panose="020B0604020202020204" pitchFamily="34" charset="0"/>
                <a:cs typeface="Arial" panose="020B0604020202020204" pitchFamily="34" charset="0"/>
              </a:rPr>
              <a:t>TIÊU HÓA</a:t>
            </a:r>
          </a:p>
          <a:p>
            <a:pPr lvl="0">
              <a:buClr>
                <a:srgbClr val="A53010"/>
              </a:buClr>
              <a:buFontTx/>
              <a:buChar char="-"/>
            </a:pPr>
            <a:r>
              <a:rPr lang="vi-VN" sz="2200" b="1" dirty="0">
                <a:solidFill>
                  <a:srgbClr val="FF0000"/>
                </a:solidFill>
              </a:rPr>
              <a:t>Sản xuất axit dịch vị bị giảm.</a:t>
            </a:r>
            <a:r>
              <a:rPr lang="vi-VN" sz="2200" dirty="0">
                <a:solidFill>
                  <a:prstClr val="black">
                    <a:lumMod val="75000"/>
                    <a:lumOff val="25000"/>
                  </a:prstClr>
                </a:solidFill>
              </a:rPr>
              <a:t> </a:t>
            </a:r>
            <a:endParaRPr lang="en-US" sz="2200" dirty="0">
              <a:solidFill>
                <a:prstClr val="black">
                  <a:lumMod val="75000"/>
                  <a:lumOff val="25000"/>
                </a:prstClr>
              </a:solidFill>
            </a:endParaRPr>
          </a:p>
          <a:p>
            <a:pPr lvl="0">
              <a:buClr>
                <a:srgbClr val="A53010"/>
              </a:buClr>
              <a:buFontTx/>
              <a:buChar char="-"/>
            </a:pPr>
            <a:r>
              <a:rPr lang="vi-VN" sz="2200" dirty="0">
                <a:solidFill>
                  <a:prstClr val="black">
                    <a:lumMod val="75000"/>
                    <a:lumOff val="25000"/>
                  </a:prstClr>
                </a:solidFill>
              </a:rPr>
              <a:t>Suy tụy ngoại tiết hầu như phổ biến trong suy dinh dưỡng nặng</a:t>
            </a:r>
            <a:r>
              <a:rPr lang="en-US" sz="2200" dirty="0">
                <a:solidFill>
                  <a:prstClr val="black">
                    <a:lumMod val="75000"/>
                    <a:lumOff val="25000"/>
                  </a:prstClr>
                </a:solidFill>
              </a:rPr>
              <a:t> (</a:t>
            </a:r>
            <a:r>
              <a:rPr lang="vi-VN" sz="2200" dirty="0">
                <a:solidFill>
                  <a:prstClr val="black">
                    <a:lumMod val="75000"/>
                    <a:lumOff val="25000"/>
                  </a:prstClr>
                </a:solidFill>
              </a:rPr>
              <a:t>kwashiorkor </a:t>
            </a:r>
            <a:r>
              <a:rPr lang="en-US" sz="2200" dirty="0">
                <a:solidFill>
                  <a:prstClr val="black">
                    <a:lumMod val="75000"/>
                    <a:lumOff val="25000"/>
                  </a:prstClr>
                </a:solidFill>
              </a:rPr>
              <a:t>&gt; Marasmus)</a:t>
            </a:r>
          </a:p>
          <a:p>
            <a:pPr lvl="0">
              <a:buClr>
                <a:srgbClr val="A53010"/>
              </a:buClr>
              <a:buFontTx/>
              <a:buChar char="-"/>
            </a:pPr>
            <a:r>
              <a:rPr lang="vi-VN" sz="2200" dirty="0">
                <a:solidFill>
                  <a:prstClr val="black">
                    <a:lumMod val="75000"/>
                    <a:lumOff val="25000"/>
                  </a:prstClr>
                </a:solidFill>
              </a:rPr>
              <a:t> Tuy nhiên, liệu pháp thay thế men tụy không cải thiện tình trạng tăng cân </a:t>
            </a:r>
            <a:endParaRPr lang="en-US" sz="2200" dirty="0">
              <a:solidFill>
                <a:prstClr val="black">
                  <a:lumMod val="75000"/>
                  <a:lumOff val="25000"/>
                </a:prstClr>
              </a:solidFill>
            </a:endParaRPr>
          </a:p>
          <a:p>
            <a:pPr lvl="0">
              <a:buClr>
                <a:srgbClr val="A53010"/>
              </a:buClr>
              <a:buFontTx/>
              <a:buChar char="-"/>
            </a:pPr>
            <a:r>
              <a:rPr lang="vi-VN" sz="2200" dirty="0">
                <a:solidFill>
                  <a:prstClr val="black">
                    <a:lumMod val="75000"/>
                    <a:lumOff val="25000"/>
                  </a:prstClr>
                </a:solidFill>
              </a:rPr>
              <a:t> </a:t>
            </a:r>
            <a:r>
              <a:rPr lang="vi-VN" sz="2200" b="1" dirty="0">
                <a:solidFill>
                  <a:srgbClr val="C00000"/>
                </a:solidFill>
              </a:rPr>
              <a:t>Niêm mạc của ruột non bị teo</a:t>
            </a:r>
            <a:r>
              <a:rPr lang="vi-VN" sz="2200" dirty="0">
                <a:solidFill>
                  <a:prstClr val="black">
                    <a:lumMod val="75000"/>
                    <a:lumOff val="25000"/>
                  </a:prstClr>
                </a:solidFill>
              </a:rPr>
              <a:t>, và sản xuất các enzym tiêu hóa và chất vận chuyển chất dinh dưỡng màng bị giảm. </a:t>
            </a:r>
            <a:endParaRPr lang="en-US" sz="2200" dirty="0" smtClean="0">
              <a:solidFill>
                <a:prstClr val="black">
                  <a:lumMod val="75000"/>
                  <a:lumOff val="25000"/>
                </a:prstClr>
              </a:solidFill>
            </a:endParaRPr>
          </a:p>
          <a:p>
            <a:pPr lvl="0">
              <a:buClr>
                <a:srgbClr val="A53010"/>
              </a:buClr>
              <a:buFontTx/>
              <a:buChar char="-"/>
            </a:pPr>
            <a:r>
              <a:rPr lang="vi-VN" sz="2200" dirty="0" smtClean="0">
                <a:solidFill>
                  <a:prstClr val="black">
                    <a:lumMod val="75000"/>
                    <a:lumOff val="25000"/>
                  </a:prstClr>
                </a:solidFill>
              </a:rPr>
              <a:t>Thiếu </a:t>
            </a:r>
            <a:r>
              <a:rPr lang="vi-VN" sz="2200" dirty="0">
                <a:solidFill>
                  <a:prstClr val="black">
                    <a:lumMod val="75000"/>
                    <a:lumOff val="25000"/>
                  </a:prstClr>
                </a:solidFill>
              </a:rPr>
              <a:t>hụt lactase </a:t>
            </a:r>
            <a:r>
              <a:rPr lang="en-US" sz="2200" dirty="0" smtClean="0">
                <a:solidFill>
                  <a:prstClr val="black">
                    <a:lumMod val="75000"/>
                    <a:lumOff val="25000"/>
                  </a:prstClr>
                </a:solidFill>
              </a:rPr>
              <a:t>=&gt; </a:t>
            </a:r>
            <a:r>
              <a:rPr lang="vi-VN" sz="2200" b="1" dirty="0" smtClean="0">
                <a:solidFill>
                  <a:srgbClr val="C00000"/>
                </a:solidFill>
              </a:rPr>
              <a:t>kém </a:t>
            </a:r>
            <a:r>
              <a:rPr lang="vi-VN" sz="2200" b="1" dirty="0">
                <a:solidFill>
                  <a:srgbClr val="C00000"/>
                </a:solidFill>
              </a:rPr>
              <a:t>hấp thu lactose</a:t>
            </a:r>
            <a:r>
              <a:rPr lang="vi-VN" sz="2200" dirty="0">
                <a:solidFill>
                  <a:prstClr val="black">
                    <a:lumMod val="75000"/>
                    <a:lumOff val="25000"/>
                  </a:prstClr>
                </a:solidFill>
              </a:rPr>
              <a:t> </a:t>
            </a:r>
            <a:r>
              <a:rPr lang="vi-VN" sz="2200" dirty="0" smtClean="0">
                <a:solidFill>
                  <a:prstClr val="black">
                    <a:lumMod val="75000"/>
                    <a:lumOff val="25000"/>
                  </a:prstClr>
                </a:solidFill>
              </a:rPr>
              <a:t>và </a:t>
            </a:r>
            <a:r>
              <a:rPr lang="vi-VN" sz="2200" dirty="0">
                <a:solidFill>
                  <a:prstClr val="black">
                    <a:lumMod val="75000"/>
                    <a:lumOff val="25000"/>
                  </a:prstClr>
                </a:solidFill>
              </a:rPr>
              <a:t>sự hấp thụ của tất cả các chất dinh dưỡng bị giảm. </a:t>
            </a:r>
            <a:endParaRPr lang="en-US" sz="2200" dirty="0" smtClean="0">
              <a:solidFill>
                <a:prstClr val="black">
                  <a:lumMod val="75000"/>
                  <a:lumOff val="25000"/>
                </a:prstClr>
              </a:solidFill>
            </a:endParaRPr>
          </a:p>
          <a:p>
            <a:pPr lvl="0">
              <a:buClr>
                <a:srgbClr val="A53010"/>
              </a:buClr>
              <a:buFontTx/>
              <a:buChar char="-"/>
            </a:pPr>
            <a:r>
              <a:rPr lang="vi-VN" sz="2200" b="1" dirty="0" smtClean="0">
                <a:solidFill>
                  <a:srgbClr val="FF0000"/>
                </a:solidFill>
              </a:rPr>
              <a:t>Nhu </a:t>
            </a:r>
            <a:r>
              <a:rPr lang="vi-VN" sz="2200" b="1" dirty="0">
                <a:solidFill>
                  <a:srgbClr val="FF0000"/>
                </a:solidFill>
              </a:rPr>
              <a:t>động ruột bị giảm </a:t>
            </a:r>
            <a:r>
              <a:rPr lang="vi-VN" sz="2200" dirty="0">
                <a:solidFill>
                  <a:prstClr val="black">
                    <a:lumMod val="75000"/>
                    <a:lumOff val="25000"/>
                  </a:prstClr>
                </a:solidFill>
              </a:rPr>
              <a:t>và điều này có thể trở nên tồi tệ hơn do thiếu hụt kali và magiê, có khả năng dẫn đến tắc ruột</a:t>
            </a:r>
            <a:r>
              <a:rPr lang="vi-VN" sz="2200" dirty="0" smtClean="0">
                <a:solidFill>
                  <a:prstClr val="black">
                    <a:lumMod val="75000"/>
                    <a:lumOff val="25000"/>
                  </a:prstClr>
                </a:solidFill>
              </a:rPr>
              <a:t>.</a:t>
            </a:r>
            <a:endParaRPr lang="en-US" sz="2200" dirty="0" smtClean="0">
              <a:solidFill>
                <a:prstClr val="black">
                  <a:lumMod val="75000"/>
                  <a:lumOff val="25000"/>
                </a:prstClr>
              </a:solidFill>
            </a:endParaRPr>
          </a:p>
          <a:p>
            <a:pPr>
              <a:buClr>
                <a:srgbClr val="A53010"/>
              </a:buClr>
              <a:buFontTx/>
              <a:buChar char="-"/>
            </a:pPr>
            <a:r>
              <a:rPr lang="vi-VN" sz="2200" dirty="0">
                <a:solidFill>
                  <a:prstClr val="black">
                    <a:lumMod val="75000"/>
                    <a:lumOff val="25000"/>
                  </a:prstClr>
                </a:solidFill>
              </a:rPr>
              <a:t> </a:t>
            </a:r>
            <a:r>
              <a:rPr lang="vi-VN" sz="2200" dirty="0" smtClean="0">
                <a:solidFill>
                  <a:prstClr val="black">
                    <a:lumMod val="75000"/>
                    <a:lumOff val="25000"/>
                  </a:prstClr>
                </a:solidFill>
              </a:rPr>
              <a:t>bệnh </a:t>
            </a:r>
            <a:r>
              <a:rPr lang="vi-VN" sz="2200" dirty="0">
                <a:solidFill>
                  <a:prstClr val="black">
                    <a:lumMod val="75000"/>
                    <a:lumOff val="25000"/>
                  </a:prstClr>
                </a:solidFill>
              </a:rPr>
              <a:t>ruột suy dinh </a:t>
            </a:r>
            <a:r>
              <a:rPr lang="vi-VN" sz="2200" dirty="0" smtClean="0">
                <a:solidFill>
                  <a:prstClr val="black">
                    <a:lumMod val="75000"/>
                    <a:lumOff val="25000"/>
                  </a:prstClr>
                </a:solidFill>
              </a:rPr>
              <a:t>dưỡng</a:t>
            </a:r>
            <a:r>
              <a:rPr lang="en-US" sz="2200" dirty="0" smtClean="0">
                <a:solidFill>
                  <a:prstClr val="black">
                    <a:lumMod val="75000"/>
                    <a:lumOff val="25000"/>
                  </a:prstClr>
                </a:solidFill>
              </a:rPr>
              <a:t>: </a:t>
            </a:r>
            <a:r>
              <a:rPr lang="vi-VN" sz="2200" dirty="0" smtClean="0">
                <a:solidFill>
                  <a:prstClr val="black">
                    <a:lumMod val="75000"/>
                    <a:lumOff val="25000"/>
                  </a:prstClr>
                </a:solidFill>
              </a:rPr>
              <a:t> teo </a:t>
            </a:r>
            <a:r>
              <a:rPr lang="vi-VN" sz="2200" dirty="0">
                <a:solidFill>
                  <a:prstClr val="black">
                    <a:lumMod val="75000"/>
                    <a:lumOff val="25000"/>
                  </a:prstClr>
                </a:solidFill>
              </a:rPr>
              <a:t>nhung mao, mỏng niêm mạc, tăng tính thấm ruột, mất </a:t>
            </a:r>
            <a:r>
              <a:rPr lang="vi-VN" sz="2200" dirty="0" smtClean="0">
                <a:solidFill>
                  <a:prstClr val="black">
                    <a:lumMod val="75000"/>
                    <a:lumOff val="25000"/>
                  </a:prstClr>
                </a:solidFill>
              </a:rPr>
              <a:t>protein</a:t>
            </a:r>
            <a:r>
              <a:rPr lang="en-US" sz="2200" dirty="0" smtClean="0">
                <a:solidFill>
                  <a:prstClr val="black">
                    <a:lumMod val="75000"/>
                    <a:lumOff val="25000"/>
                  </a:prstClr>
                </a:solidFill>
              </a:rPr>
              <a:t> </a:t>
            </a:r>
            <a:r>
              <a:rPr lang="en-US" sz="2200" dirty="0" err="1" smtClean="0">
                <a:solidFill>
                  <a:prstClr val="black">
                    <a:lumMod val="75000"/>
                    <a:lumOff val="25000"/>
                  </a:prstClr>
                </a:solidFill>
              </a:rPr>
              <a:t>cầu</a:t>
            </a:r>
            <a:r>
              <a:rPr lang="vi-VN" sz="2200" dirty="0" smtClean="0">
                <a:solidFill>
                  <a:prstClr val="black">
                    <a:lumMod val="75000"/>
                    <a:lumOff val="25000"/>
                  </a:prstClr>
                </a:solidFill>
              </a:rPr>
              <a:t> </a:t>
            </a:r>
            <a:r>
              <a:rPr lang="vi-VN" sz="2200" dirty="0">
                <a:solidFill>
                  <a:prstClr val="black">
                    <a:lumMod val="75000"/>
                    <a:lumOff val="25000"/>
                  </a:prstClr>
                </a:solidFill>
              </a:rPr>
              <a:t>nối </a:t>
            </a:r>
            <a:r>
              <a:rPr lang="vi-VN" sz="2200" dirty="0" smtClean="0">
                <a:solidFill>
                  <a:prstClr val="black">
                    <a:lumMod val="75000"/>
                    <a:lumOff val="25000"/>
                  </a:prstClr>
                </a:solidFill>
              </a:rPr>
              <a:t>chặt</a:t>
            </a:r>
            <a:r>
              <a:rPr lang="en-US" sz="2200" dirty="0" smtClean="0">
                <a:solidFill>
                  <a:prstClr val="black">
                    <a:lumMod val="75000"/>
                    <a:lumOff val="25000"/>
                  </a:prstClr>
                </a:solidFill>
              </a:rPr>
              <a:t> (</a:t>
            </a:r>
            <a:r>
              <a:rPr lang="en-US" sz="2200" dirty="0" smtClean="0">
                <a:latin typeface="Arial" panose="020B0604020202020204" pitchFamily="34" charset="0"/>
                <a:cs typeface="Arial" panose="020B0604020202020204" pitchFamily="34" charset="0"/>
              </a:rPr>
              <a:t>Tight </a:t>
            </a:r>
            <a:r>
              <a:rPr lang="en-US" sz="2200" dirty="0">
                <a:latin typeface="Arial" panose="020B0604020202020204" pitchFamily="34" charset="0"/>
                <a:cs typeface="Arial" panose="020B0604020202020204" pitchFamily="34" charset="0"/>
              </a:rPr>
              <a:t>junction </a:t>
            </a:r>
            <a:r>
              <a:rPr lang="en-US" sz="2200" dirty="0" smtClean="0">
                <a:latin typeface="Arial" panose="020B0604020202020204" pitchFamily="34" charset="0"/>
                <a:cs typeface="Arial" panose="020B0604020202020204" pitchFamily="34" charset="0"/>
              </a:rPr>
              <a:t>proteins) =&gt; </a:t>
            </a:r>
            <a:r>
              <a:rPr lang="vi-VN" sz="2200" dirty="0" smtClean="0">
                <a:solidFill>
                  <a:prstClr val="black">
                    <a:lumMod val="75000"/>
                    <a:lumOff val="25000"/>
                  </a:prstClr>
                </a:solidFill>
              </a:rPr>
              <a:t>mất chức năng hàng rào ruột, </a:t>
            </a:r>
            <a:r>
              <a:rPr lang="vi-VN" sz="2200" dirty="0">
                <a:solidFill>
                  <a:prstClr val="black">
                    <a:lumMod val="75000"/>
                    <a:lumOff val="25000"/>
                  </a:prstClr>
                </a:solidFill>
              </a:rPr>
              <a:t>thâm nhiễm tế bào lympho và rối loạn sinh học ruột </a:t>
            </a:r>
            <a:endParaRPr lang="en-US" sz="2200" dirty="0" smtClean="0">
              <a:solidFill>
                <a:prstClr val="black">
                  <a:lumMod val="75000"/>
                  <a:lumOff val="25000"/>
                </a:prstClr>
              </a:solidFill>
            </a:endParaRPr>
          </a:p>
          <a:p>
            <a:pPr>
              <a:buClr>
                <a:srgbClr val="A53010"/>
              </a:buClr>
              <a:buFontTx/>
              <a:buChar char="-"/>
            </a:pPr>
            <a:r>
              <a:rPr lang="vi-VN" sz="2200" dirty="0">
                <a:solidFill>
                  <a:prstClr val="black">
                    <a:lumMod val="75000"/>
                    <a:lumOff val="25000"/>
                  </a:prstClr>
                </a:solidFill>
              </a:rPr>
              <a:t> Sự phát triển quá mức của vi khuẩn </a:t>
            </a:r>
            <a:r>
              <a:rPr lang="en-US" sz="2200" dirty="0" err="1" smtClean="0">
                <a:solidFill>
                  <a:prstClr val="black">
                    <a:lumMod val="75000"/>
                    <a:lumOff val="25000"/>
                  </a:prstClr>
                </a:solidFill>
              </a:rPr>
              <a:t>trong</a:t>
            </a:r>
            <a:r>
              <a:rPr lang="en-US" sz="2200" dirty="0" smtClean="0">
                <a:solidFill>
                  <a:prstClr val="black">
                    <a:lumMod val="75000"/>
                    <a:lumOff val="25000"/>
                  </a:prstClr>
                </a:solidFill>
              </a:rPr>
              <a:t> </a:t>
            </a:r>
            <a:r>
              <a:rPr lang="en-US" sz="2200" dirty="0" err="1" smtClean="0">
                <a:solidFill>
                  <a:prstClr val="black">
                    <a:lumMod val="75000"/>
                    <a:lumOff val="25000"/>
                  </a:prstClr>
                </a:solidFill>
              </a:rPr>
              <a:t>ruột</a:t>
            </a:r>
            <a:r>
              <a:rPr lang="en-US" sz="2200" dirty="0" smtClean="0">
                <a:solidFill>
                  <a:prstClr val="black">
                    <a:lumMod val="75000"/>
                    <a:lumOff val="25000"/>
                  </a:prstClr>
                </a:solidFill>
              </a:rPr>
              <a:t> non </a:t>
            </a:r>
            <a:r>
              <a:rPr lang="vi-VN" sz="2200" dirty="0" smtClean="0">
                <a:solidFill>
                  <a:prstClr val="black">
                    <a:lumMod val="75000"/>
                    <a:lumOff val="25000"/>
                  </a:prstClr>
                </a:solidFill>
              </a:rPr>
              <a:t>là </a:t>
            </a:r>
            <a:r>
              <a:rPr lang="vi-VN" sz="2200" dirty="0">
                <a:solidFill>
                  <a:prstClr val="black">
                    <a:lumMod val="75000"/>
                    <a:lumOff val="25000"/>
                  </a:prstClr>
                </a:solidFill>
              </a:rPr>
              <a:t>phổ biến và chức năng hàng rào đường ruột bị suy </a:t>
            </a:r>
            <a:r>
              <a:rPr lang="vi-VN" sz="2200" dirty="0" smtClean="0">
                <a:solidFill>
                  <a:prstClr val="black">
                    <a:lumMod val="75000"/>
                    <a:lumOff val="25000"/>
                  </a:prstClr>
                </a:solidFill>
              </a:rPr>
              <a:t>giảm </a:t>
            </a:r>
            <a:r>
              <a:rPr lang="en-US" sz="2200" dirty="0" smtClean="0">
                <a:solidFill>
                  <a:prstClr val="black">
                    <a:lumMod val="75000"/>
                    <a:lumOff val="25000"/>
                  </a:prstClr>
                </a:solidFill>
              </a:rPr>
              <a:t>=&gt; </a:t>
            </a:r>
            <a:r>
              <a:rPr lang="vi-VN" sz="2200" dirty="0" smtClean="0">
                <a:solidFill>
                  <a:prstClr val="black">
                    <a:lumMod val="75000"/>
                    <a:lumOff val="25000"/>
                  </a:prstClr>
                </a:solidFill>
              </a:rPr>
              <a:t>có </a:t>
            </a:r>
            <a:r>
              <a:rPr lang="vi-VN" sz="2200" dirty="0">
                <a:solidFill>
                  <a:prstClr val="black">
                    <a:lumMod val="75000"/>
                    <a:lumOff val="25000"/>
                  </a:prstClr>
                </a:solidFill>
              </a:rPr>
              <a:t>thể dẫn đến nhiễm trùng </a:t>
            </a:r>
            <a:r>
              <a:rPr lang="vi-VN" sz="2200" dirty="0" smtClean="0">
                <a:solidFill>
                  <a:prstClr val="black">
                    <a:lumMod val="75000"/>
                    <a:lumOff val="25000"/>
                  </a:prstClr>
                </a:solidFill>
              </a:rPr>
              <a:t>huyết</a:t>
            </a:r>
            <a:r>
              <a:rPr lang="en-US" sz="2200" dirty="0" smtClean="0">
                <a:solidFill>
                  <a:prstClr val="black">
                    <a:lumMod val="75000"/>
                    <a:lumOff val="25000"/>
                  </a:prstClr>
                </a:solidFill>
              </a:rPr>
              <a:t>.</a:t>
            </a:r>
            <a:endParaRPr lang="en-US" sz="2200" dirty="0">
              <a:solidFill>
                <a:prstClr val="black">
                  <a:lumMod val="75000"/>
                  <a:lumOff val="25000"/>
                </a:prstClr>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985890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773" y="135082"/>
            <a:ext cx="11835245" cy="6722918"/>
          </a:xfrm>
        </p:spPr>
      </p:pic>
    </p:spTree>
    <p:extLst>
      <p:ext uri="{BB962C8B-B14F-4D97-AF65-F5344CB8AC3E}">
        <p14:creationId xmlns:p14="http://schemas.microsoft.com/office/powerpoint/2010/main" val="795718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6026" y="124691"/>
            <a:ext cx="11765973" cy="6587836"/>
          </a:xfrm>
        </p:spPr>
        <p:txBody>
          <a:bodyPr>
            <a:normAutofit fontScale="92500"/>
          </a:bodyPr>
          <a:lstStyle/>
          <a:p>
            <a:pPr>
              <a:lnSpc>
                <a:spcPct val="150000"/>
              </a:lnSpc>
            </a:pPr>
            <a:r>
              <a:rPr lang="vi-VN" sz="2400" b="1" dirty="0">
                <a:latin typeface="Arial" panose="020B0604020202020204" pitchFamily="34" charset="0"/>
                <a:cs typeface="Arial" panose="020B0604020202020204" pitchFamily="34" charset="0"/>
              </a:rPr>
              <a:t>Hệ thống </a:t>
            </a:r>
            <a:r>
              <a:rPr lang="en-US" sz="2400" b="1" dirty="0" err="1" smtClean="0">
                <a:latin typeface="Arial" panose="020B0604020202020204" pitchFamily="34" charset="0"/>
                <a:cs typeface="Arial" panose="020B0604020202020204" pitchFamily="34" charset="0"/>
              </a:rPr>
              <a:t>tiết</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niệu</a:t>
            </a:r>
            <a:r>
              <a:rPr lang="vi-VN" sz="2400" dirty="0">
                <a:latin typeface="Arial" panose="020B0604020202020204" pitchFamily="34" charset="0"/>
                <a:cs typeface="Arial" panose="020B0604020202020204" pitchFamily="34" charset="0"/>
              </a:rPr>
              <a:t> - Mức lọc cầu thận giảm, và khả năng bài tiết natri, axit dư </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thừa.</a:t>
            </a:r>
            <a:r>
              <a:rPr lang="vi-VN" sz="2400" dirty="0">
                <a:latin typeface="Arial" panose="020B0604020202020204" pitchFamily="34" charset="0"/>
                <a:cs typeface="Arial" panose="020B0604020202020204" pitchFamily="34" charset="0"/>
              </a:rPr>
              <a:t> Nhiễm trùng đường tiết niệu thường gặp </a:t>
            </a:r>
            <a:endParaRPr lang="en-US" sz="2400" dirty="0" smtClean="0">
              <a:latin typeface="Arial" panose="020B0604020202020204" pitchFamily="34" charset="0"/>
              <a:cs typeface="Arial" panose="020B0604020202020204" pitchFamily="34" charset="0"/>
            </a:endParaRPr>
          </a:p>
          <a:p>
            <a:pPr>
              <a:lnSpc>
                <a:spcPct val="150000"/>
              </a:lnSpc>
            </a:pPr>
            <a:r>
              <a:rPr lang="vi-VN" sz="2400" b="1" dirty="0">
                <a:latin typeface="Arial" panose="020B0604020202020204" pitchFamily="34" charset="0"/>
                <a:cs typeface="Arial" panose="020B0604020202020204" pitchFamily="34" charset="0"/>
              </a:rPr>
              <a:t>Hệ nội tiết</a:t>
            </a:r>
            <a:r>
              <a:rPr lang="vi-VN" sz="2400" dirty="0">
                <a:latin typeface="Arial" panose="020B0604020202020204" pitchFamily="34" charset="0"/>
                <a:cs typeface="Arial" panose="020B0604020202020204" pitchFamily="34" charset="0"/>
              </a:rPr>
              <a:t> - Mức insulin giảm và trẻ có thể không dung nạp glucose. Mức độ hormone tăng trưởng được tăng lên, </a:t>
            </a:r>
            <a:r>
              <a:rPr lang="en-US" sz="2400" dirty="0" err="1" smtClean="0">
                <a:latin typeface="Arial" panose="020B0604020202020204" pitchFamily="34" charset="0"/>
                <a:cs typeface="Arial" panose="020B0604020202020204" pitchFamily="34" charset="0"/>
              </a:rPr>
              <a:t>nhưng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nồng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độ</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của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yếu</a:t>
            </a:r>
            <a:r>
              <a:rPr lang="en-US" sz="2400" dirty="0" smtClean="0">
                <a:latin typeface="Arial" panose="020B0604020202020204" pitchFamily="34" charset="0"/>
                <a:cs typeface="Arial" panose="020B0604020202020204" pitchFamily="34" charset="0"/>
              </a:rPr>
              <a:t> </a:t>
            </a:r>
            <a:r>
              <a:rPr lang="en-US" sz="2400" smtClean="0">
                <a:latin typeface="Arial" panose="020B0604020202020204" pitchFamily="34" charset="0"/>
                <a:cs typeface="Arial" panose="020B0604020202020204" pitchFamily="34" charset="0"/>
              </a:rPr>
              <a:t>tố </a:t>
            </a:r>
            <a:r>
              <a:rPr lang="en-US" sz="2400" dirty="0" err="1" smtClean="0">
                <a:latin typeface="Arial" panose="020B0604020202020204" pitchFamily="34" charset="0"/>
                <a:cs typeface="Arial" panose="020B0604020202020204" pitchFamily="34" charset="0"/>
              </a:rPr>
              <a:t>đáp</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ứng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xuôi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của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nó</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yếu </a:t>
            </a:r>
            <a:r>
              <a:rPr lang="vi-VN" sz="2400" dirty="0">
                <a:latin typeface="Arial" panose="020B0604020202020204" pitchFamily="34" charset="0"/>
                <a:cs typeface="Arial" panose="020B0604020202020204" pitchFamily="34" charset="0"/>
              </a:rPr>
              <a:t>tố tăng trưởng giống insulin 1 (IGF-1</a:t>
            </a: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bị giảm. Nồng độ cortisol thường tăng lên</a:t>
            </a:r>
            <a:r>
              <a:rPr lang="vi-VN"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a:lnSpc>
                <a:spcPct val="150000"/>
              </a:lnSpc>
            </a:pPr>
            <a:r>
              <a:rPr lang="vi-VN" sz="2400" b="1" dirty="0">
                <a:latin typeface="Arial" panose="020B0604020202020204" pitchFamily="34" charset="0"/>
                <a:cs typeface="Arial" panose="020B0604020202020204" pitchFamily="34" charset="0"/>
              </a:rPr>
              <a:t>Hệ thần kinh trung ương</a:t>
            </a:r>
            <a:r>
              <a:rPr lang="vi-VN" sz="2400" dirty="0">
                <a:latin typeface="Arial" panose="020B0604020202020204" pitchFamily="34" charset="0"/>
                <a:cs typeface="Arial" panose="020B0604020202020204" pitchFamily="34" charset="0"/>
              </a:rPr>
              <a:t> - Khoảng </a:t>
            </a:r>
            <a:r>
              <a:rPr lang="vi-VN" sz="2400" dirty="0" smtClean="0">
                <a:latin typeface="Arial" panose="020B0604020202020204" pitchFamily="34" charset="0"/>
                <a:cs typeface="Arial" panose="020B0604020202020204" pitchFamily="34" charset="0"/>
              </a:rPr>
              <a:t>20</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trẻ </a:t>
            </a:r>
            <a:r>
              <a:rPr lang="vi-VN" sz="2400" dirty="0">
                <a:latin typeface="Arial" panose="020B0604020202020204" pitchFamily="34" charset="0"/>
                <a:cs typeface="Arial" panose="020B0604020202020204" pitchFamily="34" charset="0"/>
              </a:rPr>
              <a:t>em có những phát hiện bất thường trên chụp cộng hưởng từ não (</a:t>
            </a:r>
            <a:r>
              <a:rPr lang="vi-VN" sz="2400" dirty="0" smtClean="0">
                <a:latin typeface="Arial" panose="020B0604020202020204" pitchFamily="34" charset="0"/>
                <a:cs typeface="Arial" panose="020B0604020202020204" pitchFamily="34" charset="0"/>
              </a:rPr>
              <a:t>MRI)</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như </a:t>
            </a:r>
            <a:r>
              <a:rPr lang="vi-VN" sz="2400" dirty="0">
                <a:latin typeface="Arial" panose="020B0604020202020204" pitchFamily="34" charset="0"/>
                <a:cs typeface="Arial" panose="020B0604020202020204" pitchFamily="34" charset="0"/>
              </a:rPr>
              <a:t>teo não, não thất giãn và thay đổi chất trắng quanh não </a:t>
            </a:r>
            <a:r>
              <a:rPr lang="vi-VN" sz="2400" dirty="0" smtClean="0">
                <a:latin typeface="Arial" panose="020B0604020202020204" pitchFamily="34" charset="0"/>
                <a:cs typeface="Arial" panose="020B0604020202020204" pitchFamily="34" charset="0"/>
              </a:rPr>
              <a:t>thất</a:t>
            </a:r>
            <a:r>
              <a:rPr lang="en-US" sz="2400" dirty="0" smtClean="0">
                <a:latin typeface="Arial" panose="020B0604020202020204" pitchFamily="34" charset="0"/>
                <a:cs typeface="Arial" panose="020B0604020202020204" pitchFamily="34" charset="0"/>
              </a:rPr>
              <a:t>.</a:t>
            </a:r>
            <a:r>
              <a:rPr lang="vi-VN" sz="2400" dirty="0">
                <a:latin typeface="Arial" panose="020B0604020202020204" pitchFamily="34" charset="0"/>
                <a:cs typeface="Arial" panose="020B0604020202020204" pitchFamily="34" charset="0"/>
              </a:rPr>
              <a:t> Ở phần lớn bệnh nhân, những thay đổi tổng thể này sẽ giải quyết được khi điều trị</a:t>
            </a:r>
            <a:r>
              <a:rPr lang="vi-VN"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marL="0" indent="0">
              <a:lnSpc>
                <a:spcPct val="150000"/>
              </a:lnSpc>
              <a:buNone/>
            </a:pPr>
            <a:r>
              <a:rPr lang="en-US" sz="2400" dirty="0" smtClean="0">
                <a:solidFill>
                  <a:srgbClr val="0070C0"/>
                </a:solidFill>
                <a:latin typeface="Arial" panose="020B0604020202020204" pitchFamily="34" charset="0"/>
                <a:cs typeface="Arial" panose="020B0604020202020204" pitchFamily="34" charset="0"/>
              </a:rPr>
              <a:t>(</a:t>
            </a:r>
            <a:r>
              <a:rPr lang="en-US" sz="2400" dirty="0">
                <a:solidFill>
                  <a:srgbClr val="0070C0"/>
                </a:solidFill>
                <a:latin typeface="Arial" panose="020B0604020202020204" pitchFamily="34" charset="0"/>
                <a:cs typeface="Arial" panose="020B0604020202020204" pitchFamily="34" charset="0"/>
              </a:rPr>
              <a:t>https://www.uptodate.com/contents/malnutrition-in-children-in-resource-limited-countries-clinical-assessment</a:t>
            </a:r>
            <a:endParaRPr lang="en-US" sz="2400" dirty="0" smtClean="0">
              <a:latin typeface="Arial" panose="020B0604020202020204" pitchFamily="34" charset="0"/>
              <a:cs typeface="Arial" panose="020B0604020202020204" pitchFamily="34" charset="0"/>
            </a:endParaRPr>
          </a:p>
          <a:p>
            <a:pPr marL="0" indent="0">
              <a:lnSpc>
                <a:spcPct val="15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992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464" y="72737"/>
            <a:ext cx="11807536" cy="6463146"/>
          </a:xfrm>
        </p:spPr>
        <p:txBody>
          <a:bodyPr>
            <a:normAutofit/>
          </a:bodyPr>
          <a:lstStyle/>
          <a:p>
            <a:pPr>
              <a:lnSpc>
                <a:spcPct val="150000"/>
              </a:lnSpc>
            </a:pPr>
            <a:r>
              <a:rPr lang="vi-VN" sz="2400" b="1" dirty="0"/>
              <a:t>Chuyển hóa và tuần hoàn</a:t>
            </a:r>
            <a:r>
              <a:rPr lang="vi-VN" sz="2400" dirty="0"/>
              <a:t> - Tỷ lệ trao đổi chất cơ bản giảm khoảng </a:t>
            </a:r>
            <a:r>
              <a:rPr lang="vi-VN" sz="2400" dirty="0" smtClean="0"/>
              <a:t>30</a:t>
            </a:r>
            <a:r>
              <a:rPr lang="en-US" sz="2400" dirty="0" smtClean="0"/>
              <a:t>% </a:t>
            </a:r>
            <a:r>
              <a:rPr lang="vi-VN" sz="2400" dirty="0" smtClean="0"/>
              <a:t>nhưng </a:t>
            </a:r>
            <a:r>
              <a:rPr lang="en-US" sz="2400" dirty="0" smtClean="0"/>
              <a:t>         			</a:t>
            </a:r>
            <a:r>
              <a:rPr lang="vi-VN" sz="2400" dirty="0" smtClean="0"/>
              <a:t>tăng </a:t>
            </a:r>
            <a:r>
              <a:rPr lang="vi-VN" sz="2400" dirty="0"/>
              <a:t>lên rõ rệt trong thời kỳ phục </a:t>
            </a:r>
            <a:r>
              <a:rPr lang="vi-VN" sz="2400" dirty="0" smtClean="0"/>
              <a:t>hồi.</a:t>
            </a:r>
            <a:r>
              <a:rPr lang="vi-VN" sz="2400" dirty="0"/>
              <a:t> Cả quá trình sinh nhiệt và mất nhiệt đều bị </a:t>
            </a:r>
            <a:r>
              <a:rPr lang="vi-VN" sz="2400" dirty="0" smtClean="0"/>
              <a:t>suy </a:t>
            </a:r>
            <a:r>
              <a:rPr lang="vi-VN" sz="2400" dirty="0" smtClean="0"/>
              <a:t>giảm</a:t>
            </a:r>
            <a:r>
              <a:rPr lang="en-US" sz="2400" dirty="0" smtClean="0"/>
              <a:t> =&gt; </a:t>
            </a:r>
            <a:r>
              <a:rPr lang="vi-VN" sz="2400" dirty="0" smtClean="0"/>
              <a:t>trẻ </a:t>
            </a:r>
            <a:r>
              <a:rPr lang="vi-VN" sz="2400" dirty="0"/>
              <a:t>trở nên hạ thân nhiệt trong môi trường lạnh và tăng thân nhiệt trong môi trường nóng </a:t>
            </a:r>
            <a:endParaRPr lang="en-US" sz="2400" dirty="0" smtClean="0"/>
          </a:p>
          <a:p>
            <a:pPr marL="0" indent="0">
              <a:lnSpc>
                <a:spcPct val="150000"/>
              </a:lnSpc>
              <a:buNone/>
            </a:pPr>
            <a:r>
              <a:rPr lang="en-US" sz="2400" dirty="0"/>
              <a:t>-</a:t>
            </a:r>
            <a:r>
              <a:rPr lang="vi-VN" sz="2400" dirty="0"/>
              <a:t> Hấp thu chất dinh dưỡng ở ruột và thanh thải glucose trong máu giảm ở trẻ suy dinh dưỡng phù nề và marasmus, nhưng sản xuất glucose nội sinh giảm đáng kể ở trẻ em bị giảm albumin máu, có hoặc không kèm theo </a:t>
            </a:r>
            <a:r>
              <a:rPr lang="en-US" sz="2400" dirty="0" err="1" smtClean="0"/>
              <a:t>phù</a:t>
            </a:r>
            <a:endParaRPr lang="en-US" sz="2400" dirty="0" smtClean="0"/>
          </a:p>
          <a:p>
            <a:pPr marL="0" indent="0">
              <a:buNone/>
            </a:pPr>
            <a:endParaRPr lang="en-US" dirty="0" smtClean="0"/>
          </a:p>
        </p:txBody>
      </p:sp>
    </p:spTree>
    <p:extLst>
      <p:ext uri="{BB962C8B-B14F-4D97-AF65-F5344CB8AC3E}">
        <p14:creationId xmlns:p14="http://schemas.microsoft.com/office/powerpoint/2010/main" val="1252775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7036"/>
            <a:ext cx="11544300" cy="6535882"/>
          </a:xfrm>
        </p:spPr>
        <p:txBody>
          <a:bodyPr>
            <a:normAutofit/>
          </a:bodyPr>
          <a:lstStyle/>
          <a:p>
            <a:pPr marL="0" indent="0">
              <a:lnSpc>
                <a:spcPct val="150000"/>
              </a:lnSpc>
              <a:buNone/>
            </a:pPr>
            <a:r>
              <a:rPr lang="vi-VN" sz="2400" b="1" dirty="0"/>
              <a:t>Chức năng tế bào</a:t>
            </a:r>
            <a:r>
              <a:rPr lang="vi-VN" sz="2400" dirty="0"/>
              <a:t> - Hoạt động của bơm natri giảm, và màng tế bào dễ thẩm thấu </a:t>
            </a:r>
            <a:r>
              <a:rPr lang="en-US" sz="2400" dirty="0" smtClean="0"/>
              <a:t>			</a:t>
            </a:r>
            <a:r>
              <a:rPr lang="vi-VN" sz="2400" dirty="0" smtClean="0"/>
              <a:t>hơn </a:t>
            </a:r>
            <a:r>
              <a:rPr lang="vi-VN" sz="2400" dirty="0"/>
              <a:t>bình thường, dẫn đến tăng natri nội bào và giảm kali và magiê nội </a:t>
            </a:r>
            <a:r>
              <a:rPr lang="en-US" sz="2400" dirty="0" smtClean="0"/>
              <a:t>			</a:t>
            </a:r>
            <a:r>
              <a:rPr lang="vi-VN" sz="2400" dirty="0" smtClean="0"/>
              <a:t>bào</a:t>
            </a:r>
            <a:r>
              <a:rPr lang="vi-VN" sz="2400" dirty="0"/>
              <a:t>. Sự tổng hợp protein bị giảm.</a:t>
            </a:r>
          </a:p>
          <a:p>
            <a:pPr>
              <a:lnSpc>
                <a:spcPct val="150000"/>
              </a:lnSpc>
            </a:pPr>
            <a:r>
              <a:rPr lang="vi-VN" sz="2400" b="1" dirty="0" smtClean="0"/>
              <a:t>Da </a:t>
            </a:r>
            <a:r>
              <a:rPr lang="vi-VN" sz="2400" b="1" dirty="0"/>
              <a:t>và các tuyến</a:t>
            </a:r>
            <a:r>
              <a:rPr lang="vi-VN" sz="2400" dirty="0"/>
              <a:t> - Da và mỡ dưới da bị teo, gây ra các nếp gấp da lỏng lẻo. Nhiều dấu hiệu mất nước không đáng tin cậy. Ví dụ, mắt có thể trũng xuống do mất lớp mỡ dưới da ở quỹ đạo và trẻ có thể bị khô miệng và mắt cũng như giảm tiết mồ hôi do tuyến mồ hôi, nước mắt và nước bọt bị teo</a:t>
            </a:r>
          </a:p>
        </p:txBody>
      </p:sp>
    </p:spTree>
    <p:extLst>
      <p:ext uri="{BB962C8B-B14F-4D97-AF65-F5344CB8AC3E}">
        <p14:creationId xmlns:p14="http://schemas.microsoft.com/office/powerpoint/2010/main" val="3501760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0"/>
            <a:ext cx="8911687" cy="592282"/>
          </a:xfrm>
        </p:spPr>
        <p:txBody>
          <a:bodyPr>
            <a:normAutofit fontScale="90000"/>
          </a:bodyPr>
          <a:lstStyle/>
          <a:p>
            <a:r>
              <a:rPr lang="en-US" b="1" dirty="0" smtClean="0">
                <a:latin typeface="Arial" panose="020B0604020202020204" pitchFamily="34" charset="0"/>
                <a:cs typeface="Arial" panose="020B0604020202020204" pitchFamily="34" charset="0"/>
              </a:rPr>
              <a:t>CƠ CHẾ BỆNH SINH CỦA SDD THỂ PHÙ</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29935" y="592283"/>
            <a:ext cx="11419609" cy="6068290"/>
          </a:xfrm>
        </p:spPr>
        <p:txBody>
          <a:bodyPr/>
          <a:lstStyle/>
          <a:p>
            <a:r>
              <a:rPr lang="en-US" dirty="0" smtClean="0"/>
              <a:t>          </a:t>
            </a:r>
            <a:r>
              <a:rPr lang="vi-VN" sz="2400" dirty="0" smtClean="0">
                <a:solidFill>
                  <a:srgbClr val="FF0000"/>
                </a:solidFill>
              </a:rPr>
              <a:t>Thiếu </a:t>
            </a:r>
            <a:r>
              <a:rPr lang="vi-VN" sz="2400" dirty="0">
                <a:solidFill>
                  <a:srgbClr val="FF0000"/>
                </a:solidFill>
              </a:rPr>
              <a:t>protein / giảm albumin máu </a:t>
            </a:r>
            <a:endParaRPr lang="en-US" sz="2400" dirty="0" smtClean="0">
              <a:solidFill>
                <a:srgbClr val="FF0000"/>
              </a:solidFill>
            </a:endParaRPr>
          </a:p>
          <a:p>
            <a:r>
              <a:rPr lang="en-US" sz="2400" dirty="0" smtClean="0"/>
              <a:t>       </a:t>
            </a:r>
            <a:r>
              <a:rPr lang="vi-VN" sz="2400" dirty="0" smtClean="0"/>
              <a:t>Trước </a:t>
            </a:r>
            <a:r>
              <a:rPr lang="vi-VN" sz="2400" dirty="0"/>
              <a:t>đây, sự thiếu hụt protein trong chế độ ăn được cho là yếu tố chính dẫn đến suy dinh dưỡng phù nề.  Tuy nhiên, nhiều bằng chứng đã chỉ ra rằng lượng protein trong chế độ ăn uống </a:t>
            </a:r>
            <a:r>
              <a:rPr lang="en-US" sz="2400" dirty="0" err="1" smtClean="0"/>
              <a:t>không</a:t>
            </a:r>
            <a:r>
              <a:rPr lang="en-US" sz="2400" dirty="0" smtClean="0"/>
              <a:t> </a:t>
            </a:r>
            <a:r>
              <a:rPr lang="en-US" sz="2400" dirty="0" err="1" smtClean="0"/>
              <a:t>đủ</a:t>
            </a:r>
            <a:r>
              <a:rPr lang="en-US" sz="2400" dirty="0" smtClean="0"/>
              <a:t> protein </a:t>
            </a:r>
            <a:r>
              <a:rPr lang="en-US" sz="2400" dirty="0" err="1" smtClean="0"/>
              <a:t>không</a:t>
            </a:r>
            <a:r>
              <a:rPr lang="en-US" sz="2400" dirty="0" smtClean="0"/>
              <a:t> </a:t>
            </a:r>
            <a:r>
              <a:rPr lang="en-US" sz="2400" dirty="0" err="1" smtClean="0"/>
              <a:t>phải</a:t>
            </a:r>
            <a:r>
              <a:rPr lang="en-US" sz="2400" dirty="0" smtClean="0"/>
              <a:t> </a:t>
            </a:r>
            <a:r>
              <a:rPr lang="en-US" sz="2400" dirty="0" err="1" smtClean="0"/>
              <a:t>là</a:t>
            </a:r>
            <a:r>
              <a:rPr lang="en-US" sz="2400" dirty="0" smtClean="0"/>
              <a:t> </a:t>
            </a:r>
            <a:r>
              <a:rPr lang="en-US" sz="2400" dirty="0" err="1" smtClean="0"/>
              <a:t>nguyên</a:t>
            </a:r>
            <a:r>
              <a:rPr lang="en-US" sz="2400" dirty="0" smtClean="0"/>
              <a:t>  </a:t>
            </a:r>
            <a:r>
              <a:rPr lang="en-US" sz="2400" dirty="0" err="1" smtClean="0"/>
              <a:t>nhân</a:t>
            </a:r>
            <a:r>
              <a:rPr lang="en-US" sz="2400" dirty="0" smtClean="0"/>
              <a:t> </a:t>
            </a:r>
            <a:r>
              <a:rPr lang="en-US" sz="2400" dirty="0" err="1" smtClean="0"/>
              <a:t>chính</a:t>
            </a:r>
            <a:r>
              <a:rPr lang="vi-VN" sz="2400" dirty="0" smtClean="0"/>
              <a:t> </a:t>
            </a:r>
            <a:r>
              <a:rPr lang="vi-VN" sz="2400" dirty="0"/>
              <a:t>chính gây suy dinh </a:t>
            </a:r>
            <a:r>
              <a:rPr lang="vi-VN" sz="2400" dirty="0" smtClean="0"/>
              <a:t>dưỡng</a:t>
            </a:r>
            <a:r>
              <a:rPr lang="en-US" sz="2400" dirty="0" smtClean="0"/>
              <a:t> </a:t>
            </a:r>
            <a:r>
              <a:rPr lang="en-US" sz="2400" dirty="0" err="1" smtClean="0"/>
              <a:t>thể</a:t>
            </a:r>
            <a:r>
              <a:rPr lang="vi-VN" sz="2400" dirty="0" smtClean="0"/>
              <a:t> phù.</a:t>
            </a:r>
            <a:r>
              <a:rPr lang="vi-VN" sz="2400" dirty="0"/>
              <a:t> </a:t>
            </a:r>
            <a:endParaRPr lang="en-US" sz="2400" dirty="0" smtClean="0"/>
          </a:p>
          <a:p>
            <a:r>
              <a:rPr lang="en-US" sz="2400" dirty="0" smtClean="0"/>
              <a:t>(</a:t>
            </a:r>
            <a:r>
              <a:rPr lang="vi-VN" sz="2400" dirty="0" smtClean="0"/>
              <a:t>một </a:t>
            </a:r>
            <a:r>
              <a:rPr lang="vi-VN" sz="2400" dirty="0"/>
              <a:t>số bệnh nhân bị suy dinh dưỡng phù nề mà không có hạ albumin </a:t>
            </a:r>
            <a:r>
              <a:rPr lang="vi-VN" sz="2400" dirty="0" smtClean="0"/>
              <a:t>máu</a:t>
            </a:r>
            <a:r>
              <a:rPr lang="en-US" sz="2400" dirty="0" smtClean="0"/>
              <a:t>; 1 </a:t>
            </a:r>
            <a:r>
              <a:rPr lang="en-US" sz="2400" dirty="0" err="1" smtClean="0"/>
              <a:t>số</a:t>
            </a:r>
            <a:r>
              <a:rPr lang="en-US" sz="2400" dirty="0" smtClean="0"/>
              <a:t> BN </a:t>
            </a:r>
            <a:r>
              <a:rPr lang="en-US" sz="2400" dirty="0" err="1" smtClean="0"/>
              <a:t>vẫn</a:t>
            </a:r>
            <a:r>
              <a:rPr lang="en-US" sz="2400" dirty="0" smtClean="0"/>
              <a:t> </a:t>
            </a:r>
            <a:r>
              <a:rPr lang="en-US" sz="2400" dirty="0" err="1" smtClean="0"/>
              <a:t>bị</a:t>
            </a:r>
            <a:r>
              <a:rPr lang="en-US" sz="2400" dirty="0" smtClean="0"/>
              <a:t> </a:t>
            </a:r>
            <a:r>
              <a:rPr lang="vi-VN" sz="2400" dirty="0" smtClean="0"/>
              <a:t>suy </a:t>
            </a:r>
            <a:r>
              <a:rPr lang="vi-VN" sz="2400" dirty="0"/>
              <a:t>dinh dưỡng phù nề mặc dù có đủ </a:t>
            </a:r>
            <a:r>
              <a:rPr lang="vi-VN" sz="2400" dirty="0" smtClean="0"/>
              <a:t>protein </a:t>
            </a:r>
            <a:r>
              <a:rPr lang="vi-VN" sz="2400" dirty="0"/>
              <a:t>trong chế độ ăn (ví dụ, ở trẻ bú mẹ hoàn toàn) và </a:t>
            </a:r>
            <a:r>
              <a:rPr lang="en-US" sz="2400" dirty="0" err="1" smtClean="0"/>
              <a:t>có</a:t>
            </a:r>
            <a:r>
              <a:rPr lang="en-US" sz="2400" dirty="0" smtClean="0"/>
              <a:t> </a:t>
            </a:r>
            <a:r>
              <a:rPr lang="vi-VN" sz="2400" dirty="0" smtClean="0"/>
              <a:t>những </a:t>
            </a:r>
            <a:r>
              <a:rPr lang="en-US" sz="2400" dirty="0" smtClean="0"/>
              <a:t>BN </a:t>
            </a:r>
            <a:r>
              <a:rPr lang="en-US" sz="2400" dirty="0" err="1" smtClean="0"/>
              <a:t>phục</a:t>
            </a:r>
            <a:r>
              <a:rPr lang="en-US" sz="2400" dirty="0" smtClean="0"/>
              <a:t> </a:t>
            </a:r>
            <a:r>
              <a:rPr lang="en-US" sz="2400" dirty="0" err="1" smtClean="0"/>
              <a:t>hồi</a:t>
            </a:r>
            <a:r>
              <a:rPr lang="vi-VN" sz="2400" dirty="0" smtClean="0"/>
              <a:t> </a:t>
            </a:r>
            <a:r>
              <a:rPr lang="vi-VN" sz="2400" dirty="0"/>
              <a:t>sau suy dinh dưỡng phù nề với sự chăm sóc hỗ </a:t>
            </a:r>
            <a:r>
              <a:rPr lang="vi-VN" sz="2400" dirty="0" smtClean="0"/>
              <a:t>trợ </a:t>
            </a:r>
            <a:r>
              <a:rPr lang="vi-VN" sz="2400" dirty="0"/>
              <a:t>không </a:t>
            </a:r>
            <a:r>
              <a:rPr lang="en-US" sz="2400" dirty="0" err="1" smtClean="0"/>
              <a:t>cần</a:t>
            </a:r>
            <a:r>
              <a:rPr lang="en-US" sz="2400" dirty="0" smtClean="0"/>
              <a:t> </a:t>
            </a:r>
            <a:r>
              <a:rPr lang="vi-VN" sz="2400" dirty="0" smtClean="0"/>
              <a:t>tăng cường </a:t>
            </a:r>
            <a:r>
              <a:rPr lang="vi-VN" sz="2400" dirty="0"/>
              <a:t>protein trong chế độ ăn</a:t>
            </a:r>
            <a:r>
              <a:rPr lang="vi-VN" sz="2400" dirty="0" smtClean="0"/>
              <a:t>.</a:t>
            </a:r>
            <a:endParaRPr lang="vi-VN" sz="2400" dirty="0"/>
          </a:p>
          <a:p>
            <a:r>
              <a:rPr lang="en-US" sz="2400" dirty="0"/>
              <a:t>G</a:t>
            </a:r>
            <a:r>
              <a:rPr lang="vi-VN" sz="2400" dirty="0" smtClean="0"/>
              <a:t>iảm </a:t>
            </a:r>
            <a:r>
              <a:rPr lang="vi-VN" sz="2400" dirty="0"/>
              <a:t>albumin máu dường như là một biến chứng </a:t>
            </a:r>
            <a:r>
              <a:rPr lang="vi-VN" sz="2400" dirty="0" smtClean="0"/>
              <a:t>và </a:t>
            </a:r>
            <a:r>
              <a:rPr lang="vi-VN" sz="2400" dirty="0"/>
              <a:t>có thể góp phần gây phù ở nhiều bệnh nhân bằng cách cho phép chất lỏng di chuyển từ không gian mạch vào </a:t>
            </a:r>
            <a:r>
              <a:rPr lang="vi-VN" sz="2400" dirty="0" smtClean="0"/>
              <a:t>kẽ.</a:t>
            </a:r>
            <a:endParaRPr lang="en-US" sz="2400" dirty="0" smtClean="0"/>
          </a:p>
          <a:p>
            <a:r>
              <a:rPr lang="vi-VN" sz="2400" dirty="0"/>
              <a:t> Thành phần carbohydrate của chế độ ăn làm tăng mức insulin, giúp tăng cường tái hấp thu natri và nước ở </a:t>
            </a:r>
            <a:r>
              <a:rPr lang="vi-VN" sz="2400" dirty="0" smtClean="0"/>
              <a:t>thận</a:t>
            </a:r>
            <a:endParaRPr lang="vi-VN" sz="2400" dirty="0"/>
          </a:p>
        </p:txBody>
      </p:sp>
    </p:spTree>
    <p:extLst>
      <p:ext uri="{BB962C8B-B14F-4D97-AF65-F5344CB8AC3E}">
        <p14:creationId xmlns:p14="http://schemas.microsoft.com/office/powerpoint/2010/main" val="2693251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496291" y="624110"/>
            <a:ext cx="10008321" cy="5818254"/>
          </a:xfrm>
        </p:spPr>
        <p:txBody>
          <a:bodyPr>
            <a:normAutofit/>
          </a:bodyPr>
          <a:lstStyle/>
          <a:p>
            <a:endParaRPr lang="en-US" sz="2800" dirty="0" smtClean="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smtClean="0">
              <a:latin typeface="Arial" panose="020B0604020202020204" pitchFamily="34" charset="0"/>
              <a:cs typeface="Arial" panose="020B0604020202020204" pitchFamily="34" charset="0"/>
            </a:endParaRPr>
          </a:p>
          <a:p>
            <a:r>
              <a:rPr lang="vi-VN" sz="2800" dirty="0" smtClean="0">
                <a:latin typeface="Arial" panose="020B0604020202020204" pitchFamily="34" charset="0"/>
                <a:cs typeface="Arial" panose="020B0604020202020204" pitchFamily="34" charset="0"/>
              </a:rPr>
              <a:t>Stress </a:t>
            </a:r>
            <a:r>
              <a:rPr lang="vi-VN" sz="2800" dirty="0">
                <a:latin typeface="Arial" panose="020B0604020202020204" pitchFamily="34" charset="0"/>
                <a:cs typeface="Arial" panose="020B0604020202020204" pitchFamily="34" charset="0"/>
              </a:rPr>
              <a:t>oxy hóa - Stress oxy hóa quá mức đã được đề xuất là nguyên nhân gây suy dinh dưỡng phù nề. Tuy nhiên, một thử nghiệm để ngăn ngừa dạng suy dinh dưỡng này bằng cách bổ sung chất chống oxy hóa đã không thành </a:t>
            </a:r>
            <a:r>
              <a:rPr lang="vi-VN" sz="2800" dirty="0" smtClean="0">
                <a:latin typeface="Arial" panose="020B0604020202020204" pitchFamily="34" charset="0"/>
                <a:cs typeface="Arial" panose="020B0604020202020204" pitchFamily="34" charset="0"/>
              </a:rPr>
              <a:t>công </a:t>
            </a:r>
            <a:r>
              <a:rPr lang="vi-VN" sz="2800" dirty="0">
                <a:latin typeface="Arial" panose="020B0604020202020204" pitchFamily="34" charset="0"/>
                <a:cs typeface="Arial" panose="020B0604020202020204" pitchFamily="34" charset="0"/>
              </a:rPr>
              <a:t>dẫn đến kết luận rằng sự suy giảm chất chống oxy hóa có thể là một hậu quả chứ không phải là nguyên nhân của kwashiorkor</a:t>
            </a:r>
            <a:r>
              <a:rPr lang="vi-VN" sz="2800" dirty="0"/>
              <a:t>.</a:t>
            </a:r>
            <a:endParaRPr lang="en-US" sz="2800" dirty="0"/>
          </a:p>
        </p:txBody>
      </p:sp>
    </p:spTree>
    <p:extLst>
      <p:ext uri="{BB962C8B-B14F-4D97-AF65-F5344CB8AC3E}">
        <p14:creationId xmlns:p14="http://schemas.microsoft.com/office/powerpoint/2010/main" val="4222925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545" y="1"/>
            <a:ext cx="10985067" cy="6681354"/>
          </a:xfrm>
        </p:spPr>
        <p:txBody>
          <a:bodyPr>
            <a:normAutofit/>
          </a:bodyPr>
          <a:lstStyle/>
          <a:p>
            <a:r>
              <a:rPr lang="vi-VN" sz="2400" b="1" dirty="0">
                <a:latin typeface="Arial" panose="020B0604020202020204" pitchFamily="34" charset="0"/>
                <a:cs typeface="Arial" panose="020B0604020202020204" pitchFamily="34" charset="0"/>
              </a:rPr>
              <a:t>Hệ vi sinh vật </a:t>
            </a:r>
            <a:endParaRPr lang="en-US" sz="2400" b="1" dirty="0" smtClean="0">
              <a:latin typeface="Arial" panose="020B0604020202020204" pitchFamily="34" charset="0"/>
              <a:cs typeface="Arial" panose="020B0604020202020204" pitchFamily="34" charset="0"/>
            </a:endParaRPr>
          </a:p>
          <a:p>
            <a:pPr>
              <a:buFontTx/>
              <a:buChar char="-"/>
            </a:pPr>
            <a:r>
              <a:rPr lang="vi-VN" sz="2000" dirty="0" smtClean="0">
                <a:latin typeface="Arial" panose="020B0604020202020204" pitchFamily="34" charset="0"/>
                <a:cs typeface="Arial" panose="020B0604020202020204" pitchFamily="34" charset="0"/>
              </a:rPr>
              <a:t>Bằng </a:t>
            </a:r>
            <a:r>
              <a:rPr lang="vi-VN" sz="2000" dirty="0">
                <a:latin typeface="Arial" panose="020B0604020202020204" pitchFamily="34" charset="0"/>
                <a:cs typeface="Arial" panose="020B0604020202020204" pitchFamily="34" charset="0"/>
              </a:rPr>
              <a:t>chứng mạnh mẽ cho thấy suy dinh dưỡng phù nề là do những thay đổi trong hệ vi sinh vật đường ruột, kết hợp với một chế độ ăn </a:t>
            </a:r>
            <a:r>
              <a:rPr lang="vi-VN" sz="2000" dirty="0" smtClean="0">
                <a:latin typeface="Arial" panose="020B0604020202020204" pitchFamily="34" charset="0"/>
                <a:cs typeface="Arial" panose="020B0604020202020204" pitchFamily="34" charset="0"/>
              </a:rPr>
              <a:t>uống.</a:t>
            </a:r>
            <a:r>
              <a:rPr lang="vi-VN" sz="2000" dirty="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chứng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loạn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khuẩn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đường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ruột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hồi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phục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bằng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loại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thực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phẩm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được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thiết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kế</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đặc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biệt</a:t>
            </a:r>
            <a:endParaRPr lang="en-US" sz="2000" dirty="0" smtClean="0">
              <a:latin typeface="Arial" panose="020B0604020202020204" pitchFamily="34" charset="0"/>
              <a:cs typeface="Arial" panose="020B0604020202020204" pitchFamily="34" charset="0"/>
            </a:endParaRPr>
          </a:p>
          <a:p>
            <a:pPr>
              <a:buFontTx/>
              <a:buChar char="-"/>
            </a:pPr>
            <a:r>
              <a:rPr lang="vi-VN" sz="2000" dirty="0">
                <a:latin typeface="Arial" panose="020B0604020202020204" pitchFamily="34" charset="0"/>
                <a:cs typeface="Arial" panose="020B0604020202020204" pitchFamily="34" charset="0"/>
              </a:rPr>
              <a:t> Nghiên cứu này và các nghiên cứu khác ủng hộ khái niệm rằng những thay đổi trong hệ vi sinh vật trong phân và / hoặc virome được quan sát thấy trong suy dinh dưỡng là nguyên nhân chứ không phải là ảnh hưởng của suy dinh dưỡng và chứng loạn khuẩn có thể hồi phục bằng các loại thực phẩm điều trị được thiết kế đặc </a:t>
            </a:r>
            <a:r>
              <a:rPr lang="vi-VN" sz="2000" dirty="0" smtClean="0">
                <a:latin typeface="Arial" panose="020B0604020202020204" pitchFamily="34" charset="0"/>
                <a:cs typeface="Arial" panose="020B0604020202020204" pitchFamily="34" charset="0"/>
              </a:rPr>
              <a:t>biệt</a:t>
            </a:r>
            <a:r>
              <a:rPr lang="en-US" sz="2000" dirty="0" smtClean="0">
                <a:latin typeface="Arial" panose="020B0604020202020204" pitchFamily="34" charset="0"/>
                <a:cs typeface="Arial" panose="020B0604020202020204" pitchFamily="34" charset="0"/>
              </a:rPr>
              <a:t>.</a:t>
            </a:r>
          </a:p>
          <a:p>
            <a:pPr>
              <a:buFontTx/>
              <a:buChar char="-"/>
            </a:pPr>
            <a:r>
              <a:rPr lang="vi-VN" sz="2000" dirty="0">
                <a:latin typeface="Arial" panose="020B0604020202020204" pitchFamily="34" charset="0"/>
                <a:cs typeface="Arial" panose="020B0604020202020204" pitchFamily="34" charset="0"/>
              </a:rPr>
              <a:t> Suy dinh dưỡng </a:t>
            </a:r>
            <a:r>
              <a:rPr lang="en-US" sz="2000" dirty="0" err="1" smtClean="0">
                <a:latin typeface="Arial" panose="020B0604020202020204" pitchFamily="34" charset="0"/>
                <a:cs typeface="Arial" panose="020B0604020202020204" pitchFamily="34" charset="0"/>
              </a:rPr>
              <a:t>nặngb</a:t>
            </a:r>
            <a:r>
              <a:rPr lang="vi-VN" sz="2000" dirty="0" smtClean="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có thể cản trở sự phát triển bình thường của hệ vi sinh vật đường </a:t>
            </a:r>
            <a:r>
              <a:rPr lang="vi-VN" sz="2000" dirty="0" smtClean="0">
                <a:latin typeface="Arial" panose="020B0604020202020204" pitchFamily="34" charset="0"/>
                <a:cs typeface="Arial" panose="020B0604020202020204" pitchFamily="34" charset="0"/>
              </a:rPr>
              <a:t>ruột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=&gt;</a:t>
            </a:r>
            <a:r>
              <a:rPr lang="vi-VN" sz="2000" dirty="0" smtClean="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một quần thể vi khuẩn chưa trưởng thành có khả năng dẫn đến các hậu quả sức </a:t>
            </a:r>
            <a:r>
              <a:rPr lang="vi-VN" sz="2000" dirty="0" smtClean="0">
                <a:latin typeface="Arial" panose="020B0604020202020204" pitchFamily="34" charset="0"/>
                <a:cs typeface="Arial" panose="020B0604020202020204" pitchFamily="34" charset="0"/>
              </a:rPr>
              <a:t>khỏe </a:t>
            </a:r>
            <a:r>
              <a:rPr lang="en-US" sz="2000" dirty="0" smtClean="0">
                <a:latin typeface="Arial" panose="020B0604020202020204" pitchFamily="34" charset="0"/>
                <a:cs typeface="Arial" panose="020B0604020202020204" pitchFamily="34" charset="0"/>
              </a:rPr>
              <a:t>.</a:t>
            </a:r>
          </a:p>
          <a:p>
            <a:pPr>
              <a:buFontTx/>
              <a:buChar char="-"/>
            </a:pPr>
            <a:r>
              <a:rPr lang="vi-VN" sz="2000" dirty="0">
                <a:latin typeface="Arial" panose="020B0604020202020204" pitchFamily="34" charset="0"/>
                <a:cs typeface="Arial" panose="020B0604020202020204" pitchFamily="34" charset="0"/>
              </a:rPr>
              <a:t> Gần đây, các nghiên cứu đã chỉ ra rằng </a:t>
            </a:r>
            <a:r>
              <a:rPr lang="en-US" sz="2000" dirty="0" smtClean="0">
                <a:latin typeface="Arial" panose="020B0604020202020204" pitchFamily="34" charset="0"/>
                <a:cs typeface="Arial" panose="020B0604020202020204" pitchFamily="34" charset="0"/>
              </a:rPr>
              <a:t>1 </a:t>
            </a:r>
            <a:r>
              <a:rPr lang="en-US" sz="2000" dirty="0" err="1" smtClean="0">
                <a:latin typeface="Arial" panose="020B0604020202020204" pitchFamily="34" charset="0"/>
                <a:cs typeface="Arial" panose="020B0604020202020204" pitchFamily="34" charset="0"/>
              </a:rPr>
              <a:t>họ</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vi </a:t>
            </a:r>
            <a:r>
              <a:rPr lang="vi-VN" sz="2000" dirty="0">
                <a:latin typeface="Arial" panose="020B0604020202020204" pitchFamily="34" charset="0"/>
                <a:cs typeface="Arial" panose="020B0604020202020204" pitchFamily="34" charset="0"/>
              </a:rPr>
              <a:t>sinh vật </a:t>
            </a:r>
            <a:r>
              <a:rPr lang="en-US" sz="2000" dirty="0" err="1" smtClean="0">
                <a:latin typeface="Arial" panose="020B0604020202020204" pitchFamily="34" charset="0"/>
                <a:cs typeface="Arial" panose="020B0604020202020204" pitchFamily="34" charset="0"/>
              </a:rPr>
              <a:t>đặc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biệt</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có </a:t>
            </a:r>
            <a:r>
              <a:rPr lang="vi-VN" sz="2000" dirty="0">
                <a:latin typeface="Arial" panose="020B0604020202020204" pitchFamily="34" charset="0"/>
                <a:cs typeface="Arial" panose="020B0604020202020204" pitchFamily="34" charset="0"/>
              </a:rPr>
              <a:t>liên quan đến sự trưởng thành bình thường của hệ vi sinh vật trẻ sơ </a:t>
            </a:r>
            <a:r>
              <a:rPr lang="vi-VN" sz="2000" dirty="0" smtClean="0">
                <a:latin typeface="Arial" panose="020B0604020202020204" pitchFamily="34" charset="0"/>
                <a:cs typeface="Arial" panose="020B0604020202020204" pitchFamily="34" charset="0"/>
              </a:rPr>
              <a:t>sinh</a:t>
            </a:r>
            <a:r>
              <a:rPr lang="en-US" sz="2000" dirty="0" smtClean="0">
                <a:latin typeface="Arial" panose="020B0604020202020204" pitchFamily="34" charset="0"/>
                <a:cs typeface="Arial" panose="020B0604020202020204" pitchFamily="34" charset="0"/>
              </a:rPr>
              <a:t>,</a:t>
            </a:r>
            <a:r>
              <a:rPr lang="vi-VN" sz="2000" dirty="0" smtClean="0">
                <a:latin typeface="Arial" panose="020B0604020202020204" pitchFamily="34" charset="0"/>
                <a:cs typeface="Arial" panose="020B0604020202020204" pitchFamily="34" charset="0"/>
              </a:rPr>
              <a:t> có </a:t>
            </a:r>
            <a:r>
              <a:rPr lang="vi-VN" sz="2000" dirty="0">
                <a:latin typeface="Arial" panose="020B0604020202020204" pitchFamily="34" charset="0"/>
                <a:cs typeface="Arial" panose="020B0604020202020204" pitchFamily="34" charset="0"/>
              </a:rPr>
              <a:t>thể đóng vai trò như </a:t>
            </a:r>
            <a:r>
              <a:rPr lang="en-US" sz="2000" dirty="0" err="1" smtClean="0">
                <a:latin typeface="Arial" panose="020B0604020202020204" pitchFamily="34" charset="0"/>
                <a:cs typeface="Arial" panose="020B0604020202020204" pitchFamily="34" charset="0"/>
              </a:rPr>
              <a:t>giàn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giáo</a:t>
            </a:r>
            <a:r>
              <a:rPr lang="en-US" sz="2000" dirty="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để</a:t>
            </a:r>
            <a:r>
              <a:rPr lang="vi-VN" sz="2000" dirty="0" smtClean="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phần còn lại của hệ vi sinh vật bình thường phát </a:t>
            </a:r>
            <a:r>
              <a:rPr lang="vi-VN" sz="2000" dirty="0" smtClean="0">
                <a:latin typeface="Arial" panose="020B0604020202020204" pitchFamily="34" charset="0"/>
                <a:cs typeface="Arial" panose="020B0604020202020204" pitchFamily="34" charset="0"/>
              </a:rPr>
              <a:t>triển</a:t>
            </a:r>
            <a:r>
              <a:rPr lang="vi-VN" sz="2000" dirty="0">
                <a:latin typeface="Arial" panose="020B0604020202020204" pitchFamily="34" charset="0"/>
                <a:cs typeface="Arial" panose="020B0604020202020204" pitchFamily="34" charset="0"/>
              </a:rPr>
              <a:t> Hệ vi sinh vật này bị gián đoạn do suy dinh dưỡng, nhưng sự trở lại của những vi khuẩn này có thể là một tín hiệu mạnh mẽ về sức khỏe trong tương </a:t>
            </a:r>
            <a:r>
              <a:rPr lang="vi-VN" sz="2000" dirty="0" smtClean="0">
                <a:latin typeface="Arial" panose="020B0604020202020204" pitchFamily="34" charset="0"/>
                <a:cs typeface="Arial" panose="020B0604020202020204" pitchFamily="34" charset="0"/>
              </a:rPr>
              <a:t>lai.</a:t>
            </a:r>
            <a:endParaRPr lang="vi-V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0363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2592925" y="124691"/>
            <a:ext cx="8911687" cy="499419"/>
          </a:xfrm>
        </p:spPr>
        <p:txBody>
          <a:bodyPr>
            <a:normAutofit fontScale="90000"/>
          </a:bodyPr>
          <a:lstStyle/>
          <a:p>
            <a:endParaRPr lang="en-US" dirty="0"/>
          </a:p>
        </p:txBody>
      </p:sp>
      <p:sp>
        <p:nvSpPr>
          <p:cNvPr id="3" name="Content Placeholder 2"/>
          <p:cNvSpPr>
            <a:spLocks noGrp="1"/>
          </p:cNvSpPr>
          <p:nvPr>
            <p:ph idx="1"/>
          </p:nvPr>
        </p:nvSpPr>
        <p:spPr/>
        <p:txBody>
          <a:bodyPr/>
          <a:lstStyle/>
          <a:p>
            <a:r>
              <a:rPr lang="vi-VN" dirty="0"/>
              <a:t>Marasmus được đặc trưng bởi </a:t>
            </a:r>
            <a:r>
              <a:rPr lang="vi-VN" b="1" dirty="0"/>
              <a:t>trọng lượng thấp so với chiều cao</a:t>
            </a:r>
            <a:r>
              <a:rPr lang="vi-VN" dirty="0"/>
              <a:t> và </a:t>
            </a:r>
            <a:r>
              <a:rPr lang="vi-VN" b="1" dirty="0"/>
              <a:t>giảm MUAC</a:t>
            </a:r>
            <a:r>
              <a:rPr lang="vi-VN" dirty="0"/>
              <a:t> , phản ánh sự </a:t>
            </a:r>
            <a:r>
              <a:rPr lang="en-US" dirty="0" err="1" smtClean="0"/>
              <a:t>tiêu</a:t>
            </a:r>
            <a:r>
              <a:rPr lang="en-US" dirty="0" smtClean="0"/>
              <a:t> </a:t>
            </a:r>
            <a:r>
              <a:rPr lang="en-US" dirty="0" err="1" smtClean="0"/>
              <a:t>thụ</a:t>
            </a:r>
            <a:r>
              <a:rPr lang="en-US" dirty="0" smtClean="0"/>
              <a:t> </a:t>
            </a:r>
            <a:r>
              <a:rPr lang="vi-VN" dirty="0" smtClean="0"/>
              <a:t>khối </a:t>
            </a:r>
            <a:r>
              <a:rPr lang="vi-VN" dirty="0"/>
              <a:t>lượng cơ và cạn kiệt nguồn dự trữ chất béo trong cơ thể. Đây là dạng suy dinh dưỡng protein-năng lượng phổ biến nhất và được cho là do hấp thụ không đủ tất cả các chất dinh dưỡng, đặc biệt là các nguồn năng lượng từ khẩu phần (tổng lượng calo</a:t>
            </a:r>
            <a:r>
              <a:rPr lang="vi-VN" dirty="0" smtClean="0"/>
              <a:t>).</a:t>
            </a:r>
            <a:endParaRPr lang="en-US" dirty="0" smtClean="0"/>
          </a:p>
          <a:p>
            <a:r>
              <a:rPr lang="vi-VN" dirty="0"/>
              <a:t>Kwashiorkor được đặc trưng bởi </a:t>
            </a:r>
            <a:r>
              <a:rPr lang="vi-VN" b="1" dirty="0" smtClean="0"/>
              <a:t>phù </a:t>
            </a:r>
            <a:r>
              <a:rPr lang="vi-VN" b="1" dirty="0"/>
              <a:t>ngoại vi</a:t>
            </a:r>
            <a:r>
              <a:rPr lang="vi-VN" dirty="0"/>
              <a:t> đối xứng bắt đầu ở những vùng </a:t>
            </a:r>
            <a:r>
              <a:rPr lang="en-US" dirty="0" err="1" smtClean="0"/>
              <a:t>lỏng</a:t>
            </a:r>
            <a:r>
              <a:rPr lang="en-US" dirty="0" smtClean="0"/>
              <a:t> </a:t>
            </a:r>
            <a:r>
              <a:rPr lang="en-US" dirty="0" err="1" smtClean="0"/>
              <a:t>lẻo</a:t>
            </a:r>
            <a:r>
              <a:rPr lang="vi-VN" dirty="0" smtClean="0"/>
              <a:t> </a:t>
            </a:r>
            <a:r>
              <a:rPr lang="vi-VN" dirty="0"/>
              <a:t>nhất và tiến triển nghiêm trọng theo thời gian, thường liên quan đến vùng trước, cơ quan sinh dục và vùng quanh mắt, có hoặc không có anasarca (phù nặng toàn thân). Teo cơ rõ rệt với lượng mỡ cơ thể bình thường hoặc thậm chí tăng. Suy dinh dưỡng được coi là nghiêm trọng nếu có </a:t>
            </a:r>
            <a:r>
              <a:rPr lang="en-US" dirty="0" err="1" smtClean="0"/>
              <a:t>xuất</a:t>
            </a:r>
            <a:r>
              <a:rPr lang="en-US" dirty="0" smtClean="0"/>
              <a:t> </a:t>
            </a:r>
            <a:r>
              <a:rPr lang="en-US" dirty="0" err="1" smtClean="0"/>
              <a:t>hiện</a:t>
            </a:r>
            <a:r>
              <a:rPr lang="en-US" dirty="0" smtClean="0"/>
              <a:t> </a:t>
            </a:r>
            <a:r>
              <a:rPr lang="en-US" dirty="0" err="1" smtClean="0"/>
              <a:t>phù</a:t>
            </a:r>
            <a:r>
              <a:rPr lang="vi-VN" dirty="0" smtClean="0"/>
              <a:t>, </a:t>
            </a:r>
            <a:r>
              <a:rPr lang="vi-VN" dirty="0"/>
              <a:t>bất kể các giá trị nhân trắc học khác.</a:t>
            </a:r>
            <a:endParaRPr lang="en-US" dirty="0"/>
          </a:p>
        </p:txBody>
      </p:sp>
    </p:spTree>
    <p:extLst>
      <p:ext uri="{BB962C8B-B14F-4D97-AF65-F5344CB8AC3E}">
        <p14:creationId xmlns:p14="http://schemas.microsoft.com/office/powerpoint/2010/main" val="20219744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0043" y="136187"/>
            <a:ext cx="10434569" cy="885217"/>
          </a:xfrm>
        </p:spPr>
        <p:txBody>
          <a:bodyPr>
            <a:normAutofit fontScale="90000"/>
          </a:bodyPr>
          <a:lstStyle/>
          <a:p>
            <a:r>
              <a:rPr lang="en-US" dirty="0" smtClean="0">
                <a:latin typeface="Arial" panose="020B0604020202020204" pitchFamily="34" charset="0"/>
                <a:cs typeface="Arial" panose="020B0604020202020204" pitchFamily="34" charset="0"/>
              </a:rPr>
              <a:t>TRIỆU CHỨNG LÂM SÀNG CỦA SUY DINH DƯỠNG</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070043" y="807396"/>
            <a:ext cx="10434569" cy="5103826"/>
          </a:xfrm>
        </p:spPr>
        <p:txBody>
          <a:bodyPr/>
          <a:lstStyle/>
          <a:p>
            <a:pPr marL="0" indent="0">
              <a:buNone/>
            </a:pPr>
            <a:r>
              <a:rPr lang="en-US" dirty="0"/>
              <a:t> </a:t>
            </a:r>
            <a:endParaRPr lang="en-US" dirty="0" smtClean="0"/>
          </a:p>
          <a:p>
            <a:pPr marL="0" indent="0">
              <a:buNone/>
            </a:pPr>
            <a:r>
              <a:rPr lang="en-US" sz="3200" b="1" dirty="0" smtClean="0">
                <a:latin typeface="Arial" panose="020B0604020202020204" pitchFamily="34" charset="0"/>
                <a:cs typeface="Arial" panose="020B0604020202020204" pitchFamily="34" charset="0"/>
              </a:rPr>
              <a:t>THỂ NHẸ - VỪA:</a:t>
            </a:r>
          </a:p>
          <a:p>
            <a:pPr>
              <a:buFontTx/>
              <a:buChar char="-"/>
            </a:pPr>
            <a:r>
              <a:rPr lang="en-US" sz="3200" dirty="0" err="1" smtClean="0">
                <a:latin typeface="Arial" panose="020B0604020202020204" pitchFamily="34" charset="0"/>
                <a:cs typeface="Arial" panose="020B0604020202020204" pitchFamily="34" charset="0"/>
              </a:rPr>
              <a:t>Cân</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nặng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theo</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tuổi</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thấp</a:t>
            </a:r>
            <a:endParaRPr lang="en-US" sz="3200" dirty="0" smtClean="0">
              <a:latin typeface="Arial" panose="020B0604020202020204" pitchFamily="34" charset="0"/>
              <a:cs typeface="Arial" panose="020B0604020202020204" pitchFamily="34" charset="0"/>
            </a:endParaRPr>
          </a:p>
          <a:p>
            <a:pPr>
              <a:buFontTx/>
              <a:buChar char="-"/>
            </a:pPr>
            <a:r>
              <a:rPr lang="en-US" sz="3200" dirty="0" err="1" smtClean="0">
                <a:latin typeface="Arial" panose="020B0604020202020204" pitchFamily="34" charset="0"/>
                <a:cs typeface="Arial" panose="020B0604020202020204" pitchFamily="34" charset="0"/>
              </a:rPr>
              <a:t>Lớp</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mỡ</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dưới</a:t>
            </a:r>
            <a:r>
              <a:rPr lang="en-US" sz="3200" dirty="0" smtClean="0">
                <a:latin typeface="Arial" panose="020B0604020202020204" pitchFamily="34" charset="0"/>
                <a:cs typeface="Arial" panose="020B0604020202020204" pitchFamily="34" charset="0"/>
              </a:rPr>
              <a:t> da </a:t>
            </a:r>
            <a:r>
              <a:rPr lang="en-US" sz="3200" dirty="0" err="1" smtClean="0">
                <a:latin typeface="Arial" panose="020B0604020202020204" pitchFamily="34" charset="0"/>
                <a:cs typeface="Arial" panose="020B0604020202020204" pitchFamily="34" charset="0"/>
              </a:rPr>
              <a:t>bụng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mỏng</a:t>
            </a:r>
            <a:endParaRPr lang="en-US" sz="3200" dirty="0" smtClean="0">
              <a:latin typeface="Arial" panose="020B0604020202020204" pitchFamily="34" charset="0"/>
              <a:cs typeface="Arial" panose="020B0604020202020204" pitchFamily="34" charset="0"/>
            </a:endParaRPr>
          </a:p>
          <a:p>
            <a:pPr>
              <a:buFontTx/>
              <a:buChar char="-"/>
            </a:pPr>
            <a:r>
              <a:rPr lang="en-US" sz="3200" dirty="0" err="1" smtClean="0">
                <a:latin typeface="Arial" panose="020B0604020202020204" pitchFamily="34" charset="0"/>
                <a:cs typeface="Arial" panose="020B0604020202020204" pitchFamily="34" charset="0"/>
              </a:rPr>
              <a:t>Trẻ</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có</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thể</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ăn</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bình</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thường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hoặc</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biếng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ăn</a:t>
            </a:r>
            <a:endParaRPr lang="en-US" sz="3200" dirty="0" smtClean="0">
              <a:latin typeface="Arial" panose="020B0604020202020204" pitchFamily="34" charset="0"/>
              <a:cs typeface="Arial" panose="020B0604020202020204" pitchFamily="34" charset="0"/>
            </a:endParaRPr>
          </a:p>
          <a:p>
            <a:pPr>
              <a:buFontTx/>
              <a:buChar char="-"/>
            </a:pPr>
            <a:r>
              <a:rPr lang="en-US" sz="3200" dirty="0" err="1" smtClean="0">
                <a:latin typeface="Arial" panose="020B0604020202020204" pitchFamily="34" charset="0"/>
                <a:cs typeface="Arial" panose="020B0604020202020204" pitchFamily="34" charset="0"/>
              </a:rPr>
              <a:t>Rối</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loạn</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tiêu</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hóa</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từng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đợt</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81117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374073" y="10391"/>
            <a:ext cx="11575472" cy="6660573"/>
          </a:xfrm>
          <a:prstGeom prst="rect">
            <a:avLst/>
          </a:prstGeom>
        </p:spPr>
      </p:pic>
    </p:spTree>
    <p:extLst>
      <p:ext uri="{BB962C8B-B14F-4D97-AF65-F5344CB8AC3E}">
        <p14:creationId xmlns:p14="http://schemas.microsoft.com/office/powerpoint/2010/main" val="188762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294" y="157182"/>
            <a:ext cx="11449456" cy="611303"/>
          </a:xfrm>
        </p:spPr>
        <p:txBody>
          <a:bodyPr>
            <a:normAutofit fontScale="90000"/>
          </a:bodyPr>
          <a:lstStyle/>
          <a:p>
            <a:r>
              <a:rPr lang="en-US" dirty="0">
                <a:latin typeface="Arial" panose="020B0604020202020204" pitchFamily="34" charset="0"/>
                <a:cs typeface="Arial" panose="020B0604020202020204" pitchFamily="34" charset="0"/>
              </a:rPr>
              <a:t>TRIỆU CHỨNG LÂM SÀNG CỦA SUY DINH DƯỠNG</a:t>
            </a:r>
            <a:endParaRPr lang="en-US" dirty="0"/>
          </a:p>
        </p:txBody>
      </p:sp>
      <p:sp>
        <p:nvSpPr>
          <p:cNvPr id="3" name="Content Placeholder 2"/>
          <p:cNvSpPr>
            <a:spLocks noGrp="1"/>
          </p:cNvSpPr>
          <p:nvPr>
            <p:ph idx="1"/>
          </p:nvPr>
        </p:nvSpPr>
        <p:spPr>
          <a:xfrm>
            <a:off x="837397" y="606392"/>
            <a:ext cx="11059427" cy="5304830"/>
          </a:xfrm>
        </p:spPr>
        <p:txBody>
          <a:bodyPr>
            <a:normAutofit/>
          </a:bodyPr>
          <a:lstStyle/>
          <a:p>
            <a:r>
              <a:rPr lang="en-US" sz="2400" dirty="0" smtClean="0"/>
              <a:t>         </a:t>
            </a:r>
            <a:r>
              <a:rPr lang="en-US" sz="2400" b="1" dirty="0" smtClean="0">
                <a:solidFill>
                  <a:schemeClr val="accent1">
                    <a:lumMod val="60000"/>
                    <a:lumOff val="40000"/>
                  </a:schemeClr>
                </a:solidFill>
                <a:latin typeface="Arial" panose="020B0604020202020204" pitchFamily="34" charset="0"/>
                <a:cs typeface="Arial" panose="020B0604020202020204" pitchFamily="34" charset="0"/>
              </a:rPr>
              <a:t>SUY DINH DƯỠNG NẶNG</a:t>
            </a:r>
            <a:endParaRPr lang="en-US" sz="2400" b="1" dirty="0">
              <a:solidFill>
                <a:schemeClr val="accent1">
                  <a:lumMod val="60000"/>
                  <a:lumOff val="40000"/>
                </a:schemeClr>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709165827"/>
              </p:ext>
            </p:extLst>
          </p:nvPr>
        </p:nvGraphicFramePr>
        <p:xfrm>
          <a:off x="0" y="1260910"/>
          <a:ext cx="12060455" cy="6097685"/>
        </p:xfrm>
        <a:graphic>
          <a:graphicData uri="http://schemas.openxmlformats.org/drawingml/2006/table">
            <a:tbl>
              <a:tblPr firstRow="1" bandRow="1">
                <a:tableStyleId>{5C22544A-7EE6-4342-B048-85BDC9FD1C3A}</a:tableStyleId>
              </a:tblPr>
              <a:tblGrid>
                <a:gridCol w="1549667"/>
                <a:gridCol w="6490636"/>
                <a:gridCol w="4020152"/>
              </a:tblGrid>
              <a:tr h="457281">
                <a:tc>
                  <a:txBody>
                    <a:bodyPr/>
                    <a:lstStyle/>
                    <a:p>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Thể</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phù</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Washiokor</a:t>
                      </a:r>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Thể</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teo</a:t>
                      </a:r>
                      <a:r>
                        <a:rPr lang="en-US" sz="2000" baseline="0" dirty="0" smtClean="0">
                          <a:latin typeface="Arial" panose="020B0604020202020204" pitchFamily="34" charset="0"/>
                          <a:cs typeface="Arial" panose="020B0604020202020204" pitchFamily="34" charset="0"/>
                        </a:rPr>
                        <a:t> (Marasmus)</a:t>
                      </a:r>
                      <a:endParaRPr lang="en-US" sz="2000" dirty="0">
                        <a:latin typeface="Arial" panose="020B0604020202020204" pitchFamily="34" charset="0"/>
                        <a:cs typeface="Arial" panose="020B0604020202020204" pitchFamily="34" charset="0"/>
                      </a:endParaRPr>
                    </a:p>
                  </a:txBody>
                  <a:tcPr/>
                </a:tc>
              </a:tr>
              <a:tr h="668874">
                <a:tc>
                  <a:txBody>
                    <a:bodyPr/>
                    <a:lstStyle/>
                    <a:p>
                      <a:r>
                        <a:rPr lang="en-US" sz="2000" dirty="0" err="1" smtClean="0">
                          <a:latin typeface="Arial" panose="020B0604020202020204" pitchFamily="34" charset="0"/>
                          <a:cs typeface="Arial" panose="020B0604020202020204" pitchFamily="34" charset="0"/>
                        </a:rPr>
                        <a:t>Tinh</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thần</a:t>
                      </a:r>
                      <a:endParaRPr lang="en-US" sz="2000" dirty="0">
                        <a:latin typeface="Arial" panose="020B0604020202020204" pitchFamily="34" charset="0"/>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err="1" smtClean="0">
                          <a:latin typeface="Arial" panose="020B0604020202020204" pitchFamily="34" charset="0"/>
                          <a:cs typeface="Arial" panose="020B0604020202020204" pitchFamily="34" charset="0"/>
                        </a:rPr>
                        <a:t>ngủ</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vô</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cảm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hoặc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thích</a:t>
                      </a:r>
                      <a:r>
                        <a:rPr lang="en-US" sz="2000" dirty="0" smtClean="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err="1" smtClean="0">
                          <a:latin typeface="Arial" panose="020B0604020202020204" pitchFamily="34" charset="0"/>
                          <a:cs typeface="Arial" panose="020B0604020202020204" pitchFamily="34" charset="0"/>
                        </a:rPr>
                        <a:t>Kích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bực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bội</a:t>
                      </a:r>
                      <a:r>
                        <a:rPr lang="en-US" sz="2000" baseline="0" dirty="0" smtClean="0">
                          <a:latin typeface="Arial" panose="020B0604020202020204" pitchFamily="34" charset="0"/>
                          <a:cs typeface="Arial" panose="020B0604020202020204" pitchFamily="34" charset="0"/>
                        </a:rPr>
                        <a: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phờ</a:t>
                      </a:r>
                      <a:endParaRPr lang="en-US" sz="2000" dirty="0" smtClean="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txBody>
                  <a:tcPr/>
                </a:tc>
              </a:tr>
              <a:tr h="702644">
                <a:tc>
                  <a:txBody>
                    <a:bodyPr/>
                    <a:lstStyle/>
                    <a:p>
                      <a:r>
                        <a:rPr lang="en-US" sz="2000" dirty="0" err="1" smtClean="0">
                          <a:latin typeface="Arial" panose="020B0604020202020204" pitchFamily="34" charset="0"/>
                          <a:cs typeface="Arial" panose="020B0604020202020204" pitchFamily="34" charset="0"/>
                        </a:rPr>
                        <a:t>Câ</a:t>
                      </a:r>
                      <a:r>
                        <a:rPr lang="en-US" sz="2000" baseline="0" dirty="0" err="1" smtClean="0">
                          <a:latin typeface="Arial" panose="020B0604020202020204" pitchFamily="34" charset="0"/>
                          <a:cs typeface="Arial" panose="020B0604020202020204" pitchFamily="34" charset="0"/>
                        </a:rPr>
                        <a:t>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nặng</a:t>
                      </a:r>
                      <a:endParaRPr lang="en-US" sz="2000" dirty="0">
                        <a:latin typeface="Arial" panose="020B0604020202020204" pitchFamily="34" charset="0"/>
                        <a:cs typeface="Arial" panose="020B0604020202020204" pitchFamily="34" charset="0"/>
                      </a:endParaRPr>
                    </a:p>
                  </a:txBody>
                  <a:tcPr/>
                </a:tc>
                <a:tc>
                  <a:txBody>
                    <a:bodyPr/>
                    <a:lstStyle/>
                    <a:p>
                      <a:pPr>
                        <a:buFontTx/>
                        <a:buChar char="-"/>
                      </a:pPr>
                      <a:r>
                        <a:rPr lang="en-US" sz="2000" dirty="0" err="1" smtClean="0">
                          <a:latin typeface="Arial" panose="020B0604020202020204" pitchFamily="34" charset="0"/>
                          <a:cs typeface="Arial" panose="020B0604020202020204" pitchFamily="34" charset="0"/>
                        </a:rPr>
                        <a:t>Cân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nặng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tuổi</a:t>
                      </a:r>
                      <a:r>
                        <a:rPr lang="en-US" sz="2000" dirty="0" smtClean="0">
                          <a:latin typeface="Arial" panose="020B0604020202020204" pitchFamily="34" charset="0"/>
                          <a:cs typeface="Arial" panose="020B0604020202020204" pitchFamily="34" charset="0"/>
                        </a:rPr>
                        <a:t> WA 60-80% </a:t>
                      </a:r>
                      <a:r>
                        <a:rPr lang="en-US" sz="2000" dirty="0" err="1" smtClean="0">
                          <a:latin typeface="Arial" panose="020B0604020202020204" pitchFamily="34" charset="0"/>
                          <a:cs typeface="Arial" panose="020B0604020202020204" pitchFamily="34" charset="0"/>
                        </a:rPr>
                        <a:t>nhưng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phản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ánh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chính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xác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tình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trạng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dinh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dưỡng</a:t>
                      </a:r>
                      <a:endParaRPr lang="en-US" sz="2000" dirty="0">
                        <a:latin typeface="Arial" panose="020B0604020202020204" pitchFamily="34" charset="0"/>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t;ăng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cân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sụt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cân</a:t>
                      </a:r>
                      <a:r>
                        <a:rPr lang="en-US" sz="2000" dirty="0" smtClean="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txBody>
                  <a:tcPr/>
                </a:tc>
              </a:tr>
              <a:tr h="375386">
                <a:tc>
                  <a:txBody>
                    <a:bodyPr/>
                    <a:lstStyle/>
                    <a:p>
                      <a:r>
                        <a:rPr lang="en-US" sz="2000" dirty="0" err="1" smtClean="0">
                          <a:latin typeface="Arial" panose="020B0604020202020204" pitchFamily="34" charset="0"/>
                          <a:cs typeface="Arial" panose="020B0604020202020204" pitchFamily="34" charset="0"/>
                        </a:rPr>
                        <a:t>Mặt</a:t>
                      </a:r>
                      <a:endParaRPr lang="en-US" sz="2000" dirty="0">
                        <a:latin typeface="Arial" panose="020B0604020202020204" pitchFamily="34" charset="0"/>
                        <a:cs typeface="Arial" panose="020B0604020202020204" pitchFamily="34" charset="0"/>
                      </a:endParaRPr>
                    </a:p>
                  </a:txBody>
                  <a:tcPr/>
                </a:tc>
                <a:tc>
                  <a:txBody>
                    <a:bodyPr/>
                    <a:lstStyle/>
                    <a:p>
                      <a:pPr>
                        <a:buFontTx/>
                        <a:buChar char="-"/>
                      </a:pPr>
                      <a:r>
                        <a:rPr lang="en-US" sz="2000" dirty="0" err="1" smtClean="0">
                          <a:latin typeface="Arial" panose="020B0604020202020204" pitchFamily="34" charset="0"/>
                          <a:cs typeface="Arial" panose="020B0604020202020204" pitchFamily="34" charset="0"/>
                        </a:rPr>
                        <a:t>tròn</a:t>
                      </a:r>
                      <a:r>
                        <a:rPr lang="en-US" sz="2000" dirty="0" smtClean="0">
                          <a:latin typeface="Arial" panose="020B0604020202020204" pitchFamily="34" charset="0"/>
                          <a:cs typeface="Arial" panose="020B0604020202020204" pitchFamily="34" charset="0"/>
                        </a:rPr>
                        <a:t> do </a:t>
                      </a:r>
                      <a:r>
                        <a:rPr lang="en-US" sz="2000" dirty="0" err="1" smtClean="0">
                          <a:latin typeface="Arial" panose="020B0604020202020204" pitchFamily="34" charset="0"/>
                          <a:cs typeface="Arial" panose="020B0604020202020204" pitchFamily="34" charset="0"/>
                        </a:rPr>
                        <a:t>phù</a:t>
                      </a:r>
                      <a:r>
                        <a:rPr lang="en-US" sz="2000" dirty="0" smtClean="0">
                          <a:latin typeface="Arial" panose="020B0604020202020204" pitchFamily="34" charset="0"/>
                          <a:cs typeface="Arial" panose="020B0604020202020204" pitchFamily="34" charset="0"/>
                        </a:rPr>
                        <a:t> (moon face), sung </a:t>
                      </a:r>
                      <a:r>
                        <a:rPr lang="en-US" sz="2000" dirty="0" err="1" smtClean="0">
                          <a:latin typeface="Arial" panose="020B0604020202020204" pitchFamily="34" charset="0"/>
                          <a:cs typeface="Arial" panose="020B0604020202020204" pitchFamily="34" charset="0"/>
                        </a:rPr>
                        <a:t>tuyến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nước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bọt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mang</a:t>
                      </a:r>
                      <a:r>
                        <a:rPr lang="en-US" sz="2000" dirty="0" smtClean="0">
                          <a:latin typeface="Arial" panose="020B0604020202020204" pitchFamily="34" charset="0"/>
                          <a:cs typeface="Arial" panose="020B0604020202020204" pitchFamily="34" charset="0"/>
                        </a:rPr>
                        <a:t> tai</a:t>
                      </a:r>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Hốc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hác</a:t>
                      </a:r>
                      <a:endParaRPr lang="en-US" sz="2000" dirty="0">
                        <a:latin typeface="Arial" panose="020B0604020202020204" pitchFamily="34" charset="0"/>
                        <a:cs typeface="Arial" panose="020B0604020202020204" pitchFamily="34" charset="0"/>
                      </a:endParaRPr>
                    </a:p>
                  </a:txBody>
                  <a:tcPr/>
                </a:tc>
              </a:tr>
              <a:tr h="2204185">
                <a:tc>
                  <a:txBody>
                    <a:bodyPr/>
                    <a:lstStyle/>
                    <a:p>
                      <a:r>
                        <a:rPr lang="en-US" sz="2000" dirty="0" err="1" smtClean="0">
                          <a:latin typeface="Arial" panose="020B0604020202020204" pitchFamily="34" charset="0"/>
                          <a:cs typeface="Arial" panose="020B0604020202020204" pitchFamily="34" charset="0"/>
                        </a:rPr>
                        <a:t>Cơ</a:t>
                      </a:r>
                      <a:r>
                        <a:rPr lang="en-US" sz="2000" baseline="0" dirty="0" smtClean="0">
                          <a:latin typeface="Arial" panose="020B0604020202020204" pitchFamily="34" charset="0"/>
                          <a:cs typeface="Arial" panose="020B0604020202020204" pitchFamily="34" charset="0"/>
                        </a:rPr>
                        <a:t> – da – </a:t>
                      </a:r>
                      <a:r>
                        <a:rPr lang="en-US" sz="2000" baseline="0" dirty="0" err="1" smtClean="0">
                          <a:latin typeface="Arial" panose="020B0604020202020204" pitchFamily="34" charset="0"/>
                          <a:cs typeface="Arial" panose="020B0604020202020204" pitchFamily="34" charset="0"/>
                        </a:rPr>
                        <a:t>Tổ</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chức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dưới</a:t>
                      </a:r>
                      <a:r>
                        <a:rPr lang="en-US" sz="2000" baseline="0" dirty="0" smtClean="0">
                          <a:latin typeface="Arial" panose="020B0604020202020204" pitchFamily="34" charset="0"/>
                          <a:cs typeface="Arial" panose="020B0604020202020204" pitchFamily="34" charset="0"/>
                        </a:rPr>
                        <a:t> da-  </a:t>
                      </a:r>
                      <a:r>
                        <a:rPr lang="en-US" sz="2000" baseline="0" dirty="0" err="1" smtClean="0">
                          <a:latin typeface="Arial" panose="020B0604020202020204" pitchFamily="34" charset="0"/>
                          <a:cs typeface="Arial" panose="020B0604020202020204" pitchFamily="34" charset="0"/>
                        </a:rPr>
                        <a:t>tóc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móng</a:t>
                      </a:r>
                      <a:endParaRPr lang="en-US" sz="2000" dirty="0">
                        <a:latin typeface="Arial" panose="020B0604020202020204" pitchFamily="34" charset="0"/>
                        <a:cs typeface="Arial" panose="020B0604020202020204" pitchFamily="34" charset="0"/>
                      </a:endParaRPr>
                    </a:p>
                  </a:txBody>
                  <a:tcPr/>
                </a:tc>
                <a:tc>
                  <a:txBody>
                    <a:bodyPr/>
                    <a:lstStyle/>
                    <a:p>
                      <a:pPr>
                        <a:buFontTx/>
                        <a:buChar char="-"/>
                      </a:pPr>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mô</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dưới</a:t>
                      </a:r>
                      <a:r>
                        <a:rPr lang="en-US" sz="2000" dirty="0" smtClean="0">
                          <a:latin typeface="Arial" panose="020B0604020202020204" pitchFamily="34" charset="0"/>
                          <a:cs typeface="Arial" panose="020B0604020202020204" pitchFamily="34" charset="0"/>
                        </a:rPr>
                        <a:t> da </a:t>
                      </a:r>
                      <a:r>
                        <a:rPr lang="en-US" sz="2000" dirty="0" err="1" smtClean="0">
                          <a:latin typeface="Arial" panose="020B0604020202020204" pitchFamily="34" charset="0"/>
                          <a:cs typeface="Arial" panose="020B0604020202020204" pitchFamily="34" charset="0"/>
                        </a:rPr>
                        <a:t>lỏng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lẻo</a:t>
                      </a:r>
                      <a:r>
                        <a:rPr lang="en-US" sz="2000" dirty="0" smtClean="0">
                          <a:latin typeface="Arial" panose="020B0604020202020204" pitchFamily="34" charset="0"/>
                          <a:cs typeface="Arial" panose="020B0604020202020204" pitchFamily="34" charset="0"/>
                        </a:rPr>
                        <a:t>.</a:t>
                      </a:r>
                    </a:p>
                    <a:p>
                      <a:pPr marL="0" marR="0" indent="0" algn="l" defTabSz="457200" rtl="0" eaLnBrk="1" fontAlgn="auto" latinLnBrk="0" hangingPunct="1">
                        <a:lnSpc>
                          <a:spcPct val="100000"/>
                        </a:lnSpc>
                        <a:spcBef>
                          <a:spcPts val="0"/>
                        </a:spcBef>
                        <a:spcAft>
                          <a:spcPts val="0"/>
                        </a:spcAft>
                        <a:buClrTx/>
                        <a:buSzTx/>
                        <a:buFontTx/>
                        <a:buChar char="-"/>
                        <a:tabLst/>
                        <a:defRPr/>
                      </a:pPr>
                      <a:r>
                        <a:rPr lang="en-US" sz="2000" dirty="0" err="1" smtClean="0">
                          <a:latin typeface="Arial" panose="020B0604020202020204" pitchFamily="34" charset="0"/>
                          <a:cs typeface="Arial" panose="020B0604020202020204" pitchFamily="34" charset="0"/>
                        </a:rPr>
                        <a:t>Phù</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ấn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lõm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bắt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đầu</a:t>
                      </a:r>
                      <a:r>
                        <a:rPr lang="en-US" sz="2000" dirty="0" smtClean="0">
                          <a:latin typeface="Arial" panose="020B0604020202020204" pitchFamily="34" charset="0"/>
                          <a:cs typeface="Arial" panose="020B0604020202020204" pitchFamily="34" charset="0"/>
                        </a:rPr>
                        <a:t> ở mu </a:t>
                      </a:r>
                      <a:r>
                        <a:rPr lang="en-US" sz="2000" dirty="0" err="1" smtClean="0">
                          <a:latin typeface="Arial" panose="020B0604020202020204" pitchFamily="34" charset="0"/>
                          <a:cs typeface="Arial" panose="020B0604020202020204" pitchFamily="34" charset="0"/>
                        </a:rPr>
                        <a:t>bàn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chân,hướng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dần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lên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trên</a:t>
                      </a:r>
                      <a:endParaRPr lang="en-US" sz="2000" dirty="0" smtClean="0">
                        <a:latin typeface="Arial" panose="020B0604020202020204" pitchFamily="34" charset="0"/>
                        <a:cs typeface="Arial" panose="020B0604020202020204" pitchFamily="34" charset="0"/>
                      </a:endParaRPr>
                    </a:p>
                    <a:p>
                      <a:pPr marL="0" marR="0" indent="0" algn="l" defTabSz="457200" rtl="0" eaLnBrk="1" fontAlgn="auto" latinLnBrk="0" hangingPunct="1">
                        <a:lnSpc>
                          <a:spcPct val="100000"/>
                        </a:lnSpc>
                        <a:spcBef>
                          <a:spcPts val="0"/>
                        </a:spcBef>
                        <a:spcAft>
                          <a:spcPts val="0"/>
                        </a:spcAft>
                        <a:buClrTx/>
                        <a:buSzTx/>
                        <a:buFontTx/>
                        <a:buChar char="-"/>
                        <a:tabLst/>
                        <a:defRPr/>
                      </a:pPr>
                      <a:r>
                        <a:rPr lang="en-US" sz="2000" dirty="0" smtClean="0">
                          <a:latin typeface="Arial" panose="020B0604020202020204" pitchFamily="34" charset="0"/>
                          <a:cs typeface="Arial" panose="020B0604020202020204" pitchFamily="34" charset="0"/>
                        </a:rPr>
                        <a:t>Da: </a:t>
                      </a:r>
                      <a:r>
                        <a:rPr lang="en-US" sz="2000" dirty="0" err="1" smtClean="0">
                          <a:latin typeface="Arial" panose="020B0604020202020204" pitchFamily="34" charset="0"/>
                          <a:cs typeface="Arial" panose="020B0604020202020204" pitchFamily="34" charset="0"/>
                        </a:rPr>
                        <a:t>tăng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sắc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tố</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dày</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sừng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trợt</a:t>
                      </a:r>
                      <a:r>
                        <a:rPr lang="en-US" sz="2000" baseline="0" dirty="0" smtClean="0">
                          <a:latin typeface="Arial" panose="020B0604020202020204" pitchFamily="34" charset="0"/>
                          <a:cs typeface="Arial" panose="020B0604020202020204" pitchFamily="34" charset="0"/>
                        </a:rPr>
                        <a:t> da</a:t>
                      </a:r>
                      <a:endParaRPr lang="en-US" sz="2000" dirty="0" smtClean="0">
                        <a:latin typeface="Arial" panose="020B0604020202020204" pitchFamily="34" charset="0"/>
                        <a:cs typeface="Arial" panose="020B0604020202020204" pitchFamily="34" charset="0"/>
                      </a:endParaRPr>
                    </a:p>
                    <a:p>
                      <a:pPr marL="0" marR="0" indent="0" algn="l" defTabSz="457200" rtl="0" eaLnBrk="1" fontAlgn="auto" latinLnBrk="0" hangingPunct="1">
                        <a:lnSpc>
                          <a:spcPct val="100000"/>
                        </a:lnSpc>
                        <a:spcBef>
                          <a:spcPts val="0"/>
                        </a:spcBef>
                        <a:spcAft>
                          <a:spcPts val="0"/>
                        </a:spcAft>
                        <a:buClrTx/>
                        <a:buSzTx/>
                        <a:buFontTx/>
                        <a:buChar char="-"/>
                        <a:tabLst/>
                        <a:defRPr/>
                      </a:pP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Tóc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thưa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dễ</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rụng,màu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nâu</a:t>
                      </a:r>
                      <a:r>
                        <a:rPr lang="en-US" sz="2000" dirty="0" smtClean="0">
                          <a:latin typeface="Arial" panose="020B0604020202020204" pitchFamily="34" charset="0"/>
                          <a:cs typeface="Arial" panose="020B0604020202020204" pitchFamily="34" charset="0"/>
                        </a:rPr>
                        <a:t> – </a:t>
                      </a:r>
                      <a:r>
                        <a:rPr lang="en-US" sz="2000" dirty="0" err="1" smtClean="0">
                          <a:latin typeface="Arial" panose="020B0604020202020204" pitchFamily="34" charset="0"/>
                          <a:cs typeface="Arial" panose="020B0604020202020204" pitchFamily="34" charset="0"/>
                        </a:rPr>
                        <a:t>đỏ</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hoặc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vàng</a:t>
                      </a:r>
                      <a:r>
                        <a:rPr lang="en-US" sz="2000" dirty="0" smtClean="0">
                          <a:latin typeface="Arial" panose="020B0604020202020204" pitchFamily="34" charset="0"/>
                          <a:cs typeface="Arial" panose="020B0604020202020204" pitchFamily="34" charset="0"/>
                        </a:rPr>
                        <a:t> – </a:t>
                      </a:r>
                      <a:r>
                        <a:rPr lang="en-US" sz="2000" dirty="0" err="1" smtClean="0">
                          <a:latin typeface="Arial" panose="020B0604020202020204" pitchFamily="34" charset="0"/>
                          <a:cs typeface="Arial" panose="020B0604020202020204" pitchFamily="34" charset="0"/>
                        </a:rPr>
                        <a:t>trắng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Miệng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khóe</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gai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lưỡi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nhiễm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nấm</a:t>
                      </a:r>
                      <a:r>
                        <a:rPr lang="en-US" sz="2000" dirty="0" smtClean="0">
                          <a:latin typeface="Arial" panose="020B0604020202020204" pitchFamily="34" charset="0"/>
                          <a:cs typeface="Arial" panose="020B0604020202020204" pitchFamily="34" charset="0"/>
                        </a:rPr>
                        <a:t> Candida.</a:t>
                      </a:r>
                      <a:endParaRPr lang="en-US" sz="2000" dirty="0">
                        <a:latin typeface="Arial" panose="020B0604020202020204" pitchFamily="34" charset="0"/>
                        <a:cs typeface="Arial" panose="020B0604020202020204" pitchFamily="34" charset="0"/>
                      </a:endParaRPr>
                    </a:p>
                  </a:txBody>
                  <a:tcPr/>
                </a:tc>
                <a:tc>
                  <a:txBody>
                    <a:bodyPr/>
                    <a:lstStyle/>
                    <a:p>
                      <a:pPr>
                        <a:buFontTx/>
                        <a:buChar char="-"/>
                      </a:pPr>
                      <a:r>
                        <a:rPr lang="en-US" sz="2000" dirty="0" err="1" smtClean="0">
                          <a:latin typeface="Arial" panose="020B0604020202020204" pitchFamily="34" charset="0"/>
                          <a:cs typeface="Arial" panose="020B0604020202020204" pitchFamily="34" charset="0"/>
                        </a:rPr>
                        <a:t>Mất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lớp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dưới</a:t>
                      </a:r>
                      <a:r>
                        <a:rPr lang="en-US" sz="2000" dirty="0" smtClean="0">
                          <a:latin typeface="Arial" panose="020B0604020202020204" pitchFamily="34" charset="0"/>
                          <a:cs typeface="Arial" panose="020B0604020202020204" pitchFamily="34" charset="0"/>
                        </a:rPr>
                        <a:t> da: da </a:t>
                      </a:r>
                      <a:r>
                        <a:rPr lang="en-US" sz="2000" dirty="0" err="1" smtClean="0">
                          <a:latin typeface="Arial" panose="020B0604020202020204" pitchFamily="34" charset="0"/>
                          <a:cs typeface="Arial" panose="020B0604020202020204" pitchFamily="34" charset="0"/>
                        </a:rPr>
                        <a:t>nhăn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a:t>
                      </a:r>
                      <a:r>
                        <a:rPr lang="en-US" sz="2000" dirty="0" smtClean="0">
                          <a:latin typeface="Arial" panose="020B0604020202020204" pitchFamily="34" charset="0"/>
                          <a:cs typeface="Arial" panose="020B0604020202020204" pitchFamily="34" charset="0"/>
                        </a:rPr>
                        <a: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mỏng</a:t>
                      </a:r>
                      <a:r>
                        <a:rPr lang="en-US" sz="2000" baseline="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nhão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gò</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lõm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nếp</a:t>
                      </a:r>
                      <a:r>
                        <a:rPr lang="en-US" sz="2000" baseline="0" dirty="0" smtClean="0">
                          <a:latin typeface="Arial" panose="020B0604020202020204" pitchFamily="34" charset="0"/>
                          <a:cs typeface="Arial" panose="020B0604020202020204" pitchFamily="34" charset="0"/>
                        </a:rPr>
                        <a:t> da </a:t>
                      </a:r>
                      <a:r>
                        <a:rPr lang="en-US" sz="2000" baseline="0" dirty="0" err="1" smtClean="0">
                          <a:latin typeface="Arial" panose="020B0604020202020204" pitchFamily="34" charset="0"/>
                          <a:cs typeface="Arial" panose="020B0604020202020204" pitchFamily="34" charset="0"/>
                        </a:rPr>
                        <a:t>thừa</a:t>
                      </a:r>
                      <a:r>
                        <a:rPr lang="en-US" sz="2000" baseline="0" dirty="0" smtClean="0">
                          <a:latin typeface="Arial" panose="020B0604020202020204" pitchFamily="34" charset="0"/>
                          <a:cs typeface="Arial" panose="020B0604020202020204" pitchFamily="34" charset="0"/>
                        </a:rPr>
                        <a:t> do </a:t>
                      </a:r>
                      <a:r>
                        <a:rPr lang="en-US" sz="2000" baseline="0" dirty="0" err="1" smtClean="0">
                          <a:latin typeface="Arial" panose="020B0604020202020204" pitchFamily="34" charset="0"/>
                          <a:cs typeface="Arial" panose="020B0604020202020204" pitchFamily="34" charset="0"/>
                        </a:rPr>
                        <a:t>mất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lớp</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dưới</a:t>
                      </a:r>
                      <a:r>
                        <a:rPr lang="en-US" sz="2000" baseline="0" dirty="0" smtClean="0">
                          <a:latin typeface="Arial" panose="020B0604020202020204" pitchFamily="34" charset="0"/>
                          <a:cs typeface="Arial" panose="020B0604020202020204" pitchFamily="34" charset="0"/>
                        </a:rPr>
                        <a:t> da</a:t>
                      </a:r>
                      <a:endParaRPr lang="en-US" sz="2000" dirty="0" smtClean="0">
                        <a:latin typeface="Arial" panose="020B0604020202020204" pitchFamily="34" charset="0"/>
                        <a:cs typeface="Arial" panose="020B0604020202020204" pitchFamily="34" charset="0"/>
                      </a:endParaRPr>
                    </a:p>
                    <a:p>
                      <a:pPr>
                        <a:buFontTx/>
                        <a:buChar char="-"/>
                      </a:pPr>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giảm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trương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lực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cơ</a:t>
                      </a:r>
                      <a:endParaRPr lang="en-US" sz="2000" dirty="0" smtClean="0">
                        <a:latin typeface="Arial" panose="020B0604020202020204" pitchFamily="34" charset="0"/>
                        <a:cs typeface="Arial" panose="020B0604020202020204" pitchFamily="34" charset="0"/>
                      </a:endParaRPr>
                    </a:p>
                    <a:p>
                      <a:pPr>
                        <a:buFontTx/>
                        <a:buChar char="-"/>
                      </a:pPr>
                      <a:r>
                        <a:rPr lang="en-US" sz="2000" dirty="0" smtClean="0">
                          <a:latin typeface="Arial" panose="020B0604020202020204" pitchFamily="34" charset="0"/>
                          <a:cs typeface="Arial" panose="020B0604020202020204" pitchFamily="34" charset="0"/>
                        </a:rPr>
                        <a:t> </a:t>
                      </a:r>
                      <a:r>
                        <a:rPr lang="vi-VN" sz="1800" b="0" i="0" kern="1200" dirty="0" smtClean="0">
                          <a:solidFill>
                            <a:schemeClr val="dk1"/>
                          </a:solidFill>
                          <a:effectLst/>
                          <a:latin typeface="+mn-lt"/>
                          <a:ea typeface="+mn-ea"/>
                          <a:cs typeface="+mn-cs"/>
                        </a:rPr>
                        <a:t>Tóc mỏng, thưa, dễ nhổ</a:t>
                      </a:r>
                      <a:endParaRPr lang="en-US" sz="2000" dirty="0" smtClean="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txBody>
                  <a:tcPr/>
                </a:tc>
              </a:tr>
              <a:tr h="457281">
                <a:tc>
                  <a:txBody>
                    <a:bodyPr/>
                    <a:lstStyle/>
                    <a:p>
                      <a:r>
                        <a:rPr lang="en-US" sz="2000" dirty="0" err="1" smtClean="0">
                          <a:latin typeface="Arial" panose="020B0604020202020204" pitchFamily="34" charset="0"/>
                          <a:cs typeface="Arial" panose="020B0604020202020204" pitchFamily="34" charset="0"/>
                        </a:rPr>
                        <a:t>Tiêu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hóa</a:t>
                      </a:r>
                      <a:endParaRPr lang="en-US" sz="2000" dirty="0">
                        <a:latin typeface="Arial" panose="020B0604020202020204" pitchFamily="34" charset="0"/>
                        <a:cs typeface="Arial" panose="020B0604020202020204" pitchFamily="34" charset="0"/>
                      </a:endParaRPr>
                    </a:p>
                  </a:txBody>
                  <a:tcPr/>
                </a:tc>
                <a:tc>
                  <a:txBody>
                    <a:bodyPr/>
                    <a:lstStyle/>
                    <a:p>
                      <a:pPr>
                        <a:buFontTx/>
                        <a:buNone/>
                      </a:pPr>
                      <a:r>
                        <a:rPr lang="en-US" sz="2000" dirty="0" smtClean="0">
                          <a:latin typeface="Arial" panose="020B0604020202020204" pitchFamily="34" charset="0"/>
                          <a:cs typeface="Arial" panose="020B0604020202020204" pitchFamily="34" charset="0"/>
                        </a:rPr>
                        <a:t>-</a:t>
                      </a:r>
                      <a:r>
                        <a:rPr lang="en-US" sz="2000" dirty="0" err="1" smtClean="0">
                          <a:latin typeface="Arial" panose="020B0604020202020204" pitchFamily="34" charset="0"/>
                          <a:cs typeface="Arial" panose="020B0604020202020204" pitchFamily="34" charset="0"/>
                        </a:rPr>
                        <a:t>Bụng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cổ</a:t>
                      </a:r>
                      <a:r>
                        <a:rPr lang="en-US" sz="2000" baseline="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chướng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gan</a:t>
                      </a:r>
                      <a:r>
                        <a:rPr lang="en-US" sz="2000" dirty="0" smtClean="0">
                          <a:latin typeface="Arial" panose="020B0604020202020204" pitchFamily="34" charset="0"/>
                          <a:cs typeface="Arial" panose="020B0604020202020204" pitchFamily="34" charset="0"/>
                        </a:rPr>
                        <a:t> to, </a:t>
                      </a:r>
                      <a:r>
                        <a:rPr lang="en-US" sz="2000" dirty="0" err="1" smtClean="0">
                          <a:latin typeface="Arial" panose="020B0604020202020204" pitchFamily="34" charset="0"/>
                          <a:cs typeface="Arial" panose="020B0604020202020204" pitchFamily="34" charset="0"/>
                        </a:rPr>
                        <a:t>bờ</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mềm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động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ruột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giảm</a:t>
                      </a:r>
                      <a:endParaRPr lang="en-US" sz="2000" dirty="0" smtClean="0">
                        <a:latin typeface="Arial" panose="020B0604020202020204" pitchFamily="34" charset="0"/>
                        <a:cs typeface="Arial" panose="020B0604020202020204" pitchFamily="34" charset="0"/>
                      </a:endParaRPr>
                    </a:p>
                  </a:txBody>
                  <a:tcPr/>
                </a:tc>
                <a:tc>
                  <a:txBody>
                    <a:bodyPr/>
                    <a:lstStyle/>
                    <a:p>
                      <a:pPr>
                        <a:buFontTx/>
                        <a:buChar char="-"/>
                      </a:pPr>
                      <a:r>
                        <a:rPr lang="en-US" sz="2000" dirty="0" err="1" smtClean="0">
                          <a:latin typeface="Arial" panose="020B0604020202020204" pitchFamily="34" charset="0"/>
                          <a:cs typeface="Arial" panose="020B0604020202020204" pitchFamily="34" charset="0"/>
                        </a:rPr>
                        <a:t>Thường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táo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bón,có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tiêu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chảy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phân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nhầy</a:t>
                      </a:r>
                      <a:endParaRPr lang="en-US" sz="2000" dirty="0" smtClean="0">
                        <a:latin typeface="Arial" panose="020B0604020202020204" pitchFamily="34" charset="0"/>
                        <a:cs typeface="Arial" panose="020B0604020202020204" pitchFamily="34" charset="0"/>
                      </a:endParaRPr>
                    </a:p>
                    <a:p>
                      <a:pPr>
                        <a:buFontTx/>
                        <a:buChar char="-"/>
                      </a:pP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gai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lưỡi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nấm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miệng</a:t>
                      </a:r>
                      <a:r>
                        <a:rPr lang="en-US" sz="2000" dirty="0" smtClean="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28424522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192" y="0"/>
            <a:ext cx="10647964" cy="644893"/>
          </a:xfrm>
        </p:spPr>
        <p:txBody>
          <a:bodyPr>
            <a:normAutofit fontScale="90000"/>
          </a:bodyPr>
          <a:lstStyle/>
          <a:p>
            <a:r>
              <a:rPr lang="en-US" dirty="0">
                <a:latin typeface="Arial" panose="020B0604020202020204" pitchFamily="34" charset="0"/>
                <a:cs typeface="Arial" panose="020B0604020202020204" pitchFamily="34" charset="0"/>
              </a:rPr>
              <a:t>TRIỆU CHỨNG LÂM SÀNG CỦA SUY DINH DƯỠNG</a:t>
            </a:r>
            <a:endParaRPr lang="en-US" dirty="0"/>
          </a:p>
        </p:txBody>
      </p:sp>
      <p:sp>
        <p:nvSpPr>
          <p:cNvPr id="3" name="Content Placeholder 2"/>
          <p:cNvSpPr>
            <a:spLocks noGrp="1"/>
          </p:cNvSpPr>
          <p:nvPr>
            <p:ph idx="1"/>
          </p:nvPr>
        </p:nvSpPr>
        <p:spPr>
          <a:xfrm>
            <a:off x="346509" y="644893"/>
            <a:ext cx="11665819" cy="5919535"/>
          </a:xfrm>
        </p:spPr>
        <p:txBody>
          <a:bodyPr/>
          <a:lstStyle/>
          <a:p>
            <a:pPr marL="0" indent="0">
              <a:buNone/>
            </a:pPr>
            <a:r>
              <a:rPr lang="en-US" dirty="0"/>
              <a:t> </a:t>
            </a:r>
            <a:r>
              <a:rPr lang="en-US" dirty="0" smtClean="0"/>
              <a:t>                </a:t>
            </a:r>
            <a:r>
              <a:rPr lang="en-US" sz="2400" dirty="0" smtClean="0">
                <a:solidFill>
                  <a:srgbClr val="0070C0"/>
                </a:solidFill>
                <a:latin typeface="Arial" panose="020B0604020202020204" pitchFamily="34" charset="0"/>
                <a:cs typeface="Arial" panose="020B0604020202020204" pitchFamily="34" charset="0"/>
              </a:rPr>
              <a:t>THỂ </a:t>
            </a:r>
            <a:r>
              <a:rPr lang="en-US" sz="2400" dirty="0">
                <a:solidFill>
                  <a:srgbClr val="0070C0"/>
                </a:solidFill>
                <a:latin typeface="Arial" panose="020B0604020202020204" pitchFamily="34" charset="0"/>
                <a:cs typeface="Arial" panose="020B0604020202020204" pitchFamily="34" charset="0"/>
              </a:rPr>
              <a:t>HỖN HỢP: </a:t>
            </a:r>
            <a:r>
              <a:rPr lang="en-US" sz="2400" dirty="0" err="1">
                <a:solidFill>
                  <a:srgbClr val="0070C0"/>
                </a:solidFill>
                <a:latin typeface="Arial" panose="020B0604020202020204" pitchFamily="34" charset="0"/>
                <a:cs typeface="Arial" panose="020B0604020202020204" pitchFamily="34" charset="0"/>
              </a:rPr>
              <a:t>Là</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thể</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phù</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đã</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được</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điều</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trị</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Mang</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đặc</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điểm</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của</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cả</a:t>
            </a:r>
            <a:r>
              <a:rPr lang="en-US" sz="2400" dirty="0">
                <a:solidFill>
                  <a:srgbClr val="0070C0"/>
                </a:solidFill>
                <a:latin typeface="Arial" panose="020B0604020202020204" pitchFamily="34" charset="0"/>
                <a:cs typeface="Arial" panose="020B0604020202020204" pitchFamily="34" charset="0"/>
              </a:rPr>
              <a:t> 2 </a:t>
            </a:r>
            <a:r>
              <a:rPr lang="en-US" sz="2400" dirty="0" err="1">
                <a:solidFill>
                  <a:srgbClr val="0070C0"/>
                </a:solidFill>
                <a:latin typeface="Arial" panose="020B0604020202020204" pitchFamily="34" charset="0"/>
                <a:cs typeface="Arial" panose="020B0604020202020204" pitchFamily="34" charset="0"/>
              </a:rPr>
              <a:t>thể</a:t>
            </a:r>
            <a:endParaRPr lang="en-US" sz="2400" dirty="0">
              <a:solidFill>
                <a:srgbClr val="0070C0"/>
              </a:solidFill>
              <a:latin typeface="Arial" panose="020B0604020202020204" pitchFamily="34" charset="0"/>
              <a:cs typeface="Arial" panose="020B0604020202020204" pitchFamily="34" charset="0"/>
            </a:endParaRPr>
          </a:p>
          <a:p>
            <a:endParaRPr lang="en-US" sz="2400" dirty="0">
              <a:solidFill>
                <a:srgbClr val="0070C0"/>
              </a:solidFill>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9757413"/>
              </p:ext>
            </p:extLst>
          </p:nvPr>
        </p:nvGraphicFramePr>
        <p:xfrm>
          <a:off x="346509" y="1289787"/>
          <a:ext cx="11742822" cy="5486402"/>
        </p:xfrm>
        <a:graphic>
          <a:graphicData uri="http://schemas.openxmlformats.org/drawingml/2006/table">
            <a:tbl>
              <a:tblPr firstRow="1" bandRow="1">
                <a:tableStyleId>{5C22544A-7EE6-4342-B048-85BDC9FD1C3A}</a:tableStyleId>
              </a:tblPr>
              <a:tblGrid>
                <a:gridCol w="1825701"/>
                <a:gridCol w="9917121"/>
              </a:tblGrid>
              <a:tr h="429658">
                <a:tc>
                  <a:txBody>
                    <a:bodyPr/>
                    <a:lstStyle/>
                    <a:p>
                      <a:r>
                        <a:rPr lang="en-US" sz="2000" dirty="0" err="1" smtClean="0">
                          <a:latin typeface="Arial" panose="020B0604020202020204" pitchFamily="34" charset="0"/>
                          <a:cs typeface="Arial" panose="020B0604020202020204" pitchFamily="34" charset="0"/>
                        </a:rPr>
                        <a:t>Cơ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quan</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Dấu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hiệu</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smtClean="0">
                          <a:latin typeface="Arial" panose="020B0604020202020204" pitchFamily="34" charset="0"/>
                          <a:cs typeface="Arial" panose="020B0604020202020204" pitchFamily="34" charset="0"/>
                        </a:rPr>
                        <a:t>Tri </a:t>
                      </a:r>
                      <a:r>
                        <a:rPr lang="en-US" sz="2000" dirty="0" err="1" smtClean="0">
                          <a:latin typeface="Arial" panose="020B0604020202020204" pitchFamily="34" charset="0"/>
                          <a:cs typeface="Arial" panose="020B0604020202020204" pitchFamily="34" charset="0"/>
                        </a:rPr>
                        <a:t>giác</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Ngủ</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gà</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bứt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rứt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smtClean="0">
                          <a:latin typeface="Arial" panose="020B0604020202020204" pitchFamily="34" charset="0"/>
                          <a:cs typeface="Arial" panose="020B0604020202020204" pitchFamily="34" charset="0"/>
                        </a:rPr>
                        <a:t>Tim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mạch</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Mạch</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chậm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hạ</a:t>
                      </a:r>
                      <a:r>
                        <a:rPr lang="en-US" sz="2000" baseline="0" dirty="0" smtClean="0">
                          <a:latin typeface="Arial" panose="020B0604020202020204" pitchFamily="34" charset="0"/>
                          <a:cs typeface="Arial" panose="020B0604020202020204" pitchFamily="34" charset="0"/>
                        </a:rPr>
                        <a:t> HA, </a:t>
                      </a:r>
                      <a:r>
                        <a:rPr lang="en-US" sz="2000" baseline="0" dirty="0" err="1" smtClean="0">
                          <a:latin typeface="Arial" panose="020B0604020202020204" pitchFamily="34" charset="0"/>
                          <a:cs typeface="Arial" panose="020B0604020202020204" pitchFamily="34" charset="0"/>
                        </a:rPr>
                        <a:t>giảm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cung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lượng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tim</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Thần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kinh</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Chậm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phát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triển</a:t>
                      </a:r>
                      <a:r>
                        <a:rPr lang="en-US" sz="2000" baseline="0" dirty="0" smtClean="0">
                          <a:latin typeface="Arial" panose="020B0604020202020204" pitchFamily="34" charset="0"/>
                          <a:cs typeface="Arial" panose="020B0604020202020204" pitchFamily="34" charset="0"/>
                        </a:rPr>
                        <a:t> TT – VĐ, </a:t>
                      </a:r>
                      <a:r>
                        <a:rPr lang="en-US" sz="2000" baseline="0" dirty="0" err="1" smtClean="0">
                          <a:latin typeface="Arial" panose="020B0604020202020204" pitchFamily="34" charset="0"/>
                          <a:cs typeface="Arial" panose="020B0604020202020204" pitchFamily="34" charset="0"/>
                        </a:rPr>
                        <a:t>giảm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trí</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nhớ</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giảm</a:t>
                      </a:r>
                      <a:r>
                        <a:rPr lang="en-US" sz="2000" baseline="0" dirty="0" smtClean="0">
                          <a:latin typeface="Arial" panose="020B0604020202020204" pitchFamily="34" charset="0"/>
                          <a:cs typeface="Arial" panose="020B0604020202020204" pitchFamily="34" charset="0"/>
                        </a:rPr>
                        <a:t> PX </a:t>
                      </a:r>
                      <a:r>
                        <a:rPr lang="en-US" sz="2000" baseline="0" dirty="0" err="1" smtClean="0">
                          <a:latin typeface="Arial" panose="020B0604020202020204" pitchFamily="34" charset="0"/>
                          <a:cs typeface="Arial" panose="020B0604020202020204" pitchFamily="34" charset="0"/>
                        </a:rPr>
                        <a:t>gân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xương</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Huyết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học</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Thiếu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máu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xuất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huyết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Bụng</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Chướng</a:t>
                      </a:r>
                      <a:r>
                        <a:rPr lang="en-US" sz="2000" dirty="0" smtClean="0">
                          <a:latin typeface="Arial" panose="020B0604020202020204" pitchFamily="34" charset="0"/>
                          <a:cs typeface="Arial" panose="020B0604020202020204" pitchFamily="34" charset="0"/>
                        </a:rPr>
                        <a: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gan</a:t>
                      </a:r>
                      <a:r>
                        <a:rPr lang="en-US" sz="2000" baseline="0" dirty="0" smtClean="0">
                          <a:latin typeface="Arial" panose="020B0604020202020204" pitchFamily="34" charset="0"/>
                          <a:cs typeface="Arial" panose="020B0604020202020204" pitchFamily="34" charset="0"/>
                        </a:rPr>
                        <a:t> to</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smtClean="0">
                          <a:latin typeface="Arial" panose="020B0604020202020204" pitchFamily="34" charset="0"/>
                          <a:cs typeface="Arial" panose="020B0604020202020204" pitchFamily="34" charset="0"/>
                        </a:rPr>
                        <a:t>Da</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Nhăn</a:t>
                      </a:r>
                      <a:r>
                        <a:rPr lang="en-US" sz="2000" dirty="0" smtClean="0">
                          <a:latin typeface="Arial" panose="020B0604020202020204" pitchFamily="34" charset="0"/>
                          <a:cs typeface="Arial" panose="020B0604020202020204" pitchFamily="34" charset="0"/>
                        </a:rPr>
                        <a: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nhão</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khô</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tăng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sừng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nang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lông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mảng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tăng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sắc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tố</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trợt</a:t>
                      </a:r>
                      <a:r>
                        <a:rPr lang="en-US" sz="2000" baseline="0" dirty="0" smtClean="0">
                          <a:latin typeface="Arial" panose="020B0604020202020204" pitchFamily="34" charset="0"/>
                          <a:cs typeface="Arial" panose="020B0604020202020204" pitchFamily="34" charset="0"/>
                        </a:rPr>
                        <a:t> da, VT </a:t>
                      </a:r>
                      <a:r>
                        <a:rPr lang="en-US" sz="2000" baseline="0" dirty="0" err="1" smtClean="0">
                          <a:latin typeface="Arial" panose="020B0604020202020204" pitchFamily="34" charset="0"/>
                          <a:cs typeface="Arial" panose="020B0604020202020204" pitchFamily="34" charset="0"/>
                        </a:rPr>
                        <a:t>lâu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lành</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760164">
                <a:tc>
                  <a:txBody>
                    <a:bodyPr/>
                    <a:lstStyle/>
                    <a:p>
                      <a:r>
                        <a:rPr lang="en-US" sz="2000" dirty="0" err="1" smtClean="0">
                          <a:latin typeface="Arial" panose="020B0604020202020204" pitchFamily="34" charset="0"/>
                          <a:cs typeface="Arial" panose="020B0604020202020204" pitchFamily="34" charset="0"/>
                        </a:rPr>
                        <a:t>Cơ</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Teo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đặc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biệt</a:t>
                      </a:r>
                      <a:r>
                        <a:rPr lang="en-US" sz="2000" baseline="0" dirty="0" smtClean="0">
                          <a:latin typeface="Arial" panose="020B0604020202020204" pitchFamily="34" charset="0"/>
                          <a:cs typeface="Arial" panose="020B0604020202020204" pitchFamily="34" charset="0"/>
                        </a:rPr>
                        <a:t> ở </a:t>
                      </a:r>
                      <a:r>
                        <a:rPr lang="en-US" sz="2000" baseline="0" dirty="0" err="1" smtClean="0">
                          <a:latin typeface="Arial" panose="020B0604020202020204" pitchFamily="34" charset="0"/>
                          <a:cs typeface="Arial" panose="020B0604020202020204" pitchFamily="34" charset="0"/>
                        </a:rPr>
                        <a:t>mông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và</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đùi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dấu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hiệu</a:t>
                      </a:r>
                      <a:r>
                        <a:rPr lang="en-US" sz="2000" baseline="0" dirty="0" smtClean="0">
                          <a:latin typeface="Arial" panose="020B0604020202020204" pitchFamily="34" charset="0"/>
                          <a:cs typeface="Arial" panose="020B0604020202020204" pitchFamily="34" charset="0"/>
                        </a:rPr>
                        <a:t> rung </a:t>
                      </a:r>
                      <a:r>
                        <a:rPr lang="en-US" sz="2000" baseline="0" dirty="0" err="1" smtClean="0">
                          <a:latin typeface="Arial" panose="020B0604020202020204" pitchFamily="34" charset="0"/>
                          <a:cs typeface="Arial" panose="020B0604020202020204" pitchFamily="34" charset="0"/>
                        </a:rPr>
                        <a:t>giât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Chvostek</a:t>
                      </a:r>
                      <a:r>
                        <a:rPr lang="en-US" sz="2000" baseline="0" dirty="0" smtClean="0">
                          <a:latin typeface="Arial" panose="020B0604020202020204" pitchFamily="34" charset="0"/>
                          <a:cs typeface="Arial" panose="020B0604020202020204" pitchFamily="34" charset="0"/>
                        </a:rPr>
                        <a:t> or </a:t>
                      </a:r>
                      <a:r>
                        <a:rPr lang="en-US" sz="2000" baseline="0" dirty="0" err="1" smtClean="0">
                          <a:latin typeface="Arial" panose="020B0604020202020204" pitchFamily="34" charset="0"/>
                          <a:cs typeface="Arial" panose="020B0604020202020204" pitchFamily="34" charset="0"/>
                        </a:rPr>
                        <a:t>Traousseau</a:t>
                      </a:r>
                      <a:r>
                        <a:rPr lang="en-US" sz="2000" baseline="0" dirty="0" smtClean="0">
                          <a:latin typeface="Arial" panose="020B0604020202020204" pitchFamily="34" charset="0"/>
                          <a:cs typeface="Arial" panose="020B0604020202020204" pitchFamily="34" charset="0"/>
                        </a:rPr>
                        <a:t> do </a:t>
                      </a:r>
                      <a:r>
                        <a:rPr lang="en-US" sz="2000" baseline="0" dirty="0" err="1" smtClean="0">
                          <a:latin typeface="Arial" panose="020B0604020202020204" pitchFamily="34" charset="0"/>
                          <a:cs typeface="Arial" panose="020B0604020202020204" pitchFamily="34" charset="0"/>
                        </a:rPr>
                        <a:t>hạ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Calci</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Xương</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Biến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dạng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xương</a:t>
                      </a:r>
                      <a:r>
                        <a:rPr lang="en-US" sz="2000" baseline="0" dirty="0" smtClean="0">
                          <a:latin typeface="Arial" panose="020B0604020202020204" pitchFamily="34" charset="0"/>
                          <a:cs typeface="Arial" panose="020B0604020202020204" pitchFamily="34" charset="0"/>
                        </a:rPr>
                        <a:t> do </a:t>
                      </a:r>
                      <a:r>
                        <a:rPr lang="en-US" sz="2000" baseline="0" dirty="0" err="1" smtClean="0">
                          <a:latin typeface="Arial" panose="020B0604020202020204" pitchFamily="34" charset="0"/>
                          <a:cs typeface="Arial" panose="020B0604020202020204" pitchFamily="34" charset="0"/>
                        </a:rPr>
                        <a:t>thiếu</a:t>
                      </a:r>
                      <a:r>
                        <a:rPr lang="en-US" sz="2000" baseline="0" dirty="0" smtClean="0">
                          <a:latin typeface="Arial" panose="020B0604020202020204" pitchFamily="34" charset="0"/>
                          <a:cs typeface="Arial" panose="020B0604020202020204" pitchFamily="34" charset="0"/>
                        </a:rPr>
                        <a:t> Vitamin D</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Móng</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Lõm</a:t>
                      </a:r>
                      <a:r>
                        <a:rPr lang="en-US" sz="2000" dirty="0" smtClean="0">
                          <a:latin typeface="Arial" panose="020B0604020202020204" pitchFamily="34" charset="0"/>
                          <a:cs typeface="Arial" panose="020B0604020202020204" pitchFamily="34" charset="0"/>
                        </a:rPr>
                        <a: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mỏng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có</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nứt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hoặc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gờ</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Răng</a:t>
                      </a:r>
                      <a:r>
                        <a:rPr lang="en-US" sz="2000" baseline="0" dirty="0" smtClean="0">
                          <a:latin typeface="Arial" panose="020B0604020202020204" pitchFamily="34" charset="0"/>
                          <a:cs typeface="Arial" panose="020B0604020202020204" pitchFamily="34" charset="0"/>
                        </a:rPr>
                        <a:t> – </a:t>
                      </a:r>
                      <a:r>
                        <a:rPr lang="en-US" sz="2000" baseline="0" dirty="0" err="1" smtClean="0">
                          <a:latin typeface="Arial" panose="020B0604020202020204" pitchFamily="34" charset="0"/>
                          <a:cs typeface="Arial" panose="020B0604020202020204" pitchFamily="34" charset="0"/>
                        </a:rPr>
                        <a:t>Miệng</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Viêm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niêm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miệng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nấm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miêng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chảy</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máu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nướu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chậm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mọc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răng</a:t>
                      </a:r>
                      <a:r>
                        <a:rPr lang="en-US" sz="2000" baseline="0" dirty="0" smtClean="0">
                          <a:latin typeface="Arial" panose="020B0604020202020204" pitchFamily="34" charset="0"/>
                          <a:cs typeface="Arial" panose="020B0604020202020204" pitchFamily="34" charset="0"/>
                        </a:rPr>
                        <a:t>, men </a:t>
                      </a:r>
                      <a:r>
                        <a:rPr lang="en-US" sz="2000" baseline="0" dirty="0" err="1" smtClean="0">
                          <a:latin typeface="Arial" panose="020B0604020202020204" pitchFamily="34" charset="0"/>
                          <a:cs typeface="Arial" panose="020B0604020202020204" pitchFamily="34" charset="0"/>
                        </a:rPr>
                        <a:t>răng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rỗ</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429658">
                <a:tc>
                  <a:txBody>
                    <a:bodyPr/>
                    <a:lstStyle/>
                    <a:p>
                      <a:r>
                        <a:rPr lang="en-US" sz="2000" dirty="0" err="1" smtClean="0">
                          <a:latin typeface="Arial" panose="020B0604020202020204" pitchFamily="34" charset="0"/>
                          <a:cs typeface="Arial" panose="020B0604020202020204" pitchFamily="34" charset="0"/>
                        </a:rPr>
                        <a:t>Mắt</a:t>
                      </a:r>
                      <a:endParaRPr lang="en-US"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err="1" smtClean="0">
                          <a:latin typeface="Arial" panose="020B0604020202020204" pitchFamily="34" charset="0"/>
                          <a:cs typeface="Arial" panose="020B0604020202020204" pitchFamily="34" charset="0"/>
                        </a:rPr>
                        <a:t>Mắt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khô</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củng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nhợt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chấm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Bilot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thiếu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Vit</a:t>
                      </a:r>
                      <a:r>
                        <a:rPr lang="en-US" sz="2000" baseline="0" dirty="0" smtClean="0">
                          <a:latin typeface="Arial" panose="020B0604020202020204" pitchFamily="34" charset="0"/>
                          <a:cs typeface="Arial" panose="020B0604020202020204" pitchFamily="34" charset="0"/>
                        </a:rPr>
                        <a:t> A), </a:t>
                      </a:r>
                      <a:r>
                        <a:rPr lang="en-US" sz="2000" baseline="0" dirty="0" err="1" smtClean="0">
                          <a:latin typeface="Arial" panose="020B0604020202020204" pitchFamily="34" charset="0"/>
                          <a:cs typeface="Arial" panose="020B0604020202020204" pitchFamily="34" charset="0"/>
                        </a:rPr>
                        <a:t>phù</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quang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hốc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mắt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15556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3298" y="200598"/>
            <a:ext cx="10222030" cy="579048"/>
          </a:xfrm>
        </p:spPr>
        <p:txBody>
          <a:bodyPr>
            <a:normAutofit fontScale="90000"/>
          </a:bodyPr>
          <a:lstStyle/>
          <a:p>
            <a:r>
              <a:rPr lang="en-US" dirty="0"/>
              <a:t>2. CẬN LÂM SÀNG:</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596766" y="779646"/>
            <a:ext cx="11595234" cy="5890661"/>
          </a:xfrm>
          <a:prstGeom prst="rect">
            <a:avLst/>
          </a:prstGeom>
        </p:spPr>
      </p:pic>
    </p:spTree>
    <p:extLst>
      <p:ext uri="{BB962C8B-B14F-4D97-AF65-F5344CB8AC3E}">
        <p14:creationId xmlns:p14="http://schemas.microsoft.com/office/powerpoint/2010/main" val="18933397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0113" y="27124"/>
            <a:ext cx="9935694" cy="587141"/>
          </a:xfrm>
        </p:spPr>
        <p:txBody>
          <a:bodyPr>
            <a:normAutofit/>
          </a:bodyPr>
          <a:lstStyle/>
          <a:p>
            <a:r>
              <a:rPr lang="en-US" sz="3200" b="1" dirty="0">
                <a:latin typeface="Arial" panose="020B0604020202020204" pitchFamily="34" charset="0"/>
                <a:cs typeface="Arial" panose="020B0604020202020204" pitchFamily="34" charset="0"/>
              </a:rPr>
              <a:t>ĐIỀU TRỊ SUY DINH DƯỠNG</a:t>
            </a:r>
          </a:p>
        </p:txBody>
      </p:sp>
      <p:sp>
        <p:nvSpPr>
          <p:cNvPr id="3" name="Content Placeholder 2"/>
          <p:cNvSpPr>
            <a:spLocks noGrp="1"/>
          </p:cNvSpPr>
          <p:nvPr>
            <p:ph idx="1"/>
          </p:nvPr>
        </p:nvSpPr>
        <p:spPr>
          <a:xfrm>
            <a:off x="288758" y="683392"/>
            <a:ext cx="11742821" cy="6035041"/>
          </a:xfrm>
        </p:spPr>
        <p:style>
          <a:lnRef idx="2">
            <a:schemeClr val="accent6"/>
          </a:lnRef>
          <a:fillRef idx="1">
            <a:schemeClr val="lt1"/>
          </a:fillRef>
          <a:effectRef idx="0">
            <a:schemeClr val="accent6"/>
          </a:effectRef>
          <a:fontRef idx="minor">
            <a:schemeClr val="dk1"/>
          </a:fontRef>
        </p:style>
        <p:txBody>
          <a:bodyPr/>
          <a:lstStyle/>
          <a:p>
            <a:r>
              <a:rPr lang="en-US" sz="2400" dirty="0" smtClean="0">
                <a:solidFill>
                  <a:srgbClr val="00B0F0"/>
                </a:solidFill>
              </a:rPr>
              <a:t>                    </a:t>
            </a:r>
            <a:r>
              <a:rPr lang="en-US" sz="2400" b="1" dirty="0" err="1" smtClean="0">
                <a:solidFill>
                  <a:srgbClr val="00B0F0"/>
                </a:solidFill>
              </a:rPr>
              <a:t>Sơ</a:t>
            </a:r>
            <a:r>
              <a:rPr lang="en-US" sz="2400" b="1" dirty="0" smtClean="0">
                <a:solidFill>
                  <a:srgbClr val="00B0F0"/>
                </a:solidFill>
              </a:rPr>
              <a:t> </a:t>
            </a:r>
            <a:r>
              <a:rPr lang="en-US" sz="2400" b="1" dirty="0" err="1">
                <a:solidFill>
                  <a:srgbClr val="00B0F0"/>
                </a:solidFill>
              </a:rPr>
              <a:t>đồ</a:t>
            </a:r>
            <a:r>
              <a:rPr lang="en-US" sz="2400" b="1" dirty="0">
                <a:solidFill>
                  <a:srgbClr val="00B0F0"/>
                </a:solidFill>
              </a:rPr>
              <a:t> </a:t>
            </a:r>
            <a:r>
              <a:rPr lang="en-US" sz="2400" b="1" dirty="0" err="1">
                <a:solidFill>
                  <a:srgbClr val="00B0F0"/>
                </a:solidFill>
              </a:rPr>
              <a:t>đánh</a:t>
            </a:r>
            <a:r>
              <a:rPr lang="en-US" sz="2400" b="1" dirty="0">
                <a:solidFill>
                  <a:srgbClr val="00B0F0"/>
                </a:solidFill>
              </a:rPr>
              <a:t> </a:t>
            </a:r>
            <a:r>
              <a:rPr lang="en-US" sz="2400" b="1" dirty="0" err="1">
                <a:solidFill>
                  <a:srgbClr val="00B0F0"/>
                </a:solidFill>
              </a:rPr>
              <a:t>giá</a:t>
            </a:r>
            <a:r>
              <a:rPr lang="en-US" sz="2400" b="1" dirty="0">
                <a:solidFill>
                  <a:srgbClr val="00B0F0"/>
                </a:solidFill>
              </a:rPr>
              <a:t> </a:t>
            </a:r>
            <a:r>
              <a:rPr lang="en-US" sz="2400" b="1" dirty="0" err="1">
                <a:solidFill>
                  <a:srgbClr val="00B0F0"/>
                </a:solidFill>
              </a:rPr>
              <a:t>và</a:t>
            </a:r>
            <a:r>
              <a:rPr lang="en-US" sz="2400" b="1" dirty="0">
                <a:solidFill>
                  <a:srgbClr val="00B0F0"/>
                </a:solidFill>
              </a:rPr>
              <a:t> </a:t>
            </a:r>
            <a:r>
              <a:rPr lang="en-US" sz="2400" b="1" dirty="0" err="1">
                <a:solidFill>
                  <a:srgbClr val="00B0F0"/>
                </a:solidFill>
              </a:rPr>
              <a:t>xử</a:t>
            </a:r>
            <a:r>
              <a:rPr lang="en-US" sz="2400" b="1" dirty="0">
                <a:solidFill>
                  <a:srgbClr val="00B0F0"/>
                </a:solidFill>
              </a:rPr>
              <a:t> </a:t>
            </a:r>
            <a:r>
              <a:rPr lang="en-US" sz="2400" b="1" dirty="0" err="1">
                <a:solidFill>
                  <a:srgbClr val="00B0F0"/>
                </a:solidFill>
              </a:rPr>
              <a:t>trí</a:t>
            </a:r>
            <a:r>
              <a:rPr lang="en-US" sz="2400" b="1" dirty="0">
                <a:solidFill>
                  <a:srgbClr val="00B0F0"/>
                </a:solidFill>
              </a:rPr>
              <a:t> SDD </a:t>
            </a:r>
            <a:r>
              <a:rPr lang="en-US" sz="2400" b="1" dirty="0" err="1">
                <a:solidFill>
                  <a:srgbClr val="00B0F0"/>
                </a:solidFill>
              </a:rPr>
              <a:t>theo</a:t>
            </a:r>
            <a:r>
              <a:rPr lang="en-US" sz="2400" b="1" dirty="0">
                <a:solidFill>
                  <a:srgbClr val="00B0F0"/>
                </a:solidFill>
              </a:rPr>
              <a:t> WHO 1999</a:t>
            </a:r>
          </a:p>
          <a:p>
            <a:endParaRPr lang="en-US" dirty="0"/>
          </a:p>
        </p:txBody>
      </p:sp>
      <p:sp>
        <p:nvSpPr>
          <p:cNvPr id="4" name="Rectangle 3"/>
          <p:cNvSpPr/>
          <p:nvPr/>
        </p:nvSpPr>
        <p:spPr>
          <a:xfrm>
            <a:off x="3445844" y="1376413"/>
            <a:ext cx="4726004" cy="6063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latin typeface="Arial" panose="020B0604020202020204" pitchFamily="34" charset="0"/>
                <a:cs typeface="Arial" panose="020B0604020202020204" pitchFamily="34" charset="0"/>
              </a:rPr>
              <a:t>Đánh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giá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tình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trạng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dinh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dưỡng</a:t>
            </a:r>
            <a:endParaRPr lang="en-US" sz="2400" dirty="0">
              <a:latin typeface="Arial" panose="020B0604020202020204" pitchFamily="34" charset="0"/>
              <a:cs typeface="Arial" panose="020B0604020202020204" pitchFamily="34" charset="0"/>
            </a:endParaRPr>
          </a:p>
        </p:txBody>
      </p:sp>
      <p:sp>
        <p:nvSpPr>
          <p:cNvPr id="5" name="Rectangle 4"/>
          <p:cNvSpPr/>
          <p:nvPr/>
        </p:nvSpPr>
        <p:spPr>
          <a:xfrm>
            <a:off x="1062397" y="2464067"/>
            <a:ext cx="122240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SDD</a:t>
            </a:r>
            <a:endParaRPr lang="en-US" sz="2000" dirty="0">
              <a:latin typeface="Arial" panose="020B0604020202020204" pitchFamily="34" charset="0"/>
              <a:cs typeface="Arial" panose="020B0604020202020204" pitchFamily="34" charset="0"/>
            </a:endParaRPr>
          </a:p>
        </p:txBody>
      </p:sp>
      <p:sp>
        <p:nvSpPr>
          <p:cNvPr id="6" name="Rectangle 5"/>
          <p:cNvSpPr/>
          <p:nvPr/>
        </p:nvSpPr>
        <p:spPr>
          <a:xfrm>
            <a:off x="3592646" y="2579570"/>
            <a:ext cx="123203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Arial" panose="020B0604020202020204" pitchFamily="34" charset="0"/>
                <a:cs typeface="Arial" panose="020B0604020202020204" pitchFamily="34" charset="0"/>
              </a:rPr>
              <a:t>SDD </a:t>
            </a:r>
            <a:r>
              <a:rPr lang="en-US" sz="2000" dirty="0" err="1" smtClean="0">
                <a:latin typeface="Arial" panose="020B0604020202020204" pitchFamily="34" charset="0"/>
                <a:cs typeface="Arial" panose="020B0604020202020204" pitchFamily="34" charset="0"/>
              </a:rPr>
              <a:t>cấp</a:t>
            </a:r>
            <a:endParaRPr lang="en-US" sz="2000" dirty="0">
              <a:latin typeface="Arial" panose="020B0604020202020204" pitchFamily="34" charset="0"/>
              <a:cs typeface="Arial" panose="020B0604020202020204" pitchFamily="34" charset="0"/>
            </a:endParaRPr>
          </a:p>
        </p:txBody>
      </p:sp>
      <p:sp>
        <p:nvSpPr>
          <p:cNvPr id="7" name="Rectangle 6"/>
          <p:cNvSpPr/>
          <p:nvPr/>
        </p:nvSpPr>
        <p:spPr>
          <a:xfrm>
            <a:off x="5968876" y="2589196"/>
            <a:ext cx="233893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Arial" panose="020B0604020202020204" pitchFamily="34" charset="0"/>
                <a:cs typeface="Arial" panose="020B0604020202020204" pitchFamily="34" charset="0"/>
              </a:rPr>
              <a:t>SDD </a:t>
            </a:r>
            <a:r>
              <a:rPr lang="en-US" sz="2000" dirty="0" err="1" smtClean="0">
                <a:latin typeface="Arial" panose="020B0604020202020204" pitchFamily="34" charset="0"/>
                <a:cs typeface="Arial" panose="020B0604020202020204" pitchFamily="34" charset="0"/>
              </a:rPr>
              <a:t>cấp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nặng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biến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chứng</a:t>
            </a:r>
            <a:endParaRPr lang="en-US" sz="2000" dirty="0">
              <a:latin typeface="Arial" panose="020B0604020202020204" pitchFamily="34" charset="0"/>
              <a:cs typeface="Arial" panose="020B0604020202020204" pitchFamily="34" charset="0"/>
            </a:endParaRPr>
          </a:p>
        </p:txBody>
      </p:sp>
      <p:sp>
        <p:nvSpPr>
          <p:cNvPr id="8" name="Rectangle 7"/>
          <p:cNvSpPr/>
          <p:nvPr/>
        </p:nvSpPr>
        <p:spPr>
          <a:xfrm>
            <a:off x="9362957" y="2502569"/>
            <a:ext cx="2553118" cy="952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Arial" panose="020B0604020202020204" pitchFamily="34" charset="0"/>
                <a:cs typeface="Arial" panose="020B0604020202020204" pitchFamily="34" charset="0"/>
              </a:rPr>
              <a:t>SDD </a:t>
            </a:r>
            <a:r>
              <a:rPr lang="en-US" sz="2000" dirty="0" err="1" smtClean="0">
                <a:latin typeface="Arial" panose="020B0604020202020204" pitchFamily="34" charset="0"/>
                <a:cs typeface="Arial" panose="020B0604020202020204" pitchFamily="34" charset="0"/>
              </a:rPr>
              <a:t>cấp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nặng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biến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chứng</a:t>
            </a:r>
            <a:endParaRPr lang="en-US" sz="2000" dirty="0">
              <a:latin typeface="Arial" panose="020B0604020202020204" pitchFamily="34" charset="0"/>
              <a:cs typeface="Arial" panose="020B0604020202020204" pitchFamily="34" charset="0"/>
            </a:endParaRPr>
          </a:p>
        </p:txBody>
      </p:sp>
      <p:sp>
        <p:nvSpPr>
          <p:cNvPr id="9" name="Rounded Rectangle 8"/>
          <p:cNvSpPr/>
          <p:nvPr/>
        </p:nvSpPr>
        <p:spPr>
          <a:xfrm>
            <a:off x="384464" y="4206240"/>
            <a:ext cx="2593359" cy="2406316"/>
          </a:xfrm>
          <a:prstGeom prst="round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dirty="0" err="1">
                <a:latin typeface="Arial" panose="020B0604020202020204" pitchFamily="34" charset="0"/>
                <a:cs typeface="Arial" panose="020B0604020202020204" pitchFamily="34" charset="0"/>
              </a:rPr>
              <a:t>Phòng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ngừa</a:t>
            </a:r>
            <a:r>
              <a:rPr lang="en-US" sz="2000" dirty="0">
                <a:latin typeface="Arial" panose="020B0604020202020204" pitchFamily="34" charset="0"/>
                <a:cs typeface="Arial" panose="020B0604020202020204" pitchFamily="34" charset="0"/>
              </a:rPr>
              <a:t> SDD</a:t>
            </a:r>
          </a:p>
          <a:p>
            <a:pPr marL="285750" indent="-285750">
              <a:buFontTx/>
              <a:buChar char="-"/>
            </a:pPr>
            <a:r>
              <a:rPr lang="en-US" sz="2000" dirty="0" err="1">
                <a:latin typeface="Arial" panose="020B0604020202020204" pitchFamily="34" charset="0"/>
                <a:cs typeface="Arial" panose="020B0604020202020204" pitchFamily="34" charset="0"/>
              </a:rPr>
              <a:t>Giáo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dục</a:t>
            </a:r>
            <a:r>
              <a:rPr lang="en-US" sz="2000" dirty="0">
                <a:latin typeface="Arial" panose="020B0604020202020204" pitchFamily="34" charset="0"/>
                <a:cs typeface="Arial" panose="020B0604020202020204" pitchFamily="34" charset="0"/>
              </a:rPr>
              <a:t> DD</a:t>
            </a:r>
          </a:p>
          <a:p>
            <a:pPr marL="285750" indent="-285750">
              <a:buFontTx/>
              <a:buChar char="-"/>
            </a:pPr>
            <a:r>
              <a:rPr lang="en-US" sz="2000" dirty="0" err="1">
                <a:latin typeface="Arial" panose="020B0604020202020204" pitchFamily="34" charset="0"/>
                <a:cs typeface="Arial" panose="020B0604020202020204" pitchFamily="34" charset="0"/>
              </a:rPr>
              <a:t>Tiêm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chủng</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a:latin typeface="Arial" panose="020B0604020202020204" pitchFamily="34" charset="0"/>
                <a:cs typeface="Arial" panose="020B0604020202020204" pitchFamily="34" charset="0"/>
              </a:rPr>
              <a:t>Vitamin A</a:t>
            </a:r>
          </a:p>
          <a:p>
            <a:pPr marL="285750" indent="-285750">
              <a:buFontTx/>
              <a:buChar char="-"/>
            </a:pPr>
            <a:r>
              <a:rPr lang="en-US" sz="2000" dirty="0" err="1">
                <a:latin typeface="Arial" panose="020B0604020202020204" pitchFamily="34" charset="0"/>
                <a:cs typeface="Arial" panose="020B0604020202020204" pitchFamily="34" charset="0"/>
              </a:rPr>
              <a:t>Xổ</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giun</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err="1">
                <a:latin typeface="Arial" panose="020B0604020202020204" pitchFamily="34" charset="0"/>
                <a:cs typeface="Arial" panose="020B0604020202020204" pitchFamily="34" charset="0"/>
              </a:rPr>
              <a:t>Khám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lại</a:t>
            </a:r>
            <a:endParaRPr lang="en-US" sz="2000" dirty="0">
              <a:latin typeface="Arial" panose="020B0604020202020204" pitchFamily="34" charset="0"/>
              <a:cs typeface="Arial" panose="020B0604020202020204" pitchFamily="34" charset="0"/>
            </a:endParaRPr>
          </a:p>
          <a:p>
            <a:pPr algn="ctr"/>
            <a:endParaRPr lang="en-US" dirty="0"/>
          </a:p>
        </p:txBody>
      </p:sp>
      <p:sp>
        <p:nvSpPr>
          <p:cNvPr id="10" name="Rounded Rectangle 9"/>
          <p:cNvSpPr/>
          <p:nvPr/>
        </p:nvSpPr>
        <p:spPr>
          <a:xfrm>
            <a:off x="3062635" y="4215866"/>
            <a:ext cx="2510392" cy="2406316"/>
          </a:xfrm>
          <a:prstGeom prst="roundRect">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dirty="0" err="1">
                <a:latin typeface="Arial" panose="020B0604020202020204" pitchFamily="34" charset="0"/>
                <a:cs typeface="Arial" panose="020B0604020202020204" pitchFamily="34" charset="0"/>
              </a:rPr>
              <a:t>Nuôi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bổ</a:t>
            </a:r>
            <a:r>
              <a:rPr lang="en-US" sz="2000" dirty="0">
                <a:latin typeface="Arial" panose="020B0604020202020204" pitchFamily="34" charset="0"/>
                <a:cs typeface="Arial" panose="020B0604020202020204" pitchFamily="34" charset="0"/>
              </a:rPr>
              <a:t> sung:</a:t>
            </a:r>
          </a:p>
          <a:p>
            <a:pPr marL="285750" indent="-285750" algn="just">
              <a:buFontTx/>
              <a:buChar char="-"/>
            </a:pP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bổ</a:t>
            </a:r>
            <a:r>
              <a:rPr lang="en-US" sz="2000" dirty="0">
                <a:latin typeface="Arial" panose="020B0604020202020204" pitchFamily="34" charset="0"/>
                <a:cs typeface="Arial" panose="020B0604020202020204" pitchFamily="34" charset="0"/>
              </a:rPr>
              <a:t> sung</a:t>
            </a:r>
          </a:p>
          <a:p>
            <a:pPr marL="285750" indent="-285750" algn="just">
              <a:buFontTx/>
              <a:buChar char="-"/>
            </a:pPr>
            <a:r>
              <a:rPr lang="en-US" sz="2000" dirty="0">
                <a:latin typeface="Arial" panose="020B0604020202020204" pitchFamily="34" charset="0"/>
                <a:cs typeface="Arial" panose="020B0604020202020204" pitchFamily="34" charset="0"/>
              </a:rPr>
              <a:t>Vitamin A</a:t>
            </a:r>
          </a:p>
          <a:p>
            <a:pPr marL="285750" indent="-285750" algn="just">
              <a:buFontTx/>
              <a:buChar char="-"/>
            </a:pPr>
            <a:r>
              <a:rPr lang="en-US" sz="2000" dirty="0" err="1">
                <a:latin typeface="Arial" panose="020B0604020202020204" pitchFamily="34" charset="0"/>
                <a:cs typeface="Arial" panose="020B0604020202020204" pitchFamily="34" charset="0"/>
              </a:rPr>
              <a:t>Sắt</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chất</a:t>
            </a:r>
            <a:endParaRPr lang="en-US" sz="2000" dirty="0">
              <a:latin typeface="Arial" panose="020B0604020202020204" pitchFamily="34" charset="0"/>
              <a:cs typeface="Arial" panose="020B0604020202020204" pitchFamily="34" charset="0"/>
            </a:endParaRPr>
          </a:p>
          <a:p>
            <a:pPr marL="285750" indent="-285750" algn="just">
              <a:buFontTx/>
              <a:buChar char="-"/>
            </a:pPr>
            <a:r>
              <a:rPr lang="en-US" sz="2000" dirty="0" err="1">
                <a:latin typeface="Arial" panose="020B0604020202020204" pitchFamily="34" charset="0"/>
                <a:cs typeface="Arial" panose="020B0604020202020204" pitchFamily="34" charset="0"/>
              </a:rPr>
              <a:t>Giáo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dục</a:t>
            </a:r>
            <a:r>
              <a:rPr lang="en-US" sz="2000" dirty="0">
                <a:latin typeface="Arial" panose="020B0604020202020204" pitchFamily="34" charset="0"/>
                <a:cs typeface="Arial" panose="020B0604020202020204" pitchFamily="34" charset="0"/>
              </a:rPr>
              <a:t> DD</a:t>
            </a:r>
          </a:p>
        </p:txBody>
      </p:sp>
      <p:sp>
        <p:nvSpPr>
          <p:cNvPr id="11" name="Rounded Rectangle 10"/>
          <p:cNvSpPr/>
          <p:nvPr/>
        </p:nvSpPr>
        <p:spPr>
          <a:xfrm>
            <a:off x="6169795" y="4215866"/>
            <a:ext cx="2348564" cy="2396690"/>
          </a:xfrm>
          <a:prstGeom prst="round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ngoại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trú</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a:latin typeface="Arial" panose="020B0604020202020204" pitchFamily="34" charset="0"/>
                <a:cs typeface="Arial" panose="020B0604020202020204" pitchFamily="34" charset="0"/>
              </a:rPr>
              <a:t>RUTF</a:t>
            </a:r>
          </a:p>
          <a:p>
            <a:pPr marL="285750" indent="-285750">
              <a:buFontTx/>
              <a:buChar char="-"/>
            </a:pPr>
            <a:r>
              <a:rPr lang="en-US" sz="2000" dirty="0" err="1">
                <a:latin typeface="Arial" panose="020B0604020202020204" pitchFamily="34" charset="0"/>
                <a:cs typeface="Arial" panose="020B0604020202020204" pitchFamily="34" charset="0"/>
              </a:rPr>
              <a:t>Kháng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sinh</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err="1">
                <a:latin typeface="Arial" panose="020B0604020202020204" pitchFamily="34" charset="0"/>
                <a:cs typeface="Arial" panose="020B0604020202020204" pitchFamily="34" charset="0"/>
              </a:rPr>
              <a:t>Sốt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rét</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err="1">
                <a:latin typeface="Arial" panose="020B0604020202020204" pitchFamily="34" charset="0"/>
                <a:cs typeface="Arial" panose="020B0604020202020204" pitchFamily="34" charset="0"/>
              </a:rPr>
              <a:t>Xổ</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giun</a:t>
            </a:r>
            <a:endParaRPr lang="en-US" sz="2000" dirty="0">
              <a:latin typeface="Arial" panose="020B0604020202020204" pitchFamily="34" charset="0"/>
              <a:cs typeface="Arial" panose="020B0604020202020204" pitchFamily="34" charset="0"/>
            </a:endParaRPr>
          </a:p>
          <a:p>
            <a:pPr marL="285750" indent="-285750">
              <a:buFontTx/>
              <a:buChar char="-"/>
            </a:pPr>
            <a:r>
              <a:rPr lang="en-US" sz="2000" dirty="0">
                <a:latin typeface="Arial" panose="020B0604020202020204" pitchFamily="34" charset="0"/>
                <a:cs typeface="Arial" panose="020B0604020202020204" pitchFamily="34" charset="0"/>
              </a:rPr>
              <a:t>Vitamin A</a:t>
            </a:r>
          </a:p>
          <a:p>
            <a:pPr marL="285750" indent="-285750">
              <a:buFontTx/>
              <a:buChar char="-"/>
            </a:pPr>
            <a:r>
              <a:rPr lang="en-US" sz="2000" dirty="0" err="1">
                <a:latin typeface="Arial" panose="020B0604020202020204" pitchFamily="34" charset="0"/>
                <a:cs typeface="Arial" panose="020B0604020202020204" pitchFamily="34" charset="0"/>
              </a:rPr>
              <a:t>Giáo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dục</a:t>
            </a:r>
            <a:r>
              <a:rPr lang="en-US" sz="2000" dirty="0">
                <a:latin typeface="Arial" panose="020B0604020202020204" pitchFamily="34" charset="0"/>
                <a:cs typeface="Arial" panose="020B0604020202020204" pitchFamily="34" charset="0"/>
              </a:rPr>
              <a:t> DD</a:t>
            </a:r>
          </a:p>
        </p:txBody>
      </p:sp>
      <p:sp>
        <p:nvSpPr>
          <p:cNvPr id="12" name="Rounded Rectangle 11"/>
          <p:cNvSpPr/>
          <p:nvPr/>
        </p:nvSpPr>
        <p:spPr>
          <a:xfrm>
            <a:off x="9415930" y="4321743"/>
            <a:ext cx="2500145" cy="2396690"/>
          </a:xfrm>
          <a:prstGeom prst="round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Điều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trú</a:t>
            </a:r>
            <a:endParaRPr lang="en-US" sz="2400" dirty="0">
              <a:latin typeface="Arial" panose="020B0604020202020204" pitchFamily="34" charset="0"/>
              <a:cs typeface="Arial" panose="020B0604020202020204" pitchFamily="34" charset="0"/>
            </a:endParaRPr>
          </a:p>
          <a:p>
            <a:pPr algn="ctr"/>
            <a:r>
              <a:rPr lang="en-US" sz="2400" dirty="0" err="1">
                <a:latin typeface="Arial" panose="020B0604020202020204" pitchFamily="34" charset="0"/>
                <a:cs typeface="Arial" panose="020B0604020202020204" pitchFamily="34" charset="0"/>
              </a:rPr>
              <a:t>Phác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a:t>
            </a:r>
            <a:r>
              <a:rPr lang="en-US" sz="2400" dirty="0">
                <a:latin typeface="Arial" panose="020B0604020202020204" pitchFamily="34" charset="0"/>
                <a:cs typeface="Arial" panose="020B0604020202020204" pitchFamily="34" charset="0"/>
              </a:rPr>
              <a:t> 10 </a:t>
            </a:r>
            <a:r>
              <a:rPr lang="en-US" sz="2400" dirty="0" err="1">
                <a:latin typeface="Arial" panose="020B0604020202020204" pitchFamily="34" charset="0"/>
                <a:cs typeface="Arial" panose="020B0604020202020204" pitchFamily="34" charset="0"/>
              </a:rPr>
              <a:t>điểm</a:t>
            </a:r>
            <a:r>
              <a:rPr lang="en-US" sz="2400" dirty="0">
                <a:latin typeface="Arial" panose="020B0604020202020204" pitchFamily="34" charset="0"/>
                <a:cs typeface="Arial" panose="020B0604020202020204" pitchFamily="34" charset="0"/>
              </a:rPr>
              <a:t> </a:t>
            </a:r>
          </a:p>
        </p:txBody>
      </p:sp>
      <p:cxnSp>
        <p:nvCxnSpPr>
          <p:cNvPr id="14" name="Straight Arrow Connector 13"/>
          <p:cNvCxnSpPr/>
          <p:nvPr/>
        </p:nvCxnSpPr>
        <p:spPr>
          <a:xfrm flipH="1">
            <a:off x="1852258" y="2011680"/>
            <a:ext cx="1593586" cy="452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129238" y="1982804"/>
            <a:ext cx="1679608" cy="519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808846" y="2021304"/>
            <a:ext cx="1458228" cy="519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191098" y="2011680"/>
            <a:ext cx="2529020" cy="452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Down Arrow 25"/>
          <p:cNvSpPr/>
          <p:nvPr/>
        </p:nvSpPr>
        <p:spPr>
          <a:xfrm>
            <a:off x="7244214" y="3415328"/>
            <a:ext cx="45719" cy="8181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Down Arrow 26"/>
          <p:cNvSpPr/>
          <p:nvPr/>
        </p:nvSpPr>
        <p:spPr>
          <a:xfrm>
            <a:off x="4208663" y="3503596"/>
            <a:ext cx="45719" cy="702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own Arrow 27"/>
          <p:cNvSpPr/>
          <p:nvPr/>
        </p:nvSpPr>
        <p:spPr>
          <a:xfrm>
            <a:off x="1477478" y="3493970"/>
            <a:ext cx="45719" cy="7122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own Arrow 28"/>
          <p:cNvSpPr/>
          <p:nvPr/>
        </p:nvSpPr>
        <p:spPr>
          <a:xfrm>
            <a:off x="10639516" y="3455470"/>
            <a:ext cx="45719" cy="8662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Right Arrow 29"/>
          <p:cNvSpPr/>
          <p:nvPr/>
        </p:nvSpPr>
        <p:spPr>
          <a:xfrm>
            <a:off x="5573027" y="5529716"/>
            <a:ext cx="596768" cy="14919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Left-Right Arrow 30"/>
          <p:cNvSpPr/>
          <p:nvPr/>
        </p:nvSpPr>
        <p:spPr>
          <a:xfrm>
            <a:off x="8518359" y="5558589"/>
            <a:ext cx="897571" cy="14919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6387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2547" y="125128"/>
            <a:ext cx="9772065" cy="603986"/>
          </a:xfrm>
        </p:spPr>
        <p:txBody>
          <a:bodyPr>
            <a:normAutofit fontScale="90000"/>
          </a:bodyPr>
          <a:lstStyle/>
          <a:p>
            <a:r>
              <a:rPr lang="en-US" b="1" dirty="0"/>
              <a:t>ĐIỀU TRỊ SUY DINH DƯỠNG</a:t>
            </a:r>
          </a:p>
        </p:txBody>
      </p:sp>
      <p:sp>
        <p:nvSpPr>
          <p:cNvPr id="3" name="Content Placeholder 2"/>
          <p:cNvSpPr>
            <a:spLocks noGrp="1"/>
          </p:cNvSpPr>
          <p:nvPr>
            <p:ph idx="1"/>
          </p:nvPr>
        </p:nvSpPr>
        <p:spPr>
          <a:xfrm>
            <a:off x="1116531" y="592282"/>
            <a:ext cx="10388081" cy="5500510"/>
          </a:xfrm>
        </p:spPr>
        <p:txBody>
          <a:bodyPr>
            <a:normAutofit/>
          </a:bodyPr>
          <a:lstStyle/>
          <a:p>
            <a:r>
              <a:rPr lang="en-US" sz="2400" b="1" dirty="0" err="1">
                <a:solidFill>
                  <a:srgbClr val="0070C0"/>
                </a:solidFill>
                <a:latin typeface="Arial" panose="020B0604020202020204" pitchFamily="34" charset="0"/>
                <a:cs typeface="Arial" panose="020B0604020202020204" pitchFamily="34" charset="0"/>
              </a:rPr>
              <a:t>Điều</a:t>
            </a:r>
            <a:r>
              <a:rPr lang="en-US" sz="2400" b="1" dirty="0">
                <a:solidFill>
                  <a:srgbClr val="0070C0"/>
                </a:solidFill>
                <a:latin typeface="Arial" panose="020B0604020202020204" pitchFamily="34" charset="0"/>
                <a:cs typeface="Arial" panose="020B0604020202020204" pitchFamily="34" charset="0"/>
              </a:rPr>
              <a:t> </a:t>
            </a:r>
            <a:r>
              <a:rPr lang="en-US" sz="2400" b="1" dirty="0" err="1">
                <a:solidFill>
                  <a:srgbClr val="0070C0"/>
                </a:solidFill>
                <a:latin typeface="Arial" panose="020B0604020202020204" pitchFamily="34" charset="0"/>
                <a:cs typeface="Arial" panose="020B0604020202020204" pitchFamily="34" charset="0"/>
              </a:rPr>
              <a:t>trị</a:t>
            </a:r>
            <a:r>
              <a:rPr lang="en-US" sz="2400" b="1" dirty="0">
                <a:solidFill>
                  <a:srgbClr val="0070C0"/>
                </a:solidFill>
                <a:latin typeface="Arial" panose="020B0604020202020204" pitchFamily="34" charset="0"/>
                <a:cs typeface="Arial" panose="020B0604020202020204" pitchFamily="34" charset="0"/>
              </a:rPr>
              <a:t> SDD </a:t>
            </a:r>
            <a:r>
              <a:rPr lang="en-US" sz="2400" b="1" dirty="0" err="1">
                <a:solidFill>
                  <a:srgbClr val="0070C0"/>
                </a:solidFill>
                <a:latin typeface="Arial" panose="020B0604020202020204" pitchFamily="34" charset="0"/>
                <a:cs typeface="Arial" panose="020B0604020202020204" pitchFamily="34" charset="0"/>
              </a:rPr>
              <a:t>nặng</a:t>
            </a:r>
            <a:r>
              <a:rPr lang="en-US" sz="2400" b="1" dirty="0">
                <a:solidFill>
                  <a:srgbClr val="0070C0"/>
                </a:solidFill>
                <a:latin typeface="Arial" panose="020B0604020202020204" pitchFamily="34" charset="0"/>
                <a:cs typeface="Arial" panose="020B0604020202020204" pitchFamily="34" charset="0"/>
              </a:rPr>
              <a:t>: 10 </a:t>
            </a:r>
            <a:r>
              <a:rPr lang="en-US" sz="2400" b="1" dirty="0" err="1">
                <a:solidFill>
                  <a:srgbClr val="0070C0"/>
                </a:solidFill>
                <a:latin typeface="Arial" panose="020B0604020202020204" pitchFamily="34" charset="0"/>
                <a:cs typeface="Arial" panose="020B0604020202020204" pitchFamily="34" charset="0"/>
              </a:rPr>
              <a:t>bước</a:t>
            </a:r>
            <a:r>
              <a:rPr lang="en-US" sz="2400" b="1" dirty="0">
                <a:solidFill>
                  <a:srgbClr val="0070C0"/>
                </a:solidFill>
                <a:latin typeface="Arial" panose="020B0604020202020204" pitchFamily="34" charset="0"/>
                <a:cs typeface="Arial" panose="020B0604020202020204" pitchFamily="34" charset="0"/>
              </a:rPr>
              <a:t> </a:t>
            </a:r>
            <a:r>
              <a:rPr lang="en-US" sz="2400" b="1" dirty="0" err="1">
                <a:solidFill>
                  <a:srgbClr val="0070C0"/>
                </a:solidFill>
                <a:latin typeface="Arial" panose="020B0604020202020204" pitchFamily="34" charset="0"/>
                <a:cs typeface="Arial" panose="020B0604020202020204" pitchFamily="34" charset="0"/>
              </a:rPr>
              <a:t>với</a:t>
            </a:r>
            <a:r>
              <a:rPr lang="en-US" sz="2400" b="1" dirty="0">
                <a:solidFill>
                  <a:srgbClr val="0070C0"/>
                </a:solidFill>
                <a:latin typeface="Arial" panose="020B0604020202020204" pitchFamily="34" charset="0"/>
                <a:cs typeface="Arial" panose="020B0604020202020204" pitchFamily="34" charset="0"/>
              </a:rPr>
              <a:t> 2 </a:t>
            </a:r>
            <a:r>
              <a:rPr lang="en-US" sz="2400" b="1" dirty="0" err="1">
                <a:solidFill>
                  <a:srgbClr val="0070C0"/>
                </a:solidFill>
                <a:latin typeface="Arial" panose="020B0604020202020204" pitchFamily="34" charset="0"/>
                <a:cs typeface="Arial" panose="020B0604020202020204" pitchFamily="34" charset="0"/>
              </a:rPr>
              <a:t>giai</a:t>
            </a:r>
            <a:r>
              <a:rPr lang="en-US" sz="2400" b="1" dirty="0">
                <a:solidFill>
                  <a:srgbClr val="0070C0"/>
                </a:solidFill>
                <a:latin typeface="Arial" panose="020B0604020202020204" pitchFamily="34" charset="0"/>
                <a:cs typeface="Arial" panose="020B0604020202020204" pitchFamily="34" charset="0"/>
              </a:rPr>
              <a:t> </a:t>
            </a:r>
            <a:r>
              <a:rPr lang="en-US" sz="2400" b="1" dirty="0" err="1">
                <a:solidFill>
                  <a:srgbClr val="0070C0"/>
                </a:solidFill>
                <a:latin typeface="Arial" panose="020B0604020202020204" pitchFamily="34" charset="0"/>
                <a:cs typeface="Arial" panose="020B0604020202020204" pitchFamily="34" charset="0"/>
              </a:rPr>
              <a:t>đoạn</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1490368745"/>
              </p:ext>
            </p:extLst>
          </p:nvPr>
        </p:nvGraphicFramePr>
        <p:xfrm>
          <a:off x="519765" y="1183904"/>
          <a:ext cx="10984848" cy="5674092"/>
        </p:xfrm>
        <a:graphic>
          <a:graphicData uri="http://schemas.openxmlformats.org/drawingml/2006/table">
            <a:tbl>
              <a:tblPr firstRow="1" bandRow="1">
                <a:tableStyleId>{5C22544A-7EE6-4342-B048-85BDC9FD1C3A}</a:tableStyleId>
              </a:tblPr>
              <a:tblGrid>
                <a:gridCol w="2887503"/>
                <a:gridCol w="1815000"/>
                <a:gridCol w="1929238"/>
                <a:gridCol w="4353107"/>
              </a:tblGrid>
              <a:tr h="419109">
                <a:tc>
                  <a:txBody>
                    <a:bodyPr/>
                    <a:lstStyle/>
                    <a:p>
                      <a:endParaRPr lang="en-US" sz="2000" dirty="0">
                        <a:latin typeface="Arial" panose="020B0604020202020204" pitchFamily="34" charset="0"/>
                        <a:cs typeface="Arial" panose="020B0604020202020204" pitchFamily="34" charset="0"/>
                      </a:endParaRPr>
                    </a:p>
                  </a:txBody>
                  <a:tcPr/>
                </a:tc>
                <a:tc gridSpan="2">
                  <a:txBody>
                    <a:bodyPr/>
                    <a:lstStyle/>
                    <a:p>
                      <a:pPr algn="ctr"/>
                      <a:r>
                        <a:rPr lang="en-US" sz="2000" dirty="0" err="1" smtClean="0">
                          <a:latin typeface="Arial" panose="020B0604020202020204" pitchFamily="34" charset="0"/>
                          <a:cs typeface="Arial" panose="020B0604020202020204" pitchFamily="34" charset="0"/>
                        </a:rPr>
                        <a:t>Ổn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định</a:t>
                      </a:r>
                      <a:endParaRPr lang="en-US" sz="2000" dirty="0">
                        <a:latin typeface="Arial" panose="020B0604020202020204" pitchFamily="34" charset="0"/>
                        <a:cs typeface="Arial" panose="020B0604020202020204" pitchFamily="34" charset="0"/>
                      </a:endParaRPr>
                    </a:p>
                  </a:txBody>
                  <a:tcPr/>
                </a:tc>
                <a:tc hMerge="1">
                  <a:txBody>
                    <a:bodyPr/>
                    <a:lstStyle/>
                    <a:p>
                      <a:endParaRPr lang="en-US" dirty="0"/>
                    </a:p>
                  </a:txBody>
                  <a:tcPr/>
                </a:tc>
                <a:tc>
                  <a:txBody>
                    <a:bodyPr/>
                    <a:lstStyle/>
                    <a:p>
                      <a:pPr algn="ctr"/>
                      <a:r>
                        <a:rPr lang="en-US" sz="2000" dirty="0" err="1" smtClean="0">
                          <a:latin typeface="Arial" panose="020B0604020202020204" pitchFamily="34" charset="0"/>
                          <a:cs typeface="Arial" panose="020B0604020202020204" pitchFamily="34" charset="0"/>
                        </a:rPr>
                        <a:t>Hồi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phục</a:t>
                      </a:r>
                      <a:endParaRPr lang="en-US" sz="2000" dirty="0">
                        <a:latin typeface="Arial" panose="020B0604020202020204" pitchFamily="34" charset="0"/>
                        <a:cs typeface="Arial" panose="020B0604020202020204" pitchFamily="34" charset="0"/>
                      </a:endParaRPr>
                    </a:p>
                  </a:txBody>
                  <a:tcPr/>
                </a:tc>
              </a:tr>
              <a:tr h="419109">
                <a:tc>
                  <a:txBody>
                    <a:bodyPr/>
                    <a:lstStyle/>
                    <a:p>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Ngày</a:t>
                      </a:r>
                      <a:r>
                        <a:rPr lang="en-US" sz="2000" baseline="0" dirty="0" smtClean="0">
                          <a:latin typeface="Arial" panose="020B0604020202020204" pitchFamily="34" charset="0"/>
                          <a:cs typeface="Arial" panose="020B0604020202020204" pitchFamily="34" charset="0"/>
                        </a:rPr>
                        <a:t> 1 -2 </a:t>
                      </a:r>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Ngày</a:t>
                      </a:r>
                      <a:r>
                        <a:rPr lang="en-US" sz="2000" baseline="0" dirty="0" smtClean="0">
                          <a:latin typeface="Arial" panose="020B0604020202020204" pitchFamily="34" charset="0"/>
                          <a:cs typeface="Arial" panose="020B0604020202020204" pitchFamily="34" charset="0"/>
                        </a:rPr>
                        <a:t> 3 - 7</a:t>
                      </a:r>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Tuần</a:t>
                      </a:r>
                      <a:r>
                        <a:rPr lang="en-US" sz="2000" baseline="0" dirty="0" smtClean="0">
                          <a:latin typeface="Arial" panose="020B0604020202020204" pitchFamily="34" charset="0"/>
                          <a:cs typeface="Arial" panose="020B0604020202020204" pitchFamily="34" charset="0"/>
                        </a:rPr>
                        <a:t> 2 - 6</a:t>
                      </a:r>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1. </a:t>
                      </a:r>
                      <a:r>
                        <a:rPr lang="en-US" sz="2000" dirty="0" err="1" smtClean="0">
                          <a:latin typeface="Arial" panose="020B0604020202020204" pitchFamily="34" charset="0"/>
                          <a:cs typeface="Arial" panose="020B0604020202020204" pitchFamily="34" charset="0"/>
                        </a:rPr>
                        <a:t>Hạ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đường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huyết</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2. </a:t>
                      </a:r>
                      <a:r>
                        <a:rPr lang="en-US" sz="2000" dirty="0" err="1" smtClean="0">
                          <a:latin typeface="Arial" panose="020B0604020202020204" pitchFamily="34" charset="0"/>
                          <a:cs typeface="Arial" panose="020B0604020202020204" pitchFamily="34" charset="0"/>
                        </a:rPr>
                        <a:t>Hạ</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thân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nhiệt</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3.</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Mất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nước</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4. </a:t>
                      </a:r>
                      <a:r>
                        <a:rPr lang="en-US" sz="2000" dirty="0" err="1" smtClean="0">
                          <a:latin typeface="Arial" panose="020B0604020202020204" pitchFamily="34" charset="0"/>
                          <a:cs typeface="Arial" panose="020B0604020202020204" pitchFamily="34" charset="0"/>
                        </a:rPr>
                        <a:t>Điện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giải</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5. </a:t>
                      </a:r>
                      <a:r>
                        <a:rPr lang="en-US" sz="2000" dirty="0" err="1" smtClean="0">
                          <a:latin typeface="Arial" panose="020B0604020202020204" pitchFamily="34" charset="0"/>
                          <a:cs typeface="Arial" panose="020B0604020202020204" pitchFamily="34" charset="0"/>
                        </a:rPr>
                        <a:t>Nhiễm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trùng</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741501">
                <a:tc>
                  <a:txBody>
                    <a:bodyPr/>
                    <a:lstStyle/>
                    <a:p>
                      <a:r>
                        <a:rPr lang="en-US" sz="2000" dirty="0" smtClean="0">
                          <a:latin typeface="Arial" panose="020B0604020202020204" pitchFamily="34" charset="0"/>
                          <a:cs typeface="Arial" panose="020B0604020202020204" pitchFamily="34" charset="0"/>
                        </a:rPr>
                        <a:t>6. Vi </a:t>
                      </a:r>
                      <a:r>
                        <a:rPr lang="en-US" sz="2000" dirty="0" err="1" smtClean="0">
                          <a:latin typeface="Arial" panose="020B0604020202020204" pitchFamily="34" charset="0"/>
                          <a:cs typeface="Arial" panose="020B0604020202020204" pitchFamily="34" charset="0"/>
                        </a:rPr>
                        <a:t>chất</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         No iron</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Iron</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smtClean="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7. </a:t>
                      </a:r>
                      <a:r>
                        <a:rPr lang="en-US" sz="2000" dirty="0" err="1" smtClean="0">
                          <a:latin typeface="Arial" panose="020B0604020202020204" pitchFamily="34" charset="0"/>
                          <a:cs typeface="Arial" panose="020B0604020202020204" pitchFamily="34" charset="0"/>
                        </a:rPr>
                        <a:t>Nuôi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ăn</a:t>
                      </a:r>
                      <a:r>
                        <a:rPr lang="en-US" sz="2000" baseline="0" dirty="0" smtClean="0">
                          <a:latin typeface="Arial" panose="020B0604020202020204" pitchFamily="34" charset="0"/>
                          <a:cs typeface="Arial" panose="020B0604020202020204" pitchFamily="34" charset="0"/>
                        </a:rPr>
                        <a:t> ban </a:t>
                      </a:r>
                      <a:r>
                        <a:rPr lang="en-US" sz="2000" baseline="0" dirty="0" err="1" smtClean="0">
                          <a:latin typeface="Arial" panose="020B0604020202020204" pitchFamily="34" charset="0"/>
                          <a:cs typeface="Arial" panose="020B0604020202020204" pitchFamily="34" charset="0"/>
                        </a:rPr>
                        <a:t>đầu</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8. </a:t>
                      </a:r>
                      <a:r>
                        <a:rPr lang="en-US" sz="2000" dirty="0" err="1" smtClean="0">
                          <a:latin typeface="Arial" panose="020B0604020202020204" pitchFamily="34" charset="0"/>
                          <a:cs typeface="Arial" panose="020B0604020202020204" pitchFamily="34" charset="0"/>
                        </a:rPr>
                        <a:t>Nuôi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ăn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bắt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kịp</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741501">
                <a:tc>
                  <a:txBody>
                    <a:bodyPr/>
                    <a:lstStyle/>
                    <a:p>
                      <a:r>
                        <a:rPr lang="en-US" sz="2000" dirty="0" smtClean="0">
                          <a:latin typeface="Arial" panose="020B0604020202020204" pitchFamily="34" charset="0"/>
                          <a:cs typeface="Arial" panose="020B0604020202020204" pitchFamily="34" charset="0"/>
                        </a:rPr>
                        <a:t>9. </a:t>
                      </a:r>
                      <a:r>
                        <a:rPr lang="en-US" sz="2000" dirty="0" err="1" smtClean="0">
                          <a:latin typeface="Arial" panose="020B0604020202020204" pitchFamily="34" charset="0"/>
                          <a:cs typeface="Arial" panose="020B0604020202020204" pitchFamily="34" charset="0"/>
                        </a:rPr>
                        <a:t>Kích</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thích</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cảm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giác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thèm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ăn</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419109">
                <a:tc>
                  <a:txBody>
                    <a:bodyPr/>
                    <a:lstStyle/>
                    <a:p>
                      <a:r>
                        <a:rPr lang="en-US" sz="2000" dirty="0" smtClean="0">
                          <a:latin typeface="Arial" panose="020B0604020202020204" pitchFamily="34" charset="0"/>
                          <a:cs typeface="Arial" panose="020B0604020202020204" pitchFamily="34" charset="0"/>
                        </a:rPr>
                        <a:t>10. </a:t>
                      </a:r>
                      <a:r>
                        <a:rPr lang="en-US" sz="2000" dirty="0" err="1" smtClean="0">
                          <a:latin typeface="Arial" panose="020B0604020202020204" pitchFamily="34" charset="0"/>
                          <a:cs typeface="Arial" panose="020B0604020202020204" pitchFamily="34" charset="0"/>
                        </a:rPr>
                        <a:t>Chuẩn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bị</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tái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khám</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bl>
          </a:graphicData>
        </a:graphic>
      </p:graphicFrame>
      <p:sp>
        <p:nvSpPr>
          <p:cNvPr id="5" name="Right Arrow 4"/>
          <p:cNvSpPr/>
          <p:nvPr/>
        </p:nvSpPr>
        <p:spPr>
          <a:xfrm>
            <a:off x="3638349" y="2598821"/>
            <a:ext cx="1453415" cy="1155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638349" y="3003082"/>
            <a:ext cx="1453415" cy="134754"/>
          </a:xfrm>
          <a:prstGeom prst="rightArrow">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638349" y="3436219"/>
            <a:ext cx="1453415" cy="105878"/>
          </a:xfrm>
          <a:prstGeom prst="rightArrow">
            <a:avLst/>
          </a:prstGeom>
          <a:solidFill>
            <a:schemeClr val="accent5">
              <a:lumMod val="60000"/>
              <a:lumOff val="4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638349" y="3773103"/>
            <a:ext cx="7401828" cy="132347"/>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638349" y="4420403"/>
            <a:ext cx="7401828" cy="105878"/>
          </a:xfrm>
          <a:prstGeom prst="rightArrow">
            <a:avLst/>
          </a:prstGeom>
          <a:solidFill>
            <a:srgbClr val="FF66CC"/>
          </a:solidFill>
          <a:ln>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3638349" y="4872789"/>
            <a:ext cx="3243714" cy="16844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1" name="Right Arrow 10"/>
          <p:cNvSpPr/>
          <p:nvPr/>
        </p:nvSpPr>
        <p:spPr>
          <a:xfrm>
            <a:off x="7449954" y="5342021"/>
            <a:ext cx="3590223" cy="13475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5409398" y="5813659"/>
            <a:ext cx="5630779" cy="105878"/>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7449954" y="6564429"/>
            <a:ext cx="3522846" cy="132349"/>
          </a:xfrm>
          <a:prstGeom prst="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7893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5125" y="244015"/>
            <a:ext cx="8911687" cy="962485"/>
          </a:xfrm>
        </p:spPr>
        <p:txBody>
          <a:bodyPr/>
          <a:lstStyle/>
          <a:p>
            <a:r>
              <a:rPr lang="en-US" dirty="0" err="1"/>
              <a:t>Câu</a:t>
            </a:r>
            <a:r>
              <a:rPr lang="en-US" dirty="0"/>
              <a:t> </a:t>
            </a:r>
            <a:r>
              <a:rPr lang="en-US" dirty="0" err="1"/>
              <a:t>hỏi</a:t>
            </a:r>
            <a:r>
              <a:rPr lang="en-US" dirty="0"/>
              <a:t> </a:t>
            </a:r>
            <a:r>
              <a:rPr lang="en-US" dirty="0" err="1"/>
              <a:t>lượng</a:t>
            </a:r>
            <a:r>
              <a:rPr lang="en-US" dirty="0"/>
              <a:t> </a:t>
            </a:r>
            <a:r>
              <a:rPr lang="en-US" dirty="0" err="1"/>
              <a:t>giá</a:t>
            </a:r>
            <a:r>
              <a:rPr lang="en-US" dirty="0"/>
              <a:t> </a:t>
            </a:r>
            <a:r>
              <a:rPr lang="en-US" dirty="0" err="1"/>
              <a:t>cuối</a:t>
            </a:r>
            <a:r>
              <a:rPr lang="en-US" dirty="0"/>
              <a:t> </a:t>
            </a:r>
            <a:r>
              <a:rPr lang="en-US" dirty="0" err="1"/>
              <a:t>bài</a:t>
            </a:r>
            <a:endParaRPr lang="en-US" dirty="0"/>
          </a:p>
        </p:txBody>
      </p:sp>
      <p:sp>
        <p:nvSpPr>
          <p:cNvPr id="3" name="Content Placeholder 2"/>
          <p:cNvSpPr>
            <a:spLocks noGrp="1"/>
          </p:cNvSpPr>
          <p:nvPr>
            <p:ph idx="1"/>
          </p:nvPr>
        </p:nvSpPr>
        <p:spPr>
          <a:xfrm>
            <a:off x="1016000" y="1206500"/>
            <a:ext cx="10488612" cy="4704722"/>
          </a:xfrm>
        </p:spPr>
        <p:txBody>
          <a:bodyPr/>
          <a:lstStyle/>
          <a:p>
            <a:pPr marL="342900" lvl="3" indent="-342900">
              <a:lnSpc>
                <a:spcPct val="150000"/>
              </a:lnSpc>
            </a:pPr>
            <a:r>
              <a:rPr lang="en-US" sz="2400" dirty="0" err="1">
                <a:latin typeface="Arial" panose="020B0604020202020204" pitchFamily="34" charset="0"/>
                <a:cs typeface="Arial" panose="020B0604020202020204" pitchFamily="34" charset="0"/>
              </a:rPr>
              <a:t>Hãy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nhận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dưỡng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sau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trai</a:t>
            </a:r>
            <a:r>
              <a:rPr lang="en-US" sz="2400" dirty="0">
                <a:latin typeface="Arial" panose="020B0604020202020204" pitchFamily="34" charset="0"/>
                <a:cs typeface="Arial" panose="020B0604020202020204" pitchFamily="34" charset="0"/>
              </a:rPr>
              <a:t> 24 </a:t>
            </a:r>
            <a:r>
              <a:rPr lang="en-US" sz="2400" dirty="0" err="1">
                <a:latin typeface="Arial" panose="020B0604020202020204" pitchFamily="34" charset="0"/>
                <a:cs typeface="Arial" panose="020B0604020202020204" pitchFamily="34" charset="0"/>
              </a:rPr>
              <a:t>tháng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8,1 kg. </a:t>
            </a:r>
            <a:r>
              <a:rPr lang="en-US" sz="2400" dirty="0" err="1">
                <a:latin typeface="Arial" panose="020B0604020202020204" pitchFamily="34" charset="0"/>
                <a:cs typeface="Arial" panose="020B0604020202020204" pitchFamily="34" charset="0"/>
              </a:rPr>
              <a:t>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tiêu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chảy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đợt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1,5 </a:t>
            </a:r>
            <a:r>
              <a:rPr lang="en-US" sz="2400" dirty="0" err="1">
                <a:latin typeface="Arial" panose="020B0604020202020204" pitchFamily="34" charset="0"/>
                <a:cs typeface="Arial" panose="020B0604020202020204" pitchFamily="34" charset="0"/>
              </a:rPr>
              <a:t>tháng</a:t>
            </a:r>
            <a:r>
              <a:rPr lang="en-US" sz="2400" dirty="0">
                <a:latin typeface="Arial" panose="020B0604020202020204" pitchFamily="34" charset="0"/>
                <a:cs typeface="Arial" panose="020B0604020202020204" pitchFamily="34" charset="0"/>
              </a:rPr>
              <a:t> nay </a:t>
            </a:r>
            <a:r>
              <a:rPr lang="en-US" sz="2400" dirty="0" err="1">
                <a:latin typeface="Arial" panose="020B0604020202020204" pitchFamily="34" charset="0"/>
                <a:cs typeface="Arial" panose="020B0604020202020204" pitchFamily="34" charset="0"/>
              </a:rPr>
              <a:t>đi</a:t>
            </a:r>
            <a:r>
              <a:rPr lang="en-US" sz="2400" dirty="0">
                <a:latin typeface="Arial" panose="020B0604020202020204" pitchFamily="34" charset="0"/>
                <a:cs typeface="Arial" panose="020B0604020202020204" pitchFamily="34" charset="0"/>
              </a:rPr>
              <a:t>. </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00" y="2616200"/>
            <a:ext cx="5842000" cy="42418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7000" y="2616200"/>
            <a:ext cx="6121400" cy="4241800"/>
          </a:xfrm>
          <a:prstGeom prst="rect">
            <a:avLst/>
          </a:prstGeom>
        </p:spPr>
      </p:pic>
    </p:spTree>
    <p:extLst>
      <p:ext uri="{BB962C8B-B14F-4D97-AF65-F5344CB8AC3E}">
        <p14:creationId xmlns:p14="http://schemas.microsoft.com/office/powerpoint/2010/main" val="23412727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102" y="220651"/>
            <a:ext cx="9425555" cy="745704"/>
          </a:xfrm>
        </p:spPr>
        <p:txBody>
          <a:bodyPr/>
          <a:lstStyle/>
          <a:p>
            <a:endParaRPr lang="en-US" dirty="0"/>
          </a:p>
        </p:txBody>
      </p:sp>
      <p:sp>
        <p:nvSpPr>
          <p:cNvPr id="3" name="Content Placeholder 2"/>
          <p:cNvSpPr>
            <a:spLocks noGrp="1"/>
          </p:cNvSpPr>
          <p:nvPr>
            <p:ph idx="1"/>
          </p:nvPr>
        </p:nvSpPr>
        <p:spPr>
          <a:xfrm>
            <a:off x="197427" y="966355"/>
            <a:ext cx="11793682" cy="5725390"/>
          </a:xfrm>
        </p:spPr>
        <p:txBody>
          <a:bodyPr>
            <a:normAutofit/>
          </a:bodyPr>
          <a:lstStyle/>
          <a:p>
            <a:pPr marL="0" indent="0">
              <a:buNone/>
            </a:pPr>
            <a:endParaRPr lang="en-US" sz="24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9677" y="1"/>
            <a:ext cx="4786723" cy="2833386"/>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9677" y="2946400"/>
            <a:ext cx="4786723" cy="3858359"/>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8650" y="-83128"/>
            <a:ext cx="6002459" cy="6887887"/>
          </a:xfrm>
          <a:prstGeom prst="rect">
            <a:avLst/>
          </a:prstGeom>
        </p:spPr>
      </p:pic>
    </p:spTree>
    <p:extLst>
      <p:ext uri="{BB962C8B-B14F-4D97-AF65-F5344CB8AC3E}">
        <p14:creationId xmlns:p14="http://schemas.microsoft.com/office/powerpoint/2010/main" val="5194345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8169" y="344977"/>
            <a:ext cx="9839441" cy="858181"/>
          </a:xfrm>
        </p:spPr>
        <p:txBody>
          <a:bodyPr>
            <a:normAutofit fontScale="90000"/>
          </a:bodyPr>
          <a:lstStyle/>
          <a:p>
            <a:r>
              <a:rPr lang="en-US" dirty="0" err="1" smtClean="0">
                <a:latin typeface="Arial" panose="020B0604020202020204" pitchFamily="34" charset="0"/>
                <a:cs typeface="Arial" panose="020B0604020202020204" pitchFamily="34" charset="0"/>
              </a:rPr>
              <a:t>Chiến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lược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lượng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giá</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lượng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giá</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kiến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thức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bằng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hình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thức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trắc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nghiệm</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câu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hỏi</a:t>
            </a:r>
            <a:r>
              <a:rPr lang="en-US" dirty="0" smtClean="0">
                <a:latin typeface="Arial" panose="020B0604020202020204" pitchFamily="34" charset="0"/>
                <a:cs typeface="Arial" panose="020B0604020202020204" pitchFamily="34" charset="0"/>
              </a:rPr>
              <a:t> MCQ</a:t>
            </a:r>
            <a:br>
              <a:rPr lang="en-US" dirty="0" smtClean="0">
                <a:latin typeface="Arial" panose="020B0604020202020204" pitchFamily="34" charset="0"/>
                <a:cs typeface="Arial" panose="020B0604020202020204" pitchFamily="34" charset="0"/>
              </a:rPr>
            </a:br>
            <a:r>
              <a:rPr lang="en-US" dirty="0" smtClean="0"/>
              <a:t> </a:t>
            </a:r>
            <a:endParaRPr lang="en-US" dirty="0"/>
          </a:p>
        </p:txBody>
      </p:sp>
      <p:sp>
        <p:nvSpPr>
          <p:cNvPr id="3" name="Content Placeholder 2"/>
          <p:cNvSpPr>
            <a:spLocks noGrp="1"/>
          </p:cNvSpPr>
          <p:nvPr>
            <p:ph idx="1"/>
          </p:nvPr>
        </p:nvSpPr>
        <p:spPr>
          <a:xfrm>
            <a:off x="943276" y="1482291"/>
            <a:ext cx="10561336" cy="4428931"/>
          </a:xfrm>
        </p:spPr>
        <p:txBody>
          <a:bodyPr>
            <a:normAutofit/>
          </a:bodyPr>
          <a:lstStyle/>
          <a:p>
            <a:pPr marL="0" indent="0">
              <a:buNone/>
            </a:pPr>
            <a:endParaRPr lang="en-US" sz="2800" dirty="0" smtClean="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858314535"/>
              </p:ext>
            </p:extLst>
          </p:nvPr>
        </p:nvGraphicFramePr>
        <p:xfrm>
          <a:off x="1540043" y="2069433"/>
          <a:ext cx="9710820" cy="4294721"/>
        </p:xfrm>
        <a:graphic>
          <a:graphicData uri="http://schemas.openxmlformats.org/drawingml/2006/table">
            <a:tbl>
              <a:tblPr firstRow="1" bandRow="1">
                <a:tableStyleId>{5C22544A-7EE6-4342-B048-85BDC9FD1C3A}</a:tableStyleId>
              </a:tblPr>
              <a:tblGrid>
                <a:gridCol w="1838666"/>
                <a:gridCol w="2045662"/>
                <a:gridCol w="1942164"/>
                <a:gridCol w="1942164"/>
                <a:gridCol w="1942164"/>
              </a:tblGrid>
              <a:tr h="911441">
                <a:tc rowSpan="2">
                  <a:txBody>
                    <a:bodyPr/>
                    <a:lstStyle/>
                    <a:p>
                      <a:pPr algn="ctr"/>
                      <a:r>
                        <a:rPr lang="en-US" sz="2400" dirty="0" err="1" smtClean="0">
                          <a:latin typeface="Arial" panose="020B0604020202020204" pitchFamily="34" charset="0"/>
                          <a:cs typeface="Arial" panose="020B0604020202020204" pitchFamily="34" charset="0"/>
                        </a:rPr>
                        <a:t>Mục</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tiêu</a:t>
                      </a:r>
                      <a:endParaRPr lang="en-US" sz="2400" dirty="0">
                        <a:latin typeface="Arial" panose="020B0604020202020204" pitchFamily="34" charset="0"/>
                        <a:cs typeface="Arial" panose="020B0604020202020204" pitchFamily="34" charset="0"/>
                      </a:endParaRPr>
                    </a:p>
                  </a:txBody>
                  <a:tcPr/>
                </a:tc>
                <a:tc gridSpan="3">
                  <a:txBody>
                    <a:bodyPr/>
                    <a:lstStyle/>
                    <a:p>
                      <a:pPr algn="ctr"/>
                      <a:r>
                        <a:rPr lang="en-US" sz="2400" dirty="0" err="1" smtClean="0">
                          <a:latin typeface="Arial" panose="020B0604020202020204" pitchFamily="34" charset="0"/>
                          <a:cs typeface="Arial" panose="020B0604020202020204" pitchFamily="34" charset="0"/>
                        </a:rPr>
                        <a:t>Mức</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độ</a:t>
                      </a:r>
                      <a:endParaRPr lang="en-US" sz="2400" dirty="0">
                        <a:latin typeface="Arial" panose="020B0604020202020204" pitchFamily="34" charset="0"/>
                        <a:cs typeface="Arial" panose="020B0604020202020204" pitchFamily="34" charset="0"/>
                      </a:endParaRPr>
                    </a:p>
                  </a:txBody>
                  <a:tcPr/>
                </a:tc>
                <a:tc hMerge="1">
                  <a:txBody>
                    <a:bodyPr/>
                    <a:lstStyle/>
                    <a:p>
                      <a:endParaRPr lang="en-US" dirty="0"/>
                    </a:p>
                  </a:txBody>
                  <a:tcPr/>
                </a:tc>
                <a:tc hMerge="1">
                  <a:txBody>
                    <a:bodyPr/>
                    <a:lstStyle/>
                    <a:p>
                      <a:endParaRPr lang="en-US" dirty="0"/>
                    </a:p>
                  </a:txBody>
                  <a:tcPr/>
                </a:tc>
                <a:tc rowSpan="2">
                  <a:txBody>
                    <a:bodyPr/>
                    <a:lstStyle/>
                    <a:p>
                      <a:pPr algn="ctr"/>
                      <a:r>
                        <a:rPr lang="en-US" sz="2400" dirty="0" err="1" smtClean="0">
                          <a:latin typeface="Arial" panose="020B0604020202020204" pitchFamily="34" charset="0"/>
                          <a:cs typeface="Arial" panose="020B0604020202020204" pitchFamily="34" charset="0"/>
                        </a:rPr>
                        <a:t>Tổng</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số</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câu</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hỏi</a:t>
                      </a:r>
                      <a:endParaRPr lang="en-US" sz="2400" dirty="0">
                        <a:latin typeface="Arial" panose="020B0604020202020204" pitchFamily="34" charset="0"/>
                        <a:cs typeface="Arial" panose="020B0604020202020204" pitchFamily="34" charset="0"/>
                      </a:endParaRPr>
                    </a:p>
                  </a:txBody>
                  <a:tcPr/>
                </a:tc>
              </a:tr>
              <a:tr h="528056">
                <a:tc vMerge="1">
                  <a:txBody>
                    <a:bodyPr/>
                    <a:lstStyle/>
                    <a:p>
                      <a:endParaRPr lang="en-US" dirty="0"/>
                    </a:p>
                  </a:txBody>
                  <a:tcPr/>
                </a:tc>
                <a:tc>
                  <a:txBody>
                    <a:bodyPr/>
                    <a:lstStyle/>
                    <a:p>
                      <a:r>
                        <a:rPr lang="en-US" sz="2400" dirty="0" err="1" smtClean="0">
                          <a:latin typeface="Arial" panose="020B0604020202020204" pitchFamily="34" charset="0"/>
                          <a:cs typeface="Arial" panose="020B0604020202020204" pitchFamily="34" charset="0"/>
                        </a:rPr>
                        <a:t>Nhớ</a:t>
                      </a:r>
                      <a:r>
                        <a:rPr lang="en-US" sz="2400" dirty="0" smtClean="0">
                          <a:latin typeface="Arial" panose="020B0604020202020204" pitchFamily="34" charset="0"/>
                          <a:cs typeface="Arial" panose="020B0604020202020204" pitchFamily="34" charset="0"/>
                        </a:rPr>
                        <a:t> </a:t>
                      </a:r>
                    </a:p>
                    <a:p>
                      <a:r>
                        <a:rPr lang="en-US" sz="2400" dirty="0" smtClean="0">
                          <a:latin typeface="Arial" panose="020B0604020202020204" pitchFamily="34" charset="0"/>
                          <a:cs typeface="Arial" panose="020B0604020202020204" pitchFamily="34" charset="0"/>
                        </a:rPr>
                        <a:t>20%</a:t>
                      </a:r>
                      <a:endParaRPr lang="en-US" sz="2400" dirty="0">
                        <a:latin typeface="Arial" panose="020B0604020202020204" pitchFamily="34" charset="0"/>
                        <a:cs typeface="Arial" panose="020B0604020202020204" pitchFamily="34" charset="0"/>
                      </a:endParaRPr>
                    </a:p>
                  </a:txBody>
                  <a:tcPr/>
                </a:tc>
                <a:tc>
                  <a:txBody>
                    <a:bodyPr/>
                    <a:lstStyle/>
                    <a:p>
                      <a:r>
                        <a:rPr lang="en-US" sz="2400" dirty="0" err="1" smtClean="0">
                          <a:latin typeface="Arial" panose="020B0604020202020204" pitchFamily="34" charset="0"/>
                          <a:cs typeface="Arial" panose="020B0604020202020204" pitchFamily="34" charset="0"/>
                        </a:rPr>
                        <a:t>Hiểu</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40%</a:t>
                      </a:r>
                      <a:endParaRPr lang="en-US" sz="2400" dirty="0">
                        <a:latin typeface="Arial" panose="020B0604020202020204" pitchFamily="34" charset="0"/>
                        <a:cs typeface="Arial" panose="020B0604020202020204" pitchFamily="34" charset="0"/>
                      </a:endParaRPr>
                    </a:p>
                  </a:txBody>
                  <a:tcPr/>
                </a:tc>
                <a:tc>
                  <a:txBody>
                    <a:bodyPr/>
                    <a:lstStyle/>
                    <a:p>
                      <a:r>
                        <a:rPr lang="en-US" sz="2400" dirty="0" err="1" smtClean="0">
                          <a:latin typeface="Arial" panose="020B0604020202020204" pitchFamily="34" charset="0"/>
                          <a:cs typeface="Arial" panose="020B0604020202020204" pitchFamily="34" charset="0"/>
                        </a:rPr>
                        <a:t>Áp</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dụng</a:t>
                      </a:r>
                      <a:endParaRPr lang="en-US" sz="2400" baseline="0" dirty="0" smtClean="0">
                        <a:latin typeface="Arial" panose="020B0604020202020204" pitchFamily="34" charset="0"/>
                        <a:cs typeface="Arial" panose="020B0604020202020204" pitchFamily="34" charset="0"/>
                      </a:endParaRPr>
                    </a:p>
                    <a:p>
                      <a:r>
                        <a:rPr lang="en-US" sz="2400" baseline="0" dirty="0" smtClean="0">
                          <a:latin typeface="Arial" panose="020B0604020202020204" pitchFamily="34" charset="0"/>
                          <a:cs typeface="Arial" panose="020B0604020202020204" pitchFamily="34" charset="0"/>
                        </a:rPr>
                        <a:t>40%</a:t>
                      </a:r>
                      <a:endParaRPr lang="en-US" sz="2400" dirty="0">
                        <a:latin typeface="Arial" panose="020B0604020202020204" pitchFamily="34" charset="0"/>
                        <a:cs typeface="Arial" panose="020B0604020202020204" pitchFamily="34" charset="0"/>
                      </a:endParaRPr>
                    </a:p>
                  </a:txBody>
                  <a:tcPr/>
                </a:tc>
                <a:tc vMerge="1">
                  <a:txBody>
                    <a:bodyPr/>
                    <a:lstStyle/>
                    <a:p>
                      <a:endParaRPr lang="en-US" dirty="0"/>
                    </a:p>
                  </a:txBody>
                  <a:tcPr/>
                </a:tc>
              </a:tr>
              <a:tr h="528056">
                <a:tc>
                  <a:txBody>
                    <a:bodyPr/>
                    <a:lstStyle/>
                    <a:p>
                      <a:r>
                        <a:rPr lang="en-US" dirty="0" err="1" smtClean="0"/>
                        <a:t>Mục</a:t>
                      </a:r>
                      <a:r>
                        <a:rPr lang="en-US" baseline="0" dirty="0" smtClean="0"/>
                        <a:t> </a:t>
                      </a:r>
                      <a:r>
                        <a:rPr lang="en-US" baseline="0" dirty="0" err="1" smtClean="0"/>
                        <a:t>tiêu</a:t>
                      </a:r>
                      <a:r>
                        <a:rPr lang="en-US" baseline="0" dirty="0" smtClean="0"/>
                        <a:t> 1 (20%)</a:t>
                      </a:r>
                      <a:endParaRPr lang="en-US" dirty="0"/>
                    </a:p>
                  </a:txBody>
                  <a:tcPr/>
                </a:tc>
                <a:tc>
                  <a:txBody>
                    <a:bodyPr/>
                    <a:lstStyle/>
                    <a:p>
                      <a:r>
                        <a:rPr lang="en-US" dirty="0" smtClean="0"/>
                        <a:t>3</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3 </a:t>
                      </a:r>
                      <a:r>
                        <a:rPr lang="en-US" dirty="0" err="1" smtClean="0"/>
                        <a:t>câu</a:t>
                      </a:r>
                      <a:endParaRPr lang="en-US" dirty="0"/>
                    </a:p>
                  </a:txBody>
                  <a:tcPr/>
                </a:tc>
              </a:tr>
              <a:tr h="528056">
                <a:tc>
                  <a:txBody>
                    <a:bodyPr/>
                    <a:lstStyle/>
                    <a:p>
                      <a:r>
                        <a:rPr lang="en-US" dirty="0" err="1" smtClean="0"/>
                        <a:t>Mục</a:t>
                      </a:r>
                      <a:r>
                        <a:rPr lang="en-US" baseline="0" dirty="0" smtClean="0"/>
                        <a:t> </a:t>
                      </a:r>
                      <a:r>
                        <a:rPr lang="en-US" baseline="0" dirty="0" err="1" smtClean="0"/>
                        <a:t>tiêu</a:t>
                      </a:r>
                      <a:r>
                        <a:rPr lang="en-US" baseline="0" dirty="0" smtClean="0"/>
                        <a:t> 2</a:t>
                      </a:r>
                    </a:p>
                    <a:p>
                      <a:r>
                        <a:rPr lang="en-US" baseline="0" dirty="0" smtClean="0"/>
                        <a:t>(40%)</a:t>
                      </a:r>
                      <a:endParaRPr lang="en-US" dirty="0"/>
                    </a:p>
                  </a:txBody>
                  <a:tcPr/>
                </a:tc>
                <a:tc>
                  <a:txBody>
                    <a:bodyPr/>
                    <a:lstStyle/>
                    <a:p>
                      <a:r>
                        <a:rPr lang="en-US" dirty="0" smtClean="0"/>
                        <a:t>0</a:t>
                      </a:r>
                      <a:endParaRPr lang="en-US" dirty="0"/>
                    </a:p>
                  </a:txBody>
                  <a:tcPr/>
                </a:tc>
                <a:tc>
                  <a:txBody>
                    <a:bodyPr/>
                    <a:lstStyle/>
                    <a:p>
                      <a:r>
                        <a:rPr lang="en-US" dirty="0" smtClean="0"/>
                        <a:t>3</a:t>
                      </a:r>
                      <a:endParaRPr lang="en-US" dirty="0"/>
                    </a:p>
                  </a:txBody>
                  <a:tcPr/>
                </a:tc>
                <a:tc>
                  <a:txBody>
                    <a:bodyPr/>
                    <a:lstStyle/>
                    <a:p>
                      <a:r>
                        <a:rPr lang="en-US" dirty="0" smtClean="0"/>
                        <a:t>3</a:t>
                      </a:r>
                      <a:endParaRPr lang="en-US" dirty="0"/>
                    </a:p>
                  </a:txBody>
                  <a:tcPr/>
                </a:tc>
                <a:tc>
                  <a:txBody>
                    <a:bodyPr/>
                    <a:lstStyle/>
                    <a:p>
                      <a:r>
                        <a:rPr lang="en-US" dirty="0" smtClean="0"/>
                        <a:t>6 </a:t>
                      </a:r>
                      <a:r>
                        <a:rPr lang="en-US" dirty="0" err="1" smtClean="0"/>
                        <a:t>câu</a:t>
                      </a:r>
                      <a:endParaRPr lang="en-US" dirty="0"/>
                    </a:p>
                  </a:txBody>
                  <a:tcPr/>
                </a:tc>
              </a:tr>
              <a:tr h="528056">
                <a:tc>
                  <a:txBody>
                    <a:bodyPr/>
                    <a:lstStyle/>
                    <a:p>
                      <a:r>
                        <a:rPr lang="en-US" dirty="0" err="1" smtClean="0"/>
                        <a:t>Mục</a:t>
                      </a:r>
                      <a:r>
                        <a:rPr lang="en-US" baseline="0" dirty="0" smtClean="0"/>
                        <a:t> </a:t>
                      </a:r>
                      <a:r>
                        <a:rPr lang="en-US" baseline="0" dirty="0" err="1" smtClean="0"/>
                        <a:t>tiêu</a:t>
                      </a:r>
                      <a:r>
                        <a:rPr lang="en-US" baseline="0" dirty="0" smtClean="0"/>
                        <a:t> 3</a:t>
                      </a:r>
                    </a:p>
                    <a:p>
                      <a:r>
                        <a:rPr lang="en-US" baseline="0" dirty="0" smtClean="0"/>
                        <a:t>(40%)</a:t>
                      </a:r>
                      <a:endParaRPr lang="en-US" dirty="0"/>
                    </a:p>
                  </a:txBody>
                  <a:tcPr/>
                </a:tc>
                <a:tc>
                  <a:txBody>
                    <a:bodyPr/>
                    <a:lstStyle/>
                    <a:p>
                      <a:r>
                        <a:rPr lang="en-US" dirty="0" smtClean="0"/>
                        <a:t>0</a:t>
                      </a:r>
                      <a:endParaRPr lang="en-US" dirty="0"/>
                    </a:p>
                  </a:txBody>
                  <a:tcPr/>
                </a:tc>
                <a:tc>
                  <a:txBody>
                    <a:bodyPr/>
                    <a:lstStyle/>
                    <a:p>
                      <a:r>
                        <a:rPr lang="en-US" dirty="0" smtClean="0"/>
                        <a:t>3</a:t>
                      </a:r>
                      <a:endParaRPr lang="en-US" dirty="0"/>
                    </a:p>
                  </a:txBody>
                  <a:tcPr/>
                </a:tc>
                <a:tc>
                  <a:txBody>
                    <a:bodyPr/>
                    <a:lstStyle/>
                    <a:p>
                      <a:r>
                        <a:rPr lang="en-US" dirty="0" smtClean="0"/>
                        <a:t>3</a:t>
                      </a:r>
                      <a:endParaRPr lang="en-US" dirty="0"/>
                    </a:p>
                  </a:txBody>
                  <a:tcPr/>
                </a:tc>
                <a:tc>
                  <a:txBody>
                    <a:bodyPr/>
                    <a:lstStyle/>
                    <a:p>
                      <a:r>
                        <a:rPr lang="en-US" dirty="0" smtClean="0"/>
                        <a:t>6 </a:t>
                      </a:r>
                      <a:r>
                        <a:rPr lang="en-US" dirty="0" err="1" smtClean="0"/>
                        <a:t>câu</a:t>
                      </a:r>
                      <a:endParaRPr lang="en-US" dirty="0"/>
                    </a:p>
                  </a:txBody>
                  <a:tcPr/>
                </a:tc>
              </a:tr>
              <a:tr h="528056">
                <a:tc>
                  <a:txBody>
                    <a:bodyPr/>
                    <a:lstStyle/>
                    <a:p>
                      <a:r>
                        <a:rPr lang="en-US" dirty="0" err="1" smtClean="0"/>
                        <a:t>Tổng</a:t>
                      </a:r>
                      <a:r>
                        <a:rPr lang="en-US" baseline="0" dirty="0" smtClean="0"/>
                        <a:t> </a:t>
                      </a:r>
                      <a:r>
                        <a:rPr lang="en-US" baseline="0" dirty="0" err="1" smtClean="0"/>
                        <a:t>số</a:t>
                      </a:r>
                      <a:r>
                        <a:rPr lang="en-US" baseline="0" dirty="0" smtClean="0"/>
                        <a:t> </a:t>
                      </a:r>
                      <a:r>
                        <a:rPr lang="en-US" baseline="0" dirty="0" err="1" smtClean="0"/>
                        <a:t>câu</a:t>
                      </a:r>
                      <a:r>
                        <a:rPr lang="en-US" baseline="0" dirty="0" smtClean="0"/>
                        <a:t> </a:t>
                      </a:r>
                      <a:r>
                        <a:rPr lang="en-US" baseline="0" dirty="0" err="1" smtClean="0"/>
                        <a:t>hỏi</a:t>
                      </a:r>
                      <a:endParaRPr lang="en-US" dirty="0"/>
                    </a:p>
                  </a:txBody>
                  <a:tcPr/>
                </a:tc>
                <a:tc>
                  <a:txBody>
                    <a:bodyPr/>
                    <a:lstStyle/>
                    <a:p>
                      <a:r>
                        <a:rPr lang="en-US" dirty="0" smtClean="0"/>
                        <a:t>3</a:t>
                      </a:r>
                      <a:endParaRPr lang="en-US" dirty="0"/>
                    </a:p>
                  </a:txBody>
                  <a:tcPr/>
                </a:tc>
                <a:tc>
                  <a:txBody>
                    <a:bodyPr/>
                    <a:lstStyle/>
                    <a:p>
                      <a:r>
                        <a:rPr lang="en-US" dirty="0" smtClean="0"/>
                        <a:t>6</a:t>
                      </a:r>
                      <a:endParaRPr lang="en-US" dirty="0"/>
                    </a:p>
                  </a:txBody>
                  <a:tcPr/>
                </a:tc>
                <a:tc>
                  <a:txBody>
                    <a:bodyPr/>
                    <a:lstStyle/>
                    <a:p>
                      <a:r>
                        <a:rPr lang="en-US" dirty="0" smtClean="0"/>
                        <a:t>6</a:t>
                      </a:r>
                      <a:endParaRPr lang="en-US" dirty="0"/>
                    </a:p>
                  </a:txBody>
                  <a:tcPr/>
                </a:tc>
                <a:tc>
                  <a:txBody>
                    <a:bodyPr/>
                    <a:lstStyle/>
                    <a:p>
                      <a:r>
                        <a:rPr lang="en-US" dirty="0" smtClean="0"/>
                        <a:t>15 </a:t>
                      </a:r>
                      <a:r>
                        <a:rPr lang="en-US" dirty="0" err="1" smtClean="0"/>
                        <a:t>câu</a:t>
                      </a:r>
                      <a:endParaRPr lang="en-US" dirty="0"/>
                    </a:p>
                  </a:txBody>
                  <a:tcPr/>
                </a:tc>
              </a:tr>
            </a:tbl>
          </a:graphicData>
        </a:graphic>
      </p:graphicFrame>
    </p:spTree>
    <p:extLst>
      <p:ext uri="{BB962C8B-B14F-4D97-AF65-F5344CB8AC3E}">
        <p14:creationId xmlns:p14="http://schemas.microsoft.com/office/powerpoint/2010/main" val="690999048"/>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1910</TotalTime>
  <Words>1847</Words>
  <Application>Microsoft Office PowerPoint</Application>
  <PresentationFormat>Widescreen</PresentationFormat>
  <Paragraphs>278</Paragraphs>
  <Slides>37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Century Gothic</vt:lpstr>
      <vt:lpstr>Open Sans</vt:lpstr>
      <vt:lpstr>Tahoma</vt:lpstr>
      <vt:lpstr>Wingdings</vt:lpstr>
      <vt:lpstr>Wingdings 3</vt:lpstr>
      <vt:lpstr>Wisp</vt:lpstr>
      <vt:lpstr>SUY DINH DƯỠNG PROTEIN VÀ NĂNG LƯỢNG</vt:lpstr>
      <vt:lpstr>Những trẻ sau có vấn đề về dinh dưỡng không?</vt:lpstr>
      <vt:lpstr>Những con số nói gì?</vt:lpstr>
      <vt:lpstr>MỤC TIÊU</vt:lpstr>
      <vt:lpstr>Làm thế nào để biết 1 đứa trẻ gặp vấn đề về dinh dưỡng?</vt:lpstr>
      <vt:lpstr>PowerPoint Presentation</vt:lpstr>
      <vt:lpstr>ĐỊNH NGHĨA SUY SINH DƯỠNG</vt:lpstr>
      <vt:lpstr>CÁC CHỈ TIÊU ĐÁNH GIÁ SUY DINH DƯỠNG</vt:lpstr>
      <vt:lpstr>PowerPoint Presentation</vt:lpstr>
      <vt:lpstr>NGUYÊN NHÂN GÂY SUY DINH DƯỠNG</vt:lpstr>
      <vt:lpstr>Phân loại suy dinh dưỡng theo WHO</vt:lpstr>
      <vt:lpstr>PowerPoint Presentation</vt:lpstr>
      <vt:lpstr>PowerPoint Presentation</vt:lpstr>
      <vt:lpstr>PowerPoint Presentation</vt:lpstr>
      <vt:lpstr>SINH LÝ BỆNH  (https://www.uptodate.com/contents/malnutrition-in-children-in-resource-limited-countries-clinical-assessment</vt:lpstr>
      <vt:lpstr>PowerPoint Presentation</vt:lpstr>
      <vt:lpstr>SINH LÝ BỆNH</vt:lpstr>
      <vt:lpstr>SINH LÝ BỆNH (Uptodate)</vt:lpstr>
      <vt:lpstr>SINH LÝ BỆNH</vt:lpstr>
      <vt:lpstr>PowerPoint Presentation</vt:lpstr>
      <vt:lpstr>PowerPoint Presentation</vt:lpstr>
      <vt:lpstr>PowerPoint Presentation</vt:lpstr>
      <vt:lpstr>PowerPoint Presentation</vt:lpstr>
      <vt:lpstr>CƠ CHẾ BỆNH SINH CỦA SDD THỂ PHÙ</vt:lpstr>
      <vt:lpstr>PowerPoint Presentation</vt:lpstr>
      <vt:lpstr>PowerPoint Presentation</vt:lpstr>
      <vt:lpstr>PowerPoint Presentation</vt:lpstr>
      <vt:lpstr>TRIỆU CHỨNG LÂM SÀNG CỦA SUY DINH DƯỠNG</vt:lpstr>
      <vt:lpstr>PowerPoint Presentation</vt:lpstr>
      <vt:lpstr>TRIỆU CHỨNG LÂM SÀNG CỦA SUY DINH DƯỠNG</vt:lpstr>
      <vt:lpstr>TRIỆU CHỨNG LÂM SÀNG CỦA SUY DINH DƯỠNG</vt:lpstr>
      <vt:lpstr>2. CẬN LÂM SÀNG: </vt:lpstr>
      <vt:lpstr>ĐIỀU TRỊ SUY DINH DƯỠNG</vt:lpstr>
      <vt:lpstr>ĐIỀU TRỊ SUY DINH DƯỠNG</vt:lpstr>
      <vt:lpstr>Câu hỏi lượng giá cuối bài</vt:lpstr>
      <vt:lpstr>PowerPoint Presentation</vt:lpstr>
      <vt:lpstr>Chiến lược lượng giá: lượng giá kiến thức bằng hình thức thi trắc nghiệm câu hỏi MCQ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SUY DINH DƯỠNG PROTEIN VÀ NĂNG LƯỢNG</dc:title>
  <dc:creator>ASUS</dc:creator>
  <cp:lastModifiedBy>ASUS</cp:lastModifiedBy>
  <cp:revision>144</cp:revision>
  <dcterms:created xsi:type="dcterms:W3CDTF">2021-01-15T10:14:15Z</dcterms:created>
  <dcterms:modified xsi:type="dcterms:W3CDTF">2021-03-16T09:15:21Z</dcterms:modified>
</cp:coreProperties>
</file>