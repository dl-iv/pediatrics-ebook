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4" r:id="rId2"/>
    <p:sldId id="321" r:id="rId3"/>
    <p:sldId id="315" r:id="rId4"/>
    <p:sldId id="275" r:id="rId5"/>
    <p:sldId id="276" r:id="rId6"/>
    <p:sldId id="277" r:id="rId7"/>
    <p:sldId id="278" r:id="rId8"/>
    <p:sldId id="279" r:id="rId9"/>
    <p:sldId id="280" r:id="rId10"/>
    <p:sldId id="281" r:id="rId11"/>
    <p:sldId id="283" r:id="rId12"/>
    <p:sldId id="284" r:id="rId13"/>
    <p:sldId id="285" r:id="rId14"/>
    <p:sldId id="286" r:id="rId15"/>
    <p:sldId id="287" r:id="rId16"/>
    <p:sldId id="289" r:id="rId17"/>
    <p:sldId id="290" r:id="rId18"/>
    <p:sldId id="291" r:id="rId19"/>
    <p:sldId id="292" r:id="rId20"/>
    <p:sldId id="317" r:id="rId21"/>
    <p:sldId id="303" r:id="rId22"/>
    <p:sldId id="304" r:id="rId23"/>
    <p:sldId id="305" r:id="rId24"/>
    <p:sldId id="306" r:id="rId25"/>
    <p:sldId id="307" r:id="rId26"/>
    <p:sldId id="308" r:id="rId27"/>
    <p:sldId id="309" r:id="rId28"/>
    <p:sldId id="310" r:id="rId29"/>
    <p:sldId id="311" r:id="rId30"/>
    <p:sldId id="312" r:id="rId31"/>
    <p:sldId id="313" r:id="rId32"/>
    <p:sldId id="314" r:id="rId33"/>
    <p:sldId id="320" r:id="rId34"/>
    <p:sldId id="318" r:id="rId35"/>
    <p:sldId id="259" r:id="rId36"/>
    <p:sldId id="260" r:id="rId37"/>
    <p:sldId id="263" r:id="rId38"/>
    <p:sldId id="262" r:id="rId39"/>
    <p:sldId id="264" r:id="rId40"/>
    <p:sldId id="319" r:id="rId41"/>
    <p:sldId id="294" r:id="rId42"/>
    <p:sldId id="295" r:id="rId43"/>
    <p:sldId id="296" r:id="rId44"/>
    <p:sldId id="297" r:id="rId45"/>
    <p:sldId id="298" r:id="rId46"/>
    <p:sldId id="299" r:id="rId47"/>
    <p:sldId id="300" r:id="rId48"/>
    <p:sldId id="301" r:id="rId49"/>
    <p:sldId id="265" r:id="rId50"/>
    <p:sldId id="269" r:id="rId51"/>
    <p:sldId id="266" r:id="rId52"/>
    <p:sldId id="267" r:id="rId53"/>
    <p:sldId id="268" r:id="rId54"/>
    <p:sldId id="270" r:id="rId55"/>
    <p:sldId id="316"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7E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4660"/>
  </p:normalViewPr>
  <p:slideViewPr>
    <p:cSldViewPr>
      <p:cViewPr varScale="1">
        <p:scale>
          <a:sx n="70" d="100"/>
          <a:sy n="70" d="100"/>
        </p:scale>
        <p:origin x="1398"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7C9CDB-A1C9-46E9-9909-DB9D0E34FDB6}" type="doc">
      <dgm:prSet loTypeId="urn:microsoft.com/office/officeart/2008/layout/HorizontalMultiLevelHierarchy" loCatId="hierarchy" qsTypeId="urn:microsoft.com/office/officeart/2005/8/quickstyle/simple3" qsCatId="simple" csTypeId="urn:microsoft.com/office/officeart/2005/8/colors/accent5_5" csCatId="accent5" phldr="1"/>
      <dgm:spPr/>
      <dgm:t>
        <a:bodyPr/>
        <a:lstStyle/>
        <a:p>
          <a:endParaRPr lang="en-US"/>
        </a:p>
      </dgm:t>
    </dgm:pt>
    <dgm:pt modelId="{6804AA94-6DBA-49B5-8506-4C32D7E6B53C}">
      <dgm:prSet phldrT="[Text]"/>
      <dgm:spPr/>
      <dgm:t>
        <a:bodyPr/>
        <a:lstStyle/>
        <a:p>
          <a:r>
            <a:rPr lang="en-US" dirty="0" err="1" smtClean="0">
              <a:latin typeface="Arial" panose="020B0604020202020204" pitchFamily="34" charset="0"/>
              <a:cs typeface="Arial" panose="020B0604020202020204" pitchFamily="34" charset="0"/>
            </a:rPr>
            <a:t>Shigella</a:t>
          </a:r>
          <a:endParaRPr lang="en-US" dirty="0">
            <a:latin typeface="Arial" panose="020B0604020202020204" pitchFamily="34" charset="0"/>
            <a:cs typeface="Arial" panose="020B0604020202020204" pitchFamily="34" charset="0"/>
          </a:endParaRPr>
        </a:p>
      </dgm:t>
    </dgm:pt>
    <dgm:pt modelId="{A056C718-5E59-4777-84F6-9D0BD8D24705}" type="parTrans" cxnId="{1B3BDCD5-7652-4F8D-BDE9-E3915124C98D}">
      <dgm:prSet/>
      <dgm:spPr/>
      <dgm:t>
        <a:bodyPr/>
        <a:lstStyle/>
        <a:p>
          <a:endParaRPr lang="en-US"/>
        </a:p>
      </dgm:t>
    </dgm:pt>
    <dgm:pt modelId="{D768C6E9-2903-4B77-A179-07B6981633C6}" type="sibTrans" cxnId="{1B3BDCD5-7652-4F8D-BDE9-E3915124C98D}">
      <dgm:prSet/>
      <dgm:spPr/>
      <dgm:t>
        <a:bodyPr/>
        <a:lstStyle/>
        <a:p>
          <a:endParaRPr lang="en-US"/>
        </a:p>
      </dgm:t>
    </dgm:pt>
    <dgm:pt modelId="{DC039E6B-6F4D-4ADB-A35A-88B25D719A1A}">
      <dgm:prSet phldrT="[Text]" custT="1"/>
      <dgm:spPr/>
      <dgm:t>
        <a:bodyPr/>
        <a:lstStyle/>
        <a:p>
          <a:pPr algn="just"/>
          <a:r>
            <a:rPr lang="en-US" sz="2400" b="1" dirty="0" err="1" smtClean="0">
              <a:latin typeface="Arial" panose="020B0604020202020204" pitchFamily="34" charset="0"/>
              <a:cs typeface="Arial" panose="020B0604020202020204" pitchFamily="34" charset="0"/>
            </a:rPr>
            <a:t>S.Dysenteriae</a:t>
          </a:r>
          <a:endParaRPr lang="en-US" sz="2400" b="1" dirty="0" smtClean="0">
            <a:latin typeface="Arial" panose="020B0604020202020204" pitchFamily="34" charset="0"/>
            <a:cs typeface="Arial" panose="020B0604020202020204" pitchFamily="34" charset="0"/>
          </a:endParaRPr>
        </a:p>
        <a:p>
          <a:pPr algn="just"/>
          <a:r>
            <a:rPr lang="en-US" sz="2200" dirty="0" err="1" smtClean="0">
              <a:latin typeface="Arial" panose="020B0604020202020204" pitchFamily="34" charset="0"/>
              <a:cs typeface="Arial" panose="020B0604020202020204" pitchFamily="34" charset="0"/>
            </a:rPr>
            <a:t>Có</a:t>
          </a:r>
          <a:r>
            <a:rPr lang="en-US" sz="2200" dirty="0" smtClean="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13 </a:t>
          </a:r>
          <a:r>
            <a:rPr lang="en-US" sz="2200" dirty="0" err="1" smtClean="0">
              <a:latin typeface="Arial" panose="020B0604020202020204" pitchFamily="34" charset="0"/>
              <a:cs typeface="Arial" panose="020B0604020202020204" pitchFamily="34" charset="0"/>
            </a:rPr>
            <a:t>typ</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huyết</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thanh</a:t>
          </a:r>
          <a:r>
            <a:rPr lang="en-US" sz="2200" dirty="0" smtClean="0">
              <a:latin typeface="Arial" panose="020B0604020202020204" pitchFamily="34" charset="0"/>
              <a:cs typeface="Arial" panose="020B0604020202020204" pitchFamily="34" charset="0"/>
            </a:rPr>
            <a:t>.</a:t>
          </a:r>
        </a:p>
        <a:p>
          <a:pPr algn="just"/>
          <a:r>
            <a:rPr lang="en-US" sz="2200" dirty="0" err="1" smtClean="0">
              <a:latin typeface="Arial" panose="020B0604020202020204" pitchFamily="34" charset="0"/>
              <a:cs typeface="Arial" panose="020B0604020202020204" pitchFamily="34" charset="0"/>
            </a:rPr>
            <a:t>Typ</a:t>
          </a:r>
          <a:r>
            <a:rPr lang="en-US" sz="2200" dirty="0" smtClean="0">
              <a:latin typeface="Arial" panose="020B0604020202020204" pitchFamily="34" charset="0"/>
              <a:cs typeface="Arial" panose="020B0604020202020204" pitchFamily="34" charset="0"/>
            </a:rPr>
            <a:t> 1 (Shiga) </a:t>
          </a:r>
          <a:r>
            <a:rPr lang="en-US" sz="2200" dirty="0" err="1" smtClean="0">
              <a:latin typeface="Arial" panose="020B0604020202020204" pitchFamily="34" charset="0"/>
              <a:cs typeface="Arial" panose="020B0604020202020204" pitchFamily="34" charset="0"/>
            </a:rPr>
            <a:t>có</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nội</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độc</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tố</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và</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ngoại</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độc</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tố</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rất</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mạnh</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gây</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dịch</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lớn</a:t>
          </a:r>
          <a:r>
            <a:rPr lang="en-US" sz="2200" dirty="0" smtClean="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dgm:t>
    </dgm:pt>
    <dgm:pt modelId="{57149120-1BE3-4E48-9CA5-5D640F07865B}" type="parTrans" cxnId="{3D7D6F51-727B-4E1D-8266-147E7929E28D}">
      <dgm:prSet/>
      <dgm:spPr/>
      <dgm:t>
        <a:bodyPr/>
        <a:lstStyle/>
        <a:p>
          <a:endParaRPr lang="en-US"/>
        </a:p>
      </dgm:t>
    </dgm:pt>
    <dgm:pt modelId="{C726BE96-8E4B-4ACD-9D6B-255E847C7A21}" type="sibTrans" cxnId="{3D7D6F51-727B-4E1D-8266-147E7929E28D}">
      <dgm:prSet/>
      <dgm:spPr/>
      <dgm:t>
        <a:bodyPr/>
        <a:lstStyle/>
        <a:p>
          <a:endParaRPr lang="en-US"/>
        </a:p>
      </dgm:t>
    </dgm:pt>
    <dgm:pt modelId="{86AA6FEB-0C31-4DE2-A9DD-2B260E0EB9BD}">
      <dgm:prSet phldrT="[Text]" custT="1"/>
      <dgm:spPr/>
      <dgm:t>
        <a:bodyPr/>
        <a:lstStyle/>
        <a:p>
          <a:pPr algn="just"/>
          <a:r>
            <a:rPr lang="en-US" sz="2400" b="1" dirty="0" err="1" smtClean="0">
              <a:latin typeface="Arial" panose="020B0604020202020204" pitchFamily="34" charset="0"/>
              <a:cs typeface="Arial" panose="020B0604020202020204" pitchFamily="34" charset="0"/>
            </a:rPr>
            <a:t>S.Flexneri</a:t>
          </a:r>
          <a:endParaRPr lang="en-US" sz="2400" b="1" dirty="0" smtClean="0">
            <a:latin typeface="Arial" panose="020B0604020202020204" pitchFamily="34" charset="0"/>
            <a:cs typeface="Arial" panose="020B0604020202020204" pitchFamily="34" charset="0"/>
          </a:endParaRPr>
        </a:p>
        <a:p>
          <a:pPr algn="just"/>
          <a:r>
            <a:rPr lang="en-US" sz="2200" dirty="0" err="1" smtClean="0">
              <a:latin typeface="Arial" panose="020B0604020202020204" pitchFamily="34" charset="0"/>
              <a:cs typeface="Arial" panose="020B0604020202020204" pitchFamily="34" charset="0"/>
            </a:rPr>
            <a:t>Có</a:t>
          </a:r>
          <a:r>
            <a:rPr lang="en-US" sz="2200" dirty="0" smtClean="0">
              <a:latin typeface="Arial" panose="020B0604020202020204" pitchFamily="34" charset="0"/>
              <a:cs typeface="Arial" panose="020B0604020202020204" pitchFamily="34" charset="0"/>
            </a:rPr>
            <a:t> 6 </a:t>
          </a:r>
          <a:r>
            <a:rPr lang="en-US" sz="2200" dirty="0" err="1" smtClean="0">
              <a:latin typeface="Arial" panose="020B0604020202020204" pitchFamily="34" charset="0"/>
              <a:cs typeface="Arial" panose="020B0604020202020204" pitchFamily="34" charset="0"/>
            </a:rPr>
            <a:t>typ</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huyết</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thanh</a:t>
          </a:r>
          <a:r>
            <a:rPr lang="en-US" sz="2200" dirty="0" smtClean="0">
              <a:latin typeface="Arial" panose="020B0604020202020204" pitchFamily="34" charset="0"/>
              <a:cs typeface="Arial" panose="020B0604020202020204" pitchFamily="34" charset="0"/>
            </a:rPr>
            <a:t>.</a:t>
          </a:r>
        </a:p>
        <a:p>
          <a:pPr algn="just"/>
          <a:r>
            <a:rPr lang="en-US" sz="2200" dirty="0" smtClean="0">
              <a:latin typeface="Arial" panose="020B0604020202020204" pitchFamily="34" charset="0"/>
              <a:cs typeface="Arial" panose="020B0604020202020204" pitchFamily="34" charset="0"/>
            </a:rPr>
            <a:t>Hay </a:t>
          </a:r>
          <a:r>
            <a:rPr lang="en-US" sz="2200" dirty="0" err="1" smtClean="0">
              <a:latin typeface="Arial" panose="020B0604020202020204" pitchFamily="34" charset="0"/>
              <a:cs typeface="Arial" panose="020B0604020202020204" pitchFamily="34" charset="0"/>
            </a:rPr>
            <a:t>gặp</a:t>
          </a:r>
          <a:r>
            <a:rPr lang="en-US" sz="2200" dirty="0" smtClean="0">
              <a:latin typeface="Arial" panose="020B0604020202020204" pitchFamily="34" charset="0"/>
              <a:cs typeface="Arial" panose="020B0604020202020204" pitchFamily="34" charset="0"/>
            </a:rPr>
            <a:t> ở </a:t>
          </a:r>
          <a:r>
            <a:rPr lang="en-US" sz="2200" dirty="0" err="1" smtClean="0">
              <a:latin typeface="Arial" panose="020B0604020202020204" pitchFamily="34" charset="0"/>
              <a:cs typeface="Arial" panose="020B0604020202020204" pitchFamily="34" charset="0"/>
            </a:rPr>
            <a:t>Việt</a:t>
          </a:r>
          <a:r>
            <a:rPr lang="en-US" sz="2200" dirty="0" smtClean="0">
              <a:latin typeface="Arial" panose="020B0604020202020204" pitchFamily="34" charset="0"/>
              <a:cs typeface="Arial" panose="020B0604020202020204" pitchFamily="34" charset="0"/>
            </a:rPr>
            <a:t> Nam.</a:t>
          </a:r>
          <a:endParaRPr lang="en-US" sz="2200" dirty="0">
            <a:latin typeface="Arial" panose="020B0604020202020204" pitchFamily="34" charset="0"/>
            <a:cs typeface="Arial" panose="020B0604020202020204" pitchFamily="34" charset="0"/>
          </a:endParaRPr>
        </a:p>
      </dgm:t>
    </dgm:pt>
    <dgm:pt modelId="{246F22F6-FA36-4EE6-848D-DA49F6033D17}" type="parTrans" cxnId="{D7D614FB-5ED9-45E0-9F07-2B241188799E}">
      <dgm:prSet/>
      <dgm:spPr/>
      <dgm:t>
        <a:bodyPr/>
        <a:lstStyle/>
        <a:p>
          <a:endParaRPr lang="en-US"/>
        </a:p>
      </dgm:t>
    </dgm:pt>
    <dgm:pt modelId="{D57862CB-BDCB-47E1-8E8D-56A04F66D73C}" type="sibTrans" cxnId="{D7D614FB-5ED9-45E0-9F07-2B241188799E}">
      <dgm:prSet/>
      <dgm:spPr/>
      <dgm:t>
        <a:bodyPr/>
        <a:lstStyle/>
        <a:p>
          <a:endParaRPr lang="en-US"/>
        </a:p>
      </dgm:t>
    </dgm:pt>
    <dgm:pt modelId="{46E4F1B6-C07B-4318-95DA-DD1F909457B8}">
      <dgm:prSet phldrT="[Text]" custT="1"/>
      <dgm:spPr/>
      <dgm:t>
        <a:bodyPr/>
        <a:lstStyle/>
        <a:p>
          <a:pPr algn="just"/>
          <a:r>
            <a:rPr lang="en-US" sz="2400" b="1" dirty="0" err="1" smtClean="0">
              <a:latin typeface="Arial" panose="020B0604020202020204" pitchFamily="34" charset="0"/>
              <a:cs typeface="Arial" panose="020B0604020202020204" pitchFamily="34" charset="0"/>
            </a:rPr>
            <a:t>S.Boydii</a:t>
          </a:r>
          <a:endParaRPr lang="en-US" sz="2400" b="1" dirty="0" smtClean="0">
            <a:latin typeface="Arial" panose="020B0604020202020204" pitchFamily="34" charset="0"/>
            <a:cs typeface="Arial" panose="020B0604020202020204" pitchFamily="34" charset="0"/>
          </a:endParaRPr>
        </a:p>
        <a:p>
          <a:pPr algn="just"/>
          <a:r>
            <a:rPr lang="en-US" sz="2200" dirty="0" err="1" smtClean="0">
              <a:latin typeface="Arial" panose="020B0604020202020204" pitchFamily="34" charset="0"/>
              <a:cs typeface="Arial" panose="020B0604020202020204" pitchFamily="34" charset="0"/>
            </a:rPr>
            <a:t>Có</a:t>
          </a:r>
          <a:r>
            <a:rPr lang="en-US" sz="2200" dirty="0" smtClean="0">
              <a:latin typeface="Arial" panose="020B0604020202020204" pitchFamily="34" charset="0"/>
              <a:cs typeface="Arial" panose="020B0604020202020204" pitchFamily="34" charset="0"/>
            </a:rPr>
            <a:t> 18 </a:t>
          </a:r>
          <a:r>
            <a:rPr lang="en-US" sz="2200" dirty="0" err="1" smtClean="0">
              <a:latin typeface="Arial" panose="020B0604020202020204" pitchFamily="34" charset="0"/>
              <a:cs typeface="Arial" panose="020B0604020202020204" pitchFamily="34" charset="0"/>
            </a:rPr>
            <a:t>typ</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huyết</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thanh</a:t>
          </a:r>
          <a:r>
            <a:rPr lang="en-US" sz="2200" dirty="0" smtClean="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dgm:t>
    </dgm:pt>
    <dgm:pt modelId="{045E704D-84F5-4B40-8242-30481EFFCDDC}" type="parTrans" cxnId="{EA41348A-8FE0-47FE-9D8F-F3B1DBB967E1}">
      <dgm:prSet/>
      <dgm:spPr/>
      <dgm:t>
        <a:bodyPr/>
        <a:lstStyle/>
        <a:p>
          <a:endParaRPr lang="en-US"/>
        </a:p>
      </dgm:t>
    </dgm:pt>
    <dgm:pt modelId="{F9F3D29D-0736-4641-B569-0B83F34F5CCE}" type="sibTrans" cxnId="{EA41348A-8FE0-47FE-9D8F-F3B1DBB967E1}">
      <dgm:prSet/>
      <dgm:spPr/>
      <dgm:t>
        <a:bodyPr/>
        <a:lstStyle/>
        <a:p>
          <a:endParaRPr lang="en-US"/>
        </a:p>
      </dgm:t>
    </dgm:pt>
    <dgm:pt modelId="{2C1963D0-CA1B-42D7-AAC0-1A3EB433E89A}">
      <dgm:prSet custT="1"/>
      <dgm:spPr/>
      <dgm:t>
        <a:bodyPr/>
        <a:lstStyle/>
        <a:p>
          <a:pPr algn="just"/>
          <a:r>
            <a:rPr lang="en-US" sz="2400" b="1" dirty="0" err="1" smtClean="0">
              <a:latin typeface="Arial" panose="020B0604020202020204" pitchFamily="34" charset="0"/>
              <a:cs typeface="Arial" panose="020B0604020202020204" pitchFamily="34" charset="0"/>
            </a:rPr>
            <a:t>S.Sonnei</a:t>
          </a:r>
          <a:endParaRPr lang="en-US" sz="2400" b="1" dirty="0" smtClean="0">
            <a:latin typeface="Arial" panose="020B0604020202020204" pitchFamily="34" charset="0"/>
            <a:cs typeface="Arial" panose="020B0604020202020204" pitchFamily="34" charset="0"/>
          </a:endParaRPr>
        </a:p>
        <a:p>
          <a:pPr algn="just"/>
          <a:r>
            <a:rPr lang="en-US" sz="2200" dirty="0" err="1" smtClean="0">
              <a:latin typeface="Arial" panose="020B0604020202020204" pitchFamily="34" charset="0"/>
              <a:cs typeface="Arial" panose="020B0604020202020204" pitchFamily="34" charset="0"/>
            </a:rPr>
            <a:t>Chỉ</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có</a:t>
          </a:r>
          <a:r>
            <a:rPr lang="en-US" sz="2200" dirty="0" smtClean="0">
              <a:latin typeface="Arial" panose="020B0604020202020204" pitchFamily="34" charset="0"/>
              <a:cs typeface="Arial" panose="020B0604020202020204" pitchFamily="34" charset="0"/>
            </a:rPr>
            <a:t> 1  </a:t>
          </a:r>
          <a:r>
            <a:rPr lang="en-US" sz="2200" dirty="0" err="1" smtClean="0">
              <a:latin typeface="Arial" panose="020B0604020202020204" pitchFamily="34" charset="0"/>
              <a:cs typeface="Arial" panose="020B0604020202020204" pitchFamily="34" charset="0"/>
            </a:rPr>
            <a:t>typ</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huyết</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thanh</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duy</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nhất</a:t>
          </a:r>
          <a:r>
            <a:rPr lang="en-US" sz="2200" dirty="0" smtClean="0">
              <a:latin typeface="Arial" panose="020B0604020202020204" pitchFamily="34" charset="0"/>
              <a:cs typeface="Arial" panose="020B0604020202020204" pitchFamily="34" charset="0"/>
            </a:rPr>
            <a:t>.</a:t>
          </a:r>
        </a:p>
        <a:p>
          <a:pPr algn="just"/>
          <a:r>
            <a:rPr lang="en-US" sz="2200" dirty="0" smtClean="0">
              <a:latin typeface="Arial" panose="020B0604020202020204" pitchFamily="34" charset="0"/>
              <a:cs typeface="Arial" panose="020B0604020202020204" pitchFamily="34" charset="0"/>
            </a:rPr>
            <a:t>Hay </a:t>
          </a:r>
          <a:r>
            <a:rPr lang="en-US" sz="2200" dirty="0" err="1" smtClean="0">
              <a:latin typeface="Arial" panose="020B0604020202020204" pitchFamily="34" charset="0"/>
              <a:cs typeface="Arial" panose="020B0604020202020204" pitchFamily="34" charset="0"/>
            </a:rPr>
            <a:t>gặp</a:t>
          </a:r>
          <a:r>
            <a:rPr lang="en-US" sz="2200" dirty="0" smtClean="0">
              <a:latin typeface="Arial" panose="020B0604020202020204" pitchFamily="34" charset="0"/>
              <a:cs typeface="Arial" panose="020B0604020202020204" pitchFamily="34" charset="0"/>
            </a:rPr>
            <a:t> ở </a:t>
          </a:r>
          <a:r>
            <a:rPr lang="en-US" sz="2200" dirty="0" err="1" smtClean="0">
              <a:latin typeface="Arial" panose="020B0604020202020204" pitchFamily="34" charset="0"/>
              <a:cs typeface="Arial" panose="020B0604020202020204" pitchFamily="34" charset="0"/>
            </a:rPr>
            <a:t>Mỹ</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Tây</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Âu</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Nhật</a:t>
          </a:r>
          <a:r>
            <a:rPr lang="en-US" sz="2200" dirty="0" smtClean="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dgm:t>
    </dgm:pt>
    <dgm:pt modelId="{C8E738E2-90CC-4DE8-9F73-51D09B4C07ED}" type="parTrans" cxnId="{837C748F-A9DE-4F4A-9469-FD6FE23DC001}">
      <dgm:prSet/>
      <dgm:spPr/>
      <dgm:t>
        <a:bodyPr/>
        <a:lstStyle/>
        <a:p>
          <a:endParaRPr lang="en-US"/>
        </a:p>
      </dgm:t>
    </dgm:pt>
    <dgm:pt modelId="{9B1D97D8-A565-43D7-92C4-354A61A84804}" type="sibTrans" cxnId="{837C748F-A9DE-4F4A-9469-FD6FE23DC001}">
      <dgm:prSet/>
      <dgm:spPr/>
      <dgm:t>
        <a:bodyPr/>
        <a:lstStyle/>
        <a:p>
          <a:endParaRPr lang="en-US"/>
        </a:p>
      </dgm:t>
    </dgm:pt>
    <dgm:pt modelId="{189E7B23-F6AA-4376-BDBD-41E3CE34E61E}" type="pres">
      <dgm:prSet presAssocID="{237C9CDB-A1C9-46E9-9909-DB9D0E34FDB6}" presName="Name0" presStyleCnt="0">
        <dgm:presLayoutVars>
          <dgm:chPref val="1"/>
          <dgm:dir/>
          <dgm:animOne val="branch"/>
          <dgm:animLvl val="lvl"/>
          <dgm:resizeHandles val="exact"/>
        </dgm:presLayoutVars>
      </dgm:prSet>
      <dgm:spPr/>
      <dgm:t>
        <a:bodyPr/>
        <a:lstStyle/>
        <a:p>
          <a:endParaRPr lang="en-US"/>
        </a:p>
      </dgm:t>
    </dgm:pt>
    <dgm:pt modelId="{3B24435A-B2AD-492F-AC29-12CB88F53F73}" type="pres">
      <dgm:prSet presAssocID="{6804AA94-6DBA-49B5-8506-4C32D7E6B53C}" presName="root1" presStyleCnt="0"/>
      <dgm:spPr/>
      <dgm:t>
        <a:bodyPr/>
        <a:lstStyle/>
        <a:p>
          <a:endParaRPr lang="en-US"/>
        </a:p>
      </dgm:t>
    </dgm:pt>
    <dgm:pt modelId="{347F5FF7-A773-456D-8713-CDA554344E3D}" type="pres">
      <dgm:prSet presAssocID="{6804AA94-6DBA-49B5-8506-4C32D7E6B53C}" presName="LevelOneTextNode" presStyleLbl="node0" presStyleIdx="0" presStyleCnt="1" custFlipVert="1" custScaleX="89906">
        <dgm:presLayoutVars>
          <dgm:chPref val="3"/>
        </dgm:presLayoutVars>
      </dgm:prSet>
      <dgm:spPr/>
      <dgm:t>
        <a:bodyPr/>
        <a:lstStyle/>
        <a:p>
          <a:endParaRPr lang="en-US"/>
        </a:p>
      </dgm:t>
    </dgm:pt>
    <dgm:pt modelId="{8F7DE7A3-922F-44BB-8F13-D09DC6347163}" type="pres">
      <dgm:prSet presAssocID="{6804AA94-6DBA-49B5-8506-4C32D7E6B53C}" presName="level2hierChild" presStyleCnt="0"/>
      <dgm:spPr/>
      <dgm:t>
        <a:bodyPr/>
        <a:lstStyle/>
        <a:p>
          <a:endParaRPr lang="en-US"/>
        </a:p>
      </dgm:t>
    </dgm:pt>
    <dgm:pt modelId="{5A73A283-C02D-47F5-88EF-CFC126A19B2B}" type="pres">
      <dgm:prSet presAssocID="{57149120-1BE3-4E48-9CA5-5D640F07865B}" presName="conn2-1" presStyleLbl="parChTrans1D2" presStyleIdx="0" presStyleCnt="4"/>
      <dgm:spPr/>
      <dgm:t>
        <a:bodyPr/>
        <a:lstStyle/>
        <a:p>
          <a:endParaRPr lang="en-US"/>
        </a:p>
      </dgm:t>
    </dgm:pt>
    <dgm:pt modelId="{96E2C2DF-E63D-434E-A056-70CFE313F5DB}" type="pres">
      <dgm:prSet presAssocID="{57149120-1BE3-4E48-9CA5-5D640F07865B}" presName="connTx" presStyleLbl="parChTrans1D2" presStyleIdx="0" presStyleCnt="4"/>
      <dgm:spPr/>
      <dgm:t>
        <a:bodyPr/>
        <a:lstStyle/>
        <a:p>
          <a:endParaRPr lang="en-US"/>
        </a:p>
      </dgm:t>
    </dgm:pt>
    <dgm:pt modelId="{DDD91DFC-E03F-49A3-9752-E3651A5BB190}" type="pres">
      <dgm:prSet presAssocID="{DC039E6B-6F4D-4ADB-A35A-88B25D719A1A}" presName="root2" presStyleCnt="0"/>
      <dgm:spPr/>
      <dgm:t>
        <a:bodyPr/>
        <a:lstStyle/>
        <a:p>
          <a:endParaRPr lang="en-US"/>
        </a:p>
      </dgm:t>
    </dgm:pt>
    <dgm:pt modelId="{285615D9-6856-4134-83A6-C343D893D6F4}" type="pres">
      <dgm:prSet presAssocID="{DC039E6B-6F4D-4ADB-A35A-88B25D719A1A}" presName="LevelTwoTextNode" presStyleLbl="node2" presStyleIdx="0" presStyleCnt="4" custScaleX="231440" custScaleY="181570" custLinFactNeighborX="1113" custLinFactNeighborY="13565">
        <dgm:presLayoutVars>
          <dgm:chPref val="3"/>
        </dgm:presLayoutVars>
      </dgm:prSet>
      <dgm:spPr/>
      <dgm:t>
        <a:bodyPr/>
        <a:lstStyle/>
        <a:p>
          <a:endParaRPr lang="en-US"/>
        </a:p>
      </dgm:t>
    </dgm:pt>
    <dgm:pt modelId="{57CB26C1-453D-4D2D-85E6-1ECB56643E6E}" type="pres">
      <dgm:prSet presAssocID="{DC039E6B-6F4D-4ADB-A35A-88B25D719A1A}" presName="level3hierChild" presStyleCnt="0"/>
      <dgm:spPr/>
      <dgm:t>
        <a:bodyPr/>
        <a:lstStyle/>
        <a:p>
          <a:endParaRPr lang="en-US"/>
        </a:p>
      </dgm:t>
    </dgm:pt>
    <dgm:pt modelId="{DEC7D8DF-3B17-4C16-B206-83269765828C}" type="pres">
      <dgm:prSet presAssocID="{246F22F6-FA36-4EE6-848D-DA49F6033D17}" presName="conn2-1" presStyleLbl="parChTrans1D2" presStyleIdx="1" presStyleCnt="4"/>
      <dgm:spPr/>
      <dgm:t>
        <a:bodyPr/>
        <a:lstStyle/>
        <a:p>
          <a:endParaRPr lang="en-US"/>
        </a:p>
      </dgm:t>
    </dgm:pt>
    <dgm:pt modelId="{6E7B7423-5D6B-4100-B8AD-AF4D5379F926}" type="pres">
      <dgm:prSet presAssocID="{246F22F6-FA36-4EE6-848D-DA49F6033D17}" presName="connTx" presStyleLbl="parChTrans1D2" presStyleIdx="1" presStyleCnt="4"/>
      <dgm:spPr/>
      <dgm:t>
        <a:bodyPr/>
        <a:lstStyle/>
        <a:p>
          <a:endParaRPr lang="en-US"/>
        </a:p>
      </dgm:t>
    </dgm:pt>
    <dgm:pt modelId="{4DD8CFCC-E141-4EEB-9C74-3ADF99B31463}" type="pres">
      <dgm:prSet presAssocID="{86AA6FEB-0C31-4DE2-A9DD-2B260E0EB9BD}" presName="root2" presStyleCnt="0"/>
      <dgm:spPr/>
      <dgm:t>
        <a:bodyPr/>
        <a:lstStyle/>
        <a:p>
          <a:endParaRPr lang="en-US"/>
        </a:p>
      </dgm:t>
    </dgm:pt>
    <dgm:pt modelId="{9CA59F94-BE87-43CD-84A0-3D6D5786BE92}" type="pres">
      <dgm:prSet presAssocID="{86AA6FEB-0C31-4DE2-A9DD-2B260E0EB9BD}" presName="LevelTwoTextNode" presStyleLbl="node2" presStyleIdx="1" presStyleCnt="4" custScaleX="233666" custScaleY="118704">
        <dgm:presLayoutVars>
          <dgm:chPref val="3"/>
        </dgm:presLayoutVars>
      </dgm:prSet>
      <dgm:spPr/>
      <dgm:t>
        <a:bodyPr/>
        <a:lstStyle/>
        <a:p>
          <a:endParaRPr lang="en-US"/>
        </a:p>
      </dgm:t>
    </dgm:pt>
    <dgm:pt modelId="{5EF4562F-7D9C-46AF-B029-5504B7AF13E2}" type="pres">
      <dgm:prSet presAssocID="{86AA6FEB-0C31-4DE2-A9DD-2B260E0EB9BD}" presName="level3hierChild" presStyleCnt="0"/>
      <dgm:spPr/>
      <dgm:t>
        <a:bodyPr/>
        <a:lstStyle/>
        <a:p>
          <a:endParaRPr lang="en-US"/>
        </a:p>
      </dgm:t>
    </dgm:pt>
    <dgm:pt modelId="{1811063F-ECF0-47E5-9DFC-A6271FE98452}" type="pres">
      <dgm:prSet presAssocID="{045E704D-84F5-4B40-8242-30481EFFCDDC}" presName="conn2-1" presStyleLbl="parChTrans1D2" presStyleIdx="2" presStyleCnt="4"/>
      <dgm:spPr/>
      <dgm:t>
        <a:bodyPr/>
        <a:lstStyle/>
        <a:p>
          <a:endParaRPr lang="en-US"/>
        </a:p>
      </dgm:t>
    </dgm:pt>
    <dgm:pt modelId="{7F6DD0A0-1CE6-4E48-BD5A-63CDE6C51C4C}" type="pres">
      <dgm:prSet presAssocID="{045E704D-84F5-4B40-8242-30481EFFCDDC}" presName="connTx" presStyleLbl="parChTrans1D2" presStyleIdx="2" presStyleCnt="4"/>
      <dgm:spPr/>
      <dgm:t>
        <a:bodyPr/>
        <a:lstStyle/>
        <a:p>
          <a:endParaRPr lang="en-US"/>
        </a:p>
      </dgm:t>
    </dgm:pt>
    <dgm:pt modelId="{281DE22E-C6E6-4770-906F-BE421B47853B}" type="pres">
      <dgm:prSet presAssocID="{46E4F1B6-C07B-4318-95DA-DD1F909457B8}" presName="root2" presStyleCnt="0"/>
      <dgm:spPr/>
      <dgm:t>
        <a:bodyPr/>
        <a:lstStyle/>
        <a:p>
          <a:endParaRPr lang="en-US"/>
        </a:p>
      </dgm:t>
    </dgm:pt>
    <dgm:pt modelId="{61E4977F-E6EC-4235-B4C5-D3C95272AD9F}" type="pres">
      <dgm:prSet presAssocID="{46E4F1B6-C07B-4318-95DA-DD1F909457B8}" presName="LevelTwoTextNode" presStyleLbl="node2" presStyleIdx="2" presStyleCnt="4" custScaleX="231220" custLinFactNeighborX="810" custLinFactNeighborY="-9765">
        <dgm:presLayoutVars>
          <dgm:chPref val="3"/>
        </dgm:presLayoutVars>
      </dgm:prSet>
      <dgm:spPr/>
      <dgm:t>
        <a:bodyPr/>
        <a:lstStyle/>
        <a:p>
          <a:endParaRPr lang="en-US"/>
        </a:p>
      </dgm:t>
    </dgm:pt>
    <dgm:pt modelId="{B525B50A-FC07-42E1-8B11-4F0A52D6F988}" type="pres">
      <dgm:prSet presAssocID="{46E4F1B6-C07B-4318-95DA-DD1F909457B8}" presName="level3hierChild" presStyleCnt="0"/>
      <dgm:spPr/>
      <dgm:t>
        <a:bodyPr/>
        <a:lstStyle/>
        <a:p>
          <a:endParaRPr lang="en-US"/>
        </a:p>
      </dgm:t>
    </dgm:pt>
    <dgm:pt modelId="{73DD3D82-05B1-44EB-B195-D9889638AE0D}" type="pres">
      <dgm:prSet presAssocID="{C8E738E2-90CC-4DE8-9F73-51D09B4C07ED}" presName="conn2-1" presStyleLbl="parChTrans1D2" presStyleIdx="3" presStyleCnt="4"/>
      <dgm:spPr/>
      <dgm:t>
        <a:bodyPr/>
        <a:lstStyle/>
        <a:p>
          <a:endParaRPr lang="en-US"/>
        </a:p>
      </dgm:t>
    </dgm:pt>
    <dgm:pt modelId="{E998CB71-7182-4D1A-AB88-1583128832C3}" type="pres">
      <dgm:prSet presAssocID="{C8E738E2-90CC-4DE8-9F73-51D09B4C07ED}" presName="connTx" presStyleLbl="parChTrans1D2" presStyleIdx="3" presStyleCnt="4"/>
      <dgm:spPr/>
      <dgm:t>
        <a:bodyPr/>
        <a:lstStyle/>
        <a:p>
          <a:endParaRPr lang="en-US"/>
        </a:p>
      </dgm:t>
    </dgm:pt>
    <dgm:pt modelId="{288CA609-A357-4143-91C5-BC9C7DDD9483}" type="pres">
      <dgm:prSet presAssocID="{2C1963D0-CA1B-42D7-AAC0-1A3EB433E89A}" presName="root2" presStyleCnt="0"/>
      <dgm:spPr/>
      <dgm:t>
        <a:bodyPr/>
        <a:lstStyle/>
        <a:p>
          <a:endParaRPr lang="en-US"/>
        </a:p>
      </dgm:t>
    </dgm:pt>
    <dgm:pt modelId="{471D6A8E-B8F9-4F2D-B5BC-0FFD6D359C33}" type="pres">
      <dgm:prSet presAssocID="{2C1963D0-CA1B-42D7-AAC0-1A3EB433E89A}" presName="LevelTwoTextNode" presStyleLbl="node2" presStyleIdx="3" presStyleCnt="4" custScaleX="231707" custScaleY="109939" custLinFactNeighborX="-67" custLinFactNeighborY="-17196">
        <dgm:presLayoutVars>
          <dgm:chPref val="3"/>
        </dgm:presLayoutVars>
      </dgm:prSet>
      <dgm:spPr/>
      <dgm:t>
        <a:bodyPr/>
        <a:lstStyle/>
        <a:p>
          <a:endParaRPr lang="en-US"/>
        </a:p>
      </dgm:t>
    </dgm:pt>
    <dgm:pt modelId="{FF3AA24C-2E3C-419E-8D9D-2E0373C46E58}" type="pres">
      <dgm:prSet presAssocID="{2C1963D0-CA1B-42D7-AAC0-1A3EB433E89A}" presName="level3hierChild" presStyleCnt="0"/>
      <dgm:spPr/>
      <dgm:t>
        <a:bodyPr/>
        <a:lstStyle/>
        <a:p>
          <a:endParaRPr lang="en-US"/>
        </a:p>
      </dgm:t>
    </dgm:pt>
  </dgm:ptLst>
  <dgm:cxnLst>
    <dgm:cxn modelId="{3D7D6F51-727B-4E1D-8266-147E7929E28D}" srcId="{6804AA94-6DBA-49B5-8506-4C32D7E6B53C}" destId="{DC039E6B-6F4D-4ADB-A35A-88B25D719A1A}" srcOrd="0" destOrd="0" parTransId="{57149120-1BE3-4E48-9CA5-5D640F07865B}" sibTransId="{C726BE96-8E4B-4ACD-9D6B-255E847C7A21}"/>
    <dgm:cxn modelId="{837C748F-A9DE-4F4A-9469-FD6FE23DC001}" srcId="{6804AA94-6DBA-49B5-8506-4C32D7E6B53C}" destId="{2C1963D0-CA1B-42D7-AAC0-1A3EB433E89A}" srcOrd="3" destOrd="0" parTransId="{C8E738E2-90CC-4DE8-9F73-51D09B4C07ED}" sibTransId="{9B1D97D8-A565-43D7-92C4-354A61A84804}"/>
    <dgm:cxn modelId="{1A0FC118-379C-47FE-95E8-550441EF4A1A}" type="presOf" srcId="{C8E738E2-90CC-4DE8-9F73-51D09B4C07ED}" destId="{73DD3D82-05B1-44EB-B195-D9889638AE0D}" srcOrd="0" destOrd="0" presId="urn:microsoft.com/office/officeart/2008/layout/HorizontalMultiLevelHierarchy"/>
    <dgm:cxn modelId="{1B3BDCD5-7652-4F8D-BDE9-E3915124C98D}" srcId="{237C9CDB-A1C9-46E9-9909-DB9D0E34FDB6}" destId="{6804AA94-6DBA-49B5-8506-4C32D7E6B53C}" srcOrd="0" destOrd="0" parTransId="{A056C718-5E59-4777-84F6-9D0BD8D24705}" sibTransId="{D768C6E9-2903-4B77-A179-07B6981633C6}"/>
    <dgm:cxn modelId="{D9A15B79-CCA3-434B-8BBC-905F8888FA0C}" type="presOf" srcId="{237C9CDB-A1C9-46E9-9909-DB9D0E34FDB6}" destId="{189E7B23-F6AA-4376-BDBD-41E3CE34E61E}" srcOrd="0" destOrd="0" presId="urn:microsoft.com/office/officeart/2008/layout/HorizontalMultiLevelHierarchy"/>
    <dgm:cxn modelId="{812CFBFA-5104-4EEF-8454-7E0A4A45AFA7}" type="presOf" srcId="{045E704D-84F5-4B40-8242-30481EFFCDDC}" destId="{7F6DD0A0-1CE6-4E48-BD5A-63CDE6C51C4C}" srcOrd="1" destOrd="0" presId="urn:microsoft.com/office/officeart/2008/layout/HorizontalMultiLevelHierarchy"/>
    <dgm:cxn modelId="{C2655CE0-5B0A-4BAF-A8F5-FD1AA38B6B03}" type="presOf" srcId="{C8E738E2-90CC-4DE8-9F73-51D09B4C07ED}" destId="{E998CB71-7182-4D1A-AB88-1583128832C3}" srcOrd="1" destOrd="0" presId="urn:microsoft.com/office/officeart/2008/layout/HorizontalMultiLevelHierarchy"/>
    <dgm:cxn modelId="{5D940B64-8EFE-4525-8F99-434F45B2688E}" type="presOf" srcId="{246F22F6-FA36-4EE6-848D-DA49F6033D17}" destId="{6E7B7423-5D6B-4100-B8AD-AF4D5379F926}" srcOrd="1" destOrd="0" presId="urn:microsoft.com/office/officeart/2008/layout/HorizontalMultiLevelHierarchy"/>
    <dgm:cxn modelId="{EA41348A-8FE0-47FE-9D8F-F3B1DBB967E1}" srcId="{6804AA94-6DBA-49B5-8506-4C32D7E6B53C}" destId="{46E4F1B6-C07B-4318-95DA-DD1F909457B8}" srcOrd="2" destOrd="0" parTransId="{045E704D-84F5-4B40-8242-30481EFFCDDC}" sibTransId="{F9F3D29D-0736-4641-B569-0B83F34F5CCE}"/>
    <dgm:cxn modelId="{0EADAF84-9354-45A4-BF3E-04BCE2D3177D}" type="presOf" srcId="{6804AA94-6DBA-49B5-8506-4C32D7E6B53C}" destId="{347F5FF7-A773-456D-8713-CDA554344E3D}" srcOrd="0" destOrd="0" presId="urn:microsoft.com/office/officeart/2008/layout/HorizontalMultiLevelHierarchy"/>
    <dgm:cxn modelId="{8E1CAE64-B673-4064-8A25-C8D7EC0F14AC}" type="presOf" srcId="{57149120-1BE3-4E48-9CA5-5D640F07865B}" destId="{96E2C2DF-E63D-434E-A056-70CFE313F5DB}" srcOrd="1" destOrd="0" presId="urn:microsoft.com/office/officeart/2008/layout/HorizontalMultiLevelHierarchy"/>
    <dgm:cxn modelId="{8D2433F5-E67E-44B0-87C0-864355905F90}" type="presOf" srcId="{46E4F1B6-C07B-4318-95DA-DD1F909457B8}" destId="{61E4977F-E6EC-4235-B4C5-D3C95272AD9F}" srcOrd="0" destOrd="0" presId="urn:microsoft.com/office/officeart/2008/layout/HorizontalMultiLevelHierarchy"/>
    <dgm:cxn modelId="{391E32C8-D839-4A61-A545-06427EE3F4C2}" type="presOf" srcId="{86AA6FEB-0C31-4DE2-A9DD-2B260E0EB9BD}" destId="{9CA59F94-BE87-43CD-84A0-3D6D5786BE92}" srcOrd="0" destOrd="0" presId="urn:microsoft.com/office/officeart/2008/layout/HorizontalMultiLevelHierarchy"/>
    <dgm:cxn modelId="{516C2CF3-50A6-42AC-B604-7D6EA7F62077}" type="presOf" srcId="{246F22F6-FA36-4EE6-848D-DA49F6033D17}" destId="{DEC7D8DF-3B17-4C16-B206-83269765828C}" srcOrd="0" destOrd="0" presId="urn:microsoft.com/office/officeart/2008/layout/HorizontalMultiLevelHierarchy"/>
    <dgm:cxn modelId="{095253C3-7E20-4349-B0EB-159587439B22}" type="presOf" srcId="{57149120-1BE3-4E48-9CA5-5D640F07865B}" destId="{5A73A283-C02D-47F5-88EF-CFC126A19B2B}" srcOrd="0" destOrd="0" presId="urn:microsoft.com/office/officeart/2008/layout/HorizontalMultiLevelHierarchy"/>
    <dgm:cxn modelId="{86E51796-9007-4D11-8083-A90305AEE0A8}" type="presOf" srcId="{045E704D-84F5-4B40-8242-30481EFFCDDC}" destId="{1811063F-ECF0-47E5-9DFC-A6271FE98452}" srcOrd="0" destOrd="0" presId="urn:microsoft.com/office/officeart/2008/layout/HorizontalMultiLevelHierarchy"/>
    <dgm:cxn modelId="{17BCF4FF-3ECF-42BC-BB4E-D6D0D7CAFFB0}" type="presOf" srcId="{2C1963D0-CA1B-42D7-AAC0-1A3EB433E89A}" destId="{471D6A8E-B8F9-4F2D-B5BC-0FFD6D359C33}" srcOrd="0" destOrd="0" presId="urn:microsoft.com/office/officeart/2008/layout/HorizontalMultiLevelHierarchy"/>
    <dgm:cxn modelId="{4C6C9A2E-A6BB-49EF-8AE4-0C98D1BCB039}" type="presOf" srcId="{DC039E6B-6F4D-4ADB-A35A-88B25D719A1A}" destId="{285615D9-6856-4134-83A6-C343D893D6F4}" srcOrd="0" destOrd="0" presId="urn:microsoft.com/office/officeart/2008/layout/HorizontalMultiLevelHierarchy"/>
    <dgm:cxn modelId="{D7D614FB-5ED9-45E0-9F07-2B241188799E}" srcId="{6804AA94-6DBA-49B5-8506-4C32D7E6B53C}" destId="{86AA6FEB-0C31-4DE2-A9DD-2B260E0EB9BD}" srcOrd="1" destOrd="0" parTransId="{246F22F6-FA36-4EE6-848D-DA49F6033D17}" sibTransId="{D57862CB-BDCB-47E1-8E8D-56A04F66D73C}"/>
    <dgm:cxn modelId="{4A1B3049-5E52-4AB5-9BBA-7438CAFAA9EE}" type="presParOf" srcId="{189E7B23-F6AA-4376-BDBD-41E3CE34E61E}" destId="{3B24435A-B2AD-492F-AC29-12CB88F53F73}" srcOrd="0" destOrd="0" presId="urn:microsoft.com/office/officeart/2008/layout/HorizontalMultiLevelHierarchy"/>
    <dgm:cxn modelId="{C0B918F0-71EF-438E-A9A2-C5EB3A6C4E1B}" type="presParOf" srcId="{3B24435A-B2AD-492F-AC29-12CB88F53F73}" destId="{347F5FF7-A773-456D-8713-CDA554344E3D}" srcOrd="0" destOrd="0" presId="urn:microsoft.com/office/officeart/2008/layout/HorizontalMultiLevelHierarchy"/>
    <dgm:cxn modelId="{A8722A7E-D658-4F6F-8989-E1C91EC6E736}" type="presParOf" srcId="{3B24435A-B2AD-492F-AC29-12CB88F53F73}" destId="{8F7DE7A3-922F-44BB-8F13-D09DC6347163}" srcOrd="1" destOrd="0" presId="urn:microsoft.com/office/officeart/2008/layout/HorizontalMultiLevelHierarchy"/>
    <dgm:cxn modelId="{A74CCF7C-EA5A-4424-88BF-BFA7B76D932F}" type="presParOf" srcId="{8F7DE7A3-922F-44BB-8F13-D09DC6347163}" destId="{5A73A283-C02D-47F5-88EF-CFC126A19B2B}" srcOrd="0" destOrd="0" presId="urn:microsoft.com/office/officeart/2008/layout/HorizontalMultiLevelHierarchy"/>
    <dgm:cxn modelId="{22B828F1-71E2-408B-917C-D86A10A8F2A7}" type="presParOf" srcId="{5A73A283-C02D-47F5-88EF-CFC126A19B2B}" destId="{96E2C2DF-E63D-434E-A056-70CFE313F5DB}" srcOrd="0" destOrd="0" presId="urn:microsoft.com/office/officeart/2008/layout/HorizontalMultiLevelHierarchy"/>
    <dgm:cxn modelId="{0016FA86-36D8-476C-96F3-C72ABC83B928}" type="presParOf" srcId="{8F7DE7A3-922F-44BB-8F13-D09DC6347163}" destId="{DDD91DFC-E03F-49A3-9752-E3651A5BB190}" srcOrd="1" destOrd="0" presId="urn:microsoft.com/office/officeart/2008/layout/HorizontalMultiLevelHierarchy"/>
    <dgm:cxn modelId="{ACD9E4F8-67FF-4081-91E9-7704F786ED9E}" type="presParOf" srcId="{DDD91DFC-E03F-49A3-9752-E3651A5BB190}" destId="{285615D9-6856-4134-83A6-C343D893D6F4}" srcOrd="0" destOrd="0" presId="urn:microsoft.com/office/officeart/2008/layout/HorizontalMultiLevelHierarchy"/>
    <dgm:cxn modelId="{86CB335E-A51C-46EA-A491-D0F5CE6958FA}" type="presParOf" srcId="{DDD91DFC-E03F-49A3-9752-E3651A5BB190}" destId="{57CB26C1-453D-4D2D-85E6-1ECB56643E6E}" srcOrd="1" destOrd="0" presId="urn:microsoft.com/office/officeart/2008/layout/HorizontalMultiLevelHierarchy"/>
    <dgm:cxn modelId="{E7596EE8-5333-4AA4-A8B1-9AACE96C052D}" type="presParOf" srcId="{8F7DE7A3-922F-44BB-8F13-D09DC6347163}" destId="{DEC7D8DF-3B17-4C16-B206-83269765828C}" srcOrd="2" destOrd="0" presId="urn:microsoft.com/office/officeart/2008/layout/HorizontalMultiLevelHierarchy"/>
    <dgm:cxn modelId="{7F511733-36A9-4E14-8613-4ACBDBD7B37E}" type="presParOf" srcId="{DEC7D8DF-3B17-4C16-B206-83269765828C}" destId="{6E7B7423-5D6B-4100-B8AD-AF4D5379F926}" srcOrd="0" destOrd="0" presId="urn:microsoft.com/office/officeart/2008/layout/HorizontalMultiLevelHierarchy"/>
    <dgm:cxn modelId="{9252B05E-3DE8-4E90-A356-C92CF9BB09D6}" type="presParOf" srcId="{8F7DE7A3-922F-44BB-8F13-D09DC6347163}" destId="{4DD8CFCC-E141-4EEB-9C74-3ADF99B31463}" srcOrd="3" destOrd="0" presId="urn:microsoft.com/office/officeart/2008/layout/HorizontalMultiLevelHierarchy"/>
    <dgm:cxn modelId="{4F520DAA-9FED-436D-B88E-8582C9F9843F}" type="presParOf" srcId="{4DD8CFCC-E141-4EEB-9C74-3ADF99B31463}" destId="{9CA59F94-BE87-43CD-84A0-3D6D5786BE92}" srcOrd="0" destOrd="0" presId="urn:microsoft.com/office/officeart/2008/layout/HorizontalMultiLevelHierarchy"/>
    <dgm:cxn modelId="{45F95BD2-7D31-454E-B3D1-D039940BF4D9}" type="presParOf" srcId="{4DD8CFCC-E141-4EEB-9C74-3ADF99B31463}" destId="{5EF4562F-7D9C-46AF-B029-5504B7AF13E2}" srcOrd="1" destOrd="0" presId="urn:microsoft.com/office/officeart/2008/layout/HorizontalMultiLevelHierarchy"/>
    <dgm:cxn modelId="{B9BEFDE7-1F8E-4628-AEF0-FDDDBE875248}" type="presParOf" srcId="{8F7DE7A3-922F-44BB-8F13-D09DC6347163}" destId="{1811063F-ECF0-47E5-9DFC-A6271FE98452}" srcOrd="4" destOrd="0" presId="urn:microsoft.com/office/officeart/2008/layout/HorizontalMultiLevelHierarchy"/>
    <dgm:cxn modelId="{EF0BAB80-F536-4069-B220-3DB94C34C259}" type="presParOf" srcId="{1811063F-ECF0-47E5-9DFC-A6271FE98452}" destId="{7F6DD0A0-1CE6-4E48-BD5A-63CDE6C51C4C}" srcOrd="0" destOrd="0" presId="urn:microsoft.com/office/officeart/2008/layout/HorizontalMultiLevelHierarchy"/>
    <dgm:cxn modelId="{C0E3B7FE-48D3-4A67-81D1-A413F8555265}" type="presParOf" srcId="{8F7DE7A3-922F-44BB-8F13-D09DC6347163}" destId="{281DE22E-C6E6-4770-906F-BE421B47853B}" srcOrd="5" destOrd="0" presId="urn:microsoft.com/office/officeart/2008/layout/HorizontalMultiLevelHierarchy"/>
    <dgm:cxn modelId="{87866932-5834-4372-B96D-0D40BDA95B89}" type="presParOf" srcId="{281DE22E-C6E6-4770-906F-BE421B47853B}" destId="{61E4977F-E6EC-4235-B4C5-D3C95272AD9F}" srcOrd="0" destOrd="0" presId="urn:microsoft.com/office/officeart/2008/layout/HorizontalMultiLevelHierarchy"/>
    <dgm:cxn modelId="{4B5142B9-28E2-4BE2-BCAA-7D9A70ADFD64}" type="presParOf" srcId="{281DE22E-C6E6-4770-906F-BE421B47853B}" destId="{B525B50A-FC07-42E1-8B11-4F0A52D6F988}" srcOrd="1" destOrd="0" presId="urn:microsoft.com/office/officeart/2008/layout/HorizontalMultiLevelHierarchy"/>
    <dgm:cxn modelId="{81E2750D-6918-436E-AB96-783A40524D99}" type="presParOf" srcId="{8F7DE7A3-922F-44BB-8F13-D09DC6347163}" destId="{73DD3D82-05B1-44EB-B195-D9889638AE0D}" srcOrd="6" destOrd="0" presId="urn:microsoft.com/office/officeart/2008/layout/HorizontalMultiLevelHierarchy"/>
    <dgm:cxn modelId="{941B1393-26C8-474B-BD4B-179836634267}" type="presParOf" srcId="{73DD3D82-05B1-44EB-B195-D9889638AE0D}" destId="{E998CB71-7182-4D1A-AB88-1583128832C3}" srcOrd="0" destOrd="0" presId="urn:microsoft.com/office/officeart/2008/layout/HorizontalMultiLevelHierarchy"/>
    <dgm:cxn modelId="{F18726A2-124B-42A2-88E7-4973FBAE3038}" type="presParOf" srcId="{8F7DE7A3-922F-44BB-8F13-D09DC6347163}" destId="{288CA609-A357-4143-91C5-BC9C7DDD9483}" srcOrd="7" destOrd="0" presId="urn:microsoft.com/office/officeart/2008/layout/HorizontalMultiLevelHierarchy"/>
    <dgm:cxn modelId="{2E344F69-1211-47EC-8790-1DCD82D9C662}" type="presParOf" srcId="{288CA609-A357-4143-91C5-BC9C7DDD9483}" destId="{471D6A8E-B8F9-4F2D-B5BC-0FFD6D359C33}" srcOrd="0" destOrd="0" presId="urn:microsoft.com/office/officeart/2008/layout/HorizontalMultiLevelHierarchy"/>
    <dgm:cxn modelId="{8616C97B-65AE-4731-A982-D62016650F1F}" type="presParOf" srcId="{288CA609-A357-4143-91C5-BC9C7DDD9483}" destId="{FF3AA24C-2E3C-419E-8D9D-2E0373C46E58}"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C47843-DBB8-46A7-B9C4-240BD6C21954}" type="doc">
      <dgm:prSet loTypeId="urn:microsoft.com/office/officeart/2005/8/layout/radial3" loCatId="relationship" qsTypeId="urn:microsoft.com/office/officeart/2005/8/quickstyle/3d1" qsCatId="3D" csTypeId="urn:microsoft.com/office/officeart/2005/8/colors/accent2_2" csCatId="accent2" phldr="1"/>
      <dgm:spPr/>
      <dgm:t>
        <a:bodyPr/>
        <a:lstStyle/>
        <a:p>
          <a:endParaRPr lang="en-US"/>
        </a:p>
      </dgm:t>
    </dgm:pt>
    <dgm:pt modelId="{850C3413-6C71-4099-84EB-796397D2089B}">
      <dgm:prSet phldrT="[Text]" custT="1"/>
      <dgm:spPr/>
      <dgm:t>
        <a:bodyPr/>
        <a:lstStyle/>
        <a:p>
          <a:r>
            <a:rPr lang="en-US" sz="4400" dirty="0" err="1" smtClean="0">
              <a:latin typeface="Arial" pitchFamily="34" charset="0"/>
              <a:cs typeface="Arial" pitchFamily="34" charset="0"/>
            </a:rPr>
            <a:t>Các</a:t>
          </a:r>
          <a:r>
            <a:rPr lang="en-US" sz="4400" dirty="0" smtClean="0">
              <a:latin typeface="Arial" pitchFamily="34" charset="0"/>
              <a:cs typeface="Arial" pitchFamily="34" charset="0"/>
            </a:rPr>
            <a:t> </a:t>
          </a:r>
          <a:r>
            <a:rPr lang="en-US" sz="4400" dirty="0" err="1" smtClean="0">
              <a:latin typeface="Arial" pitchFamily="34" charset="0"/>
              <a:cs typeface="Arial" pitchFamily="34" charset="0"/>
            </a:rPr>
            <a:t>thể</a:t>
          </a:r>
          <a:r>
            <a:rPr lang="en-US" sz="4400" dirty="0" smtClean="0">
              <a:latin typeface="Arial" pitchFamily="34" charset="0"/>
              <a:cs typeface="Arial" pitchFamily="34" charset="0"/>
            </a:rPr>
            <a:t> </a:t>
          </a:r>
          <a:r>
            <a:rPr lang="en-US" sz="4400" dirty="0" err="1" smtClean="0">
              <a:latin typeface="Arial" pitchFamily="34" charset="0"/>
              <a:cs typeface="Arial" pitchFamily="34" charset="0"/>
            </a:rPr>
            <a:t>lâm</a:t>
          </a:r>
          <a:r>
            <a:rPr lang="en-US" sz="4400" dirty="0" smtClean="0">
              <a:latin typeface="Arial" pitchFamily="34" charset="0"/>
              <a:cs typeface="Arial" pitchFamily="34" charset="0"/>
            </a:rPr>
            <a:t> </a:t>
          </a:r>
          <a:r>
            <a:rPr lang="en-US" sz="4400" dirty="0" err="1" smtClean="0">
              <a:latin typeface="Arial" pitchFamily="34" charset="0"/>
              <a:cs typeface="Arial" pitchFamily="34" charset="0"/>
            </a:rPr>
            <a:t>sàng</a:t>
          </a:r>
          <a:endParaRPr lang="en-US" sz="4400" dirty="0">
            <a:latin typeface="Arial" pitchFamily="34" charset="0"/>
            <a:cs typeface="Arial" pitchFamily="34" charset="0"/>
          </a:endParaRPr>
        </a:p>
      </dgm:t>
    </dgm:pt>
    <dgm:pt modelId="{BD80A2C8-6CCB-4668-860C-7C659BDA78FE}" type="parTrans" cxnId="{C6DBCF19-8CCD-47EC-A795-C0F6629446A2}">
      <dgm:prSet/>
      <dgm:spPr/>
      <dgm:t>
        <a:bodyPr/>
        <a:lstStyle/>
        <a:p>
          <a:endParaRPr lang="en-US"/>
        </a:p>
      </dgm:t>
    </dgm:pt>
    <dgm:pt modelId="{2656E89F-90B0-47EC-8538-DF231C46CCC3}" type="sibTrans" cxnId="{C6DBCF19-8CCD-47EC-A795-C0F6629446A2}">
      <dgm:prSet/>
      <dgm:spPr/>
      <dgm:t>
        <a:bodyPr/>
        <a:lstStyle/>
        <a:p>
          <a:endParaRPr lang="en-US"/>
        </a:p>
      </dgm:t>
    </dgm:pt>
    <dgm:pt modelId="{5CD5CD32-9034-4A50-880F-20A2BC589588}">
      <dgm:prSet phldrT="[Text]" custT="1"/>
      <dgm:spPr/>
      <dgm:t>
        <a:bodyPr/>
        <a:lstStyle/>
        <a:p>
          <a:r>
            <a:rPr lang="en-US" sz="2400" dirty="0" err="1" smtClean="0">
              <a:latin typeface="Arial" pitchFamily="34" charset="0"/>
              <a:cs typeface="Arial" pitchFamily="34" charset="0"/>
            </a:rPr>
            <a:t>Thể</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nhẹ</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cấp</a:t>
          </a:r>
          <a:endParaRPr lang="en-US" sz="2400" dirty="0">
            <a:latin typeface="Arial" pitchFamily="34" charset="0"/>
            <a:cs typeface="Arial" pitchFamily="34" charset="0"/>
          </a:endParaRPr>
        </a:p>
      </dgm:t>
    </dgm:pt>
    <dgm:pt modelId="{7023FCC5-E8C9-4F3E-A17C-79BFC4EEE197}" type="parTrans" cxnId="{20922D6C-C9BB-48F1-8ED6-322259F139DF}">
      <dgm:prSet/>
      <dgm:spPr/>
      <dgm:t>
        <a:bodyPr/>
        <a:lstStyle/>
        <a:p>
          <a:endParaRPr lang="en-US"/>
        </a:p>
      </dgm:t>
    </dgm:pt>
    <dgm:pt modelId="{8A1C77BE-B35B-49B0-9FBD-F87CFB39456A}" type="sibTrans" cxnId="{20922D6C-C9BB-48F1-8ED6-322259F139DF}">
      <dgm:prSet/>
      <dgm:spPr/>
      <dgm:t>
        <a:bodyPr/>
        <a:lstStyle/>
        <a:p>
          <a:endParaRPr lang="en-US"/>
        </a:p>
      </dgm:t>
    </dgm:pt>
    <dgm:pt modelId="{C3A878A1-8D77-4FC7-979C-77114013CB69}">
      <dgm:prSet phldrT="[Text]" custT="1"/>
      <dgm:spPr/>
      <dgm:t>
        <a:bodyPr/>
        <a:lstStyle/>
        <a:p>
          <a:r>
            <a:rPr lang="en-US" sz="2400" dirty="0" err="1" smtClean="0">
              <a:latin typeface="Arial" pitchFamily="34" charset="0"/>
              <a:cs typeface="Arial" pitchFamily="34" charset="0"/>
            </a:rPr>
            <a:t>Thể</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vừa</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cấp</a:t>
          </a:r>
          <a:endParaRPr lang="en-US" sz="2400" dirty="0">
            <a:latin typeface="Arial" pitchFamily="34" charset="0"/>
            <a:cs typeface="Arial" pitchFamily="34" charset="0"/>
          </a:endParaRPr>
        </a:p>
      </dgm:t>
    </dgm:pt>
    <dgm:pt modelId="{F5273CB8-7C9C-4D82-945F-C8D6BD1F2CC8}" type="parTrans" cxnId="{EEE91DDF-538A-4B99-938F-35C2CEC0FC60}">
      <dgm:prSet/>
      <dgm:spPr/>
      <dgm:t>
        <a:bodyPr/>
        <a:lstStyle/>
        <a:p>
          <a:endParaRPr lang="en-US"/>
        </a:p>
      </dgm:t>
    </dgm:pt>
    <dgm:pt modelId="{CD59D77E-8F5D-42B5-B6E7-205751158D05}" type="sibTrans" cxnId="{EEE91DDF-538A-4B99-938F-35C2CEC0FC60}">
      <dgm:prSet/>
      <dgm:spPr/>
      <dgm:t>
        <a:bodyPr/>
        <a:lstStyle/>
        <a:p>
          <a:endParaRPr lang="en-US"/>
        </a:p>
      </dgm:t>
    </dgm:pt>
    <dgm:pt modelId="{4A35286D-8160-436F-BA92-C88F3FF1122D}">
      <dgm:prSet phldrT="[Text]" custT="1"/>
      <dgm:spPr/>
      <dgm:t>
        <a:bodyPr/>
        <a:lstStyle/>
        <a:p>
          <a:r>
            <a:rPr lang="en-US" sz="2400" dirty="0" err="1" smtClean="0">
              <a:latin typeface="Arial" pitchFamily="34" charset="0"/>
              <a:cs typeface="Arial" pitchFamily="34" charset="0"/>
            </a:rPr>
            <a:t>Lỵ</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cấp</a:t>
          </a:r>
          <a:r>
            <a:rPr lang="en-US" sz="2400" dirty="0" smtClean="0">
              <a:latin typeface="Arial" pitchFamily="34" charset="0"/>
              <a:cs typeface="Arial" pitchFamily="34" charset="0"/>
            </a:rPr>
            <a:t> ở </a:t>
          </a:r>
          <a:r>
            <a:rPr lang="en-US" sz="2400" dirty="0" err="1" smtClean="0">
              <a:latin typeface="Arial" pitchFamily="34" charset="0"/>
              <a:cs typeface="Arial" pitchFamily="34" charset="0"/>
            </a:rPr>
            <a:t>trẻ</a:t>
          </a:r>
          <a:r>
            <a:rPr lang="en-US" sz="2400" dirty="0" smtClean="0">
              <a:latin typeface="Arial" pitchFamily="34" charset="0"/>
              <a:cs typeface="Arial" pitchFamily="34" charset="0"/>
            </a:rPr>
            <a:t> &lt;1 </a:t>
          </a:r>
          <a:r>
            <a:rPr lang="en-US" sz="2400" dirty="0" err="1" smtClean="0">
              <a:latin typeface="Arial" pitchFamily="34" charset="0"/>
              <a:cs typeface="Arial" pitchFamily="34" charset="0"/>
            </a:rPr>
            <a:t>tuổi</a:t>
          </a:r>
          <a:endParaRPr lang="en-US" sz="2400" dirty="0">
            <a:latin typeface="Arial" pitchFamily="34" charset="0"/>
            <a:cs typeface="Arial" pitchFamily="34" charset="0"/>
          </a:endParaRPr>
        </a:p>
      </dgm:t>
    </dgm:pt>
    <dgm:pt modelId="{2F1F304B-5AC8-423D-8A2C-2FB3DAEDAF6A}" type="parTrans" cxnId="{94A81198-93A9-4733-BCB2-19E48D6020D2}">
      <dgm:prSet/>
      <dgm:spPr/>
      <dgm:t>
        <a:bodyPr/>
        <a:lstStyle/>
        <a:p>
          <a:endParaRPr lang="en-US"/>
        </a:p>
      </dgm:t>
    </dgm:pt>
    <dgm:pt modelId="{4A5FB591-78B8-4F30-9669-26BC7C121967}" type="sibTrans" cxnId="{94A81198-93A9-4733-BCB2-19E48D6020D2}">
      <dgm:prSet/>
      <dgm:spPr/>
      <dgm:t>
        <a:bodyPr/>
        <a:lstStyle/>
        <a:p>
          <a:endParaRPr lang="en-US"/>
        </a:p>
      </dgm:t>
    </dgm:pt>
    <dgm:pt modelId="{6BB78EEB-DBEE-4042-A66F-4A744EA6AB1D}">
      <dgm:prSet phldrT="[Text]" custT="1"/>
      <dgm:spPr/>
      <dgm:t>
        <a:bodyPr/>
        <a:lstStyle/>
        <a:p>
          <a:r>
            <a:rPr lang="en-US" sz="2400" dirty="0" err="1" smtClean="0">
              <a:latin typeface="Arial" pitchFamily="34" charset="0"/>
              <a:cs typeface="Arial" pitchFamily="34" charset="0"/>
            </a:rPr>
            <a:t>Thể</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dạ</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dày</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ruột</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cấp</a:t>
          </a:r>
          <a:endParaRPr lang="en-US" sz="2400" dirty="0">
            <a:latin typeface="Arial" pitchFamily="34" charset="0"/>
            <a:cs typeface="Arial" pitchFamily="34" charset="0"/>
          </a:endParaRPr>
        </a:p>
      </dgm:t>
    </dgm:pt>
    <dgm:pt modelId="{50A1C49A-612D-4B1D-BE58-7B0E878045DE}" type="parTrans" cxnId="{765B3BCD-0223-405B-A3B9-3F8A3182A053}">
      <dgm:prSet/>
      <dgm:spPr/>
      <dgm:t>
        <a:bodyPr/>
        <a:lstStyle/>
        <a:p>
          <a:endParaRPr lang="en-US"/>
        </a:p>
      </dgm:t>
    </dgm:pt>
    <dgm:pt modelId="{6C99F963-34AD-4FD2-A358-9D30A58EF722}" type="sibTrans" cxnId="{765B3BCD-0223-405B-A3B9-3F8A3182A053}">
      <dgm:prSet/>
      <dgm:spPr/>
      <dgm:t>
        <a:bodyPr/>
        <a:lstStyle/>
        <a:p>
          <a:endParaRPr lang="en-US"/>
        </a:p>
      </dgm:t>
    </dgm:pt>
    <dgm:pt modelId="{D882BC75-C441-4315-BCD9-414106FFB4E1}">
      <dgm:prSet custT="1"/>
      <dgm:spPr/>
      <dgm:t>
        <a:bodyPr/>
        <a:lstStyle/>
        <a:p>
          <a:r>
            <a:rPr lang="en-US" sz="2400" dirty="0" err="1" smtClean="0">
              <a:latin typeface="Arial" pitchFamily="34" charset="0"/>
              <a:cs typeface="Arial" pitchFamily="34" charset="0"/>
            </a:rPr>
            <a:t>Thể</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nặng</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cấp</a:t>
          </a:r>
          <a:endParaRPr lang="en-US" sz="2400" dirty="0">
            <a:latin typeface="Arial" pitchFamily="34" charset="0"/>
            <a:cs typeface="Arial" pitchFamily="34" charset="0"/>
          </a:endParaRPr>
        </a:p>
      </dgm:t>
    </dgm:pt>
    <dgm:pt modelId="{FB87452A-6CF3-490E-AA34-297DF46E1AE2}" type="parTrans" cxnId="{1E207CE2-A521-4F01-9578-9415173991D5}">
      <dgm:prSet/>
      <dgm:spPr/>
      <dgm:t>
        <a:bodyPr/>
        <a:lstStyle/>
        <a:p>
          <a:endParaRPr lang="en-US"/>
        </a:p>
      </dgm:t>
    </dgm:pt>
    <dgm:pt modelId="{B62E4003-AD10-4312-8161-EB4D188D9F28}" type="sibTrans" cxnId="{1E207CE2-A521-4F01-9578-9415173991D5}">
      <dgm:prSet/>
      <dgm:spPr/>
      <dgm:t>
        <a:bodyPr/>
        <a:lstStyle/>
        <a:p>
          <a:endParaRPr lang="en-US"/>
        </a:p>
      </dgm:t>
    </dgm:pt>
    <dgm:pt modelId="{5F8033BF-B3E2-48E7-A9B9-49D7B12A6302}">
      <dgm:prSet phldrT="[Text]" custT="1"/>
      <dgm:spPr/>
      <dgm:t>
        <a:bodyPr/>
        <a:lstStyle/>
        <a:p>
          <a:r>
            <a:rPr lang="en-US" sz="2400" dirty="0" err="1" smtClean="0">
              <a:latin typeface="Arial" pitchFamily="34" charset="0"/>
              <a:cs typeface="Arial" pitchFamily="34" charset="0"/>
            </a:rPr>
            <a:t>Thể</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tối</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độc</a:t>
          </a:r>
          <a:endParaRPr lang="en-US" sz="2400" dirty="0">
            <a:latin typeface="Arial" pitchFamily="34" charset="0"/>
            <a:cs typeface="Arial" pitchFamily="34" charset="0"/>
          </a:endParaRPr>
        </a:p>
      </dgm:t>
    </dgm:pt>
    <dgm:pt modelId="{65537869-0B97-4D14-9859-76F7C2D63C1F}" type="parTrans" cxnId="{357FF11D-21D0-4559-A375-3441A6EC8A13}">
      <dgm:prSet/>
      <dgm:spPr/>
      <dgm:t>
        <a:bodyPr/>
        <a:lstStyle/>
        <a:p>
          <a:endParaRPr lang="en-US"/>
        </a:p>
      </dgm:t>
    </dgm:pt>
    <dgm:pt modelId="{D036FF09-97F3-4BE5-A3CE-D9CD17B3A916}" type="sibTrans" cxnId="{357FF11D-21D0-4559-A375-3441A6EC8A13}">
      <dgm:prSet/>
      <dgm:spPr/>
      <dgm:t>
        <a:bodyPr/>
        <a:lstStyle/>
        <a:p>
          <a:endParaRPr lang="en-US"/>
        </a:p>
      </dgm:t>
    </dgm:pt>
    <dgm:pt modelId="{1F93A467-6281-4A19-9161-74E1D154C68E}">
      <dgm:prSet phldrT="[Text]" custT="1"/>
      <dgm:spPr/>
      <dgm:t>
        <a:bodyPr/>
        <a:lstStyle/>
        <a:p>
          <a:r>
            <a:rPr lang="en-US" sz="2400" dirty="0" err="1" smtClean="0">
              <a:latin typeface="Arial" pitchFamily="34" charset="0"/>
              <a:cs typeface="Arial" pitchFamily="34" charset="0"/>
            </a:rPr>
            <a:t>Lỵ</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kéo</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dài</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mạn</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tính</a:t>
          </a:r>
          <a:endParaRPr lang="en-US" sz="2400" dirty="0">
            <a:latin typeface="Arial" pitchFamily="34" charset="0"/>
            <a:cs typeface="Arial" pitchFamily="34" charset="0"/>
          </a:endParaRPr>
        </a:p>
      </dgm:t>
    </dgm:pt>
    <dgm:pt modelId="{C703214B-912E-45A9-84AB-A9F683EF68F3}" type="parTrans" cxnId="{B89D9465-3C55-4E77-AA8D-79D18D5FE273}">
      <dgm:prSet/>
      <dgm:spPr/>
      <dgm:t>
        <a:bodyPr/>
        <a:lstStyle/>
        <a:p>
          <a:endParaRPr lang="en-US"/>
        </a:p>
      </dgm:t>
    </dgm:pt>
    <dgm:pt modelId="{113571B4-35E2-4B8D-A7C0-831E4FD125E8}" type="sibTrans" cxnId="{B89D9465-3C55-4E77-AA8D-79D18D5FE273}">
      <dgm:prSet/>
      <dgm:spPr/>
      <dgm:t>
        <a:bodyPr/>
        <a:lstStyle/>
        <a:p>
          <a:endParaRPr lang="en-US"/>
        </a:p>
      </dgm:t>
    </dgm:pt>
    <dgm:pt modelId="{96A84DF6-6CED-4813-8533-DB4D2DF05B65}" type="pres">
      <dgm:prSet presAssocID="{3DC47843-DBB8-46A7-B9C4-240BD6C21954}" presName="composite" presStyleCnt="0">
        <dgm:presLayoutVars>
          <dgm:chMax val="1"/>
          <dgm:dir/>
          <dgm:resizeHandles val="exact"/>
        </dgm:presLayoutVars>
      </dgm:prSet>
      <dgm:spPr/>
      <dgm:t>
        <a:bodyPr/>
        <a:lstStyle/>
        <a:p>
          <a:endParaRPr lang="en-US"/>
        </a:p>
      </dgm:t>
    </dgm:pt>
    <dgm:pt modelId="{39037999-E782-43D5-992D-0BF9D65E8E87}" type="pres">
      <dgm:prSet presAssocID="{3DC47843-DBB8-46A7-B9C4-240BD6C21954}" presName="radial" presStyleCnt="0">
        <dgm:presLayoutVars>
          <dgm:animLvl val="ctr"/>
        </dgm:presLayoutVars>
      </dgm:prSet>
      <dgm:spPr/>
      <dgm:t>
        <a:bodyPr/>
        <a:lstStyle/>
        <a:p>
          <a:endParaRPr lang="en-US"/>
        </a:p>
      </dgm:t>
    </dgm:pt>
    <dgm:pt modelId="{96F8DF7D-D0D9-40B0-9FF9-3B7ECCAF4F85}" type="pres">
      <dgm:prSet presAssocID="{850C3413-6C71-4099-84EB-796397D2089B}" presName="centerShape" presStyleLbl="vennNode1" presStyleIdx="0" presStyleCnt="8"/>
      <dgm:spPr/>
      <dgm:t>
        <a:bodyPr/>
        <a:lstStyle/>
        <a:p>
          <a:endParaRPr lang="en-US"/>
        </a:p>
      </dgm:t>
    </dgm:pt>
    <dgm:pt modelId="{3FEFE936-817E-40BA-A312-5F5C38C087AA}" type="pres">
      <dgm:prSet presAssocID="{5CD5CD32-9034-4A50-880F-20A2BC589588}" presName="node" presStyleLbl="vennNode1" presStyleIdx="1" presStyleCnt="8" custScaleY="89148" custRadScaleRad="109220" custRadScaleInc="-1651">
        <dgm:presLayoutVars>
          <dgm:bulletEnabled val="1"/>
        </dgm:presLayoutVars>
      </dgm:prSet>
      <dgm:spPr/>
      <dgm:t>
        <a:bodyPr/>
        <a:lstStyle/>
        <a:p>
          <a:endParaRPr lang="en-US"/>
        </a:p>
      </dgm:t>
    </dgm:pt>
    <dgm:pt modelId="{7CB45005-7EA5-4538-90D5-50F81590D81C}" type="pres">
      <dgm:prSet presAssocID="{C3A878A1-8D77-4FC7-979C-77114013CB69}" presName="node" presStyleLbl="vennNode1" presStyleIdx="2" presStyleCnt="8" custRadScaleRad="105290" custRadScaleInc="1533">
        <dgm:presLayoutVars>
          <dgm:bulletEnabled val="1"/>
        </dgm:presLayoutVars>
      </dgm:prSet>
      <dgm:spPr/>
      <dgm:t>
        <a:bodyPr/>
        <a:lstStyle/>
        <a:p>
          <a:endParaRPr lang="en-US"/>
        </a:p>
      </dgm:t>
    </dgm:pt>
    <dgm:pt modelId="{4175EEA8-4B34-46F6-AEF8-DC28B1973F57}" type="pres">
      <dgm:prSet presAssocID="{D882BC75-C441-4315-BCD9-414106FFB4E1}" presName="node" presStyleLbl="vennNode1" presStyleIdx="3" presStyleCnt="8" custRadScaleRad="108046" custRadScaleInc="-5812">
        <dgm:presLayoutVars>
          <dgm:bulletEnabled val="1"/>
        </dgm:presLayoutVars>
      </dgm:prSet>
      <dgm:spPr/>
      <dgm:t>
        <a:bodyPr/>
        <a:lstStyle/>
        <a:p>
          <a:endParaRPr lang="en-US"/>
        </a:p>
      </dgm:t>
    </dgm:pt>
    <dgm:pt modelId="{AFC2BB0B-1729-4AB8-8836-5AE3BF04C541}" type="pres">
      <dgm:prSet presAssocID="{4A35286D-8160-436F-BA92-C88F3FF1122D}" presName="node" presStyleLbl="vennNode1" presStyleIdx="4" presStyleCnt="8" custScaleX="105565" custRadScaleRad="106770" custRadScaleInc="-9528">
        <dgm:presLayoutVars>
          <dgm:bulletEnabled val="1"/>
        </dgm:presLayoutVars>
      </dgm:prSet>
      <dgm:spPr/>
      <dgm:t>
        <a:bodyPr/>
        <a:lstStyle/>
        <a:p>
          <a:endParaRPr lang="en-US"/>
        </a:p>
      </dgm:t>
    </dgm:pt>
    <dgm:pt modelId="{8166EBD3-373F-4D24-92F1-0294A119895C}" type="pres">
      <dgm:prSet presAssocID="{6BB78EEB-DBEE-4042-A66F-4A744EA6AB1D}" presName="node" presStyleLbl="vennNode1" presStyleIdx="5" presStyleCnt="8" custScaleX="118012" custScaleY="105484" custRadScaleRad="108430" custRadScaleInc="8839">
        <dgm:presLayoutVars>
          <dgm:bulletEnabled val="1"/>
        </dgm:presLayoutVars>
      </dgm:prSet>
      <dgm:spPr/>
      <dgm:t>
        <a:bodyPr/>
        <a:lstStyle/>
        <a:p>
          <a:endParaRPr lang="en-US"/>
        </a:p>
      </dgm:t>
    </dgm:pt>
    <dgm:pt modelId="{5E529602-15A3-4C63-B516-D2E283C5C678}" type="pres">
      <dgm:prSet presAssocID="{5F8033BF-B3E2-48E7-A9B9-49D7B12A6302}" presName="node" presStyleLbl="vennNode1" presStyleIdx="6" presStyleCnt="8" custRadScaleRad="107485" custRadScaleInc="5318">
        <dgm:presLayoutVars>
          <dgm:bulletEnabled val="1"/>
        </dgm:presLayoutVars>
      </dgm:prSet>
      <dgm:spPr/>
      <dgm:t>
        <a:bodyPr/>
        <a:lstStyle/>
        <a:p>
          <a:endParaRPr lang="en-US"/>
        </a:p>
      </dgm:t>
    </dgm:pt>
    <dgm:pt modelId="{0B4DFB5C-22E7-451E-9F53-2E22953D0A80}" type="pres">
      <dgm:prSet presAssocID="{1F93A467-6281-4A19-9161-74E1D154C68E}" presName="node" presStyleLbl="vennNode1" presStyleIdx="7" presStyleCnt="8" custRadScaleRad="107256" custRadScaleInc="942">
        <dgm:presLayoutVars>
          <dgm:bulletEnabled val="1"/>
        </dgm:presLayoutVars>
      </dgm:prSet>
      <dgm:spPr/>
      <dgm:t>
        <a:bodyPr/>
        <a:lstStyle/>
        <a:p>
          <a:endParaRPr lang="en-US"/>
        </a:p>
      </dgm:t>
    </dgm:pt>
  </dgm:ptLst>
  <dgm:cxnLst>
    <dgm:cxn modelId="{20922D6C-C9BB-48F1-8ED6-322259F139DF}" srcId="{850C3413-6C71-4099-84EB-796397D2089B}" destId="{5CD5CD32-9034-4A50-880F-20A2BC589588}" srcOrd="0" destOrd="0" parTransId="{7023FCC5-E8C9-4F3E-A17C-79BFC4EEE197}" sibTransId="{8A1C77BE-B35B-49B0-9FBD-F87CFB39456A}"/>
    <dgm:cxn modelId="{06416D60-6D1C-48AC-B37D-AC1B8D96FA09}" type="presOf" srcId="{5CD5CD32-9034-4A50-880F-20A2BC589588}" destId="{3FEFE936-817E-40BA-A312-5F5C38C087AA}" srcOrd="0" destOrd="0" presId="urn:microsoft.com/office/officeart/2005/8/layout/radial3"/>
    <dgm:cxn modelId="{631600EC-F6B1-4D10-9E48-6753F6A4DDD3}" type="presOf" srcId="{5F8033BF-B3E2-48E7-A9B9-49D7B12A6302}" destId="{5E529602-15A3-4C63-B516-D2E283C5C678}" srcOrd="0" destOrd="0" presId="urn:microsoft.com/office/officeart/2005/8/layout/radial3"/>
    <dgm:cxn modelId="{061D7500-9AD0-40D1-8AE9-35390CB59D15}" type="presOf" srcId="{D882BC75-C441-4315-BCD9-414106FFB4E1}" destId="{4175EEA8-4B34-46F6-AEF8-DC28B1973F57}" srcOrd="0" destOrd="0" presId="urn:microsoft.com/office/officeart/2005/8/layout/radial3"/>
    <dgm:cxn modelId="{EEE91DDF-538A-4B99-938F-35C2CEC0FC60}" srcId="{850C3413-6C71-4099-84EB-796397D2089B}" destId="{C3A878A1-8D77-4FC7-979C-77114013CB69}" srcOrd="1" destOrd="0" parTransId="{F5273CB8-7C9C-4D82-945F-C8D6BD1F2CC8}" sibTransId="{CD59D77E-8F5D-42B5-B6E7-205751158D05}"/>
    <dgm:cxn modelId="{303B3737-949A-4433-A181-D49B781E1C25}" type="presOf" srcId="{3DC47843-DBB8-46A7-B9C4-240BD6C21954}" destId="{96A84DF6-6CED-4813-8533-DB4D2DF05B65}" srcOrd="0" destOrd="0" presId="urn:microsoft.com/office/officeart/2005/8/layout/radial3"/>
    <dgm:cxn modelId="{98E95F10-EB58-446C-AA48-9798736B9352}" type="presOf" srcId="{4A35286D-8160-436F-BA92-C88F3FF1122D}" destId="{AFC2BB0B-1729-4AB8-8836-5AE3BF04C541}" srcOrd="0" destOrd="0" presId="urn:microsoft.com/office/officeart/2005/8/layout/radial3"/>
    <dgm:cxn modelId="{357FF11D-21D0-4559-A375-3441A6EC8A13}" srcId="{850C3413-6C71-4099-84EB-796397D2089B}" destId="{5F8033BF-B3E2-48E7-A9B9-49D7B12A6302}" srcOrd="5" destOrd="0" parTransId="{65537869-0B97-4D14-9859-76F7C2D63C1F}" sibTransId="{D036FF09-97F3-4BE5-A3CE-D9CD17B3A916}"/>
    <dgm:cxn modelId="{DEED936C-4470-4DAD-A3C5-A941F4187724}" type="presOf" srcId="{1F93A467-6281-4A19-9161-74E1D154C68E}" destId="{0B4DFB5C-22E7-451E-9F53-2E22953D0A80}" srcOrd="0" destOrd="0" presId="urn:microsoft.com/office/officeart/2005/8/layout/radial3"/>
    <dgm:cxn modelId="{82B3C90F-7663-4A98-B19A-B37AF010A4AC}" type="presOf" srcId="{850C3413-6C71-4099-84EB-796397D2089B}" destId="{96F8DF7D-D0D9-40B0-9FF9-3B7ECCAF4F85}" srcOrd="0" destOrd="0" presId="urn:microsoft.com/office/officeart/2005/8/layout/radial3"/>
    <dgm:cxn modelId="{370D0CAF-D5A8-4B08-875F-6A513FF8AB0E}" type="presOf" srcId="{6BB78EEB-DBEE-4042-A66F-4A744EA6AB1D}" destId="{8166EBD3-373F-4D24-92F1-0294A119895C}" srcOrd="0" destOrd="0" presId="urn:microsoft.com/office/officeart/2005/8/layout/radial3"/>
    <dgm:cxn modelId="{C6DBCF19-8CCD-47EC-A795-C0F6629446A2}" srcId="{3DC47843-DBB8-46A7-B9C4-240BD6C21954}" destId="{850C3413-6C71-4099-84EB-796397D2089B}" srcOrd="0" destOrd="0" parTransId="{BD80A2C8-6CCB-4668-860C-7C659BDA78FE}" sibTransId="{2656E89F-90B0-47EC-8538-DF231C46CCC3}"/>
    <dgm:cxn modelId="{765B3BCD-0223-405B-A3B9-3F8A3182A053}" srcId="{850C3413-6C71-4099-84EB-796397D2089B}" destId="{6BB78EEB-DBEE-4042-A66F-4A744EA6AB1D}" srcOrd="4" destOrd="0" parTransId="{50A1C49A-612D-4B1D-BE58-7B0E878045DE}" sibTransId="{6C99F963-34AD-4FD2-A358-9D30A58EF722}"/>
    <dgm:cxn modelId="{B89D9465-3C55-4E77-AA8D-79D18D5FE273}" srcId="{850C3413-6C71-4099-84EB-796397D2089B}" destId="{1F93A467-6281-4A19-9161-74E1D154C68E}" srcOrd="6" destOrd="0" parTransId="{C703214B-912E-45A9-84AB-A9F683EF68F3}" sibTransId="{113571B4-35E2-4B8D-A7C0-831E4FD125E8}"/>
    <dgm:cxn modelId="{94A81198-93A9-4733-BCB2-19E48D6020D2}" srcId="{850C3413-6C71-4099-84EB-796397D2089B}" destId="{4A35286D-8160-436F-BA92-C88F3FF1122D}" srcOrd="3" destOrd="0" parTransId="{2F1F304B-5AC8-423D-8A2C-2FB3DAEDAF6A}" sibTransId="{4A5FB591-78B8-4F30-9669-26BC7C121967}"/>
    <dgm:cxn modelId="{1E207CE2-A521-4F01-9578-9415173991D5}" srcId="{850C3413-6C71-4099-84EB-796397D2089B}" destId="{D882BC75-C441-4315-BCD9-414106FFB4E1}" srcOrd="2" destOrd="0" parTransId="{FB87452A-6CF3-490E-AA34-297DF46E1AE2}" sibTransId="{B62E4003-AD10-4312-8161-EB4D188D9F28}"/>
    <dgm:cxn modelId="{DDA9D9EA-CFCA-4964-A349-B8ADAEA88539}" type="presOf" srcId="{C3A878A1-8D77-4FC7-979C-77114013CB69}" destId="{7CB45005-7EA5-4538-90D5-50F81590D81C}" srcOrd="0" destOrd="0" presId="urn:microsoft.com/office/officeart/2005/8/layout/radial3"/>
    <dgm:cxn modelId="{D767A6D0-878E-4C29-9B6C-0EBECC73CA6C}" type="presParOf" srcId="{96A84DF6-6CED-4813-8533-DB4D2DF05B65}" destId="{39037999-E782-43D5-992D-0BF9D65E8E87}" srcOrd="0" destOrd="0" presId="urn:microsoft.com/office/officeart/2005/8/layout/radial3"/>
    <dgm:cxn modelId="{385E1512-2CFD-4E3B-8DCB-7CBDC7C8E9D4}" type="presParOf" srcId="{39037999-E782-43D5-992D-0BF9D65E8E87}" destId="{96F8DF7D-D0D9-40B0-9FF9-3B7ECCAF4F85}" srcOrd="0" destOrd="0" presId="urn:microsoft.com/office/officeart/2005/8/layout/radial3"/>
    <dgm:cxn modelId="{DBF6E17A-FA92-4921-85C0-B2C2C6606ACF}" type="presParOf" srcId="{39037999-E782-43D5-992D-0BF9D65E8E87}" destId="{3FEFE936-817E-40BA-A312-5F5C38C087AA}" srcOrd="1" destOrd="0" presId="urn:microsoft.com/office/officeart/2005/8/layout/radial3"/>
    <dgm:cxn modelId="{BB394B9B-3F1F-4A77-B3D8-CBDD5BCAAC31}" type="presParOf" srcId="{39037999-E782-43D5-992D-0BF9D65E8E87}" destId="{7CB45005-7EA5-4538-90D5-50F81590D81C}" srcOrd="2" destOrd="0" presId="urn:microsoft.com/office/officeart/2005/8/layout/radial3"/>
    <dgm:cxn modelId="{EDCF4E04-35A6-4972-9A7E-83ECA37BACD6}" type="presParOf" srcId="{39037999-E782-43D5-992D-0BF9D65E8E87}" destId="{4175EEA8-4B34-46F6-AEF8-DC28B1973F57}" srcOrd="3" destOrd="0" presId="urn:microsoft.com/office/officeart/2005/8/layout/radial3"/>
    <dgm:cxn modelId="{00CEE8CB-7149-4749-9DE4-E7A98B22AF66}" type="presParOf" srcId="{39037999-E782-43D5-992D-0BF9D65E8E87}" destId="{AFC2BB0B-1729-4AB8-8836-5AE3BF04C541}" srcOrd="4" destOrd="0" presId="urn:microsoft.com/office/officeart/2005/8/layout/radial3"/>
    <dgm:cxn modelId="{42208AFA-EBC8-4A66-B921-7DB6431D91AE}" type="presParOf" srcId="{39037999-E782-43D5-992D-0BF9D65E8E87}" destId="{8166EBD3-373F-4D24-92F1-0294A119895C}" srcOrd="5" destOrd="0" presId="urn:microsoft.com/office/officeart/2005/8/layout/radial3"/>
    <dgm:cxn modelId="{9D480B54-2B9F-4C64-91AB-9091776C1CC3}" type="presParOf" srcId="{39037999-E782-43D5-992D-0BF9D65E8E87}" destId="{5E529602-15A3-4C63-B516-D2E283C5C678}" srcOrd="6" destOrd="0" presId="urn:microsoft.com/office/officeart/2005/8/layout/radial3"/>
    <dgm:cxn modelId="{BE231DDB-8428-417B-AB92-157072835322}" type="presParOf" srcId="{39037999-E782-43D5-992D-0BF9D65E8E87}" destId="{0B4DFB5C-22E7-451E-9F53-2E22953D0A80}" srcOrd="7"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DD3D82-05B1-44EB-B195-D9889638AE0D}">
      <dsp:nvSpPr>
        <dsp:cNvPr id="0" name=""/>
        <dsp:cNvSpPr/>
      </dsp:nvSpPr>
      <dsp:spPr>
        <a:xfrm>
          <a:off x="888379" y="2850404"/>
          <a:ext cx="635623" cy="2143117"/>
        </a:xfrm>
        <a:custGeom>
          <a:avLst/>
          <a:gdLst/>
          <a:ahLst/>
          <a:cxnLst/>
          <a:rect l="0" t="0" r="0" b="0"/>
          <a:pathLst>
            <a:path>
              <a:moveTo>
                <a:pt x="0" y="0"/>
              </a:moveTo>
              <a:lnTo>
                <a:pt x="317811" y="0"/>
              </a:lnTo>
              <a:lnTo>
                <a:pt x="317811" y="2143117"/>
              </a:lnTo>
              <a:lnTo>
                <a:pt x="635623" y="2143117"/>
              </a:lnTo>
            </a:path>
          </a:pathLst>
        </a:custGeom>
        <a:noFill/>
        <a:ln w="15875" cap="rnd"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55600">
            <a:lnSpc>
              <a:spcPct val="90000"/>
            </a:lnSpc>
            <a:spcBef>
              <a:spcPct val="0"/>
            </a:spcBef>
            <a:spcAft>
              <a:spcPct val="35000"/>
            </a:spcAft>
          </a:pPr>
          <a:endParaRPr lang="en-US" sz="800" kern="1200"/>
        </a:p>
      </dsp:txBody>
      <dsp:txXfrm>
        <a:off x="1150306" y="3866077"/>
        <a:ext cx="111769" cy="111769"/>
      </dsp:txXfrm>
    </dsp:sp>
    <dsp:sp modelId="{1811063F-ECF0-47E5-9DFC-A6271FE98452}">
      <dsp:nvSpPr>
        <dsp:cNvPr id="0" name=""/>
        <dsp:cNvSpPr/>
      </dsp:nvSpPr>
      <dsp:spPr>
        <a:xfrm>
          <a:off x="888379" y="2850404"/>
          <a:ext cx="663589" cy="951803"/>
        </a:xfrm>
        <a:custGeom>
          <a:avLst/>
          <a:gdLst/>
          <a:ahLst/>
          <a:cxnLst/>
          <a:rect l="0" t="0" r="0" b="0"/>
          <a:pathLst>
            <a:path>
              <a:moveTo>
                <a:pt x="0" y="0"/>
              </a:moveTo>
              <a:lnTo>
                <a:pt x="331794" y="0"/>
              </a:lnTo>
              <a:lnTo>
                <a:pt x="331794" y="951803"/>
              </a:lnTo>
              <a:lnTo>
                <a:pt x="663589" y="951803"/>
              </a:lnTo>
            </a:path>
          </a:pathLst>
        </a:custGeom>
        <a:noFill/>
        <a:ln w="15875" cap="rnd"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1191166" y="3297298"/>
        <a:ext cx="58014" cy="58014"/>
      </dsp:txXfrm>
    </dsp:sp>
    <dsp:sp modelId="{DEC7D8DF-3B17-4C16-B206-83269765828C}">
      <dsp:nvSpPr>
        <dsp:cNvPr id="0" name=""/>
        <dsp:cNvSpPr/>
      </dsp:nvSpPr>
      <dsp:spPr>
        <a:xfrm>
          <a:off x="888379" y="2590978"/>
          <a:ext cx="637760" cy="259425"/>
        </a:xfrm>
        <a:custGeom>
          <a:avLst/>
          <a:gdLst/>
          <a:ahLst/>
          <a:cxnLst/>
          <a:rect l="0" t="0" r="0" b="0"/>
          <a:pathLst>
            <a:path>
              <a:moveTo>
                <a:pt x="0" y="259425"/>
              </a:moveTo>
              <a:lnTo>
                <a:pt x="318880" y="259425"/>
              </a:lnTo>
              <a:lnTo>
                <a:pt x="318880" y="0"/>
              </a:lnTo>
              <a:lnTo>
                <a:pt x="637760" y="0"/>
              </a:lnTo>
            </a:path>
          </a:pathLst>
        </a:custGeom>
        <a:noFill/>
        <a:ln w="15875" cap="rnd"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1190046" y="2703478"/>
        <a:ext cx="34425" cy="34425"/>
      </dsp:txXfrm>
    </dsp:sp>
    <dsp:sp modelId="{5A73A283-C02D-47F5-88EF-CFC126A19B2B}">
      <dsp:nvSpPr>
        <dsp:cNvPr id="0" name=""/>
        <dsp:cNvSpPr/>
      </dsp:nvSpPr>
      <dsp:spPr>
        <a:xfrm>
          <a:off x="888379" y="1020182"/>
          <a:ext cx="673251" cy="1830221"/>
        </a:xfrm>
        <a:custGeom>
          <a:avLst/>
          <a:gdLst/>
          <a:ahLst/>
          <a:cxnLst/>
          <a:rect l="0" t="0" r="0" b="0"/>
          <a:pathLst>
            <a:path>
              <a:moveTo>
                <a:pt x="0" y="1830221"/>
              </a:moveTo>
              <a:lnTo>
                <a:pt x="336625" y="1830221"/>
              </a:lnTo>
              <a:lnTo>
                <a:pt x="336625" y="0"/>
              </a:lnTo>
              <a:lnTo>
                <a:pt x="673251" y="0"/>
              </a:lnTo>
            </a:path>
          </a:pathLst>
        </a:custGeom>
        <a:noFill/>
        <a:ln w="15875" cap="rnd"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en-US" sz="700" kern="1200"/>
        </a:p>
      </dsp:txBody>
      <dsp:txXfrm>
        <a:off x="1176251" y="1886540"/>
        <a:ext cx="97506" cy="97506"/>
      </dsp:txXfrm>
    </dsp:sp>
    <dsp:sp modelId="{347F5FF7-A773-456D-8713-CDA554344E3D}">
      <dsp:nvSpPr>
        <dsp:cNvPr id="0" name=""/>
        <dsp:cNvSpPr/>
      </dsp:nvSpPr>
      <dsp:spPr>
        <a:xfrm rot="5400000" flipV="1">
          <a:off x="-2107060" y="2413373"/>
          <a:ext cx="5116817" cy="874061"/>
        </a:xfrm>
        <a:prstGeom prst="rect">
          <a:avLst/>
        </a:prstGeom>
        <a:solidFill>
          <a:schemeClr val="accent5">
            <a:alpha val="80000"/>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lvl="0" algn="ctr" defTabSz="2667000">
            <a:lnSpc>
              <a:spcPct val="90000"/>
            </a:lnSpc>
            <a:spcBef>
              <a:spcPct val="0"/>
            </a:spcBef>
            <a:spcAft>
              <a:spcPct val="35000"/>
            </a:spcAft>
          </a:pPr>
          <a:r>
            <a:rPr lang="en-US" sz="6000" kern="1200" dirty="0" err="1" smtClean="0">
              <a:latin typeface="Arial" panose="020B0604020202020204" pitchFamily="34" charset="0"/>
              <a:cs typeface="Arial" panose="020B0604020202020204" pitchFamily="34" charset="0"/>
            </a:rPr>
            <a:t>Shigella</a:t>
          </a:r>
          <a:endParaRPr lang="en-US" sz="6000" kern="1200" dirty="0">
            <a:latin typeface="Arial" panose="020B0604020202020204" pitchFamily="34" charset="0"/>
            <a:cs typeface="Arial" panose="020B0604020202020204" pitchFamily="34" charset="0"/>
          </a:endParaRPr>
        </a:p>
      </dsp:txBody>
      <dsp:txXfrm rot="10800000">
        <a:off x="-2107060" y="2413373"/>
        <a:ext cx="5116817" cy="874061"/>
      </dsp:txXfrm>
    </dsp:sp>
    <dsp:sp modelId="{285615D9-6856-4134-83A6-C343D893D6F4}">
      <dsp:nvSpPr>
        <dsp:cNvPr id="0" name=""/>
        <dsp:cNvSpPr/>
      </dsp:nvSpPr>
      <dsp:spPr>
        <a:xfrm>
          <a:off x="1561630" y="137575"/>
          <a:ext cx="7380160" cy="1765215"/>
        </a:xfrm>
        <a:prstGeom prst="rect">
          <a:avLst/>
        </a:prstGeom>
        <a:solidFill>
          <a:schemeClr val="accent5">
            <a:alpha val="70000"/>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lvl="0" algn="just" defTabSz="1066800">
            <a:lnSpc>
              <a:spcPct val="90000"/>
            </a:lnSpc>
            <a:spcBef>
              <a:spcPct val="0"/>
            </a:spcBef>
            <a:spcAft>
              <a:spcPct val="35000"/>
            </a:spcAft>
          </a:pPr>
          <a:r>
            <a:rPr lang="en-US" sz="2400" b="1" kern="1200" dirty="0" err="1" smtClean="0">
              <a:latin typeface="Arial" panose="020B0604020202020204" pitchFamily="34" charset="0"/>
              <a:cs typeface="Arial" panose="020B0604020202020204" pitchFamily="34" charset="0"/>
            </a:rPr>
            <a:t>S.Dysenteriae</a:t>
          </a:r>
          <a:endParaRPr lang="en-US" sz="2400" b="1" kern="1200" dirty="0" smtClean="0">
            <a:latin typeface="Arial" panose="020B0604020202020204" pitchFamily="34" charset="0"/>
            <a:cs typeface="Arial" panose="020B0604020202020204" pitchFamily="34" charset="0"/>
          </a:endParaRPr>
        </a:p>
        <a:p>
          <a:pPr lvl="0" algn="just" defTabSz="1066800">
            <a:lnSpc>
              <a:spcPct val="90000"/>
            </a:lnSpc>
            <a:spcBef>
              <a:spcPct val="0"/>
            </a:spcBef>
            <a:spcAft>
              <a:spcPct val="35000"/>
            </a:spcAft>
          </a:pPr>
          <a:r>
            <a:rPr lang="en-US" sz="2200" kern="1200" dirty="0" err="1" smtClean="0">
              <a:latin typeface="Arial" panose="020B0604020202020204" pitchFamily="34" charset="0"/>
              <a:cs typeface="Arial" panose="020B0604020202020204" pitchFamily="34" charset="0"/>
            </a:rPr>
            <a:t>Có</a:t>
          </a:r>
          <a:r>
            <a:rPr lang="en-US" sz="2200" kern="1200" dirty="0" smtClean="0">
              <a:latin typeface="Arial" panose="020B0604020202020204" pitchFamily="34" charset="0"/>
              <a:cs typeface="Arial" panose="020B0604020202020204" pitchFamily="34" charset="0"/>
            </a:rPr>
            <a:t> </a:t>
          </a:r>
          <a:r>
            <a:rPr lang="en-US" sz="2200" kern="1200" dirty="0" smtClean="0">
              <a:latin typeface="Arial" panose="020B0604020202020204" pitchFamily="34" charset="0"/>
              <a:cs typeface="Arial" panose="020B0604020202020204" pitchFamily="34" charset="0"/>
            </a:rPr>
            <a:t>13 </a:t>
          </a:r>
          <a:r>
            <a:rPr lang="en-US" sz="2200" kern="1200" dirty="0" err="1" smtClean="0">
              <a:latin typeface="Arial" panose="020B0604020202020204" pitchFamily="34" charset="0"/>
              <a:cs typeface="Arial" panose="020B0604020202020204" pitchFamily="34" charset="0"/>
            </a:rPr>
            <a:t>typ</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huyết</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thanh</a:t>
          </a:r>
          <a:r>
            <a:rPr lang="en-US" sz="2200" kern="1200" dirty="0" smtClean="0">
              <a:latin typeface="Arial" panose="020B0604020202020204" pitchFamily="34" charset="0"/>
              <a:cs typeface="Arial" panose="020B0604020202020204" pitchFamily="34" charset="0"/>
            </a:rPr>
            <a:t>.</a:t>
          </a:r>
        </a:p>
        <a:p>
          <a:pPr lvl="0" algn="just" defTabSz="1066800">
            <a:lnSpc>
              <a:spcPct val="90000"/>
            </a:lnSpc>
            <a:spcBef>
              <a:spcPct val="0"/>
            </a:spcBef>
            <a:spcAft>
              <a:spcPct val="35000"/>
            </a:spcAft>
          </a:pPr>
          <a:r>
            <a:rPr lang="en-US" sz="2200" kern="1200" dirty="0" err="1" smtClean="0">
              <a:latin typeface="Arial" panose="020B0604020202020204" pitchFamily="34" charset="0"/>
              <a:cs typeface="Arial" panose="020B0604020202020204" pitchFamily="34" charset="0"/>
            </a:rPr>
            <a:t>Typ</a:t>
          </a:r>
          <a:r>
            <a:rPr lang="en-US" sz="2200" kern="1200" dirty="0" smtClean="0">
              <a:latin typeface="Arial" panose="020B0604020202020204" pitchFamily="34" charset="0"/>
              <a:cs typeface="Arial" panose="020B0604020202020204" pitchFamily="34" charset="0"/>
            </a:rPr>
            <a:t> 1 (Shiga) </a:t>
          </a:r>
          <a:r>
            <a:rPr lang="en-US" sz="2200" kern="1200" dirty="0" err="1" smtClean="0">
              <a:latin typeface="Arial" panose="020B0604020202020204" pitchFamily="34" charset="0"/>
              <a:cs typeface="Arial" panose="020B0604020202020204" pitchFamily="34" charset="0"/>
            </a:rPr>
            <a:t>có</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nội</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độc</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tố</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và</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ngoại</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độc</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tố</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rất</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mạnh</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gây</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dịch</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lớn</a:t>
          </a:r>
          <a:r>
            <a:rPr lang="en-US" sz="2200" kern="1200" dirty="0" smtClean="0">
              <a:latin typeface="Arial" panose="020B0604020202020204" pitchFamily="34" charset="0"/>
              <a:cs typeface="Arial" panose="020B0604020202020204" pitchFamily="34" charset="0"/>
            </a:rPr>
            <a:t>.</a:t>
          </a:r>
          <a:endParaRPr lang="en-US" sz="2200" kern="1200" dirty="0">
            <a:latin typeface="Arial" panose="020B0604020202020204" pitchFamily="34" charset="0"/>
            <a:cs typeface="Arial" panose="020B0604020202020204" pitchFamily="34" charset="0"/>
          </a:endParaRPr>
        </a:p>
      </dsp:txBody>
      <dsp:txXfrm>
        <a:off x="1561630" y="137575"/>
        <a:ext cx="7380160" cy="1765215"/>
      </dsp:txXfrm>
    </dsp:sp>
    <dsp:sp modelId="{9CA59F94-BE87-43CD-84A0-3D6D5786BE92}">
      <dsp:nvSpPr>
        <dsp:cNvPr id="0" name=""/>
        <dsp:cNvSpPr/>
      </dsp:nvSpPr>
      <dsp:spPr>
        <a:xfrm>
          <a:off x="1526139" y="2013961"/>
          <a:ext cx="7451143" cy="1154034"/>
        </a:xfrm>
        <a:prstGeom prst="rect">
          <a:avLst/>
        </a:prstGeom>
        <a:solidFill>
          <a:schemeClr val="accent5">
            <a:alpha val="70000"/>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lvl="0" algn="just" defTabSz="1066800">
            <a:lnSpc>
              <a:spcPct val="90000"/>
            </a:lnSpc>
            <a:spcBef>
              <a:spcPct val="0"/>
            </a:spcBef>
            <a:spcAft>
              <a:spcPct val="35000"/>
            </a:spcAft>
          </a:pPr>
          <a:r>
            <a:rPr lang="en-US" sz="2400" b="1" kern="1200" dirty="0" err="1" smtClean="0">
              <a:latin typeface="Arial" panose="020B0604020202020204" pitchFamily="34" charset="0"/>
              <a:cs typeface="Arial" panose="020B0604020202020204" pitchFamily="34" charset="0"/>
            </a:rPr>
            <a:t>S.Flexneri</a:t>
          </a:r>
          <a:endParaRPr lang="en-US" sz="2400" b="1" kern="1200" dirty="0" smtClean="0">
            <a:latin typeface="Arial" panose="020B0604020202020204" pitchFamily="34" charset="0"/>
            <a:cs typeface="Arial" panose="020B0604020202020204" pitchFamily="34" charset="0"/>
          </a:endParaRPr>
        </a:p>
        <a:p>
          <a:pPr lvl="0" algn="just" defTabSz="1066800">
            <a:lnSpc>
              <a:spcPct val="90000"/>
            </a:lnSpc>
            <a:spcBef>
              <a:spcPct val="0"/>
            </a:spcBef>
            <a:spcAft>
              <a:spcPct val="35000"/>
            </a:spcAft>
          </a:pPr>
          <a:r>
            <a:rPr lang="en-US" sz="2200" kern="1200" dirty="0" err="1" smtClean="0">
              <a:latin typeface="Arial" panose="020B0604020202020204" pitchFamily="34" charset="0"/>
              <a:cs typeface="Arial" panose="020B0604020202020204" pitchFamily="34" charset="0"/>
            </a:rPr>
            <a:t>Có</a:t>
          </a:r>
          <a:r>
            <a:rPr lang="en-US" sz="2200" kern="1200" dirty="0" smtClean="0">
              <a:latin typeface="Arial" panose="020B0604020202020204" pitchFamily="34" charset="0"/>
              <a:cs typeface="Arial" panose="020B0604020202020204" pitchFamily="34" charset="0"/>
            </a:rPr>
            <a:t> 6 </a:t>
          </a:r>
          <a:r>
            <a:rPr lang="en-US" sz="2200" kern="1200" dirty="0" err="1" smtClean="0">
              <a:latin typeface="Arial" panose="020B0604020202020204" pitchFamily="34" charset="0"/>
              <a:cs typeface="Arial" panose="020B0604020202020204" pitchFamily="34" charset="0"/>
            </a:rPr>
            <a:t>typ</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huyết</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thanh</a:t>
          </a:r>
          <a:r>
            <a:rPr lang="en-US" sz="2200" kern="1200" dirty="0" smtClean="0">
              <a:latin typeface="Arial" panose="020B0604020202020204" pitchFamily="34" charset="0"/>
              <a:cs typeface="Arial" panose="020B0604020202020204" pitchFamily="34" charset="0"/>
            </a:rPr>
            <a:t>.</a:t>
          </a:r>
        </a:p>
        <a:p>
          <a:pPr lvl="0" algn="just" defTabSz="1066800">
            <a:lnSpc>
              <a:spcPct val="90000"/>
            </a:lnSpc>
            <a:spcBef>
              <a:spcPct val="0"/>
            </a:spcBef>
            <a:spcAft>
              <a:spcPct val="35000"/>
            </a:spcAft>
          </a:pPr>
          <a:r>
            <a:rPr lang="en-US" sz="2200" kern="1200" dirty="0" smtClean="0">
              <a:latin typeface="Arial" panose="020B0604020202020204" pitchFamily="34" charset="0"/>
              <a:cs typeface="Arial" panose="020B0604020202020204" pitchFamily="34" charset="0"/>
            </a:rPr>
            <a:t>Hay </a:t>
          </a:r>
          <a:r>
            <a:rPr lang="en-US" sz="2200" kern="1200" dirty="0" err="1" smtClean="0">
              <a:latin typeface="Arial" panose="020B0604020202020204" pitchFamily="34" charset="0"/>
              <a:cs typeface="Arial" panose="020B0604020202020204" pitchFamily="34" charset="0"/>
            </a:rPr>
            <a:t>gặp</a:t>
          </a:r>
          <a:r>
            <a:rPr lang="en-US" sz="2200" kern="1200" dirty="0" smtClean="0">
              <a:latin typeface="Arial" panose="020B0604020202020204" pitchFamily="34" charset="0"/>
              <a:cs typeface="Arial" panose="020B0604020202020204" pitchFamily="34" charset="0"/>
            </a:rPr>
            <a:t> ở </a:t>
          </a:r>
          <a:r>
            <a:rPr lang="en-US" sz="2200" kern="1200" dirty="0" err="1" smtClean="0">
              <a:latin typeface="Arial" panose="020B0604020202020204" pitchFamily="34" charset="0"/>
              <a:cs typeface="Arial" panose="020B0604020202020204" pitchFamily="34" charset="0"/>
            </a:rPr>
            <a:t>Việt</a:t>
          </a:r>
          <a:r>
            <a:rPr lang="en-US" sz="2200" kern="1200" dirty="0" smtClean="0">
              <a:latin typeface="Arial" panose="020B0604020202020204" pitchFamily="34" charset="0"/>
              <a:cs typeface="Arial" panose="020B0604020202020204" pitchFamily="34" charset="0"/>
            </a:rPr>
            <a:t> Nam.</a:t>
          </a:r>
          <a:endParaRPr lang="en-US" sz="2200" kern="1200" dirty="0">
            <a:latin typeface="Arial" panose="020B0604020202020204" pitchFamily="34" charset="0"/>
            <a:cs typeface="Arial" panose="020B0604020202020204" pitchFamily="34" charset="0"/>
          </a:endParaRPr>
        </a:p>
      </dsp:txBody>
      <dsp:txXfrm>
        <a:off x="1526139" y="2013961"/>
        <a:ext cx="7451143" cy="1154034"/>
      </dsp:txXfrm>
    </dsp:sp>
    <dsp:sp modelId="{61E4977F-E6EC-4235-B4C5-D3C95272AD9F}">
      <dsp:nvSpPr>
        <dsp:cNvPr id="0" name=""/>
        <dsp:cNvSpPr/>
      </dsp:nvSpPr>
      <dsp:spPr>
        <a:xfrm>
          <a:off x="1551968" y="3316109"/>
          <a:ext cx="7373145" cy="972195"/>
        </a:xfrm>
        <a:prstGeom prst="rect">
          <a:avLst/>
        </a:prstGeom>
        <a:solidFill>
          <a:schemeClr val="accent5">
            <a:alpha val="70000"/>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lvl="0" algn="just" defTabSz="1066800">
            <a:lnSpc>
              <a:spcPct val="90000"/>
            </a:lnSpc>
            <a:spcBef>
              <a:spcPct val="0"/>
            </a:spcBef>
            <a:spcAft>
              <a:spcPct val="35000"/>
            </a:spcAft>
          </a:pPr>
          <a:r>
            <a:rPr lang="en-US" sz="2400" b="1" kern="1200" dirty="0" err="1" smtClean="0">
              <a:latin typeface="Arial" panose="020B0604020202020204" pitchFamily="34" charset="0"/>
              <a:cs typeface="Arial" panose="020B0604020202020204" pitchFamily="34" charset="0"/>
            </a:rPr>
            <a:t>S.Boydii</a:t>
          </a:r>
          <a:endParaRPr lang="en-US" sz="2400" b="1" kern="1200" dirty="0" smtClean="0">
            <a:latin typeface="Arial" panose="020B0604020202020204" pitchFamily="34" charset="0"/>
            <a:cs typeface="Arial" panose="020B0604020202020204" pitchFamily="34" charset="0"/>
          </a:endParaRPr>
        </a:p>
        <a:p>
          <a:pPr lvl="0" algn="just" defTabSz="1066800">
            <a:lnSpc>
              <a:spcPct val="90000"/>
            </a:lnSpc>
            <a:spcBef>
              <a:spcPct val="0"/>
            </a:spcBef>
            <a:spcAft>
              <a:spcPct val="35000"/>
            </a:spcAft>
          </a:pPr>
          <a:r>
            <a:rPr lang="en-US" sz="2200" kern="1200" dirty="0" err="1" smtClean="0">
              <a:latin typeface="Arial" panose="020B0604020202020204" pitchFamily="34" charset="0"/>
              <a:cs typeface="Arial" panose="020B0604020202020204" pitchFamily="34" charset="0"/>
            </a:rPr>
            <a:t>Có</a:t>
          </a:r>
          <a:r>
            <a:rPr lang="en-US" sz="2200" kern="1200" dirty="0" smtClean="0">
              <a:latin typeface="Arial" panose="020B0604020202020204" pitchFamily="34" charset="0"/>
              <a:cs typeface="Arial" panose="020B0604020202020204" pitchFamily="34" charset="0"/>
            </a:rPr>
            <a:t> 18 </a:t>
          </a:r>
          <a:r>
            <a:rPr lang="en-US" sz="2200" kern="1200" dirty="0" err="1" smtClean="0">
              <a:latin typeface="Arial" panose="020B0604020202020204" pitchFamily="34" charset="0"/>
              <a:cs typeface="Arial" panose="020B0604020202020204" pitchFamily="34" charset="0"/>
            </a:rPr>
            <a:t>typ</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huyết</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thanh</a:t>
          </a:r>
          <a:r>
            <a:rPr lang="en-US" sz="2200" kern="1200" dirty="0" smtClean="0">
              <a:latin typeface="Arial" panose="020B0604020202020204" pitchFamily="34" charset="0"/>
              <a:cs typeface="Arial" panose="020B0604020202020204" pitchFamily="34" charset="0"/>
            </a:rPr>
            <a:t>.</a:t>
          </a:r>
          <a:endParaRPr lang="en-US" sz="2200" kern="1200" dirty="0">
            <a:latin typeface="Arial" panose="020B0604020202020204" pitchFamily="34" charset="0"/>
            <a:cs typeface="Arial" panose="020B0604020202020204" pitchFamily="34" charset="0"/>
          </a:endParaRPr>
        </a:p>
      </dsp:txBody>
      <dsp:txXfrm>
        <a:off x="1551968" y="3316109"/>
        <a:ext cx="7373145" cy="972195"/>
      </dsp:txXfrm>
    </dsp:sp>
    <dsp:sp modelId="{471D6A8E-B8F9-4F2D-B5BC-0FFD6D359C33}">
      <dsp:nvSpPr>
        <dsp:cNvPr id="0" name=""/>
        <dsp:cNvSpPr/>
      </dsp:nvSpPr>
      <dsp:spPr>
        <a:xfrm>
          <a:off x="1524002" y="4459110"/>
          <a:ext cx="7388674" cy="1068821"/>
        </a:xfrm>
        <a:prstGeom prst="rect">
          <a:avLst/>
        </a:prstGeom>
        <a:solidFill>
          <a:schemeClr val="accent5">
            <a:alpha val="70000"/>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lvl="0" algn="just" defTabSz="1066800">
            <a:lnSpc>
              <a:spcPct val="90000"/>
            </a:lnSpc>
            <a:spcBef>
              <a:spcPct val="0"/>
            </a:spcBef>
            <a:spcAft>
              <a:spcPct val="35000"/>
            </a:spcAft>
          </a:pPr>
          <a:r>
            <a:rPr lang="en-US" sz="2400" b="1" kern="1200" dirty="0" err="1" smtClean="0">
              <a:latin typeface="Arial" panose="020B0604020202020204" pitchFamily="34" charset="0"/>
              <a:cs typeface="Arial" panose="020B0604020202020204" pitchFamily="34" charset="0"/>
            </a:rPr>
            <a:t>S.Sonnei</a:t>
          </a:r>
          <a:endParaRPr lang="en-US" sz="2400" b="1" kern="1200" dirty="0" smtClean="0">
            <a:latin typeface="Arial" panose="020B0604020202020204" pitchFamily="34" charset="0"/>
            <a:cs typeface="Arial" panose="020B0604020202020204" pitchFamily="34" charset="0"/>
          </a:endParaRPr>
        </a:p>
        <a:p>
          <a:pPr lvl="0" algn="just" defTabSz="1066800">
            <a:lnSpc>
              <a:spcPct val="90000"/>
            </a:lnSpc>
            <a:spcBef>
              <a:spcPct val="0"/>
            </a:spcBef>
            <a:spcAft>
              <a:spcPct val="35000"/>
            </a:spcAft>
          </a:pPr>
          <a:r>
            <a:rPr lang="en-US" sz="2200" kern="1200" dirty="0" err="1" smtClean="0">
              <a:latin typeface="Arial" panose="020B0604020202020204" pitchFamily="34" charset="0"/>
              <a:cs typeface="Arial" panose="020B0604020202020204" pitchFamily="34" charset="0"/>
            </a:rPr>
            <a:t>Chỉ</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có</a:t>
          </a:r>
          <a:r>
            <a:rPr lang="en-US" sz="2200" kern="1200" dirty="0" smtClean="0">
              <a:latin typeface="Arial" panose="020B0604020202020204" pitchFamily="34" charset="0"/>
              <a:cs typeface="Arial" panose="020B0604020202020204" pitchFamily="34" charset="0"/>
            </a:rPr>
            <a:t> 1  </a:t>
          </a:r>
          <a:r>
            <a:rPr lang="en-US" sz="2200" kern="1200" dirty="0" err="1" smtClean="0">
              <a:latin typeface="Arial" panose="020B0604020202020204" pitchFamily="34" charset="0"/>
              <a:cs typeface="Arial" panose="020B0604020202020204" pitchFamily="34" charset="0"/>
            </a:rPr>
            <a:t>typ</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huyết</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thanh</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duy</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nhất</a:t>
          </a:r>
          <a:r>
            <a:rPr lang="en-US" sz="2200" kern="1200" dirty="0" smtClean="0">
              <a:latin typeface="Arial" panose="020B0604020202020204" pitchFamily="34" charset="0"/>
              <a:cs typeface="Arial" panose="020B0604020202020204" pitchFamily="34" charset="0"/>
            </a:rPr>
            <a:t>.</a:t>
          </a:r>
        </a:p>
        <a:p>
          <a:pPr lvl="0" algn="just" defTabSz="1066800">
            <a:lnSpc>
              <a:spcPct val="90000"/>
            </a:lnSpc>
            <a:spcBef>
              <a:spcPct val="0"/>
            </a:spcBef>
            <a:spcAft>
              <a:spcPct val="35000"/>
            </a:spcAft>
          </a:pPr>
          <a:r>
            <a:rPr lang="en-US" sz="2200" kern="1200" dirty="0" smtClean="0">
              <a:latin typeface="Arial" panose="020B0604020202020204" pitchFamily="34" charset="0"/>
              <a:cs typeface="Arial" panose="020B0604020202020204" pitchFamily="34" charset="0"/>
            </a:rPr>
            <a:t>Hay </a:t>
          </a:r>
          <a:r>
            <a:rPr lang="en-US" sz="2200" kern="1200" dirty="0" err="1" smtClean="0">
              <a:latin typeface="Arial" panose="020B0604020202020204" pitchFamily="34" charset="0"/>
              <a:cs typeface="Arial" panose="020B0604020202020204" pitchFamily="34" charset="0"/>
            </a:rPr>
            <a:t>gặp</a:t>
          </a:r>
          <a:r>
            <a:rPr lang="en-US" sz="2200" kern="1200" dirty="0" smtClean="0">
              <a:latin typeface="Arial" panose="020B0604020202020204" pitchFamily="34" charset="0"/>
              <a:cs typeface="Arial" panose="020B0604020202020204" pitchFamily="34" charset="0"/>
            </a:rPr>
            <a:t> ở </a:t>
          </a:r>
          <a:r>
            <a:rPr lang="en-US" sz="2200" kern="1200" dirty="0" err="1" smtClean="0">
              <a:latin typeface="Arial" panose="020B0604020202020204" pitchFamily="34" charset="0"/>
              <a:cs typeface="Arial" panose="020B0604020202020204" pitchFamily="34" charset="0"/>
            </a:rPr>
            <a:t>Mỹ</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Tây</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Âu</a:t>
          </a:r>
          <a:r>
            <a:rPr lang="en-US" sz="2200" kern="1200" dirty="0" smtClean="0">
              <a:latin typeface="Arial" panose="020B0604020202020204" pitchFamily="34" charset="0"/>
              <a:cs typeface="Arial" panose="020B0604020202020204" pitchFamily="34" charset="0"/>
            </a:rPr>
            <a:t>, </a:t>
          </a:r>
          <a:r>
            <a:rPr lang="en-US" sz="2200" kern="1200" dirty="0" err="1" smtClean="0">
              <a:latin typeface="Arial" panose="020B0604020202020204" pitchFamily="34" charset="0"/>
              <a:cs typeface="Arial" panose="020B0604020202020204" pitchFamily="34" charset="0"/>
            </a:rPr>
            <a:t>Nhật</a:t>
          </a:r>
          <a:r>
            <a:rPr lang="en-US" sz="2200" kern="1200" dirty="0" smtClean="0">
              <a:latin typeface="Arial" panose="020B0604020202020204" pitchFamily="34" charset="0"/>
              <a:cs typeface="Arial" panose="020B0604020202020204" pitchFamily="34" charset="0"/>
            </a:rPr>
            <a:t>.</a:t>
          </a:r>
          <a:endParaRPr lang="en-US" sz="2200" kern="1200" dirty="0">
            <a:latin typeface="Arial" panose="020B0604020202020204" pitchFamily="34" charset="0"/>
            <a:cs typeface="Arial" panose="020B0604020202020204" pitchFamily="34" charset="0"/>
          </a:endParaRPr>
        </a:p>
      </dsp:txBody>
      <dsp:txXfrm>
        <a:off x="1524002" y="4459110"/>
        <a:ext cx="7388674" cy="10688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2514601"/>
            <a:ext cx="668654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941910" y="4777380"/>
            <a:ext cx="668654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D29FFF0-D9D9-45E3-829E-16D6DD7EB58A}" type="datetimeFigureOut">
              <a:rPr lang="en-US" smtClean="0"/>
              <a:t>5/29/2019</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1"/>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398860" y="4529541"/>
            <a:ext cx="584825" cy="365125"/>
          </a:xfrm>
        </p:spPr>
        <p:txBody>
          <a:bodyPr/>
          <a:lstStyle/>
          <a:p>
            <a:fld id="{6A78569E-666D-429A-8F72-1270776FA98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4694" y="624110"/>
            <a:ext cx="6683765"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1941909" y="2133600"/>
            <a:ext cx="668655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29FFF0-D9D9-45E3-829E-16D6DD7EB58A}" type="datetimeFigureOut">
              <a:rPr lang="en-US" smtClean="0"/>
              <a:t>5/29/2019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A78569E-666D-429A-8F72-1270776FA98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tle 1"/>
          <p:cNvSpPr>
            <a:spLocks noGrp="1"/>
          </p:cNvSpPr>
          <p:nvPr>
            <p:ph type="title"/>
          </p:nvPr>
        </p:nvSpPr>
        <p:spPr>
          <a:xfrm>
            <a:off x="1941910" y="2058750"/>
            <a:ext cx="668654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1910" y="3530129"/>
            <a:ext cx="668654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29FFF0-D9D9-45E3-829E-16D6DD7EB58A}" type="datetimeFigureOut">
              <a:rPr lang="en-US" smtClean="0"/>
              <a:t>5/29/2019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6A78569E-666D-429A-8F72-1270776FA98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941909" y="2133600"/>
            <a:ext cx="3235398"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393060" y="2126222"/>
            <a:ext cx="3235398"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D29FFF0-D9D9-45E3-829E-16D6DD7EB58A}" type="datetimeFigureOut">
              <a:rPr lang="en-US" smtClean="0"/>
              <a:t>5/29/2019</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398860" y="787783"/>
            <a:ext cx="584825" cy="365125"/>
          </a:xfrm>
        </p:spPr>
        <p:txBody>
          <a:bodyPr/>
          <a:lstStyle/>
          <a:p>
            <a:fld id="{6A78569E-666D-429A-8F72-1270776FA98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04530" y="1972703"/>
            <a:ext cx="299454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941909" y="2548966"/>
            <a:ext cx="3257170"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29972" y="1969475"/>
            <a:ext cx="299925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375218" y="2545738"/>
            <a:ext cx="3254006"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D29FFF0-D9D9-45E3-829E-16D6DD7EB58A}" type="datetimeFigureOut">
              <a:rPr lang="en-US" smtClean="0"/>
              <a:t>5/29/2019</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398860" y="787783"/>
            <a:ext cx="584825" cy="365125"/>
          </a:xfrm>
        </p:spPr>
        <p:txBody>
          <a:bodyPr/>
          <a:lstStyle/>
          <a:p>
            <a:fld id="{6A78569E-666D-429A-8F72-1270776FA98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D29FFF0-D9D9-45E3-829E-16D6DD7EB58A}" type="datetimeFigureOut">
              <a:rPr lang="en-US" smtClean="0"/>
              <a:t>5/29/2019</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A78569E-666D-429A-8F72-1270776FA98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29FFF0-D9D9-45E3-829E-16D6DD7EB58A}" type="datetimeFigureOut">
              <a:rPr lang="en-US" smtClean="0"/>
              <a:t>5/29/2019</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A78569E-666D-429A-8F72-1270776FA98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941910" y="446088"/>
            <a:ext cx="26288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4742259" y="446089"/>
            <a:ext cx="38862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941910" y="1598613"/>
            <a:ext cx="26288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29FFF0-D9D9-45E3-829E-16D6DD7EB58A}" type="datetimeFigureOut">
              <a:rPr lang="en-US" smtClean="0"/>
              <a:t>5/29/2019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A78569E-666D-429A-8F72-1270776FA98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941910" y="4800600"/>
            <a:ext cx="668655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41909" y="634965"/>
            <a:ext cx="668655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941910" y="5367338"/>
            <a:ext cx="668655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29FFF0-D9D9-45E3-829E-16D6DD7EB58A}" type="datetimeFigureOut">
              <a:rPr lang="en-US" smtClean="0"/>
              <a:t>5/29/2019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6A78569E-666D-429A-8F72-1270776FA98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êu đề và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941910" y="609600"/>
            <a:ext cx="668654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1910" y="4354046"/>
            <a:ext cx="668654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29FFF0-D9D9-45E3-829E-16D6DD7EB58A}" type="datetimeFigureOut">
              <a:rPr lang="en-US" smtClean="0"/>
              <a:t>5/29/2019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6A78569E-666D-429A-8F72-1270776FA98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rích dẫn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2137462" y="609600"/>
            <a:ext cx="6295445"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2456259" y="3505200"/>
            <a:ext cx="5652416"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941910" y="4354046"/>
            <a:ext cx="668654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29FFF0-D9D9-45E3-829E-16D6DD7EB58A}" type="datetimeFigureOut">
              <a:rPr lang="en-US" smtClean="0"/>
              <a:t>5/29/2019</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6A78569E-666D-429A-8F72-1270776FA986}" type="slidenum">
              <a:rPr lang="en-US" smtClean="0"/>
              <a:t>‹#›</a:t>
            </a:fld>
            <a:endParaRPr lang="en-US"/>
          </a:p>
        </p:txBody>
      </p:sp>
      <p:sp>
        <p:nvSpPr>
          <p:cNvPr id="14" name="TextBox 13"/>
          <p:cNvSpPr txBox="1"/>
          <p:nvPr/>
        </p:nvSpPr>
        <p:spPr>
          <a:xfrm>
            <a:off x="1850739" y="648005"/>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336139" y="2905306"/>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anh Thiếp">
    <p:spTree>
      <p:nvGrpSpPr>
        <p:cNvPr id="1" name=""/>
        <p:cNvGrpSpPr/>
        <p:nvPr/>
      </p:nvGrpSpPr>
      <p:grpSpPr>
        <a:xfrm>
          <a:off x="0" y="0"/>
          <a:ext cx="0" cy="0"/>
          <a:chOff x="0" y="0"/>
          <a:chExt cx="0" cy="0"/>
        </a:xfrm>
      </p:grpSpPr>
      <p:sp>
        <p:nvSpPr>
          <p:cNvPr id="2" name="Title 1"/>
          <p:cNvSpPr>
            <a:spLocks noGrp="1"/>
          </p:cNvSpPr>
          <p:nvPr>
            <p:ph type="title"/>
          </p:nvPr>
        </p:nvSpPr>
        <p:spPr>
          <a:xfrm>
            <a:off x="1941910" y="2438401"/>
            <a:ext cx="668655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3D29FFF0-D9D9-45E3-829E-16D6DD7EB58A}" type="datetimeFigureOut">
              <a:rPr lang="en-US" smtClean="0"/>
              <a:t>5/29/2019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6A78569E-666D-429A-8F72-1270776FA986}"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rích dẫn Danh Thiếp">
    <p:spTree>
      <p:nvGrpSpPr>
        <p:cNvPr id="1" name=""/>
        <p:cNvGrpSpPr/>
        <p:nvPr/>
      </p:nvGrpSpPr>
      <p:grpSpPr>
        <a:xfrm>
          <a:off x="0" y="0"/>
          <a:ext cx="0" cy="0"/>
          <a:chOff x="0" y="0"/>
          <a:chExt cx="0" cy="0"/>
        </a:xfrm>
      </p:grpSpPr>
      <p:sp>
        <p:nvSpPr>
          <p:cNvPr id="12" name="Title 1"/>
          <p:cNvSpPr>
            <a:spLocks noGrp="1"/>
          </p:cNvSpPr>
          <p:nvPr>
            <p:ph type="title"/>
          </p:nvPr>
        </p:nvSpPr>
        <p:spPr>
          <a:xfrm>
            <a:off x="2137462" y="609600"/>
            <a:ext cx="6295445"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1909" y="4343400"/>
            <a:ext cx="668655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3D29FFF0-D9D9-45E3-829E-16D6DD7EB58A}" type="datetimeFigureOut">
              <a:rPr lang="en-US" smtClean="0"/>
              <a:t>5/29/2019</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6A78569E-666D-429A-8F72-1270776FA986}" type="slidenum">
              <a:rPr lang="en-US" smtClean="0"/>
              <a:t>‹#›</a:t>
            </a:fld>
            <a:endParaRPr lang="en-US"/>
          </a:p>
        </p:txBody>
      </p:sp>
      <p:sp>
        <p:nvSpPr>
          <p:cNvPr id="17" name="TextBox 16"/>
          <p:cNvSpPr txBox="1"/>
          <p:nvPr/>
        </p:nvSpPr>
        <p:spPr>
          <a:xfrm>
            <a:off x="1850739" y="648005"/>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8336139" y="2905306"/>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1910" y="627407"/>
            <a:ext cx="668654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1909" y="4343400"/>
            <a:ext cx="668655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3D29FFF0-D9D9-45E3-829E-16D6DD7EB58A}" type="datetimeFigureOut">
              <a:rPr lang="en-US" smtClean="0"/>
              <a:t>5/29/2019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6A78569E-666D-429A-8F72-1270776FA986}"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29FFF0-D9D9-45E3-829E-16D6DD7EB58A}" type="datetimeFigureOut">
              <a:rPr lang="en-US" smtClean="0"/>
              <a:t>5/29/2019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A78569E-666D-429A-8F72-1270776FA986}"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71109" y="627406"/>
            <a:ext cx="16557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941909" y="627406"/>
            <a:ext cx="485775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29FFF0-D9D9-45E3-829E-16D6DD7EB58A}" type="datetimeFigureOut">
              <a:rPr lang="en-US" smtClean="0"/>
              <a:t>5/29/2019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A78569E-666D-429A-8F72-1270776FA98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138637"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0416" y="-786"/>
            <a:ext cx="1767506"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4694" y="624110"/>
            <a:ext cx="6683765" cy="1280890"/>
          </a:xfrm>
          <a:prstGeom prst="rect">
            <a:avLst/>
          </a:prstGeom>
        </p:spPr>
        <p:txBody>
          <a:bodyPr vert="horz" lIns="91440" tIns="45720" rIns="91440" bIns="45720" rtlCol="0" anchor="t">
            <a:normAutofit/>
          </a:bodyPr>
          <a:lstStyle/>
          <a:p>
            <a:r>
              <a:rPr lang="vi-VN"/>
              <a:t>Bấm để sửa kiểu tiêu đề Bản cái</a:t>
            </a:r>
            <a:endParaRPr lang="en-US" dirty="0"/>
          </a:p>
        </p:txBody>
      </p:sp>
      <p:sp>
        <p:nvSpPr>
          <p:cNvPr id="3" name="Text Placeholder 2"/>
          <p:cNvSpPr>
            <a:spLocks noGrp="1"/>
          </p:cNvSpPr>
          <p:nvPr>
            <p:ph type="body" idx="1"/>
          </p:nvPr>
        </p:nvSpPr>
        <p:spPr>
          <a:xfrm>
            <a:off x="1941909" y="2133600"/>
            <a:ext cx="6686550" cy="3886200"/>
          </a:xfrm>
          <a:prstGeom prst="rect">
            <a:avLst/>
          </a:prstGeom>
        </p:spPr>
        <p:txBody>
          <a:bodyPr vert="horz" lIns="91440" tIns="45720" rIns="91440" bIns="45720" rtlCol="0">
            <a:normAutofit/>
          </a:bodyPr>
          <a:lstStyle/>
          <a:p>
            <a:pPr lvl="0"/>
            <a:r>
              <a:rPr lang="vi-VN"/>
              <a:t>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2"/>
          </p:nvPr>
        </p:nvSpPr>
        <p:spPr>
          <a:xfrm>
            <a:off x="7771210" y="6130437"/>
            <a:ext cx="859712"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D29FFF0-D9D9-45E3-829E-16D6DD7EB58A}" type="datetimeFigureOut">
              <a:rPr lang="en-US" smtClean="0"/>
              <a:t>5/29/2019</a:t>
            </a:fld>
            <a:endParaRPr lang="en-US"/>
          </a:p>
        </p:txBody>
      </p:sp>
      <p:sp>
        <p:nvSpPr>
          <p:cNvPr id="5" name="Footer Placeholder 4"/>
          <p:cNvSpPr>
            <a:spLocks noGrp="1"/>
          </p:cNvSpPr>
          <p:nvPr>
            <p:ph type="ftr" sz="quarter" idx="3"/>
          </p:nvPr>
        </p:nvSpPr>
        <p:spPr>
          <a:xfrm>
            <a:off x="1941910" y="6135809"/>
            <a:ext cx="5714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398860" y="787783"/>
            <a:ext cx="584825" cy="365125"/>
          </a:xfrm>
          <a:prstGeom prst="rect">
            <a:avLst/>
          </a:prstGeom>
        </p:spPr>
        <p:txBody>
          <a:bodyPr vert="horz" lIns="91440" tIns="45720" rIns="91440" bIns="45720" rtlCol="0" anchor="ctr"/>
          <a:lstStyle>
            <a:lvl1pPr algn="r">
              <a:defRPr sz="2000">
                <a:solidFill>
                  <a:srgbClr val="FEFFFF"/>
                </a:solidFill>
              </a:defRPr>
            </a:lvl1pPr>
          </a:lstStyle>
          <a:p>
            <a:fld id="{6A78569E-666D-429A-8F72-1270776FA98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hyperlink" Target="https://vi.wikipedia.org/w/index.php?title=Hi%E1%BB%83n_vi_%C4%91i%E1%BB%87n_t%E1%BB%AD&amp;action=edit&amp;redlink=1" TargetMode="Externa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g"/><Relationship Id="rId1" Type="http://schemas.openxmlformats.org/officeDocument/2006/relationships/slideLayout" Target="../slideLayouts/slideLayout2.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71601" y="165876"/>
            <a:ext cx="7772400" cy="461665"/>
          </a:xfrm>
          <a:prstGeom prst="rect">
            <a:avLst/>
          </a:prstGeom>
          <a:noFill/>
        </p:spPr>
        <p:txBody>
          <a:bodyPr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24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CLB </a:t>
            </a:r>
            <a:r>
              <a:rPr lang="en-US" sz="24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Nhi</a:t>
            </a:r>
            <a:r>
              <a:rPr lang="en-US" sz="24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a:t>
            </a:r>
            <a:r>
              <a:rPr lang="en-US" sz="24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khoa</a:t>
            </a:r>
            <a:r>
              <a:rPr lang="en-US" sz="24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 </a:t>
            </a:r>
            <a:r>
              <a:rPr lang="en-US" sz="24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trường</a:t>
            </a:r>
            <a:r>
              <a:rPr lang="en-US" sz="24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a:t>
            </a:r>
            <a:r>
              <a:rPr lang="en-US" sz="24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đh</a:t>
            </a:r>
            <a:r>
              <a:rPr lang="en-US" sz="24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y </a:t>
            </a:r>
            <a:r>
              <a:rPr lang="en-US" sz="24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dược</a:t>
            </a:r>
            <a:r>
              <a:rPr lang="en-US" sz="24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a:t>
            </a:r>
            <a:r>
              <a:rPr lang="en-US" sz="24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hải</a:t>
            </a:r>
            <a:r>
              <a:rPr lang="en-US" sz="24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a:t>
            </a:r>
            <a:r>
              <a:rPr lang="en-US" sz="24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phòng</a:t>
            </a:r>
            <a:endParaRPr lang="en-US" sz="24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4119"/>
            <a:ext cx="1371601" cy="1157275"/>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76800" y="3815885"/>
            <a:ext cx="4025882" cy="2889504"/>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999" y="3816274"/>
            <a:ext cx="4114800" cy="2889115"/>
          </a:xfrm>
          <a:prstGeom prst="rect">
            <a:avLst/>
          </a:prstGeom>
        </p:spPr>
      </p:pic>
      <p:sp>
        <p:nvSpPr>
          <p:cNvPr id="12" name="WordArt 5"/>
          <p:cNvSpPr>
            <a:spLocks noChangeArrowheads="1" noChangeShapeType="1" noTextEdit="1"/>
          </p:cNvSpPr>
          <p:nvPr/>
        </p:nvSpPr>
        <p:spPr bwMode="auto">
          <a:xfrm>
            <a:off x="685800" y="1676400"/>
            <a:ext cx="8096252" cy="1365991"/>
          </a:xfrm>
          <a:prstGeom prst="rect">
            <a:avLst/>
          </a:prstGeom>
        </p:spPr>
        <p:txBody>
          <a:bodyPr wrap="none" fromWordArt="1">
            <a:prstTxWarp prst="textPlain">
              <a:avLst>
                <a:gd name="adj" fmla="val 50000"/>
              </a:avLst>
            </a:prstTxWarp>
          </a:bodyPr>
          <a:lstStyle/>
          <a:p>
            <a:pPr algn="ctr"/>
            <a:r>
              <a:rPr lang="en-US" sz="3600" b="1" kern="10" dirty="0" smtClean="0">
                <a:ln w="9525">
                  <a:noFill/>
                  <a:round/>
                  <a:headEnd/>
                  <a:tailEnd/>
                </a:ln>
                <a:solidFill>
                  <a:schemeClr val="accent1">
                    <a:lumMod val="60000"/>
                    <a:lumOff val="40000"/>
                  </a:schemeClr>
                </a:solidFill>
                <a:effectLst>
                  <a:outerShdw dist="35921" dir="2700000" algn="ctr" rotWithShape="0">
                    <a:srgbClr val="C0C0C0">
                      <a:alpha val="80000"/>
                    </a:srgbClr>
                  </a:outerShdw>
                </a:effectLst>
                <a:latin typeface="Arial" pitchFamily="34" charset="0"/>
                <a:cs typeface="Arial" pitchFamily="34" charset="0"/>
              </a:rPr>
              <a:t>LỴ TRỰC KHUẨN</a:t>
            </a:r>
            <a:endParaRPr lang="en-US" sz="3600" b="1" kern="10" dirty="0">
              <a:ln w="9525">
                <a:noFill/>
                <a:round/>
                <a:headEnd/>
                <a:tailEnd/>
              </a:ln>
              <a:solidFill>
                <a:schemeClr val="accent1">
                  <a:lumMod val="60000"/>
                  <a:lumOff val="40000"/>
                </a:schemeClr>
              </a:solidFill>
              <a:effectLst>
                <a:outerShdw dist="35921" dir="2700000" algn="ctr" rotWithShape="0">
                  <a:srgbClr val="C0C0C0">
                    <a:alpha val="80000"/>
                  </a:srgbClr>
                </a:outerShdw>
              </a:effectLst>
              <a:latin typeface="Arial" pitchFamily="34" charset="0"/>
              <a:cs typeface="Arial" pitchFamily="34" charset="0"/>
            </a:endParaRPr>
          </a:p>
        </p:txBody>
      </p:sp>
      <p:sp>
        <p:nvSpPr>
          <p:cNvPr id="10" name="Rectangle 9"/>
          <p:cNvSpPr/>
          <p:nvPr/>
        </p:nvSpPr>
        <p:spPr>
          <a:xfrm>
            <a:off x="3035386" y="627541"/>
            <a:ext cx="3886200" cy="400110"/>
          </a:xfrm>
          <a:prstGeom prst="rect">
            <a:avLst/>
          </a:prstGeom>
          <a:noFill/>
        </p:spPr>
        <p:txBody>
          <a:bodyPr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20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Nhóm</a:t>
            </a:r>
            <a:r>
              <a:rPr lang="en-US" sz="20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a:t>
            </a:r>
            <a:r>
              <a:rPr lang="en-US" sz="20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truyền</a:t>
            </a:r>
            <a:r>
              <a:rPr lang="en-US" sz="20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a:t>
            </a:r>
            <a:r>
              <a:rPr lang="en-US" sz="20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nhiễm</a:t>
            </a:r>
            <a:endParaRPr lang="en-US" sz="20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endParaRPr>
          </a:p>
        </p:txBody>
      </p:sp>
    </p:spTree>
    <p:extLst>
      <p:ext uri="{BB962C8B-B14F-4D97-AF65-F5344CB8AC3E}">
        <p14:creationId xmlns:p14="http://schemas.microsoft.com/office/powerpoint/2010/main" val="19230330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360609" y="1571611"/>
            <a:ext cx="8630992" cy="4661763"/>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just">
              <a:buFont typeface="Wingdings 3" charset="2"/>
              <a:buAutoNum type="arabicPeriod"/>
            </a:pPr>
            <a:r>
              <a:rPr lang="en-US" sz="3600" dirty="0" smtClean="0">
                <a:latin typeface="Arial" pitchFamily="34" charset="0"/>
                <a:cs typeface="Arial" pitchFamily="34" charset="0"/>
              </a:rPr>
              <a:t> </a:t>
            </a:r>
            <a:r>
              <a:rPr lang="vi-VN" sz="3600" dirty="0" smtClean="0">
                <a:latin typeface="Arial" pitchFamily="34" charset="0"/>
                <a:cs typeface="Arial" pitchFamily="34" charset="0"/>
              </a:rPr>
              <a:t>Nắm được tình hình dịch tễ</a:t>
            </a:r>
            <a:r>
              <a:rPr lang="en-US" sz="3600" dirty="0">
                <a:latin typeface="Arial" pitchFamily="34" charset="0"/>
                <a:cs typeface="Arial" pitchFamily="34" charset="0"/>
              </a:rPr>
              <a:t> </a:t>
            </a:r>
            <a:r>
              <a:rPr lang="en-US" sz="3600" dirty="0" err="1" smtClean="0">
                <a:latin typeface="Arial" pitchFamily="34" charset="0"/>
                <a:cs typeface="Arial" pitchFamily="34" charset="0"/>
              </a:rPr>
              <a:t>của</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bệnh</a:t>
            </a:r>
            <a:r>
              <a:rPr lang="en-US" sz="3600" dirty="0" smtClean="0">
                <a:latin typeface="Arial" pitchFamily="34" charset="0"/>
                <a:cs typeface="Arial" pitchFamily="34" charset="0"/>
              </a:rPr>
              <a:t>.</a:t>
            </a:r>
          </a:p>
          <a:p>
            <a:pPr algn="just">
              <a:buFont typeface="Wingdings 3" charset="2"/>
              <a:buAutoNum type="arabicPeriod"/>
            </a:pP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Trình</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bày</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cơ</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chế</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bệnh</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sinh</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và</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giải</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phẫu</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bệnh</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lý</a:t>
            </a:r>
            <a:r>
              <a:rPr lang="en-US" sz="3600" dirty="0">
                <a:latin typeface="Arial" pitchFamily="34" charset="0"/>
                <a:cs typeface="Arial" pitchFamily="34" charset="0"/>
              </a:rPr>
              <a:t> </a:t>
            </a:r>
            <a:r>
              <a:rPr lang="en-US" sz="3600" dirty="0" err="1" smtClean="0">
                <a:latin typeface="Arial" pitchFamily="34" charset="0"/>
                <a:cs typeface="Arial" pitchFamily="34" charset="0"/>
              </a:rPr>
              <a:t>của</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bệnh</a:t>
            </a:r>
            <a:r>
              <a:rPr lang="en-US" sz="3600" dirty="0" smtClean="0">
                <a:latin typeface="Arial" pitchFamily="34" charset="0"/>
                <a:cs typeface="Arial" pitchFamily="34" charset="0"/>
              </a:rPr>
              <a:t>.</a:t>
            </a:r>
            <a:endParaRPr lang="vi-VN" sz="3600" dirty="0" smtClean="0">
              <a:latin typeface="Arial" pitchFamily="34" charset="0"/>
              <a:cs typeface="Arial" pitchFamily="34" charset="0"/>
            </a:endParaRPr>
          </a:p>
          <a:p>
            <a:pPr algn="just">
              <a:buFont typeface="Wingdings 3" charset="2"/>
              <a:buAutoNum type="arabicPeriod"/>
            </a:pPr>
            <a:r>
              <a:rPr lang="vi-VN" sz="3600" dirty="0" smtClean="0">
                <a:latin typeface="Arial" pitchFamily="34" charset="0"/>
                <a:cs typeface="Arial" pitchFamily="34" charset="0"/>
              </a:rPr>
              <a:t> Biểu hiện lâm sàn</a:t>
            </a:r>
            <a:r>
              <a:rPr lang="en-US" sz="3600" dirty="0" smtClean="0">
                <a:latin typeface="Arial" pitchFamily="34" charset="0"/>
                <a:cs typeface="Arial" pitchFamily="34" charset="0"/>
              </a:rPr>
              <a:t>g </a:t>
            </a:r>
            <a:r>
              <a:rPr lang="en-US" sz="3600" dirty="0" err="1" smtClean="0">
                <a:latin typeface="Arial" pitchFamily="34" charset="0"/>
                <a:cs typeface="Arial" pitchFamily="34" charset="0"/>
              </a:rPr>
              <a:t>và</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cận</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lâm</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sàng</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của</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Lỵ</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trực</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khuẩn</a:t>
            </a:r>
            <a:r>
              <a:rPr lang="en-US" sz="3600" dirty="0" smtClean="0">
                <a:latin typeface="Arial" pitchFamily="34" charset="0"/>
                <a:cs typeface="Arial" pitchFamily="34" charset="0"/>
              </a:rPr>
              <a:t>.</a:t>
            </a:r>
            <a:endParaRPr lang="vi-VN" sz="3600" dirty="0" smtClean="0">
              <a:latin typeface="Arial" pitchFamily="34" charset="0"/>
              <a:cs typeface="Arial" pitchFamily="34" charset="0"/>
            </a:endParaRPr>
          </a:p>
          <a:p>
            <a:pPr algn="just">
              <a:buFont typeface="Wingdings 3" charset="2"/>
              <a:buAutoNum type="arabicPeriod"/>
            </a:pPr>
            <a:r>
              <a:rPr lang="vi-VN" sz="3600" dirty="0" smtClean="0">
                <a:latin typeface="Arial" pitchFamily="34" charset="0"/>
                <a:cs typeface="Arial" pitchFamily="34" charset="0"/>
              </a:rPr>
              <a:t> Chẩn đoán xác đị</a:t>
            </a:r>
            <a:r>
              <a:rPr lang="en-US" sz="3600" dirty="0" err="1" smtClean="0">
                <a:latin typeface="Arial" pitchFamily="34" charset="0"/>
                <a:cs typeface="Arial" pitchFamily="34" charset="0"/>
              </a:rPr>
              <a:t>nh</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chẩn</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đoán</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phân</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biệt</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và</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biến</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chứng</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của</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Lỵ</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Trực</a:t>
            </a:r>
            <a:r>
              <a:rPr lang="en-US" sz="3600" dirty="0" smtClean="0">
                <a:latin typeface="Arial" pitchFamily="34" charset="0"/>
                <a:cs typeface="Arial" pitchFamily="34" charset="0"/>
              </a:rPr>
              <a:t> </a:t>
            </a:r>
            <a:r>
              <a:rPr lang="en-US" sz="3600" dirty="0" err="1" smtClean="0">
                <a:latin typeface="Arial" pitchFamily="34" charset="0"/>
                <a:cs typeface="Arial" pitchFamily="34" charset="0"/>
              </a:rPr>
              <a:t>khuẩn</a:t>
            </a:r>
            <a:r>
              <a:rPr lang="en-US" sz="3600" dirty="0" smtClean="0">
                <a:latin typeface="Arial" pitchFamily="34" charset="0"/>
                <a:cs typeface="Arial" pitchFamily="34" charset="0"/>
              </a:rPr>
              <a:t>.</a:t>
            </a:r>
            <a:endParaRPr lang="vi-VN" sz="3600" dirty="0" smtClean="0">
              <a:latin typeface="Arial" pitchFamily="34" charset="0"/>
              <a:cs typeface="Arial" pitchFamily="34" charset="0"/>
            </a:endParaRPr>
          </a:p>
          <a:p>
            <a:pPr algn="just">
              <a:buFont typeface="Wingdings 3" charset="2"/>
              <a:buAutoNum type="arabicPeriod"/>
            </a:pPr>
            <a:r>
              <a:rPr lang="vi-VN" sz="3600" dirty="0" smtClean="0">
                <a:latin typeface="Arial" pitchFamily="34" charset="0"/>
                <a:cs typeface="Arial" pitchFamily="34" charset="0"/>
              </a:rPr>
              <a:t> Điều trị và dự phòng bệnh</a:t>
            </a:r>
            <a:r>
              <a:rPr lang="en-US" sz="3600" dirty="0">
                <a:latin typeface="Arial" pitchFamily="34" charset="0"/>
                <a:cs typeface="Arial" pitchFamily="34" charset="0"/>
              </a:rPr>
              <a:t>.</a:t>
            </a:r>
            <a:endParaRPr lang="vi-VN" sz="3600" dirty="0" smtClean="0">
              <a:latin typeface="Arial" pitchFamily="34" charset="0"/>
              <a:cs typeface="Arial" pitchFamily="34" charset="0"/>
            </a:endParaRPr>
          </a:p>
        </p:txBody>
      </p:sp>
      <p:sp>
        <p:nvSpPr>
          <p:cNvPr id="5" name="Title 1"/>
          <p:cNvSpPr>
            <a:spLocks noGrp="1"/>
          </p:cNvSpPr>
          <p:nvPr>
            <p:ph type="title"/>
          </p:nvPr>
        </p:nvSpPr>
        <p:spPr>
          <a:xfrm>
            <a:off x="1219200" y="609600"/>
            <a:ext cx="2196738" cy="1143000"/>
          </a:xfrm>
        </p:spPr>
        <p:txBody>
          <a:bodyPr/>
          <a:lstStyle/>
          <a:p>
            <a:pPr algn="just"/>
            <a:r>
              <a:rPr lang="en-US" b="1" dirty="0" err="1" smtClean="0">
                <a:solidFill>
                  <a:srgbClr val="FF0000"/>
                </a:solidFill>
                <a:latin typeface="Arial" pitchFamily="34" charset="0"/>
                <a:cs typeface="Arial" pitchFamily="34" charset="0"/>
              </a:rPr>
              <a:t>Mục</a:t>
            </a:r>
            <a:r>
              <a:rPr lang="en-US" b="1" dirty="0" smtClean="0">
                <a:solidFill>
                  <a:srgbClr val="FF0000"/>
                </a:solidFill>
                <a:latin typeface="Arial" pitchFamily="34" charset="0"/>
                <a:cs typeface="Arial" pitchFamily="34" charset="0"/>
              </a:rPr>
              <a:t> </a:t>
            </a:r>
            <a:r>
              <a:rPr lang="en-US" b="1" dirty="0" err="1" smtClean="0">
                <a:solidFill>
                  <a:srgbClr val="FF0000"/>
                </a:solidFill>
                <a:latin typeface="Arial" pitchFamily="34" charset="0"/>
                <a:cs typeface="Arial" pitchFamily="34" charset="0"/>
              </a:rPr>
              <a:t>tiêu</a:t>
            </a:r>
            <a:r>
              <a:rPr lang="en-US" b="1" dirty="0" smtClean="0">
                <a:solidFill>
                  <a:srgbClr val="FF0000"/>
                </a:solidFill>
                <a:latin typeface="Arial" pitchFamily="34" charset="0"/>
                <a:cs typeface="Arial" pitchFamily="34" charset="0"/>
              </a:rPr>
              <a:t>:</a:t>
            </a:r>
            <a:endParaRPr lang="en-US"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2593073645"/>
      </p:ext>
    </p:extLst>
  </p:cSld>
  <p:clrMapOvr>
    <a:masterClrMapping/>
  </p:clrMapOvr>
  <mc:AlternateContent xmlns:mc="http://schemas.openxmlformats.org/markup-compatibility/2006" xmlns:p15="http://schemas.microsoft.com/office/powerpoint/2012/main">
    <mc:Choice Requires="p15">
      <p:transition spd="slow">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295400" y="609600"/>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 ĐỊNH NGHĨA</a:t>
            </a:r>
            <a:endParaRPr lang="vi-VN" sz="4000" b="1" dirty="0">
              <a:solidFill>
                <a:srgbClr val="FF0000"/>
              </a:solidFill>
              <a:latin typeface="Arial" pitchFamily="34" charset="0"/>
              <a:ea typeface="+mj-ea"/>
              <a:cs typeface="Arial" pitchFamily="34" charset="0"/>
            </a:endParaRPr>
          </a:p>
        </p:txBody>
      </p:sp>
      <p:sp>
        <p:nvSpPr>
          <p:cNvPr id="5" name="Subtitle 2"/>
          <p:cNvSpPr txBox="1">
            <a:spLocks/>
          </p:cNvSpPr>
          <p:nvPr/>
        </p:nvSpPr>
        <p:spPr>
          <a:xfrm>
            <a:off x="419099" y="2133600"/>
            <a:ext cx="8343901" cy="3124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Bệnh</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lỵ</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là</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từ</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dùng</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để</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chỉ</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chung</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cho</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các</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bệnh</a:t>
            </a:r>
            <a:r>
              <a:rPr lang="en-US" sz="2400"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nhiễm</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trùng</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đường</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ruột</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có</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tổn</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thương</a:t>
            </a:r>
            <a:r>
              <a:rPr lang="en-US" sz="2400" b="1" dirty="0" smtClean="0">
                <a:solidFill>
                  <a:schemeClr val="tx1"/>
                </a:solidFill>
                <a:latin typeface="Arial" panose="020B0604020202020204" pitchFamily="34" charset="0"/>
                <a:cs typeface="Arial" panose="020B0604020202020204" pitchFamily="34" charset="0"/>
              </a:rPr>
              <a:t> ở </a:t>
            </a:r>
            <a:r>
              <a:rPr lang="en-US" sz="2400" b="1" dirty="0" err="1" smtClean="0">
                <a:solidFill>
                  <a:schemeClr val="tx1"/>
                </a:solidFill>
                <a:latin typeface="Arial" panose="020B0604020202020204" pitchFamily="34" charset="0"/>
                <a:cs typeface="Arial" panose="020B0604020202020204" pitchFamily="34" charset="0"/>
              </a:rPr>
              <a:t>niêm</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mạc</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đại</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tràng</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biểu</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hiện</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lâm</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sàng</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là</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tình</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trạng</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phân</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có</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nhày</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máu</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Dựa</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vào</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căn</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nguyên</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gây</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bệnh</a:t>
            </a:r>
            <a:r>
              <a:rPr lang="en-US" sz="2400" dirty="0" smtClean="0">
                <a:solidFill>
                  <a:schemeClr val="tx1"/>
                </a:solidFill>
                <a:latin typeface="Arial" panose="020B0604020202020204" pitchFamily="34" charset="0"/>
                <a:cs typeface="Arial" panose="020B0604020202020204" pitchFamily="34" charset="0"/>
              </a:rPr>
              <a:t> chia </a:t>
            </a:r>
            <a:r>
              <a:rPr lang="en-US" sz="2400" dirty="0" err="1" smtClean="0">
                <a:solidFill>
                  <a:schemeClr val="tx1"/>
                </a:solidFill>
                <a:latin typeface="Arial" panose="020B0604020202020204" pitchFamily="34" charset="0"/>
                <a:cs typeface="Arial" panose="020B0604020202020204" pitchFamily="34" charset="0"/>
              </a:rPr>
              <a:t>thành</a:t>
            </a:r>
            <a:r>
              <a:rPr lang="en-US" sz="2400"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hai</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loại</a:t>
            </a:r>
            <a:r>
              <a:rPr lang="en-US" sz="2400" b="1"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bệnh</a:t>
            </a:r>
            <a:r>
              <a:rPr lang="en-US" sz="2400"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lỵ</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amip</a:t>
            </a:r>
            <a:r>
              <a:rPr lang="en-US" sz="2400" b="1" dirty="0" smtClean="0">
                <a:solidFill>
                  <a:schemeClr val="tx1"/>
                </a:solidFill>
                <a:latin typeface="Arial" panose="020B0604020202020204" pitchFamily="34" charset="0"/>
                <a:cs typeface="Arial" panose="020B0604020202020204" pitchFamily="34" charset="0"/>
              </a:rPr>
              <a:t> </a:t>
            </a:r>
            <a:r>
              <a:rPr lang="en-US" sz="2400" dirty="0" smtClean="0">
                <a:solidFill>
                  <a:schemeClr val="tx1"/>
                </a:solidFill>
                <a:latin typeface="Arial" panose="020B0604020202020204" pitchFamily="34" charset="0"/>
                <a:cs typeface="Arial" panose="020B0604020202020204" pitchFamily="34" charset="0"/>
              </a:rPr>
              <a:t>do </a:t>
            </a:r>
            <a:r>
              <a:rPr lang="en-US" sz="2400" dirty="0" err="1" smtClean="0">
                <a:solidFill>
                  <a:schemeClr val="tx1"/>
                </a:solidFill>
                <a:latin typeface="Arial" panose="020B0604020202020204" pitchFamily="34" charset="0"/>
                <a:cs typeface="Arial" panose="020B0604020202020204" pitchFamily="34" charset="0"/>
              </a:rPr>
              <a:t>đơn</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bào</a:t>
            </a:r>
            <a:r>
              <a:rPr lang="en-US" sz="2400" dirty="0" smtClean="0">
                <a:solidFill>
                  <a:schemeClr val="tx1"/>
                </a:solidFill>
                <a:latin typeface="Arial" panose="020B0604020202020204" pitchFamily="34" charset="0"/>
                <a:cs typeface="Arial" panose="020B0604020202020204" pitchFamily="34" charset="0"/>
              </a:rPr>
              <a:t> </a:t>
            </a:r>
            <a:r>
              <a:rPr lang="en-US" sz="2400" i="1" dirty="0" err="1" smtClean="0">
                <a:solidFill>
                  <a:schemeClr val="tx1"/>
                </a:solidFill>
                <a:latin typeface="Arial" panose="020B0604020202020204" pitchFamily="34" charset="0"/>
                <a:cs typeface="Arial" panose="020B0604020202020204" pitchFamily="34" charset="0"/>
              </a:rPr>
              <a:t>Entamoeba</a:t>
            </a:r>
            <a:r>
              <a:rPr lang="en-US" sz="2400" i="1" dirty="0" smtClean="0">
                <a:solidFill>
                  <a:schemeClr val="tx1"/>
                </a:solidFill>
                <a:latin typeface="Arial" panose="020B0604020202020204" pitchFamily="34" charset="0"/>
                <a:cs typeface="Arial" panose="020B0604020202020204" pitchFamily="34" charset="0"/>
              </a:rPr>
              <a:t> </a:t>
            </a:r>
            <a:r>
              <a:rPr lang="en-US" sz="2400" i="1" dirty="0" err="1" smtClean="0">
                <a:solidFill>
                  <a:schemeClr val="tx1"/>
                </a:solidFill>
                <a:latin typeface="Arial" panose="020B0604020202020204" pitchFamily="34" charset="0"/>
                <a:cs typeface="Arial" panose="020B0604020202020204" pitchFamily="34" charset="0"/>
              </a:rPr>
              <a:t>Hystolytica</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gây</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ra</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và</a:t>
            </a:r>
            <a:r>
              <a:rPr lang="en-US" sz="2400"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lỵ</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trực</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khuẩn</a:t>
            </a:r>
            <a:r>
              <a:rPr lang="en-US" sz="2400" b="1"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nguyên</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nhân</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chủ</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yếu</a:t>
            </a:r>
            <a:r>
              <a:rPr lang="en-US" sz="2400" dirty="0" smtClean="0">
                <a:solidFill>
                  <a:schemeClr val="tx1"/>
                </a:solidFill>
                <a:latin typeface="Arial" panose="020B0604020202020204" pitchFamily="34" charset="0"/>
                <a:cs typeface="Arial" panose="020B0604020202020204" pitchFamily="34" charset="0"/>
              </a:rPr>
              <a:t> do vi </a:t>
            </a:r>
            <a:r>
              <a:rPr lang="en-US" sz="2400" dirty="0" err="1" smtClean="0">
                <a:solidFill>
                  <a:schemeClr val="tx1"/>
                </a:solidFill>
                <a:latin typeface="Arial" panose="020B0604020202020204" pitchFamily="34" charset="0"/>
                <a:cs typeface="Arial" panose="020B0604020202020204" pitchFamily="34" charset="0"/>
              </a:rPr>
              <a:t>khuẩn</a:t>
            </a:r>
            <a:r>
              <a:rPr lang="en-US" sz="2400" dirty="0" smtClean="0">
                <a:solidFill>
                  <a:schemeClr val="tx1"/>
                </a:solidFill>
                <a:latin typeface="Arial" panose="020B0604020202020204" pitchFamily="34" charset="0"/>
                <a:cs typeface="Arial" panose="020B0604020202020204" pitchFamily="34" charset="0"/>
              </a:rPr>
              <a:t> </a:t>
            </a:r>
            <a:r>
              <a:rPr lang="en-US" sz="2400" i="1" dirty="0" err="1" smtClean="0">
                <a:solidFill>
                  <a:schemeClr val="tx1"/>
                </a:solidFill>
                <a:latin typeface="Arial" panose="020B0604020202020204" pitchFamily="34" charset="0"/>
                <a:cs typeface="Arial" panose="020B0604020202020204" pitchFamily="34" charset="0"/>
              </a:rPr>
              <a:t>Shigella</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với</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triệu</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chứng</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lâm</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sàng</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điển</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hình</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là</a:t>
            </a:r>
            <a:r>
              <a:rPr lang="en-US" sz="2400"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tiêu</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chảy</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phân</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nhày</a:t>
            </a:r>
            <a:r>
              <a:rPr lang="en-US" sz="2400" b="1" dirty="0" smtClean="0">
                <a:solidFill>
                  <a:schemeClr val="tx1"/>
                </a:solidFill>
                <a:latin typeface="Arial" panose="020B0604020202020204" pitchFamily="34" charset="0"/>
                <a:cs typeface="Arial" panose="020B0604020202020204" pitchFamily="34" charset="0"/>
              </a:rPr>
              <a:t> </a:t>
            </a:r>
            <a:r>
              <a:rPr lang="en-US" sz="2400" b="1" dirty="0" err="1" smtClean="0">
                <a:solidFill>
                  <a:schemeClr val="tx1"/>
                </a:solidFill>
                <a:latin typeface="Arial" panose="020B0604020202020204" pitchFamily="34" charset="0"/>
                <a:cs typeface="Arial" panose="020B0604020202020204" pitchFamily="34" charset="0"/>
              </a:rPr>
              <a:t>máu</a:t>
            </a:r>
            <a:r>
              <a:rPr lang="en-US" sz="2400" b="1" dirty="0" smtClean="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60750062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318146"/>
            <a:ext cx="7822993" cy="5334000"/>
          </a:xfrm>
        </p:spPr>
        <p:txBody>
          <a:bodyPr numCol="2">
            <a:normAutofit/>
          </a:bodyPr>
          <a:lstStyle/>
          <a:p>
            <a:pPr marL="0" indent="0" algn="just">
              <a:buNone/>
            </a:pPr>
            <a:r>
              <a:rPr lang="en-US" sz="2400" i="1" dirty="0" smtClean="0">
                <a:latin typeface="Arial" panose="020B0604020202020204" pitchFamily="34" charset="0"/>
                <a:cs typeface="Arial" panose="020B0604020202020204" pitchFamily="34" charset="0"/>
              </a:rPr>
              <a:t>- </a:t>
            </a:r>
            <a:r>
              <a:rPr lang="en-US" sz="2400" i="1" dirty="0" err="1" smtClean="0">
                <a:latin typeface="Arial" panose="020B0604020202020204" pitchFamily="34" charset="0"/>
                <a:cs typeface="Arial" panose="020B0604020202020204" pitchFamily="34" charset="0"/>
              </a:rPr>
              <a:t>Shigella</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một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viên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họ</a:t>
            </a:r>
            <a:r>
              <a:rPr lang="en-US" sz="2400" dirty="0">
                <a:latin typeface="Arial" panose="020B0604020202020204" pitchFamily="34" charset="0"/>
                <a:cs typeface="Arial" panose="020B0604020202020204" pitchFamily="34" charset="0"/>
              </a:rPr>
              <a:t> vi </a:t>
            </a:r>
            <a:r>
              <a:rPr lang="en-US" sz="2400" dirty="0" err="1">
                <a:latin typeface="Arial" panose="020B0604020202020204" pitchFamily="34" charset="0"/>
                <a:cs typeface="Arial" panose="020B0604020202020204" pitchFamily="34" charset="0"/>
              </a:rPr>
              <a:t>khuẩn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đường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ruột</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a:t>
            </a:r>
            <a:r>
              <a:rPr lang="en-US" sz="2400" i="1" dirty="0" err="1" smtClean="0">
                <a:latin typeface="Arial" panose="020B0604020202020204" pitchFamily="34" charset="0"/>
                <a:cs typeface="Arial" panose="020B0604020202020204" pitchFamily="34" charset="0"/>
              </a:rPr>
              <a:t>Enterobacteriaceae</a:t>
            </a:r>
            <a:r>
              <a:rPr lang="en-US" sz="2400" dirty="0" smtClean="0">
                <a:latin typeface="Arial" panose="020B0604020202020204" pitchFamily="34" charset="0"/>
                <a:cs typeface="Arial" panose="020B0604020202020204" pitchFamily="34" charset="0"/>
              </a:rPr>
              <a:t>).</a:t>
            </a:r>
          </a:p>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Đặc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điểm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trực</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khuẩn</a:t>
            </a:r>
            <a:r>
              <a:rPr lang="en-US" sz="2400" dirty="0">
                <a:latin typeface="Arial" panose="020B0604020202020204" pitchFamily="34" charset="0"/>
                <a:cs typeface="Arial" panose="020B0604020202020204" pitchFamily="34" charset="0"/>
              </a:rPr>
              <a:t> Gram </a:t>
            </a:r>
            <a:r>
              <a:rPr lang="en-US" sz="2400" dirty="0" err="1">
                <a:latin typeface="Arial" panose="020B0604020202020204" pitchFamily="34" charset="0"/>
                <a:cs typeface="Arial" panose="020B0604020202020204" pitchFamily="34" charset="0"/>
              </a:rPr>
              <a:t>âm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hiếu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kỵ</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tùy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tiện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lên</a:t>
            </a:r>
            <a:r>
              <a:rPr lang="en-US" sz="2400" dirty="0">
                <a:latin typeface="Arial" panose="020B0604020202020204" pitchFamily="34" charset="0"/>
                <a:cs typeface="Arial" panose="020B0604020202020204" pitchFamily="34" charset="0"/>
              </a:rPr>
              <a:t> men Glucose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hơi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chuyển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hóa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nitrat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nitrit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oxidase.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24400" y="1684064"/>
            <a:ext cx="4110251" cy="4602163"/>
          </a:xfrm>
          <a:prstGeom prst="rect">
            <a:avLst/>
          </a:prstGeom>
        </p:spPr>
      </p:pic>
      <p:sp>
        <p:nvSpPr>
          <p:cNvPr id="5" name="Tiêu đề 1">
            <a:extLst>
              <a:ext uri="{FF2B5EF4-FFF2-40B4-BE49-F238E27FC236}">
                <a16:creationId xmlns="" xmlns:a16="http://schemas.microsoft.com/office/drawing/2014/main" id="{C98A5779-0D20-F746-86A7-119A3BB7F135}"/>
              </a:ext>
            </a:extLst>
          </p:cNvPr>
          <p:cNvSpPr txBox="1">
            <a:spLocks/>
          </p:cNvSpPr>
          <p:nvPr/>
        </p:nvSpPr>
        <p:spPr>
          <a:xfrm>
            <a:off x="152400" y="76200"/>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6" name="TextBox 5"/>
          <p:cNvSpPr txBox="1"/>
          <p:nvPr/>
        </p:nvSpPr>
        <p:spPr>
          <a:xfrm>
            <a:off x="1244807" y="737137"/>
            <a:ext cx="6959186" cy="461665"/>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1. </a:t>
            </a:r>
            <a:r>
              <a:rPr lang="en-US" sz="2400" b="1" dirty="0" err="1" smtClean="0">
                <a:latin typeface="Arial" panose="020B0604020202020204" pitchFamily="34" charset="0"/>
                <a:cs typeface="Arial" panose="020B0604020202020204" pitchFamily="34" charset="0"/>
              </a:rPr>
              <a:t>Đặc</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điểm</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sinh</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học</a:t>
            </a:r>
            <a:r>
              <a:rPr lang="en-US" sz="2400" b="1" dirty="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của</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Shigella</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9951567"/>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333900443"/>
              </p:ext>
            </p:extLst>
          </p:nvPr>
        </p:nvGraphicFramePr>
        <p:xfrm>
          <a:off x="0" y="1179694"/>
          <a:ext cx="8991600" cy="57008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êu đề 1">
            <a:extLst>
              <a:ext uri="{FF2B5EF4-FFF2-40B4-BE49-F238E27FC236}">
                <a16:creationId xmlns="" xmlns:a16="http://schemas.microsoft.com/office/drawing/2014/main" id="{C98A5779-0D20-F746-86A7-119A3BB7F135}"/>
              </a:ext>
            </a:extLst>
          </p:cNvPr>
          <p:cNvSpPr txBox="1">
            <a:spLocks/>
          </p:cNvSpPr>
          <p:nvPr/>
        </p:nvSpPr>
        <p:spPr>
          <a:xfrm>
            <a:off x="228600" y="76200"/>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4" name="TextBox 3"/>
          <p:cNvSpPr txBox="1"/>
          <p:nvPr/>
        </p:nvSpPr>
        <p:spPr>
          <a:xfrm>
            <a:off x="1219200" y="687090"/>
            <a:ext cx="6959186" cy="461665"/>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1. </a:t>
            </a:r>
            <a:r>
              <a:rPr lang="en-US" sz="2400" b="1" dirty="0" err="1" smtClean="0">
                <a:latin typeface="Arial" panose="020B0604020202020204" pitchFamily="34" charset="0"/>
                <a:cs typeface="Arial" panose="020B0604020202020204" pitchFamily="34" charset="0"/>
              </a:rPr>
              <a:t>Đặc</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điểm</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sinh</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học</a:t>
            </a:r>
            <a:r>
              <a:rPr lang="en-US" sz="2400" b="1" dirty="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của</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Shigella</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2968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64919"/>
            <a:ext cx="8534400" cy="1794838"/>
          </a:xfrm>
        </p:spPr>
        <p:txBody>
          <a:bodyPr>
            <a:normAutofit/>
          </a:bodyPr>
          <a:lstStyle/>
          <a:p>
            <a:pPr marL="0" indent="0" algn="just">
              <a:buNone/>
            </a:pPr>
            <a:r>
              <a:rPr lang="en-US" sz="2000" i="1" dirty="0" smtClean="0">
                <a:latin typeface="Arial" panose="020B0604020202020204" pitchFamily="34" charset="0"/>
                <a:cs typeface="Arial" panose="020B0604020202020204" pitchFamily="34" charset="0"/>
              </a:rPr>
              <a:t>- </a:t>
            </a:r>
            <a:r>
              <a:rPr lang="en-US" sz="2000" i="1" dirty="0" err="1" smtClean="0">
                <a:latin typeface="Arial" panose="020B0604020202020204" pitchFamily="34" charset="0"/>
                <a:cs typeface="Arial" panose="020B0604020202020204" pitchFamily="34" charset="0"/>
              </a:rPr>
              <a:t>Shigella</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là</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những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trực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khuẩn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kích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thước</a:t>
            </a:r>
            <a:r>
              <a:rPr lang="en-US" sz="2000" dirty="0" smtClean="0">
                <a:latin typeface="Arial" panose="020B0604020202020204" pitchFamily="34" charset="0"/>
                <a:cs typeface="Arial" panose="020B0604020202020204" pitchFamily="34" charset="0"/>
              </a:rPr>
              <a:t> 0,5-0,6 × 1-3 µm, </a:t>
            </a:r>
            <a:r>
              <a:rPr lang="en-US" sz="2000" dirty="0" err="1" smtClean="0">
                <a:latin typeface="Arial" panose="020B0604020202020204" pitchFamily="34" charset="0"/>
                <a:cs typeface="Arial" panose="020B0604020202020204" pitchFamily="34" charset="0"/>
              </a:rPr>
              <a:t>không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lông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không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vỏ</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không</a:t>
            </a:r>
            <a:r>
              <a:rPr lang="en-US" sz="2000" dirty="0" smtClean="0">
                <a:latin typeface="Arial" panose="020B0604020202020204" pitchFamily="34" charset="0"/>
                <a:cs typeface="Arial" panose="020B0604020202020204" pitchFamily="34" charset="0"/>
              </a:rPr>
              <a:t> di </a:t>
            </a:r>
            <a:r>
              <a:rPr lang="en-US" sz="2000" dirty="0" err="1" smtClean="0">
                <a:latin typeface="Arial" panose="020B0604020202020204" pitchFamily="34" charset="0"/>
                <a:cs typeface="Arial" panose="020B0604020202020204" pitchFamily="34" charset="0"/>
              </a:rPr>
              <a:t>động</a:t>
            </a:r>
            <a:r>
              <a:rPr lang="en-US" sz="2000" dirty="0" smtClean="0">
                <a:latin typeface="Arial" panose="020B0604020202020204" pitchFamily="34" charset="0"/>
                <a:cs typeface="Arial" panose="020B0604020202020204" pitchFamily="34" charset="0"/>
              </a:rPr>
              <a:t>.  </a:t>
            </a:r>
          </a:p>
          <a:p>
            <a:pPr marL="0" indent="0" algn="just">
              <a:buNone/>
            </a:pP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Phát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triển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tốt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trên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các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môi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trường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nuôi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cấy</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thông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thường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nhiệt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độ</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thích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hợp</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nhất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là</a:t>
            </a:r>
            <a:r>
              <a:rPr lang="en-US" sz="2000" dirty="0" smtClean="0">
                <a:latin typeface="Arial" panose="020B0604020202020204" pitchFamily="34" charset="0"/>
                <a:cs typeface="Arial" panose="020B0604020202020204" pitchFamily="34" charset="0"/>
              </a:rPr>
              <a:t> 37</a:t>
            </a:r>
            <a:r>
              <a:rPr lang="en-US" sz="2000" baseline="30000" dirty="0">
                <a:latin typeface="Arial" panose="020B0604020202020204" pitchFamily="34" charset="0"/>
                <a:cs typeface="Arial" panose="020B0604020202020204" pitchFamily="34" charset="0"/>
              </a:rPr>
              <a:t>o</a:t>
            </a:r>
            <a:r>
              <a:rPr lang="en-US" sz="2000" dirty="0" smtClean="0">
                <a:latin typeface="Arial" panose="020B0604020202020204" pitchFamily="34" charset="0"/>
                <a:cs typeface="Arial" panose="020B0604020202020204" pitchFamily="34" charset="0"/>
              </a:rPr>
              <a:t>C </a:t>
            </a:r>
            <a:r>
              <a:rPr lang="en-US" sz="2000" dirty="0" err="1" smtClean="0">
                <a:latin typeface="Arial" panose="020B0604020202020204" pitchFamily="34" charset="0"/>
                <a:cs typeface="Arial" panose="020B0604020202020204" pitchFamily="34" charset="0"/>
              </a:rPr>
              <a:t>và</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độ</a:t>
            </a:r>
            <a:r>
              <a:rPr lang="en-US" sz="2000" dirty="0" smtClean="0">
                <a:latin typeface="Arial" panose="020B0604020202020204" pitchFamily="34" charset="0"/>
                <a:cs typeface="Arial" panose="020B0604020202020204" pitchFamily="34" charset="0"/>
              </a:rPr>
              <a:t> pH </a:t>
            </a:r>
            <a:r>
              <a:rPr lang="en-US" sz="2000" dirty="0" err="1" smtClean="0">
                <a:latin typeface="Arial" panose="020B0604020202020204" pitchFamily="34" charset="0"/>
                <a:cs typeface="Arial" panose="020B0604020202020204" pitchFamily="34" charset="0"/>
              </a:rPr>
              <a:t>thích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hợp</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nhất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là</a:t>
            </a:r>
            <a:r>
              <a:rPr lang="en-US" sz="2000" dirty="0" smtClean="0">
                <a:latin typeface="Arial" panose="020B0604020202020204" pitchFamily="34" charset="0"/>
                <a:cs typeface="Arial" panose="020B0604020202020204" pitchFamily="34" charset="0"/>
              </a:rPr>
              <a:t> 7 - 8, </a:t>
            </a:r>
            <a:r>
              <a:rPr lang="en-US" sz="2000" dirty="0" err="1" smtClean="0">
                <a:latin typeface="Arial" panose="020B0604020202020204" pitchFamily="34" charset="0"/>
                <a:cs typeface="Arial" panose="020B0604020202020204" pitchFamily="34" charset="0"/>
              </a:rPr>
              <a:t>tuy</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nhiên</a:t>
            </a:r>
            <a:r>
              <a:rPr lang="en-US" sz="2000" dirty="0" smtClean="0">
                <a:latin typeface="Arial" panose="020B0604020202020204" pitchFamily="34" charset="0"/>
                <a:cs typeface="Arial" panose="020B0604020202020204" pitchFamily="34" charset="0"/>
              </a:rPr>
              <a:t> ở </a:t>
            </a:r>
            <a:r>
              <a:rPr lang="en-US" sz="2000" dirty="0" err="1" smtClean="0">
                <a:latin typeface="Arial" panose="020B0604020202020204" pitchFamily="34" charset="0"/>
                <a:cs typeface="Arial" panose="020B0604020202020204" pitchFamily="34" charset="0"/>
              </a:rPr>
              <a:t>nhiệt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độ</a:t>
            </a:r>
            <a:r>
              <a:rPr lang="en-US" sz="2000" dirty="0" smtClean="0">
                <a:latin typeface="Arial" panose="020B0604020202020204" pitchFamily="34" charset="0"/>
                <a:cs typeface="Arial" panose="020B0604020202020204" pitchFamily="34" charset="0"/>
              </a:rPr>
              <a:t> 8 - 40</a:t>
            </a:r>
            <a:r>
              <a:rPr lang="en-US" sz="2000" baseline="30000" dirty="0" smtClean="0">
                <a:latin typeface="Arial" panose="020B0604020202020204" pitchFamily="34" charset="0"/>
                <a:cs typeface="Arial" panose="020B0604020202020204" pitchFamily="34" charset="0"/>
              </a:rPr>
              <a:t>0</a:t>
            </a:r>
            <a:r>
              <a:rPr lang="en-US" sz="2000" dirty="0" smtClean="0">
                <a:latin typeface="Arial" panose="020B0604020202020204" pitchFamily="34" charset="0"/>
                <a:cs typeface="Arial" panose="020B0604020202020204" pitchFamily="34" charset="0"/>
              </a:rPr>
              <a:t>C </a:t>
            </a:r>
            <a:r>
              <a:rPr lang="en-US" sz="2000" dirty="0" err="1" smtClean="0">
                <a:latin typeface="Arial" panose="020B0604020202020204" pitchFamily="34" charset="0"/>
                <a:cs typeface="Arial" panose="020B0604020202020204" pitchFamily="34" charset="0"/>
              </a:rPr>
              <a:t>và</a:t>
            </a:r>
            <a:r>
              <a:rPr lang="en-US" sz="2000" dirty="0" smtClean="0">
                <a:latin typeface="Arial" panose="020B0604020202020204" pitchFamily="34" charset="0"/>
                <a:cs typeface="Arial" panose="020B0604020202020204" pitchFamily="34" charset="0"/>
              </a:rPr>
              <a:t> pH 6,6 - 8,8 </a:t>
            </a:r>
            <a:r>
              <a:rPr lang="en-US" sz="2000" dirty="0" err="1" smtClean="0">
                <a:latin typeface="Arial" panose="020B0604020202020204" pitchFamily="34" charset="0"/>
                <a:cs typeface="Arial" panose="020B0604020202020204" pitchFamily="34" charset="0"/>
              </a:rPr>
              <a:t>chúng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vẫn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phát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triển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được</a:t>
            </a:r>
            <a:r>
              <a:rPr lang="en-US" sz="2000" dirty="0" smtClean="0">
                <a:latin typeface="Arial" panose="020B0604020202020204" pitchFamily="34" charset="0"/>
                <a:cs typeface="Arial" panose="020B0604020202020204" pitchFamily="34" charset="0"/>
              </a:rPr>
              <a:t>. </a:t>
            </a:r>
          </a:p>
          <a:p>
            <a:pPr algn="just"/>
            <a:endParaRPr lang="en-US" sz="2000"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286" y="3588191"/>
            <a:ext cx="2748514" cy="223837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3588190"/>
            <a:ext cx="3465661" cy="223837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7461" y="3588190"/>
            <a:ext cx="2601765" cy="2238375"/>
          </a:xfrm>
          <a:prstGeom prst="rect">
            <a:avLst/>
          </a:prstGeom>
        </p:spPr>
      </p:pic>
      <p:sp>
        <p:nvSpPr>
          <p:cNvPr id="8" name="TextBox 7"/>
          <p:cNvSpPr txBox="1"/>
          <p:nvPr/>
        </p:nvSpPr>
        <p:spPr>
          <a:xfrm>
            <a:off x="2845496" y="6129387"/>
            <a:ext cx="3633983" cy="584775"/>
          </a:xfrm>
          <a:prstGeom prst="rect">
            <a:avLst/>
          </a:prstGeom>
          <a:noFill/>
        </p:spPr>
        <p:txBody>
          <a:bodyPr wrap="square" rtlCol="0">
            <a:spAutoFit/>
          </a:bodyPr>
          <a:lstStyle/>
          <a:p>
            <a:pPr algn="just"/>
            <a:r>
              <a:rPr lang="vi-VN" sz="1600" i="1" dirty="0">
                <a:solidFill>
                  <a:srgbClr val="0000FF"/>
                </a:solidFill>
              </a:rPr>
              <a:t>Shigella</a:t>
            </a:r>
            <a:r>
              <a:rPr lang="vi-VN" sz="1600" dirty="0">
                <a:solidFill>
                  <a:srgbClr val="0000FF"/>
                </a:solidFill>
              </a:rPr>
              <a:t> trên thạch HE, khuẩn lạc tròn, </a:t>
            </a:r>
            <a:r>
              <a:rPr lang="en-US" sz="1600" dirty="0">
                <a:solidFill>
                  <a:srgbClr val="0000FF"/>
                </a:solidFill>
              </a:rPr>
              <a:t>b</a:t>
            </a:r>
            <a:r>
              <a:rPr lang="vi-VN" sz="1600" dirty="0" smtClean="0">
                <a:solidFill>
                  <a:srgbClr val="0000FF"/>
                </a:solidFill>
              </a:rPr>
              <a:t>ờ </a:t>
            </a:r>
            <a:r>
              <a:rPr lang="vi-VN" sz="1600" dirty="0">
                <a:solidFill>
                  <a:srgbClr val="0000FF"/>
                </a:solidFill>
              </a:rPr>
              <a:t>đều và trong</a:t>
            </a:r>
            <a:endParaRPr lang="en-US" sz="1600" dirty="0">
              <a:solidFill>
                <a:srgbClr val="0000FF"/>
              </a:solidFill>
            </a:endParaRPr>
          </a:p>
        </p:txBody>
      </p:sp>
      <p:sp>
        <p:nvSpPr>
          <p:cNvPr id="9" name="TextBox 8"/>
          <p:cNvSpPr txBox="1"/>
          <p:nvPr/>
        </p:nvSpPr>
        <p:spPr>
          <a:xfrm>
            <a:off x="6657976" y="6129387"/>
            <a:ext cx="2590800" cy="584775"/>
          </a:xfrm>
          <a:prstGeom prst="rect">
            <a:avLst/>
          </a:prstGeom>
          <a:noFill/>
        </p:spPr>
        <p:txBody>
          <a:bodyPr wrap="square" rtlCol="0">
            <a:spAutoFit/>
          </a:bodyPr>
          <a:lstStyle/>
          <a:p>
            <a:pPr algn="just"/>
            <a:r>
              <a:rPr lang="en-US" sz="1600" dirty="0" err="1">
                <a:solidFill>
                  <a:srgbClr val="0000FF"/>
                </a:solidFill>
              </a:rPr>
              <a:t>Nuôi</a:t>
            </a:r>
            <a:r>
              <a:rPr lang="en-US" sz="1600" dirty="0">
                <a:solidFill>
                  <a:srgbClr val="0000FF"/>
                </a:solidFill>
              </a:rPr>
              <a:t> </a:t>
            </a:r>
            <a:r>
              <a:rPr lang="en-US" sz="1600" dirty="0" err="1">
                <a:solidFill>
                  <a:srgbClr val="0000FF"/>
                </a:solidFill>
              </a:rPr>
              <a:t>cấy</a:t>
            </a:r>
            <a:r>
              <a:rPr lang="en-US" sz="1600" dirty="0">
                <a:solidFill>
                  <a:srgbClr val="0000FF"/>
                </a:solidFill>
              </a:rPr>
              <a:t> </a:t>
            </a:r>
            <a:r>
              <a:rPr lang="en-US" sz="1600" i="1" dirty="0" err="1">
                <a:solidFill>
                  <a:srgbClr val="0000FF"/>
                </a:solidFill>
              </a:rPr>
              <a:t>Shigella</a:t>
            </a:r>
            <a:r>
              <a:rPr lang="en-US" sz="1600" i="1" dirty="0">
                <a:solidFill>
                  <a:srgbClr val="0000FF"/>
                </a:solidFill>
              </a:rPr>
              <a:t> </a:t>
            </a:r>
            <a:r>
              <a:rPr lang="en-US" sz="1600" dirty="0" err="1">
                <a:solidFill>
                  <a:srgbClr val="0000FF"/>
                </a:solidFill>
              </a:rPr>
              <a:t>trên</a:t>
            </a:r>
            <a:r>
              <a:rPr lang="en-US" sz="1600" dirty="0">
                <a:solidFill>
                  <a:srgbClr val="0000FF"/>
                </a:solidFill>
              </a:rPr>
              <a:t> </a:t>
            </a:r>
            <a:r>
              <a:rPr lang="en-US" sz="1600" dirty="0" err="1">
                <a:solidFill>
                  <a:srgbClr val="0000FF"/>
                </a:solidFill>
              </a:rPr>
              <a:t>thạch</a:t>
            </a:r>
            <a:r>
              <a:rPr lang="en-US" sz="1600" dirty="0">
                <a:solidFill>
                  <a:srgbClr val="0000FF"/>
                </a:solidFill>
              </a:rPr>
              <a:t> </a:t>
            </a:r>
            <a:r>
              <a:rPr lang="en-US" sz="1600" dirty="0" err="1">
                <a:solidFill>
                  <a:srgbClr val="0000FF"/>
                </a:solidFill>
              </a:rPr>
              <a:t>McConKey</a:t>
            </a:r>
            <a:endParaRPr lang="en-US" sz="1600" dirty="0">
              <a:solidFill>
                <a:srgbClr val="0000FF"/>
              </a:solidFill>
            </a:endParaRPr>
          </a:p>
        </p:txBody>
      </p:sp>
      <p:sp>
        <p:nvSpPr>
          <p:cNvPr id="10" name="TextBox 9"/>
          <p:cNvSpPr txBox="1"/>
          <p:nvPr/>
        </p:nvSpPr>
        <p:spPr>
          <a:xfrm>
            <a:off x="-13856" y="6043680"/>
            <a:ext cx="2680855" cy="584775"/>
          </a:xfrm>
          <a:prstGeom prst="rect">
            <a:avLst/>
          </a:prstGeom>
          <a:noFill/>
        </p:spPr>
        <p:txBody>
          <a:bodyPr wrap="square" rtlCol="0">
            <a:spAutoFit/>
          </a:bodyPr>
          <a:lstStyle/>
          <a:p>
            <a:pPr algn="just"/>
            <a:r>
              <a:rPr lang="en-US" sz="1600" dirty="0" err="1">
                <a:solidFill>
                  <a:srgbClr val="0000FF"/>
                </a:solidFill>
                <a:latin typeface="Arial" panose="020B0604020202020204" pitchFamily="34" charset="0"/>
                <a:cs typeface="Arial" panose="020B0604020202020204" pitchFamily="34" charset="0"/>
                <a:hlinkClick r:id="rId5" tooltip="Hiển vi điện tử (trang chưa được viết)"/>
              </a:rPr>
              <a:t>Ảnh</a:t>
            </a:r>
            <a:r>
              <a:rPr lang="en-US" sz="1600" dirty="0">
                <a:solidFill>
                  <a:srgbClr val="0000FF"/>
                </a:solidFill>
                <a:latin typeface="Arial" panose="020B0604020202020204" pitchFamily="34" charset="0"/>
                <a:cs typeface="Arial" panose="020B0604020202020204" pitchFamily="34" charset="0"/>
                <a:hlinkClick r:id="rId5" tooltip="Hiển vi điện tử (trang chưa được viết)"/>
              </a:rPr>
              <a:t> </a:t>
            </a:r>
            <a:r>
              <a:rPr lang="en-US" sz="1600" dirty="0" err="1">
                <a:solidFill>
                  <a:srgbClr val="0000FF"/>
                </a:solidFill>
                <a:latin typeface="Arial" panose="020B0604020202020204" pitchFamily="34" charset="0"/>
                <a:cs typeface="Arial" panose="020B0604020202020204" pitchFamily="34" charset="0"/>
                <a:hlinkClick r:id="rId5" tooltip="Hiển vi điện tử (trang chưa được viết)"/>
              </a:rPr>
              <a:t>chụp</a:t>
            </a:r>
            <a:r>
              <a:rPr lang="en-US" sz="1600" dirty="0">
                <a:solidFill>
                  <a:srgbClr val="0000FF"/>
                </a:solidFill>
                <a:latin typeface="Arial" panose="020B0604020202020204" pitchFamily="34" charset="0"/>
                <a:cs typeface="Arial" panose="020B0604020202020204" pitchFamily="34" charset="0"/>
              </a:rPr>
              <a:t> </a:t>
            </a:r>
            <a:r>
              <a:rPr lang="en-US" sz="1600" dirty="0" err="1">
                <a:solidFill>
                  <a:srgbClr val="0000FF"/>
                </a:solidFill>
                <a:latin typeface="Arial" panose="020B0604020202020204" pitchFamily="34" charset="0"/>
                <a:cs typeface="Arial" panose="020B0604020202020204" pitchFamily="34" charset="0"/>
              </a:rPr>
              <a:t>của</a:t>
            </a:r>
            <a:r>
              <a:rPr lang="en-US" sz="1600" dirty="0">
                <a:solidFill>
                  <a:srgbClr val="0000FF"/>
                </a:solidFill>
                <a:latin typeface="Arial" panose="020B0604020202020204" pitchFamily="34" charset="0"/>
                <a:cs typeface="Arial" panose="020B0604020202020204" pitchFamily="34" charset="0"/>
              </a:rPr>
              <a:t> </a:t>
            </a:r>
            <a:r>
              <a:rPr lang="en-US" sz="1600" i="1" dirty="0" err="1">
                <a:solidFill>
                  <a:srgbClr val="0000FF"/>
                </a:solidFill>
                <a:latin typeface="Arial" panose="020B0604020202020204" pitchFamily="34" charset="0"/>
                <a:cs typeface="Arial" panose="020B0604020202020204" pitchFamily="34" charset="0"/>
              </a:rPr>
              <a:t>Shigella</a:t>
            </a:r>
            <a:r>
              <a:rPr lang="en-US" sz="1600" i="1" dirty="0">
                <a:solidFill>
                  <a:srgbClr val="0000FF"/>
                </a:solidFill>
                <a:latin typeface="Arial" panose="020B0604020202020204" pitchFamily="34" charset="0"/>
                <a:cs typeface="Arial" panose="020B0604020202020204" pitchFamily="34" charset="0"/>
              </a:rPr>
              <a:t> </a:t>
            </a:r>
            <a:r>
              <a:rPr lang="en-US" sz="1600" dirty="0" err="1">
                <a:solidFill>
                  <a:srgbClr val="0000FF"/>
                </a:solidFill>
                <a:latin typeface="Arial" panose="020B0604020202020204" pitchFamily="34" charset="0"/>
                <a:cs typeface="Arial" panose="020B0604020202020204" pitchFamily="34" charset="0"/>
              </a:rPr>
              <a:t>sp</a:t>
            </a:r>
            <a:r>
              <a:rPr lang="en-US" sz="1600" dirty="0">
                <a:solidFill>
                  <a:srgbClr val="0000FF"/>
                </a:solidFill>
                <a:latin typeface="Arial" panose="020B0604020202020204" pitchFamily="34" charset="0"/>
                <a:cs typeface="Arial" panose="020B0604020202020204" pitchFamily="34" charset="0"/>
              </a:rPr>
              <a:t> </a:t>
            </a:r>
            <a:r>
              <a:rPr lang="en-US" sz="1600" dirty="0" err="1">
                <a:solidFill>
                  <a:srgbClr val="0000FF"/>
                </a:solidFill>
                <a:latin typeface="Arial" panose="020B0604020202020204" pitchFamily="34" charset="0"/>
                <a:cs typeface="Arial" panose="020B0604020202020204" pitchFamily="34" charset="0"/>
              </a:rPr>
              <a:t>trong</a:t>
            </a:r>
            <a:r>
              <a:rPr lang="en-US" sz="1600" dirty="0">
                <a:solidFill>
                  <a:srgbClr val="0000FF"/>
                </a:solidFill>
                <a:latin typeface="Arial" panose="020B0604020202020204" pitchFamily="34" charset="0"/>
                <a:cs typeface="Arial" panose="020B0604020202020204" pitchFamily="34" charset="0"/>
              </a:rPr>
              <a:t> </a:t>
            </a:r>
            <a:r>
              <a:rPr lang="en-US" sz="1600" dirty="0" err="1">
                <a:solidFill>
                  <a:srgbClr val="0000FF"/>
                </a:solidFill>
                <a:latin typeface="Arial" panose="020B0604020202020204" pitchFamily="34" charset="0"/>
                <a:cs typeface="Arial" panose="020B0604020202020204" pitchFamily="34" charset="0"/>
              </a:rPr>
              <a:t>một</a:t>
            </a:r>
            <a:r>
              <a:rPr lang="en-US" sz="1600" dirty="0">
                <a:solidFill>
                  <a:srgbClr val="0000FF"/>
                </a:solidFill>
                <a:latin typeface="Arial" panose="020B0604020202020204" pitchFamily="34" charset="0"/>
                <a:cs typeface="Arial" panose="020B0604020202020204" pitchFamily="34" charset="0"/>
              </a:rPr>
              <a:t> </a:t>
            </a:r>
            <a:r>
              <a:rPr lang="en-US" sz="1600" dirty="0" err="1">
                <a:solidFill>
                  <a:srgbClr val="0000FF"/>
                </a:solidFill>
                <a:latin typeface="Arial" panose="020B0604020202020204" pitchFamily="34" charset="0"/>
                <a:cs typeface="Arial" panose="020B0604020202020204" pitchFamily="34" charset="0"/>
              </a:rPr>
              <a:t>mẫu</a:t>
            </a:r>
            <a:r>
              <a:rPr lang="en-US" sz="1600" dirty="0">
                <a:solidFill>
                  <a:srgbClr val="0000FF"/>
                </a:solidFill>
                <a:latin typeface="Arial" panose="020B0604020202020204" pitchFamily="34" charset="0"/>
                <a:cs typeface="Arial" panose="020B0604020202020204" pitchFamily="34" charset="0"/>
              </a:rPr>
              <a:t> </a:t>
            </a:r>
            <a:r>
              <a:rPr lang="en-US" sz="1600" dirty="0" err="1">
                <a:solidFill>
                  <a:srgbClr val="0000FF"/>
                </a:solidFill>
                <a:latin typeface="Arial" panose="020B0604020202020204" pitchFamily="34" charset="0"/>
                <a:cs typeface="Arial" panose="020B0604020202020204" pitchFamily="34" charset="0"/>
              </a:rPr>
              <a:t>phân</a:t>
            </a:r>
            <a:r>
              <a:rPr lang="en-US" sz="1600" dirty="0">
                <a:solidFill>
                  <a:srgbClr val="0000FF"/>
                </a:solidFill>
                <a:latin typeface="Arial" panose="020B0604020202020204" pitchFamily="34" charset="0"/>
                <a:cs typeface="Arial" panose="020B0604020202020204" pitchFamily="34" charset="0"/>
              </a:rPr>
              <a:t>.</a:t>
            </a:r>
          </a:p>
        </p:txBody>
      </p:sp>
      <p:sp>
        <p:nvSpPr>
          <p:cNvPr id="11" name="Tiêu đề 1">
            <a:extLst>
              <a:ext uri="{FF2B5EF4-FFF2-40B4-BE49-F238E27FC236}">
                <a16:creationId xmlns="" xmlns:a16="http://schemas.microsoft.com/office/drawing/2014/main" id="{C98A5779-0D20-F746-86A7-119A3BB7F135}"/>
              </a:ext>
            </a:extLst>
          </p:cNvPr>
          <p:cNvSpPr txBox="1">
            <a:spLocks/>
          </p:cNvSpPr>
          <p:nvPr/>
        </p:nvSpPr>
        <p:spPr>
          <a:xfrm>
            <a:off x="223286" y="0"/>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2" name="TextBox 1"/>
          <p:cNvSpPr txBox="1"/>
          <p:nvPr/>
        </p:nvSpPr>
        <p:spPr>
          <a:xfrm>
            <a:off x="1182894" y="1198802"/>
            <a:ext cx="6959186" cy="430887"/>
          </a:xfrm>
          <a:prstGeom prst="rect">
            <a:avLst/>
          </a:prstGeom>
          <a:noFill/>
        </p:spPr>
        <p:txBody>
          <a:bodyPr wrap="square" rtlCol="0">
            <a:spAutoFit/>
          </a:bodyPr>
          <a:lstStyle/>
          <a:p>
            <a:pPr algn="just"/>
            <a:r>
              <a:rPr lang="en-US" sz="2200" b="1" dirty="0" smtClean="0">
                <a:latin typeface="Arial" panose="020B0604020202020204" pitchFamily="34" charset="0"/>
                <a:cs typeface="Arial" panose="020B0604020202020204" pitchFamily="34" charset="0"/>
              </a:rPr>
              <a:t>a</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Hình</a:t>
            </a:r>
            <a:r>
              <a:rPr lang="en-US" sz="2200" b="1" i="1" dirty="0" smtClean="0">
                <a:latin typeface="Arial" panose="020B0604020202020204" pitchFamily="34" charset="0"/>
                <a:cs typeface="Arial" panose="020B0604020202020204" pitchFamily="34" charset="0"/>
              </a:rPr>
              <a:t> </a:t>
            </a:r>
            <a:r>
              <a:rPr lang="en-US" sz="2200" b="1" i="1" dirty="0" err="1">
                <a:latin typeface="Arial" panose="020B0604020202020204" pitchFamily="34" charset="0"/>
                <a:cs typeface="Arial" panose="020B0604020202020204" pitchFamily="34" charset="0"/>
              </a:rPr>
              <a:t>thể</a:t>
            </a:r>
            <a:r>
              <a:rPr lang="en-US" sz="2200" b="1" i="1" dirty="0">
                <a:latin typeface="Arial" panose="020B0604020202020204" pitchFamily="34" charset="0"/>
                <a:cs typeface="Arial" panose="020B0604020202020204" pitchFamily="34" charset="0"/>
              </a:rPr>
              <a:t> </a:t>
            </a:r>
            <a:r>
              <a:rPr lang="en-US" sz="2200" b="1" i="1" dirty="0" err="1">
                <a:latin typeface="Arial" panose="020B0604020202020204" pitchFamily="34" charset="0"/>
                <a:cs typeface="Arial" panose="020B0604020202020204" pitchFamily="34" charset="0"/>
              </a:rPr>
              <a:t>và</a:t>
            </a:r>
            <a:r>
              <a:rPr lang="en-US" sz="2200" b="1" i="1" dirty="0">
                <a:latin typeface="Arial" panose="020B0604020202020204" pitchFamily="34" charset="0"/>
                <a:cs typeface="Arial" panose="020B0604020202020204" pitchFamily="34" charset="0"/>
              </a:rPr>
              <a:t> </a:t>
            </a:r>
            <a:r>
              <a:rPr lang="en-US" sz="2200" b="1" i="1" dirty="0" err="1">
                <a:latin typeface="Arial" panose="020B0604020202020204" pitchFamily="34" charset="0"/>
                <a:cs typeface="Arial" panose="020B0604020202020204" pitchFamily="34" charset="0"/>
              </a:rPr>
              <a:t>tính</a:t>
            </a:r>
            <a:r>
              <a:rPr lang="en-US" sz="2200" b="1" i="1" dirty="0">
                <a:latin typeface="Arial" panose="020B0604020202020204" pitchFamily="34" charset="0"/>
                <a:cs typeface="Arial" panose="020B0604020202020204" pitchFamily="34" charset="0"/>
              </a:rPr>
              <a:t> </a:t>
            </a:r>
            <a:r>
              <a:rPr lang="en-US" sz="2200" b="1" i="1" dirty="0" err="1">
                <a:latin typeface="Arial" panose="020B0604020202020204" pitchFamily="34" charset="0"/>
                <a:cs typeface="Arial" panose="020B0604020202020204" pitchFamily="34" charset="0"/>
              </a:rPr>
              <a:t>chất</a:t>
            </a:r>
            <a:r>
              <a:rPr lang="en-US" sz="2200" b="1" i="1" dirty="0">
                <a:latin typeface="Arial" panose="020B0604020202020204" pitchFamily="34" charset="0"/>
                <a:cs typeface="Arial" panose="020B0604020202020204" pitchFamily="34" charset="0"/>
              </a:rPr>
              <a:t> </a:t>
            </a:r>
            <a:r>
              <a:rPr lang="en-US" sz="2200" b="1" i="1" dirty="0" err="1">
                <a:latin typeface="Arial" panose="020B0604020202020204" pitchFamily="34" charset="0"/>
                <a:cs typeface="Arial" panose="020B0604020202020204" pitchFamily="34" charset="0"/>
              </a:rPr>
              <a:t>nuôi</a:t>
            </a:r>
            <a:r>
              <a:rPr lang="en-US" sz="2200" b="1" i="1" dirty="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cấy</a:t>
            </a:r>
            <a:endParaRPr lang="en-US" sz="2200" b="1" i="1" dirty="0">
              <a:latin typeface="Arial" panose="020B0604020202020204" pitchFamily="34" charset="0"/>
              <a:cs typeface="Arial" panose="020B0604020202020204" pitchFamily="34" charset="0"/>
            </a:endParaRPr>
          </a:p>
        </p:txBody>
      </p:sp>
      <p:sp>
        <p:nvSpPr>
          <p:cNvPr id="12" name="TextBox 11"/>
          <p:cNvSpPr txBox="1"/>
          <p:nvPr/>
        </p:nvSpPr>
        <p:spPr>
          <a:xfrm>
            <a:off x="1244807" y="737137"/>
            <a:ext cx="6959186" cy="461665"/>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1. </a:t>
            </a:r>
            <a:r>
              <a:rPr lang="en-US" sz="2400" b="1" dirty="0" err="1" smtClean="0">
                <a:latin typeface="Arial" panose="020B0604020202020204" pitchFamily="34" charset="0"/>
                <a:cs typeface="Arial" panose="020B0604020202020204" pitchFamily="34" charset="0"/>
              </a:rPr>
              <a:t>Đặc</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điểm</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sinh</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học</a:t>
            </a:r>
            <a:r>
              <a:rPr lang="en-US" sz="2400" b="1" dirty="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của</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Shigella</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292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par>
                                <p:cTn id="19" presetID="2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par>
                                <p:cTn id="22" presetID="22" presetClass="entr" presetSubtype="4"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859739"/>
            <a:ext cx="8382000" cy="4572000"/>
          </a:xfrm>
        </p:spPr>
        <p:txBody>
          <a:bodyPr>
            <a:noAutofit/>
          </a:bodyPr>
          <a:lstStyle/>
          <a:p>
            <a:pPr marL="0" indent="0" algn="just">
              <a:buNone/>
            </a:pP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Nội</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độc</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tố</a:t>
            </a: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gắn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với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cấu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trúc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vách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của</a:t>
            </a:r>
            <a:r>
              <a:rPr lang="en-US" sz="2200" dirty="0">
                <a:latin typeface="Arial" panose="020B0604020202020204" pitchFamily="34" charset="0"/>
                <a:cs typeface="Arial" panose="020B0604020202020204" pitchFamily="34" charset="0"/>
              </a:rPr>
              <a:t> vi </a:t>
            </a:r>
            <a:r>
              <a:rPr lang="en-US" sz="2200" dirty="0" err="1" smtClean="0">
                <a:latin typeface="Arial" panose="020B0604020202020204" pitchFamily="34" charset="0"/>
                <a:cs typeface="Arial" panose="020B0604020202020204" pitchFamily="34" charset="0"/>
              </a:rPr>
              <a:t>khuẩn</a:t>
            </a:r>
            <a:r>
              <a:rPr lang="en-US" sz="2200" dirty="0">
                <a:latin typeface="Arial" panose="020B0604020202020204" pitchFamily="34" charset="0"/>
                <a:cs typeface="Arial" panose="020B0604020202020204" pitchFamily="34" charset="0"/>
              </a:rPr>
              <a:t>.</a:t>
            </a:r>
            <a:endParaRPr lang="en-US" sz="2200" dirty="0" smtClean="0">
              <a:latin typeface="Arial" panose="020B0604020202020204" pitchFamily="34" charset="0"/>
              <a:cs typeface="Arial" panose="020B0604020202020204" pitchFamily="34" charset="0"/>
            </a:endParaRPr>
          </a:p>
          <a:p>
            <a:pPr marL="0" indent="0" algn="just">
              <a:buNone/>
            </a:pP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Có</a:t>
            </a: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tính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chịu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nhiệt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chỉ</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bị</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phá</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hủy</a:t>
            </a:r>
            <a:r>
              <a:rPr lang="en-US" sz="2200" dirty="0">
                <a:latin typeface="Arial" panose="020B0604020202020204" pitchFamily="34" charset="0"/>
                <a:cs typeface="Arial" panose="020B0604020202020204" pitchFamily="34" charset="0"/>
              </a:rPr>
              <a:t> ở 100</a:t>
            </a:r>
            <a:r>
              <a:rPr lang="en-US" sz="2200" baseline="30000" dirty="0">
                <a:latin typeface="Arial" panose="020B0604020202020204" pitchFamily="34" charset="0"/>
                <a:cs typeface="Arial" panose="020B0604020202020204" pitchFamily="34" charset="0"/>
              </a:rPr>
              <a:t>0</a:t>
            </a:r>
            <a:r>
              <a:rPr lang="en-US" sz="2200" dirty="0">
                <a:latin typeface="Arial" panose="020B0604020202020204" pitchFamily="34" charset="0"/>
                <a:cs typeface="Arial" panose="020B0604020202020204" pitchFamily="34" charset="0"/>
              </a:rPr>
              <a:t>C </a:t>
            </a:r>
            <a:r>
              <a:rPr lang="en-US" sz="2200" dirty="0" err="1">
                <a:latin typeface="Arial" panose="020B0604020202020204" pitchFamily="34" charset="0"/>
                <a:cs typeface="Arial" panose="020B0604020202020204" pitchFamily="34" charset="0"/>
              </a:rPr>
              <a:t>sau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hai</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giờ</a:t>
            </a:r>
            <a:r>
              <a:rPr lang="en-US" sz="2200" dirty="0" smtClean="0">
                <a:latin typeface="Arial" panose="020B0604020202020204" pitchFamily="34" charset="0"/>
                <a:cs typeface="Arial" panose="020B0604020202020204" pitchFamily="34" charset="0"/>
              </a:rPr>
              <a:t>.</a:t>
            </a:r>
          </a:p>
          <a:p>
            <a:pPr marL="0" indent="0" algn="just">
              <a:buNone/>
            </a:pP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Tác</a:t>
            </a: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động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lên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tổ</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chức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niêm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ruột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bằng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cách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hủy</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hoại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mao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mạch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gây</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tổn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thương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niêm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mạc</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ruột</a:t>
            </a:r>
            <a:r>
              <a:rPr lang="en-US" sz="2200" dirty="0" smtClean="0">
                <a:latin typeface="Arial" panose="020B0604020202020204" pitchFamily="34" charset="0"/>
                <a:cs typeface="Arial" panose="020B0604020202020204" pitchFamily="34" charset="0"/>
              </a:rPr>
              <a:t>. </a:t>
            </a:r>
          </a:p>
          <a:p>
            <a:pPr marL="0" indent="0" algn="just">
              <a:buNone/>
            </a:pP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Tác</a:t>
            </a: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động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lên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thần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kinh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giao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cảm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gây</a:t>
            </a:r>
            <a:r>
              <a:rPr lang="en-US" sz="2200" dirty="0">
                <a:latin typeface="Arial" panose="020B0604020202020204" pitchFamily="34" charset="0"/>
                <a:cs typeface="Arial" panose="020B0604020202020204" pitchFamily="34" charset="0"/>
              </a:rPr>
              <a:t> co </a:t>
            </a:r>
            <a:r>
              <a:rPr lang="en-US" sz="2200" dirty="0" err="1">
                <a:latin typeface="Arial" panose="020B0604020202020204" pitchFamily="34" charset="0"/>
                <a:cs typeface="Arial" panose="020B0604020202020204" pitchFamily="34" charset="0"/>
              </a:rPr>
              <a:t>thắt</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tạng</a:t>
            </a: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động</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ruột</a:t>
            </a:r>
            <a:r>
              <a:rPr lang="en-US" sz="2200" dirty="0" smtClean="0">
                <a:latin typeface="Arial" panose="020B0604020202020204" pitchFamily="34" charset="0"/>
                <a:cs typeface="Arial" panose="020B0604020202020204" pitchFamily="34" charset="0"/>
              </a:rPr>
              <a:t>.</a:t>
            </a:r>
          </a:p>
          <a:p>
            <a:pPr marL="0" indent="0" algn="just">
              <a:buNone/>
            </a:pP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Ngoại</a:t>
            </a: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độc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tố</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Thường</a:t>
            </a:r>
            <a:r>
              <a:rPr lang="en-US" sz="2200" dirty="0">
                <a:latin typeface="Arial" panose="020B0604020202020204" pitchFamily="34" charset="0"/>
                <a:cs typeface="Arial" panose="020B0604020202020204" pitchFamily="34" charset="0"/>
              </a:rPr>
              <a:t> do S. </a:t>
            </a:r>
            <a:r>
              <a:rPr lang="en-US" sz="2200" dirty="0" err="1">
                <a:latin typeface="Arial" panose="020B0604020202020204" pitchFamily="34" charset="0"/>
                <a:cs typeface="Arial" panose="020B0604020202020204" pitchFamily="34" charset="0"/>
              </a:rPr>
              <a:t>dysenteriae</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typ</a:t>
            </a:r>
            <a:r>
              <a:rPr lang="en-US" sz="2200" dirty="0">
                <a:latin typeface="Arial" panose="020B0604020202020204" pitchFamily="34" charset="0"/>
                <a:cs typeface="Arial" panose="020B0604020202020204" pitchFamily="34" charset="0"/>
              </a:rPr>
              <a:t> 1 </a:t>
            </a:r>
            <a:r>
              <a:rPr lang="en-US" sz="2200" dirty="0" err="1">
                <a:latin typeface="Arial" panose="020B0604020202020204" pitchFamily="34" charset="0"/>
                <a:cs typeface="Arial" panose="020B0604020202020204" pitchFamily="34" charset="0"/>
              </a:rPr>
              <a:t>tiết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ra</a:t>
            </a:r>
            <a:r>
              <a:rPr lang="en-US" sz="2200" dirty="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có</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dụng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độc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chủ</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yếu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đối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với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tế</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bào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niêm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ruột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tế</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bào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mao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mạch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tế</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bào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thần</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kinh</a:t>
            </a:r>
            <a:r>
              <a:rPr lang="en-US" sz="2200" dirty="0" smtClean="0">
                <a:latin typeface="Arial" panose="020B0604020202020204" pitchFamily="34" charset="0"/>
                <a:cs typeface="Arial" panose="020B0604020202020204" pitchFamily="34" charset="0"/>
              </a:rPr>
              <a:t>.</a:t>
            </a:r>
          </a:p>
          <a:p>
            <a:pPr marL="0" indent="0" algn="just">
              <a:buNone/>
            </a:pP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Ngoài</a:t>
            </a: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một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số</a:t>
            </a:r>
            <a:r>
              <a:rPr lang="en-US" sz="2200" dirty="0">
                <a:latin typeface="Arial" panose="020B0604020202020204" pitchFamily="34" charset="0"/>
                <a:cs typeface="Arial" panose="020B0604020202020204" pitchFamily="34" charset="0"/>
              </a:rPr>
              <a:t> </a:t>
            </a:r>
            <a:r>
              <a:rPr lang="en-US" sz="2200" i="1" dirty="0" err="1">
                <a:latin typeface="Arial" panose="020B0604020202020204" pitchFamily="34" charset="0"/>
                <a:cs typeface="Arial" panose="020B0604020202020204" pitchFamily="34" charset="0"/>
              </a:rPr>
              <a:t>Shigella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có</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thể</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sinh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độc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tố</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ruột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gây</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tiêu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chảy</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theo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kiểu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tăng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tiết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nước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điện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giải</a:t>
            </a:r>
            <a:r>
              <a:rPr lang="en-US" sz="2200" dirty="0">
                <a:latin typeface="Arial" panose="020B0604020202020204" pitchFamily="34" charset="0"/>
                <a:cs typeface="Arial" panose="020B0604020202020204" pitchFamily="34" charset="0"/>
              </a:rPr>
              <a:t> ở </a:t>
            </a:r>
            <a:r>
              <a:rPr lang="en-US" sz="2200" dirty="0" err="1">
                <a:latin typeface="Arial" panose="020B0604020202020204" pitchFamily="34" charset="0"/>
                <a:cs typeface="Arial" panose="020B0604020202020204" pitchFamily="34" charset="0"/>
              </a:rPr>
              <a:t>ruột</a:t>
            </a:r>
            <a:r>
              <a:rPr lang="en-US" sz="2200" dirty="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non.</a:t>
            </a:r>
            <a:endParaRPr lang="en-US" sz="2200" baseline="-25000" dirty="0">
              <a:latin typeface="Arial" panose="020B0604020202020204" pitchFamily="34" charset="0"/>
              <a:cs typeface="Arial" panose="020B0604020202020204" pitchFamily="34" charset="0"/>
            </a:endParaRPr>
          </a:p>
        </p:txBody>
      </p:sp>
      <p:sp>
        <p:nvSpPr>
          <p:cNvPr id="5" name="Tiêu đề 1">
            <a:extLst>
              <a:ext uri="{FF2B5EF4-FFF2-40B4-BE49-F238E27FC236}">
                <a16:creationId xmlns="" xmlns:a16="http://schemas.microsoft.com/office/drawing/2014/main" id="{C98A5779-0D20-F746-86A7-119A3BB7F135}"/>
              </a:ext>
            </a:extLst>
          </p:cNvPr>
          <p:cNvSpPr txBox="1">
            <a:spLocks/>
          </p:cNvSpPr>
          <p:nvPr/>
        </p:nvSpPr>
        <p:spPr>
          <a:xfrm>
            <a:off x="152400" y="76200"/>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4" name="TextBox 3"/>
          <p:cNvSpPr txBox="1"/>
          <p:nvPr/>
        </p:nvSpPr>
        <p:spPr>
          <a:xfrm>
            <a:off x="1244807" y="1223902"/>
            <a:ext cx="6959186" cy="430887"/>
          </a:xfrm>
          <a:prstGeom prst="rect">
            <a:avLst/>
          </a:prstGeom>
          <a:noFill/>
        </p:spPr>
        <p:txBody>
          <a:bodyPr wrap="square" rtlCol="0">
            <a:spAutoFit/>
          </a:bodyPr>
          <a:lstStyle/>
          <a:p>
            <a:r>
              <a:rPr lang="en-US" sz="2200" b="1" i="1" dirty="0" smtClean="0">
                <a:latin typeface="Arial" panose="020B0604020202020204" pitchFamily="34" charset="0"/>
                <a:cs typeface="Arial" panose="020B0604020202020204" pitchFamily="34" charset="0"/>
              </a:rPr>
              <a:t>b, </a:t>
            </a:r>
            <a:r>
              <a:rPr lang="en-US" sz="2200" b="1" i="1" dirty="0" err="1" smtClean="0">
                <a:latin typeface="Arial" panose="020B0604020202020204" pitchFamily="34" charset="0"/>
                <a:cs typeface="Arial" panose="020B0604020202020204" pitchFamily="34" charset="0"/>
              </a:rPr>
              <a:t>Các</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yếu</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tố</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độc</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lực</a:t>
            </a:r>
            <a:endParaRPr lang="en-US" sz="2200" b="1" i="1" dirty="0">
              <a:latin typeface="Arial" panose="020B0604020202020204" pitchFamily="34" charset="0"/>
              <a:cs typeface="Arial" panose="020B0604020202020204" pitchFamily="34" charset="0"/>
            </a:endParaRPr>
          </a:p>
        </p:txBody>
      </p:sp>
      <p:sp>
        <p:nvSpPr>
          <p:cNvPr id="6" name="TextBox 5"/>
          <p:cNvSpPr txBox="1"/>
          <p:nvPr/>
        </p:nvSpPr>
        <p:spPr>
          <a:xfrm>
            <a:off x="1244807" y="737137"/>
            <a:ext cx="6959186" cy="461665"/>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1. </a:t>
            </a:r>
            <a:r>
              <a:rPr lang="en-US" sz="2400" b="1" dirty="0" err="1" smtClean="0">
                <a:latin typeface="Arial" panose="020B0604020202020204" pitchFamily="34" charset="0"/>
                <a:cs typeface="Arial" panose="020B0604020202020204" pitchFamily="34" charset="0"/>
              </a:rPr>
              <a:t>Đặc</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điểm</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sinh</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học</a:t>
            </a:r>
            <a:r>
              <a:rPr lang="en-US" sz="2400" b="1" dirty="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của</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Shigella</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4810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752600"/>
            <a:ext cx="8200430" cy="4876800"/>
          </a:xfrm>
        </p:spPr>
        <p:txBody>
          <a:bodyPr>
            <a:noAutofit/>
          </a:bodyPr>
          <a:lstStyle/>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Khả</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năng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đề</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kháng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Kém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dễ</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bị</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tiêu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diệt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bởi</a:t>
            </a:r>
            <a:r>
              <a:rPr lang="en-US" sz="2400" dirty="0" smtClean="0">
                <a:latin typeface="Arial" panose="020B0604020202020204" pitchFamily="34" charset="0"/>
                <a:cs typeface="Arial" panose="020B0604020202020204" pitchFamily="34" charset="0"/>
              </a:rPr>
              <a:t>.</a:t>
            </a:r>
          </a:p>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Ánh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nắng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mặt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trời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trong</a:t>
            </a:r>
            <a:r>
              <a:rPr lang="en-US" sz="2400" dirty="0" smtClean="0">
                <a:latin typeface="Arial" panose="020B0604020202020204" pitchFamily="34" charset="0"/>
                <a:cs typeface="Arial" panose="020B0604020202020204" pitchFamily="34" charset="0"/>
              </a:rPr>
              <a:t> 30 </a:t>
            </a:r>
            <a:r>
              <a:rPr lang="en-US" sz="2400" dirty="0" err="1" smtClean="0">
                <a:latin typeface="Arial" panose="020B0604020202020204" pitchFamily="34" charset="0"/>
                <a:cs typeface="Arial" panose="020B0604020202020204" pitchFamily="34" charset="0"/>
              </a:rPr>
              <a:t>phút</a:t>
            </a:r>
            <a:r>
              <a:rPr lang="en-US" sz="2400" dirty="0" smtClean="0">
                <a:latin typeface="Arial" panose="020B0604020202020204" pitchFamily="34" charset="0"/>
                <a:cs typeface="Arial" panose="020B0604020202020204" pitchFamily="34" charset="0"/>
              </a:rPr>
              <a:t>.</a:t>
            </a:r>
          </a:p>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Nhiệt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độ</a:t>
            </a:r>
            <a:r>
              <a:rPr lang="en-US" sz="2400" dirty="0" smtClean="0">
                <a:latin typeface="Arial" panose="020B0604020202020204" pitchFamily="34" charset="0"/>
                <a:cs typeface="Arial" panose="020B0604020202020204" pitchFamily="34" charset="0"/>
              </a:rPr>
              <a:t>:  56</a:t>
            </a:r>
            <a:r>
              <a:rPr lang="en-US" sz="2400" baseline="30000" dirty="0" smtClean="0">
                <a:latin typeface="Arial" panose="020B0604020202020204" pitchFamily="34" charset="0"/>
                <a:cs typeface="Arial" panose="020B0604020202020204" pitchFamily="34" charset="0"/>
              </a:rPr>
              <a:t>o</a:t>
            </a:r>
            <a:r>
              <a:rPr lang="en-US" sz="2400" dirty="0" smtClean="0">
                <a:latin typeface="Arial" panose="020B0604020202020204" pitchFamily="34" charset="0"/>
                <a:cs typeface="Arial" panose="020B0604020202020204" pitchFamily="34" charset="0"/>
              </a:rPr>
              <a:t>C </a:t>
            </a:r>
            <a:r>
              <a:rPr lang="en-US" sz="2400" dirty="0" err="1" smtClean="0">
                <a:latin typeface="Arial" panose="020B0604020202020204" pitchFamily="34" charset="0"/>
                <a:cs typeface="Arial" panose="020B0604020202020204" pitchFamily="34" charset="0"/>
              </a:rPr>
              <a:t>từ</a:t>
            </a:r>
            <a:r>
              <a:rPr lang="en-US" sz="2400" dirty="0" smtClean="0">
                <a:latin typeface="Arial" panose="020B0604020202020204" pitchFamily="34" charset="0"/>
                <a:cs typeface="Arial" panose="020B0604020202020204" pitchFamily="34" charset="0"/>
              </a:rPr>
              <a:t> 10- 30 </a:t>
            </a:r>
            <a:r>
              <a:rPr lang="en-US" sz="2400" dirty="0" err="1" smtClean="0">
                <a:latin typeface="Arial" panose="020B0604020202020204" pitchFamily="34" charset="0"/>
                <a:cs typeface="Arial" panose="020B0604020202020204" pitchFamily="34" charset="0"/>
              </a:rPr>
              <a:t>phút</a:t>
            </a:r>
            <a:r>
              <a:rPr lang="en-US" sz="2400" dirty="0" smtClean="0">
                <a:latin typeface="Arial" panose="020B0604020202020204" pitchFamily="34" charset="0"/>
                <a:cs typeface="Arial" panose="020B0604020202020204" pitchFamily="34" charset="0"/>
              </a:rPr>
              <a:t>.</a:t>
            </a:r>
          </a:p>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Các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loại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hóa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chất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thông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thường</a:t>
            </a:r>
            <a:r>
              <a:rPr lang="en-US" sz="2400" dirty="0" smtClean="0">
                <a:latin typeface="Arial" panose="020B0604020202020204" pitchFamily="34" charset="0"/>
                <a:cs typeface="Arial" panose="020B0604020202020204" pitchFamily="34" charset="0"/>
              </a:rPr>
              <a:t>. </a:t>
            </a:r>
          </a:p>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Trong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nước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bẩn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chứa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nhiều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tạp</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khuẩn</a:t>
            </a:r>
            <a:r>
              <a:rPr lang="en-US" sz="2400" dirty="0" smtClean="0">
                <a:latin typeface="Arial" panose="020B0604020202020204" pitchFamily="34" charset="0"/>
                <a:cs typeface="Arial" panose="020B0604020202020204" pitchFamily="34" charset="0"/>
              </a:rPr>
              <a:t>.</a:t>
            </a:r>
          </a:p>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Trong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phân</a:t>
            </a:r>
            <a:r>
              <a:rPr lang="en-US" sz="2400" dirty="0" smtClean="0">
                <a:latin typeface="Arial" panose="020B0604020202020204" pitchFamily="34" charset="0"/>
                <a:cs typeface="Arial" panose="020B0604020202020204" pitchFamily="34" charset="0"/>
              </a:rPr>
              <a:t> </a:t>
            </a:r>
            <a:r>
              <a:rPr lang="en-US" sz="2400" i="1" dirty="0" err="1" smtClean="0">
                <a:latin typeface="Arial" panose="020B0604020202020204" pitchFamily="34" charset="0"/>
                <a:cs typeface="Arial" panose="020B0604020202020204" pitchFamily="34" charset="0"/>
              </a:rPr>
              <a:t>Shigella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chỉ</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sống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được</a:t>
            </a:r>
            <a:r>
              <a:rPr lang="en-US" sz="2400" dirty="0" smtClean="0">
                <a:latin typeface="Arial" panose="020B0604020202020204" pitchFamily="34" charset="0"/>
                <a:cs typeface="Arial" panose="020B0604020202020204" pitchFamily="34" charset="0"/>
              </a:rPr>
              <a:t> 2 </a:t>
            </a:r>
            <a:r>
              <a:rPr lang="en-US" sz="2400" dirty="0" err="1" smtClean="0">
                <a:latin typeface="Arial" panose="020B0604020202020204" pitchFamily="34" charset="0"/>
                <a:cs typeface="Arial" panose="020B0604020202020204" pitchFamily="34" charset="0"/>
              </a:rPr>
              <a:t>giờ</a:t>
            </a:r>
            <a:r>
              <a:rPr lang="en-US" sz="2400" dirty="0" smtClean="0">
                <a:latin typeface="Arial" panose="020B0604020202020204" pitchFamily="34" charset="0"/>
                <a:cs typeface="Arial" panose="020B0604020202020204" pitchFamily="34" charset="0"/>
              </a:rPr>
              <a:t>.</a:t>
            </a:r>
          </a:p>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Tuy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nhiên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trong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môi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trường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đất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nước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với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các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điều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kiện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thích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hợp</a:t>
            </a:r>
            <a:r>
              <a:rPr lang="en-US" sz="2400" dirty="0" smtClean="0">
                <a:latin typeface="Arial" panose="020B0604020202020204" pitchFamily="34" charset="0"/>
                <a:cs typeface="Arial" panose="020B0604020202020204" pitchFamily="34" charset="0"/>
              </a:rPr>
              <a:t> </a:t>
            </a:r>
            <a:r>
              <a:rPr lang="en-US" sz="2400" i="1" dirty="0" err="1" smtClean="0">
                <a:latin typeface="Arial" panose="020B0604020202020204" pitchFamily="34" charset="0"/>
                <a:cs typeface="Arial" panose="020B0604020202020204" pitchFamily="34" charset="0"/>
              </a:rPr>
              <a:t>Shigella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có</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thể</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sống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được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tới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một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hoặc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vài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tháng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trong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sữa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và</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rau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chúng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sống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được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vài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tuần</a:t>
            </a:r>
            <a:r>
              <a:rPr lang="en-US" sz="2400" dirty="0">
                <a:latin typeface="Arial" panose="020B0604020202020204" pitchFamily="34" charset="0"/>
                <a:cs typeface="Arial" panose="020B0604020202020204" pitchFamily="34" charset="0"/>
              </a:rPr>
              <a:t>.</a:t>
            </a:r>
          </a:p>
        </p:txBody>
      </p:sp>
      <p:sp>
        <p:nvSpPr>
          <p:cNvPr id="5" name="Tiêu đề 1">
            <a:extLst>
              <a:ext uri="{FF2B5EF4-FFF2-40B4-BE49-F238E27FC236}">
                <a16:creationId xmlns="" xmlns:a16="http://schemas.microsoft.com/office/drawing/2014/main" id="{C98A5779-0D20-F746-86A7-119A3BB7F135}"/>
              </a:ext>
            </a:extLst>
          </p:cNvPr>
          <p:cNvSpPr txBox="1">
            <a:spLocks/>
          </p:cNvSpPr>
          <p:nvPr/>
        </p:nvSpPr>
        <p:spPr>
          <a:xfrm>
            <a:off x="152400" y="76200"/>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4" name="TextBox 3"/>
          <p:cNvSpPr txBox="1"/>
          <p:nvPr/>
        </p:nvSpPr>
        <p:spPr>
          <a:xfrm>
            <a:off x="1244807" y="1184254"/>
            <a:ext cx="6959186" cy="430887"/>
          </a:xfrm>
          <a:prstGeom prst="rect">
            <a:avLst/>
          </a:prstGeom>
          <a:noFill/>
        </p:spPr>
        <p:txBody>
          <a:bodyPr wrap="square" rtlCol="0">
            <a:spAutoFit/>
          </a:bodyPr>
          <a:lstStyle/>
          <a:p>
            <a:pPr algn="just"/>
            <a:r>
              <a:rPr lang="en-US" sz="2200" b="1" i="1" dirty="0">
                <a:latin typeface="Arial" panose="020B0604020202020204" pitchFamily="34" charset="0"/>
                <a:cs typeface="Arial" panose="020B0604020202020204" pitchFamily="34" charset="0"/>
              </a:rPr>
              <a:t>c</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Khả</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năng</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đề</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kháng</a:t>
            </a:r>
            <a:endParaRPr lang="en-US" sz="2200" b="1" i="1" dirty="0">
              <a:latin typeface="Arial" panose="020B0604020202020204" pitchFamily="34" charset="0"/>
              <a:cs typeface="Arial" panose="020B0604020202020204" pitchFamily="34" charset="0"/>
            </a:endParaRPr>
          </a:p>
        </p:txBody>
      </p:sp>
      <p:sp>
        <p:nvSpPr>
          <p:cNvPr id="6" name="TextBox 5"/>
          <p:cNvSpPr txBox="1"/>
          <p:nvPr/>
        </p:nvSpPr>
        <p:spPr>
          <a:xfrm>
            <a:off x="1244807" y="737137"/>
            <a:ext cx="6959186" cy="461665"/>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1. </a:t>
            </a:r>
            <a:r>
              <a:rPr lang="en-US" sz="2400" b="1" dirty="0" err="1" smtClean="0">
                <a:latin typeface="Arial" panose="020B0604020202020204" pitchFamily="34" charset="0"/>
                <a:cs typeface="Arial" panose="020B0604020202020204" pitchFamily="34" charset="0"/>
              </a:rPr>
              <a:t>Đặc</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điểm</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sinh</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học</a:t>
            </a:r>
            <a:r>
              <a:rPr lang="en-US" sz="2400" b="1" dirty="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của</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Shigella</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3489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828800"/>
            <a:ext cx="8686800" cy="4234822"/>
          </a:xfrm>
        </p:spPr>
        <p:txBody>
          <a:bodyPr>
            <a:noAutofit/>
          </a:bodyPr>
          <a:lstStyle/>
          <a:p>
            <a:pPr algn="just">
              <a:buFont typeface="Wingdings" panose="05000000000000000000" pitchFamily="2" charset="2"/>
              <a:buChar char="v"/>
            </a:pPr>
            <a:r>
              <a:rPr lang="en-US" sz="2200" dirty="0" err="1" smtClean="0">
                <a:latin typeface="Arial" panose="020B0604020202020204" pitchFamily="34" charset="0"/>
                <a:cs typeface="Arial" panose="020B0604020202020204" pitchFamily="34" charset="0"/>
              </a:rPr>
              <a:t>Khả</a:t>
            </a: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năng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đề</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với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kháng</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sinh</a:t>
            </a:r>
            <a:r>
              <a:rPr lang="en-US" sz="2200" dirty="0" smtClean="0">
                <a:latin typeface="Arial" panose="020B0604020202020204" pitchFamily="34" charset="0"/>
                <a:cs typeface="Arial" panose="020B0604020202020204" pitchFamily="34" charset="0"/>
              </a:rPr>
              <a:t>:</a:t>
            </a:r>
          </a:p>
          <a:p>
            <a:pPr algn="just">
              <a:buFontTx/>
              <a:buChar char="-"/>
            </a:pPr>
            <a:r>
              <a:rPr lang="en-US" sz="2200" dirty="0" err="1" smtClean="0">
                <a:latin typeface="Arial" panose="020B0604020202020204" pitchFamily="34" charset="0"/>
                <a:cs typeface="Arial" panose="020B0604020202020204" pitchFamily="34" charset="0"/>
              </a:rPr>
              <a:t>Kháng</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nhiều</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thuốc</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kháng</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sinh</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tỷ</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lệ</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đa</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kháng</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cao</a:t>
            </a:r>
            <a:r>
              <a:rPr lang="en-US" sz="2200" dirty="0" smtClean="0">
                <a:latin typeface="Arial" panose="020B0604020202020204" pitchFamily="34" charset="0"/>
                <a:cs typeface="Arial" panose="020B0604020202020204" pitchFamily="34" charset="0"/>
              </a:rPr>
              <a:t>.</a:t>
            </a:r>
          </a:p>
          <a:p>
            <a:pPr algn="just">
              <a:buFontTx/>
              <a:buChar char="-"/>
            </a:pP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Hiện</a:t>
            </a:r>
            <a:r>
              <a:rPr lang="en-US" sz="2200" dirty="0">
                <a:latin typeface="Arial" panose="020B0604020202020204" pitchFamily="34" charset="0"/>
                <a:cs typeface="Arial" panose="020B0604020202020204" pitchFamily="34" charset="0"/>
              </a:rPr>
              <a:t> nay </a:t>
            </a:r>
            <a:r>
              <a:rPr lang="en-US" sz="2200" i="1" dirty="0" err="1">
                <a:latin typeface="Arial" panose="020B0604020202020204" pitchFamily="34" charset="0"/>
                <a:cs typeface="Arial" panose="020B0604020202020204" pitchFamily="34" charset="0"/>
              </a:rPr>
              <a:t>Shigella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hầu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như</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chỉ</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còn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nhạy</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với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thuốc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sinh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thuộc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thế</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hệ</a:t>
            </a:r>
            <a:r>
              <a:rPr lang="en-US" sz="2200" dirty="0">
                <a:latin typeface="Arial" panose="020B0604020202020204" pitchFamily="34" charset="0"/>
                <a:cs typeface="Arial" panose="020B0604020202020204" pitchFamily="34" charset="0"/>
              </a:rPr>
              <a:t> 2, </a:t>
            </a:r>
            <a:r>
              <a:rPr lang="en-US" sz="2200" dirty="0" err="1">
                <a:latin typeface="Arial" panose="020B0604020202020204" pitchFamily="34" charset="0"/>
                <a:cs typeface="Arial" panose="020B0604020202020204" pitchFamily="34" charset="0"/>
              </a:rPr>
              <a:t>nhất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thế</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hệ</a:t>
            </a:r>
            <a:r>
              <a:rPr lang="en-US" sz="2200" dirty="0">
                <a:latin typeface="Arial" panose="020B0604020202020204" pitchFamily="34" charset="0"/>
                <a:cs typeface="Arial" panose="020B0604020202020204" pitchFamily="34" charset="0"/>
              </a:rPr>
              <a:t> 3 </a:t>
            </a:r>
            <a:r>
              <a:rPr lang="en-US" sz="2200" dirty="0" err="1">
                <a:latin typeface="Arial" panose="020B0604020202020204" pitchFamily="34" charset="0"/>
                <a:cs typeface="Arial" panose="020B0604020202020204" pitchFamily="34" charset="0"/>
              </a:rPr>
              <a:t>của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nhóm</a:t>
            </a:r>
            <a:r>
              <a:rPr lang="en-US" sz="2200" dirty="0">
                <a:latin typeface="Arial" panose="020B0604020202020204" pitchFamily="34" charset="0"/>
                <a:cs typeface="Arial" panose="020B0604020202020204" pitchFamily="34" charset="0"/>
              </a:rPr>
              <a:t> cephalosporin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thuốc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thuộc</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nhóm</a:t>
            </a: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quinolon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trừ</a:t>
            </a:r>
            <a:r>
              <a:rPr lang="en-US" sz="2200" dirty="0">
                <a:latin typeface="Arial" panose="020B0604020202020204" pitchFamily="34" charset="0"/>
                <a:cs typeface="Arial" panose="020B0604020202020204" pitchFamily="34" charset="0"/>
              </a:rPr>
              <a:t> acid </a:t>
            </a:r>
            <a:r>
              <a:rPr lang="en-US" sz="2200" dirty="0" err="1">
                <a:latin typeface="Arial" panose="020B0604020202020204" pitchFamily="34" charset="0"/>
                <a:cs typeface="Arial" panose="020B0604020202020204" pitchFamily="34" charset="0"/>
              </a:rPr>
              <a:t>nalidixic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đã</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bị</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kháng</a:t>
            </a:r>
            <a:r>
              <a:rPr lang="en-US" sz="2200" dirty="0">
                <a:latin typeface="Arial" panose="020B0604020202020204" pitchFamily="34" charset="0"/>
                <a:cs typeface="Arial" panose="020B0604020202020204" pitchFamily="34" charset="0"/>
              </a:rPr>
              <a:t> ở </a:t>
            </a:r>
            <a:r>
              <a:rPr lang="en-US" sz="2200" dirty="0" err="1">
                <a:latin typeface="Arial" panose="020B0604020202020204" pitchFamily="34" charset="0"/>
                <a:cs typeface="Arial" panose="020B0604020202020204" pitchFamily="34" charset="0"/>
              </a:rPr>
              <a:t>một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số</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nơi</a:t>
            </a:r>
            <a:r>
              <a:rPr lang="en-US" sz="2200" dirty="0">
                <a:latin typeface="Arial" panose="020B0604020202020204" pitchFamily="34" charset="0"/>
                <a:cs typeface="Arial" panose="020B0604020202020204" pitchFamily="34" charset="0"/>
              </a:rPr>
              <a:t>.</a:t>
            </a:r>
          </a:p>
          <a:p>
            <a:pPr marL="0" indent="0" algn="just">
              <a:buNone/>
            </a:pPr>
            <a:r>
              <a:rPr lang="en-US" sz="2200" dirty="0" smtClean="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Ở </a:t>
            </a:r>
            <a:r>
              <a:rPr lang="en-US" sz="2200" dirty="0" err="1">
                <a:latin typeface="Arial" panose="020B0604020202020204" pitchFamily="34" charset="0"/>
                <a:cs typeface="Arial" panose="020B0604020202020204" pitchFamily="34" charset="0"/>
              </a:rPr>
              <a:t>Việt</a:t>
            </a:r>
            <a:r>
              <a:rPr lang="en-US" sz="2200" dirty="0">
                <a:latin typeface="Arial" panose="020B0604020202020204" pitchFamily="34" charset="0"/>
                <a:cs typeface="Arial" panose="020B0604020202020204" pitchFamily="34" charset="0"/>
              </a:rPr>
              <a:t> Nam, </a:t>
            </a:r>
            <a:r>
              <a:rPr lang="en-US" sz="2200" dirty="0" err="1">
                <a:latin typeface="Arial" panose="020B0604020202020204" pitchFamily="34" charset="0"/>
                <a:cs typeface="Arial" panose="020B0604020202020204" pitchFamily="34" charset="0"/>
              </a:rPr>
              <a:t>tình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hình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thuốc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của</a:t>
            </a:r>
            <a:r>
              <a:rPr lang="en-US" sz="2200" dirty="0">
                <a:latin typeface="Arial" panose="020B0604020202020204" pitchFamily="34" charset="0"/>
                <a:cs typeface="Arial" panose="020B0604020202020204" pitchFamily="34" charset="0"/>
              </a:rPr>
              <a:t> </a:t>
            </a:r>
            <a:r>
              <a:rPr lang="en-US" sz="2200" i="1" dirty="0" err="1">
                <a:latin typeface="Arial" panose="020B0604020202020204" pitchFamily="34" charset="0"/>
                <a:cs typeface="Arial" panose="020B0604020202020204" pitchFamily="34" charset="0"/>
              </a:rPr>
              <a:t>Shigella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khá</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cao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Chúng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đã</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lại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với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hầu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hết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thuốc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thuốc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thông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dụng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phần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lớn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kháng</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sinh</a:t>
            </a:r>
            <a:r>
              <a:rPr lang="en-US" sz="2200" dirty="0">
                <a:latin typeface="Arial" panose="020B0604020202020204" pitchFamily="34" charset="0"/>
                <a:cs typeface="Arial" panose="020B0604020202020204" pitchFamily="34" charset="0"/>
              </a:rPr>
              <a:t>.</a:t>
            </a:r>
          </a:p>
        </p:txBody>
      </p:sp>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52400" y="17060"/>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7" name="TextBox 6"/>
          <p:cNvSpPr txBox="1"/>
          <p:nvPr/>
        </p:nvSpPr>
        <p:spPr>
          <a:xfrm>
            <a:off x="1244807" y="737137"/>
            <a:ext cx="6959186" cy="461665"/>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1. </a:t>
            </a:r>
            <a:r>
              <a:rPr lang="en-US" sz="2400" b="1" dirty="0" err="1" smtClean="0">
                <a:latin typeface="Arial" panose="020B0604020202020204" pitchFamily="34" charset="0"/>
                <a:cs typeface="Arial" panose="020B0604020202020204" pitchFamily="34" charset="0"/>
              </a:rPr>
              <a:t>Đặc</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điểm</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sinh</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học</a:t>
            </a:r>
            <a:r>
              <a:rPr lang="en-US" sz="2400" b="1" dirty="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của</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Shigella</a:t>
            </a:r>
            <a:endParaRPr lang="en-US" sz="2400" b="1" dirty="0">
              <a:latin typeface="Arial" panose="020B0604020202020204" pitchFamily="34" charset="0"/>
              <a:cs typeface="Arial" panose="020B0604020202020204" pitchFamily="34" charset="0"/>
            </a:endParaRPr>
          </a:p>
        </p:txBody>
      </p:sp>
      <p:sp>
        <p:nvSpPr>
          <p:cNvPr id="8" name="TextBox 7"/>
          <p:cNvSpPr txBox="1"/>
          <p:nvPr/>
        </p:nvSpPr>
        <p:spPr>
          <a:xfrm>
            <a:off x="1244807" y="1184254"/>
            <a:ext cx="6959186" cy="430887"/>
          </a:xfrm>
          <a:prstGeom prst="rect">
            <a:avLst/>
          </a:prstGeom>
          <a:noFill/>
        </p:spPr>
        <p:txBody>
          <a:bodyPr wrap="square" rtlCol="0">
            <a:spAutoFit/>
          </a:bodyPr>
          <a:lstStyle/>
          <a:p>
            <a:pPr algn="just"/>
            <a:r>
              <a:rPr lang="en-US" sz="2200" b="1" i="1" dirty="0">
                <a:latin typeface="Arial" panose="020B0604020202020204" pitchFamily="34" charset="0"/>
                <a:cs typeface="Arial" panose="020B0604020202020204" pitchFamily="34" charset="0"/>
              </a:rPr>
              <a:t>c</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Khả</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năng</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đề</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kháng</a:t>
            </a:r>
            <a:endParaRPr lang="en-US" sz="22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633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7075" y="1802558"/>
            <a:ext cx="8382000" cy="1937987"/>
          </a:xfrm>
        </p:spPr>
        <p:txBody>
          <a:bodyPr>
            <a:normAutofit/>
          </a:bodyPr>
          <a:lstStyle/>
          <a:p>
            <a:pPr algn="just">
              <a:buFontTx/>
              <a:buChar char="-"/>
            </a:pPr>
            <a:r>
              <a:rPr lang="en-US" sz="2400" dirty="0" err="1" smtClean="0">
                <a:latin typeface="Arial" panose="020B0604020202020204" pitchFamily="34" charset="0"/>
                <a:cs typeface="Arial" panose="020B0604020202020204" pitchFamily="34" charset="0"/>
              </a:rPr>
              <a:t>Gây</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lỵ</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khuẩn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cho</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a:t>
            </a:r>
            <a:endParaRPr lang="en-US" sz="2400" dirty="0" smtClean="0">
              <a:latin typeface="Arial" panose="020B0604020202020204" pitchFamily="34" charset="0"/>
              <a:cs typeface="Arial" panose="020B0604020202020204" pitchFamily="34" charset="0"/>
            </a:endParaRPr>
          </a:p>
          <a:p>
            <a:pPr algn="just">
              <a:buFontTx/>
              <a:buChar char="-"/>
            </a:pPr>
            <a:r>
              <a:rPr lang="en-US" sz="2400" dirty="0" err="1" smtClean="0">
                <a:latin typeface="Arial" panose="020B0604020202020204" pitchFamily="34" charset="0"/>
                <a:cs typeface="Arial" panose="020B0604020202020204" pitchFamily="34" charset="0"/>
              </a:rPr>
              <a:t>Bệnh</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lỵ</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khuẩn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xảy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dịch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lớn</a:t>
            </a:r>
            <a:r>
              <a:rPr lang="en-US" sz="2400" dirty="0">
                <a:latin typeface="Arial" panose="020B0604020202020204" pitchFamily="34" charset="0"/>
                <a:cs typeface="Arial" panose="020B0604020202020204" pitchFamily="34" charset="0"/>
              </a:rPr>
              <a:t> ở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nước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đang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triển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biệt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nước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thuộc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vùng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nhiệt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đới</a:t>
            </a:r>
            <a:r>
              <a:rPr lang="en-US" sz="2400" dirty="0">
                <a:latin typeface="Arial" panose="020B0604020202020204" pitchFamily="34" charset="0"/>
                <a:cs typeface="Arial" panose="020B0604020202020204" pitchFamily="34" charset="0"/>
              </a:rPr>
              <a:t>. </a:t>
            </a:r>
          </a:p>
        </p:txBody>
      </p:sp>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307075" y="30707"/>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6" name="TextBox 5"/>
          <p:cNvSpPr txBox="1"/>
          <p:nvPr/>
        </p:nvSpPr>
        <p:spPr>
          <a:xfrm>
            <a:off x="1244807" y="1160054"/>
            <a:ext cx="6959186" cy="430887"/>
          </a:xfrm>
          <a:prstGeom prst="rect">
            <a:avLst/>
          </a:prstGeom>
          <a:noFill/>
        </p:spPr>
        <p:txBody>
          <a:bodyPr wrap="square" rtlCol="0">
            <a:spAutoFit/>
          </a:bodyPr>
          <a:lstStyle/>
          <a:p>
            <a:r>
              <a:rPr lang="en-US" sz="2200" b="1" i="1" dirty="0">
                <a:latin typeface="Arial" panose="020B0604020202020204" pitchFamily="34" charset="0"/>
                <a:cs typeface="Arial" panose="020B0604020202020204" pitchFamily="34" charset="0"/>
              </a:rPr>
              <a:t>d</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Khả</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năng</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gây</a:t>
            </a:r>
            <a:r>
              <a:rPr lang="en-US" sz="2200" b="1" i="1" dirty="0" smtClean="0">
                <a:latin typeface="Arial" panose="020B0604020202020204" pitchFamily="34" charset="0"/>
                <a:cs typeface="Arial" panose="020B0604020202020204" pitchFamily="34" charset="0"/>
              </a:rPr>
              <a:t> </a:t>
            </a:r>
            <a:r>
              <a:rPr lang="en-US" sz="2200" b="1" i="1" dirty="0" err="1" smtClean="0">
                <a:latin typeface="Arial" panose="020B0604020202020204" pitchFamily="34" charset="0"/>
                <a:cs typeface="Arial" panose="020B0604020202020204" pitchFamily="34" charset="0"/>
              </a:rPr>
              <a:t>bệnh</a:t>
            </a:r>
            <a:endParaRPr lang="en-US" sz="2200" b="1" i="1" dirty="0">
              <a:latin typeface="Arial" panose="020B0604020202020204" pitchFamily="34" charset="0"/>
              <a:cs typeface="Arial" panose="020B0604020202020204" pitchFamily="34" charset="0"/>
            </a:endParaRPr>
          </a:p>
        </p:txBody>
      </p:sp>
      <p:sp>
        <p:nvSpPr>
          <p:cNvPr id="8" name="TextBox 7"/>
          <p:cNvSpPr txBox="1"/>
          <p:nvPr/>
        </p:nvSpPr>
        <p:spPr>
          <a:xfrm>
            <a:off x="1244807" y="685800"/>
            <a:ext cx="6959186" cy="461665"/>
          </a:xfrm>
          <a:prstGeom prst="rect">
            <a:avLst/>
          </a:prstGeom>
          <a:noFill/>
        </p:spPr>
        <p:txBody>
          <a:bodyPr wrap="square" rtlCol="0">
            <a:spAutoFit/>
          </a:bodyPr>
          <a:lstStyle/>
          <a:p>
            <a:r>
              <a:rPr lang="en-US" sz="2400" b="1" dirty="0" smtClean="0">
                <a:latin typeface="Arial" panose="020B0604020202020204" pitchFamily="34" charset="0"/>
                <a:cs typeface="Arial" panose="020B0604020202020204" pitchFamily="34" charset="0"/>
              </a:rPr>
              <a:t>1. </a:t>
            </a:r>
            <a:r>
              <a:rPr lang="en-US" sz="2400" b="1" dirty="0" err="1" smtClean="0">
                <a:latin typeface="Arial" panose="020B0604020202020204" pitchFamily="34" charset="0"/>
                <a:cs typeface="Arial" panose="020B0604020202020204" pitchFamily="34" charset="0"/>
              </a:rPr>
              <a:t>Đặc</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điểm</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sinh</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học</a:t>
            </a:r>
            <a:r>
              <a:rPr lang="en-US" sz="2400" b="1" dirty="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của</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Shigella</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0722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812" y="3962400"/>
            <a:ext cx="4035188" cy="2643116"/>
          </a:xfrm>
        </p:spPr>
        <p:txBody>
          <a:bodyPr>
            <a:normAutofit/>
          </a:bodyPr>
          <a:lstStyle/>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Yếu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tố</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lây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nhiễm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chính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bàn</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tay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nhiễm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khuẩn</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lỵ</a:t>
            </a:r>
            <a:r>
              <a:rPr lang="en-US" sz="2400" dirty="0" smtClean="0">
                <a:latin typeface="Arial" panose="020B0604020202020204" pitchFamily="34" charset="0"/>
                <a:cs typeface="Arial" panose="020B0604020202020204" pitchFamily="34" charset="0"/>
              </a:rPr>
              <a:t>.</a:t>
            </a:r>
          </a:p>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Hình</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lây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chủ</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yếu</a:t>
            </a:r>
            <a:r>
              <a:rPr lang="en-US" sz="2400" dirty="0">
                <a:latin typeface="Arial" panose="020B0604020202020204" pitchFamily="34" charset="0"/>
                <a:cs typeface="Arial" panose="020B0604020202020204" pitchFamily="34" charset="0"/>
              </a:rPr>
              <a:t> qua </a:t>
            </a:r>
            <a:r>
              <a:rPr lang="en-US" sz="2400" dirty="0" err="1">
                <a:latin typeface="Arial" panose="020B0604020202020204" pitchFamily="34" charset="0"/>
                <a:cs typeface="Arial" panose="020B0604020202020204" pitchFamily="34" charset="0"/>
              </a:rPr>
              <a:t>đường</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phân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miệng</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9" y="2743200"/>
            <a:ext cx="4419601" cy="3962399"/>
          </a:xfrm>
          <a:prstGeom prst="rect">
            <a:avLst/>
          </a:prstGeom>
        </p:spPr>
      </p:pic>
      <p:sp>
        <p:nvSpPr>
          <p:cNvPr id="6" name="Tiêu đề 1">
            <a:extLst>
              <a:ext uri="{FF2B5EF4-FFF2-40B4-BE49-F238E27FC236}">
                <a16:creationId xmlns="" xmlns:a16="http://schemas.microsoft.com/office/drawing/2014/main" id="{C98A5779-0D20-F746-86A7-119A3BB7F135}"/>
              </a:ext>
            </a:extLst>
          </p:cNvPr>
          <p:cNvSpPr txBox="1">
            <a:spLocks/>
          </p:cNvSpPr>
          <p:nvPr/>
        </p:nvSpPr>
        <p:spPr>
          <a:xfrm>
            <a:off x="152400" y="56220"/>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7" name="TextBox 6"/>
          <p:cNvSpPr txBox="1"/>
          <p:nvPr/>
        </p:nvSpPr>
        <p:spPr>
          <a:xfrm>
            <a:off x="1219200" y="3429000"/>
            <a:ext cx="3108753" cy="461665"/>
          </a:xfrm>
          <a:prstGeom prst="rect">
            <a:avLst/>
          </a:prstGeom>
          <a:noFill/>
        </p:spPr>
        <p:txBody>
          <a:bodyPr wrap="square" rtlCol="0">
            <a:spAutoFit/>
          </a:bodyPr>
          <a:lstStyle/>
          <a:p>
            <a:pPr algn="just"/>
            <a:r>
              <a:rPr lang="en-US" sz="2400" b="1" dirty="0">
                <a:latin typeface="Arial" panose="020B0604020202020204" pitchFamily="34" charset="0"/>
                <a:cs typeface="Arial" panose="020B0604020202020204" pitchFamily="34" charset="0"/>
              </a:rPr>
              <a:t>3</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Đường</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lây</a:t>
            </a:r>
            <a:endParaRPr lang="en-US" sz="2400" b="1" dirty="0">
              <a:latin typeface="Arial" panose="020B0604020202020204" pitchFamily="34" charset="0"/>
              <a:cs typeface="Arial" panose="020B0604020202020204" pitchFamily="34" charset="0"/>
            </a:endParaRPr>
          </a:p>
        </p:txBody>
      </p:sp>
      <p:sp>
        <p:nvSpPr>
          <p:cNvPr id="8" name="TextBox 7"/>
          <p:cNvSpPr txBox="1"/>
          <p:nvPr/>
        </p:nvSpPr>
        <p:spPr>
          <a:xfrm>
            <a:off x="1207827" y="739382"/>
            <a:ext cx="2324868"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2</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Nguồn</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bệnh</a:t>
            </a:r>
            <a:endParaRPr lang="en-US" sz="2400" b="1" dirty="0">
              <a:latin typeface="Arial" panose="020B0604020202020204" pitchFamily="34" charset="0"/>
              <a:cs typeface="Arial" panose="020B0604020202020204" pitchFamily="34" charset="0"/>
            </a:endParaRPr>
          </a:p>
        </p:txBody>
      </p:sp>
      <p:sp>
        <p:nvSpPr>
          <p:cNvPr id="9" name="Content Placeholder 2"/>
          <p:cNvSpPr txBox="1">
            <a:spLocks/>
          </p:cNvSpPr>
          <p:nvPr/>
        </p:nvSpPr>
        <p:spPr>
          <a:xfrm>
            <a:off x="152400" y="1351019"/>
            <a:ext cx="7239000" cy="152065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Nguồn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lây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nhiễm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lỵ</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trực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khuẩn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duy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nhất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là</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người</a:t>
            </a:r>
            <a:r>
              <a:rPr lang="en-US" sz="2400" dirty="0" smtClean="0">
                <a:latin typeface="Arial" panose="020B0604020202020204" pitchFamily="34" charset="0"/>
                <a:cs typeface="Arial" panose="020B0604020202020204" pitchFamily="34" charset="0"/>
              </a:rPr>
              <a:t>: </a:t>
            </a:r>
          </a:p>
          <a:p>
            <a:pPr marL="0" indent="0" algn="just">
              <a:buFont typeface="Wingdings 3" charset="2"/>
              <a:buNone/>
            </a:pPr>
            <a:r>
              <a:rPr lang="en-US" sz="2400" dirty="0" smtClean="0">
                <a:latin typeface="Arial" panose="020B0604020202020204" pitchFamily="34" charset="0"/>
                <a:cs typeface="Arial" panose="020B0604020202020204" pitchFamily="34" charset="0"/>
              </a:rPr>
              <a:t>  +  </a:t>
            </a:r>
            <a:r>
              <a:rPr lang="en-US" sz="2400" dirty="0" err="1" smtClean="0">
                <a:latin typeface="Arial" panose="020B0604020202020204" pitchFamily="34" charset="0"/>
                <a:cs typeface="Arial" panose="020B0604020202020204" pitchFamily="34" charset="0"/>
              </a:rPr>
              <a:t>Người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a:t>
            </a:r>
            <a:endParaRPr lang="en-US" sz="2400" dirty="0" smtClean="0">
              <a:latin typeface="Arial" panose="020B0604020202020204" pitchFamily="34" charset="0"/>
              <a:cs typeface="Arial" panose="020B0604020202020204" pitchFamily="34" charset="0"/>
            </a:endParaRPr>
          </a:p>
          <a:p>
            <a:pPr marL="0" indent="0" algn="just">
              <a:buFont typeface="Wingdings 3" charset="2"/>
              <a:buNone/>
            </a:pPr>
            <a:r>
              <a:rPr lang="en-US" sz="2400" dirty="0" smtClean="0">
                <a:latin typeface="Arial" panose="020B0604020202020204" pitchFamily="34" charset="0"/>
                <a:cs typeface="Arial" panose="020B0604020202020204" pitchFamily="34" charset="0"/>
              </a:rPr>
              <a:t>  + </a:t>
            </a:r>
            <a:r>
              <a:rPr lang="en-US" sz="2400" dirty="0" err="1" smtClean="0">
                <a:latin typeface="Arial" panose="020B0604020202020204" pitchFamily="34" charset="0"/>
                <a:cs typeface="Arial" panose="020B0604020202020204" pitchFamily="34" charset="0"/>
              </a:rPr>
              <a:t>Người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lành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mang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trùng</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426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4470" y="1676400"/>
            <a:ext cx="8314730" cy="3777622"/>
          </a:xfrm>
        </p:spPr>
        <p:txBody>
          <a:bodyPr>
            <a:normAutofit/>
          </a:bodyPr>
          <a:lstStyle/>
          <a:p>
            <a:pPr algn="just"/>
            <a:r>
              <a:rPr lang="en-US" sz="2400" dirty="0" smtClean="0">
                <a:latin typeface="Arial" panose="020B0604020202020204" pitchFamily="34" charset="0"/>
                <a:cs typeface="Arial" panose="020B0604020202020204" pitchFamily="34" charset="0"/>
              </a:rPr>
              <a:t>Do </a:t>
            </a:r>
            <a:r>
              <a:rPr lang="en-US" sz="2400" dirty="0" err="1" smtClean="0">
                <a:latin typeface="Arial" panose="020B0604020202020204" pitchFamily="34" charset="0"/>
                <a:cs typeface="Arial" panose="020B0604020202020204" pitchFamily="34" charset="0"/>
              </a:rPr>
              <a:t>khả</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năng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sống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khi</a:t>
            </a:r>
            <a:r>
              <a:rPr lang="en-US" sz="2400" dirty="0" smtClean="0">
                <a:latin typeface="Arial" panose="020B0604020202020204" pitchFamily="34" charset="0"/>
                <a:cs typeface="Arial" panose="020B0604020202020204" pitchFamily="34" charset="0"/>
              </a:rPr>
              <a:t> qua </a:t>
            </a:r>
            <a:r>
              <a:rPr lang="en-US" sz="2400" dirty="0" err="1" smtClean="0">
                <a:latin typeface="Arial" panose="020B0604020202020204" pitchFamily="34" charset="0"/>
                <a:cs typeface="Arial" panose="020B0604020202020204" pitchFamily="34" charset="0"/>
              </a:rPr>
              <a:t>dạ</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dày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của</a:t>
            </a:r>
            <a:r>
              <a:rPr lang="en-US" sz="2400" dirty="0" smtClean="0">
                <a:latin typeface="Arial" panose="020B0604020202020204" pitchFamily="34" charset="0"/>
                <a:cs typeface="Arial" panose="020B0604020202020204" pitchFamily="34" charset="0"/>
              </a:rPr>
              <a:t> </a:t>
            </a:r>
            <a:r>
              <a:rPr lang="en-US" sz="2400" i="1" dirty="0" err="1" smtClean="0">
                <a:latin typeface="Arial" panose="020B0604020202020204" pitchFamily="34" charset="0"/>
                <a:cs typeface="Arial" panose="020B0604020202020204" pitchFamily="34" charset="0"/>
              </a:rPr>
              <a:t>Shigella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khá</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cao</a:t>
            </a:r>
            <a:r>
              <a:rPr lang="en-US" sz="2400" dirty="0" smtClean="0">
                <a:latin typeface="Arial" panose="020B0604020202020204" pitchFamily="34" charset="0"/>
                <a:cs typeface="Arial" panose="020B0604020202020204" pitchFamily="34" charset="0"/>
              </a:rPr>
              <a:t> so </a:t>
            </a:r>
            <a:r>
              <a:rPr lang="en-US" sz="2400" dirty="0" err="1" smtClean="0">
                <a:latin typeface="Arial" panose="020B0604020202020204" pitchFamily="34" charset="0"/>
                <a:cs typeface="Arial" panose="020B0604020202020204" pitchFamily="34" charset="0"/>
              </a:rPr>
              <a:t>với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các</a:t>
            </a:r>
            <a:r>
              <a:rPr lang="en-US" sz="2400" dirty="0" smtClean="0">
                <a:latin typeface="Arial" panose="020B0604020202020204" pitchFamily="34" charset="0"/>
                <a:cs typeface="Arial" panose="020B0604020202020204" pitchFamily="34" charset="0"/>
              </a:rPr>
              <a:t> vi </a:t>
            </a:r>
            <a:r>
              <a:rPr lang="en-US" sz="2400" dirty="0" err="1" smtClean="0">
                <a:latin typeface="Arial" panose="020B0604020202020204" pitchFamily="34" charset="0"/>
                <a:cs typeface="Arial" panose="020B0604020202020204" pitchFamily="34" charset="0"/>
              </a:rPr>
              <a:t>khuẩn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đường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ruột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khác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nên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liều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gây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bệnh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của</a:t>
            </a:r>
            <a:r>
              <a:rPr lang="en-US" sz="2400" dirty="0" smtClean="0">
                <a:latin typeface="Arial" panose="020B0604020202020204" pitchFamily="34" charset="0"/>
                <a:cs typeface="Arial" panose="020B0604020202020204" pitchFamily="34" charset="0"/>
              </a:rPr>
              <a:t> vi </a:t>
            </a:r>
            <a:r>
              <a:rPr lang="en-US" sz="2400" dirty="0" err="1" smtClean="0">
                <a:latin typeface="Arial" panose="020B0604020202020204" pitchFamily="34" charset="0"/>
                <a:cs typeface="Arial" panose="020B0604020202020204" pitchFamily="34" charset="0"/>
              </a:rPr>
              <a:t>khuẩn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này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cũng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thấp</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hơn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nhiều</a:t>
            </a:r>
            <a:r>
              <a:rPr lang="en-US" sz="2400" dirty="0" smtClean="0">
                <a:latin typeface="Arial" panose="020B0604020202020204" pitchFamily="34" charset="0"/>
                <a:cs typeface="Arial" panose="020B0604020202020204" pitchFamily="34" charset="0"/>
              </a:rPr>
              <a:t>.</a:t>
            </a:r>
          </a:p>
          <a:p>
            <a:pPr algn="just"/>
            <a:r>
              <a:rPr lang="en-US" sz="2400" dirty="0" smtClean="0">
                <a:latin typeface="Arial" panose="020B0604020202020204" pitchFamily="34" charset="0"/>
                <a:cs typeface="Arial" panose="020B0604020202020204" pitchFamily="34" charset="0"/>
              </a:rPr>
              <a:t>10 vi </a:t>
            </a:r>
            <a:r>
              <a:rPr lang="en-US" sz="2400" dirty="0" err="1" smtClean="0">
                <a:latin typeface="Arial" panose="020B0604020202020204" pitchFamily="34" charset="0"/>
                <a:cs typeface="Arial" panose="020B0604020202020204" pitchFamily="34" charset="0"/>
              </a:rPr>
              <a:t>khuẩn</a:t>
            </a:r>
            <a:r>
              <a:rPr lang="en-US" sz="2400" dirty="0" smtClean="0">
                <a:latin typeface="Arial" panose="020B0604020202020204" pitchFamily="34" charset="0"/>
                <a:cs typeface="Arial" panose="020B0604020202020204" pitchFamily="34" charset="0"/>
              </a:rPr>
              <a:t> </a:t>
            </a:r>
            <a:r>
              <a:rPr lang="en-US" sz="2400" i="1" dirty="0" smtClean="0">
                <a:latin typeface="Arial" panose="020B0604020202020204" pitchFamily="34" charset="0"/>
                <a:cs typeface="Arial" panose="020B0604020202020204" pitchFamily="34" charset="0"/>
              </a:rPr>
              <a:t>S. </a:t>
            </a:r>
            <a:r>
              <a:rPr lang="en-US" sz="2400" i="1" dirty="0" err="1" smtClean="0">
                <a:latin typeface="Arial" panose="020B0604020202020204" pitchFamily="34" charset="0"/>
                <a:cs typeface="Arial" panose="020B0604020202020204" pitchFamily="34" charset="0"/>
              </a:rPr>
              <a:t>dysenteriae</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và</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khoảng</a:t>
            </a:r>
            <a:r>
              <a:rPr lang="en-US" sz="2400" dirty="0" smtClean="0">
                <a:latin typeface="Arial" panose="020B0604020202020204" pitchFamily="34" charset="0"/>
                <a:cs typeface="Arial" panose="020B0604020202020204" pitchFamily="34" charset="0"/>
              </a:rPr>
              <a:t> 100 - 200 con </a:t>
            </a:r>
            <a:r>
              <a:rPr lang="en-US" sz="2400" dirty="0" err="1" smtClean="0">
                <a:latin typeface="Arial" panose="020B0604020202020204" pitchFamily="34" charset="0"/>
                <a:cs typeface="Arial" panose="020B0604020202020204" pitchFamily="34" charset="0"/>
              </a:rPr>
              <a:t>là</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liều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gây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nhiễm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của</a:t>
            </a:r>
            <a:r>
              <a:rPr lang="en-US" sz="2400" dirty="0" smtClean="0">
                <a:latin typeface="Arial" panose="020B0604020202020204" pitchFamily="34" charset="0"/>
                <a:cs typeface="Arial" panose="020B0604020202020204" pitchFamily="34" charset="0"/>
              </a:rPr>
              <a:t> </a:t>
            </a:r>
            <a:r>
              <a:rPr lang="en-US" sz="2400" i="1" dirty="0" smtClean="0">
                <a:latin typeface="Arial" panose="020B0604020202020204" pitchFamily="34" charset="0"/>
                <a:cs typeface="Arial" panose="020B0604020202020204" pitchFamily="34" charset="0"/>
              </a:rPr>
              <a:t>S. </a:t>
            </a:r>
            <a:r>
              <a:rPr lang="en-US" sz="2400" i="1" dirty="0" err="1" smtClean="0">
                <a:latin typeface="Arial" panose="020B0604020202020204" pitchFamily="34" charset="0"/>
                <a:cs typeface="Arial" panose="020B0604020202020204" pitchFamily="34" charset="0"/>
              </a:rPr>
              <a:t>sonnei</a:t>
            </a:r>
            <a:r>
              <a:rPr lang="en-US" sz="2400" i="1" dirty="0" smtClean="0">
                <a:latin typeface="Arial" panose="020B0604020202020204" pitchFamily="34" charset="0"/>
                <a:cs typeface="Arial" panose="020B0604020202020204" pitchFamily="34" charset="0"/>
              </a:rPr>
              <a:t> , S. </a:t>
            </a:r>
            <a:r>
              <a:rPr lang="en-US" sz="2400" i="1" dirty="0" err="1" smtClean="0">
                <a:latin typeface="Arial" panose="020B0604020202020204" pitchFamily="34" charset="0"/>
                <a:cs typeface="Arial" panose="020B0604020202020204" pitchFamily="34" charset="0"/>
              </a:rPr>
              <a:t>flexneri</a:t>
            </a:r>
            <a:r>
              <a:rPr lang="en-US" sz="2400" dirty="0">
                <a:latin typeface="Arial" panose="020B0604020202020204" pitchFamily="34" charset="0"/>
                <a:cs typeface="Arial" panose="020B0604020202020204" pitchFamily="34" charset="0"/>
              </a:rPr>
              <a:t>.</a:t>
            </a:r>
            <a:endParaRPr lang="en-US" sz="2400" dirty="0" smtClean="0">
              <a:latin typeface="Arial" panose="020B0604020202020204" pitchFamily="34" charset="0"/>
              <a:cs typeface="Arial" panose="020B0604020202020204" pitchFamily="34" charset="0"/>
            </a:endParaRPr>
          </a:p>
          <a:p>
            <a:pPr marL="0" indent="0" algn="just">
              <a:buNone/>
            </a:pPr>
            <a:r>
              <a:rPr lang="en-US" sz="2400" dirty="0" err="1" smtClean="0">
                <a:latin typeface="Arial" panose="020B0604020202020204" pitchFamily="34" charset="0"/>
                <a:cs typeface="Arial" panose="020B0604020202020204" pitchFamily="34" charset="0"/>
              </a:rPr>
              <a:t>Chúng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có</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thể</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chịu</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được</a:t>
            </a:r>
            <a:r>
              <a:rPr lang="en-US" sz="2400" dirty="0" smtClean="0">
                <a:latin typeface="Arial" panose="020B0604020202020204" pitchFamily="34" charset="0"/>
                <a:cs typeface="Arial" panose="020B0604020202020204" pitchFamily="34" charset="0"/>
              </a:rPr>
              <a:t> pH </a:t>
            </a:r>
            <a:r>
              <a:rPr lang="en-US" sz="2400" dirty="0" err="1" smtClean="0">
                <a:latin typeface="Arial" panose="020B0604020202020204" pitchFamily="34" charset="0"/>
                <a:cs typeface="Arial" panose="020B0604020202020204" pitchFamily="34" charset="0"/>
              </a:rPr>
              <a:t>là</a:t>
            </a:r>
            <a:r>
              <a:rPr lang="en-US" sz="2400" dirty="0" smtClean="0">
                <a:latin typeface="Arial" panose="020B0604020202020204" pitchFamily="34" charset="0"/>
                <a:cs typeface="Arial" panose="020B0604020202020204" pitchFamily="34" charset="0"/>
              </a:rPr>
              <a:t> 2,5 </a:t>
            </a:r>
            <a:r>
              <a:rPr lang="en-US" sz="2400" dirty="0" err="1" smtClean="0">
                <a:latin typeface="Arial" panose="020B0604020202020204" pitchFamily="34" charset="0"/>
                <a:cs typeface="Arial" panose="020B0604020202020204" pitchFamily="34" charset="0"/>
              </a:rPr>
              <a:t>trong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vòng</a:t>
            </a:r>
            <a:r>
              <a:rPr lang="en-US" sz="2400" dirty="0" smtClean="0">
                <a:latin typeface="Arial" panose="020B0604020202020204" pitchFamily="34" charset="0"/>
                <a:cs typeface="Arial" panose="020B0604020202020204" pitchFamily="34" charset="0"/>
              </a:rPr>
              <a:t> 2h </a:t>
            </a:r>
            <a:r>
              <a:rPr lang="en-US" sz="2400" dirty="0" smtClean="0">
                <a:latin typeface="Arial" panose="020B0604020202020204" pitchFamily="34" charset="0"/>
                <a:cs typeface="Arial" panose="020B0604020202020204" pitchFamily="34" charset="0"/>
                <a:sym typeface="Wingdings"/>
              </a:rPr>
              <a:t> </a:t>
            </a:r>
            <a:r>
              <a:rPr lang="en-US" sz="2400" dirty="0" err="1" smtClean="0">
                <a:latin typeface="Arial" panose="020B0604020202020204" pitchFamily="34" charset="0"/>
                <a:cs typeface="Arial" panose="020B0604020202020204" pitchFamily="34" charset="0"/>
              </a:rPr>
              <a:t>những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người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giảm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toan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dạ</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dày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nguy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cơ</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mắc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bệnh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càng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cao</a:t>
            </a:r>
            <a:r>
              <a:rPr lang="en-US" sz="2400" dirty="0" smtClean="0">
                <a:latin typeface="Arial" panose="020B0604020202020204" pitchFamily="34" charset="0"/>
                <a:cs typeface="Arial" panose="020B0604020202020204" pitchFamily="34" charset="0"/>
              </a:rPr>
              <a:t>.</a:t>
            </a:r>
          </a:p>
        </p:txBody>
      </p:sp>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228600" y="152400"/>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5" name="TextBox 4"/>
          <p:cNvSpPr txBox="1"/>
          <p:nvPr/>
        </p:nvSpPr>
        <p:spPr>
          <a:xfrm>
            <a:off x="1244807" y="833735"/>
            <a:ext cx="6959186" cy="461665"/>
          </a:xfrm>
          <a:prstGeom prst="rect">
            <a:avLst/>
          </a:prstGeom>
          <a:noFill/>
        </p:spPr>
        <p:txBody>
          <a:bodyPr wrap="square" rtlCol="0">
            <a:spAutoFit/>
          </a:bodyPr>
          <a:lstStyle/>
          <a:p>
            <a:pPr algn="just"/>
            <a:r>
              <a:rPr lang="en-US" sz="2400" b="1" dirty="0">
                <a:latin typeface="Arial" panose="020B0604020202020204" pitchFamily="34" charset="0"/>
                <a:cs typeface="Arial" panose="020B0604020202020204" pitchFamily="34" charset="0"/>
              </a:rPr>
              <a:t>3</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Đường</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lây</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7367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23240"/>
            <a:ext cx="8382000" cy="1572360"/>
          </a:xfrm>
        </p:spPr>
        <p:txBody>
          <a:bodyPr>
            <a:normAutofit/>
          </a:bodyPr>
          <a:lstStyle/>
          <a:p>
            <a:pPr algn="just"/>
            <a:r>
              <a:rPr lang="en-US" sz="2400" dirty="0" err="1">
                <a:latin typeface="Arial" panose="020B0604020202020204" pitchFamily="34" charset="0"/>
                <a:cs typeface="Arial" panose="020B0604020202020204" pitchFamily="34" charset="0"/>
              </a:rPr>
              <a:t>Ngoài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ruồi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vai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trò</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trong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lây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Chúng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gây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nhiễm</a:t>
            </a:r>
            <a:r>
              <a:rPr lang="en-US" sz="2400"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Shigella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đồ</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chơi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đồ</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uống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dụng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cụ</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hoạt</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2901287"/>
            <a:ext cx="8534400" cy="3613266"/>
          </a:xfrm>
          <a:prstGeom prst="rect">
            <a:avLst/>
          </a:prstGeom>
        </p:spPr>
      </p:pic>
      <p:sp>
        <p:nvSpPr>
          <p:cNvPr id="5" name="Tiêu đề 1">
            <a:extLst>
              <a:ext uri="{FF2B5EF4-FFF2-40B4-BE49-F238E27FC236}">
                <a16:creationId xmlns="" xmlns:a16="http://schemas.microsoft.com/office/drawing/2014/main" id="{C98A5779-0D20-F746-86A7-119A3BB7F135}"/>
              </a:ext>
            </a:extLst>
          </p:cNvPr>
          <p:cNvSpPr txBox="1">
            <a:spLocks/>
          </p:cNvSpPr>
          <p:nvPr/>
        </p:nvSpPr>
        <p:spPr>
          <a:xfrm>
            <a:off x="279779" y="76200"/>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6" name="TextBox 5"/>
          <p:cNvSpPr txBox="1"/>
          <p:nvPr/>
        </p:nvSpPr>
        <p:spPr>
          <a:xfrm>
            <a:off x="1244807" y="737137"/>
            <a:ext cx="6959186" cy="461665"/>
          </a:xfrm>
          <a:prstGeom prst="rect">
            <a:avLst/>
          </a:prstGeom>
          <a:noFill/>
        </p:spPr>
        <p:txBody>
          <a:bodyPr wrap="square" rtlCol="0">
            <a:spAutoFit/>
          </a:bodyPr>
          <a:lstStyle/>
          <a:p>
            <a:pPr algn="just"/>
            <a:r>
              <a:rPr lang="en-US" sz="2400" b="1" dirty="0">
                <a:latin typeface="Arial" panose="020B0604020202020204" pitchFamily="34" charset="0"/>
                <a:cs typeface="Arial" panose="020B0604020202020204" pitchFamily="34" charset="0"/>
              </a:rPr>
              <a:t>3</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Đường</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lây</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8895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2570" y="1752600"/>
            <a:ext cx="8018859" cy="1676400"/>
          </a:xfrm>
        </p:spPr>
        <p:txBody>
          <a:bodyPr>
            <a:normAutofit lnSpcReduction="10000"/>
          </a:bodyPr>
          <a:lstStyle/>
          <a:p>
            <a:pPr marL="0" indent="0" algn="just">
              <a:buNone/>
            </a:pP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Tất</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trường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chưa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miễn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dịch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đều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mắc</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bệnh</a:t>
            </a:r>
            <a:r>
              <a:rPr lang="en-US" sz="2400" dirty="0" smtClean="0">
                <a:latin typeface="Arial" panose="020B0604020202020204" pitchFamily="34" charset="0"/>
                <a:cs typeface="Arial" panose="020B0604020202020204" pitchFamily="34" charset="0"/>
              </a:rPr>
              <a:t>.</a:t>
            </a:r>
          </a:p>
          <a:p>
            <a:pPr marL="0" indent="0" algn="just">
              <a:buNone/>
            </a:pPr>
            <a:r>
              <a:rPr lang="en-US" sz="2400" dirty="0" smtClean="0">
                <a:latin typeface="Arial" panose="020B0604020202020204" pitchFamily="34" charset="0"/>
                <a:cs typeface="Arial" panose="020B0604020202020204" pitchFamily="34" charset="0"/>
              </a:rPr>
              <a:t> - </a:t>
            </a:r>
            <a:r>
              <a:rPr lang="en-US" sz="2400" dirty="0" err="1" smtClean="0">
                <a:latin typeface="Arial" panose="020B0604020202020204" pitchFamily="34" charset="0"/>
                <a:cs typeface="Arial" panose="020B0604020202020204" pitchFamily="34" charset="0"/>
              </a:rPr>
              <a:t>Miễn</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dịch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sau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mắc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miễn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dịch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bền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vững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chỉ</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tồn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tại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khoảng</a:t>
            </a:r>
            <a:r>
              <a:rPr lang="en-US" sz="2400" dirty="0">
                <a:latin typeface="Arial" panose="020B0604020202020204" pitchFamily="34" charset="0"/>
                <a:cs typeface="Arial" panose="020B0604020202020204" pitchFamily="34" charset="0"/>
              </a:rPr>
              <a:t> 1 </a:t>
            </a:r>
            <a:r>
              <a:rPr lang="en-US" sz="2400" dirty="0" err="1">
                <a:latin typeface="Arial" panose="020B0604020202020204" pitchFamily="34" charset="0"/>
                <a:cs typeface="Arial" panose="020B0604020202020204" pitchFamily="34" charset="0"/>
              </a:rPr>
              <a:t>đến</a:t>
            </a:r>
            <a:r>
              <a:rPr lang="en-US" sz="2400" dirty="0">
                <a:latin typeface="Arial" panose="020B0604020202020204" pitchFamily="34" charset="0"/>
                <a:cs typeface="Arial" panose="020B0604020202020204" pitchFamily="34" charset="0"/>
              </a:rPr>
              <a:t> 2 </a:t>
            </a:r>
            <a:r>
              <a:rPr lang="en-US" sz="2400" dirty="0" err="1" smtClean="0">
                <a:latin typeface="Arial" panose="020B0604020202020204" pitchFamily="34" charset="0"/>
                <a:cs typeface="Arial" panose="020B0604020202020204" pitchFamily="34" charset="0"/>
              </a:rPr>
              <a:t>năm</a:t>
            </a:r>
            <a:r>
              <a:rPr lang="en-US" sz="2400" dirty="0">
                <a:latin typeface="Arial" panose="020B0604020202020204" pitchFamily="34" charset="0"/>
                <a:cs typeface="Arial" panose="020B0604020202020204" pitchFamily="34" charset="0"/>
              </a:rPr>
              <a:t>.</a:t>
            </a:r>
          </a:p>
        </p:txBody>
      </p:sp>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228600" y="27296"/>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5" name="TextBox 4"/>
          <p:cNvSpPr txBox="1"/>
          <p:nvPr/>
        </p:nvSpPr>
        <p:spPr>
          <a:xfrm>
            <a:off x="1244807" y="737137"/>
            <a:ext cx="6959186" cy="461665"/>
          </a:xfrm>
          <a:prstGeom prst="rect">
            <a:avLst/>
          </a:prstGeom>
          <a:noFill/>
        </p:spPr>
        <p:txBody>
          <a:bodyPr wrap="square" rtlCol="0">
            <a:spAutoFit/>
          </a:bodyPr>
          <a:lstStyle/>
          <a:p>
            <a:pPr algn="just"/>
            <a:r>
              <a:rPr lang="en-US" sz="2400" b="1" dirty="0">
                <a:latin typeface="Arial" panose="020B0604020202020204" pitchFamily="34" charset="0"/>
                <a:cs typeface="Arial" panose="020B0604020202020204" pitchFamily="34" charset="0"/>
              </a:rPr>
              <a:t>4</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Cơ</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thể</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cảm</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thụ</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7252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40188"/>
            <a:ext cx="8305800" cy="4479611"/>
          </a:xfrm>
        </p:spPr>
        <p:txBody>
          <a:bodyPr>
            <a:noAutofit/>
          </a:bodyPr>
          <a:lstStyle/>
          <a:p>
            <a:pPr algn="just">
              <a:buFontTx/>
              <a:buChar char="-"/>
            </a:pPr>
            <a:r>
              <a:rPr lang="en-US" sz="2400" dirty="0" err="1" smtClean="0">
                <a:latin typeface="Arial" panose="020B0604020202020204" pitchFamily="34" charset="0"/>
                <a:cs typeface="Arial" panose="020B0604020202020204" pitchFamily="34" charset="0"/>
              </a:rPr>
              <a:t>Bệnh</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gặp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khắp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nơi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thế</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nước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triển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nhưng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chủ</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yếu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ở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nước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đang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triển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nước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hậu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nhiệt</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đới</a:t>
            </a:r>
            <a:r>
              <a:rPr lang="en-US" sz="2400" dirty="0" smtClean="0">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a:p>
            <a:pPr algn="just">
              <a:buFontTx/>
              <a:buChar char="-"/>
            </a:pPr>
            <a:r>
              <a:rPr lang="en-US" sz="2400" dirty="0" err="1" smtClean="0">
                <a:latin typeface="Arial" panose="020B0604020202020204" pitchFamily="34" charset="0"/>
                <a:cs typeface="Arial" panose="020B0604020202020204" pitchFamily="34" charset="0"/>
              </a:rPr>
              <a:t>Bệnh</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xảy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tản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quanh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năm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thường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dịch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mùa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hè</a:t>
            </a:r>
            <a:r>
              <a:rPr lang="en-US" sz="2400" dirty="0">
                <a:latin typeface="Arial" panose="020B0604020202020204" pitchFamily="34" charset="0"/>
                <a:cs typeface="Arial" panose="020B0604020202020204" pitchFamily="34" charset="0"/>
              </a:rPr>
              <a:t>. </a:t>
            </a:r>
          </a:p>
          <a:p>
            <a:pPr algn="just">
              <a:buFontTx/>
              <a:buChar char="-"/>
            </a:pPr>
            <a:r>
              <a:rPr lang="en-US" sz="2400" dirty="0" err="1" smtClean="0">
                <a:latin typeface="Arial" panose="020B0604020202020204" pitchFamily="34" charset="0"/>
                <a:cs typeface="Arial" panose="020B0604020202020204" pitchFamily="34" charset="0"/>
              </a:rPr>
              <a:t>Tại</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Việt</a:t>
            </a:r>
            <a:r>
              <a:rPr lang="en-US" sz="2400" dirty="0">
                <a:latin typeface="Arial" panose="020B0604020202020204" pitchFamily="34" charset="0"/>
                <a:cs typeface="Arial" panose="020B0604020202020204" pitchFamily="34" charset="0"/>
              </a:rPr>
              <a:t> Nam, </a:t>
            </a:r>
            <a:r>
              <a:rPr lang="en-US" sz="2400" dirty="0" err="1">
                <a:latin typeface="Arial" panose="020B0604020202020204" pitchFamily="34" charset="0"/>
                <a:cs typeface="Arial" panose="020B0604020202020204" pitchFamily="34" charset="0"/>
              </a:rPr>
              <a:t>lỵ</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khuẩn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viêm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do </a:t>
            </a:r>
            <a:r>
              <a:rPr lang="en-US" sz="2400" dirty="0" err="1">
                <a:latin typeface="Arial" panose="020B0604020202020204" pitchFamily="34" charset="0"/>
                <a:cs typeface="Arial" panose="020B0604020202020204" pitchFamily="34" charset="0"/>
              </a:rPr>
              <a:t>virut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2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truyền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nhiễm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tỷ</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lệ</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mắc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lớn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nhất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bốn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nhóm</a:t>
            </a:r>
            <a:r>
              <a:rPr lang="en-US" sz="2400"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Shigella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đều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gây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vai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trò</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nổi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trội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thuộc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về</a:t>
            </a:r>
            <a:r>
              <a:rPr lang="en-US" sz="2400" dirty="0">
                <a:latin typeface="Arial" panose="020B0604020202020204" pitchFamily="34" charset="0"/>
                <a:cs typeface="Arial" panose="020B0604020202020204" pitchFamily="34" charset="0"/>
              </a:rPr>
              <a:t> </a:t>
            </a:r>
            <a:r>
              <a:rPr lang="en-US" sz="2400" i="1" dirty="0">
                <a:latin typeface="Arial" panose="020B0604020202020204" pitchFamily="34" charset="0"/>
                <a:cs typeface="Arial" panose="020B0604020202020204" pitchFamily="34" charset="0"/>
              </a:rPr>
              <a:t>S. </a:t>
            </a:r>
            <a:r>
              <a:rPr lang="en-US" sz="2400" i="1" dirty="0" err="1">
                <a:latin typeface="Arial" panose="020B0604020202020204" pitchFamily="34" charset="0"/>
                <a:cs typeface="Arial" panose="020B0604020202020204" pitchFamily="34" charset="0"/>
              </a:rPr>
              <a:t>dysenteriae</a:t>
            </a:r>
            <a:r>
              <a:rPr lang="en-US" sz="2400" i="1"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i="1" dirty="0">
                <a:latin typeface="Arial" panose="020B0604020202020204" pitchFamily="34" charset="0"/>
                <a:cs typeface="Arial" panose="020B0604020202020204" pitchFamily="34" charset="0"/>
              </a:rPr>
              <a:t> S. </a:t>
            </a:r>
            <a:r>
              <a:rPr lang="en-US" sz="2400" i="1" dirty="0" err="1" smtClean="0">
                <a:latin typeface="Arial" panose="020B0604020202020204" pitchFamily="34" charset="0"/>
                <a:cs typeface="Arial" panose="020B0604020202020204" pitchFamily="34" charset="0"/>
              </a:rPr>
              <a:t>flexneri</a:t>
            </a:r>
            <a:r>
              <a:rPr lang="en-US" sz="2400" i="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p>
            <a:pPr marL="0" indent="0" algn="just">
              <a:buNone/>
            </a:pPr>
            <a:endParaRPr lang="en-US" sz="2400" dirty="0">
              <a:latin typeface="Arial" panose="020B0604020202020204" pitchFamily="34" charset="0"/>
              <a:cs typeface="Arial" panose="020B0604020202020204" pitchFamily="34" charset="0"/>
            </a:endParaRPr>
          </a:p>
        </p:txBody>
      </p:sp>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228600" y="76200"/>
            <a:ext cx="6247157" cy="66768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II. DỊCH TỄ</a:t>
            </a:r>
            <a:endParaRPr lang="vi-VN" sz="4000" b="1" dirty="0">
              <a:solidFill>
                <a:srgbClr val="FF0000"/>
              </a:solidFill>
              <a:latin typeface="Arial" pitchFamily="34" charset="0"/>
              <a:ea typeface="+mj-ea"/>
              <a:cs typeface="Arial" pitchFamily="34" charset="0"/>
            </a:endParaRPr>
          </a:p>
        </p:txBody>
      </p:sp>
      <p:sp>
        <p:nvSpPr>
          <p:cNvPr id="5" name="TextBox 4"/>
          <p:cNvSpPr txBox="1"/>
          <p:nvPr/>
        </p:nvSpPr>
        <p:spPr>
          <a:xfrm>
            <a:off x="1244807" y="737137"/>
            <a:ext cx="6959186" cy="461665"/>
          </a:xfrm>
          <a:prstGeom prst="rect">
            <a:avLst/>
          </a:prstGeom>
          <a:noFill/>
        </p:spPr>
        <p:txBody>
          <a:bodyPr wrap="square" rtlCol="0">
            <a:spAutoFit/>
          </a:bodyPr>
          <a:lstStyle/>
          <a:p>
            <a:pPr algn="just"/>
            <a:r>
              <a:rPr lang="en-US" sz="2400" b="1" dirty="0">
                <a:latin typeface="Arial" panose="020B0604020202020204" pitchFamily="34" charset="0"/>
                <a:cs typeface="Arial" panose="020B0604020202020204" pitchFamily="34" charset="0"/>
              </a:rPr>
              <a:t>5</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Tính</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chất</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dịch</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tễ</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0299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381000" y="533400"/>
            <a:ext cx="5928545" cy="458132"/>
          </a:xfrm>
          <a:prstGeom prst="rect">
            <a:avLst/>
          </a:prstGeom>
        </p:spPr>
        <p:txBody>
          <a:bodyPr vert="horz" lIns="68580" tIns="34290" rIns="68580" bIns="34290" rtlCol="0" anchor="ctr">
            <a:noAutofit/>
          </a:bodyPr>
          <a:lstStyle/>
          <a:p>
            <a:pPr algn="just" defTabSz="685800">
              <a:spcBef>
                <a:spcPct val="0"/>
              </a:spcBef>
              <a:defRPr/>
            </a:pPr>
            <a:r>
              <a:rPr lang="en-US" sz="4000" b="1" dirty="0">
                <a:solidFill>
                  <a:srgbClr val="FF0000"/>
                </a:solidFill>
                <a:latin typeface="Arial" pitchFamily="34" charset="0"/>
                <a:ea typeface="+mj-ea"/>
                <a:cs typeface="Arial" pitchFamily="34" charset="0"/>
              </a:rPr>
              <a:t>III. CƠ CHẾ BỆNH SINH</a:t>
            </a:r>
            <a:endParaRPr lang="vi-VN" sz="4000" b="1" dirty="0">
              <a:solidFill>
                <a:srgbClr val="FF0000"/>
              </a:solidFill>
              <a:latin typeface="Arial" pitchFamily="34" charset="0"/>
              <a:ea typeface="+mj-ea"/>
              <a:cs typeface="Arial"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109" y="1295400"/>
            <a:ext cx="3998891" cy="5181601"/>
          </a:xfrm>
          <a:prstGeom prst="rect">
            <a:avLst/>
          </a:prstGeom>
        </p:spPr>
      </p:pic>
      <p:sp>
        <p:nvSpPr>
          <p:cNvPr id="6" name="Subtitle 2"/>
          <p:cNvSpPr>
            <a:spLocks noGrp="1"/>
          </p:cNvSpPr>
          <p:nvPr>
            <p:ph type="subTitle" idx="1"/>
          </p:nvPr>
        </p:nvSpPr>
        <p:spPr>
          <a:xfrm>
            <a:off x="4800600" y="1295400"/>
            <a:ext cx="3940935" cy="5334000"/>
          </a:xfrm>
        </p:spPr>
        <p:txBody>
          <a:bodyPr>
            <a:noAutofit/>
          </a:bodyPr>
          <a:lstStyle/>
          <a:p>
            <a:pPr marL="257175" indent="-257175" algn="just">
              <a:buFontTx/>
              <a:buChar char="-"/>
            </a:pPr>
            <a:r>
              <a:rPr lang="en-US" sz="2200" dirty="0" err="1" smtClean="0">
                <a:latin typeface="Arial" panose="020B0604020202020204" pitchFamily="34" charset="0"/>
                <a:cs typeface="Arial" panose="020B0604020202020204" pitchFamily="34" charset="0"/>
              </a:rPr>
              <a:t>Trực</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khuẩn</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lỵ</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xâm</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nhập</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vào</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cơ</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thể</a:t>
            </a:r>
            <a:r>
              <a:rPr lang="en-US" sz="2200" dirty="0" smtClean="0">
                <a:latin typeface="Arial" panose="020B0604020202020204" pitchFamily="34" charset="0"/>
                <a:cs typeface="Arial" panose="020B0604020202020204" pitchFamily="34" charset="0"/>
              </a:rPr>
              <a:t> qua </a:t>
            </a:r>
            <a:r>
              <a:rPr lang="en-US" sz="2200" dirty="0" err="1" smtClean="0">
                <a:latin typeface="Arial" panose="020B0604020202020204" pitchFamily="34" charset="0"/>
                <a:cs typeface="Arial" panose="020B0604020202020204" pitchFamily="34" charset="0"/>
              </a:rPr>
              <a:t>đường</a:t>
            </a:r>
            <a:r>
              <a:rPr lang="en-US" sz="2200" dirty="0" smtClean="0">
                <a:latin typeface="Arial" panose="020B0604020202020204" pitchFamily="34" charset="0"/>
                <a:cs typeface="Arial" panose="020B0604020202020204" pitchFamily="34" charset="0"/>
              </a:rPr>
              <a:t> </a:t>
            </a:r>
            <a:r>
              <a:rPr lang="en-US" sz="2200" b="1" dirty="0" err="1" smtClean="0">
                <a:latin typeface="Arial" panose="020B0604020202020204" pitchFamily="34" charset="0"/>
                <a:cs typeface="Arial" panose="020B0604020202020204" pitchFamily="34" charset="0"/>
              </a:rPr>
              <a:t>tiêu</a:t>
            </a:r>
            <a:r>
              <a:rPr lang="en-US" sz="2200" b="1" dirty="0" smtClean="0">
                <a:latin typeface="Arial" panose="020B0604020202020204" pitchFamily="34" charset="0"/>
                <a:cs typeface="Arial" panose="020B0604020202020204" pitchFamily="34" charset="0"/>
              </a:rPr>
              <a:t> </a:t>
            </a:r>
            <a:r>
              <a:rPr lang="en-US" sz="2200" b="1" dirty="0" err="1" smtClean="0">
                <a:latin typeface="Arial" panose="020B0604020202020204" pitchFamily="34" charset="0"/>
                <a:cs typeface="Arial" panose="020B0604020202020204" pitchFamily="34" charset="0"/>
              </a:rPr>
              <a:t>hóa</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với</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nhiều</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hình</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thức</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khác</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nhau</a:t>
            </a:r>
            <a:r>
              <a:rPr lang="en-US" sz="2200" dirty="0" smtClean="0">
                <a:latin typeface="Arial" panose="020B0604020202020204" pitchFamily="34" charset="0"/>
                <a:cs typeface="Arial" panose="020B0604020202020204" pitchFamily="34" charset="0"/>
              </a:rPr>
              <a:t>.</a:t>
            </a:r>
          </a:p>
          <a:p>
            <a:pPr marL="257175" indent="-257175" algn="just">
              <a:buFontTx/>
              <a:buChar char="-"/>
            </a:pPr>
            <a:r>
              <a:rPr lang="en-US" sz="2200" dirty="0" err="1" smtClean="0">
                <a:latin typeface="Arial" panose="020B0604020202020204" pitchFamily="34" charset="0"/>
                <a:cs typeface="Arial" panose="020B0604020202020204" pitchFamily="34" charset="0"/>
              </a:rPr>
              <a:t>Tại</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ruột</a:t>
            </a:r>
            <a:r>
              <a:rPr lang="en-US" sz="2200" dirty="0" smtClean="0">
                <a:latin typeface="Arial" panose="020B0604020202020204" pitchFamily="34" charset="0"/>
                <a:cs typeface="Arial" panose="020B0604020202020204" pitchFamily="34" charset="0"/>
              </a:rPr>
              <a:t> non, </a:t>
            </a:r>
            <a:r>
              <a:rPr lang="en-US" sz="2200" dirty="0" err="1" smtClean="0">
                <a:latin typeface="Arial" panose="020B0604020202020204" pitchFamily="34" charset="0"/>
                <a:cs typeface="Arial" panose="020B0604020202020204" pitchFamily="34" charset="0"/>
              </a:rPr>
              <a:t>phát</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triển</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về</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số</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lượng</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có</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thể</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đạt</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tới</a:t>
            </a:r>
            <a:r>
              <a:rPr lang="en-US" sz="2200" dirty="0" smtClean="0">
                <a:latin typeface="Arial" panose="020B0604020202020204" pitchFamily="34" charset="0"/>
                <a:cs typeface="Arial" panose="020B0604020202020204" pitchFamily="34" charset="0"/>
              </a:rPr>
              <a:t> 10</a:t>
            </a:r>
            <a:r>
              <a:rPr lang="en-US" sz="2200" baseline="30000" dirty="0" smtClean="0">
                <a:latin typeface="Arial" panose="020B0604020202020204" pitchFamily="34" charset="0"/>
                <a:cs typeface="Arial" panose="020B0604020202020204" pitchFamily="34" charset="0"/>
              </a:rPr>
              <a:t>9</a:t>
            </a:r>
            <a:r>
              <a:rPr lang="en-US" sz="2200" dirty="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vi </a:t>
            </a:r>
            <a:r>
              <a:rPr lang="en-US" sz="2200" dirty="0" err="1" smtClean="0">
                <a:latin typeface="Arial" panose="020B0604020202020204" pitchFamily="34" charset="0"/>
                <a:cs typeface="Arial" panose="020B0604020202020204" pitchFamily="34" charset="0"/>
              </a:rPr>
              <a:t>khuẩn</a:t>
            </a:r>
            <a:r>
              <a:rPr lang="en-US" sz="2200" dirty="0" smtClean="0">
                <a:latin typeface="Arial" panose="020B0604020202020204" pitchFamily="34" charset="0"/>
                <a:cs typeface="Arial" panose="020B0604020202020204" pitchFamily="34" charset="0"/>
              </a:rPr>
              <a:t>/ml </a:t>
            </a:r>
            <a:r>
              <a:rPr lang="en-US" sz="2200" dirty="0" err="1" smtClean="0">
                <a:latin typeface="Arial" panose="020B0604020202020204" pitchFamily="34" charset="0"/>
                <a:cs typeface="Arial" panose="020B0604020202020204" pitchFamily="34" charset="0"/>
              </a:rPr>
              <a:t>phân</a:t>
            </a:r>
            <a:r>
              <a:rPr lang="en-US" sz="2200" dirty="0">
                <a:latin typeface="Arial" panose="020B0604020202020204" pitchFamily="34" charset="0"/>
                <a:cs typeface="Arial" panose="020B0604020202020204" pitchFamily="34" charset="0"/>
              </a:rPr>
              <a:t> </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trong</a:t>
            </a:r>
            <a:r>
              <a:rPr lang="en-US" sz="2200" dirty="0" smtClean="0">
                <a:latin typeface="Arial" panose="020B0604020202020204" pitchFamily="34" charset="0"/>
                <a:cs typeface="Arial" panose="020B0604020202020204" pitchFamily="34" charset="0"/>
              </a:rPr>
              <a:t> 24 – 36 </a:t>
            </a:r>
            <a:r>
              <a:rPr lang="en-US" sz="2200" dirty="0" err="1" smtClean="0">
                <a:latin typeface="Arial" panose="020B0604020202020204" pitchFamily="34" charset="0"/>
                <a:cs typeface="Arial" panose="020B0604020202020204" pitchFamily="34" charset="0"/>
              </a:rPr>
              <a:t>giờ</a:t>
            </a:r>
            <a:r>
              <a:rPr lang="en-US" sz="2200" dirty="0" smtClean="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a:p>
            <a:pPr algn="just"/>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Sản</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xuất</a:t>
            </a:r>
            <a:r>
              <a:rPr lang="en-US" sz="2200" dirty="0" smtClean="0">
                <a:latin typeface="Arial" panose="020B0604020202020204" pitchFamily="34" charset="0"/>
                <a:cs typeface="Arial" panose="020B0604020202020204" pitchFamily="34" charset="0"/>
              </a:rPr>
              <a:t> enterotoxin: </a:t>
            </a:r>
            <a:r>
              <a:rPr lang="en-US" sz="2200" dirty="0" err="1" smtClean="0">
                <a:latin typeface="Arial" panose="020B0604020202020204" pitchFamily="34" charset="0"/>
                <a:cs typeface="Arial" panose="020B0604020202020204" pitchFamily="34" charset="0"/>
              </a:rPr>
              <a:t>sốt</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đau</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bụng</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đi</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ngoài</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phân</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lỏng</a:t>
            </a:r>
            <a:r>
              <a:rPr lang="en-US" sz="2200" dirty="0" smtClean="0">
                <a:latin typeface="Arial" panose="020B0604020202020204" pitchFamily="34" charset="0"/>
                <a:cs typeface="Arial" panose="020B0604020202020204" pitchFamily="34" charset="0"/>
              </a:rPr>
              <a:t>.</a:t>
            </a:r>
          </a:p>
          <a:p>
            <a:pPr marL="257175" indent="-257175" algn="just">
              <a:buFontTx/>
              <a:buChar char="-"/>
            </a:pPr>
            <a:r>
              <a:rPr lang="en-US" sz="2200" dirty="0" err="1" smtClean="0">
                <a:latin typeface="Arial" panose="020B0604020202020204" pitchFamily="34" charset="0"/>
                <a:cs typeface="Arial" panose="020B0604020202020204" pitchFamily="34" charset="0"/>
              </a:rPr>
              <a:t>Xâm</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nhập</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vào</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niêm</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mạc</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ruột</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già</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gây</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nên</a:t>
            </a: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đau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quặn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mót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rặn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ỉa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nhiều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lần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phân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có</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nhày</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máu</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mủ</a:t>
            </a:r>
            <a:r>
              <a:rPr lang="en-US" sz="2200" dirty="0" smtClean="0">
                <a:latin typeface="Arial" panose="020B0604020202020204" pitchFamily="34" charset="0"/>
                <a:cs typeface="Arial" panose="020B0604020202020204" pitchFamily="34" charset="0"/>
              </a:rPr>
              <a:t>.</a:t>
            </a:r>
          </a:p>
          <a:p>
            <a:pPr algn="just"/>
            <a:endParaRPr lang="en-US" sz="22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520824"/>
      </p:ext>
    </p:extLst>
  </p:cSld>
  <p:clrMapOvr>
    <a:masterClrMapping/>
  </p:clrMapOvr>
  <mc:AlternateContent xmlns:mc="http://schemas.openxmlformats.org/markup-compatibility/2006" xmlns:p15="http://schemas.microsoft.com/office/powerpoint/2012/main">
    <mc:Choice Requires="p15">
      <p:transition spd="slow">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52400" y="151468"/>
            <a:ext cx="5928545" cy="458132"/>
          </a:xfrm>
          <a:prstGeom prst="rect">
            <a:avLst/>
          </a:prstGeom>
        </p:spPr>
        <p:txBody>
          <a:bodyPr vert="horz" lIns="68580" tIns="34290" rIns="68580" bIns="34290" rtlCol="0" anchor="ctr">
            <a:noAutofit/>
          </a:bodyPr>
          <a:lstStyle/>
          <a:p>
            <a:pPr algn="just" defTabSz="685800">
              <a:spcBef>
                <a:spcPct val="0"/>
              </a:spcBef>
              <a:defRPr/>
            </a:pPr>
            <a:r>
              <a:rPr lang="en-US" sz="4000" b="1" dirty="0">
                <a:solidFill>
                  <a:srgbClr val="FF0000"/>
                </a:solidFill>
                <a:latin typeface="Arial" pitchFamily="34" charset="0"/>
                <a:ea typeface="+mj-ea"/>
                <a:cs typeface="Arial" pitchFamily="34" charset="0"/>
              </a:rPr>
              <a:t>III. CƠ CHẾ BỆNH SINH</a:t>
            </a:r>
            <a:endParaRPr lang="vi-VN" sz="4000" b="1" dirty="0">
              <a:solidFill>
                <a:srgbClr val="FF0000"/>
              </a:solidFill>
              <a:latin typeface="Arial" pitchFamily="34" charset="0"/>
              <a:ea typeface="+mj-ea"/>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58" y="1524000"/>
            <a:ext cx="8839200" cy="4800600"/>
          </a:xfrm>
          <a:prstGeom prst="rect">
            <a:avLst/>
          </a:prstGeom>
        </p:spPr>
      </p:pic>
      <p:sp>
        <p:nvSpPr>
          <p:cNvPr id="7" name="TextBox 6"/>
          <p:cNvSpPr txBox="1"/>
          <p:nvPr/>
        </p:nvSpPr>
        <p:spPr>
          <a:xfrm>
            <a:off x="1219200" y="762000"/>
            <a:ext cx="4095482"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Quá</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trình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xâm</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nhập</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294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921" y="1465592"/>
            <a:ext cx="8152157" cy="4935208"/>
          </a:xfrm>
        </p:spPr>
        <p:txBody>
          <a:bodyPr>
            <a:noAutofit/>
          </a:bodyPr>
          <a:lstStyle/>
          <a:p>
            <a:pPr algn="just">
              <a:buFontTx/>
              <a:buChar char="-"/>
            </a:pPr>
            <a:r>
              <a:rPr lang="en-US" sz="2200" dirty="0" err="1">
                <a:latin typeface="Arial" panose="020B0604020202020204" pitchFamily="34" charset="0"/>
                <a:cs typeface="Arial" panose="020B0604020202020204" pitchFamily="34" charset="0"/>
              </a:rPr>
              <a:t>Shigella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gây</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bệnh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theo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cơ</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chế</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xâm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lấn</a:t>
            </a:r>
            <a:r>
              <a:rPr lang="en-US" sz="2200" dirty="0">
                <a:latin typeface="Arial" panose="020B0604020202020204" pitchFamily="34" charset="0"/>
                <a:cs typeface="Arial" panose="020B0604020202020204" pitchFamily="34" charset="0"/>
              </a:rPr>
              <a:t>:</a:t>
            </a:r>
          </a:p>
          <a:p>
            <a:pPr marL="385763" indent="-385763" algn="just">
              <a:buAutoNum type="arabicParenBoth"/>
            </a:pPr>
            <a:r>
              <a:rPr lang="en-US" sz="2200" dirty="0" err="1">
                <a:latin typeface="Arial" panose="020B0604020202020204" pitchFamily="34" charset="0"/>
                <a:cs typeface="Arial" panose="020B0604020202020204" pitchFamily="34" charset="0"/>
              </a:rPr>
              <a:t>Bám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dính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rồi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được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vận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chuyển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trong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tế</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bào</a:t>
            </a:r>
            <a:r>
              <a:rPr lang="en-US" sz="2200" dirty="0">
                <a:latin typeface="Arial" panose="020B0604020202020204" pitchFamily="34" charset="0"/>
                <a:cs typeface="Arial" panose="020B0604020202020204" pitchFamily="34" charset="0"/>
              </a:rPr>
              <a:t> M </a:t>
            </a:r>
            <a:r>
              <a:rPr lang="en-US" sz="2200" dirty="0" err="1">
                <a:latin typeface="Arial" panose="020B0604020202020204" pitchFamily="34" charset="0"/>
                <a:cs typeface="Arial" panose="020B0604020202020204" pitchFamily="34" charset="0"/>
              </a:rPr>
              <a:t>trên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niêm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ruột</a:t>
            </a:r>
            <a:r>
              <a:rPr lang="en-US" sz="2200" dirty="0">
                <a:latin typeface="Arial" panose="020B0604020202020204" pitchFamily="34" charset="0"/>
                <a:cs typeface="Arial" panose="020B0604020202020204" pitchFamily="34" charset="0"/>
              </a:rPr>
              <a:t>.</a:t>
            </a:r>
          </a:p>
          <a:p>
            <a:pPr marL="385763" indent="-385763" algn="just">
              <a:buAutoNum type="arabicParenBoth"/>
            </a:pPr>
            <a:r>
              <a:rPr lang="en-US" sz="2200" dirty="0">
                <a:latin typeface="Arial" panose="020B0604020202020204" pitchFamily="34" charset="0"/>
                <a:cs typeface="Arial" panose="020B0604020202020204" pitchFamily="34" charset="0"/>
              </a:rPr>
              <a:t>Di </a:t>
            </a:r>
            <a:r>
              <a:rPr lang="en-US" sz="2200" dirty="0" err="1">
                <a:latin typeface="Arial" panose="020B0604020202020204" pitchFamily="34" charset="0"/>
                <a:cs typeface="Arial" panose="020B0604020202020204" pitchFamily="34" charset="0"/>
              </a:rPr>
              <a:t>chuyển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đến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mặt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đáy</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tế</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bào</a:t>
            </a:r>
            <a:r>
              <a:rPr lang="en-US" sz="2200" dirty="0">
                <a:latin typeface="Arial" panose="020B0604020202020204" pitchFamily="34" charset="0"/>
                <a:cs typeface="Arial" panose="020B0604020202020204" pitchFamily="34" charset="0"/>
              </a:rPr>
              <a:t> M </a:t>
            </a:r>
            <a:r>
              <a:rPr lang="en-US" sz="2200" dirty="0" err="1">
                <a:latin typeface="Arial" panose="020B0604020202020204" pitchFamily="34" charset="0"/>
                <a:cs typeface="Arial" panose="020B0604020202020204" pitchFamily="34" charset="0"/>
              </a:rPr>
              <a:t>rồi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chui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ngoài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được</a:t>
            </a:r>
            <a:r>
              <a:rPr lang="en-US" sz="2200" dirty="0">
                <a:latin typeface="Arial" panose="020B0604020202020204" pitchFamily="34" charset="0"/>
                <a:cs typeface="Arial" panose="020B0604020202020204" pitchFamily="34" charset="0"/>
              </a:rPr>
              <a:t> ĐTB </a:t>
            </a:r>
            <a:r>
              <a:rPr lang="en-US" sz="2200" dirty="0" err="1">
                <a:latin typeface="Arial" panose="020B0604020202020204" pitchFamily="34" charset="0"/>
                <a:cs typeface="Arial" panose="020B0604020202020204" pitchFamily="34" charset="0"/>
              </a:rPr>
              <a:t>tại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chỗ</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bắt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giữ</a:t>
            </a:r>
            <a:r>
              <a:rPr lang="en-US" sz="2200" dirty="0">
                <a:latin typeface="Arial" panose="020B0604020202020204" pitchFamily="34" charset="0"/>
                <a:cs typeface="Arial" panose="020B0604020202020204" pitchFamily="34" charset="0"/>
              </a:rPr>
              <a:t>.</a:t>
            </a:r>
          </a:p>
          <a:p>
            <a:pPr marL="385763" indent="-385763" algn="just">
              <a:buAutoNum type="arabicParenBoth"/>
            </a:pPr>
            <a:r>
              <a:rPr lang="en-US" sz="2200" dirty="0">
                <a:latin typeface="Arial" panose="020B0604020202020204" pitchFamily="34" charset="0"/>
                <a:cs typeface="Arial" panose="020B0604020202020204" pitchFamily="34" charset="0"/>
              </a:rPr>
              <a:t>ĐTB </a:t>
            </a:r>
            <a:r>
              <a:rPr lang="en-US" sz="2200" dirty="0" err="1">
                <a:latin typeface="Arial" panose="020B0604020202020204" pitchFamily="34" charset="0"/>
                <a:cs typeface="Arial" panose="020B0604020202020204" pitchFamily="34" charset="0"/>
              </a:rPr>
              <a:t>chứa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Shigella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tiết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ra</a:t>
            </a:r>
            <a:r>
              <a:rPr lang="en-US" sz="2200" dirty="0">
                <a:latin typeface="Arial" panose="020B0604020202020204" pitchFamily="34" charset="0"/>
                <a:cs typeface="Arial" panose="020B0604020202020204" pitchFamily="34" charset="0"/>
              </a:rPr>
              <a:t> IL 1 – </a:t>
            </a:r>
            <a:r>
              <a:rPr lang="el-GR" sz="2200" dirty="0">
                <a:latin typeface="Arial" panose="020B0604020202020204" pitchFamily="34" charset="0"/>
                <a:cs typeface="Arial" panose="020B0604020202020204" pitchFamily="34" charset="0"/>
              </a:rPr>
              <a:t>β</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kích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hoạt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đáp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ứng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viêm</a:t>
            </a:r>
            <a:r>
              <a:rPr lang="en-US" sz="2200" dirty="0">
                <a:latin typeface="Arial" panose="020B0604020202020204" pitchFamily="34" charset="0"/>
                <a:cs typeface="Arial" panose="020B0604020202020204" pitchFamily="34" charset="0"/>
              </a:rPr>
              <a:t> qua BCĐN.</a:t>
            </a:r>
          </a:p>
          <a:p>
            <a:pPr marL="385763" indent="-385763" algn="just">
              <a:buAutoNum type="arabicParenBoth"/>
            </a:pPr>
            <a:r>
              <a:rPr lang="en-US" sz="2200" dirty="0" err="1">
                <a:latin typeface="Arial" panose="020B0604020202020204" pitchFamily="34" charset="0"/>
                <a:cs typeface="Arial" panose="020B0604020202020204" pitchFamily="34" charset="0"/>
              </a:rPr>
              <a:t>Đồng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thời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tiết</a:t>
            </a:r>
            <a:r>
              <a:rPr lang="en-US" sz="2200" dirty="0">
                <a:latin typeface="Arial" panose="020B0604020202020204" pitchFamily="34" charset="0"/>
                <a:cs typeface="Arial" panose="020B0604020202020204" pitchFamily="34" charset="0"/>
              </a:rPr>
              <a:t> IL – 18 </a:t>
            </a:r>
            <a:r>
              <a:rPr lang="en-US" sz="2200" dirty="0" err="1">
                <a:latin typeface="Arial" panose="020B0604020202020204" pitchFamily="34" charset="0"/>
                <a:cs typeface="Arial" panose="020B0604020202020204" pitchFamily="34" charset="0"/>
              </a:rPr>
              <a:t>phát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động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đáp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ứng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miễn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dịch</a:t>
            </a:r>
            <a:r>
              <a:rPr lang="en-US" sz="2200" dirty="0">
                <a:latin typeface="Arial" panose="020B0604020202020204" pitchFamily="34" charset="0"/>
                <a:cs typeface="Arial" panose="020B0604020202020204" pitchFamily="34" charset="0"/>
              </a:rPr>
              <a:t>.</a:t>
            </a:r>
          </a:p>
          <a:p>
            <a:pPr marL="385763" indent="-385763" algn="just">
              <a:buAutoNum type="arabicParenBoth"/>
            </a:pPr>
            <a:r>
              <a:rPr lang="en-US" sz="2200" dirty="0" err="1">
                <a:latin typeface="Arial" panose="020B0604020202020204" pitchFamily="34" charset="0"/>
                <a:cs typeface="Arial" panose="020B0604020202020204" pitchFamily="34" charset="0"/>
              </a:rPr>
              <a:t>Cuối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cùng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Shigella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khởi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động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quá</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trình</a:t>
            </a:r>
            <a:r>
              <a:rPr lang="en-US" sz="2200" dirty="0">
                <a:latin typeface="Arial" panose="020B0604020202020204" pitchFamily="34" charset="0"/>
                <a:cs typeface="Arial" panose="020B0604020202020204" pitchFamily="34" charset="0"/>
              </a:rPr>
              <a:t> ĐTB </a:t>
            </a:r>
            <a:r>
              <a:rPr lang="en-US" sz="2200" dirty="0" err="1">
                <a:latin typeface="Arial" panose="020B0604020202020204" pitchFamily="34" charset="0"/>
                <a:cs typeface="Arial" panose="020B0604020202020204" pitchFamily="34" charset="0"/>
              </a:rPr>
              <a:t>tự</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chết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apotosis</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để</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chúng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thoát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ngoài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tiếp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tục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xâm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nhập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tế</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bào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niêm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ruột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lân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cận</a:t>
            </a:r>
            <a:r>
              <a:rPr lang="en-US" sz="2200" dirty="0">
                <a:latin typeface="Arial" panose="020B0604020202020204" pitchFamily="34" charset="0"/>
                <a:cs typeface="Arial" panose="020B0604020202020204" pitchFamily="34" charset="0"/>
              </a:rPr>
              <a:t>.</a:t>
            </a:r>
          </a:p>
        </p:txBody>
      </p:sp>
      <p:sp>
        <p:nvSpPr>
          <p:cNvPr id="7" name="Rectangle 1"/>
          <p:cNvSpPr>
            <a:spLocks noChangeArrowheads="1"/>
          </p:cNvSpPr>
          <p:nvPr/>
        </p:nvSpPr>
        <p:spPr bwMode="auto">
          <a:xfrm>
            <a:off x="628651" y="3741601"/>
            <a:ext cx="138564"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050">
                <a:solidFill>
                  <a:srgbClr val="333333"/>
                </a:solidFill>
                <a:latin typeface="Arial" panose="020B0604020202020204" pitchFamily="34" charset="0"/>
                <a:cs typeface="Arial" panose="020B0604020202020204" pitchFamily="34" charset="0"/>
              </a:rPr>
              <a:t/>
            </a:r>
            <a:br>
              <a:rPr lang="en-US" altLang="en-US" sz="1050">
                <a:solidFill>
                  <a:srgbClr val="333333"/>
                </a:solidFill>
                <a:latin typeface="Arial" panose="020B0604020202020204" pitchFamily="34" charset="0"/>
                <a:cs typeface="Arial" panose="020B0604020202020204" pitchFamily="34" charset="0"/>
              </a:rPr>
            </a:br>
            <a:endParaRPr lang="en-US" altLang="en-US" sz="1350">
              <a:latin typeface="Arial" panose="020B0604020202020204" pitchFamily="34" charset="0"/>
            </a:endParaRPr>
          </a:p>
        </p:txBody>
      </p:sp>
      <p:sp>
        <p:nvSpPr>
          <p:cNvPr id="6" name="Tiêu đề 1">
            <a:extLst>
              <a:ext uri="{FF2B5EF4-FFF2-40B4-BE49-F238E27FC236}">
                <a16:creationId xmlns="" xmlns:a16="http://schemas.microsoft.com/office/drawing/2014/main" id="{C98A5779-0D20-F746-86A7-119A3BB7F135}"/>
              </a:ext>
            </a:extLst>
          </p:cNvPr>
          <p:cNvSpPr txBox="1">
            <a:spLocks/>
          </p:cNvSpPr>
          <p:nvPr/>
        </p:nvSpPr>
        <p:spPr>
          <a:xfrm>
            <a:off x="152400" y="151468"/>
            <a:ext cx="5928545" cy="458132"/>
          </a:xfrm>
          <a:prstGeom prst="rect">
            <a:avLst/>
          </a:prstGeom>
        </p:spPr>
        <p:txBody>
          <a:bodyPr vert="horz" lIns="68580" tIns="34290" rIns="68580" bIns="34290" rtlCol="0" anchor="ctr">
            <a:noAutofit/>
          </a:bodyPr>
          <a:lstStyle/>
          <a:p>
            <a:pPr algn="just" defTabSz="685800">
              <a:spcBef>
                <a:spcPct val="0"/>
              </a:spcBef>
              <a:defRPr/>
            </a:pPr>
            <a:r>
              <a:rPr lang="en-US" sz="4000" b="1" dirty="0">
                <a:solidFill>
                  <a:srgbClr val="FF0000"/>
                </a:solidFill>
                <a:latin typeface="Arial" pitchFamily="34" charset="0"/>
                <a:ea typeface="+mj-ea"/>
                <a:cs typeface="Arial" pitchFamily="34" charset="0"/>
              </a:rPr>
              <a:t>III. CƠ CHẾ BỆNH SINH</a:t>
            </a:r>
            <a:endParaRPr lang="vi-VN" sz="4000" b="1" dirty="0">
              <a:solidFill>
                <a:srgbClr val="FF0000"/>
              </a:solidFill>
              <a:latin typeface="Arial" pitchFamily="34" charset="0"/>
              <a:ea typeface="+mj-ea"/>
              <a:cs typeface="Arial" pitchFamily="34" charset="0"/>
            </a:endParaRPr>
          </a:p>
        </p:txBody>
      </p:sp>
      <p:sp>
        <p:nvSpPr>
          <p:cNvPr id="8" name="TextBox 7"/>
          <p:cNvSpPr txBox="1"/>
          <p:nvPr/>
        </p:nvSpPr>
        <p:spPr>
          <a:xfrm>
            <a:off x="1219200" y="762000"/>
            <a:ext cx="4095482"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Quá</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trình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xâm</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nhập</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9441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52400" y="1524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IV. </a:t>
            </a:r>
            <a:r>
              <a:rPr lang="en-US" sz="4000" b="1" dirty="0">
                <a:solidFill>
                  <a:srgbClr val="FF0000"/>
                </a:solidFill>
                <a:latin typeface="Arial" pitchFamily="34" charset="0"/>
                <a:ea typeface="+mj-ea"/>
                <a:cs typeface="Arial" pitchFamily="34" charset="0"/>
              </a:rPr>
              <a:t>GIẢI PHẪU </a:t>
            </a:r>
            <a:r>
              <a:rPr lang="en-US" sz="4000" b="1" dirty="0" smtClean="0">
                <a:solidFill>
                  <a:srgbClr val="FF0000"/>
                </a:solidFill>
                <a:latin typeface="Arial" pitchFamily="34" charset="0"/>
                <a:ea typeface="+mj-ea"/>
                <a:cs typeface="Arial" pitchFamily="34" charset="0"/>
              </a:rPr>
              <a:t>BỆNH </a:t>
            </a:r>
            <a:r>
              <a:rPr lang="en-US" sz="4000" b="1" dirty="0" err="1" smtClean="0">
                <a:solidFill>
                  <a:srgbClr val="FF0000"/>
                </a:solidFill>
                <a:latin typeface="Arial" pitchFamily="34" charset="0"/>
                <a:ea typeface="+mj-ea"/>
                <a:cs typeface="Arial" pitchFamily="34" charset="0"/>
              </a:rPr>
              <a:t>BỆNH</a:t>
            </a:r>
            <a:r>
              <a:rPr lang="en-US" sz="4000" b="1" dirty="0" smtClean="0">
                <a:solidFill>
                  <a:srgbClr val="FF0000"/>
                </a:solidFill>
                <a:latin typeface="Arial" pitchFamily="34" charset="0"/>
                <a:ea typeface="+mj-ea"/>
                <a:cs typeface="Arial" pitchFamily="34" charset="0"/>
              </a:rPr>
              <a:t> LÝ</a:t>
            </a:r>
            <a:endParaRPr lang="vi-VN" sz="4000" b="1" dirty="0">
              <a:solidFill>
                <a:srgbClr val="FF0000"/>
              </a:solidFill>
              <a:latin typeface="Arial" pitchFamily="34" charset="0"/>
              <a:ea typeface="+mj-ea"/>
              <a:cs typeface="Arial" pitchFamily="34" charset="0"/>
            </a:endParaRPr>
          </a:p>
        </p:txBody>
      </p:sp>
      <p:sp>
        <p:nvSpPr>
          <p:cNvPr id="6" name="TextBox 5"/>
          <p:cNvSpPr txBox="1"/>
          <p:nvPr/>
        </p:nvSpPr>
        <p:spPr>
          <a:xfrm>
            <a:off x="370670" y="1371600"/>
            <a:ext cx="8402660" cy="1107996"/>
          </a:xfrm>
          <a:prstGeom prst="rect">
            <a:avLst/>
          </a:prstGeom>
          <a:noFill/>
        </p:spPr>
        <p:txBody>
          <a:bodyPr wrap="square" rtlCol="0">
            <a:spAutoFit/>
          </a:bodyPr>
          <a:lstStyle/>
          <a:p>
            <a:pPr marL="342900" indent="-342900" algn="just">
              <a:buFont typeface="Wingdings" panose="05000000000000000000" pitchFamily="2" charset="2"/>
              <a:buChar char="ü"/>
            </a:pPr>
            <a:r>
              <a:rPr lang="en-US" sz="2200" dirty="0" err="1" smtClean="0">
                <a:latin typeface="Arial (Body)"/>
              </a:rPr>
              <a:t>Tổn</a:t>
            </a:r>
            <a:r>
              <a:rPr lang="en-US" sz="2200" dirty="0" smtClean="0">
                <a:latin typeface="Arial (Body)"/>
              </a:rPr>
              <a:t> </a:t>
            </a:r>
            <a:r>
              <a:rPr lang="en-US" sz="2200" dirty="0" err="1">
                <a:latin typeface="Arial (Body)"/>
              </a:rPr>
              <a:t>thương</a:t>
            </a:r>
            <a:r>
              <a:rPr lang="en-US" sz="2200" dirty="0">
                <a:latin typeface="Arial (Body)"/>
              </a:rPr>
              <a:t> </a:t>
            </a:r>
            <a:r>
              <a:rPr lang="en-US" sz="2200" dirty="0" err="1">
                <a:latin typeface="Arial (Body)"/>
              </a:rPr>
              <a:t>chủ</a:t>
            </a:r>
            <a:r>
              <a:rPr lang="en-US" sz="2200" dirty="0">
                <a:latin typeface="Arial (Body)"/>
              </a:rPr>
              <a:t> </a:t>
            </a:r>
            <a:r>
              <a:rPr lang="en-US" sz="2200" dirty="0" err="1">
                <a:latin typeface="Arial (Body)"/>
              </a:rPr>
              <a:t>yếu</a:t>
            </a:r>
            <a:r>
              <a:rPr lang="en-US" sz="2200" dirty="0">
                <a:latin typeface="Arial (Body)"/>
              </a:rPr>
              <a:t> </a:t>
            </a:r>
            <a:r>
              <a:rPr lang="en-US" sz="2200" dirty="0" err="1">
                <a:latin typeface="Arial (Body)"/>
              </a:rPr>
              <a:t>là</a:t>
            </a:r>
            <a:r>
              <a:rPr lang="en-US" sz="2200" dirty="0">
                <a:latin typeface="Arial (Body)"/>
              </a:rPr>
              <a:t> ở </a:t>
            </a:r>
            <a:r>
              <a:rPr lang="en-US" sz="2200" dirty="0" err="1">
                <a:latin typeface="Arial (Body)"/>
              </a:rPr>
              <a:t>đại</a:t>
            </a:r>
            <a:r>
              <a:rPr lang="en-US" sz="2200" dirty="0">
                <a:latin typeface="Arial (Body)"/>
              </a:rPr>
              <a:t> </a:t>
            </a:r>
            <a:r>
              <a:rPr lang="en-US" sz="2200" dirty="0" err="1">
                <a:latin typeface="Arial (Body)"/>
              </a:rPr>
              <a:t>tràng</a:t>
            </a:r>
            <a:r>
              <a:rPr lang="en-US" sz="2200" dirty="0">
                <a:latin typeface="Arial (Body)"/>
              </a:rPr>
              <a:t>, </a:t>
            </a:r>
            <a:r>
              <a:rPr lang="en-US" sz="2200" dirty="0" err="1">
                <a:latin typeface="Arial (Body)"/>
              </a:rPr>
              <a:t>nhất</a:t>
            </a:r>
            <a:r>
              <a:rPr lang="en-US" sz="2200" dirty="0">
                <a:latin typeface="Arial (Body)"/>
              </a:rPr>
              <a:t> </a:t>
            </a:r>
            <a:r>
              <a:rPr lang="en-US" sz="2200" dirty="0" err="1">
                <a:latin typeface="Arial (Body)"/>
              </a:rPr>
              <a:t>là</a:t>
            </a:r>
            <a:r>
              <a:rPr lang="en-US" sz="2200" dirty="0">
                <a:latin typeface="Arial (Body)"/>
              </a:rPr>
              <a:t> </a:t>
            </a:r>
            <a:r>
              <a:rPr lang="en-US" sz="2200" dirty="0" err="1">
                <a:latin typeface="Arial (Body)"/>
              </a:rPr>
              <a:t>đại</a:t>
            </a:r>
            <a:r>
              <a:rPr lang="en-US" sz="2200" dirty="0">
                <a:latin typeface="Arial (Body)"/>
              </a:rPr>
              <a:t> </a:t>
            </a:r>
            <a:r>
              <a:rPr lang="en-US" sz="2200" dirty="0" err="1">
                <a:latin typeface="Arial (Body)"/>
              </a:rPr>
              <a:t>tràng</a:t>
            </a:r>
            <a:r>
              <a:rPr lang="en-US" sz="2200" dirty="0">
                <a:latin typeface="Arial (Body)"/>
              </a:rPr>
              <a:t> </a:t>
            </a:r>
            <a:r>
              <a:rPr lang="en-US" sz="2200" dirty="0" err="1">
                <a:latin typeface="Arial (Body)"/>
              </a:rPr>
              <a:t>xuống</a:t>
            </a:r>
            <a:r>
              <a:rPr lang="en-US" sz="2200" dirty="0">
                <a:latin typeface="Arial (Body)"/>
              </a:rPr>
              <a:t>, </a:t>
            </a:r>
            <a:r>
              <a:rPr lang="en-US" sz="2200" dirty="0" err="1">
                <a:latin typeface="Arial (Body)"/>
              </a:rPr>
              <a:t>đại</a:t>
            </a:r>
            <a:r>
              <a:rPr lang="en-US" sz="2200" dirty="0">
                <a:latin typeface="Arial (Body)"/>
              </a:rPr>
              <a:t> </a:t>
            </a:r>
            <a:r>
              <a:rPr lang="en-US" sz="2200" dirty="0" err="1">
                <a:latin typeface="Arial (Body)"/>
              </a:rPr>
              <a:t>tràng</a:t>
            </a:r>
            <a:r>
              <a:rPr lang="en-US" sz="2200" dirty="0">
                <a:latin typeface="Arial (Body)"/>
              </a:rPr>
              <a:t> </a:t>
            </a:r>
            <a:r>
              <a:rPr lang="en-US" sz="2200" dirty="0" err="1">
                <a:latin typeface="Arial (Body)"/>
              </a:rPr>
              <a:t>xích</a:t>
            </a:r>
            <a:r>
              <a:rPr lang="en-US" sz="2200" dirty="0">
                <a:latin typeface="Arial (Body)"/>
              </a:rPr>
              <a:t> ma </a:t>
            </a:r>
            <a:r>
              <a:rPr lang="en-US" sz="2200" dirty="0" err="1">
                <a:latin typeface="Arial (Body)"/>
              </a:rPr>
              <a:t>và</a:t>
            </a:r>
            <a:r>
              <a:rPr lang="en-US" sz="2200" dirty="0">
                <a:latin typeface="Arial (Body)"/>
              </a:rPr>
              <a:t> </a:t>
            </a:r>
            <a:r>
              <a:rPr lang="en-US" sz="2200" dirty="0" err="1">
                <a:latin typeface="Arial (Body)"/>
              </a:rPr>
              <a:t>trực</a:t>
            </a:r>
            <a:r>
              <a:rPr lang="en-US" sz="2200" dirty="0">
                <a:latin typeface="Arial (Body)"/>
              </a:rPr>
              <a:t> </a:t>
            </a:r>
            <a:r>
              <a:rPr lang="en-US" sz="2200" dirty="0" err="1">
                <a:latin typeface="Arial (Body)"/>
              </a:rPr>
              <a:t>tràng</a:t>
            </a:r>
            <a:r>
              <a:rPr lang="en-US" sz="2200" dirty="0">
                <a:latin typeface="Arial (Body)"/>
              </a:rPr>
              <a:t>. </a:t>
            </a:r>
            <a:r>
              <a:rPr lang="en-US" sz="2200" dirty="0" err="1">
                <a:latin typeface="Arial (Body)"/>
              </a:rPr>
              <a:t>Một</a:t>
            </a:r>
            <a:r>
              <a:rPr lang="en-US" sz="2200" dirty="0">
                <a:latin typeface="Arial (Body)"/>
              </a:rPr>
              <a:t> </a:t>
            </a:r>
            <a:r>
              <a:rPr lang="en-US" sz="2200" dirty="0" err="1">
                <a:latin typeface="Arial (Body)"/>
              </a:rPr>
              <a:t>số</a:t>
            </a:r>
            <a:r>
              <a:rPr lang="en-US" sz="2200" dirty="0">
                <a:latin typeface="Arial (Body)"/>
              </a:rPr>
              <a:t> </a:t>
            </a:r>
            <a:r>
              <a:rPr lang="en-US" sz="2200" dirty="0" err="1">
                <a:latin typeface="Arial (Body)"/>
              </a:rPr>
              <a:t>ít</a:t>
            </a:r>
            <a:r>
              <a:rPr lang="en-US" sz="2200" dirty="0">
                <a:latin typeface="Arial (Body)"/>
              </a:rPr>
              <a:t> </a:t>
            </a:r>
            <a:r>
              <a:rPr lang="en-US" sz="2200" dirty="0" err="1">
                <a:latin typeface="Arial (Body)"/>
              </a:rPr>
              <a:t>trường</a:t>
            </a:r>
            <a:r>
              <a:rPr lang="en-US" sz="2200" dirty="0">
                <a:latin typeface="Arial (Body)"/>
              </a:rPr>
              <a:t> </a:t>
            </a:r>
            <a:r>
              <a:rPr lang="en-US" sz="2200" dirty="0" err="1">
                <a:latin typeface="Arial (Body)"/>
              </a:rPr>
              <a:t>hợp</a:t>
            </a:r>
            <a:r>
              <a:rPr lang="en-US" sz="2200" dirty="0">
                <a:latin typeface="Arial (Body)"/>
              </a:rPr>
              <a:t> </a:t>
            </a:r>
            <a:r>
              <a:rPr lang="en-US" sz="2200" dirty="0" err="1">
                <a:latin typeface="Arial (Body)"/>
              </a:rPr>
              <a:t>có</a:t>
            </a:r>
            <a:r>
              <a:rPr lang="en-US" sz="2200" dirty="0">
                <a:latin typeface="Arial (Body)"/>
              </a:rPr>
              <a:t> </a:t>
            </a:r>
            <a:r>
              <a:rPr lang="en-US" sz="2200" dirty="0" err="1">
                <a:latin typeface="Arial (Body)"/>
              </a:rPr>
              <a:t>thể</a:t>
            </a:r>
            <a:r>
              <a:rPr lang="en-US" sz="2200" dirty="0">
                <a:latin typeface="Arial (Body)"/>
              </a:rPr>
              <a:t> </a:t>
            </a:r>
            <a:r>
              <a:rPr lang="en-US" sz="2200" dirty="0" err="1">
                <a:latin typeface="Arial (Body)"/>
              </a:rPr>
              <a:t>tổn</a:t>
            </a:r>
            <a:r>
              <a:rPr lang="en-US" sz="2200" dirty="0">
                <a:latin typeface="Arial (Body)"/>
              </a:rPr>
              <a:t> </a:t>
            </a:r>
            <a:r>
              <a:rPr lang="en-US" sz="2200" dirty="0" err="1">
                <a:latin typeface="Arial (Body)"/>
              </a:rPr>
              <a:t>thương</a:t>
            </a:r>
            <a:r>
              <a:rPr lang="en-US" sz="2200" dirty="0">
                <a:latin typeface="Arial (Body)"/>
              </a:rPr>
              <a:t> ở </a:t>
            </a:r>
            <a:r>
              <a:rPr lang="en-US" sz="2200" dirty="0" err="1">
                <a:latin typeface="Arial (Body)"/>
              </a:rPr>
              <a:t>ruột</a:t>
            </a:r>
            <a:r>
              <a:rPr lang="en-US" sz="2200" dirty="0">
                <a:latin typeface="Arial (Body)"/>
              </a:rPr>
              <a:t> non </a:t>
            </a:r>
            <a:r>
              <a:rPr lang="en-US" sz="2200" dirty="0" err="1">
                <a:latin typeface="Arial (Body)"/>
              </a:rPr>
              <a:t>và</a:t>
            </a:r>
            <a:r>
              <a:rPr lang="en-US" sz="2200" dirty="0">
                <a:latin typeface="Arial (Body)"/>
              </a:rPr>
              <a:t> </a:t>
            </a:r>
            <a:r>
              <a:rPr lang="en-US" sz="2200" dirty="0" err="1">
                <a:latin typeface="Arial (Body)"/>
              </a:rPr>
              <a:t>dạ</a:t>
            </a:r>
            <a:r>
              <a:rPr lang="en-US" sz="2200" dirty="0">
                <a:latin typeface="Arial (Body)"/>
              </a:rPr>
              <a:t> </a:t>
            </a:r>
            <a:r>
              <a:rPr lang="en-US" sz="2200" dirty="0" err="1">
                <a:latin typeface="Arial (Body)"/>
              </a:rPr>
              <a:t>dày</a:t>
            </a:r>
            <a:r>
              <a:rPr lang="en-US" sz="2200" dirty="0">
                <a:latin typeface="Arial (Body)"/>
              </a:rPr>
              <a:t>. </a:t>
            </a:r>
          </a:p>
        </p:txBody>
      </p:sp>
      <p:sp>
        <p:nvSpPr>
          <p:cNvPr id="7" name="TextBox 6"/>
          <p:cNvSpPr txBox="1"/>
          <p:nvPr/>
        </p:nvSpPr>
        <p:spPr>
          <a:xfrm>
            <a:off x="351336" y="2667000"/>
            <a:ext cx="8636758" cy="3785652"/>
          </a:xfrm>
          <a:prstGeom prst="rect">
            <a:avLst/>
          </a:prstGeom>
          <a:noFill/>
        </p:spPr>
        <p:txBody>
          <a:bodyPr wrap="square" rtlCol="0">
            <a:spAutoFit/>
          </a:bodyPr>
          <a:lstStyle/>
          <a:p>
            <a:pPr marL="285750" indent="-285750" algn="just">
              <a:buFont typeface="Wingdings" panose="05000000000000000000" pitchFamily="2" charset="2"/>
              <a:buChar char="v"/>
            </a:pPr>
            <a:r>
              <a:rPr lang="en-US" sz="2000" dirty="0" err="1" smtClean="0">
                <a:latin typeface="Arial" panose="020B0604020202020204" pitchFamily="34" charset="0"/>
                <a:cs typeface="Arial" panose="020B0604020202020204" pitchFamily="34" charset="0"/>
              </a:rPr>
              <a:t>Đại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Niêm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mạc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bị</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hoại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tử</a:t>
            </a:r>
            <a:r>
              <a:rPr lang="en-US" sz="2000" dirty="0" smtClean="0">
                <a:latin typeface="Arial" panose="020B0604020202020204" pitchFamily="34" charset="0"/>
                <a:cs typeface="Arial" panose="020B0604020202020204" pitchFamily="34" charset="0"/>
              </a:rPr>
              <a:t> bong </a:t>
            </a:r>
            <a:r>
              <a:rPr lang="en-US" sz="2000" dirty="0" err="1" smtClean="0">
                <a:latin typeface="Arial" panose="020B0604020202020204" pitchFamily="34" charset="0"/>
                <a:cs typeface="Arial" panose="020B0604020202020204" pitchFamily="34" charset="0"/>
              </a:rPr>
              <a:t>từng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mảng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và</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lại</a:t>
            </a:r>
            <a:r>
              <a:rPr lang="en-US" sz="2000" dirty="0" smtClean="0">
                <a:latin typeface="Arial" panose="020B0604020202020204" pitchFamily="34" charset="0"/>
                <a:cs typeface="Arial" panose="020B0604020202020204" pitchFamily="34" charset="0"/>
              </a:rPr>
              <a:t> ổ </a:t>
            </a:r>
            <a:r>
              <a:rPr lang="en-US" sz="2000" dirty="0" err="1" smtClean="0">
                <a:latin typeface="Arial" panose="020B0604020202020204" pitchFamily="34" charset="0"/>
                <a:cs typeface="Arial" panose="020B0604020202020204" pitchFamily="34" charset="0"/>
              </a:rPr>
              <a:t>loét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nông</a:t>
            </a:r>
            <a:r>
              <a:rPr lang="en-US" sz="2000" dirty="0" smtClean="0">
                <a:latin typeface="Arial" panose="020B0604020202020204" pitchFamily="34" charset="0"/>
                <a:cs typeface="Arial" panose="020B0604020202020204" pitchFamily="34" charset="0"/>
              </a:rPr>
              <a:t> ở </a:t>
            </a:r>
            <a:r>
              <a:rPr lang="en-US" sz="2000" dirty="0" err="1" smtClean="0">
                <a:latin typeface="Arial" panose="020B0604020202020204" pitchFamily="34" charset="0"/>
                <a:cs typeface="Arial" panose="020B0604020202020204" pitchFamily="34" charset="0"/>
              </a:rPr>
              <a:t>lớp</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niêm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mạc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Mặt</a:t>
            </a:r>
            <a:r>
              <a:rPr lang="en-US" sz="2000" dirty="0" smtClean="0">
                <a:latin typeface="Arial" panose="020B0604020202020204" pitchFamily="34" charset="0"/>
                <a:cs typeface="Arial" panose="020B0604020202020204" pitchFamily="34" charset="0"/>
              </a:rPr>
              <a:t> ổ </a:t>
            </a:r>
            <a:r>
              <a:rPr lang="en-US" sz="2000" dirty="0" err="1" smtClean="0">
                <a:latin typeface="Arial" panose="020B0604020202020204" pitchFamily="34" charset="0"/>
                <a:cs typeface="Arial" panose="020B0604020202020204" pitchFamily="34" charset="0"/>
              </a:rPr>
              <a:t>loét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được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phủ</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bởi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một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lớp</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dịch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rỉ</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viêm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nhiều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tơ</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huyết</a:t>
            </a:r>
            <a:r>
              <a:rPr lang="en-US" sz="2000" dirty="0" smtClean="0">
                <a:latin typeface="Arial" panose="020B0604020202020204" pitchFamily="34" charset="0"/>
                <a:cs typeface="Arial" panose="020B0604020202020204" pitchFamily="34" charset="0"/>
              </a:rPr>
              <a:t>. Ổ </a:t>
            </a:r>
            <a:r>
              <a:rPr lang="en-US" sz="2000" dirty="0" err="1" smtClean="0">
                <a:latin typeface="Arial" panose="020B0604020202020204" pitchFamily="34" charset="0"/>
                <a:cs typeface="Arial" panose="020B0604020202020204" pitchFamily="34" charset="0"/>
              </a:rPr>
              <a:t>loét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nhỏ</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nhưng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nhiều</a:t>
            </a:r>
            <a:r>
              <a:rPr lang="en-US" sz="2000" dirty="0" smtClean="0">
                <a:latin typeface="Arial" panose="020B0604020202020204" pitchFamily="34" charset="0"/>
                <a:cs typeface="Arial" panose="020B0604020202020204" pitchFamily="34" charset="0"/>
              </a:rPr>
              <a:t> ổ </a:t>
            </a:r>
            <a:r>
              <a:rPr lang="en-US" sz="2000" dirty="0" err="1" smtClean="0">
                <a:latin typeface="Arial" panose="020B0604020202020204" pitchFamily="34" charset="0"/>
                <a:cs typeface="Arial" panose="020B0604020202020204" pitchFamily="34" charset="0"/>
              </a:rPr>
              <a:t>loét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liền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bờ</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với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nhau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tạo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thành</a:t>
            </a:r>
            <a:r>
              <a:rPr lang="en-US" sz="2000" dirty="0" smtClean="0">
                <a:latin typeface="Arial" panose="020B0604020202020204" pitchFamily="34" charset="0"/>
                <a:cs typeface="Arial" panose="020B0604020202020204" pitchFamily="34" charset="0"/>
              </a:rPr>
              <a:t> ổ </a:t>
            </a:r>
            <a:r>
              <a:rPr lang="en-US" sz="2000" dirty="0" err="1" smtClean="0">
                <a:latin typeface="Arial" panose="020B0604020202020204" pitchFamily="34" charset="0"/>
                <a:cs typeface="Arial" panose="020B0604020202020204" pitchFamily="34" charset="0"/>
              </a:rPr>
              <a:t>loét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lớn</a:t>
            </a:r>
            <a:r>
              <a:rPr lang="en-US" sz="2000" dirty="0" smtClean="0">
                <a:latin typeface="Arial" panose="020B0604020202020204" pitchFamily="34" charset="0"/>
                <a:cs typeface="Arial" panose="020B0604020202020204" pitchFamily="34" charset="0"/>
              </a:rPr>
              <a:t>. </a:t>
            </a:r>
          </a:p>
          <a:p>
            <a:pPr marL="285750" indent="-285750" algn="just">
              <a:buFont typeface="Wingdings" panose="05000000000000000000" pitchFamily="2" charset="2"/>
              <a:buChar char="v"/>
            </a:pPr>
            <a:r>
              <a:rPr lang="en-US" sz="2000" dirty="0" smtClean="0">
                <a:latin typeface="Arial" panose="020B0604020202020204" pitchFamily="34" charset="0"/>
                <a:cs typeface="Arial" panose="020B0604020202020204" pitchFamily="34" charset="0"/>
              </a:rPr>
              <a:t>Vi </a:t>
            </a:r>
            <a:r>
              <a:rPr lang="en-US" sz="2000" dirty="0" err="1" smtClean="0">
                <a:latin typeface="Arial" panose="020B0604020202020204" pitchFamily="34" charset="0"/>
                <a:cs typeface="Arial" panose="020B0604020202020204" pitchFamily="34" charset="0"/>
              </a:rPr>
              <a:t>thể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Niêm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mạc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ruột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phù</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nề</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tăng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tiết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nhầy</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và</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nhiều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mạch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máu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xung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huyết</a:t>
            </a:r>
            <a:r>
              <a:rPr lang="en-US" sz="2000" dirty="0" smtClean="0">
                <a:latin typeface="Arial" panose="020B0604020202020204" pitchFamily="34" charset="0"/>
                <a:cs typeface="Arial" panose="020B0604020202020204" pitchFamily="34" charset="0"/>
              </a:rPr>
              <a:t>.</a:t>
            </a:r>
          </a:p>
          <a:p>
            <a:pPr algn="just"/>
            <a:r>
              <a:rPr lang="en-US" sz="2000" dirty="0" err="1" smtClean="0">
                <a:latin typeface="Arial" panose="020B0604020202020204" pitchFamily="34" charset="0"/>
                <a:cs typeface="Arial" panose="020B0604020202020204" pitchFamily="34" charset="0"/>
              </a:rPr>
              <a:t>Sau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lớp</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niêm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mạc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bị</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hoại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tử</a:t>
            </a:r>
            <a:r>
              <a:rPr lang="en-US" sz="2000" dirty="0" smtClean="0">
                <a:latin typeface="Arial" panose="020B0604020202020204" pitchFamily="34" charset="0"/>
                <a:cs typeface="Arial" panose="020B0604020202020204" pitchFamily="34" charset="0"/>
              </a:rPr>
              <a:t> bong </a:t>
            </a:r>
            <a:r>
              <a:rPr lang="en-US" sz="2000" dirty="0" err="1" smtClean="0">
                <a:latin typeface="Arial" panose="020B0604020202020204" pitchFamily="34" charset="0"/>
                <a:cs typeface="Arial" panose="020B0604020202020204" pitchFamily="34" charset="0"/>
              </a:rPr>
              <a:t>đi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và</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lại</a:t>
            </a:r>
            <a:r>
              <a:rPr lang="en-US" sz="2000" dirty="0" smtClean="0">
                <a:latin typeface="Arial" panose="020B0604020202020204" pitchFamily="34" charset="0"/>
                <a:cs typeface="Arial" panose="020B0604020202020204" pitchFamily="34" charset="0"/>
              </a:rPr>
              <a:t> ổ </a:t>
            </a:r>
            <a:r>
              <a:rPr lang="en-US" sz="2000" dirty="0" err="1" smtClean="0">
                <a:latin typeface="Arial" panose="020B0604020202020204" pitchFamily="34" charset="0"/>
                <a:cs typeface="Arial" panose="020B0604020202020204" pitchFamily="34" charset="0"/>
              </a:rPr>
              <a:t>loét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Đáy</a:t>
            </a:r>
            <a:r>
              <a:rPr lang="en-US" sz="2000" dirty="0" smtClean="0">
                <a:latin typeface="Arial" panose="020B0604020202020204" pitchFamily="34" charset="0"/>
                <a:cs typeface="Arial" panose="020B0604020202020204" pitchFamily="34" charset="0"/>
              </a:rPr>
              <a:t> ổ </a:t>
            </a:r>
            <a:r>
              <a:rPr lang="en-US" sz="2000" dirty="0" err="1" smtClean="0">
                <a:latin typeface="Arial" panose="020B0604020202020204" pitchFamily="34" charset="0"/>
                <a:cs typeface="Arial" panose="020B0604020202020204" pitchFamily="34" charset="0"/>
              </a:rPr>
              <a:t>loét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thấy</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nhiều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trực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khuẩn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lỵ</a:t>
            </a:r>
            <a:r>
              <a:rPr lang="en-US" sz="2000" dirty="0" smtClean="0">
                <a:latin typeface="Arial" panose="020B0604020202020204" pitchFamily="34" charset="0"/>
                <a:cs typeface="Arial" panose="020B0604020202020204" pitchFamily="34" charset="0"/>
              </a:rPr>
              <a:t>. </a:t>
            </a:r>
          </a:p>
          <a:p>
            <a:pPr algn="just"/>
            <a:r>
              <a:rPr lang="en-US" sz="2000" dirty="0" err="1" smtClean="0">
                <a:latin typeface="Arial" panose="020B0604020202020204" pitchFamily="34" charset="0"/>
                <a:cs typeface="Arial" panose="020B0604020202020204" pitchFamily="34" charset="0"/>
              </a:rPr>
              <a:t>Nhiều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bạch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cầu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đa</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nhân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xâm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nhập</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và</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thành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ruột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quanh</a:t>
            </a:r>
            <a:r>
              <a:rPr lang="en-US" sz="2000" dirty="0" smtClean="0">
                <a:latin typeface="Arial" panose="020B0604020202020204" pitchFamily="34" charset="0"/>
                <a:cs typeface="Arial" panose="020B0604020202020204" pitchFamily="34" charset="0"/>
              </a:rPr>
              <a:t> ổ </a:t>
            </a:r>
            <a:r>
              <a:rPr lang="en-US" sz="2000" dirty="0" err="1" smtClean="0">
                <a:latin typeface="Arial" panose="020B0604020202020204" pitchFamily="34" charset="0"/>
                <a:cs typeface="Arial" panose="020B0604020202020204" pitchFamily="34" charset="0"/>
              </a:rPr>
              <a:t>loét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Lớp</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hạ</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niêm</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mạc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phù</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dày</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lên</a:t>
            </a:r>
            <a:r>
              <a:rPr lang="en-US" sz="2000" dirty="0" smtClean="0">
                <a:latin typeface="Arial" panose="020B0604020202020204" pitchFamily="34" charset="0"/>
                <a:cs typeface="Arial" panose="020B0604020202020204" pitchFamily="34" charset="0"/>
              </a:rPr>
              <a:t>. </a:t>
            </a:r>
          </a:p>
          <a:p>
            <a:pPr algn="just"/>
            <a:r>
              <a:rPr lang="en-US" sz="2000" dirty="0" smtClean="0">
                <a:latin typeface="Arial" panose="020B0604020202020204" pitchFamily="34" charset="0"/>
                <a:cs typeface="Arial" panose="020B0604020202020204" pitchFamily="34" charset="0"/>
              </a:rPr>
              <a:t>Ở </a:t>
            </a:r>
            <a:r>
              <a:rPr lang="en-US" sz="2000" dirty="0" err="1" smtClean="0">
                <a:latin typeface="Arial" panose="020B0604020202020204" pitchFamily="34" charset="0"/>
                <a:cs typeface="Arial" panose="020B0604020202020204" pitchFamily="34" charset="0"/>
              </a:rPr>
              <a:t>giai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đoạn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phục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hồi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sự</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phátt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riển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của</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tổ</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chức</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hạt</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thành</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sẹo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sự</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tái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tạo</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của</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biểu</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mô</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nhưng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không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có</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tuyến</a:t>
            </a:r>
            <a:r>
              <a:rPr lang="en-US" sz="2000" dirty="0" smtClean="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43050181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a16="http://schemas.microsoft.com/office/drawing/2014/main" xmlns="" id="{C98A5779-0D20-F746-86A7-119A3BB7F135}"/>
              </a:ext>
            </a:extLst>
          </p:cNvPr>
          <p:cNvSpPr txBox="1">
            <a:spLocks/>
          </p:cNvSpPr>
          <p:nvPr/>
        </p:nvSpPr>
        <p:spPr>
          <a:xfrm>
            <a:off x="191914" y="151468"/>
            <a:ext cx="5928545"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 </a:t>
            </a:r>
            <a:r>
              <a:rPr lang="vi-VN" sz="4000" b="1" dirty="0" smtClean="0">
                <a:solidFill>
                  <a:srgbClr val="FF0000"/>
                </a:solidFill>
                <a:latin typeface="Arial" pitchFamily="34" charset="0"/>
                <a:ea typeface="+mj-ea"/>
                <a:cs typeface="Arial" pitchFamily="34" charset="0"/>
              </a:rPr>
              <a:t>LÂM SÀNG</a:t>
            </a:r>
            <a:endParaRPr lang="vi-VN" sz="4000" b="1" dirty="0">
              <a:solidFill>
                <a:srgbClr val="FF0000"/>
              </a:solidFill>
              <a:latin typeface="Arial" pitchFamily="34" charset="0"/>
              <a:ea typeface="+mj-ea"/>
              <a:cs typeface="Arial" pitchFamily="34" charset="0"/>
            </a:endParaRPr>
          </a:p>
        </p:txBody>
      </p:sp>
      <p:sp>
        <p:nvSpPr>
          <p:cNvPr id="5" name="Subtitle 2"/>
          <p:cNvSpPr txBox="1">
            <a:spLocks/>
          </p:cNvSpPr>
          <p:nvPr/>
        </p:nvSpPr>
        <p:spPr>
          <a:xfrm>
            <a:off x="616530" y="1524000"/>
            <a:ext cx="5327070" cy="518160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v"/>
            </a:pPr>
            <a:r>
              <a:rPr lang="en-US" sz="2000" dirty="0" smtClean="0">
                <a:latin typeface="Arial" pitchFamily="34" charset="0"/>
                <a:cs typeface="Arial" pitchFamily="34" charset="0"/>
              </a:rPr>
              <a:t>2 </a:t>
            </a:r>
            <a:r>
              <a:rPr lang="en-US" sz="2000" dirty="0" err="1" smtClean="0">
                <a:latin typeface="Arial" pitchFamily="34" charset="0"/>
                <a:cs typeface="Arial" pitchFamily="34" charset="0"/>
              </a:rPr>
              <a:t>thể</a:t>
            </a:r>
            <a:r>
              <a:rPr lang="en-US" sz="2000" dirty="0" smtClean="0">
                <a:latin typeface="Arial" pitchFamily="34" charset="0"/>
                <a:cs typeface="Arial" pitchFamily="34" charset="0"/>
              </a:rPr>
              <a:t>: </a:t>
            </a:r>
            <a:endParaRPr lang="vi-VN" sz="2000" dirty="0" smtClean="0">
              <a:latin typeface="Arial" pitchFamily="34" charset="0"/>
              <a:cs typeface="Arial" pitchFamily="34" charset="0"/>
            </a:endParaRPr>
          </a:p>
          <a:p>
            <a:pPr algn="just"/>
            <a:r>
              <a:rPr lang="vi-VN" sz="2000" dirty="0" smtClean="0">
                <a:latin typeface="Arial" pitchFamily="34" charset="0"/>
                <a:cs typeface="Arial" pitchFamily="34" charset="0"/>
              </a:rPr>
              <a:t>+ T</a:t>
            </a:r>
            <a:r>
              <a:rPr lang="en-US" sz="2000" dirty="0" err="1" smtClean="0">
                <a:latin typeface="Arial" pitchFamily="34" charset="0"/>
                <a:cs typeface="Arial" pitchFamily="34" charset="0"/>
              </a:rPr>
              <a:t>hể</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điển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hình</a:t>
            </a:r>
            <a:r>
              <a:rPr lang="en-US" sz="2000" dirty="0" smtClean="0">
                <a:latin typeface="Arial" pitchFamily="34" charset="0"/>
                <a:cs typeface="Arial" pitchFamily="34" charset="0"/>
              </a:rPr>
              <a:t> </a:t>
            </a:r>
            <a:endParaRPr lang="vi-VN" sz="2000" dirty="0" smtClean="0">
              <a:latin typeface="Arial" pitchFamily="34" charset="0"/>
              <a:cs typeface="Arial" pitchFamily="34" charset="0"/>
            </a:endParaRPr>
          </a:p>
          <a:p>
            <a:pPr algn="just"/>
            <a:r>
              <a:rPr lang="vi-VN" sz="2000" dirty="0" smtClean="0">
                <a:latin typeface="Arial" pitchFamily="34" charset="0"/>
                <a:cs typeface="Arial" pitchFamily="34" charset="0"/>
              </a:rPr>
              <a:t>+ T</a:t>
            </a:r>
            <a:r>
              <a:rPr lang="en-US" sz="2000" dirty="0" err="1" smtClean="0">
                <a:latin typeface="Arial" pitchFamily="34" charset="0"/>
                <a:cs typeface="Arial" pitchFamily="34" charset="0"/>
              </a:rPr>
              <a:t>hể</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không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điển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hình</a:t>
            </a:r>
            <a:r>
              <a:rPr lang="en-US" sz="2000" dirty="0" smtClean="0">
                <a:latin typeface="Arial" pitchFamily="34" charset="0"/>
                <a:cs typeface="Arial" pitchFamily="34" charset="0"/>
              </a:rPr>
              <a:t>. </a:t>
            </a:r>
            <a:endParaRPr lang="vi-VN" sz="2000" dirty="0" smtClean="0">
              <a:latin typeface="Arial" pitchFamily="34" charset="0"/>
              <a:cs typeface="Arial" pitchFamily="34" charset="0"/>
            </a:endParaRPr>
          </a:p>
          <a:p>
            <a:pPr marL="257175" indent="-257175" algn="just">
              <a:buFont typeface="Wingdings" pitchFamily="2" charset="2"/>
              <a:buChar char="v"/>
            </a:pPr>
            <a:r>
              <a:rPr lang="vi-VN" sz="2000" dirty="0" smtClean="0">
                <a:latin typeface="Arial" pitchFamily="34" charset="0"/>
                <a:cs typeface="Arial" pitchFamily="34" charset="0"/>
              </a:rPr>
              <a:t>Ủ</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bệnh</a:t>
            </a:r>
            <a:r>
              <a:rPr lang="vi-VN" sz="2000" dirty="0" smtClean="0">
                <a:latin typeface="Arial" pitchFamily="34" charset="0"/>
                <a:cs typeface="Arial" pitchFamily="34" charset="0"/>
              </a:rPr>
              <a:t>:</a:t>
            </a:r>
            <a:endParaRPr lang="en-US" sz="2000" dirty="0" smtClean="0">
              <a:latin typeface="Arial" pitchFamily="34" charset="0"/>
              <a:cs typeface="Arial" pitchFamily="34" charset="0"/>
            </a:endParaRPr>
          </a:p>
          <a:p>
            <a:pPr algn="just"/>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Tương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đối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ngắn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từ</a:t>
            </a:r>
            <a:r>
              <a:rPr lang="en-US" sz="2000" dirty="0" smtClean="0">
                <a:latin typeface="Arial" pitchFamily="34" charset="0"/>
                <a:cs typeface="Arial" pitchFamily="34" charset="0"/>
              </a:rPr>
              <a:t> 12 </a:t>
            </a:r>
            <a:r>
              <a:rPr lang="en-US" sz="2000" dirty="0" err="1" smtClean="0">
                <a:latin typeface="Arial" pitchFamily="34" charset="0"/>
                <a:cs typeface="Arial" pitchFamily="34" charset="0"/>
              </a:rPr>
              <a:t>giờ</a:t>
            </a:r>
            <a:r>
              <a:rPr lang="en-US" sz="2000" dirty="0" smtClean="0">
                <a:latin typeface="Arial" pitchFamily="34" charset="0"/>
                <a:cs typeface="Arial" pitchFamily="34" charset="0"/>
              </a:rPr>
              <a:t> - 7 </a:t>
            </a:r>
            <a:r>
              <a:rPr lang="en-US" sz="2000" dirty="0" err="1" smtClean="0">
                <a:latin typeface="Arial" pitchFamily="34" charset="0"/>
                <a:cs typeface="Arial" pitchFamily="34" charset="0"/>
              </a:rPr>
              <a:t>ngày</a:t>
            </a:r>
            <a:r>
              <a:rPr lang="en-US" sz="2000" dirty="0" smtClean="0">
                <a:latin typeface="Arial" pitchFamily="34" charset="0"/>
                <a:cs typeface="Arial" pitchFamily="34" charset="0"/>
              </a:rPr>
              <a:t>,</a:t>
            </a:r>
            <a:r>
              <a:rPr lang="vi-VN" sz="2000" dirty="0" smtClean="0">
                <a:latin typeface="Arial" pitchFamily="34" charset="0"/>
                <a:cs typeface="Arial" pitchFamily="34" charset="0"/>
              </a:rPr>
              <a:t> thường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khoảng</a:t>
            </a:r>
            <a:r>
              <a:rPr lang="en-US" sz="2000" dirty="0" smtClean="0">
                <a:latin typeface="Arial" pitchFamily="34" charset="0"/>
                <a:cs typeface="Arial" pitchFamily="34" charset="0"/>
              </a:rPr>
              <a:t> 2-4 </a:t>
            </a:r>
            <a:r>
              <a:rPr lang="en-US" sz="2000" dirty="0" err="1" smtClean="0">
                <a:latin typeface="Arial" pitchFamily="34" charset="0"/>
                <a:cs typeface="Arial" pitchFamily="34" charset="0"/>
              </a:rPr>
              <a:t>ngày</a:t>
            </a:r>
            <a:r>
              <a:rPr lang="en-US" sz="2000" dirty="0" smtClean="0">
                <a:latin typeface="Arial" pitchFamily="34" charset="0"/>
                <a:cs typeface="Arial" pitchFamily="34" charset="0"/>
              </a:rPr>
              <a:t>.</a:t>
            </a:r>
            <a:endParaRPr lang="vi-VN" sz="2000" dirty="0" smtClean="0">
              <a:latin typeface="Arial" pitchFamily="34" charset="0"/>
              <a:cs typeface="Arial" pitchFamily="34" charset="0"/>
            </a:endParaRPr>
          </a:p>
          <a:p>
            <a:pPr algn="just"/>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Thầm</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lặng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khó</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phát</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hiện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và</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chẩn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đoán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sớm</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được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Trẻ</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thường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có</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biểu</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hiện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chán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ăn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mệt</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mỏi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có</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thể</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đau</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bụng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nhẹ</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có</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thể</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xuất</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hiện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ỉa</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lỏng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trong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những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trường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hợp</a:t>
            </a:r>
            <a:r>
              <a:rPr lang="en-US" sz="2000" dirty="0" smtClean="0">
                <a:latin typeface="Arial" pitchFamily="34" charset="0"/>
                <a:cs typeface="Arial" pitchFamily="34" charset="0"/>
              </a:rPr>
              <a:t> vi </a:t>
            </a:r>
            <a:r>
              <a:rPr lang="en-US" sz="2000" dirty="0" err="1" smtClean="0">
                <a:latin typeface="Arial" pitchFamily="34" charset="0"/>
                <a:cs typeface="Arial" pitchFamily="34" charset="0"/>
              </a:rPr>
              <a:t>khuẩn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có</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độc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tố</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ruột</a:t>
            </a:r>
            <a:r>
              <a:rPr lang="en-US" sz="2000" dirty="0">
                <a:latin typeface="Arial" pitchFamily="34" charset="0"/>
                <a:cs typeface="Arial" pitchFamily="34" charset="0"/>
              </a:rPr>
              <a:t>.</a:t>
            </a:r>
            <a:endParaRPr lang="en-US" sz="2000" dirty="0" smtClean="0">
              <a:latin typeface="Arial" pitchFamily="34" charset="0"/>
              <a:cs typeface="Arial" pitchFamily="34" charset="0"/>
            </a:endParaRPr>
          </a:p>
          <a:p>
            <a:pPr marL="257175" indent="-257175" algn="just">
              <a:buFont typeface="Wingdings" pitchFamily="2" charset="2"/>
              <a:buChar char="v"/>
            </a:pPr>
            <a:r>
              <a:rPr lang="en-US" sz="2000" dirty="0" err="1" smtClean="0">
                <a:latin typeface="Arial" pitchFamily="34" charset="0"/>
                <a:cs typeface="Arial" pitchFamily="34" charset="0"/>
              </a:rPr>
              <a:t>Thời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kỳ</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khởi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phát</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và</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toàn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phát</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diễn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biến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bệnh</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có</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thể</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có</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các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biểu</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hiện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khác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nhau</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tùy</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theo</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thể</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điển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hình</a:t>
            </a:r>
            <a:r>
              <a:rPr lang="en-US" sz="2000" dirty="0" smtClean="0">
                <a:latin typeface="Arial" pitchFamily="34" charset="0"/>
                <a:cs typeface="Arial" pitchFamily="34" charset="0"/>
              </a:rPr>
              <a:t> hay </a:t>
            </a:r>
            <a:r>
              <a:rPr lang="en-US" sz="2000" dirty="0" err="1" smtClean="0">
                <a:latin typeface="Arial" pitchFamily="34" charset="0"/>
                <a:cs typeface="Arial" pitchFamily="34" charset="0"/>
              </a:rPr>
              <a:t>không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điển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hình</a:t>
            </a:r>
            <a:r>
              <a:rPr lang="en-US" sz="2000" dirty="0" smtClean="0">
                <a:latin typeface="Arial" pitchFamily="34" charset="0"/>
                <a:cs typeface="Arial" pitchFamily="34" charset="0"/>
              </a:rPr>
              <a:t>. </a:t>
            </a:r>
          </a:p>
          <a:p>
            <a:pPr marL="257175" indent="-257175" algn="just">
              <a:buFont typeface="Wingdings" pitchFamily="2" charset="2"/>
              <a:buChar char="v"/>
            </a:pPr>
            <a:endParaRPr lang="en-US" sz="2000" dirty="0" smtClean="0">
              <a:latin typeface="Arial" pitchFamily="34" charset="0"/>
              <a:cs typeface="Arial" pitchFamily="34"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3600" y="1371600"/>
            <a:ext cx="3041738" cy="5158854"/>
          </a:xfrm>
          <a:prstGeom prst="rect">
            <a:avLst/>
          </a:prstGeom>
        </p:spPr>
      </p:pic>
      <p:sp>
        <p:nvSpPr>
          <p:cNvPr id="7" name="TextBox 6"/>
          <p:cNvSpPr txBox="1"/>
          <p:nvPr/>
        </p:nvSpPr>
        <p:spPr>
          <a:xfrm>
            <a:off x="1146465" y="685800"/>
            <a:ext cx="4267200" cy="553998"/>
          </a:xfrm>
          <a:prstGeom prst="rect">
            <a:avLst/>
          </a:prstGeom>
          <a:noFill/>
        </p:spPr>
        <p:txBody>
          <a:bodyPr wrap="square" rtlCol="0">
            <a:spAutoFit/>
          </a:bodyPr>
          <a:lstStyle/>
          <a:p>
            <a:pPr algn="just"/>
            <a:r>
              <a:rPr lang="en-US" sz="3000" b="1" dirty="0">
                <a:latin typeface="Arial" pitchFamily="34" charset="0"/>
                <a:cs typeface="Arial" pitchFamily="34" charset="0"/>
              </a:rPr>
              <a:t>1. </a:t>
            </a:r>
            <a:r>
              <a:rPr lang="en-US" sz="3000" b="1" dirty="0" err="1">
                <a:latin typeface="Arial" pitchFamily="34" charset="0"/>
                <a:cs typeface="Arial" pitchFamily="34" charset="0"/>
              </a:rPr>
              <a:t>Diễn</a:t>
            </a:r>
            <a:r>
              <a:rPr lang="en-US" sz="3000" b="1" dirty="0">
                <a:latin typeface="Arial" pitchFamily="34" charset="0"/>
                <a:cs typeface="Arial" pitchFamily="34" charset="0"/>
              </a:rPr>
              <a:t> </a:t>
            </a:r>
            <a:r>
              <a:rPr lang="en-US" sz="3000" b="1" dirty="0" err="1">
                <a:latin typeface="Arial" pitchFamily="34" charset="0"/>
                <a:cs typeface="Arial" pitchFamily="34" charset="0"/>
              </a:rPr>
              <a:t>biến</a:t>
            </a:r>
            <a:r>
              <a:rPr lang="en-US" sz="3000" b="1" dirty="0">
                <a:latin typeface="Arial" pitchFamily="34" charset="0"/>
                <a:cs typeface="Arial" pitchFamily="34" charset="0"/>
              </a:rPr>
              <a:t> </a:t>
            </a:r>
            <a:r>
              <a:rPr lang="en-US" sz="3000" b="1" dirty="0" err="1">
                <a:latin typeface="Arial" pitchFamily="34" charset="0"/>
                <a:cs typeface="Arial" pitchFamily="34" charset="0"/>
              </a:rPr>
              <a:t>lâm</a:t>
            </a:r>
            <a:r>
              <a:rPr lang="en-US" sz="3000" b="1" dirty="0">
                <a:latin typeface="Arial" pitchFamily="34" charset="0"/>
                <a:cs typeface="Arial" pitchFamily="34" charset="0"/>
              </a:rPr>
              <a:t> </a:t>
            </a:r>
            <a:r>
              <a:rPr lang="en-US" sz="3000" b="1" dirty="0" err="1">
                <a:latin typeface="Arial" pitchFamily="34" charset="0"/>
                <a:cs typeface="Arial" pitchFamily="34" charset="0"/>
              </a:rPr>
              <a:t>sàng</a:t>
            </a:r>
            <a:endParaRPr lang="en-US" sz="3000" dirty="0"/>
          </a:p>
        </p:txBody>
      </p:sp>
    </p:spTree>
    <p:extLst>
      <p:ext uri="{BB962C8B-B14F-4D97-AF65-F5344CB8AC3E}">
        <p14:creationId xmlns:p14="http://schemas.microsoft.com/office/powerpoint/2010/main" val="1138255696"/>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500"/>
                                        <p:tgtEl>
                                          <p:spTgt spid="5">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fade">
                                      <p:cBhvr>
                                        <p:cTn id="29" dur="500"/>
                                        <p:tgtEl>
                                          <p:spTgt spid="5">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747774"/>
            <a:ext cx="2514600" cy="963689"/>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451772136"/>
              </p:ext>
            </p:extLst>
          </p:nvPr>
        </p:nvGraphicFramePr>
        <p:xfrm>
          <a:off x="116007" y="1778477"/>
          <a:ext cx="8891515" cy="5059680"/>
        </p:xfrm>
        <a:graphic>
          <a:graphicData uri="http://schemas.openxmlformats.org/drawingml/2006/table">
            <a:tbl>
              <a:tblPr firstRow="1" bandRow="1">
                <a:tableStyleId>{C4B1156A-380E-4F78-BDF5-A606A8083BF9}</a:tableStyleId>
              </a:tblPr>
              <a:tblGrid>
                <a:gridCol w="2931993"/>
                <a:gridCol w="5959522"/>
              </a:tblGrid>
              <a:tr h="36191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smtClean="0">
                          <a:latin typeface="Arial" panose="020B0604020202020204" pitchFamily="34" charset="0"/>
                          <a:cs typeface="Arial" panose="020B0604020202020204" pitchFamily="34" charset="0"/>
                        </a:rPr>
                        <a:t>Thể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không</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điển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hình</a:t>
                      </a:r>
                      <a:r>
                        <a:rPr lang="en-US" sz="2000" dirty="0" smtClean="0">
                          <a:latin typeface="Arial" panose="020B0604020202020204" pitchFamily="34" charset="0"/>
                          <a:cs typeface="Arial" panose="020B0604020202020204" pitchFamily="34" charset="0"/>
                        </a:rPr>
                        <a:t> </a:t>
                      </a:r>
                      <a:endParaRPr lang="vi-VN" sz="2000" dirty="0" smtClean="0">
                        <a:latin typeface="Arial" panose="020B0604020202020204" pitchFamily="34" charset="0"/>
                        <a:cs typeface="Arial" panose="020B0604020202020204" pitchFamily="34" charset="0"/>
                      </a:endParaRPr>
                    </a:p>
                  </a:txBody>
                  <a:tcPr marL="68580" marR="68580"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smtClean="0">
                          <a:latin typeface="Arial" panose="020B0604020202020204" pitchFamily="34" charset="0"/>
                          <a:cs typeface="Arial" panose="020B0604020202020204" pitchFamily="34" charset="0"/>
                        </a:rPr>
                        <a:t>Thể</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điển</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hình</a:t>
                      </a:r>
                      <a:endParaRPr lang="vi-VN" sz="2000" dirty="0" smtClean="0">
                        <a:latin typeface="Arial" panose="020B0604020202020204" pitchFamily="34" charset="0"/>
                        <a:cs typeface="Arial" panose="020B0604020202020204" pitchFamily="34" charset="0"/>
                      </a:endParaRPr>
                    </a:p>
                  </a:txBody>
                  <a:tcPr marL="68580" marR="68580" marT="34290" marB="34290" anchor="ctr"/>
                </a:tc>
              </a:tr>
              <a:tr h="4565207">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itchFamily="2" charset="2"/>
                        <a:buChar char="Ø"/>
                        <a:tabLst/>
                        <a:defRPr/>
                      </a:pPr>
                      <a:r>
                        <a:rPr lang="en-US" sz="2000" kern="1200" dirty="0" err="1" smtClean="0">
                          <a:effectLst/>
                          <a:latin typeface="Arial" panose="020B0604020202020204" pitchFamily="34" charset="0"/>
                          <a:cs typeface="Arial" panose="020B0604020202020204" pitchFamily="34" charset="0"/>
                        </a:rPr>
                        <a:t>Khởi</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phát</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với</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các</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dấu</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hiệu</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nhiễm</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trùng</a:t>
                      </a:r>
                      <a:r>
                        <a:rPr lang="en-US" sz="2000" kern="1200" dirty="0" smtClean="0">
                          <a:effectLst/>
                          <a:latin typeface="Arial" panose="020B0604020202020204" pitchFamily="34" charset="0"/>
                          <a:cs typeface="Arial" panose="020B0604020202020204" pitchFamily="34" charset="0"/>
                        </a:rPr>
                        <a:t> ở </a:t>
                      </a:r>
                      <a:r>
                        <a:rPr lang="en-US" sz="2000" kern="1200" dirty="0" err="1" smtClean="0">
                          <a:effectLst/>
                          <a:latin typeface="Arial" panose="020B0604020202020204" pitchFamily="34" charset="0"/>
                          <a:cs typeface="Arial" panose="020B0604020202020204" pitchFamily="34" charset="0"/>
                        </a:rPr>
                        <a:t>đường</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tiêu</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hóa</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như</a:t>
                      </a:r>
                      <a:endParaRPr lang="en-US" sz="2000" kern="1200" dirty="0" smtClean="0">
                        <a:effectLst/>
                        <a:latin typeface="Arial" panose="020B0604020202020204" pitchFamily="34" charset="0"/>
                        <a:cs typeface="Arial" panose="020B0604020202020204" pitchFamily="34" charset="0"/>
                      </a:endParaRPr>
                    </a:p>
                    <a:p>
                      <a:pPr marL="0" marR="0" indent="0" algn="just" defTabSz="914400" rtl="0" eaLnBrk="1" fontAlgn="auto" latinLnBrk="0" hangingPunct="1">
                        <a:lnSpc>
                          <a:spcPct val="100000"/>
                        </a:lnSpc>
                        <a:spcBef>
                          <a:spcPts val="0"/>
                        </a:spcBef>
                        <a:spcAft>
                          <a:spcPts val="0"/>
                        </a:spcAft>
                        <a:buClrTx/>
                        <a:buSzTx/>
                        <a:buFont typeface="Wingdings" pitchFamily="2" charset="2"/>
                        <a:buNone/>
                        <a:tabLst/>
                        <a:defRPr/>
                      </a:pPr>
                      <a:r>
                        <a:rPr lang="en-US" sz="2000" kern="1200" dirty="0" smtClean="0">
                          <a:effectLst/>
                          <a:latin typeface="Arial" panose="020B0604020202020204" pitchFamily="34" charset="0"/>
                          <a:cs typeface="Arial" panose="020B0604020202020204" pitchFamily="34" charset="0"/>
                        </a:rPr>
                        <a:t>+</a:t>
                      </a:r>
                      <a:r>
                        <a:rPr lang="en-US" sz="2000" kern="1200" baseline="0" dirty="0" smtClean="0">
                          <a:effectLst/>
                          <a:latin typeface="Arial" panose="020B0604020202020204" pitchFamily="34" charset="0"/>
                          <a:cs typeface="Arial" panose="020B0604020202020204" pitchFamily="34" charset="0"/>
                        </a:rPr>
                        <a:t> </a:t>
                      </a:r>
                      <a:r>
                        <a:rPr lang="en-US" sz="2000" kern="1200" baseline="0" dirty="0" err="1" smtClean="0">
                          <a:effectLst/>
                          <a:latin typeface="Arial" panose="020B0604020202020204" pitchFamily="34" charset="0"/>
                          <a:cs typeface="Arial" panose="020B0604020202020204" pitchFamily="34" charset="0"/>
                        </a:rPr>
                        <a:t>S</a:t>
                      </a:r>
                      <a:r>
                        <a:rPr lang="en-US" sz="2000" kern="1200" dirty="0" err="1" smtClean="0">
                          <a:effectLst/>
                          <a:latin typeface="Arial" panose="020B0604020202020204" pitchFamily="34" charset="0"/>
                          <a:cs typeface="Arial" panose="020B0604020202020204" pitchFamily="34" charset="0"/>
                        </a:rPr>
                        <a:t>ốt</a:t>
                      </a:r>
                      <a:r>
                        <a:rPr lang="en-US" sz="2000" kern="1200" baseline="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thường</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sốt</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nhẹ</a:t>
                      </a:r>
                      <a:r>
                        <a:rPr lang="en-US" sz="2000" kern="1200" dirty="0" smtClean="0">
                          <a:effectLst/>
                          <a:latin typeface="Arial" panose="020B0604020202020204" pitchFamily="34" charset="0"/>
                          <a:cs typeface="Arial" panose="020B0604020202020204" pitchFamily="34" charset="0"/>
                        </a:rPr>
                        <a:t>)</a:t>
                      </a:r>
                    </a:p>
                    <a:p>
                      <a:pPr marL="0" marR="0" indent="0" algn="just" defTabSz="914400" rtl="0" eaLnBrk="1" fontAlgn="auto" latinLnBrk="0" hangingPunct="1">
                        <a:lnSpc>
                          <a:spcPct val="100000"/>
                        </a:lnSpc>
                        <a:spcBef>
                          <a:spcPts val="0"/>
                        </a:spcBef>
                        <a:spcAft>
                          <a:spcPts val="0"/>
                        </a:spcAft>
                        <a:buClrTx/>
                        <a:buSzTx/>
                        <a:buFont typeface="Wingdings" pitchFamily="2" charset="2"/>
                        <a:buNone/>
                        <a:tabLst/>
                        <a:defRPr/>
                      </a:pP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Có</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thể</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đau</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bụng</a:t>
                      </a:r>
                      <a:endParaRPr lang="en-US" sz="2000" kern="1200" dirty="0" smtClean="0">
                        <a:effectLst/>
                        <a:latin typeface="Arial" panose="020B0604020202020204" pitchFamily="34" charset="0"/>
                        <a:cs typeface="Arial" panose="020B0604020202020204" pitchFamily="34" charset="0"/>
                      </a:endParaRPr>
                    </a:p>
                    <a:p>
                      <a:pPr marL="0" marR="0" indent="0" algn="just" defTabSz="914400" rtl="0" eaLnBrk="1" fontAlgn="auto" latinLnBrk="0" hangingPunct="1">
                        <a:lnSpc>
                          <a:spcPct val="100000"/>
                        </a:lnSpc>
                        <a:spcBef>
                          <a:spcPts val="0"/>
                        </a:spcBef>
                        <a:spcAft>
                          <a:spcPts val="0"/>
                        </a:spcAft>
                        <a:buClrTx/>
                        <a:buSzTx/>
                        <a:buFont typeface="Wingdings" pitchFamily="2" charset="2"/>
                        <a:buNone/>
                        <a:tabLst/>
                        <a:defRPr/>
                      </a:pPr>
                      <a:r>
                        <a:rPr lang="en-US" sz="2000" kern="1200" dirty="0" smtClean="0">
                          <a:effectLst/>
                          <a:latin typeface="Arial" panose="020B0604020202020204" pitchFamily="34" charset="0"/>
                          <a:cs typeface="Arial" panose="020B0604020202020204" pitchFamily="34" charset="0"/>
                        </a:rPr>
                        <a:t>+</a:t>
                      </a:r>
                      <a:r>
                        <a:rPr lang="en-US" sz="2000" kern="1200" baseline="0" dirty="0" smtClean="0">
                          <a:effectLst/>
                          <a:latin typeface="Arial" panose="020B0604020202020204" pitchFamily="34" charset="0"/>
                          <a:cs typeface="Arial" panose="020B0604020202020204" pitchFamily="34" charset="0"/>
                        </a:rPr>
                        <a:t> </a:t>
                      </a:r>
                      <a:r>
                        <a:rPr lang="en-US" sz="2000" kern="1200" baseline="0" dirty="0" err="1" smtClean="0">
                          <a:effectLst/>
                          <a:latin typeface="Arial" panose="020B0604020202020204" pitchFamily="34" charset="0"/>
                          <a:cs typeface="Arial" panose="020B0604020202020204" pitchFamily="34" charset="0"/>
                        </a:rPr>
                        <a:t>B</a:t>
                      </a:r>
                      <a:r>
                        <a:rPr lang="en-US" sz="2000" kern="1200" dirty="0" err="1" smtClean="0">
                          <a:effectLst/>
                          <a:latin typeface="Arial" panose="020B0604020202020204" pitchFamily="34" charset="0"/>
                          <a:cs typeface="Arial" panose="020B0604020202020204" pitchFamily="34" charset="0"/>
                        </a:rPr>
                        <a:t>uồn</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nôn</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hoặc</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nôn</a:t>
                      </a:r>
                      <a:r>
                        <a:rPr lang="en-US" sz="2000" kern="1200" dirty="0" smtClean="0">
                          <a:effectLst/>
                          <a:latin typeface="Arial" panose="020B0604020202020204" pitchFamily="34" charset="0"/>
                          <a:cs typeface="Arial" panose="020B0604020202020204" pitchFamily="34" charset="0"/>
                        </a:rPr>
                        <a:t>, </a:t>
                      </a:r>
                    </a:p>
                    <a:p>
                      <a:pPr marL="0" marR="0" indent="0" algn="just" defTabSz="914400" rtl="0" eaLnBrk="1" fontAlgn="auto" latinLnBrk="0" hangingPunct="1">
                        <a:lnSpc>
                          <a:spcPct val="100000"/>
                        </a:lnSpc>
                        <a:spcBef>
                          <a:spcPts val="0"/>
                        </a:spcBef>
                        <a:spcAft>
                          <a:spcPts val="0"/>
                        </a:spcAft>
                        <a:buClrTx/>
                        <a:buSzTx/>
                        <a:buFont typeface="Wingdings" pitchFamily="2" charset="2"/>
                        <a:buNone/>
                        <a:tabLst/>
                        <a:defRPr/>
                      </a:pP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Tiêu</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chảy</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phân</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lỏng</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toàn</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nước</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hoặc</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sệt</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có</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thể</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có</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nhày</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nhưng</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không</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có</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máu</a:t>
                      </a:r>
                      <a:r>
                        <a:rPr lang="en-US" sz="2000" kern="1200" dirty="0" smtClean="0">
                          <a:effectLst/>
                          <a:latin typeface="Arial" panose="020B0604020202020204" pitchFamily="34" charset="0"/>
                          <a:cs typeface="Arial" panose="020B0604020202020204" pitchFamily="34" charset="0"/>
                        </a:rPr>
                        <a:t>. </a:t>
                      </a:r>
                    </a:p>
                    <a:p>
                      <a:pPr marL="285750" marR="0" indent="-285750" algn="just" defTabSz="914400" rtl="0" eaLnBrk="1" fontAlgn="auto" latinLnBrk="0" hangingPunct="1">
                        <a:lnSpc>
                          <a:spcPct val="100000"/>
                        </a:lnSpc>
                        <a:spcBef>
                          <a:spcPts val="0"/>
                        </a:spcBef>
                        <a:spcAft>
                          <a:spcPts val="0"/>
                        </a:spcAft>
                        <a:buClrTx/>
                        <a:buSzTx/>
                        <a:buFont typeface="Wingdings" pitchFamily="2" charset="2"/>
                        <a:buChar char="Ø"/>
                        <a:tabLst/>
                        <a:defRPr/>
                      </a:pPr>
                      <a:r>
                        <a:rPr lang="en-US" sz="2000" kern="1200" dirty="0" err="1" smtClean="0">
                          <a:effectLst/>
                          <a:latin typeface="Arial" panose="020B0604020202020204" pitchFamily="34" charset="0"/>
                          <a:cs typeface="Arial" panose="020B0604020202020204" pitchFamily="34" charset="0"/>
                        </a:rPr>
                        <a:t>Thường</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sau</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thời</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gian</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tiêu</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chảy</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khoảng</a:t>
                      </a:r>
                      <a:r>
                        <a:rPr lang="en-US" sz="2000" kern="1200" dirty="0" smtClean="0">
                          <a:effectLst/>
                          <a:latin typeface="Arial" panose="020B0604020202020204" pitchFamily="34" charset="0"/>
                          <a:cs typeface="Arial" panose="020B0604020202020204" pitchFamily="34" charset="0"/>
                        </a:rPr>
                        <a:t> 3- 5 </a:t>
                      </a:r>
                      <a:r>
                        <a:rPr lang="en-US" sz="2000" kern="1200" dirty="0" err="1" smtClean="0">
                          <a:effectLst/>
                          <a:latin typeface="Arial" panose="020B0604020202020204" pitchFamily="34" charset="0"/>
                          <a:cs typeface="Arial" panose="020B0604020202020204" pitchFamily="34" charset="0"/>
                        </a:rPr>
                        <a:t>ngày</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bệnh</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sẽ</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đỡ</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và</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khỏi</a:t>
                      </a:r>
                      <a:r>
                        <a:rPr lang="en-US" sz="2000" kern="1200" dirty="0" smtClean="0">
                          <a:effectLst/>
                          <a:latin typeface="Arial" panose="020B0604020202020204" pitchFamily="34" charset="0"/>
                          <a:cs typeface="Arial" panose="020B0604020202020204" pitchFamily="34" charset="0"/>
                        </a:rPr>
                        <a:t> </a:t>
                      </a:r>
                      <a:r>
                        <a:rPr lang="en-US" sz="2000" kern="1200" dirty="0" err="1" smtClean="0">
                          <a:effectLst/>
                          <a:latin typeface="Arial" panose="020B0604020202020204" pitchFamily="34" charset="0"/>
                          <a:cs typeface="Arial" panose="020B0604020202020204" pitchFamily="34" charset="0"/>
                        </a:rPr>
                        <a:t>dần</a:t>
                      </a:r>
                      <a:r>
                        <a:rPr lang="en-US" sz="2000" kern="1200" dirty="0" smtClean="0">
                          <a:effectLst/>
                          <a:latin typeface="Arial" panose="020B0604020202020204" pitchFamily="34" charset="0"/>
                          <a:cs typeface="Arial" panose="020B0604020202020204" pitchFamily="34" charset="0"/>
                        </a:rPr>
                        <a:t>. </a:t>
                      </a:r>
                    </a:p>
                    <a:p>
                      <a:pPr algn="just"/>
                      <a:endParaRPr lang="en-US" sz="2000" dirty="0">
                        <a:latin typeface="Arial" pitchFamily="34" charset="0"/>
                        <a:cs typeface="Arial" pitchFamily="34" charset="0"/>
                      </a:endParaRPr>
                    </a:p>
                  </a:txBody>
                  <a:tcPr marL="68580" marR="68580" marT="34290" marB="34290"/>
                </a:tc>
                <a:tc>
                  <a:txBody>
                    <a:bodyPr/>
                    <a:lstStyle/>
                    <a:p>
                      <a:pPr marL="285750" indent="-285750" algn="just">
                        <a:buFont typeface="Wingdings" pitchFamily="2" charset="2"/>
                        <a:buChar char="Ø"/>
                      </a:pPr>
                      <a:r>
                        <a:rPr lang="en-US" sz="1800" kern="1200" dirty="0" err="1" smtClean="0">
                          <a:solidFill>
                            <a:schemeClr val="dk1"/>
                          </a:solidFill>
                          <a:effectLst/>
                          <a:latin typeface="Arial" panose="020B0604020202020204" pitchFamily="34" charset="0"/>
                          <a:ea typeface="+mn-ea"/>
                          <a:cs typeface="Arial" panose="020B0604020202020204" pitchFamily="34" charset="0"/>
                        </a:rPr>
                        <a:t>Bệnh</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phát</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đột</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ngột</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không</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có</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triệu</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chứng</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báo</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trước</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với</a:t>
                      </a:r>
                      <a:r>
                        <a:rPr lang="en-US" sz="1800" kern="1200" dirty="0" smtClean="0">
                          <a:solidFill>
                            <a:schemeClr val="dk1"/>
                          </a:solidFill>
                          <a:effectLst/>
                          <a:latin typeface="Arial" panose="020B0604020202020204" pitchFamily="34" charset="0"/>
                          <a:ea typeface="+mn-ea"/>
                          <a:cs typeface="Arial" panose="020B0604020202020204" pitchFamily="34" charset="0"/>
                        </a:rPr>
                        <a:t> 2 </a:t>
                      </a:r>
                      <a:r>
                        <a:rPr lang="en-US" sz="1800" kern="1200" dirty="0" err="1" smtClean="0">
                          <a:solidFill>
                            <a:schemeClr val="dk1"/>
                          </a:solidFill>
                          <a:effectLst/>
                          <a:latin typeface="Arial" panose="020B0604020202020204" pitchFamily="34" charset="0"/>
                          <a:ea typeface="+mn-ea"/>
                          <a:cs typeface="Arial" panose="020B0604020202020204" pitchFamily="34" charset="0"/>
                        </a:rPr>
                        <a:t>hội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chứng</a:t>
                      </a:r>
                      <a:r>
                        <a:rPr lang="en-US" sz="1800" kern="1200" dirty="0" smtClean="0">
                          <a:solidFill>
                            <a:schemeClr val="dk1"/>
                          </a:solidFill>
                          <a:effectLst/>
                          <a:latin typeface="Arial" panose="020B0604020202020204" pitchFamily="34" charset="0"/>
                          <a:ea typeface="+mn-ea"/>
                          <a:cs typeface="Arial" panose="020B0604020202020204" pitchFamily="34" charset="0"/>
                        </a:rPr>
                        <a:t>: </a:t>
                      </a:r>
                    </a:p>
                    <a:p>
                      <a:pPr algn="just"/>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Hội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chứng</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nhiễm</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khuẩn</a:t>
                      </a:r>
                      <a:r>
                        <a:rPr lang="en-US" sz="1800" kern="1200" dirty="0" smtClean="0">
                          <a:solidFill>
                            <a:schemeClr val="dk1"/>
                          </a:solidFill>
                          <a:effectLst/>
                          <a:latin typeface="Arial" panose="020B0604020202020204" pitchFamily="34" charset="0"/>
                          <a:ea typeface="+mn-ea"/>
                          <a:cs typeface="Arial" panose="020B0604020202020204" pitchFamily="34" charset="0"/>
                        </a:rPr>
                        <a:t>: (+). </a:t>
                      </a:r>
                      <a:r>
                        <a:rPr lang="en-US" sz="1800" kern="1200" dirty="0" err="1" smtClean="0">
                          <a:solidFill>
                            <a:schemeClr val="dk1"/>
                          </a:solidFill>
                          <a:effectLst/>
                          <a:latin typeface="Arial" panose="020B0604020202020204" pitchFamily="34" charset="0"/>
                          <a:ea typeface="+mn-ea"/>
                          <a:cs typeface="Arial" panose="020B0604020202020204" pitchFamily="34" charset="0"/>
                        </a:rPr>
                        <a:t>Ngắn</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từ</a:t>
                      </a:r>
                      <a:r>
                        <a:rPr lang="en-US" sz="1800" kern="1200" dirty="0" smtClean="0">
                          <a:solidFill>
                            <a:schemeClr val="dk1"/>
                          </a:solidFill>
                          <a:effectLst/>
                          <a:latin typeface="Arial" panose="020B0604020202020204" pitchFamily="34" charset="0"/>
                          <a:ea typeface="+mn-ea"/>
                          <a:cs typeface="Arial" panose="020B0604020202020204" pitchFamily="34" charset="0"/>
                        </a:rPr>
                        <a:t> 2 </a:t>
                      </a:r>
                      <a:r>
                        <a:rPr lang="en-US" sz="1800" kern="1200" dirty="0" err="1" smtClean="0">
                          <a:solidFill>
                            <a:schemeClr val="dk1"/>
                          </a:solidFill>
                          <a:effectLst/>
                          <a:latin typeface="Arial" panose="020B0604020202020204" pitchFamily="34" charset="0"/>
                          <a:ea typeface="+mn-ea"/>
                          <a:cs typeface="Arial" panose="020B0604020202020204" pitchFamily="34" charset="0"/>
                        </a:rPr>
                        <a:t>đến</a:t>
                      </a:r>
                      <a:r>
                        <a:rPr lang="en-US" sz="1800" kern="1200" dirty="0" smtClean="0">
                          <a:solidFill>
                            <a:schemeClr val="dk1"/>
                          </a:solidFill>
                          <a:effectLst/>
                          <a:latin typeface="Arial" panose="020B0604020202020204" pitchFamily="34" charset="0"/>
                          <a:ea typeface="+mn-ea"/>
                          <a:cs typeface="Arial" panose="020B0604020202020204" pitchFamily="34" charset="0"/>
                        </a:rPr>
                        <a:t> 4 </a:t>
                      </a:r>
                      <a:r>
                        <a:rPr lang="en-US" sz="1800" kern="1200" dirty="0" err="1" smtClean="0">
                          <a:solidFill>
                            <a:schemeClr val="dk1"/>
                          </a:solidFill>
                          <a:effectLst/>
                          <a:latin typeface="Arial" panose="020B0604020202020204" pitchFamily="34" charset="0"/>
                          <a:ea typeface="+mn-ea"/>
                          <a:cs typeface="Arial" panose="020B0604020202020204" pitchFamily="34" charset="0"/>
                        </a:rPr>
                        <a:t>ngày</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ít</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khi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dài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hơn</a:t>
                      </a:r>
                      <a:r>
                        <a:rPr lang="en-US" sz="1800" kern="1200" dirty="0" smtClean="0">
                          <a:solidFill>
                            <a:schemeClr val="dk1"/>
                          </a:solidFill>
                          <a:effectLst/>
                          <a:latin typeface="Arial" panose="020B0604020202020204" pitchFamily="34" charset="0"/>
                          <a:ea typeface="+mn-ea"/>
                          <a:cs typeface="Arial" panose="020B0604020202020204" pitchFamily="34" charset="0"/>
                        </a:rPr>
                        <a:t>. </a:t>
                      </a:r>
                    </a:p>
                    <a:p>
                      <a:pPr algn="just"/>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Hội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chứng</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lỵ</a:t>
                      </a:r>
                      <a:r>
                        <a:rPr lang="en-US" sz="1800" kern="1200" dirty="0" smtClean="0">
                          <a:solidFill>
                            <a:schemeClr val="dk1"/>
                          </a:solidFill>
                          <a:effectLst/>
                          <a:latin typeface="Arial" panose="020B0604020202020204" pitchFamily="34" charset="0"/>
                          <a:ea typeface="+mn-ea"/>
                          <a:cs typeface="Arial" panose="020B0604020202020204" pitchFamily="34" charset="0"/>
                        </a:rPr>
                        <a:t>: </a:t>
                      </a:r>
                    </a:p>
                    <a:p>
                      <a:pPr marL="285750" indent="-285750" algn="just">
                        <a:buFont typeface="Arial" pitchFamily="34" charset="0"/>
                        <a:buChar char="•"/>
                      </a:pPr>
                      <a:r>
                        <a:rPr lang="en-US" sz="1800" kern="1200" dirty="0" err="1" smtClean="0">
                          <a:solidFill>
                            <a:schemeClr val="dk1"/>
                          </a:solidFill>
                          <a:effectLst/>
                          <a:latin typeface="Arial" panose="020B0604020202020204" pitchFamily="34" charset="0"/>
                          <a:ea typeface="+mn-ea"/>
                          <a:cs typeface="Arial" panose="020B0604020202020204" pitchFamily="34" charset="0"/>
                        </a:rPr>
                        <a:t>Đau</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bụng</a:t>
                      </a:r>
                      <a:endParaRPr lang="en-US" sz="1800" kern="1200" dirty="0" smtClean="0">
                        <a:solidFill>
                          <a:schemeClr val="dk1"/>
                        </a:solidFill>
                        <a:effectLst/>
                        <a:latin typeface="Arial" panose="020B0604020202020204" pitchFamily="34" charset="0"/>
                        <a:ea typeface="+mn-ea"/>
                        <a:cs typeface="Arial" panose="020B0604020202020204" pitchFamily="34" charset="0"/>
                      </a:endParaRPr>
                    </a:p>
                    <a:p>
                      <a:pPr marL="285750" indent="-285750" algn="just">
                        <a:buFont typeface="Arial" pitchFamily="34" charset="0"/>
                        <a:buChar char="•"/>
                      </a:pPr>
                      <a:r>
                        <a:rPr lang="en-US" sz="1800" kern="1200" dirty="0" err="1" smtClean="0">
                          <a:solidFill>
                            <a:schemeClr val="dk1"/>
                          </a:solidFill>
                          <a:effectLst/>
                          <a:latin typeface="Arial" panose="020B0604020202020204" pitchFamily="34" charset="0"/>
                          <a:ea typeface="+mn-ea"/>
                          <a:cs typeface="Arial" panose="020B0604020202020204" pitchFamily="34" charset="0"/>
                        </a:rPr>
                        <a:t>Mót</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rặn</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và</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rát</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hậu</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môn</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khi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đại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tiện</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mỗi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ngày</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đi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hơn</a:t>
                      </a:r>
                      <a:r>
                        <a:rPr lang="en-US" sz="1800" kern="1200" dirty="0" smtClean="0">
                          <a:solidFill>
                            <a:schemeClr val="dk1"/>
                          </a:solidFill>
                          <a:effectLst/>
                          <a:latin typeface="Arial" panose="020B0604020202020204" pitchFamily="34" charset="0"/>
                          <a:ea typeface="+mn-ea"/>
                          <a:cs typeface="Arial" panose="020B0604020202020204" pitchFamily="34" charset="0"/>
                        </a:rPr>
                        <a:t> 10 </a:t>
                      </a:r>
                      <a:r>
                        <a:rPr lang="en-US" sz="1800" kern="1200" dirty="0" err="1" smtClean="0">
                          <a:solidFill>
                            <a:schemeClr val="dk1"/>
                          </a:solidFill>
                          <a:effectLst/>
                          <a:latin typeface="Arial" panose="020B0604020202020204" pitchFamily="34" charset="0"/>
                          <a:ea typeface="+mn-ea"/>
                          <a:cs typeface="Arial" panose="020B0604020202020204" pitchFamily="34" charset="0"/>
                        </a:rPr>
                        <a:t>lần</a:t>
                      </a:r>
                      <a:r>
                        <a:rPr lang="en-US" sz="1800" kern="1200" dirty="0" smtClean="0">
                          <a:solidFill>
                            <a:schemeClr val="dk1"/>
                          </a:solidFill>
                          <a:effectLst/>
                          <a:latin typeface="Arial" panose="020B0604020202020204" pitchFamily="34" charset="0"/>
                          <a:ea typeface="+mn-ea"/>
                          <a:cs typeface="Arial" panose="020B0604020202020204" pitchFamily="34" charset="0"/>
                        </a:rPr>
                        <a:t>. </a:t>
                      </a:r>
                    </a:p>
                    <a:p>
                      <a:pPr marL="285750" indent="-285750" algn="just">
                        <a:buFont typeface="Arial" pitchFamily="34" charset="0"/>
                        <a:buChar char="•"/>
                      </a:pPr>
                      <a:r>
                        <a:rPr lang="en-US" sz="1800" kern="1200" dirty="0" err="1" smtClean="0">
                          <a:solidFill>
                            <a:schemeClr val="dk1"/>
                          </a:solidFill>
                          <a:effectLst/>
                          <a:latin typeface="Arial" panose="020B0604020202020204" pitchFamily="34" charset="0"/>
                          <a:ea typeface="+mn-ea"/>
                          <a:cs typeface="Arial" panose="020B0604020202020204" pitchFamily="34" charset="0"/>
                        </a:rPr>
                        <a:t>Phân</a:t>
                      </a:r>
                      <a:r>
                        <a:rPr lang="en-US" sz="1800" kern="1200" baseline="0" dirty="0" smtClean="0">
                          <a:solidFill>
                            <a:schemeClr val="dk1"/>
                          </a:solidFill>
                          <a:effectLst/>
                          <a:latin typeface="Arial" panose="020B0604020202020204" pitchFamily="34" charset="0"/>
                          <a:ea typeface="+mn-ea"/>
                          <a:cs typeface="Arial" panose="020B0604020202020204" pitchFamily="34" charset="0"/>
                        </a:rPr>
                        <a:t> </a:t>
                      </a:r>
                      <a:r>
                        <a:rPr lang="en-US" sz="1800" kern="1200" baseline="0" dirty="0" err="1" smtClean="0">
                          <a:solidFill>
                            <a:schemeClr val="dk1"/>
                          </a:solidFill>
                          <a:effectLst/>
                          <a:latin typeface="Arial" panose="020B0604020202020204" pitchFamily="34" charset="0"/>
                          <a:ea typeface="+mn-ea"/>
                          <a:cs typeface="Arial" panose="020B0604020202020204" pitchFamily="34" charset="0"/>
                        </a:rPr>
                        <a:t>nhầy</a:t>
                      </a:r>
                      <a:r>
                        <a:rPr lang="en-US" sz="1800" kern="1200" baseline="0" dirty="0" smtClean="0">
                          <a:solidFill>
                            <a:schemeClr val="dk1"/>
                          </a:solidFill>
                          <a:effectLst/>
                          <a:latin typeface="Arial" panose="020B0604020202020204" pitchFamily="34" charset="0"/>
                          <a:ea typeface="+mn-ea"/>
                          <a:cs typeface="Arial" panose="020B0604020202020204" pitchFamily="34" charset="0"/>
                        </a:rPr>
                        <a:t> </a:t>
                      </a:r>
                      <a:r>
                        <a:rPr lang="en-US" sz="1800" kern="1200" baseline="0" dirty="0" err="1" smtClean="0">
                          <a:solidFill>
                            <a:schemeClr val="dk1"/>
                          </a:solidFill>
                          <a:effectLst/>
                          <a:latin typeface="Arial" panose="020B0604020202020204" pitchFamily="34" charset="0"/>
                          <a:ea typeface="+mn-ea"/>
                          <a:cs typeface="Arial" panose="020B0604020202020204" pitchFamily="34" charset="0"/>
                        </a:rPr>
                        <a:t>máu</a:t>
                      </a:r>
                      <a:endParaRPr lang="en-US" sz="1800" kern="1200" baseline="0" dirty="0" smtClean="0">
                        <a:solidFill>
                          <a:schemeClr val="dk1"/>
                        </a:solidFill>
                        <a:effectLst/>
                        <a:latin typeface="Arial" panose="020B0604020202020204" pitchFamily="34" charset="0"/>
                        <a:ea typeface="+mn-ea"/>
                        <a:cs typeface="Arial" panose="020B0604020202020204" pitchFamily="34" charset="0"/>
                      </a:endParaRPr>
                    </a:p>
                    <a:p>
                      <a:pPr marL="0" marR="0" indent="0" algn="just" defTabSz="914400" rtl="0" eaLnBrk="1" fontAlgn="auto" latinLnBrk="0" hangingPunct="1">
                        <a:lnSpc>
                          <a:spcPct val="100000"/>
                        </a:lnSpc>
                        <a:spcBef>
                          <a:spcPts val="0"/>
                        </a:spcBef>
                        <a:spcAft>
                          <a:spcPts val="0"/>
                        </a:spcAft>
                        <a:buClrTx/>
                        <a:buSzTx/>
                        <a:buFont typeface="Arial" pitchFamily="34" charset="0"/>
                        <a:buNone/>
                        <a:tabLst/>
                        <a:defRPr/>
                      </a:pPr>
                      <a:r>
                        <a:rPr lang="en-US" sz="1800" kern="1200" dirty="0" err="1" smtClean="0">
                          <a:solidFill>
                            <a:schemeClr val="dk1"/>
                          </a:solidFill>
                          <a:effectLst/>
                          <a:latin typeface="Arial" panose="020B0604020202020204" pitchFamily="34" charset="0"/>
                          <a:ea typeface="+mn-ea"/>
                          <a:cs typeface="Arial" panose="020B0604020202020204" pitchFamily="34" charset="0"/>
                        </a:rPr>
                        <a:t>Hội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chứng</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lỵ</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có</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thể</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kéo</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dài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từ</a:t>
                      </a:r>
                      <a:r>
                        <a:rPr lang="en-US" sz="1800" kern="1200" dirty="0" smtClean="0">
                          <a:solidFill>
                            <a:schemeClr val="dk1"/>
                          </a:solidFill>
                          <a:effectLst/>
                          <a:latin typeface="Arial" panose="020B0604020202020204" pitchFamily="34" charset="0"/>
                          <a:ea typeface="+mn-ea"/>
                          <a:cs typeface="Arial" panose="020B0604020202020204" pitchFamily="34" charset="0"/>
                        </a:rPr>
                        <a:t> 5 </a:t>
                      </a:r>
                      <a:r>
                        <a:rPr lang="en-US" sz="1800" kern="1200" dirty="0" err="1" smtClean="0">
                          <a:solidFill>
                            <a:schemeClr val="dk1"/>
                          </a:solidFill>
                          <a:effectLst/>
                          <a:latin typeface="Arial" panose="020B0604020202020204" pitchFamily="34" charset="0"/>
                          <a:ea typeface="+mn-ea"/>
                          <a:cs typeface="Arial" panose="020B0604020202020204" pitchFamily="34" charset="0"/>
                        </a:rPr>
                        <a:t>đến</a:t>
                      </a:r>
                      <a:r>
                        <a:rPr lang="en-US" sz="1800" kern="1200" dirty="0" smtClean="0">
                          <a:solidFill>
                            <a:schemeClr val="dk1"/>
                          </a:solidFill>
                          <a:effectLst/>
                          <a:latin typeface="Arial" panose="020B0604020202020204" pitchFamily="34" charset="0"/>
                          <a:ea typeface="+mn-ea"/>
                          <a:cs typeface="Arial" panose="020B0604020202020204" pitchFamily="34" charset="0"/>
                        </a:rPr>
                        <a:t> 10 </a:t>
                      </a:r>
                      <a:r>
                        <a:rPr lang="en-US" sz="1800" kern="1200" dirty="0" err="1" smtClean="0">
                          <a:solidFill>
                            <a:schemeClr val="dk1"/>
                          </a:solidFill>
                          <a:effectLst/>
                          <a:latin typeface="Arial" panose="020B0604020202020204" pitchFamily="34" charset="0"/>
                          <a:ea typeface="+mn-ea"/>
                          <a:cs typeface="Arial" panose="020B0604020202020204" pitchFamily="34" charset="0"/>
                        </a:rPr>
                        <a:t>ngày</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hoặc</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hơn</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tùy</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thể</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bệnh</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cơ</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địa</a:t>
                      </a:r>
                      <a:r>
                        <a:rPr lang="en-US" sz="1800" kern="1200" dirty="0" smtClean="0">
                          <a:solidFill>
                            <a:schemeClr val="dk1"/>
                          </a:solidFill>
                          <a:effectLst/>
                          <a:latin typeface="Arial" panose="020B0604020202020204" pitchFamily="34" charset="0"/>
                          <a:ea typeface="+mn-ea"/>
                          <a:cs typeface="Arial" panose="020B0604020202020204" pitchFamily="34" charset="0"/>
                        </a:rPr>
                        <a:t>. </a:t>
                      </a:r>
                    </a:p>
                    <a:p>
                      <a:pPr marL="285750" indent="-285750" algn="just">
                        <a:buFont typeface="Wingdings" pitchFamily="2" charset="2"/>
                        <a:buChar char="Ø"/>
                      </a:pPr>
                      <a:r>
                        <a:rPr lang="en-US" sz="1800" kern="1200" dirty="0" err="1" smtClean="0">
                          <a:solidFill>
                            <a:schemeClr val="dk1"/>
                          </a:solidFill>
                          <a:effectLst/>
                          <a:latin typeface="Arial" panose="020B0604020202020204" pitchFamily="34" charset="0"/>
                          <a:ea typeface="+mn-ea"/>
                          <a:cs typeface="Arial" panose="020B0604020202020204" pitchFamily="34" charset="0"/>
                        </a:rPr>
                        <a:t>Dấu</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hiệu</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mất</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nước</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điện</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giải</a:t>
                      </a:r>
                      <a:endParaRPr lang="en-US" sz="1800" kern="1200" dirty="0" smtClean="0">
                        <a:solidFill>
                          <a:schemeClr val="dk1"/>
                        </a:solidFill>
                        <a:effectLst/>
                        <a:latin typeface="Arial" panose="020B0604020202020204" pitchFamily="34" charset="0"/>
                        <a:ea typeface="+mn-ea"/>
                        <a:cs typeface="Arial" panose="020B0604020202020204" pitchFamily="34" charset="0"/>
                      </a:endParaRPr>
                    </a:p>
                    <a:p>
                      <a:pPr marL="285750" indent="-285750" algn="just">
                        <a:buFont typeface="Wingdings" pitchFamily="2" charset="2"/>
                        <a:buChar char="Ø"/>
                      </a:pPr>
                      <a:r>
                        <a:rPr lang="en-US" sz="1800" kern="1200" dirty="0" err="1" smtClean="0">
                          <a:solidFill>
                            <a:schemeClr val="dk1"/>
                          </a:solidFill>
                          <a:effectLst/>
                          <a:latin typeface="Arial" panose="020B0604020202020204" pitchFamily="34" charset="0"/>
                          <a:ea typeface="+mn-ea"/>
                          <a:cs typeface="Arial" panose="020B0604020202020204" pitchFamily="34" charset="0"/>
                        </a:rPr>
                        <a:t>Soi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trực</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tràng</a:t>
                      </a:r>
                      <a:r>
                        <a:rPr lang="en-US" sz="1800" i="1"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thấy</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toàn</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bộ</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niêm</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mạc</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trực</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tràng</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xung</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huyết</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phù</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nề</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có</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nhiều</a:t>
                      </a:r>
                      <a:r>
                        <a:rPr lang="en-US" sz="1800" kern="1200" dirty="0" smtClean="0">
                          <a:solidFill>
                            <a:schemeClr val="dk1"/>
                          </a:solidFill>
                          <a:effectLst/>
                          <a:latin typeface="Arial" panose="020B0604020202020204" pitchFamily="34" charset="0"/>
                          <a:ea typeface="+mn-ea"/>
                          <a:cs typeface="Arial" panose="020B0604020202020204" pitchFamily="34" charset="0"/>
                        </a:rPr>
                        <a:t> ổ </a:t>
                      </a:r>
                      <a:r>
                        <a:rPr lang="en-US" sz="1800" kern="1200" dirty="0" err="1" smtClean="0">
                          <a:solidFill>
                            <a:schemeClr val="dk1"/>
                          </a:solidFill>
                          <a:effectLst/>
                          <a:latin typeface="Arial" panose="020B0604020202020204" pitchFamily="34" charset="0"/>
                          <a:ea typeface="+mn-ea"/>
                          <a:cs typeface="Arial" panose="020B0604020202020204" pitchFamily="34" charset="0"/>
                        </a:rPr>
                        <a:t>trợt</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loét</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nông</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và</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lan</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rộng</a:t>
                      </a:r>
                      <a:r>
                        <a:rPr lang="en-US" sz="1800" kern="1200" dirty="0" smtClean="0">
                          <a:solidFill>
                            <a:schemeClr val="dk1"/>
                          </a:solidFill>
                          <a:effectLst/>
                          <a:latin typeface="Arial" panose="020B0604020202020204" pitchFamily="34" charset="0"/>
                          <a:ea typeface="+mn-ea"/>
                          <a:cs typeface="Arial" panose="020B0604020202020204" pitchFamily="34" charset="0"/>
                        </a:rPr>
                        <a:t>.</a:t>
                      </a:r>
                    </a:p>
                    <a:p>
                      <a:pPr marL="285750" indent="-285750" algn="just">
                        <a:buFont typeface="Wingdings" pitchFamily="2" charset="2"/>
                        <a:buChar char="Ø"/>
                      </a:pPr>
                      <a:r>
                        <a:rPr lang="en-US" sz="1800" kern="1200" dirty="0" err="1" smtClean="0">
                          <a:solidFill>
                            <a:schemeClr val="dk1"/>
                          </a:solidFill>
                          <a:effectLst/>
                          <a:latin typeface="Arial" panose="020B0604020202020204" pitchFamily="34" charset="0"/>
                          <a:ea typeface="+mn-ea"/>
                          <a:cs typeface="Arial" panose="020B0604020202020204" pitchFamily="34" charset="0"/>
                        </a:rPr>
                        <a:t>Ruột</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phục</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hồi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chậm</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trở</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lại</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bình</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thường</a:t>
                      </a:r>
                      <a:r>
                        <a:rPr lang="en-US" sz="1800" kern="1200" dirty="0" smtClean="0">
                          <a:solidFill>
                            <a:schemeClr val="dk1"/>
                          </a:solidFill>
                          <a:effectLst/>
                          <a:latin typeface="Arial" panose="020B0604020202020204" pitchFamily="34" charset="0"/>
                          <a:ea typeface="+mn-ea"/>
                          <a:cs typeface="Arial" panose="020B0604020202020204" pitchFamily="34" charset="0"/>
                        </a:rPr>
                        <a:t> </a:t>
                      </a:r>
                      <a:r>
                        <a:rPr lang="en-US" sz="1800" kern="1200" dirty="0" err="1" smtClean="0">
                          <a:solidFill>
                            <a:schemeClr val="dk1"/>
                          </a:solidFill>
                          <a:effectLst/>
                          <a:latin typeface="Arial" panose="020B0604020202020204" pitchFamily="34" charset="0"/>
                          <a:ea typeface="+mn-ea"/>
                          <a:cs typeface="Arial" panose="020B0604020202020204" pitchFamily="34" charset="0"/>
                        </a:rPr>
                        <a:t>sau</a:t>
                      </a:r>
                      <a:r>
                        <a:rPr lang="en-US" sz="1800" kern="1200" dirty="0" smtClean="0">
                          <a:solidFill>
                            <a:schemeClr val="dk1"/>
                          </a:solidFill>
                          <a:effectLst/>
                          <a:latin typeface="Arial" panose="020B0604020202020204" pitchFamily="34" charset="0"/>
                          <a:ea typeface="+mn-ea"/>
                          <a:cs typeface="Arial" panose="020B0604020202020204" pitchFamily="34" charset="0"/>
                        </a:rPr>
                        <a:t> 3 </a:t>
                      </a:r>
                      <a:r>
                        <a:rPr lang="en-US" sz="1800" kern="1200" dirty="0" err="1" smtClean="0">
                          <a:solidFill>
                            <a:schemeClr val="dk1"/>
                          </a:solidFill>
                          <a:effectLst/>
                          <a:latin typeface="Arial" panose="020B0604020202020204" pitchFamily="34" charset="0"/>
                          <a:ea typeface="+mn-ea"/>
                          <a:cs typeface="Arial" panose="020B0604020202020204" pitchFamily="34" charset="0"/>
                        </a:rPr>
                        <a:t>đến</a:t>
                      </a:r>
                      <a:r>
                        <a:rPr lang="en-US" sz="1800" kern="1200" dirty="0" smtClean="0">
                          <a:solidFill>
                            <a:schemeClr val="dk1"/>
                          </a:solidFill>
                          <a:effectLst/>
                          <a:latin typeface="Arial" panose="020B0604020202020204" pitchFamily="34" charset="0"/>
                          <a:ea typeface="+mn-ea"/>
                          <a:cs typeface="Arial" panose="020B0604020202020204" pitchFamily="34" charset="0"/>
                        </a:rPr>
                        <a:t> 4 </a:t>
                      </a:r>
                      <a:r>
                        <a:rPr lang="en-US" sz="1800" kern="1200" dirty="0" err="1" smtClean="0">
                          <a:solidFill>
                            <a:schemeClr val="dk1"/>
                          </a:solidFill>
                          <a:effectLst/>
                          <a:latin typeface="Arial" panose="020B0604020202020204" pitchFamily="34" charset="0"/>
                          <a:ea typeface="+mn-ea"/>
                          <a:cs typeface="Arial" panose="020B0604020202020204" pitchFamily="34" charset="0"/>
                        </a:rPr>
                        <a:t>tuần</a:t>
                      </a:r>
                      <a:r>
                        <a:rPr lang="en-US" sz="1800" kern="1200" dirty="0" smtClean="0">
                          <a:solidFill>
                            <a:schemeClr val="dk1"/>
                          </a:solidFill>
                          <a:effectLst/>
                          <a:latin typeface="Arial" panose="020B0604020202020204" pitchFamily="34" charset="0"/>
                          <a:ea typeface="+mn-ea"/>
                          <a:cs typeface="Arial" panose="020B0604020202020204" pitchFamily="34" charset="0"/>
                        </a:rPr>
                        <a:t>. </a:t>
                      </a:r>
                    </a:p>
                    <a:p>
                      <a:pPr algn="just"/>
                      <a:endParaRPr lang="en-US" sz="1500" dirty="0">
                        <a:latin typeface="Arial" pitchFamily="34" charset="0"/>
                        <a:cs typeface="Arial" pitchFamily="34" charset="0"/>
                      </a:endParaRPr>
                    </a:p>
                  </a:txBody>
                  <a:tcPr marL="68580" marR="68580" marT="34290" marB="34290"/>
                </a:tc>
              </a:tr>
            </a:tbl>
          </a:graphicData>
        </a:graphic>
      </p:graphicFrame>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668717"/>
            <a:ext cx="2743200" cy="986435"/>
          </a:xfrm>
          <a:prstGeom prst="rect">
            <a:avLst/>
          </a:prstGeom>
        </p:spPr>
      </p:pic>
      <p:sp>
        <p:nvSpPr>
          <p:cNvPr id="6" name="Tiêu đề 1">
            <a:extLst>
              <a:ext uri="{FF2B5EF4-FFF2-40B4-BE49-F238E27FC236}">
                <a16:creationId xmlns:a16="http://schemas.microsoft.com/office/drawing/2014/main" xmlns="" id="{C98A5779-0D20-F746-86A7-119A3BB7F135}"/>
              </a:ext>
            </a:extLst>
          </p:cNvPr>
          <p:cNvSpPr txBox="1">
            <a:spLocks/>
          </p:cNvSpPr>
          <p:nvPr/>
        </p:nvSpPr>
        <p:spPr>
          <a:xfrm>
            <a:off x="228600" y="152400"/>
            <a:ext cx="342900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 </a:t>
            </a:r>
            <a:r>
              <a:rPr lang="vi-VN" sz="4000" b="1" dirty="0" smtClean="0">
                <a:solidFill>
                  <a:srgbClr val="FF0000"/>
                </a:solidFill>
                <a:latin typeface="Arial" pitchFamily="34" charset="0"/>
                <a:ea typeface="+mj-ea"/>
                <a:cs typeface="Arial" pitchFamily="34" charset="0"/>
              </a:rPr>
              <a:t>LÂM SÀNG</a:t>
            </a:r>
            <a:endParaRPr lang="vi-VN" sz="4000" b="1" dirty="0">
              <a:solidFill>
                <a:srgbClr val="FF0000"/>
              </a:solidFill>
              <a:latin typeface="Arial" pitchFamily="34" charset="0"/>
              <a:ea typeface="+mj-ea"/>
              <a:cs typeface="Arial" pitchFamily="34" charset="0"/>
            </a:endParaRPr>
          </a:p>
        </p:txBody>
      </p:sp>
    </p:spTree>
    <p:extLst>
      <p:ext uri="{BB962C8B-B14F-4D97-AF65-F5344CB8AC3E}">
        <p14:creationId xmlns:p14="http://schemas.microsoft.com/office/powerpoint/2010/main" val="28061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43000" y="685800"/>
            <a:ext cx="4095482" cy="553998"/>
          </a:xfrm>
          <a:prstGeom prst="rect">
            <a:avLst/>
          </a:prstGeom>
          <a:noFill/>
        </p:spPr>
        <p:txBody>
          <a:bodyPr wrap="square" rtlCol="0">
            <a:spAutoFit/>
          </a:bodyPr>
          <a:lstStyle/>
          <a:p>
            <a:pPr algn="just"/>
            <a:r>
              <a:rPr lang="en-US" sz="3000" b="1" dirty="0">
                <a:latin typeface="Arial" pitchFamily="34" charset="0"/>
                <a:cs typeface="Arial" pitchFamily="34" charset="0"/>
              </a:rPr>
              <a:t>2. </a:t>
            </a:r>
            <a:r>
              <a:rPr lang="en-US" sz="3000" b="1" dirty="0" err="1">
                <a:latin typeface="Arial" pitchFamily="34" charset="0"/>
                <a:cs typeface="Arial" pitchFamily="34" charset="0"/>
              </a:rPr>
              <a:t>Các</a:t>
            </a:r>
            <a:r>
              <a:rPr lang="en-US" sz="3000" b="1" dirty="0">
                <a:latin typeface="Arial" pitchFamily="34" charset="0"/>
                <a:cs typeface="Arial" pitchFamily="34" charset="0"/>
              </a:rPr>
              <a:t> </a:t>
            </a:r>
            <a:r>
              <a:rPr lang="en-US" sz="3000" b="1" dirty="0" err="1">
                <a:latin typeface="Arial" pitchFamily="34" charset="0"/>
                <a:cs typeface="Arial" pitchFamily="34" charset="0"/>
              </a:rPr>
              <a:t>thể</a:t>
            </a:r>
            <a:r>
              <a:rPr lang="en-US" sz="3000" b="1" dirty="0">
                <a:latin typeface="Arial" pitchFamily="34" charset="0"/>
                <a:cs typeface="Arial" pitchFamily="34" charset="0"/>
              </a:rPr>
              <a:t> </a:t>
            </a:r>
            <a:r>
              <a:rPr lang="en-US" sz="3000" b="1" dirty="0" err="1">
                <a:latin typeface="Arial" pitchFamily="34" charset="0"/>
                <a:cs typeface="Arial" pitchFamily="34" charset="0"/>
              </a:rPr>
              <a:t>lâm</a:t>
            </a:r>
            <a:r>
              <a:rPr lang="en-US" sz="3000" b="1" dirty="0">
                <a:latin typeface="Arial" pitchFamily="34" charset="0"/>
                <a:cs typeface="Arial" pitchFamily="34" charset="0"/>
              </a:rPr>
              <a:t> </a:t>
            </a:r>
            <a:r>
              <a:rPr lang="en-US" sz="3000" b="1" dirty="0" err="1">
                <a:latin typeface="Arial" pitchFamily="34" charset="0"/>
                <a:cs typeface="Arial" pitchFamily="34" charset="0"/>
              </a:rPr>
              <a:t>sàng</a:t>
            </a:r>
            <a:endParaRPr lang="en-US" sz="3000" b="1" dirty="0">
              <a:latin typeface="Arial" pitchFamily="34" charset="0"/>
              <a:cs typeface="Arial" pitchFamily="34" charset="0"/>
            </a:endParaRPr>
          </a:p>
        </p:txBody>
      </p:sp>
      <p:sp>
        <p:nvSpPr>
          <p:cNvPr id="7" name="Rectangle 1"/>
          <p:cNvSpPr>
            <a:spLocks noChangeArrowheads="1"/>
          </p:cNvSpPr>
          <p:nvPr/>
        </p:nvSpPr>
        <p:spPr bwMode="auto">
          <a:xfrm>
            <a:off x="628651" y="3741601"/>
            <a:ext cx="138564"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050">
                <a:solidFill>
                  <a:srgbClr val="333333"/>
                </a:solidFill>
                <a:latin typeface="Arial" panose="020B0604020202020204" pitchFamily="34" charset="0"/>
                <a:cs typeface="Arial" panose="020B0604020202020204" pitchFamily="34" charset="0"/>
              </a:rPr>
              <a:t/>
            </a:r>
            <a:br>
              <a:rPr lang="en-US" altLang="en-US" sz="1050">
                <a:solidFill>
                  <a:srgbClr val="333333"/>
                </a:solidFill>
                <a:latin typeface="Arial" panose="020B0604020202020204" pitchFamily="34" charset="0"/>
                <a:cs typeface="Arial" panose="020B0604020202020204" pitchFamily="34" charset="0"/>
              </a:rPr>
            </a:br>
            <a:endParaRPr lang="en-US" altLang="en-US" sz="1350">
              <a:latin typeface="Arial" panose="020B0604020202020204" pitchFamily="34" charset="0"/>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248986880"/>
              </p:ext>
            </p:extLst>
          </p:nvPr>
        </p:nvGraphicFramePr>
        <p:xfrm>
          <a:off x="660496" y="1355089"/>
          <a:ext cx="7886700" cy="53505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êu đề 1">
            <a:extLst>
              <a:ext uri="{FF2B5EF4-FFF2-40B4-BE49-F238E27FC236}">
                <a16:creationId xmlns:a16="http://schemas.microsoft.com/office/drawing/2014/main" xmlns="" id="{C98A5779-0D20-F746-86A7-119A3BB7F135}"/>
              </a:ext>
            </a:extLst>
          </p:cNvPr>
          <p:cNvSpPr txBox="1">
            <a:spLocks/>
          </p:cNvSpPr>
          <p:nvPr/>
        </p:nvSpPr>
        <p:spPr>
          <a:xfrm>
            <a:off x="152400" y="151468"/>
            <a:ext cx="5928545"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 </a:t>
            </a:r>
            <a:r>
              <a:rPr lang="vi-VN" sz="4000" b="1" dirty="0" smtClean="0">
                <a:solidFill>
                  <a:srgbClr val="FF0000"/>
                </a:solidFill>
                <a:latin typeface="Arial" pitchFamily="34" charset="0"/>
                <a:ea typeface="+mj-ea"/>
                <a:cs typeface="Arial" pitchFamily="34" charset="0"/>
              </a:rPr>
              <a:t>LÂM SÀNG</a:t>
            </a:r>
            <a:endParaRPr lang="vi-VN" sz="4000" b="1" dirty="0">
              <a:solidFill>
                <a:srgbClr val="FF0000"/>
              </a:solidFill>
              <a:latin typeface="Arial" pitchFamily="34" charset="0"/>
              <a:ea typeface="+mj-ea"/>
              <a:cs typeface="Arial" pitchFamily="34" charset="0"/>
            </a:endParaRPr>
          </a:p>
        </p:txBody>
      </p:sp>
    </p:spTree>
    <p:extLst>
      <p:ext uri="{BB962C8B-B14F-4D97-AF65-F5344CB8AC3E}">
        <p14:creationId xmlns:p14="http://schemas.microsoft.com/office/powerpoint/2010/main" val="96733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8"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4143754557"/>
              </p:ext>
            </p:extLst>
          </p:nvPr>
        </p:nvGraphicFramePr>
        <p:xfrm>
          <a:off x="190917" y="1535746"/>
          <a:ext cx="8800682" cy="5205958"/>
        </p:xfrm>
        <a:graphic>
          <a:graphicData uri="http://schemas.openxmlformats.org/drawingml/2006/table">
            <a:tbl>
              <a:tblPr firstRow="1" bandRow="1">
                <a:tableStyleId>{21E4AEA4-8DFA-4A89-87EB-49C32662AFE0}</a:tableStyleId>
              </a:tblPr>
              <a:tblGrid>
                <a:gridCol w="948083"/>
                <a:gridCol w="1832800"/>
                <a:gridCol w="2215635"/>
                <a:gridCol w="3804164"/>
              </a:tblGrid>
              <a:tr h="367623">
                <a:tc>
                  <a:txBody>
                    <a:bodyPr/>
                    <a:lstStyle/>
                    <a:p>
                      <a:pPr algn="just"/>
                      <a:endParaRPr lang="en-US" sz="1600" dirty="0">
                        <a:latin typeface="Arial" pitchFamily="34" charset="0"/>
                        <a:cs typeface="Arial" pitchFamily="34" charset="0"/>
                      </a:endParaRPr>
                    </a:p>
                  </a:txBody>
                  <a:tcPr marL="68580" marR="68580" marT="34290" marB="34290"/>
                </a:tc>
                <a:tc>
                  <a:txBody>
                    <a:bodyPr/>
                    <a:lstStyle/>
                    <a:p>
                      <a:pPr algn="ctr"/>
                      <a:r>
                        <a:rPr lang="en-US" sz="1600" b="1" i="1" dirty="0" smtClean="0">
                          <a:solidFill>
                            <a:schemeClr val="bg2">
                              <a:lumMod val="10000"/>
                            </a:schemeClr>
                          </a:solidFill>
                          <a:latin typeface="Arial" pitchFamily="34" charset="0"/>
                          <a:cs typeface="Arial" pitchFamily="34" charset="0"/>
                        </a:rPr>
                        <a:t>2.1.Thể</a:t>
                      </a:r>
                      <a:r>
                        <a:rPr lang="en-US" sz="1600" b="1" i="1" baseline="0" dirty="0" smtClean="0">
                          <a:solidFill>
                            <a:schemeClr val="bg2">
                              <a:lumMod val="10000"/>
                            </a:schemeClr>
                          </a:solidFill>
                          <a:latin typeface="Arial" pitchFamily="34" charset="0"/>
                          <a:cs typeface="Arial" pitchFamily="34" charset="0"/>
                        </a:rPr>
                        <a:t> </a:t>
                      </a:r>
                      <a:r>
                        <a:rPr lang="en-US" sz="1600" b="1" i="1" baseline="0" dirty="0" err="1" smtClean="0">
                          <a:solidFill>
                            <a:schemeClr val="bg2">
                              <a:lumMod val="10000"/>
                            </a:schemeClr>
                          </a:solidFill>
                          <a:latin typeface="Arial" pitchFamily="34" charset="0"/>
                          <a:cs typeface="Arial" pitchFamily="34" charset="0"/>
                        </a:rPr>
                        <a:t>nhẹ</a:t>
                      </a:r>
                      <a:r>
                        <a:rPr lang="en-US" sz="1600" b="1" i="1" baseline="0" dirty="0" smtClean="0">
                          <a:solidFill>
                            <a:schemeClr val="bg2">
                              <a:lumMod val="10000"/>
                            </a:schemeClr>
                          </a:solidFill>
                          <a:latin typeface="Arial" pitchFamily="34" charset="0"/>
                          <a:cs typeface="Arial" pitchFamily="34" charset="0"/>
                        </a:rPr>
                        <a:t> </a:t>
                      </a:r>
                      <a:r>
                        <a:rPr lang="en-US" sz="1600" b="1" i="1" baseline="0" dirty="0" err="1" smtClean="0">
                          <a:solidFill>
                            <a:schemeClr val="bg2">
                              <a:lumMod val="10000"/>
                            </a:schemeClr>
                          </a:solidFill>
                          <a:latin typeface="Arial" pitchFamily="34" charset="0"/>
                          <a:cs typeface="Arial" pitchFamily="34" charset="0"/>
                        </a:rPr>
                        <a:t>cấp</a:t>
                      </a:r>
                      <a:endParaRPr lang="en-US" sz="1600" b="1" i="1" dirty="0">
                        <a:solidFill>
                          <a:schemeClr val="bg2">
                            <a:lumMod val="10000"/>
                          </a:schemeClr>
                        </a:solidFill>
                        <a:latin typeface="Arial" pitchFamily="34" charset="0"/>
                        <a:cs typeface="Arial" pitchFamily="34" charset="0"/>
                      </a:endParaRPr>
                    </a:p>
                  </a:txBody>
                  <a:tcPr marL="68580" marR="68580" marT="34290" marB="34290" anchor="ctr"/>
                </a:tc>
                <a:tc>
                  <a:txBody>
                    <a:bodyPr/>
                    <a:lstStyle/>
                    <a:p>
                      <a:pPr algn="ctr"/>
                      <a:r>
                        <a:rPr lang="en-US" sz="1600" b="1" i="1" dirty="0" smtClean="0">
                          <a:solidFill>
                            <a:schemeClr val="bg2">
                              <a:lumMod val="10000"/>
                            </a:schemeClr>
                          </a:solidFill>
                          <a:latin typeface="Arial" pitchFamily="34" charset="0"/>
                          <a:cs typeface="Arial" pitchFamily="34" charset="0"/>
                        </a:rPr>
                        <a:t>2.2.Thể</a:t>
                      </a:r>
                      <a:r>
                        <a:rPr lang="en-US" sz="1600" b="1" i="1" baseline="0" dirty="0" smtClean="0">
                          <a:solidFill>
                            <a:schemeClr val="bg2">
                              <a:lumMod val="10000"/>
                            </a:schemeClr>
                          </a:solidFill>
                          <a:latin typeface="Arial" pitchFamily="34" charset="0"/>
                          <a:cs typeface="Arial" pitchFamily="34" charset="0"/>
                        </a:rPr>
                        <a:t> </a:t>
                      </a:r>
                      <a:r>
                        <a:rPr lang="en-US" sz="1600" b="1" i="1" baseline="0" dirty="0" err="1" smtClean="0">
                          <a:solidFill>
                            <a:schemeClr val="bg2">
                              <a:lumMod val="10000"/>
                            </a:schemeClr>
                          </a:solidFill>
                          <a:latin typeface="Arial" pitchFamily="34" charset="0"/>
                          <a:cs typeface="Arial" pitchFamily="34" charset="0"/>
                        </a:rPr>
                        <a:t>vừa</a:t>
                      </a:r>
                      <a:r>
                        <a:rPr lang="en-US" sz="1600" b="1" i="1" baseline="0" dirty="0" smtClean="0">
                          <a:solidFill>
                            <a:schemeClr val="bg2">
                              <a:lumMod val="10000"/>
                            </a:schemeClr>
                          </a:solidFill>
                          <a:latin typeface="Arial" pitchFamily="34" charset="0"/>
                          <a:cs typeface="Arial" pitchFamily="34" charset="0"/>
                        </a:rPr>
                        <a:t> </a:t>
                      </a:r>
                      <a:r>
                        <a:rPr lang="en-US" sz="1600" b="1" i="1" baseline="0" dirty="0" err="1" smtClean="0">
                          <a:solidFill>
                            <a:schemeClr val="bg2">
                              <a:lumMod val="10000"/>
                            </a:schemeClr>
                          </a:solidFill>
                          <a:latin typeface="Arial" pitchFamily="34" charset="0"/>
                          <a:cs typeface="Arial" pitchFamily="34" charset="0"/>
                        </a:rPr>
                        <a:t>cấp</a:t>
                      </a:r>
                      <a:endParaRPr lang="en-US" sz="1600" b="1" i="1" dirty="0">
                        <a:solidFill>
                          <a:schemeClr val="bg2">
                            <a:lumMod val="10000"/>
                          </a:schemeClr>
                        </a:solidFill>
                        <a:latin typeface="Arial" pitchFamily="34" charset="0"/>
                        <a:cs typeface="Arial" pitchFamily="34" charset="0"/>
                      </a:endParaRPr>
                    </a:p>
                  </a:txBody>
                  <a:tcPr marL="68580" marR="68580" marT="34290" marB="34290" anchor="ctr"/>
                </a:tc>
                <a:tc>
                  <a:txBody>
                    <a:bodyPr/>
                    <a:lstStyle/>
                    <a:p>
                      <a:pPr algn="ctr"/>
                      <a:r>
                        <a:rPr lang="en-US" sz="1600" b="1" i="1" dirty="0" smtClean="0">
                          <a:solidFill>
                            <a:schemeClr val="bg2">
                              <a:lumMod val="10000"/>
                            </a:schemeClr>
                          </a:solidFill>
                          <a:latin typeface="Arial" pitchFamily="34" charset="0"/>
                          <a:cs typeface="Arial" pitchFamily="34" charset="0"/>
                        </a:rPr>
                        <a:t>2.3.Thể</a:t>
                      </a:r>
                      <a:r>
                        <a:rPr lang="en-US" sz="1600" b="1" i="1" baseline="0" dirty="0" smtClean="0">
                          <a:solidFill>
                            <a:schemeClr val="bg2">
                              <a:lumMod val="10000"/>
                            </a:schemeClr>
                          </a:solidFill>
                          <a:latin typeface="Arial" pitchFamily="34" charset="0"/>
                          <a:cs typeface="Arial" pitchFamily="34" charset="0"/>
                        </a:rPr>
                        <a:t> </a:t>
                      </a:r>
                      <a:r>
                        <a:rPr lang="en-US" sz="1600" b="1" i="1" baseline="0" dirty="0" err="1" smtClean="0">
                          <a:solidFill>
                            <a:schemeClr val="bg2">
                              <a:lumMod val="10000"/>
                            </a:schemeClr>
                          </a:solidFill>
                          <a:latin typeface="Arial" pitchFamily="34" charset="0"/>
                          <a:cs typeface="Arial" pitchFamily="34" charset="0"/>
                        </a:rPr>
                        <a:t>nặng</a:t>
                      </a:r>
                      <a:r>
                        <a:rPr lang="en-US" sz="1600" b="1" i="1" baseline="0" dirty="0" smtClean="0">
                          <a:solidFill>
                            <a:schemeClr val="bg2">
                              <a:lumMod val="10000"/>
                            </a:schemeClr>
                          </a:solidFill>
                          <a:latin typeface="Arial" pitchFamily="34" charset="0"/>
                          <a:cs typeface="Arial" pitchFamily="34" charset="0"/>
                        </a:rPr>
                        <a:t> </a:t>
                      </a:r>
                      <a:r>
                        <a:rPr lang="en-US" sz="1600" b="1" i="1" baseline="0" dirty="0" err="1" smtClean="0">
                          <a:solidFill>
                            <a:schemeClr val="bg2">
                              <a:lumMod val="10000"/>
                            </a:schemeClr>
                          </a:solidFill>
                          <a:latin typeface="Arial" pitchFamily="34" charset="0"/>
                          <a:cs typeface="Arial" pitchFamily="34" charset="0"/>
                        </a:rPr>
                        <a:t>cấp</a:t>
                      </a:r>
                      <a:endParaRPr lang="en-US" sz="1600" b="1" i="1" dirty="0">
                        <a:solidFill>
                          <a:schemeClr val="bg2">
                            <a:lumMod val="10000"/>
                          </a:schemeClr>
                        </a:solidFill>
                        <a:latin typeface="Arial" pitchFamily="34" charset="0"/>
                        <a:cs typeface="Arial" pitchFamily="34" charset="0"/>
                      </a:endParaRPr>
                    </a:p>
                  </a:txBody>
                  <a:tcPr marL="68580" marR="68580" marT="34290" marB="34290" anchor="ctr"/>
                </a:tc>
              </a:tr>
              <a:tr h="1007837">
                <a:tc>
                  <a:txBody>
                    <a:bodyPr/>
                    <a:lstStyle/>
                    <a:p>
                      <a:pPr algn="ctr"/>
                      <a:r>
                        <a:rPr lang="en-US" sz="1600" b="1" i="1" u="none" dirty="0" err="1" smtClean="0">
                          <a:latin typeface="Arial" pitchFamily="34" charset="0"/>
                          <a:cs typeface="Arial" pitchFamily="34" charset="0"/>
                        </a:rPr>
                        <a:t>Tác</a:t>
                      </a:r>
                      <a:r>
                        <a:rPr lang="en-US" sz="1600" b="1" i="1" u="none" baseline="0" dirty="0" smtClean="0">
                          <a:latin typeface="Arial" pitchFamily="34" charset="0"/>
                          <a:cs typeface="Arial" pitchFamily="34" charset="0"/>
                        </a:rPr>
                        <a:t> </a:t>
                      </a:r>
                      <a:r>
                        <a:rPr lang="en-US" sz="1600" b="1" i="1" u="none" baseline="0" dirty="0" err="1" smtClean="0">
                          <a:latin typeface="Arial" pitchFamily="34" charset="0"/>
                          <a:cs typeface="Arial" pitchFamily="34" charset="0"/>
                        </a:rPr>
                        <a:t>nhân</a:t>
                      </a:r>
                      <a:endParaRPr lang="en-US" sz="1600" b="1" i="1" u="none" dirty="0">
                        <a:latin typeface="Arial" pitchFamily="34" charset="0"/>
                        <a:cs typeface="Arial" pitchFamily="34" charset="0"/>
                      </a:endParaRPr>
                    </a:p>
                  </a:txBody>
                  <a:tcPr marL="68580" marR="68580" marT="34290" marB="3429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kern="1200" dirty="0" err="1" smtClean="0">
                          <a:solidFill>
                            <a:schemeClr val="dk1"/>
                          </a:solidFill>
                          <a:effectLst/>
                          <a:latin typeface="Arial" panose="020B0604020202020204" pitchFamily="34" charset="0"/>
                          <a:ea typeface="+mn-ea"/>
                          <a:cs typeface="Arial" panose="020B0604020202020204" pitchFamily="34" charset="0"/>
                        </a:rPr>
                        <a:t>Thường</a:t>
                      </a:r>
                      <a:r>
                        <a:rPr lang="en-US" sz="1600" kern="1200" baseline="0" dirty="0" smtClean="0">
                          <a:solidFill>
                            <a:schemeClr val="dk1"/>
                          </a:solidFill>
                          <a:effectLst/>
                          <a:latin typeface="Arial" panose="020B0604020202020204" pitchFamily="34" charset="0"/>
                          <a:ea typeface="+mn-ea"/>
                          <a:cs typeface="Arial" panose="020B0604020202020204" pitchFamily="34" charset="0"/>
                        </a:rPr>
                        <a:t> do</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i="1" kern="1200" dirty="0" smtClean="0">
                          <a:solidFill>
                            <a:schemeClr val="dk1"/>
                          </a:solidFill>
                          <a:effectLst/>
                          <a:latin typeface="Arial" panose="020B0604020202020204" pitchFamily="34" charset="0"/>
                          <a:ea typeface="+mn-ea"/>
                          <a:cs typeface="Arial" panose="020B0604020202020204" pitchFamily="34" charset="0"/>
                        </a:rPr>
                        <a:t>S. </a:t>
                      </a:r>
                      <a:r>
                        <a:rPr lang="en-US" sz="1600" i="1" kern="1200" dirty="0" err="1" smtClean="0">
                          <a:solidFill>
                            <a:schemeClr val="dk1"/>
                          </a:solidFill>
                          <a:effectLst/>
                          <a:latin typeface="Arial" panose="020B0604020202020204" pitchFamily="34" charset="0"/>
                          <a:ea typeface="+mn-ea"/>
                          <a:cs typeface="Arial" panose="020B0604020202020204" pitchFamily="34" charset="0"/>
                        </a:rPr>
                        <a:t>sonnei</a:t>
                      </a:r>
                      <a:endParaRPr lang="en-US" sz="1600" dirty="0">
                        <a:latin typeface="Arial" pitchFamily="34" charset="0"/>
                        <a:cs typeface="Arial" pitchFamily="34" charset="0"/>
                      </a:endParaRPr>
                    </a:p>
                  </a:txBody>
                  <a:tcPr marL="68580" marR="68580" marT="34290" marB="3429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i="1" kern="1200" dirty="0" smtClean="0">
                          <a:solidFill>
                            <a:schemeClr val="dk1"/>
                          </a:solidFill>
                          <a:effectLst/>
                          <a:latin typeface="Arial" panose="020B0604020202020204" pitchFamily="34" charset="0"/>
                          <a:ea typeface="+mn-ea"/>
                          <a:cs typeface="Arial" panose="020B0604020202020204" pitchFamily="34" charset="0"/>
                        </a:rPr>
                        <a:t>S. </a:t>
                      </a:r>
                      <a:r>
                        <a:rPr lang="en-US" sz="1600" i="1" kern="1200" dirty="0" err="1" smtClean="0">
                          <a:solidFill>
                            <a:schemeClr val="dk1"/>
                          </a:solidFill>
                          <a:effectLst/>
                          <a:latin typeface="Arial" panose="020B0604020202020204" pitchFamily="34" charset="0"/>
                          <a:ea typeface="+mn-ea"/>
                          <a:cs typeface="Arial" panose="020B0604020202020204" pitchFamily="34" charset="0"/>
                        </a:rPr>
                        <a:t>dysenteriae</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týp</a:t>
                      </a:r>
                      <a:r>
                        <a:rPr lang="en-US" sz="1600" kern="1200" dirty="0" smtClean="0">
                          <a:solidFill>
                            <a:schemeClr val="dk1"/>
                          </a:solidFill>
                          <a:effectLst/>
                          <a:latin typeface="Arial" panose="020B0604020202020204" pitchFamily="34" charset="0"/>
                          <a:ea typeface="+mn-ea"/>
                          <a:cs typeface="Arial" panose="020B0604020202020204" pitchFamily="34" charset="0"/>
                        </a:rPr>
                        <a:t> 1, </a:t>
                      </a:r>
                      <a:r>
                        <a:rPr lang="en-US" sz="1600" i="1" kern="1200" dirty="0" smtClean="0">
                          <a:solidFill>
                            <a:schemeClr val="dk1"/>
                          </a:solidFill>
                          <a:effectLst/>
                          <a:latin typeface="Arial" panose="020B0604020202020204" pitchFamily="34" charset="0"/>
                          <a:ea typeface="+mn-ea"/>
                          <a:cs typeface="Arial" panose="020B0604020202020204" pitchFamily="34" charset="0"/>
                        </a:rPr>
                        <a:t>S. </a:t>
                      </a:r>
                      <a:r>
                        <a:rPr lang="en-US" sz="1600" i="1" kern="1200" dirty="0" err="1" smtClean="0">
                          <a:solidFill>
                            <a:schemeClr val="dk1"/>
                          </a:solidFill>
                          <a:effectLst/>
                          <a:latin typeface="Arial" panose="020B0604020202020204" pitchFamily="34" charset="0"/>
                          <a:ea typeface="+mn-ea"/>
                          <a:cs typeface="Arial" panose="020B0604020202020204" pitchFamily="34" charset="0"/>
                        </a:rPr>
                        <a:t>flexneri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và</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thường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gặp</a:t>
                      </a:r>
                      <a:r>
                        <a:rPr lang="en-US" sz="1600" kern="1200" dirty="0" smtClean="0">
                          <a:solidFill>
                            <a:schemeClr val="dk1"/>
                          </a:solidFill>
                          <a:effectLst/>
                          <a:latin typeface="Arial" panose="020B0604020202020204" pitchFamily="34" charset="0"/>
                          <a:ea typeface="+mn-ea"/>
                          <a:cs typeface="Arial" panose="020B0604020202020204" pitchFamily="34" charset="0"/>
                        </a:rPr>
                        <a:t> ở </a:t>
                      </a:r>
                      <a:r>
                        <a:rPr lang="en-US" sz="1600" kern="1200" dirty="0" err="1" smtClean="0">
                          <a:solidFill>
                            <a:schemeClr val="dk1"/>
                          </a:solidFill>
                          <a:effectLst/>
                          <a:latin typeface="Arial" panose="020B0604020202020204" pitchFamily="34" charset="0"/>
                          <a:ea typeface="+mn-ea"/>
                          <a:cs typeface="Arial" panose="020B0604020202020204" pitchFamily="34" charset="0"/>
                        </a:rPr>
                        <a:t>các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nước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nhiệt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đới</a:t>
                      </a:r>
                      <a:r>
                        <a:rPr lang="en-US" sz="1600" kern="1200" dirty="0" smtClean="0">
                          <a:solidFill>
                            <a:schemeClr val="dk1"/>
                          </a:solidFill>
                          <a:effectLst/>
                          <a:latin typeface="Arial" panose="020B0604020202020204" pitchFamily="34" charset="0"/>
                          <a:ea typeface="+mn-ea"/>
                          <a:cs typeface="Arial" panose="020B0604020202020204" pitchFamily="34" charset="0"/>
                        </a:rPr>
                        <a:t> </a:t>
                      </a:r>
                    </a:p>
                  </a:txBody>
                  <a:tcPr marL="68580" marR="68580" marT="34290" marB="3429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i="1" kern="1200" dirty="0" smtClean="0">
                          <a:solidFill>
                            <a:schemeClr val="dk1"/>
                          </a:solidFill>
                          <a:effectLst/>
                          <a:latin typeface="Arial" panose="020B0604020202020204" pitchFamily="34" charset="0"/>
                          <a:ea typeface="+mn-ea"/>
                          <a:cs typeface="Arial" panose="020B0604020202020204" pitchFamily="34" charset="0"/>
                        </a:rPr>
                        <a:t>S. </a:t>
                      </a:r>
                      <a:r>
                        <a:rPr lang="en-US" sz="1600" i="1" kern="1200" dirty="0" err="1" smtClean="0">
                          <a:solidFill>
                            <a:schemeClr val="dk1"/>
                          </a:solidFill>
                          <a:effectLst/>
                          <a:latin typeface="Arial" panose="020B0604020202020204" pitchFamily="34" charset="0"/>
                          <a:ea typeface="+mn-ea"/>
                          <a:cs typeface="Arial" panose="020B0604020202020204" pitchFamily="34" charset="0"/>
                        </a:rPr>
                        <a:t>dysenteriae</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týp</a:t>
                      </a:r>
                      <a:r>
                        <a:rPr lang="en-US" sz="1600" kern="1200" dirty="0" smtClean="0">
                          <a:solidFill>
                            <a:schemeClr val="dk1"/>
                          </a:solidFill>
                          <a:effectLst/>
                          <a:latin typeface="Arial" panose="020B0604020202020204" pitchFamily="34" charset="0"/>
                          <a:ea typeface="+mn-ea"/>
                          <a:cs typeface="Arial" panose="020B0604020202020204" pitchFamily="34" charset="0"/>
                        </a:rPr>
                        <a:t> 1, </a:t>
                      </a:r>
                      <a:r>
                        <a:rPr lang="en-US" sz="1600" i="1" kern="1200" dirty="0" smtClean="0">
                          <a:solidFill>
                            <a:schemeClr val="dk1"/>
                          </a:solidFill>
                          <a:effectLst/>
                          <a:latin typeface="Arial" panose="020B0604020202020204" pitchFamily="34" charset="0"/>
                          <a:ea typeface="+mn-ea"/>
                          <a:cs typeface="Arial" panose="020B0604020202020204" pitchFamily="34" charset="0"/>
                        </a:rPr>
                        <a:t>S. </a:t>
                      </a:r>
                      <a:r>
                        <a:rPr lang="en-US" sz="1600" i="1" kern="1200" dirty="0" err="1" smtClean="0">
                          <a:solidFill>
                            <a:schemeClr val="dk1"/>
                          </a:solidFill>
                          <a:effectLst/>
                          <a:latin typeface="Arial" panose="020B0604020202020204" pitchFamily="34" charset="0"/>
                          <a:ea typeface="+mn-ea"/>
                          <a:cs typeface="Arial" panose="020B0604020202020204" pitchFamily="34" charset="0"/>
                        </a:rPr>
                        <a:t>flexneri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và</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thường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gặp</a:t>
                      </a:r>
                      <a:r>
                        <a:rPr lang="en-US" sz="1600" kern="1200" dirty="0" smtClean="0">
                          <a:solidFill>
                            <a:schemeClr val="dk1"/>
                          </a:solidFill>
                          <a:effectLst/>
                          <a:latin typeface="Arial" panose="020B0604020202020204" pitchFamily="34" charset="0"/>
                          <a:ea typeface="+mn-ea"/>
                          <a:cs typeface="Arial" panose="020B0604020202020204" pitchFamily="34" charset="0"/>
                        </a:rPr>
                        <a:t> ở </a:t>
                      </a:r>
                      <a:r>
                        <a:rPr lang="en-US" sz="1600" kern="1200" dirty="0" err="1" smtClean="0">
                          <a:solidFill>
                            <a:schemeClr val="dk1"/>
                          </a:solidFill>
                          <a:effectLst/>
                          <a:latin typeface="Arial" panose="020B0604020202020204" pitchFamily="34" charset="0"/>
                          <a:ea typeface="+mn-ea"/>
                          <a:cs typeface="Arial" panose="020B0604020202020204" pitchFamily="34" charset="0"/>
                        </a:rPr>
                        <a:t>các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nước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nhiệt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đới</a:t>
                      </a:r>
                      <a:r>
                        <a:rPr lang="en-US" sz="1600" kern="1200" dirty="0" smtClean="0">
                          <a:solidFill>
                            <a:schemeClr val="dk1"/>
                          </a:solidFill>
                          <a:effectLst/>
                          <a:latin typeface="Arial" panose="020B0604020202020204" pitchFamily="34" charset="0"/>
                          <a:ea typeface="+mn-ea"/>
                          <a:cs typeface="Arial" panose="020B0604020202020204" pitchFamily="34" charset="0"/>
                        </a:rPr>
                        <a:t> </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600" dirty="0">
                        <a:latin typeface="Arial" pitchFamily="34" charset="0"/>
                        <a:cs typeface="Arial" pitchFamily="34" charset="0"/>
                      </a:endParaRPr>
                    </a:p>
                  </a:txBody>
                  <a:tcPr marL="68580" marR="68580" marT="34290" marB="34290"/>
                </a:tc>
              </a:tr>
              <a:tr h="3794395">
                <a:tc>
                  <a:txBody>
                    <a:bodyPr/>
                    <a:lstStyle/>
                    <a:p>
                      <a:pPr algn="ctr"/>
                      <a:r>
                        <a:rPr lang="en-US" sz="1600" b="1" i="1" u="none" dirty="0" smtClean="0">
                          <a:latin typeface="Arial" pitchFamily="34" charset="0"/>
                          <a:cs typeface="Arial" pitchFamily="34" charset="0"/>
                        </a:rPr>
                        <a:t>TCLS</a:t>
                      </a:r>
                      <a:endParaRPr lang="en-US" sz="1600" b="1" i="1" u="none" dirty="0">
                        <a:latin typeface="Arial" pitchFamily="34" charset="0"/>
                        <a:cs typeface="Arial" pitchFamily="34" charset="0"/>
                      </a:endParaRPr>
                    </a:p>
                  </a:txBody>
                  <a:tcPr marL="68580" marR="68580" marT="34290" marB="34290" anchor="ctr"/>
                </a:tc>
                <a:tc>
                  <a:txBody>
                    <a:bodyPr/>
                    <a:lstStyle/>
                    <a:p>
                      <a:pPr marL="285750" indent="-285750" algn="just">
                        <a:buFont typeface="Wingdings" pitchFamily="2" charset="2"/>
                        <a:buChar char="q"/>
                      </a:pPr>
                      <a:r>
                        <a:rPr lang="en-US" sz="1600" kern="1200" dirty="0" err="1" smtClean="0">
                          <a:solidFill>
                            <a:schemeClr val="dk1"/>
                          </a:solidFill>
                          <a:effectLst/>
                          <a:latin typeface="Arial" panose="020B0604020202020204" pitchFamily="34" charset="0"/>
                          <a:ea typeface="+mn-ea"/>
                          <a:cs typeface="Arial" panose="020B0604020202020204" pitchFamily="34" charset="0"/>
                        </a:rPr>
                        <a:t>Hội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chứng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nhiễm</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khuẩn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nhẹ</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hoặc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không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rõ</a:t>
                      </a:r>
                      <a:endParaRPr lang="en-US" sz="1600" kern="1200" dirty="0" smtClean="0">
                        <a:solidFill>
                          <a:schemeClr val="dk1"/>
                        </a:solidFill>
                        <a:effectLst/>
                        <a:latin typeface="Arial" panose="020B0604020202020204" pitchFamily="34" charset="0"/>
                        <a:ea typeface="+mn-ea"/>
                        <a:cs typeface="Arial" panose="020B0604020202020204" pitchFamily="34" charset="0"/>
                      </a:endParaRPr>
                    </a:p>
                    <a:p>
                      <a:pPr marL="285750" indent="-285750" algn="just">
                        <a:buFont typeface="Wingdings" pitchFamily="2" charset="2"/>
                        <a:buChar char="q"/>
                      </a:pPr>
                      <a:r>
                        <a:rPr lang="en-US" sz="1600" kern="1200" dirty="0" err="1" smtClean="0">
                          <a:solidFill>
                            <a:schemeClr val="dk1"/>
                          </a:solidFill>
                          <a:effectLst/>
                          <a:latin typeface="Arial" panose="020B0604020202020204" pitchFamily="34" charset="0"/>
                          <a:ea typeface="+mn-ea"/>
                          <a:cs typeface="Arial" panose="020B0604020202020204" pitchFamily="34" charset="0"/>
                        </a:rPr>
                        <a:t>Hội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chứng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lỵ</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nhẹ</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bao</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gồm</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đau</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quặn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bụng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ngoài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dưới</a:t>
                      </a:r>
                      <a:r>
                        <a:rPr lang="en-US" sz="1600" kern="1200" dirty="0" smtClean="0">
                          <a:solidFill>
                            <a:schemeClr val="dk1"/>
                          </a:solidFill>
                          <a:effectLst/>
                          <a:latin typeface="Arial" panose="020B0604020202020204" pitchFamily="34" charset="0"/>
                          <a:ea typeface="+mn-ea"/>
                          <a:cs typeface="Arial" panose="020B0604020202020204" pitchFamily="34" charset="0"/>
                        </a:rPr>
                        <a:t> 10 </a:t>
                      </a:r>
                      <a:r>
                        <a:rPr lang="en-US" sz="1600" kern="1200" dirty="0" err="1" smtClean="0">
                          <a:solidFill>
                            <a:schemeClr val="dk1"/>
                          </a:solidFill>
                          <a:effectLst/>
                          <a:latin typeface="Arial" panose="020B0604020202020204" pitchFamily="34" charset="0"/>
                          <a:ea typeface="+mn-ea"/>
                          <a:cs typeface="Arial" panose="020B0604020202020204" pitchFamily="34" charset="0"/>
                        </a:rPr>
                        <a:t>lần</a:t>
                      </a:r>
                      <a:r>
                        <a:rPr lang="en-US" sz="1600" kern="1200" dirty="0" smtClean="0">
                          <a:solidFill>
                            <a:schemeClr val="dk1"/>
                          </a:solidFill>
                          <a:effectLst/>
                          <a:latin typeface="Arial" panose="020B0604020202020204" pitchFamily="34" charset="0"/>
                          <a:ea typeface="+mn-ea"/>
                          <a:cs typeface="Arial" panose="020B0604020202020204" pitchFamily="34" charset="0"/>
                        </a:rPr>
                        <a:t>/</a:t>
                      </a:r>
                      <a:r>
                        <a:rPr lang="en-US" sz="1600" kern="1200" dirty="0" err="1" smtClean="0">
                          <a:solidFill>
                            <a:schemeClr val="dk1"/>
                          </a:solidFill>
                          <a:effectLst/>
                          <a:latin typeface="Arial" panose="020B0604020202020204" pitchFamily="34" charset="0"/>
                          <a:ea typeface="+mn-ea"/>
                          <a:cs typeface="Arial" panose="020B0604020202020204" pitchFamily="34" charset="0"/>
                        </a:rPr>
                        <a:t>ngày</a:t>
                      </a:r>
                      <a:r>
                        <a:rPr lang="en-US" sz="1600" kern="1200" dirty="0" smtClean="0">
                          <a:solidFill>
                            <a:schemeClr val="dk1"/>
                          </a:solidFill>
                          <a:effectLst/>
                          <a:latin typeface="Arial" panose="020B0604020202020204" pitchFamily="34" charset="0"/>
                          <a:ea typeface="+mn-ea"/>
                          <a:cs typeface="Arial" panose="020B0604020202020204" pitchFamily="34" charset="0"/>
                        </a:rPr>
                        <a:t>.</a:t>
                      </a:r>
                      <a:r>
                        <a:rPr lang="en-US" sz="1600" kern="1200" baseline="0" dirty="0" smtClean="0">
                          <a:solidFill>
                            <a:schemeClr val="dk1"/>
                          </a:solidFill>
                          <a:effectLst/>
                          <a:latin typeface="Arial" panose="020B0604020202020204" pitchFamily="34" charset="0"/>
                          <a:ea typeface="+mn-ea"/>
                          <a:cs typeface="Arial" panose="020B0604020202020204" pitchFamily="34" charset="0"/>
                        </a:rPr>
                        <a:t>   </a:t>
                      </a:r>
                    </a:p>
                    <a:p>
                      <a:pPr marL="285750" indent="-285750" algn="just">
                        <a:buFont typeface="Wingdings" pitchFamily="2" charset="2"/>
                        <a:buChar char="q"/>
                      </a:pPr>
                      <a:r>
                        <a:rPr lang="en-US" sz="1600" kern="1200" dirty="0" err="1" smtClean="0">
                          <a:solidFill>
                            <a:schemeClr val="dk1"/>
                          </a:solidFill>
                          <a:effectLst/>
                          <a:latin typeface="Arial" panose="020B0604020202020204" pitchFamily="34" charset="0"/>
                          <a:ea typeface="+mn-ea"/>
                          <a:cs typeface="Arial" panose="020B0604020202020204" pitchFamily="34" charset="0"/>
                        </a:rPr>
                        <a:t>Bệnh</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tự</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giảm</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nhanh</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bệnh</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nhân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phục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hồi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trong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vòng</a:t>
                      </a:r>
                      <a:r>
                        <a:rPr lang="en-US" sz="1600" kern="1200" dirty="0" smtClean="0">
                          <a:solidFill>
                            <a:schemeClr val="dk1"/>
                          </a:solidFill>
                          <a:effectLst/>
                          <a:latin typeface="Arial" panose="020B0604020202020204" pitchFamily="34" charset="0"/>
                          <a:ea typeface="+mn-ea"/>
                          <a:cs typeface="Arial" panose="020B0604020202020204" pitchFamily="34" charset="0"/>
                        </a:rPr>
                        <a:t> 1 </a:t>
                      </a:r>
                      <a:r>
                        <a:rPr lang="en-US" sz="1600" kern="1200" dirty="0" err="1" smtClean="0">
                          <a:solidFill>
                            <a:schemeClr val="dk1"/>
                          </a:solidFill>
                          <a:effectLst/>
                          <a:latin typeface="Arial" panose="020B0604020202020204" pitchFamily="34" charset="0"/>
                          <a:ea typeface="+mn-ea"/>
                          <a:cs typeface="Arial" panose="020B0604020202020204" pitchFamily="34" charset="0"/>
                        </a:rPr>
                        <a:t>tuần</a:t>
                      </a:r>
                      <a:r>
                        <a:rPr lang="en-US" sz="1600" kern="1200" dirty="0" smtClean="0">
                          <a:solidFill>
                            <a:schemeClr val="dk1"/>
                          </a:solidFill>
                          <a:effectLst/>
                          <a:latin typeface="Arial" panose="020B0604020202020204" pitchFamily="34" charset="0"/>
                          <a:ea typeface="+mn-ea"/>
                          <a:cs typeface="Arial" panose="020B0604020202020204" pitchFamily="34" charset="0"/>
                        </a:rPr>
                        <a:t> </a:t>
                      </a:r>
                      <a:endParaRPr lang="en-US" sz="1600" dirty="0">
                        <a:latin typeface="Arial" pitchFamily="34" charset="0"/>
                        <a:cs typeface="Arial" pitchFamily="34" charset="0"/>
                      </a:endParaRPr>
                    </a:p>
                  </a:txBody>
                  <a:tcPr marL="68580" marR="68580" marT="34290" marB="34290"/>
                </a:tc>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itchFamily="2" charset="2"/>
                        <a:buChar char="q"/>
                        <a:tabLst/>
                        <a:defRPr/>
                      </a:pPr>
                      <a:r>
                        <a:rPr lang="en-US" sz="1600" kern="1200" dirty="0" err="1" smtClean="0">
                          <a:solidFill>
                            <a:schemeClr val="dk1"/>
                          </a:solidFill>
                          <a:effectLst/>
                          <a:latin typeface="Arial" panose="020B0604020202020204" pitchFamily="34" charset="0"/>
                          <a:ea typeface="+mn-ea"/>
                          <a:cs typeface="Arial" panose="020B0604020202020204" pitchFamily="34" charset="0"/>
                        </a:rPr>
                        <a:t>Hội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chứng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nhiễm</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khuẩn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điển</a:t>
                      </a:r>
                      <a:r>
                        <a:rPr lang="en-US" sz="1600" kern="1200" baseline="0" dirty="0" smtClean="0">
                          <a:solidFill>
                            <a:schemeClr val="dk1"/>
                          </a:solidFill>
                          <a:effectLst/>
                          <a:latin typeface="Arial" panose="020B0604020202020204" pitchFamily="34" charset="0"/>
                          <a:ea typeface="+mn-ea"/>
                          <a:cs typeface="Arial" panose="020B0604020202020204" pitchFamily="34" charset="0"/>
                        </a:rPr>
                        <a:t> </a:t>
                      </a:r>
                      <a:r>
                        <a:rPr lang="en-US" sz="1600" kern="1200" baseline="0" dirty="0" err="1" smtClean="0">
                          <a:solidFill>
                            <a:schemeClr val="dk1"/>
                          </a:solidFill>
                          <a:effectLst/>
                          <a:latin typeface="Arial" panose="020B0604020202020204" pitchFamily="34" charset="0"/>
                          <a:ea typeface="+mn-ea"/>
                          <a:cs typeface="Arial" panose="020B0604020202020204" pitchFamily="34" charset="0"/>
                        </a:rPr>
                        <a:t>hình</a:t>
                      </a:r>
                      <a:r>
                        <a:rPr lang="en-US" sz="1600" kern="1200" baseline="0" dirty="0" smtClean="0">
                          <a:solidFill>
                            <a:schemeClr val="dk1"/>
                          </a:solidFill>
                          <a:effectLst/>
                          <a:latin typeface="Arial" panose="020B0604020202020204" pitchFamily="34" charset="0"/>
                          <a:ea typeface="+mn-ea"/>
                          <a:cs typeface="Arial" panose="020B0604020202020204" pitchFamily="34" charset="0"/>
                        </a:rPr>
                        <a:t> </a:t>
                      </a:r>
                      <a:r>
                        <a:rPr lang="en-US" sz="1600" kern="1200" baseline="0" dirty="0" err="1" smtClean="0">
                          <a:solidFill>
                            <a:schemeClr val="dk1"/>
                          </a:solidFill>
                          <a:effectLst/>
                          <a:latin typeface="Arial" panose="020B0604020202020204" pitchFamily="34" charset="0"/>
                          <a:ea typeface="+mn-ea"/>
                          <a:cs typeface="Arial" panose="020B0604020202020204" pitchFamily="34" charset="0"/>
                        </a:rPr>
                        <a:t>hơn</a:t>
                      </a:r>
                      <a:endParaRPr lang="en-US" sz="1600" kern="1200" baseline="0" dirty="0" smtClean="0">
                        <a:solidFill>
                          <a:schemeClr val="dk1"/>
                        </a:solidFill>
                        <a:effectLst/>
                        <a:latin typeface="Arial" panose="020B0604020202020204" pitchFamily="34" charset="0"/>
                        <a:ea typeface="+mn-ea"/>
                        <a:cs typeface="Arial" panose="020B0604020202020204" pitchFamily="34" charset="0"/>
                      </a:endParaRPr>
                    </a:p>
                    <a:p>
                      <a:pPr marL="285750" marR="0" indent="-285750" algn="just" defTabSz="914400" rtl="0" eaLnBrk="1" fontAlgn="auto" latinLnBrk="0" hangingPunct="1">
                        <a:lnSpc>
                          <a:spcPct val="100000"/>
                        </a:lnSpc>
                        <a:spcBef>
                          <a:spcPts val="0"/>
                        </a:spcBef>
                        <a:spcAft>
                          <a:spcPts val="0"/>
                        </a:spcAft>
                        <a:buClrTx/>
                        <a:buSzTx/>
                        <a:buFont typeface="Wingdings" pitchFamily="2" charset="2"/>
                        <a:buChar char="q"/>
                        <a:tabLst/>
                        <a:defRPr/>
                      </a:pPr>
                      <a:r>
                        <a:rPr lang="en-US" sz="1600" kern="1200" dirty="0" err="1" smtClean="0">
                          <a:solidFill>
                            <a:schemeClr val="dk1"/>
                          </a:solidFill>
                          <a:effectLst/>
                          <a:latin typeface="Arial" panose="020B0604020202020204" pitchFamily="34" charset="0"/>
                          <a:ea typeface="+mn-ea"/>
                          <a:cs typeface="Arial" panose="020B0604020202020204" pitchFamily="34" charset="0"/>
                        </a:rPr>
                        <a:t>Hội</a:t>
                      </a:r>
                      <a:r>
                        <a:rPr lang="en-US" sz="1600" kern="1200" baseline="0" dirty="0" smtClean="0">
                          <a:solidFill>
                            <a:schemeClr val="dk1"/>
                          </a:solidFill>
                          <a:effectLst/>
                          <a:latin typeface="Arial" panose="020B0604020202020204" pitchFamily="34" charset="0"/>
                          <a:ea typeface="+mn-ea"/>
                          <a:cs typeface="Arial" panose="020B0604020202020204" pitchFamily="34" charset="0"/>
                        </a:rPr>
                        <a:t> </a:t>
                      </a:r>
                      <a:r>
                        <a:rPr lang="en-US" sz="1600" kern="1200" baseline="0" dirty="0" err="1" smtClean="0">
                          <a:solidFill>
                            <a:schemeClr val="dk1"/>
                          </a:solidFill>
                          <a:effectLst/>
                          <a:latin typeface="Arial" panose="020B0604020202020204" pitchFamily="34" charset="0"/>
                          <a:ea typeface="+mn-ea"/>
                          <a:cs typeface="Arial" panose="020B0604020202020204" pitchFamily="34" charset="0"/>
                        </a:rPr>
                        <a:t>chứng</a:t>
                      </a:r>
                      <a:r>
                        <a:rPr lang="en-US" sz="1600" kern="1200" baseline="0" dirty="0" smtClean="0">
                          <a:solidFill>
                            <a:schemeClr val="dk1"/>
                          </a:solidFill>
                          <a:effectLst/>
                          <a:latin typeface="Arial" panose="020B0604020202020204" pitchFamily="34" charset="0"/>
                          <a:ea typeface="+mn-ea"/>
                          <a:cs typeface="Arial" panose="020B0604020202020204" pitchFamily="34" charset="0"/>
                        </a:rPr>
                        <a:t> </a:t>
                      </a:r>
                      <a:r>
                        <a:rPr lang="en-US" sz="1600" kern="1200" baseline="0" dirty="0" err="1" smtClean="0">
                          <a:solidFill>
                            <a:schemeClr val="dk1"/>
                          </a:solidFill>
                          <a:effectLst/>
                          <a:latin typeface="Arial" panose="020B0604020202020204" pitchFamily="34" charset="0"/>
                          <a:ea typeface="+mn-ea"/>
                          <a:cs typeface="Arial" panose="020B0604020202020204" pitchFamily="34" charset="0"/>
                        </a:rPr>
                        <a:t>lỵ</a:t>
                      </a:r>
                      <a:r>
                        <a:rPr lang="en-US" sz="1600" kern="1200" baseline="0" dirty="0" smtClean="0">
                          <a:solidFill>
                            <a:schemeClr val="dk1"/>
                          </a:solidFill>
                          <a:effectLst/>
                          <a:latin typeface="Arial" panose="020B0604020202020204" pitchFamily="34" charset="0"/>
                          <a:ea typeface="+mn-ea"/>
                          <a:cs typeface="Arial" panose="020B0604020202020204" pitchFamily="34" charset="0"/>
                        </a:rPr>
                        <a:t> </a:t>
                      </a:r>
                      <a:r>
                        <a:rPr lang="en-US" sz="1600" kern="1200" baseline="0" dirty="0" err="1" smtClean="0">
                          <a:solidFill>
                            <a:schemeClr val="dk1"/>
                          </a:solidFill>
                          <a:effectLst/>
                          <a:latin typeface="Arial" panose="020B0604020202020204" pitchFamily="34" charset="0"/>
                          <a:ea typeface="+mn-ea"/>
                          <a:cs typeface="Arial" panose="020B0604020202020204" pitchFamily="34" charset="0"/>
                        </a:rPr>
                        <a:t>rõ</a:t>
                      </a:r>
                      <a:r>
                        <a:rPr lang="en-US" sz="1600" kern="1200" baseline="0" dirty="0" smtClean="0">
                          <a:solidFill>
                            <a:schemeClr val="dk1"/>
                          </a:solidFill>
                          <a:effectLst/>
                          <a:latin typeface="Arial" panose="020B0604020202020204" pitchFamily="34" charset="0"/>
                          <a:ea typeface="+mn-ea"/>
                          <a:cs typeface="Arial" panose="020B0604020202020204" pitchFamily="34" charset="0"/>
                        </a:rPr>
                        <a:t> </a:t>
                      </a:r>
                      <a:r>
                        <a:rPr lang="en-US" sz="1600" kern="1200" baseline="0" dirty="0" err="1" smtClean="0">
                          <a:solidFill>
                            <a:schemeClr val="dk1"/>
                          </a:solidFill>
                          <a:effectLst/>
                          <a:latin typeface="Arial" panose="020B0604020202020204" pitchFamily="34" charset="0"/>
                          <a:ea typeface="+mn-ea"/>
                          <a:cs typeface="Arial" panose="020B0604020202020204" pitchFamily="34" charset="0"/>
                        </a:rPr>
                        <a:t>ràng</a:t>
                      </a:r>
                      <a:r>
                        <a:rPr lang="en-US" sz="1600" kern="1200" baseline="0" dirty="0" smtClean="0">
                          <a:solidFill>
                            <a:schemeClr val="dk1"/>
                          </a:solidFill>
                          <a:effectLst/>
                          <a:latin typeface="Arial" panose="020B0604020202020204" pitchFamily="34" charset="0"/>
                          <a:ea typeface="+mn-ea"/>
                          <a:cs typeface="Arial" panose="020B0604020202020204" pitchFamily="34" charset="0"/>
                        </a:rPr>
                        <a:t> </a:t>
                      </a:r>
                      <a:r>
                        <a:rPr lang="en-US" sz="1600" kern="1200" baseline="0" dirty="0" err="1" smtClean="0">
                          <a:solidFill>
                            <a:schemeClr val="dk1"/>
                          </a:solidFill>
                          <a:effectLst/>
                          <a:latin typeface="Arial" panose="020B0604020202020204" pitchFamily="34" charset="0"/>
                          <a:ea typeface="+mn-ea"/>
                          <a:cs typeface="Arial" panose="020B0604020202020204" pitchFamily="34" charset="0"/>
                        </a:rPr>
                        <a:t>hơn</a:t>
                      </a:r>
                      <a:r>
                        <a:rPr lang="en-US" sz="1600" kern="1200" baseline="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Bệnh</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nhân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ngoài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từ</a:t>
                      </a:r>
                      <a:r>
                        <a:rPr lang="en-US" sz="1600" kern="1200" dirty="0" smtClean="0">
                          <a:solidFill>
                            <a:schemeClr val="dk1"/>
                          </a:solidFill>
                          <a:effectLst/>
                          <a:latin typeface="Arial" panose="020B0604020202020204" pitchFamily="34" charset="0"/>
                          <a:ea typeface="+mn-ea"/>
                          <a:cs typeface="Arial" panose="020B0604020202020204" pitchFamily="34" charset="0"/>
                        </a:rPr>
                        <a:t> 15 </a:t>
                      </a:r>
                      <a:r>
                        <a:rPr lang="en-US" sz="1600" kern="1200" dirty="0" err="1" smtClean="0">
                          <a:solidFill>
                            <a:schemeClr val="dk1"/>
                          </a:solidFill>
                          <a:effectLst/>
                          <a:latin typeface="Arial" panose="020B0604020202020204" pitchFamily="34" charset="0"/>
                          <a:ea typeface="+mn-ea"/>
                          <a:cs typeface="Arial" panose="020B0604020202020204" pitchFamily="34" charset="0"/>
                        </a:rPr>
                        <a:t>đến</a:t>
                      </a:r>
                      <a:r>
                        <a:rPr lang="en-US" sz="1600" kern="1200" dirty="0" smtClean="0">
                          <a:solidFill>
                            <a:schemeClr val="dk1"/>
                          </a:solidFill>
                          <a:effectLst/>
                          <a:latin typeface="Arial" panose="020B0604020202020204" pitchFamily="34" charset="0"/>
                          <a:ea typeface="+mn-ea"/>
                          <a:cs typeface="Arial" panose="020B0604020202020204" pitchFamily="34" charset="0"/>
                        </a:rPr>
                        <a:t> 20 </a:t>
                      </a:r>
                      <a:r>
                        <a:rPr lang="en-US" sz="1600" kern="1200" dirty="0" err="1" smtClean="0">
                          <a:solidFill>
                            <a:schemeClr val="dk1"/>
                          </a:solidFill>
                          <a:effectLst/>
                          <a:latin typeface="Arial" panose="020B0604020202020204" pitchFamily="34" charset="0"/>
                          <a:ea typeface="+mn-ea"/>
                          <a:cs typeface="Arial" panose="020B0604020202020204" pitchFamily="34" charset="0"/>
                        </a:rPr>
                        <a:t>lần</a:t>
                      </a:r>
                      <a:r>
                        <a:rPr lang="en-US" sz="1600" kern="1200" dirty="0" smtClean="0">
                          <a:solidFill>
                            <a:schemeClr val="dk1"/>
                          </a:solidFill>
                          <a:effectLst/>
                          <a:latin typeface="Arial" panose="020B0604020202020204" pitchFamily="34" charset="0"/>
                          <a:ea typeface="+mn-ea"/>
                          <a:cs typeface="Arial" panose="020B0604020202020204" pitchFamily="34" charset="0"/>
                        </a:rPr>
                        <a:t>/</a:t>
                      </a:r>
                      <a:r>
                        <a:rPr lang="en-US" sz="1600" kern="1200" dirty="0" err="1" smtClean="0">
                          <a:solidFill>
                            <a:schemeClr val="dk1"/>
                          </a:solidFill>
                          <a:effectLst/>
                          <a:latin typeface="Arial" panose="020B0604020202020204" pitchFamily="34" charset="0"/>
                          <a:ea typeface="+mn-ea"/>
                          <a:cs typeface="Arial" panose="020B0604020202020204" pitchFamily="34" charset="0"/>
                        </a:rPr>
                        <a:t>ngày</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kèm</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theo</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mất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nước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khát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nước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môi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khô</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lưỡi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bựa</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trắng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p>
                    <a:p>
                      <a:pPr marL="285750" marR="0" indent="-285750" algn="just" defTabSz="914400" rtl="0" eaLnBrk="1" fontAlgn="auto" latinLnBrk="0" hangingPunct="1">
                        <a:lnSpc>
                          <a:spcPct val="100000"/>
                        </a:lnSpc>
                        <a:spcBef>
                          <a:spcPts val="0"/>
                        </a:spcBef>
                        <a:spcAft>
                          <a:spcPts val="0"/>
                        </a:spcAft>
                        <a:buClrTx/>
                        <a:buSzTx/>
                        <a:buFont typeface="Wingdings" pitchFamily="2" charset="2"/>
                        <a:buChar char="q"/>
                        <a:tabLst/>
                        <a:defRPr/>
                      </a:pPr>
                      <a:r>
                        <a:rPr lang="en-US" sz="1600" kern="1200" dirty="0" err="1" smtClean="0">
                          <a:solidFill>
                            <a:schemeClr val="dk1"/>
                          </a:solidFill>
                          <a:effectLst/>
                          <a:latin typeface="Arial" panose="020B0604020202020204" pitchFamily="34" charset="0"/>
                          <a:ea typeface="+mn-ea"/>
                          <a:cs typeface="Arial" panose="020B0604020202020204" pitchFamily="34" charset="0"/>
                        </a:rPr>
                        <a:t>Được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điều</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trị</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tốt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bệnh</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nhân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sẽ</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phục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hồi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sau</a:t>
                      </a:r>
                      <a:r>
                        <a:rPr lang="en-US" sz="1600" kern="1200" dirty="0" smtClean="0">
                          <a:solidFill>
                            <a:schemeClr val="dk1"/>
                          </a:solidFill>
                          <a:effectLst/>
                          <a:latin typeface="Arial" panose="020B0604020202020204" pitchFamily="34" charset="0"/>
                          <a:ea typeface="+mn-ea"/>
                          <a:cs typeface="Arial" panose="020B0604020202020204" pitchFamily="34" charset="0"/>
                        </a:rPr>
                        <a:t> 7 </a:t>
                      </a:r>
                      <a:r>
                        <a:rPr lang="en-US" sz="1600" kern="1200" dirty="0" err="1" smtClean="0">
                          <a:solidFill>
                            <a:schemeClr val="dk1"/>
                          </a:solidFill>
                          <a:effectLst/>
                          <a:latin typeface="Arial" panose="020B0604020202020204" pitchFamily="34" charset="0"/>
                          <a:ea typeface="+mn-ea"/>
                          <a:cs typeface="Arial" panose="020B0604020202020204" pitchFamily="34" charset="0"/>
                        </a:rPr>
                        <a:t>đến</a:t>
                      </a:r>
                      <a:r>
                        <a:rPr lang="en-US" sz="1600" kern="1200" dirty="0" smtClean="0">
                          <a:solidFill>
                            <a:schemeClr val="dk1"/>
                          </a:solidFill>
                          <a:effectLst/>
                          <a:latin typeface="Arial" panose="020B0604020202020204" pitchFamily="34" charset="0"/>
                          <a:ea typeface="+mn-ea"/>
                          <a:cs typeface="Arial" panose="020B0604020202020204" pitchFamily="34" charset="0"/>
                        </a:rPr>
                        <a:t> 14 </a:t>
                      </a:r>
                      <a:r>
                        <a:rPr lang="en-US" sz="1600" kern="1200" dirty="0" err="1" smtClean="0">
                          <a:solidFill>
                            <a:schemeClr val="dk1"/>
                          </a:solidFill>
                          <a:effectLst/>
                          <a:latin typeface="Arial" panose="020B0604020202020204" pitchFamily="34" charset="0"/>
                          <a:ea typeface="+mn-ea"/>
                          <a:cs typeface="Arial" panose="020B0604020202020204" pitchFamily="34" charset="0"/>
                        </a:rPr>
                        <a:t>ngày</a:t>
                      </a:r>
                      <a:r>
                        <a:rPr lang="en-US" sz="1600" kern="1200" dirty="0" smtClean="0">
                          <a:solidFill>
                            <a:schemeClr val="dk1"/>
                          </a:solidFill>
                          <a:effectLst/>
                          <a:latin typeface="Arial" panose="020B0604020202020204" pitchFamily="34" charset="0"/>
                          <a:ea typeface="+mn-ea"/>
                          <a:cs typeface="Arial" panose="020B0604020202020204" pitchFamily="34" charset="0"/>
                        </a:rPr>
                        <a:t> </a:t>
                      </a:r>
                      <a:endParaRPr lang="en-US" sz="1600" dirty="0">
                        <a:latin typeface="Arial" pitchFamily="34" charset="0"/>
                        <a:cs typeface="Arial" pitchFamily="34" charset="0"/>
                      </a:endParaRPr>
                    </a:p>
                  </a:txBody>
                  <a:tcPr marL="68580" marR="68580" marT="34290" marB="34290"/>
                </a:tc>
                <a:tc>
                  <a:txBody>
                    <a:bodyPr/>
                    <a:lstStyle/>
                    <a:p>
                      <a:pPr marL="285750" marR="0" indent="-285750" algn="just" defTabSz="914400" rtl="0" eaLnBrk="1" fontAlgn="auto" latinLnBrk="0" hangingPunct="1">
                        <a:lnSpc>
                          <a:spcPct val="100000"/>
                        </a:lnSpc>
                        <a:spcBef>
                          <a:spcPts val="0"/>
                        </a:spcBef>
                        <a:spcAft>
                          <a:spcPts val="0"/>
                        </a:spcAft>
                        <a:buClrTx/>
                        <a:buSzTx/>
                        <a:buFont typeface="Wingdings" pitchFamily="2" charset="2"/>
                        <a:buChar char="q"/>
                        <a:tabLst/>
                        <a:defRPr/>
                      </a:pPr>
                      <a:r>
                        <a:rPr lang="en-US" sz="1600" kern="1200" dirty="0" err="1" smtClean="0">
                          <a:solidFill>
                            <a:schemeClr val="dk1"/>
                          </a:solidFill>
                          <a:effectLst/>
                          <a:latin typeface="Arial" panose="020B0604020202020204" pitchFamily="34" charset="0"/>
                          <a:ea typeface="+mn-ea"/>
                          <a:cs typeface="Arial" panose="020B0604020202020204" pitchFamily="34" charset="0"/>
                        </a:rPr>
                        <a:t>Thể</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này</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ít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gặp</a:t>
                      </a:r>
                      <a:r>
                        <a:rPr lang="en-US" sz="1600" kern="1200" dirty="0" smtClean="0">
                          <a:solidFill>
                            <a:schemeClr val="dk1"/>
                          </a:solidFill>
                          <a:effectLst/>
                          <a:latin typeface="Arial" panose="020B0604020202020204" pitchFamily="34" charset="0"/>
                          <a:ea typeface="+mn-ea"/>
                          <a:cs typeface="Arial" panose="020B0604020202020204" pitchFamily="34" charset="0"/>
                        </a:rPr>
                        <a:t>.</a:t>
                      </a:r>
                    </a:p>
                    <a:p>
                      <a:pPr marL="285750" marR="0" indent="-285750" algn="just" defTabSz="914400" rtl="0" eaLnBrk="1" fontAlgn="auto" latinLnBrk="0" hangingPunct="1">
                        <a:lnSpc>
                          <a:spcPct val="100000"/>
                        </a:lnSpc>
                        <a:spcBef>
                          <a:spcPts val="0"/>
                        </a:spcBef>
                        <a:spcAft>
                          <a:spcPts val="0"/>
                        </a:spcAft>
                        <a:buClrTx/>
                        <a:buSzTx/>
                        <a:buFont typeface="Wingdings" pitchFamily="2" charset="2"/>
                        <a:buChar char="q"/>
                        <a:tabLst/>
                        <a:defRPr/>
                      </a:pP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Có</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hội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chứng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nhiễm</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khuẩn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rất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rõ</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rệt</a:t>
                      </a:r>
                      <a:endParaRPr lang="en-US" sz="1600" kern="1200" dirty="0" smtClean="0">
                        <a:solidFill>
                          <a:schemeClr val="dk1"/>
                        </a:solidFill>
                        <a:effectLst/>
                        <a:latin typeface="Arial" panose="020B0604020202020204" pitchFamily="34" charset="0"/>
                        <a:ea typeface="+mn-ea"/>
                        <a:cs typeface="Arial" panose="020B0604020202020204" pitchFamily="34" charset="0"/>
                      </a:endParaRPr>
                    </a:p>
                    <a:p>
                      <a:pPr marL="285750" marR="0" indent="-285750" algn="just" defTabSz="914400" rtl="0" eaLnBrk="1" fontAlgn="auto" latinLnBrk="0" hangingPunct="1">
                        <a:lnSpc>
                          <a:spcPct val="100000"/>
                        </a:lnSpc>
                        <a:spcBef>
                          <a:spcPts val="0"/>
                        </a:spcBef>
                        <a:spcAft>
                          <a:spcPts val="0"/>
                        </a:spcAft>
                        <a:buClrTx/>
                        <a:buSzTx/>
                        <a:buFont typeface="Wingdings" pitchFamily="2" charset="2"/>
                        <a:buChar char="q"/>
                        <a:tabLst/>
                        <a:defRPr/>
                      </a:pPr>
                      <a:r>
                        <a:rPr lang="en-US" sz="1600" kern="1200" dirty="0" err="1" smtClean="0">
                          <a:solidFill>
                            <a:schemeClr val="dk1"/>
                          </a:solidFill>
                          <a:effectLst/>
                          <a:latin typeface="Arial" panose="020B0604020202020204" pitchFamily="34" charset="0"/>
                          <a:ea typeface="+mn-ea"/>
                          <a:cs typeface="Arial" panose="020B0604020202020204" pitchFamily="34" charset="0"/>
                        </a:rPr>
                        <a:t>Hội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chứng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lỵ</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đau</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quặn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bụng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dữ</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dội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mót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rặn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kèm</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mót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đái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không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kìm</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được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Bệnh</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nhân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ngoài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trên</a:t>
                      </a:r>
                      <a:r>
                        <a:rPr lang="en-US" sz="1600" kern="1200" dirty="0" smtClean="0">
                          <a:solidFill>
                            <a:schemeClr val="dk1"/>
                          </a:solidFill>
                          <a:effectLst/>
                          <a:latin typeface="Arial" panose="020B0604020202020204" pitchFamily="34" charset="0"/>
                          <a:ea typeface="+mn-ea"/>
                          <a:cs typeface="Arial" panose="020B0604020202020204" pitchFamily="34" charset="0"/>
                        </a:rPr>
                        <a:t> 30 </a:t>
                      </a:r>
                      <a:r>
                        <a:rPr lang="en-US" sz="1600" kern="1200" dirty="0" err="1" smtClean="0">
                          <a:solidFill>
                            <a:schemeClr val="dk1"/>
                          </a:solidFill>
                          <a:effectLst/>
                          <a:latin typeface="Arial" panose="020B0604020202020204" pitchFamily="34" charset="0"/>
                          <a:ea typeface="+mn-ea"/>
                          <a:cs typeface="Arial" panose="020B0604020202020204" pitchFamily="34" charset="0"/>
                        </a:rPr>
                        <a:t>lần</a:t>
                      </a:r>
                      <a:r>
                        <a:rPr lang="en-US" sz="1600" kern="1200" dirty="0" smtClean="0">
                          <a:solidFill>
                            <a:schemeClr val="dk1"/>
                          </a:solidFill>
                          <a:effectLst/>
                          <a:latin typeface="Arial" panose="020B0604020202020204" pitchFamily="34" charset="0"/>
                          <a:ea typeface="+mn-ea"/>
                          <a:cs typeface="Arial" panose="020B0604020202020204" pitchFamily="34" charset="0"/>
                        </a:rPr>
                        <a:t>/</a:t>
                      </a:r>
                      <a:r>
                        <a:rPr lang="en-US" sz="1600" kern="1200" dirty="0" err="1" smtClean="0">
                          <a:solidFill>
                            <a:schemeClr val="dk1"/>
                          </a:solidFill>
                          <a:effectLst/>
                          <a:latin typeface="Arial" panose="020B0604020202020204" pitchFamily="34" charset="0"/>
                          <a:ea typeface="+mn-ea"/>
                          <a:cs typeface="Arial" panose="020B0604020202020204" pitchFamily="34" charset="0"/>
                        </a:rPr>
                        <a:t>ngày</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có</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khi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không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đếm</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được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mất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nước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rối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loạn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điện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giải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Bệnh</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nhân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kiệt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sức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nằm</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đại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tiện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tại</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chỗ</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hậu</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môn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mở</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rộng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phân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tự</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chảy</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toàn</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mủ</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và</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máu</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mắt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trũng</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mặt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hốc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hác</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mạch</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nhanh</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yếu</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nhịp</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tim</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mờ</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huyết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áp</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hạ</a:t>
                      </a:r>
                      <a:endParaRPr lang="en-US" sz="1600" kern="1200" dirty="0" smtClean="0">
                        <a:solidFill>
                          <a:schemeClr val="dk1"/>
                        </a:solidFill>
                        <a:effectLst/>
                        <a:latin typeface="Arial" panose="020B0604020202020204" pitchFamily="34" charset="0"/>
                        <a:ea typeface="+mn-ea"/>
                        <a:cs typeface="Arial" panose="020B0604020202020204" pitchFamily="34" charset="0"/>
                      </a:endParaRPr>
                    </a:p>
                    <a:p>
                      <a:pPr marL="285750" marR="0" indent="-285750" algn="just" defTabSz="914400" rtl="0" eaLnBrk="1" fontAlgn="auto" latinLnBrk="0" hangingPunct="1">
                        <a:lnSpc>
                          <a:spcPct val="100000"/>
                        </a:lnSpc>
                        <a:spcBef>
                          <a:spcPts val="0"/>
                        </a:spcBef>
                        <a:spcAft>
                          <a:spcPts val="0"/>
                        </a:spcAft>
                        <a:buClrTx/>
                        <a:buSzTx/>
                        <a:buFont typeface="Wingdings" pitchFamily="2" charset="2"/>
                        <a:buChar char="q"/>
                        <a:tabLst/>
                        <a:defRPr/>
                      </a:pPr>
                      <a:r>
                        <a:rPr lang="en-US" sz="1600" kern="1200" dirty="0" err="1" smtClean="0">
                          <a:solidFill>
                            <a:schemeClr val="dk1"/>
                          </a:solidFill>
                          <a:effectLst/>
                          <a:latin typeface="Arial" panose="020B0604020202020204" pitchFamily="34" charset="0"/>
                          <a:ea typeface="+mn-ea"/>
                          <a:cs typeface="Arial" panose="020B0604020202020204" pitchFamily="34" charset="0"/>
                        </a:rPr>
                        <a:t>Thở</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gấp</a:t>
                      </a:r>
                      <a:r>
                        <a:rPr lang="en-US" sz="1600" kern="1200" dirty="0" smtClean="0">
                          <a:solidFill>
                            <a:schemeClr val="dk1"/>
                          </a:solidFill>
                          <a:effectLst/>
                          <a:latin typeface="Arial" panose="020B0604020202020204" pitchFamily="34" charset="0"/>
                          <a:ea typeface="+mn-ea"/>
                          <a:cs typeface="Arial" panose="020B0604020202020204" pitchFamily="34" charset="0"/>
                        </a:rPr>
                        <a:t>, li </a:t>
                      </a:r>
                      <a:r>
                        <a:rPr lang="en-US" sz="1600" kern="1200" dirty="0" err="1" smtClean="0">
                          <a:solidFill>
                            <a:schemeClr val="dk1"/>
                          </a:solidFill>
                          <a:effectLst/>
                          <a:latin typeface="Arial" panose="020B0604020202020204" pitchFamily="34" charset="0"/>
                          <a:ea typeface="+mn-ea"/>
                          <a:cs typeface="Arial" panose="020B0604020202020204" pitchFamily="34" charset="0"/>
                        </a:rPr>
                        <a:t>bì</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ngủ</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gà</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có</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thể</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chết</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nhanh</a:t>
                      </a:r>
                      <a:r>
                        <a:rPr lang="en-US" sz="1600" kern="1200" dirty="0" smtClean="0">
                          <a:solidFill>
                            <a:schemeClr val="dk1"/>
                          </a:solidFill>
                          <a:effectLst/>
                          <a:latin typeface="Arial" panose="020B0604020202020204" pitchFamily="34" charset="0"/>
                          <a:ea typeface="+mn-ea"/>
                          <a:cs typeface="Arial" panose="020B0604020202020204" pitchFamily="34" charset="0"/>
                        </a:rPr>
                        <a:t> </a:t>
                      </a:r>
                      <a:r>
                        <a:rPr lang="en-US" sz="1600" kern="1200" dirty="0" err="1" smtClean="0">
                          <a:solidFill>
                            <a:schemeClr val="dk1"/>
                          </a:solidFill>
                          <a:effectLst/>
                          <a:latin typeface="Arial" panose="020B0604020202020204" pitchFamily="34" charset="0"/>
                          <a:ea typeface="+mn-ea"/>
                          <a:cs typeface="Arial" panose="020B0604020202020204" pitchFamily="34" charset="0"/>
                        </a:rPr>
                        <a:t>sau</a:t>
                      </a:r>
                      <a:r>
                        <a:rPr lang="en-US" sz="1600" kern="1200" dirty="0" smtClean="0">
                          <a:solidFill>
                            <a:schemeClr val="dk1"/>
                          </a:solidFill>
                          <a:effectLst/>
                          <a:latin typeface="Arial" panose="020B0604020202020204" pitchFamily="34" charset="0"/>
                          <a:ea typeface="+mn-ea"/>
                          <a:cs typeface="Arial" panose="020B0604020202020204" pitchFamily="34" charset="0"/>
                        </a:rPr>
                        <a:t> 3- 7 </a:t>
                      </a:r>
                      <a:r>
                        <a:rPr lang="en-US" sz="1600" kern="1200" dirty="0" err="1" smtClean="0">
                          <a:solidFill>
                            <a:schemeClr val="dk1"/>
                          </a:solidFill>
                          <a:effectLst/>
                          <a:latin typeface="Arial" panose="020B0604020202020204" pitchFamily="34" charset="0"/>
                          <a:ea typeface="+mn-ea"/>
                          <a:cs typeface="Arial" panose="020B0604020202020204" pitchFamily="34" charset="0"/>
                        </a:rPr>
                        <a:t>ngày</a:t>
                      </a:r>
                      <a:endParaRPr lang="en-US" sz="1600" dirty="0" smtClean="0">
                        <a:latin typeface="Arial" pitchFamily="34" charset="0"/>
                        <a:cs typeface="Arial" pitchFamily="34" charset="0"/>
                      </a:endParaRPr>
                    </a:p>
                    <a:p>
                      <a:pPr algn="just"/>
                      <a:endParaRPr lang="en-US" sz="1600" dirty="0">
                        <a:latin typeface="Arial" pitchFamily="34" charset="0"/>
                        <a:cs typeface="Arial" pitchFamily="34" charset="0"/>
                      </a:endParaRPr>
                    </a:p>
                  </a:txBody>
                  <a:tcPr marL="68580" marR="68580" marT="34290" marB="34290"/>
                </a:tc>
              </a:tr>
            </a:tbl>
          </a:graphicData>
        </a:graphic>
      </p:graphicFrame>
      <p:sp>
        <p:nvSpPr>
          <p:cNvPr id="2" name="Cloud Callout 1"/>
          <p:cNvSpPr/>
          <p:nvPr/>
        </p:nvSpPr>
        <p:spPr>
          <a:xfrm>
            <a:off x="4775494" y="880730"/>
            <a:ext cx="1197591" cy="534016"/>
          </a:xfrm>
          <a:prstGeom prst="cloudCallout">
            <a:avLst>
              <a:gd name="adj1" fmla="val -157585"/>
              <a:gd name="adj2" fmla="val 184478"/>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350" dirty="0"/>
              <a:t>Common type</a:t>
            </a:r>
          </a:p>
        </p:txBody>
      </p:sp>
      <p:sp>
        <p:nvSpPr>
          <p:cNvPr id="10" name="Cloud Callout 9"/>
          <p:cNvSpPr/>
          <p:nvPr/>
        </p:nvSpPr>
        <p:spPr>
          <a:xfrm>
            <a:off x="6096000" y="805624"/>
            <a:ext cx="1190400" cy="526311"/>
          </a:xfrm>
          <a:prstGeom prst="cloudCallout">
            <a:avLst>
              <a:gd name="adj1" fmla="val -110577"/>
              <a:gd name="adj2" fmla="val 7743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350" dirty="0"/>
              <a:t>Mild type</a:t>
            </a:r>
          </a:p>
        </p:txBody>
      </p:sp>
      <p:sp>
        <p:nvSpPr>
          <p:cNvPr id="11" name="Cloud Callout 10"/>
          <p:cNvSpPr/>
          <p:nvPr/>
        </p:nvSpPr>
        <p:spPr>
          <a:xfrm>
            <a:off x="7405615" y="790854"/>
            <a:ext cx="1738385" cy="596308"/>
          </a:xfrm>
          <a:prstGeom prst="cloudCallout">
            <a:avLst>
              <a:gd name="adj1" fmla="val -57928"/>
              <a:gd name="adj2" fmla="val 7108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350" dirty="0"/>
              <a:t>Toxic type</a:t>
            </a:r>
          </a:p>
        </p:txBody>
      </p:sp>
      <p:sp>
        <p:nvSpPr>
          <p:cNvPr id="3" name="Wave 2"/>
          <p:cNvSpPr/>
          <p:nvPr/>
        </p:nvSpPr>
        <p:spPr>
          <a:xfrm>
            <a:off x="5237330" y="263185"/>
            <a:ext cx="3282072" cy="367712"/>
          </a:xfrm>
          <a:prstGeom prst="wav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1" dirty="0">
                <a:latin typeface=".VnShelley Allegro" pitchFamily="82" charset="0"/>
              </a:rPr>
              <a:t>Acute dysentery</a:t>
            </a:r>
          </a:p>
        </p:txBody>
      </p:sp>
      <p:sp>
        <p:nvSpPr>
          <p:cNvPr id="9" name="Tiêu đề 1">
            <a:extLst>
              <a:ext uri="{FF2B5EF4-FFF2-40B4-BE49-F238E27FC236}">
                <a16:creationId xmlns:a16="http://schemas.microsoft.com/office/drawing/2014/main" xmlns="" id="{C98A5779-0D20-F746-86A7-119A3BB7F135}"/>
              </a:ext>
            </a:extLst>
          </p:cNvPr>
          <p:cNvSpPr txBox="1">
            <a:spLocks/>
          </p:cNvSpPr>
          <p:nvPr/>
        </p:nvSpPr>
        <p:spPr>
          <a:xfrm>
            <a:off x="152400" y="152400"/>
            <a:ext cx="350520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 </a:t>
            </a:r>
            <a:r>
              <a:rPr lang="vi-VN" sz="4000" b="1" dirty="0" smtClean="0">
                <a:solidFill>
                  <a:srgbClr val="FF0000"/>
                </a:solidFill>
                <a:latin typeface="Arial" pitchFamily="34" charset="0"/>
                <a:ea typeface="+mj-ea"/>
                <a:cs typeface="Arial" pitchFamily="34" charset="0"/>
              </a:rPr>
              <a:t>LÂM SÀNG</a:t>
            </a:r>
            <a:endParaRPr lang="vi-VN" sz="4000" b="1" dirty="0">
              <a:solidFill>
                <a:srgbClr val="FF0000"/>
              </a:solidFill>
              <a:latin typeface="Arial" pitchFamily="34" charset="0"/>
              <a:ea typeface="+mj-ea"/>
              <a:cs typeface="Arial" pitchFamily="34" charset="0"/>
            </a:endParaRPr>
          </a:p>
        </p:txBody>
      </p:sp>
      <p:sp>
        <p:nvSpPr>
          <p:cNvPr id="12" name="TextBox 11"/>
          <p:cNvSpPr txBox="1"/>
          <p:nvPr/>
        </p:nvSpPr>
        <p:spPr>
          <a:xfrm>
            <a:off x="1219200" y="685800"/>
            <a:ext cx="4095482" cy="523220"/>
          </a:xfrm>
          <a:prstGeom prst="rect">
            <a:avLst/>
          </a:prstGeom>
          <a:noFill/>
        </p:spPr>
        <p:txBody>
          <a:bodyPr wrap="square" rtlCol="0">
            <a:spAutoFit/>
          </a:bodyPr>
          <a:lstStyle/>
          <a:p>
            <a:pPr algn="just"/>
            <a:r>
              <a:rPr lang="en-US" sz="2800" b="1" dirty="0">
                <a:latin typeface="Arial" pitchFamily="34" charset="0"/>
                <a:cs typeface="Arial" pitchFamily="34" charset="0"/>
              </a:rPr>
              <a:t>2. </a:t>
            </a:r>
            <a:r>
              <a:rPr lang="en-US" sz="2800" b="1" dirty="0" err="1">
                <a:latin typeface="Arial" pitchFamily="34" charset="0"/>
                <a:cs typeface="Arial" pitchFamily="34" charset="0"/>
              </a:rPr>
              <a:t>Các</a:t>
            </a:r>
            <a:r>
              <a:rPr lang="en-US" sz="2800" b="1" dirty="0">
                <a:latin typeface="Arial" pitchFamily="34" charset="0"/>
                <a:cs typeface="Arial" pitchFamily="34" charset="0"/>
              </a:rPr>
              <a:t> </a:t>
            </a:r>
            <a:r>
              <a:rPr lang="en-US" sz="2800" b="1" dirty="0" err="1">
                <a:latin typeface="Arial" pitchFamily="34" charset="0"/>
                <a:cs typeface="Arial" pitchFamily="34" charset="0"/>
              </a:rPr>
              <a:t>thể</a:t>
            </a:r>
            <a:r>
              <a:rPr lang="en-US" sz="2800" b="1" dirty="0">
                <a:latin typeface="Arial" pitchFamily="34" charset="0"/>
                <a:cs typeface="Arial" pitchFamily="34" charset="0"/>
              </a:rPr>
              <a:t> </a:t>
            </a:r>
            <a:r>
              <a:rPr lang="en-US" sz="2800" b="1" dirty="0" err="1">
                <a:latin typeface="Arial" pitchFamily="34" charset="0"/>
                <a:cs typeface="Arial" pitchFamily="34" charset="0"/>
              </a:rPr>
              <a:t>lâm</a:t>
            </a:r>
            <a:r>
              <a:rPr lang="en-US" sz="2800" b="1" dirty="0">
                <a:latin typeface="Arial" pitchFamily="34" charset="0"/>
                <a:cs typeface="Arial" pitchFamily="34" charset="0"/>
              </a:rPr>
              <a:t> </a:t>
            </a:r>
            <a:r>
              <a:rPr lang="en-US" sz="2800" b="1" dirty="0" err="1">
                <a:latin typeface="Arial" pitchFamily="34" charset="0"/>
                <a:cs typeface="Arial" pitchFamily="34" charset="0"/>
              </a:rPr>
              <a:t>sàng</a:t>
            </a:r>
            <a:endParaRPr lang="en-US" sz="2800" b="1" dirty="0">
              <a:latin typeface="Arial" pitchFamily="34" charset="0"/>
              <a:cs typeface="Arial" pitchFamily="34" charset="0"/>
            </a:endParaRPr>
          </a:p>
        </p:txBody>
      </p:sp>
    </p:spTree>
    <p:extLst>
      <p:ext uri="{BB962C8B-B14F-4D97-AF65-F5344CB8AC3E}">
        <p14:creationId xmlns:p14="http://schemas.microsoft.com/office/powerpoint/2010/main" val="1270699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a:spLocks noChangeArrowheads="1"/>
          </p:cNvSpPr>
          <p:nvPr/>
        </p:nvSpPr>
        <p:spPr bwMode="auto">
          <a:xfrm>
            <a:off x="628651" y="3741601"/>
            <a:ext cx="138564"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050">
                <a:solidFill>
                  <a:srgbClr val="333333"/>
                </a:solidFill>
                <a:latin typeface="Arial" panose="020B0604020202020204" pitchFamily="34" charset="0"/>
                <a:cs typeface="Arial" panose="020B0604020202020204" pitchFamily="34" charset="0"/>
              </a:rPr>
              <a:t/>
            </a:r>
            <a:br>
              <a:rPr lang="en-US" altLang="en-US" sz="1050">
                <a:solidFill>
                  <a:srgbClr val="333333"/>
                </a:solidFill>
                <a:latin typeface="Arial" panose="020B0604020202020204" pitchFamily="34" charset="0"/>
                <a:cs typeface="Arial" panose="020B0604020202020204" pitchFamily="34" charset="0"/>
              </a:rPr>
            </a:br>
            <a:endParaRPr lang="en-US" altLang="en-US" sz="1350">
              <a:latin typeface="Arial" panose="020B0604020202020204" pitchFamily="34" charset="0"/>
            </a:endParaRPr>
          </a:p>
        </p:txBody>
      </p:sp>
      <p:sp>
        <p:nvSpPr>
          <p:cNvPr id="2" name="Content Placeholder 1"/>
          <p:cNvSpPr>
            <a:spLocks noGrp="1"/>
          </p:cNvSpPr>
          <p:nvPr>
            <p:ph idx="1"/>
          </p:nvPr>
        </p:nvSpPr>
        <p:spPr>
          <a:xfrm>
            <a:off x="133066" y="1474488"/>
            <a:ext cx="3193576" cy="2487912"/>
          </a:xfrm>
        </p:spPr>
        <p:txBody>
          <a:bodyPr>
            <a:noAutofit/>
          </a:bodyPr>
          <a:lstStyle/>
          <a:p>
            <a:pPr marL="0" indent="0" algn="just">
              <a:buNone/>
            </a:pPr>
            <a:r>
              <a:rPr lang="en-US" sz="2000" b="1" dirty="0">
                <a:latin typeface="Arial" pitchFamily="34" charset="0"/>
                <a:cs typeface="Arial" pitchFamily="34" charset="0"/>
              </a:rPr>
              <a:t>2.4. </a:t>
            </a:r>
            <a:r>
              <a:rPr lang="en-US" sz="2000" b="1" dirty="0" err="1">
                <a:latin typeface="Arial" pitchFamily="34" charset="0"/>
                <a:cs typeface="Arial" pitchFamily="34" charset="0"/>
              </a:rPr>
              <a:t>Lỵ</a:t>
            </a:r>
            <a:r>
              <a:rPr lang="en-US" sz="2000" b="1" dirty="0">
                <a:latin typeface="Arial" pitchFamily="34" charset="0"/>
                <a:cs typeface="Arial" pitchFamily="34" charset="0"/>
              </a:rPr>
              <a:t> </a:t>
            </a:r>
            <a:r>
              <a:rPr lang="en-US" sz="2000" b="1" dirty="0" err="1">
                <a:latin typeface="Arial" pitchFamily="34" charset="0"/>
                <a:cs typeface="Arial" pitchFamily="34" charset="0"/>
              </a:rPr>
              <a:t>cấp</a:t>
            </a:r>
            <a:r>
              <a:rPr lang="en-US" sz="2000" b="1" dirty="0">
                <a:latin typeface="Arial" pitchFamily="34" charset="0"/>
                <a:cs typeface="Arial" pitchFamily="34" charset="0"/>
              </a:rPr>
              <a:t> ở </a:t>
            </a:r>
            <a:r>
              <a:rPr lang="en-US" sz="2000" b="1" dirty="0" err="1">
                <a:latin typeface="Arial" pitchFamily="34" charset="0"/>
                <a:cs typeface="Arial" pitchFamily="34" charset="0"/>
              </a:rPr>
              <a:t>trẻ</a:t>
            </a:r>
            <a:r>
              <a:rPr lang="en-US" sz="2000" b="1" dirty="0">
                <a:latin typeface="Arial" pitchFamily="34" charset="0"/>
                <a:cs typeface="Arial" pitchFamily="34" charset="0"/>
              </a:rPr>
              <a:t> &lt; 1 </a:t>
            </a:r>
            <a:r>
              <a:rPr lang="en-US" sz="2000" b="1" dirty="0" err="1">
                <a:latin typeface="Arial" pitchFamily="34" charset="0"/>
                <a:cs typeface="Arial" pitchFamily="34" charset="0"/>
              </a:rPr>
              <a:t>tuổi</a:t>
            </a:r>
            <a:r>
              <a:rPr lang="en-US" sz="2000" b="1" dirty="0">
                <a:latin typeface="Arial" pitchFamily="34" charset="0"/>
                <a:cs typeface="Arial" pitchFamily="34" charset="0"/>
              </a:rPr>
              <a:t> </a:t>
            </a:r>
          </a:p>
          <a:p>
            <a:pPr algn="just">
              <a:buFont typeface="Wingdings" pitchFamily="2" charset="2"/>
              <a:buChar char="ü"/>
            </a:pPr>
            <a:r>
              <a:rPr lang="en-US" sz="2000" dirty="0" err="1">
                <a:latin typeface="Arial" pitchFamily="34" charset="0"/>
                <a:cs typeface="Arial" pitchFamily="34" charset="0"/>
              </a:rPr>
              <a:t>Có</a:t>
            </a:r>
            <a:r>
              <a:rPr lang="en-US" sz="2000" dirty="0">
                <a:latin typeface="Arial" pitchFamily="34" charset="0"/>
                <a:cs typeface="Arial" pitchFamily="34" charset="0"/>
              </a:rPr>
              <a:t> </a:t>
            </a:r>
            <a:r>
              <a:rPr lang="en-US" sz="2000" dirty="0" err="1">
                <a:latin typeface="Arial" pitchFamily="34" charset="0"/>
                <a:cs typeface="Arial" pitchFamily="34" charset="0"/>
              </a:rPr>
              <a:t>những</a:t>
            </a:r>
            <a:r>
              <a:rPr lang="en-US" sz="2000" dirty="0">
                <a:latin typeface="Arial" pitchFamily="34" charset="0"/>
                <a:cs typeface="Arial" pitchFamily="34" charset="0"/>
              </a:rPr>
              <a:t> </a:t>
            </a:r>
            <a:r>
              <a:rPr lang="en-US" sz="2000" dirty="0" err="1">
                <a:latin typeface="Arial" pitchFamily="34" charset="0"/>
                <a:cs typeface="Arial" pitchFamily="34" charset="0"/>
              </a:rPr>
              <a:t>thể</a:t>
            </a:r>
            <a:r>
              <a:rPr lang="en-US" sz="2000" dirty="0">
                <a:latin typeface="Arial" pitchFamily="34" charset="0"/>
                <a:cs typeface="Arial" pitchFamily="34" charset="0"/>
              </a:rPr>
              <a:t> </a:t>
            </a:r>
            <a:r>
              <a:rPr lang="en-US" sz="2000" dirty="0" err="1">
                <a:latin typeface="Arial" pitchFamily="34" charset="0"/>
                <a:cs typeface="Arial" pitchFamily="34" charset="0"/>
              </a:rPr>
              <a:t>cấp</a:t>
            </a:r>
            <a:r>
              <a:rPr lang="en-US" sz="2000" dirty="0">
                <a:latin typeface="Arial" pitchFamily="34" charset="0"/>
                <a:cs typeface="Arial" pitchFamily="34" charset="0"/>
              </a:rPr>
              <a:t> </a:t>
            </a:r>
            <a:r>
              <a:rPr lang="en-US" sz="2000" dirty="0" err="1">
                <a:latin typeface="Arial" pitchFamily="34" charset="0"/>
                <a:cs typeface="Arial" pitchFamily="34" charset="0"/>
              </a:rPr>
              <a:t>như</a:t>
            </a:r>
            <a:r>
              <a:rPr lang="en-US" sz="2000" dirty="0">
                <a:latin typeface="Arial" pitchFamily="34" charset="0"/>
                <a:cs typeface="Arial" pitchFamily="34" charset="0"/>
              </a:rPr>
              <a:t> </a:t>
            </a:r>
            <a:r>
              <a:rPr lang="en-US" sz="2000" dirty="0" err="1">
                <a:latin typeface="Arial" pitchFamily="34" charset="0"/>
                <a:cs typeface="Arial" pitchFamily="34" charset="0"/>
              </a:rPr>
              <a:t>trên</a:t>
            </a:r>
            <a:r>
              <a:rPr lang="en-US" sz="2000" dirty="0">
                <a:latin typeface="Arial" pitchFamily="34" charset="0"/>
                <a:cs typeface="Arial" pitchFamily="34" charset="0"/>
              </a:rPr>
              <a:t>, </a:t>
            </a:r>
            <a:r>
              <a:rPr lang="en-US" sz="2000" dirty="0" err="1">
                <a:latin typeface="Arial" pitchFamily="34" charset="0"/>
                <a:cs typeface="Arial" pitchFamily="34" charset="0"/>
              </a:rPr>
              <a:t>ngoài</a:t>
            </a:r>
            <a:r>
              <a:rPr lang="en-US" sz="2000" dirty="0">
                <a:latin typeface="Arial" pitchFamily="34" charset="0"/>
                <a:cs typeface="Arial" pitchFamily="34" charset="0"/>
              </a:rPr>
              <a:t> </a:t>
            </a:r>
            <a:r>
              <a:rPr lang="en-US" sz="2000" dirty="0" err="1">
                <a:latin typeface="Arial" pitchFamily="34" charset="0"/>
                <a:cs typeface="Arial" pitchFamily="34" charset="0"/>
              </a:rPr>
              <a:t>ra</a:t>
            </a:r>
            <a:r>
              <a:rPr lang="en-US" sz="2000" dirty="0">
                <a:latin typeface="Arial" pitchFamily="34" charset="0"/>
                <a:cs typeface="Arial" pitchFamily="34" charset="0"/>
              </a:rPr>
              <a:t> </a:t>
            </a:r>
            <a:r>
              <a:rPr lang="en-US" sz="2000" dirty="0" err="1">
                <a:latin typeface="Arial" pitchFamily="34" charset="0"/>
                <a:cs typeface="Arial" pitchFamily="34" charset="0"/>
              </a:rPr>
              <a:t>còn</a:t>
            </a:r>
            <a:r>
              <a:rPr lang="en-US" sz="2000" dirty="0">
                <a:latin typeface="Arial" pitchFamily="34" charset="0"/>
                <a:cs typeface="Arial" pitchFamily="34" charset="0"/>
              </a:rPr>
              <a:t> </a:t>
            </a:r>
            <a:r>
              <a:rPr lang="en-US" sz="2000" dirty="0" err="1">
                <a:latin typeface="Arial" pitchFamily="34" charset="0"/>
                <a:cs typeface="Arial" pitchFamily="34" charset="0"/>
              </a:rPr>
              <a:t>gặp</a:t>
            </a:r>
            <a:r>
              <a:rPr lang="en-US" sz="2000" dirty="0">
                <a:latin typeface="Arial" pitchFamily="34" charset="0"/>
                <a:cs typeface="Arial" pitchFamily="34" charset="0"/>
              </a:rPr>
              <a:t> </a:t>
            </a:r>
            <a:r>
              <a:rPr lang="en-US" sz="2000" dirty="0" err="1">
                <a:latin typeface="Arial" pitchFamily="34" charset="0"/>
                <a:cs typeface="Arial" pitchFamily="34" charset="0"/>
              </a:rPr>
              <a:t>thể</a:t>
            </a:r>
            <a:r>
              <a:rPr lang="en-US" sz="2000" dirty="0">
                <a:latin typeface="Arial" pitchFamily="34" charset="0"/>
                <a:cs typeface="Arial" pitchFamily="34" charset="0"/>
              </a:rPr>
              <a:t> </a:t>
            </a:r>
            <a:r>
              <a:rPr lang="en-US" sz="2000" dirty="0" err="1">
                <a:latin typeface="Arial" pitchFamily="34" charset="0"/>
                <a:cs typeface="Arial" pitchFamily="34" charset="0"/>
              </a:rPr>
              <a:t>rất</a:t>
            </a:r>
            <a:r>
              <a:rPr lang="en-US" sz="2000" dirty="0">
                <a:latin typeface="Arial" pitchFamily="34" charset="0"/>
                <a:cs typeface="Arial" pitchFamily="34" charset="0"/>
              </a:rPr>
              <a:t> </a:t>
            </a:r>
            <a:r>
              <a:rPr lang="en-US" sz="2000" dirty="0" err="1">
                <a:latin typeface="Arial" pitchFamily="34" charset="0"/>
                <a:cs typeface="Arial" pitchFamily="34" charset="0"/>
              </a:rPr>
              <a:t>nhẹ</a:t>
            </a:r>
            <a:r>
              <a:rPr lang="en-US" sz="2000" dirty="0">
                <a:latin typeface="Arial" pitchFamily="34" charset="0"/>
                <a:cs typeface="Arial" pitchFamily="34" charset="0"/>
              </a:rPr>
              <a:t>, </a:t>
            </a:r>
            <a:r>
              <a:rPr lang="en-US" sz="2000" dirty="0" err="1">
                <a:latin typeface="Arial" pitchFamily="34" charset="0"/>
                <a:cs typeface="Arial" pitchFamily="34" charset="0"/>
              </a:rPr>
              <a:t>kín</a:t>
            </a:r>
            <a:r>
              <a:rPr lang="en-US" sz="2000" dirty="0">
                <a:latin typeface="Arial" pitchFamily="34" charset="0"/>
                <a:cs typeface="Arial" pitchFamily="34" charset="0"/>
              </a:rPr>
              <a:t> </a:t>
            </a:r>
            <a:r>
              <a:rPr lang="en-US" sz="2000" dirty="0" err="1">
                <a:latin typeface="Arial" pitchFamily="34" charset="0"/>
                <a:cs typeface="Arial" pitchFamily="34" charset="0"/>
              </a:rPr>
              <a:t>đáo</a:t>
            </a:r>
            <a:r>
              <a:rPr lang="en-US" sz="2000" dirty="0">
                <a:latin typeface="Arial" pitchFamily="34" charset="0"/>
                <a:cs typeface="Arial" pitchFamily="34" charset="0"/>
              </a:rPr>
              <a:t>, </a:t>
            </a:r>
            <a:r>
              <a:rPr lang="en-US" sz="2000" dirty="0" err="1">
                <a:latin typeface="Arial" pitchFamily="34" charset="0"/>
                <a:cs typeface="Arial" pitchFamily="34" charset="0"/>
              </a:rPr>
              <a:t>giống</a:t>
            </a:r>
            <a:r>
              <a:rPr lang="en-US" sz="2000" dirty="0">
                <a:latin typeface="Arial" pitchFamily="34" charset="0"/>
                <a:cs typeface="Arial" pitchFamily="34" charset="0"/>
              </a:rPr>
              <a:t> </a:t>
            </a:r>
            <a:r>
              <a:rPr lang="en-US" sz="2000" dirty="0" err="1">
                <a:latin typeface="Arial" pitchFamily="34" charset="0"/>
                <a:cs typeface="Arial" pitchFamily="34" charset="0"/>
              </a:rPr>
              <a:t>như</a:t>
            </a:r>
            <a:r>
              <a:rPr lang="en-US" sz="2000" dirty="0">
                <a:latin typeface="Arial" pitchFamily="34" charset="0"/>
                <a:cs typeface="Arial" pitchFamily="34" charset="0"/>
              </a:rPr>
              <a:t> </a:t>
            </a:r>
            <a:r>
              <a:rPr lang="en-US" sz="2000" dirty="0" err="1">
                <a:latin typeface="Arial" pitchFamily="34" charset="0"/>
                <a:cs typeface="Arial" pitchFamily="34" charset="0"/>
              </a:rPr>
              <a:t>rối</a:t>
            </a:r>
            <a:r>
              <a:rPr lang="en-US" sz="2000" dirty="0">
                <a:latin typeface="Arial" pitchFamily="34" charset="0"/>
                <a:cs typeface="Arial" pitchFamily="34" charset="0"/>
              </a:rPr>
              <a:t> </a:t>
            </a:r>
            <a:r>
              <a:rPr lang="en-US" sz="2000" dirty="0" err="1">
                <a:latin typeface="Arial" pitchFamily="34" charset="0"/>
                <a:cs typeface="Arial" pitchFamily="34" charset="0"/>
              </a:rPr>
              <a:t>loạn</a:t>
            </a:r>
            <a:r>
              <a:rPr lang="en-US" sz="2000" dirty="0">
                <a:latin typeface="Arial" pitchFamily="34" charset="0"/>
                <a:cs typeface="Arial" pitchFamily="34" charset="0"/>
              </a:rPr>
              <a:t> </a:t>
            </a:r>
            <a:r>
              <a:rPr lang="en-US" sz="2000" dirty="0" err="1">
                <a:latin typeface="Arial" pitchFamily="34" charset="0"/>
                <a:cs typeface="Arial" pitchFamily="34" charset="0"/>
              </a:rPr>
              <a:t>tiêu</a:t>
            </a:r>
            <a:r>
              <a:rPr lang="en-US" sz="2000" dirty="0">
                <a:latin typeface="Arial" pitchFamily="34" charset="0"/>
                <a:cs typeface="Arial" pitchFamily="34" charset="0"/>
              </a:rPr>
              <a:t> </a:t>
            </a:r>
            <a:r>
              <a:rPr lang="en-US" sz="2000" dirty="0" err="1">
                <a:latin typeface="Arial" pitchFamily="34" charset="0"/>
                <a:cs typeface="Arial" pitchFamily="34" charset="0"/>
              </a:rPr>
              <a:t>hóa</a:t>
            </a:r>
            <a:r>
              <a:rPr lang="en-US" sz="2000" dirty="0">
                <a:latin typeface="Arial" pitchFamily="34" charset="0"/>
                <a:cs typeface="Arial" pitchFamily="34" charset="0"/>
              </a:rPr>
              <a:t> </a:t>
            </a:r>
            <a:r>
              <a:rPr lang="en-US" sz="2000" dirty="0" err="1">
                <a:latin typeface="Arial" pitchFamily="34" charset="0"/>
                <a:cs typeface="Arial" pitchFamily="34" charset="0"/>
              </a:rPr>
              <a:t>biểu</a:t>
            </a:r>
            <a:r>
              <a:rPr lang="en-US" sz="2000" dirty="0">
                <a:latin typeface="Arial" pitchFamily="34" charset="0"/>
                <a:cs typeface="Arial" pitchFamily="34" charset="0"/>
              </a:rPr>
              <a:t> </a:t>
            </a:r>
            <a:r>
              <a:rPr lang="en-US" sz="2000" dirty="0" err="1">
                <a:latin typeface="Arial" pitchFamily="34" charset="0"/>
                <a:cs typeface="Arial" pitchFamily="34" charset="0"/>
              </a:rPr>
              <a:t>hiện</a:t>
            </a:r>
            <a:r>
              <a:rPr lang="en-US" sz="2000" dirty="0">
                <a:latin typeface="Arial" pitchFamily="34" charset="0"/>
                <a:cs typeface="Arial" pitchFamily="34" charset="0"/>
              </a:rPr>
              <a:t>: </a:t>
            </a:r>
            <a:r>
              <a:rPr lang="en-US" sz="2000" dirty="0" err="1">
                <a:latin typeface="Arial" pitchFamily="34" charset="0"/>
                <a:cs typeface="Arial" pitchFamily="34" charset="0"/>
              </a:rPr>
              <a:t>phân</a:t>
            </a:r>
            <a:r>
              <a:rPr lang="en-US" sz="2000" dirty="0">
                <a:latin typeface="Arial" pitchFamily="34" charset="0"/>
                <a:cs typeface="Arial" pitchFamily="34" charset="0"/>
              </a:rPr>
              <a:t> </a:t>
            </a:r>
            <a:r>
              <a:rPr lang="en-US" sz="2000" dirty="0" err="1">
                <a:latin typeface="Arial" pitchFamily="34" charset="0"/>
                <a:cs typeface="Arial" pitchFamily="34" charset="0"/>
              </a:rPr>
              <a:t>loãng</a:t>
            </a:r>
            <a:r>
              <a:rPr lang="en-US" sz="2000" dirty="0">
                <a:latin typeface="Arial" pitchFamily="34" charset="0"/>
                <a:cs typeface="Arial" pitchFamily="34" charset="0"/>
              </a:rPr>
              <a:t>, </a:t>
            </a:r>
            <a:r>
              <a:rPr lang="en-US" sz="2000" dirty="0" err="1">
                <a:latin typeface="Arial" pitchFamily="34" charset="0"/>
                <a:cs typeface="Arial" pitchFamily="34" charset="0"/>
              </a:rPr>
              <a:t>không</a:t>
            </a:r>
            <a:r>
              <a:rPr lang="en-US" sz="2000" dirty="0">
                <a:latin typeface="Arial" pitchFamily="34" charset="0"/>
                <a:cs typeface="Arial" pitchFamily="34" charset="0"/>
              </a:rPr>
              <a:t> </a:t>
            </a:r>
            <a:r>
              <a:rPr lang="en-US" sz="2000" dirty="0" err="1">
                <a:latin typeface="Arial" pitchFamily="34" charset="0"/>
                <a:cs typeface="Arial" pitchFamily="34" charset="0"/>
              </a:rPr>
              <a:t>sốt</a:t>
            </a:r>
            <a:r>
              <a:rPr lang="en-US" sz="2000" dirty="0">
                <a:latin typeface="Arial" pitchFamily="34" charset="0"/>
                <a:cs typeface="Arial" pitchFamily="34" charset="0"/>
              </a:rPr>
              <a:t>. </a:t>
            </a:r>
          </a:p>
          <a:p>
            <a:pPr algn="just"/>
            <a:endParaRPr lang="en-US" sz="2000" dirty="0">
              <a:latin typeface="Arial" pitchFamily="34" charset="0"/>
              <a:cs typeface="Arial" pitchFamily="34" charset="0"/>
            </a:endParaRPr>
          </a:p>
        </p:txBody>
      </p:sp>
      <p:sp>
        <p:nvSpPr>
          <p:cNvPr id="3" name="Rectangle 2"/>
          <p:cNvSpPr/>
          <p:nvPr/>
        </p:nvSpPr>
        <p:spPr>
          <a:xfrm>
            <a:off x="3709918" y="3437299"/>
            <a:ext cx="5428680" cy="3416320"/>
          </a:xfrm>
          <a:prstGeom prst="rect">
            <a:avLst/>
          </a:prstGeom>
        </p:spPr>
        <p:txBody>
          <a:bodyPr wrap="square">
            <a:spAutoFit/>
          </a:bodyPr>
          <a:lstStyle/>
          <a:p>
            <a:pPr algn="just"/>
            <a:r>
              <a:rPr lang="en-US" sz="2000" b="1" dirty="0">
                <a:latin typeface="Arial" pitchFamily="34" charset="0"/>
                <a:cs typeface="Arial" pitchFamily="34" charset="0"/>
              </a:rPr>
              <a:t>2.5. </a:t>
            </a:r>
            <a:r>
              <a:rPr lang="en-US" sz="2000" b="1" dirty="0" err="1">
                <a:latin typeface="Arial" pitchFamily="34" charset="0"/>
                <a:cs typeface="Arial" pitchFamily="34" charset="0"/>
              </a:rPr>
              <a:t>Thể</a:t>
            </a:r>
            <a:r>
              <a:rPr lang="en-US" sz="2000" b="1" dirty="0">
                <a:latin typeface="Arial" pitchFamily="34" charset="0"/>
                <a:cs typeface="Arial" pitchFamily="34" charset="0"/>
              </a:rPr>
              <a:t> </a:t>
            </a:r>
            <a:r>
              <a:rPr lang="en-US" sz="2000" b="1" dirty="0" err="1">
                <a:latin typeface="Arial" pitchFamily="34" charset="0"/>
                <a:cs typeface="Arial" pitchFamily="34" charset="0"/>
              </a:rPr>
              <a:t>dạ</a:t>
            </a:r>
            <a:r>
              <a:rPr lang="en-US" sz="2000" b="1" dirty="0">
                <a:latin typeface="Arial" pitchFamily="34" charset="0"/>
                <a:cs typeface="Arial" pitchFamily="34" charset="0"/>
              </a:rPr>
              <a:t> </a:t>
            </a:r>
            <a:r>
              <a:rPr lang="en-US" sz="2000" b="1" dirty="0" err="1">
                <a:latin typeface="Arial" pitchFamily="34" charset="0"/>
                <a:cs typeface="Arial" pitchFamily="34" charset="0"/>
              </a:rPr>
              <a:t>dày</a:t>
            </a:r>
            <a:r>
              <a:rPr lang="en-US" sz="2000" b="1" dirty="0">
                <a:latin typeface="Arial" pitchFamily="34" charset="0"/>
                <a:cs typeface="Arial" pitchFamily="34" charset="0"/>
              </a:rPr>
              <a:t> - </a:t>
            </a:r>
            <a:r>
              <a:rPr lang="en-US" sz="2000" b="1" dirty="0" err="1">
                <a:latin typeface="Arial" pitchFamily="34" charset="0"/>
                <a:cs typeface="Arial" pitchFamily="34" charset="0"/>
              </a:rPr>
              <a:t>ruột</a:t>
            </a:r>
            <a:r>
              <a:rPr lang="en-US" sz="2000" b="1" dirty="0">
                <a:latin typeface="Arial" pitchFamily="34" charset="0"/>
                <a:cs typeface="Arial" pitchFamily="34" charset="0"/>
              </a:rPr>
              <a:t> </a:t>
            </a:r>
            <a:r>
              <a:rPr lang="en-US" sz="2000" b="1" dirty="0" err="1">
                <a:latin typeface="Arial" pitchFamily="34" charset="0"/>
                <a:cs typeface="Arial" pitchFamily="34" charset="0"/>
              </a:rPr>
              <a:t>cấp</a:t>
            </a:r>
            <a:r>
              <a:rPr lang="en-US" sz="2000" b="1" dirty="0">
                <a:latin typeface="Arial" pitchFamily="34" charset="0"/>
                <a:cs typeface="Arial" pitchFamily="34" charset="0"/>
              </a:rPr>
              <a:t> </a:t>
            </a:r>
          </a:p>
          <a:p>
            <a:pPr marL="257175" indent="-257175" algn="just">
              <a:buFont typeface="Wingdings" pitchFamily="2" charset="2"/>
              <a:buChar char="ü"/>
            </a:pPr>
            <a:r>
              <a:rPr lang="en-US" dirty="0" err="1">
                <a:latin typeface="Arial" pitchFamily="34" charset="0"/>
                <a:cs typeface="Arial" pitchFamily="34" charset="0"/>
              </a:rPr>
              <a:t>Biểu</a:t>
            </a:r>
            <a:r>
              <a:rPr lang="en-US" dirty="0">
                <a:latin typeface="Arial" pitchFamily="34" charset="0"/>
                <a:cs typeface="Arial" pitchFamily="34" charset="0"/>
              </a:rPr>
              <a:t> </a:t>
            </a:r>
            <a:r>
              <a:rPr lang="en-US" dirty="0" err="1">
                <a:latin typeface="Arial" pitchFamily="34" charset="0"/>
                <a:cs typeface="Arial" pitchFamily="34" charset="0"/>
              </a:rPr>
              <a:t>hiện</a:t>
            </a:r>
            <a:r>
              <a:rPr lang="en-US" dirty="0">
                <a:latin typeface="Arial" pitchFamily="34" charset="0"/>
                <a:cs typeface="Arial" pitchFamily="34" charset="0"/>
              </a:rPr>
              <a:t> </a:t>
            </a:r>
            <a:r>
              <a:rPr lang="en-US" dirty="0" err="1">
                <a:latin typeface="Arial" pitchFamily="34" charset="0"/>
                <a:cs typeface="Arial" pitchFamily="34" charset="0"/>
              </a:rPr>
              <a:t>như</a:t>
            </a:r>
            <a:r>
              <a:rPr lang="en-US" dirty="0">
                <a:latin typeface="Arial" pitchFamily="34" charset="0"/>
                <a:cs typeface="Arial" pitchFamily="34" charset="0"/>
              </a:rPr>
              <a:t> </a:t>
            </a:r>
            <a:r>
              <a:rPr lang="en-US" dirty="0" err="1">
                <a:latin typeface="Arial" pitchFamily="34" charset="0"/>
                <a:cs typeface="Arial" pitchFamily="34" charset="0"/>
              </a:rPr>
              <a:t>một</a:t>
            </a:r>
            <a:r>
              <a:rPr lang="en-US" dirty="0">
                <a:latin typeface="Arial" pitchFamily="34" charset="0"/>
                <a:cs typeface="Arial" pitchFamily="34" charset="0"/>
              </a:rPr>
              <a:t> </a:t>
            </a:r>
            <a:r>
              <a:rPr lang="en-US" dirty="0" err="1">
                <a:latin typeface="Arial" pitchFamily="34" charset="0"/>
                <a:cs typeface="Arial" pitchFamily="34" charset="0"/>
              </a:rPr>
              <a:t>nhiễm</a:t>
            </a:r>
            <a:r>
              <a:rPr lang="en-US" dirty="0">
                <a:latin typeface="Arial" pitchFamily="34" charset="0"/>
                <a:cs typeface="Arial" pitchFamily="34" charset="0"/>
              </a:rPr>
              <a:t> </a:t>
            </a:r>
            <a:r>
              <a:rPr lang="en-US" dirty="0" err="1">
                <a:latin typeface="Arial" pitchFamily="34" charset="0"/>
                <a:cs typeface="Arial" pitchFamily="34" charset="0"/>
              </a:rPr>
              <a:t>khuẩn</a:t>
            </a:r>
            <a:r>
              <a:rPr lang="en-US" dirty="0">
                <a:latin typeface="Arial" pitchFamily="34" charset="0"/>
                <a:cs typeface="Arial" pitchFamily="34" charset="0"/>
              </a:rPr>
              <a:t>, </a:t>
            </a:r>
            <a:r>
              <a:rPr lang="en-US" dirty="0" err="1">
                <a:latin typeface="Arial" pitchFamily="34" charset="0"/>
                <a:cs typeface="Arial" pitchFamily="34" charset="0"/>
              </a:rPr>
              <a:t>nhiễm</a:t>
            </a:r>
            <a:r>
              <a:rPr lang="en-US" dirty="0">
                <a:latin typeface="Arial" pitchFamily="34" charset="0"/>
                <a:cs typeface="Arial" pitchFamily="34" charset="0"/>
              </a:rPr>
              <a:t> </a:t>
            </a:r>
            <a:r>
              <a:rPr lang="en-US" dirty="0" err="1">
                <a:latin typeface="Arial" pitchFamily="34" charset="0"/>
                <a:cs typeface="Arial" pitchFamily="34" charset="0"/>
              </a:rPr>
              <a:t>độc</a:t>
            </a:r>
            <a:r>
              <a:rPr lang="en-US" dirty="0">
                <a:latin typeface="Arial" pitchFamily="34" charset="0"/>
                <a:cs typeface="Arial" pitchFamily="34" charset="0"/>
              </a:rPr>
              <a:t> </a:t>
            </a:r>
            <a:r>
              <a:rPr lang="en-US" dirty="0" err="1">
                <a:latin typeface="Arial" pitchFamily="34" charset="0"/>
                <a:cs typeface="Arial" pitchFamily="34" charset="0"/>
              </a:rPr>
              <a:t>thức</a:t>
            </a:r>
            <a:r>
              <a:rPr lang="en-US" dirty="0">
                <a:latin typeface="Arial" pitchFamily="34" charset="0"/>
                <a:cs typeface="Arial" pitchFamily="34" charset="0"/>
              </a:rPr>
              <a:t> </a:t>
            </a:r>
            <a:r>
              <a:rPr lang="en-US" dirty="0" err="1">
                <a:latin typeface="Arial" pitchFamily="34" charset="0"/>
                <a:cs typeface="Arial" pitchFamily="34" charset="0"/>
              </a:rPr>
              <a:t>ăn</a:t>
            </a:r>
            <a:r>
              <a:rPr lang="en-US" dirty="0">
                <a:latin typeface="Arial" pitchFamily="34" charset="0"/>
                <a:cs typeface="Arial" pitchFamily="34" charset="0"/>
              </a:rPr>
              <a:t>. </a:t>
            </a:r>
          </a:p>
          <a:p>
            <a:pPr marL="257175" indent="-257175" algn="just">
              <a:buFont typeface="Wingdings" pitchFamily="2" charset="2"/>
              <a:buChar char="ü"/>
            </a:pPr>
            <a:r>
              <a:rPr lang="en-US" dirty="0" err="1">
                <a:latin typeface="Arial" pitchFamily="34" charset="0"/>
                <a:cs typeface="Arial" pitchFamily="34" charset="0"/>
              </a:rPr>
              <a:t>Bệnh</a:t>
            </a:r>
            <a:r>
              <a:rPr lang="en-US" dirty="0">
                <a:latin typeface="Arial" pitchFamily="34" charset="0"/>
                <a:cs typeface="Arial" pitchFamily="34" charset="0"/>
              </a:rPr>
              <a:t> </a:t>
            </a:r>
            <a:r>
              <a:rPr lang="en-US" dirty="0" err="1">
                <a:latin typeface="Arial" pitchFamily="34" charset="0"/>
                <a:cs typeface="Arial" pitchFamily="34" charset="0"/>
              </a:rPr>
              <a:t>bắt</a:t>
            </a:r>
            <a:r>
              <a:rPr lang="en-US" dirty="0">
                <a:latin typeface="Arial" pitchFamily="34" charset="0"/>
                <a:cs typeface="Arial" pitchFamily="34" charset="0"/>
              </a:rPr>
              <a:t> </a:t>
            </a:r>
            <a:r>
              <a:rPr lang="en-US" dirty="0" err="1">
                <a:latin typeface="Arial" pitchFamily="34" charset="0"/>
                <a:cs typeface="Arial" pitchFamily="34" charset="0"/>
              </a:rPr>
              <a:t>đầu</a:t>
            </a:r>
            <a:r>
              <a:rPr lang="en-US" dirty="0">
                <a:latin typeface="Arial" pitchFamily="34" charset="0"/>
                <a:cs typeface="Arial" pitchFamily="34" charset="0"/>
              </a:rPr>
              <a:t> </a:t>
            </a:r>
            <a:r>
              <a:rPr lang="en-US" dirty="0" err="1">
                <a:latin typeface="Arial" pitchFamily="34" charset="0"/>
                <a:cs typeface="Arial" pitchFamily="34" charset="0"/>
              </a:rPr>
              <a:t>đột</a:t>
            </a:r>
            <a:r>
              <a:rPr lang="en-US" dirty="0">
                <a:latin typeface="Arial" pitchFamily="34" charset="0"/>
                <a:cs typeface="Arial" pitchFamily="34" charset="0"/>
              </a:rPr>
              <a:t> </a:t>
            </a:r>
            <a:r>
              <a:rPr lang="en-US" dirty="0" err="1">
                <a:latin typeface="Arial" pitchFamily="34" charset="0"/>
                <a:cs typeface="Arial" pitchFamily="34" charset="0"/>
              </a:rPr>
              <a:t>ngột</a:t>
            </a:r>
            <a:r>
              <a:rPr lang="en-US" dirty="0">
                <a:latin typeface="Arial" pitchFamily="34" charset="0"/>
                <a:cs typeface="Arial" pitchFamily="34" charset="0"/>
              </a:rPr>
              <a:t>, </a:t>
            </a:r>
            <a:r>
              <a:rPr lang="en-US" dirty="0" err="1">
                <a:latin typeface="Arial" pitchFamily="34" charset="0"/>
                <a:cs typeface="Arial" pitchFamily="34" charset="0"/>
              </a:rPr>
              <a:t>tiến</a:t>
            </a:r>
            <a:r>
              <a:rPr lang="en-US" dirty="0">
                <a:latin typeface="Arial" pitchFamily="34" charset="0"/>
                <a:cs typeface="Arial" pitchFamily="34" charset="0"/>
              </a:rPr>
              <a:t> </a:t>
            </a:r>
            <a:r>
              <a:rPr lang="en-US" dirty="0" err="1">
                <a:latin typeface="Arial" pitchFamily="34" charset="0"/>
                <a:cs typeface="Arial" pitchFamily="34" charset="0"/>
              </a:rPr>
              <a:t>triển</a:t>
            </a:r>
            <a:r>
              <a:rPr lang="en-US" dirty="0">
                <a:latin typeface="Arial" pitchFamily="34" charset="0"/>
                <a:cs typeface="Arial" pitchFamily="34" charset="0"/>
              </a:rPr>
              <a:t> </a:t>
            </a:r>
            <a:r>
              <a:rPr lang="en-US" dirty="0" err="1">
                <a:latin typeface="Arial" pitchFamily="34" charset="0"/>
                <a:cs typeface="Arial" pitchFamily="34" charset="0"/>
              </a:rPr>
              <a:t>nhanh</a:t>
            </a:r>
            <a:r>
              <a:rPr lang="en-US" dirty="0">
                <a:latin typeface="Arial" pitchFamily="34" charset="0"/>
                <a:cs typeface="Arial" pitchFamily="34" charset="0"/>
              </a:rPr>
              <a:t>, </a:t>
            </a:r>
            <a:r>
              <a:rPr lang="en-US" dirty="0" err="1">
                <a:latin typeface="Arial" pitchFamily="34" charset="0"/>
                <a:cs typeface="Arial" pitchFamily="34" charset="0"/>
              </a:rPr>
              <a:t>thường</a:t>
            </a:r>
            <a:r>
              <a:rPr lang="en-US" dirty="0">
                <a:latin typeface="Arial" pitchFamily="34" charset="0"/>
                <a:cs typeface="Arial" pitchFamily="34" charset="0"/>
              </a:rPr>
              <a:t> </a:t>
            </a:r>
            <a:r>
              <a:rPr lang="en-US" dirty="0" err="1">
                <a:latin typeface="Arial" pitchFamily="34" charset="0"/>
                <a:cs typeface="Arial" pitchFamily="34" charset="0"/>
              </a:rPr>
              <a:t>có</a:t>
            </a:r>
            <a:r>
              <a:rPr lang="en-US" dirty="0">
                <a:latin typeface="Arial" pitchFamily="34" charset="0"/>
                <a:cs typeface="Arial" pitchFamily="34" charset="0"/>
              </a:rPr>
              <a:t> </a:t>
            </a:r>
            <a:r>
              <a:rPr lang="en-US" dirty="0" err="1">
                <a:latin typeface="Arial" pitchFamily="34" charset="0"/>
                <a:cs typeface="Arial" pitchFamily="34" charset="0"/>
              </a:rPr>
              <a:t>sốt</a:t>
            </a:r>
            <a:r>
              <a:rPr lang="en-US" dirty="0">
                <a:latin typeface="Arial" pitchFamily="34" charset="0"/>
                <a:cs typeface="Arial" pitchFamily="34" charset="0"/>
              </a:rPr>
              <a:t>, </a:t>
            </a:r>
            <a:r>
              <a:rPr lang="en-US" dirty="0" err="1">
                <a:latin typeface="Arial" pitchFamily="34" charset="0"/>
                <a:cs typeface="Arial" pitchFamily="34" charset="0"/>
              </a:rPr>
              <a:t>nôn</a:t>
            </a:r>
            <a:r>
              <a:rPr lang="en-US" dirty="0">
                <a:latin typeface="Arial" pitchFamily="34" charset="0"/>
                <a:cs typeface="Arial" pitchFamily="34" charset="0"/>
              </a:rPr>
              <a:t> </a:t>
            </a:r>
            <a:r>
              <a:rPr lang="en-US" dirty="0" err="1">
                <a:latin typeface="Arial" pitchFamily="34" charset="0"/>
                <a:cs typeface="Arial" pitchFamily="34" charset="0"/>
              </a:rPr>
              <a:t>nhiều</a:t>
            </a:r>
            <a:r>
              <a:rPr lang="en-US" dirty="0">
                <a:latin typeface="Arial" pitchFamily="34" charset="0"/>
                <a:cs typeface="Arial" pitchFamily="34" charset="0"/>
              </a:rPr>
              <a:t> </a:t>
            </a:r>
            <a:r>
              <a:rPr lang="en-US" dirty="0" err="1">
                <a:latin typeface="Arial" pitchFamily="34" charset="0"/>
                <a:cs typeface="Arial" pitchFamily="34" charset="0"/>
              </a:rPr>
              <a:t>lần</a:t>
            </a:r>
            <a:r>
              <a:rPr lang="en-US" dirty="0">
                <a:latin typeface="Arial" pitchFamily="34" charset="0"/>
                <a:cs typeface="Arial" pitchFamily="34" charset="0"/>
              </a:rPr>
              <a:t>, </a:t>
            </a:r>
            <a:r>
              <a:rPr lang="en-US" dirty="0" err="1">
                <a:latin typeface="Arial" pitchFamily="34" charset="0"/>
                <a:cs typeface="Arial" pitchFamily="34" charset="0"/>
              </a:rPr>
              <a:t>phân</a:t>
            </a:r>
            <a:r>
              <a:rPr lang="en-US" dirty="0">
                <a:latin typeface="Arial" pitchFamily="34" charset="0"/>
                <a:cs typeface="Arial" pitchFamily="34" charset="0"/>
              </a:rPr>
              <a:t> </a:t>
            </a:r>
            <a:r>
              <a:rPr lang="en-US" dirty="0" err="1">
                <a:latin typeface="Arial" pitchFamily="34" charset="0"/>
                <a:cs typeface="Arial" pitchFamily="34" charset="0"/>
              </a:rPr>
              <a:t>loãng</a:t>
            </a:r>
            <a:r>
              <a:rPr lang="en-US" dirty="0">
                <a:latin typeface="Arial" pitchFamily="34" charset="0"/>
                <a:cs typeface="Arial" pitchFamily="34" charset="0"/>
              </a:rPr>
              <a:t>, </a:t>
            </a:r>
            <a:r>
              <a:rPr lang="en-US" dirty="0" err="1">
                <a:latin typeface="Arial" pitchFamily="34" charset="0"/>
                <a:cs typeface="Arial" pitchFamily="34" charset="0"/>
              </a:rPr>
              <a:t>không</a:t>
            </a:r>
            <a:r>
              <a:rPr lang="en-US" dirty="0">
                <a:latin typeface="Arial" pitchFamily="34" charset="0"/>
                <a:cs typeface="Arial" pitchFamily="34" charset="0"/>
              </a:rPr>
              <a:t> </a:t>
            </a:r>
            <a:r>
              <a:rPr lang="en-US" dirty="0" err="1">
                <a:latin typeface="Arial" pitchFamily="34" charset="0"/>
                <a:cs typeface="Arial" pitchFamily="34" charset="0"/>
              </a:rPr>
              <a:t>nhầy</a:t>
            </a:r>
            <a:r>
              <a:rPr lang="en-US" dirty="0">
                <a:latin typeface="Arial" pitchFamily="34" charset="0"/>
                <a:cs typeface="Arial" pitchFamily="34" charset="0"/>
              </a:rPr>
              <a:t> </a:t>
            </a:r>
            <a:r>
              <a:rPr lang="en-US" dirty="0" err="1">
                <a:latin typeface="Arial" pitchFamily="34" charset="0"/>
                <a:cs typeface="Arial" pitchFamily="34" charset="0"/>
              </a:rPr>
              <a:t>máu</a:t>
            </a:r>
            <a:r>
              <a:rPr lang="en-US" dirty="0">
                <a:latin typeface="Arial" pitchFamily="34" charset="0"/>
                <a:cs typeface="Arial" pitchFamily="34" charset="0"/>
              </a:rPr>
              <a:t>, </a:t>
            </a:r>
            <a:r>
              <a:rPr lang="en-US" dirty="0" err="1">
                <a:latin typeface="Arial" pitchFamily="34" charset="0"/>
                <a:cs typeface="Arial" pitchFamily="34" charset="0"/>
              </a:rPr>
              <a:t>đau</a:t>
            </a:r>
            <a:r>
              <a:rPr lang="en-US" dirty="0">
                <a:latin typeface="Arial" pitchFamily="34" charset="0"/>
                <a:cs typeface="Arial" pitchFamily="34" charset="0"/>
              </a:rPr>
              <a:t> </a:t>
            </a:r>
            <a:r>
              <a:rPr lang="en-US" dirty="0" err="1">
                <a:latin typeface="Arial" pitchFamily="34" charset="0"/>
                <a:cs typeface="Arial" pitchFamily="34" charset="0"/>
              </a:rPr>
              <a:t>bụng</a:t>
            </a:r>
            <a:r>
              <a:rPr lang="en-US" dirty="0">
                <a:latin typeface="Arial" pitchFamily="34" charset="0"/>
                <a:cs typeface="Arial" pitchFamily="34" charset="0"/>
              </a:rPr>
              <a:t> </a:t>
            </a:r>
            <a:r>
              <a:rPr lang="en-US" dirty="0" err="1">
                <a:latin typeface="Arial" pitchFamily="34" charset="0"/>
                <a:cs typeface="Arial" pitchFamily="34" charset="0"/>
              </a:rPr>
              <a:t>lan</a:t>
            </a:r>
            <a:r>
              <a:rPr lang="en-US" dirty="0">
                <a:latin typeface="Arial" pitchFamily="34" charset="0"/>
                <a:cs typeface="Arial" pitchFamily="34" charset="0"/>
              </a:rPr>
              <a:t> </a:t>
            </a:r>
            <a:r>
              <a:rPr lang="en-US" dirty="0" err="1">
                <a:latin typeface="Arial" pitchFamily="34" charset="0"/>
                <a:cs typeface="Arial" pitchFamily="34" charset="0"/>
              </a:rPr>
              <a:t>tỏa</a:t>
            </a:r>
            <a:r>
              <a:rPr lang="en-US" dirty="0">
                <a:latin typeface="Arial" pitchFamily="34" charset="0"/>
                <a:cs typeface="Arial" pitchFamily="34" charset="0"/>
              </a:rPr>
              <a:t>, </a:t>
            </a:r>
            <a:r>
              <a:rPr lang="en-US" dirty="0" err="1">
                <a:latin typeface="Arial" pitchFamily="34" charset="0"/>
                <a:cs typeface="Arial" pitchFamily="34" charset="0"/>
              </a:rPr>
              <a:t>sau</a:t>
            </a:r>
            <a:r>
              <a:rPr lang="en-US" dirty="0">
                <a:latin typeface="Arial" pitchFamily="34" charset="0"/>
                <a:cs typeface="Arial" pitchFamily="34" charset="0"/>
              </a:rPr>
              <a:t> </a:t>
            </a:r>
            <a:r>
              <a:rPr lang="en-US" dirty="0" err="1">
                <a:latin typeface="Arial" pitchFamily="34" charset="0"/>
                <a:cs typeface="Arial" pitchFamily="34" charset="0"/>
              </a:rPr>
              <a:t>đó</a:t>
            </a:r>
            <a:r>
              <a:rPr lang="en-US" dirty="0">
                <a:latin typeface="Arial" pitchFamily="34" charset="0"/>
                <a:cs typeface="Arial" pitchFamily="34" charset="0"/>
              </a:rPr>
              <a:t> </a:t>
            </a:r>
            <a:r>
              <a:rPr lang="en-US" dirty="0" err="1">
                <a:latin typeface="Arial" pitchFamily="34" charset="0"/>
                <a:cs typeface="Arial" pitchFamily="34" charset="0"/>
              </a:rPr>
              <a:t>có</a:t>
            </a:r>
            <a:r>
              <a:rPr lang="en-US" dirty="0">
                <a:latin typeface="Arial" pitchFamily="34" charset="0"/>
                <a:cs typeface="Arial" pitchFamily="34" charset="0"/>
              </a:rPr>
              <a:t> </a:t>
            </a:r>
            <a:r>
              <a:rPr lang="en-US" dirty="0" err="1">
                <a:latin typeface="Arial" pitchFamily="34" charset="0"/>
                <a:cs typeface="Arial" pitchFamily="34" charset="0"/>
              </a:rPr>
              <a:t>thể</a:t>
            </a:r>
            <a:r>
              <a:rPr lang="en-US" dirty="0">
                <a:latin typeface="Arial" pitchFamily="34" charset="0"/>
                <a:cs typeface="Arial" pitchFamily="34" charset="0"/>
              </a:rPr>
              <a:t> </a:t>
            </a:r>
            <a:r>
              <a:rPr lang="en-US" dirty="0" err="1">
                <a:latin typeface="Arial" pitchFamily="34" charset="0"/>
                <a:cs typeface="Arial" pitchFamily="34" charset="0"/>
              </a:rPr>
              <a:t>diễn</a:t>
            </a:r>
            <a:r>
              <a:rPr lang="en-US" dirty="0">
                <a:latin typeface="Arial" pitchFamily="34" charset="0"/>
                <a:cs typeface="Arial" pitchFamily="34" charset="0"/>
              </a:rPr>
              <a:t> </a:t>
            </a:r>
            <a:r>
              <a:rPr lang="en-US" dirty="0" err="1">
                <a:latin typeface="Arial" pitchFamily="34" charset="0"/>
                <a:cs typeface="Arial" pitchFamily="34" charset="0"/>
              </a:rPr>
              <a:t>biến</a:t>
            </a:r>
            <a:r>
              <a:rPr lang="en-US" dirty="0">
                <a:latin typeface="Arial" pitchFamily="34" charset="0"/>
                <a:cs typeface="Arial" pitchFamily="34" charset="0"/>
              </a:rPr>
              <a:t> </a:t>
            </a:r>
            <a:r>
              <a:rPr lang="en-US" dirty="0" err="1">
                <a:latin typeface="Arial" pitchFamily="34" charset="0"/>
                <a:cs typeface="Arial" pitchFamily="34" charset="0"/>
              </a:rPr>
              <a:t>như</a:t>
            </a:r>
            <a:r>
              <a:rPr lang="en-US" dirty="0">
                <a:latin typeface="Arial" pitchFamily="34" charset="0"/>
                <a:cs typeface="Arial" pitchFamily="34" charset="0"/>
              </a:rPr>
              <a:t> </a:t>
            </a:r>
            <a:r>
              <a:rPr lang="en-US" dirty="0" err="1">
                <a:latin typeface="Arial" pitchFamily="34" charset="0"/>
                <a:cs typeface="Arial" pitchFamily="34" charset="0"/>
              </a:rPr>
              <a:t>thể</a:t>
            </a:r>
            <a:r>
              <a:rPr lang="en-US" dirty="0">
                <a:latin typeface="Arial" pitchFamily="34" charset="0"/>
                <a:cs typeface="Arial" pitchFamily="34" charset="0"/>
              </a:rPr>
              <a:t> </a:t>
            </a:r>
            <a:r>
              <a:rPr lang="en-US" dirty="0" err="1">
                <a:latin typeface="Arial" pitchFamily="34" charset="0"/>
                <a:cs typeface="Arial" pitchFamily="34" charset="0"/>
              </a:rPr>
              <a:t>lỵ</a:t>
            </a:r>
            <a:r>
              <a:rPr lang="en-US" dirty="0">
                <a:latin typeface="Arial" pitchFamily="34" charset="0"/>
                <a:cs typeface="Arial" pitchFamily="34" charset="0"/>
              </a:rPr>
              <a:t> </a:t>
            </a:r>
            <a:r>
              <a:rPr lang="en-US" dirty="0" err="1">
                <a:latin typeface="Arial" pitchFamily="34" charset="0"/>
                <a:cs typeface="Arial" pitchFamily="34" charset="0"/>
              </a:rPr>
              <a:t>điển</a:t>
            </a:r>
            <a:r>
              <a:rPr lang="en-US" dirty="0">
                <a:latin typeface="Arial" pitchFamily="34" charset="0"/>
                <a:cs typeface="Arial" pitchFamily="34" charset="0"/>
              </a:rPr>
              <a:t> </a:t>
            </a:r>
            <a:r>
              <a:rPr lang="en-US" dirty="0" err="1">
                <a:latin typeface="Arial" pitchFamily="34" charset="0"/>
                <a:cs typeface="Arial" pitchFamily="34" charset="0"/>
              </a:rPr>
              <a:t>hình</a:t>
            </a:r>
            <a:r>
              <a:rPr lang="en-US" dirty="0">
                <a:latin typeface="Arial" pitchFamily="34" charset="0"/>
                <a:cs typeface="Arial" pitchFamily="34" charset="0"/>
              </a:rPr>
              <a:t>. </a:t>
            </a:r>
          </a:p>
          <a:p>
            <a:pPr marL="257175" indent="-257175" algn="just">
              <a:buFont typeface="Wingdings" pitchFamily="2" charset="2"/>
              <a:buChar char="ü"/>
            </a:pPr>
            <a:r>
              <a:rPr lang="en-US" dirty="0" err="1">
                <a:latin typeface="Arial" pitchFamily="34" charset="0"/>
                <a:cs typeface="Arial" pitchFamily="34" charset="0"/>
              </a:rPr>
              <a:t>Thể</a:t>
            </a:r>
            <a:r>
              <a:rPr lang="en-US" dirty="0">
                <a:latin typeface="Arial" pitchFamily="34" charset="0"/>
                <a:cs typeface="Arial" pitchFamily="34" charset="0"/>
              </a:rPr>
              <a:t> </a:t>
            </a:r>
            <a:r>
              <a:rPr lang="en-US" dirty="0" err="1">
                <a:latin typeface="Arial" pitchFamily="34" charset="0"/>
                <a:cs typeface="Arial" pitchFamily="34" charset="0"/>
              </a:rPr>
              <a:t>này</a:t>
            </a:r>
            <a:r>
              <a:rPr lang="en-US" dirty="0">
                <a:latin typeface="Arial" pitchFamily="34" charset="0"/>
                <a:cs typeface="Arial" pitchFamily="34" charset="0"/>
              </a:rPr>
              <a:t> </a:t>
            </a:r>
            <a:r>
              <a:rPr lang="en-US" dirty="0" err="1">
                <a:latin typeface="Arial" pitchFamily="34" charset="0"/>
                <a:cs typeface="Arial" pitchFamily="34" charset="0"/>
              </a:rPr>
              <a:t>dễ</a:t>
            </a:r>
            <a:r>
              <a:rPr lang="en-US" dirty="0">
                <a:latin typeface="Arial" pitchFamily="34" charset="0"/>
                <a:cs typeface="Arial" pitchFamily="34" charset="0"/>
              </a:rPr>
              <a:t> </a:t>
            </a:r>
            <a:r>
              <a:rPr lang="en-US" dirty="0" err="1">
                <a:latin typeface="Arial" pitchFamily="34" charset="0"/>
                <a:cs typeface="Arial" pitchFamily="34" charset="0"/>
              </a:rPr>
              <a:t>dẫn</a:t>
            </a:r>
            <a:r>
              <a:rPr lang="en-US" dirty="0">
                <a:latin typeface="Arial" pitchFamily="34" charset="0"/>
                <a:cs typeface="Arial" pitchFamily="34" charset="0"/>
              </a:rPr>
              <a:t> </a:t>
            </a:r>
            <a:r>
              <a:rPr lang="en-US" dirty="0" err="1">
                <a:latin typeface="Arial" pitchFamily="34" charset="0"/>
                <a:cs typeface="Arial" pitchFamily="34" charset="0"/>
              </a:rPr>
              <a:t>đến</a:t>
            </a:r>
            <a:r>
              <a:rPr lang="en-US" dirty="0">
                <a:latin typeface="Arial" pitchFamily="34" charset="0"/>
                <a:cs typeface="Arial" pitchFamily="34" charset="0"/>
              </a:rPr>
              <a:t> </a:t>
            </a:r>
            <a:r>
              <a:rPr lang="en-US" dirty="0" err="1">
                <a:latin typeface="Arial" pitchFamily="34" charset="0"/>
                <a:cs typeface="Arial" pitchFamily="34" charset="0"/>
              </a:rPr>
              <a:t>tình</a:t>
            </a:r>
            <a:r>
              <a:rPr lang="en-US" dirty="0">
                <a:latin typeface="Arial" pitchFamily="34" charset="0"/>
                <a:cs typeface="Arial" pitchFamily="34" charset="0"/>
              </a:rPr>
              <a:t> </a:t>
            </a:r>
            <a:r>
              <a:rPr lang="en-US" dirty="0" err="1">
                <a:latin typeface="Arial" pitchFamily="34" charset="0"/>
                <a:cs typeface="Arial" pitchFamily="34" charset="0"/>
              </a:rPr>
              <a:t>trạng</a:t>
            </a:r>
            <a:r>
              <a:rPr lang="en-US" dirty="0">
                <a:latin typeface="Arial" pitchFamily="34" charset="0"/>
                <a:cs typeface="Arial" pitchFamily="34" charset="0"/>
              </a:rPr>
              <a:t> </a:t>
            </a:r>
            <a:r>
              <a:rPr lang="en-US" dirty="0" err="1">
                <a:latin typeface="Arial" pitchFamily="34" charset="0"/>
                <a:cs typeface="Arial" pitchFamily="34" charset="0"/>
              </a:rPr>
              <a:t>mất</a:t>
            </a:r>
            <a:r>
              <a:rPr lang="en-US" dirty="0">
                <a:latin typeface="Arial" pitchFamily="34" charset="0"/>
                <a:cs typeface="Arial" pitchFamily="34" charset="0"/>
              </a:rPr>
              <a:t> </a:t>
            </a:r>
            <a:r>
              <a:rPr lang="en-US" dirty="0" err="1">
                <a:latin typeface="Arial" pitchFamily="34" charset="0"/>
                <a:cs typeface="Arial" pitchFamily="34" charset="0"/>
              </a:rPr>
              <a:t>nước</a:t>
            </a:r>
            <a:r>
              <a:rPr lang="en-US" dirty="0">
                <a:latin typeface="Arial" pitchFamily="34" charset="0"/>
                <a:cs typeface="Arial" pitchFamily="34" charset="0"/>
              </a:rPr>
              <a:t>, </a:t>
            </a:r>
            <a:r>
              <a:rPr lang="en-US" dirty="0" err="1">
                <a:latin typeface="Arial" pitchFamily="34" charset="0"/>
                <a:cs typeface="Arial" pitchFamily="34" charset="0"/>
              </a:rPr>
              <a:t>rối</a:t>
            </a:r>
            <a:r>
              <a:rPr lang="en-US" dirty="0">
                <a:latin typeface="Arial" pitchFamily="34" charset="0"/>
                <a:cs typeface="Arial" pitchFamily="34" charset="0"/>
              </a:rPr>
              <a:t> </a:t>
            </a:r>
            <a:r>
              <a:rPr lang="en-US" dirty="0" err="1">
                <a:latin typeface="Arial" pitchFamily="34" charset="0"/>
                <a:cs typeface="Arial" pitchFamily="34" charset="0"/>
              </a:rPr>
              <a:t>loạn</a:t>
            </a:r>
            <a:r>
              <a:rPr lang="en-US" dirty="0">
                <a:latin typeface="Arial" pitchFamily="34" charset="0"/>
                <a:cs typeface="Arial" pitchFamily="34" charset="0"/>
              </a:rPr>
              <a:t> </a:t>
            </a:r>
            <a:r>
              <a:rPr lang="en-US" dirty="0" err="1">
                <a:latin typeface="Arial" pitchFamily="34" charset="0"/>
                <a:cs typeface="Arial" pitchFamily="34" charset="0"/>
              </a:rPr>
              <a:t>điện</a:t>
            </a:r>
            <a:r>
              <a:rPr lang="en-US" dirty="0">
                <a:latin typeface="Arial" pitchFamily="34" charset="0"/>
                <a:cs typeface="Arial" pitchFamily="34" charset="0"/>
              </a:rPr>
              <a:t> </a:t>
            </a:r>
            <a:r>
              <a:rPr lang="en-US" dirty="0" err="1">
                <a:latin typeface="Arial" pitchFamily="34" charset="0"/>
                <a:cs typeface="Arial" pitchFamily="34" charset="0"/>
              </a:rPr>
              <a:t>giải</a:t>
            </a:r>
            <a:r>
              <a:rPr lang="en-US" dirty="0">
                <a:latin typeface="Arial" pitchFamily="34" charset="0"/>
                <a:cs typeface="Arial" pitchFamily="34" charset="0"/>
              </a:rPr>
              <a:t>, </a:t>
            </a:r>
            <a:r>
              <a:rPr lang="en-US" dirty="0" err="1">
                <a:latin typeface="Arial" pitchFamily="34" charset="0"/>
                <a:cs typeface="Arial" pitchFamily="34" charset="0"/>
              </a:rPr>
              <a:t>rối</a:t>
            </a:r>
            <a:r>
              <a:rPr lang="en-US" dirty="0">
                <a:latin typeface="Arial" pitchFamily="34" charset="0"/>
                <a:cs typeface="Arial" pitchFamily="34" charset="0"/>
              </a:rPr>
              <a:t> </a:t>
            </a:r>
            <a:r>
              <a:rPr lang="en-US" dirty="0" err="1">
                <a:latin typeface="Arial" pitchFamily="34" charset="0"/>
                <a:cs typeface="Arial" pitchFamily="34" charset="0"/>
              </a:rPr>
              <a:t>loạn</a:t>
            </a:r>
            <a:r>
              <a:rPr lang="en-US" dirty="0">
                <a:latin typeface="Arial" pitchFamily="34" charset="0"/>
                <a:cs typeface="Arial" pitchFamily="34" charset="0"/>
              </a:rPr>
              <a:t> </a:t>
            </a:r>
            <a:r>
              <a:rPr lang="en-US" dirty="0" err="1">
                <a:latin typeface="Arial" pitchFamily="34" charset="0"/>
                <a:cs typeface="Arial" pitchFamily="34" charset="0"/>
              </a:rPr>
              <a:t>toan</a:t>
            </a:r>
            <a:r>
              <a:rPr lang="en-US" dirty="0">
                <a:latin typeface="Arial" pitchFamily="34" charset="0"/>
                <a:cs typeface="Arial" pitchFamily="34" charset="0"/>
              </a:rPr>
              <a:t> </a:t>
            </a:r>
            <a:r>
              <a:rPr lang="en-US" dirty="0" err="1">
                <a:latin typeface="Arial" pitchFamily="34" charset="0"/>
                <a:cs typeface="Arial" pitchFamily="34" charset="0"/>
              </a:rPr>
              <a:t>kiềm</a:t>
            </a:r>
            <a:r>
              <a:rPr lang="en-US" dirty="0">
                <a:latin typeface="Arial" pitchFamily="34" charset="0"/>
                <a:cs typeface="Arial" pitchFamily="34" charset="0"/>
              </a:rPr>
              <a:t> </a:t>
            </a:r>
            <a:r>
              <a:rPr lang="en-US" dirty="0" err="1">
                <a:latin typeface="Arial" pitchFamily="34" charset="0"/>
                <a:cs typeface="Arial" pitchFamily="34" charset="0"/>
              </a:rPr>
              <a:t>nặng</a:t>
            </a:r>
            <a:r>
              <a:rPr lang="en-US" dirty="0">
                <a:latin typeface="Arial" pitchFamily="34" charset="0"/>
                <a:cs typeface="Arial" pitchFamily="34" charset="0"/>
              </a:rPr>
              <a:t> </a:t>
            </a:r>
            <a:r>
              <a:rPr lang="en-US" dirty="0" err="1">
                <a:latin typeface="Arial" pitchFamily="34" charset="0"/>
                <a:cs typeface="Arial" pitchFamily="34" charset="0"/>
              </a:rPr>
              <a:t>nếu</a:t>
            </a:r>
            <a:r>
              <a:rPr lang="en-US" dirty="0">
                <a:latin typeface="Arial" pitchFamily="34" charset="0"/>
                <a:cs typeface="Arial" pitchFamily="34" charset="0"/>
              </a:rPr>
              <a:t> </a:t>
            </a:r>
            <a:r>
              <a:rPr lang="en-US" dirty="0" err="1">
                <a:latin typeface="Arial" pitchFamily="34" charset="0"/>
                <a:cs typeface="Arial" pitchFamily="34" charset="0"/>
              </a:rPr>
              <a:t>không</a:t>
            </a:r>
            <a:r>
              <a:rPr lang="en-US" dirty="0">
                <a:latin typeface="Arial" pitchFamily="34" charset="0"/>
                <a:cs typeface="Arial" pitchFamily="34" charset="0"/>
              </a:rPr>
              <a:t> </a:t>
            </a:r>
            <a:r>
              <a:rPr lang="en-US" dirty="0" err="1">
                <a:latin typeface="Arial" pitchFamily="34" charset="0"/>
                <a:cs typeface="Arial" pitchFamily="34" charset="0"/>
              </a:rPr>
              <a:t>điều</a:t>
            </a:r>
            <a:r>
              <a:rPr lang="en-US" dirty="0">
                <a:latin typeface="Arial" pitchFamily="34" charset="0"/>
                <a:cs typeface="Arial" pitchFamily="34" charset="0"/>
              </a:rPr>
              <a:t> </a:t>
            </a:r>
            <a:r>
              <a:rPr lang="en-US" dirty="0" err="1">
                <a:latin typeface="Arial" pitchFamily="34" charset="0"/>
                <a:cs typeface="Arial" pitchFamily="34" charset="0"/>
              </a:rPr>
              <a:t>trị</a:t>
            </a:r>
            <a:r>
              <a:rPr lang="en-US" dirty="0">
                <a:latin typeface="Arial" pitchFamily="34" charset="0"/>
                <a:cs typeface="Arial" pitchFamily="34" charset="0"/>
              </a:rPr>
              <a:t> </a:t>
            </a:r>
            <a:r>
              <a:rPr lang="en-US" dirty="0" err="1">
                <a:latin typeface="Arial" pitchFamily="34" charset="0"/>
                <a:cs typeface="Arial" pitchFamily="34" charset="0"/>
              </a:rPr>
              <a:t>kịp</a:t>
            </a:r>
            <a:r>
              <a:rPr lang="en-US" dirty="0">
                <a:latin typeface="Arial" pitchFamily="34" charset="0"/>
                <a:cs typeface="Arial" pitchFamily="34" charset="0"/>
              </a:rPr>
              <a:t> </a:t>
            </a:r>
            <a:r>
              <a:rPr lang="en-US" dirty="0" err="1">
                <a:latin typeface="Arial" pitchFamily="34" charset="0"/>
                <a:cs typeface="Arial" pitchFamily="34" charset="0"/>
              </a:rPr>
              <a:t>thời</a:t>
            </a:r>
            <a:r>
              <a:rPr lang="en-US" dirty="0">
                <a:latin typeface="Arial" pitchFamily="34" charset="0"/>
                <a:cs typeface="Arial" pitchFamily="34" charset="0"/>
              </a:rPr>
              <a:t>. </a:t>
            </a:r>
          </a:p>
          <a:p>
            <a:pPr marL="257175" indent="-257175" algn="just">
              <a:buFont typeface="Wingdings" pitchFamily="2" charset="2"/>
              <a:buChar char="ü"/>
            </a:pPr>
            <a:r>
              <a:rPr lang="en-US" dirty="0" err="1">
                <a:latin typeface="Arial" pitchFamily="34" charset="0"/>
                <a:cs typeface="Arial" pitchFamily="34" charset="0"/>
              </a:rPr>
              <a:t>Thường</a:t>
            </a:r>
            <a:r>
              <a:rPr lang="en-US" dirty="0">
                <a:latin typeface="Arial" pitchFamily="34" charset="0"/>
                <a:cs typeface="Arial" pitchFamily="34" charset="0"/>
              </a:rPr>
              <a:t> </a:t>
            </a:r>
            <a:r>
              <a:rPr lang="en-US" dirty="0" err="1">
                <a:latin typeface="Arial" pitchFamily="34" charset="0"/>
                <a:cs typeface="Arial" pitchFamily="34" charset="0"/>
              </a:rPr>
              <a:t>gặp</a:t>
            </a:r>
            <a:r>
              <a:rPr lang="en-US" dirty="0">
                <a:latin typeface="Arial" pitchFamily="34" charset="0"/>
                <a:cs typeface="Arial" pitchFamily="34" charset="0"/>
              </a:rPr>
              <a:t> ở </a:t>
            </a:r>
            <a:r>
              <a:rPr lang="en-US" dirty="0" err="1">
                <a:latin typeface="Arial" pitchFamily="34" charset="0"/>
                <a:cs typeface="Arial" pitchFamily="34" charset="0"/>
              </a:rPr>
              <a:t>trẻ</a:t>
            </a:r>
            <a:r>
              <a:rPr lang="en-US" dirty="0">
                <a:latin typeface="Arial" pitchFamily="34" charset="0"/>
                <a:cs typeface="Arial" pitchFamily="34" charset="0"/>
              </a:rPr>
              <a:t> </a:t>
            </a:r>
            <a:r>
              <a:rPr lang="en-US" dirty="0" err="1">
                <a:latin typeface="Arial" pitchFamily="34" charset="0"/>
                <a:cs typeface="Arial" pitchFamily="34" charset="0"/>
              </a:rPr>
              <a:t>nhỏ</a:t>
            </a:r>
            <a:endParaRPr lang="en-US" dirty="0">
              <a:latin typeface="Arial" pitchFamily="34" charset="0"/>
              <a:cs typeface="Arial" pitchFamily="34" charset="0"/>
            </a:endParaRPr>
          </a:p>
          <a:p>
            <a:pPr marL="257175" indent="-257175" algn="just">
              <a:buFont typeface="Wingdings" pitchFamily="2" charset="2"/>
              <a:buChar char="ü"/>
            </a:pPr>
            <a:r>
              <a:rPr lang="en-US" dirty="0" err="1">
                <a:latin typeface="Arial" pitchFamily="34" charset="0"/>
                <a:cs typeface="Arial" pitchFamily="34" charset="0"/>
              </a:rPr>
              <a:t>Tác</a:t>
            </a:r>
            <a:r>
              <a:rPr lang="en-US" dirty="0">
                <a:latin typeface="Arial" pitchFamily="34" charset="0"/>
                <a:cs typeface="Arial" pitchFamily="34" charset="0"/>
              </a:rPr>
              <a:t> </a:t>
            </a:r>
            <a:r>
              <a:rPr lang="en-US" dirty="0" err="1">
                <a:latin typeface="Arial" pitchFamily="34" charset="0"/>
                <a:cs typeface="Arial" pitchFamily="34" charset="0"/>
              </a:rPr>
              <a:t>nhân</a:t>
            </a:r>
            <a:r>
              <a:rPr lang="en-US" dirty="0">
                <a:latin typeface="Arial" pitchFamily="34" charset="0"/>
                <a:cs typeface="Arial" pitchFamily="34" charset="0"/>
              </a:rPr>
              <a:t> </a:t>
            </a:r>
            <a:r>
              <a:rPr lang="en-US" dirty="0" err="1">
                <a:latin typeface="Arial" pitchFamily="34" charset="0"/>
                <a:cs typeface="Arial" pitchFamily="34" charset="0"/>
              </a:rPr>
              <a:t>thường</a:t>
            </a:r>
            <a:r>
              <a:rPr lang="en-US" dirty="0">
                <a:latin typeface="Arial" pitchFamily="34" charset="0"/>
                <a:cs typeface="Arial" pitchFamily="34" charset="0"/>
              </a:rPr>
              <a:t> do </a:t>
            </a:r>
            <a:r>
              <a:rPr lang="en-US" i="1" dirty="0">
                <a:latin typeface="Arial" pitchFamily="34" charset="0"/>
                <a:cs typeface="Arial" pitchFamily="34" charset="0"/>
              </a:rPr>
              <a:t>S. </a:t>
            </a:r>
            <a:r>
              <a:rPr lang="en-US" i="1" dirty="0" err="1">
                <a:latin typeface="Arial" pitchFamily="34" charset="0"/>
                <a:cs typeface="Arial" pitchFamily="34" charset="0"/>
              </a:rPr>
              <a:t>sonnei</a:t>
            </a:r>
            <a:r>
              <a:rPr lang="en-US" dirty="0">
                <a:latin typeface="Arial" pitchFamily="34" charset="0"/>
                <a:cs typeface="Arial" pitchFamily="34" charset="0"/>
              </a:rPr>
              <a:t> </a:t>
            </a:r>
          </a:p>
        </p:txBody>
      </p:sp>
      <p:sp>
        <p:nvSpPr>
          <p:cNvPr id="6" name="AutoShape 2" descr="Káº¿t quáº£ hÃ¬nh áº£nh cho phÃ¢n lá»ng trong lá»µ"/>
          <p:cNvSpPr>
            <a:spLocks noChangeAspect="1" noChangeArrowheads="1"/>
          </p:cNvSpPr>
          <p:nvPr/>
        </p:nvSpPr>
        <p:spPr bwMode="auto">
          <a:xfrm>
            <a:off x="116681" y="7489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a:p>
        </p:txBody>
      </p:sp>
      <p:pic>
        <p:nvPicPr>
          <p:cNvPr id="1028" name="Picture 4" descr="Káº¿t quáº£ hÃ¬nh áº£nh cho phÃ¢n lá»ng trong lá»µ"/>
          <p:cNvPicPr>
            <a:picLocks noChangeAspect="1" noChangeArrowheads="1"/>
          </p:cNvPicPr>
          <p:nvPr/>
        </p:nvPicPr>
        <p:blipFill rotWithShape="1">
          <a:blip r:embed="rId2">
            <a:extLst>
              <a:ext uri="{28A0092B-C50C-407E-A947-70E740481C1C}">
                <a14:useLocalDpi xmlns:a14="http://schemas.microsoft.com/office/drawing/2010/main" val="0"/>
              </a:ext>
            </a:extLst>
          </a:blip>
          <a:srcRect l="47345"/>
          <a:stretch/>
        </p:blipFill>
        <p:spPr bwMode="auto">
          <a:xfrm>
            <a:off x="274633" y="4197090"/>
            <a:ext cx="2788586" cy="2105446"/>
          </a:xfrm>
          <a:prstGeom prst="rect">
            <a:avLst/>
          </a:prstGeom>
          <a:noFill/>
          <a:extLst>
            <a:ext uri="{909E8E84-426E-40DD-AFC4-6F175D3DCCD1}">
              <a14:hiddenFill xmlns:a14="http://schemas.microsoft.com/office/drawing/2010/main">
                <a:solidFill>
                  <a:srgbClr val="FFFFFF"/>
                </a:solidFill>
              </a14:hiddenFill>
            </a:ext>
          </a:extLst>
        </p:spPr>
      </p:pic>
      <p:sp>
        <p:nvSpPr>
          <p:cNvPr id="11" name="AutoShape 6" descr="Káº¿t quáº£ hÃ¬nh áº£nh cho phÃ¢n lá»ng trong lá»µ"/>
          <p:cNvSpPr>
            <a:spLocks noChangeAspect="1" noChangeArrowheads="1"/>
          </p:cNvSpPr>
          <p:nvPr/>
        </p:nvSpPr>
        <p:spPr bwMode="auto">
          <a:xfrm>
            <a:off x="230981" y="8632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0" y="1119532"/>
            <a:ext cx="4238198" cy="2317767"/>
          </a:xfrm>
          <a:prstGeom prst="rect">
            <a:avLst/>
          </a:prstGeom>
        </p:spPr>
      </p:pic>
      <p:sp>
        <p:nvSpPr>
          <p:cNvPr id="13" name="Tiêu đề 1">
            <a:extLst>
              <a:ext uri="{FF2B5EF4-FFF2-40B4-BE49-F238E27FC236}">
                <a16:creationId xmlns:a16="http://schemas.microsoft.com/office/drawing/2014/main" xmlns="" id="{C98A5779-0D20-F746-86A7-119A3BB7F135}"/>
              </a:ext>
            </a:extLst>
          </p:cNvPr>
          <p:cNvSpPr txBox="1">
            <a:spLocks/>
          </p:cNvSpPr>
          <p:nvPr/>
        </p:nvSpPr>
        <p:spPr>
          <a:xfrm>
            <a:off x="129654" y="146301"/>
            <a:ext cx="5928545"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 </a:t>
            </a:r>
            <a:r>
              <a:rPr lang="vi-VN" sz="4000" b="1" dirty="0" smtClean="0">
                <a:solidFill>
                  <a:srgbClr val="FF0000"/>
                </a:solidFill>
                <a:latin typeface="Arial" pitchFamily="34" charset="0"/>
                <a:ea typeface="+mj-ea"/>
                <a:cs typeface="Arial" pitchFamily="34" charset="0"/>
              </a:rPr>
              <a:t>LÂM SÀNG</a:t>
            </a:r>
            <a:endParaRPr lang="vi-VN" sz="4000" b="1" dirty="0">
              <a:solidFill>
                <a:srgbClr val="FF0000"/>
              </a:solidFill>
              <a:latin typeface="Arial" pitchFamily="34" charset="0"/>
              <a:ea typeface="+mj-ea"/>
              <a:cs typeface="Arial" pitchFamily="34" charset="0"/>
            </a:endParaRPr>
          </a:p>
        </p:txBody>
      </p:sp>
      <p:sp>
        <p:nvSpPr>
          <p:cNvPr id="14" name="TextBox 13"/>
          <p:cNvSpPr txBox="1"/>
          <p:nvPr/>
        </p:nvSpPr>
        <p:spPr>
          <a:xfrm>
            <a:off x="1219200" y="685800"/>
            <a:ext cx="4095482" cy="553998"/>
          </a:xfrm>
          <a:prstGeom prst="rect">
            <a:avLst/>
          </a:prstGeom>
          <a:noFill/>
        </p:spPr>
        <p:txBody>
          <a:bodyPr wrap="square" rtlCol="0">
            <a:spAutoFit/>
          </a:bodyPr>
          <a:lstStyle/>
          <a:p>
            <a:pPr algn="just"/>
            <a:r>
              <a:rPr lang="en-US" sz="3000" b="1" dirty="0">
                <a:latin typeface="Arial" pitchFamily="34" charset="0"/>
                <a:cs typeface="Arial" pitchFamily="34" charset="0"/>
              </a:rPr>
              <a:t>2. </a:t>
            </a:r>
            <a:r>
              <a:rPr lang="en-US" sz="3000" b="1" dirty="0" err="1">
                <a:latin typeface="Arial" pitchFamily="34" charset="0"/>
                <a:cs typeface="Arial" pitchFamily="34" charset="0"/>
              </a:rPr>
              <a:t>Các</a:t>
            </a:r>
            <a:r>
              <a:rPr lang="en-US" sz="3000" b="1" dirty="0">
                <a:latin typeface="Arial" pitchFamily="34" charset="0"/>
                <a:cs typeface="Arial" pitchFamily="34" charset="0"/>
              </a:rPr>
              <a:t> </a:t>
            </a:r>
            <a:r>
              <a:rPr lang="en-US" sz="3000" b="1" dirty="0" err="1">
                <a:latin typeface="Arial" pitchFamily="34" charset="0"/>
                <a:cs typeface="Arial" pitchFamily="34" charset="0"/>
              </a:rPr>
              <a:t>thể</a:t>
            </a:r>
            <a:r>
              <a:rPr lang="en-US" sz="3000" b="1" dirty="0">
                <a:latin typeface="Arial" pitchFamily="34" charset="0"/>
                <a:cs typeface="Arial" pitchFamily="34" charset="0"/>
              </a:rPr>
              <a:t> </a:t>
            </a:r>
            <a:r>
              <a:rPr lang="en-US" sz="3000" b="1" dirty="0" err="1">
                <a:latin typeface="Arial" pitchFamily="34" charset="0"/>
                <a:cs typeface="Arial" pitchFamily="34" charset="0"/>
              </a:rPr>
              <a:t>lâm</a:t>
            </a:r>
            <a:r>
              <a:rPr lang="en-US" sz="3000" b="1" dirty="0">
                <a:latin typeface="Arial" pitchFamily="34" charset="0"/>
                <a:cs typeface="Arial" pitchFamily="34" charset="0"/>
              </a:rPr>
              <a:t> </a:t>
            </a:r>
            <a:r>
              <a:rPr lang="en-US" sz="3000" b="1" dirty="0" err="1">
                <a:latin typeface="Arial" pitchFamily="34" charset="0"/>
                <a:cs typeface="Arial" pitchFamily="34" charset="0"/>
              </a:rPr>
              <a:t>sàng</a:t>
            </a:r>
            <a:endParaRPr lang="en-US" sz="3000" b="1" dirty="0">
              <a:latin typeface="Arial" pitchFamily="34" charset="0"/>
              <a:cs typeface="Arial" pitchFamily="34" charset="0"/>
            </a:endParaRPr>
          </a:p>
        </p:txBody>
      </p:sp>
    </p:spTree>
    <p:extLst>
      <p:ext uri="{BB962C8B-B14F-4D97-AF65-F5344CB8AC3E}">
        <p14:creationId xmlns:p14="http://schemas.microsoft.com/office/powerpoint/2010/main" val="3921600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barn(inVertical)">
                                      <p:cBhvr>
                                        <p:cTn id="13" dur="500"/>
                                        <p:tgtEl>
                                          <p:spTgt spid="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028"/>
                                        </p:tgtEl>
                                        <p:attrNameLst>
                                          <p:attrName>style.visibility</p:attrName>
                                        </p:attrNameLst>
                                      </p:cBhvr>
                                      <p:to>
                                        <p:strVal val="visible"/>
                                      </p:to>
                                    </p:set>
                                    <p:animEffect transition="in" filter="fade">
                                      <p:cBhvr>
                                        <p:cTn id="22" dur="1000"/>
                                        <p:tgtEl>
                                          <p:spTgt spid="1028"/>
                                        </p:tgtEl>
                                      </p:cBhvr>
                                    </p:animEffect>
                                    <p:anim calcmode="lin" valueType="num">
                                      <p:cBhvr>
                                        <p:cTn id="23" dur="1000" fill="hold"/>
                                        <p:tgtEl>
                                          <p:spTgt spid="1028"/>
                                        </p:tgtEl>
                                        <p:attrNameLst>
                                          <p:attrName>ppt_x</p:attrName>
                                        </p:attrNameLst>
                                      </p:cBhvr>
                                      <p:tavLst>
                                        <p:tav tm="0">
                                          <p:val>
                                            <p:strVal val="#ppt_x"/>
                                          </p:val>
                                        </p:tav>
                                        <p:tav tm="100000">
                                          <p:val>
                                            <p:strVal val="#ppt_x"/>
                                          </p:val>
                                        </p:tav>
                                      </p:tavLst>
                                    </p:anim>
                                    <p:anim calcmode="lin" valueType="num">
                                      <p:cBhvr>
                                        <p:cTn id="24"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barn(inVertical)">
                                      <p:cBhvr>
                                        <p:cTn id="29" dur="500"/>
                                        <p:tgtEl>
                                          <p:spTgt spid="3">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1" end="1"/>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
                                            <p:txEl>
                                              <p:pRg st="2" end="2"/>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txBox="1">
            <a:spLocks noGrp="1"/>
          </p:cNvSpPr>
          <p:nvPr>
            <p:ph idx="1"/>
          </p:nvPr>
        </p:nvSpPr>
        <p:spPr>
          <a:xfrm>
            <a:off x="266700" y="1524000"/>
            <a:ext cx="8610600" cy="5119350"/>
          </a:xfrm>
          <a:prstGeom prst="rect">
            <a:avLst/>
          </a:prstGeom>
          <a:noFill/>
        </p:spPr>
        <p:txBody>
          <a:bodyPr wrap="square" rtlCol="0">
            <a:spAutoFit/>
          </a:bodyPr>
          <a:lstStyle/>
          <a:p>
            <a:pPr marL="0" indent="0" algn="just">
              <a:buNone/>
            </a:pPr>
            <a:r>
              <a:rPr lang="en-US" sz="2000" b="1" dirty="0">
                <a:latin typeface="Arial" pitchFamily="34" charset="0"/>
                <a:cs typeface="Arial" pitchFamily="34" charset="0"/>
              </a:rPr>
              <a:t>2.6.Thể </a:t>
            </a:r>
            <a:r>
              <a:rPr lang="en-US" sz="2000" b="1" dirty="0" err="1">
                <a:latin typeface="Arial" pitchFamily="34" charset="0"/>
                <a:cs typeface="Arial" pitchFamily="34" charset="0"/>
              </a:rPr>
              <a:t>tối</a:t>
            </a:r>
            <a:r>
              <a:rPr lang="en-US" sz="2000" b="1" dirty="0">
                <a:latin typeface="Arial" pitchFamily="34" charset="0"/>
                <a:cs typeface="Arial" pitchFamily="34" charset="0"/>
              </a:rPr>
              <a:t> </a:t>
            </a:r>
            <a:r>
              <a:rPr lang="en-US" sz="2000" b="1" dirty="0" err="1">
                <a:latin typeface="Arial" pitchFamily="34" charset="0"/>
                <a:cs typeface="Arial" pitchFamily="34" charset="0"/>
              </a:rPr>
              <a:t>độc</a:t>
            </a:r>
            <a:r>
              <a:rPr lang="en-US" sz="2000" b="1" dirty="0">
                <a:latin typeface="Arial" pitchFamily="34" charset="0"/>
                <a:cs typeface="Arial" pitchFamily="34" charset="0"/>
              </a:rPr>
              <a:t> </a:t>
            </a:r>
            <a:endParaRPr lang="en-US" sz="2000" dirty="0">
              <a:latin typeface="Arial" pitchFamily="34" charset="0"/>
              <a:cs typeface="Arial" pitchFamily="34" charset="0"/>
            </a:endParaRPr>
          </a:p>
          <a:p>
            <a:pPr algn="just">
              <a:buFont typeface="Wingdings" pitchFamily="2" charset="2"/>
              <a:buChar char="ü"/>
            </a:pPr>
            <a:r>
              <a:rPr lang="en-US" sz="2000" dirty="0" err="1">
                <a:latin typeface="Arial" pitchFamily="34" charset="0"/>
                <a:cs typeface="Arial" pitchFamily="34" charset="0"/>
              </a:rPr>
              <a:t>Thể</a:t>
            </a:r>
            <a:r>
              <a:rPr lang="en-US" sz="2000" dirty="0">
                <a:latin typeface="Arial" pitchFamily="34" charset="0"/>
                <a:cs typeface="Arial" pitchFamily="34" charset="0"/>
              </a:rPr>
              <a:t> </a:t>
            </a:r>
            <a:r>
              <a:rPr lang="en-US" sz="2000" dirty="0" err="1">
                <a:latin typeface="Arial" pitchFamily="34" charset="0"/>
                <a:cs typeface="Arial" pitchFamily="34" charset="0"/>
              </a:rPr>
              <a:t>này</a:t>
            </a:r>
            <a:r>
              <a:rPr lang="en-US" sz="2000" dirty="0">
                <a:latin typeface="Arial" pitchFamily="34" charset="0"/>
                <a:cs typeface="Arial" pitchFamily="34" charset="0"/>
              </a:rPr>
              <a:t> </a:t>
            </a:r>
            <a:r>
              <a:rPr lang="en-US" sz="2000" dirty="0" err="1">
                <a:latin typeface="Arial" pitchFamily="34" charset="0"/>
                <a:cs typeface="Arial" pitchFamily="34" charset="0"/>
              </a:rPr>
              <a:t>rất</a:t>
            </a:r>
            <a:r>
              <a:rPr lang="en-US" sz="2000" dirty="0">
                <a:latin typeface="Arial" pitchFamily="34" charset="0"/>
                <a:cs typeface="Arial" pitchFamily="34" charset="0"/>
              </a:rPr>
              <a:t> </a:t>
            </a:r>
            <a:r>
              <a:rPr lang="en-US" sz="2000" dirty="0" err="1">
                <a:latin typeface="Arial" pitchFamily="34" charset="0"/>
                <a:cs typeface="Arial" pitchFamily="34" charset="0"/>
              </a:rPr>
              <a:t>hiếm</a:t>
            </a:r>
            <a:r>
              <a:rPr lang="en-US" sz="2000" dirty="0">
                <a:latin typeface="Arial" pitchFamily="34" charset="0"/>
                <a:cs typeface="Arial" pitchFamily="34" charset="0"/>
              </a:rPr>
              <a:t>, </a:t>
            </a:r>
            <a:r>
              <a:rPr lang="en-US" sz="2000" dirty="0" err="1">
                <a:latin typeface="Arial" pitchFamily="34" charset="0"/>
                <a:cs typeface="Arial" pitchFamily="34" charset="0"/>
              </a:rPr>
              <a:t>biểu</a:t>
            </a:r>
            <a:r>
              <a:rPr lang="en-US" sz="2000" dirty="0">
                <a:latin typeface="Arial" pitchFamily="34" charset="0"/>
                <a:cs typeface="Arial" pitchFamily="34" charset="0"/>
              </a:rPr>
              <a:t> </a:t>
            </a:r>
            <a:r>
              <a:rPr lang="en-US" sz="2000" dirty="0" err="1">
                <a:latin typeface="Arial" pitchFamily="34" charset="0"/>
                <a:cs typeface="Arial" pitchFamily="34" charset="0"/>
              </a:rPr>
              <a:t>hiện</a:t>
            </a:r>
            <a:r>
              <a:rPr lang="en-US" sz="2000" dirty="0">
                <a:latin typeface="Arial" pitchFamily="34" charset="0"/>
                <a:cs typeface="Arial" pitchFamily="34" charset="0"/>
              </a:rPr>
              <a:t> </a:t>
            </a:r>
            <a:r>
              <a:rPr lang="en-US" sz="2000" dirty="0" err="1">
                <a:latin typeface="Arial" pitchFamily="34" charset="0"/>
                <a:cs typeface="Arial" pitchFamily="34" charset="0"/>
              </a:rPr>
              <a:t>đi</a:t>
            </a:r>
            <a:r>
              <a:rPr lang="en-US" sz="2000" dirty="0">
                <a:latin typeface="Arial" pitchFamily="34" charset="0"/>
                <a:cs typeface="Arial" pitchFamily="34" charset="0"/>
              </a:rPr>
              <a:t> </a:t>
            </a:r>
            <a:r>
              <a:rPr lang="en-US" sz="2000" dirty="0" err="1">
                <a:latin typeface="Arial" pitchFamily="34" charset="0"/>
                <a:cs typeface="Arial" pitchFamily="34" charset="0"/>
              </a:rPr>
              <a:t>ngoài</a:t>
            </a:r>
            <a:r>
              <a:rPr lang="en-US" sz="2000" dirty="0">
                <a:latin typeface="Arial" pitchFamily="34" charset="0"/>
                <a:cs typeface="Arial" pitchFamily="34" charset="0"/>
              </a:rPr>
              <a:t> </a:t>
            </a:r>
            <a:r>
              <a:rPr lang="en-US" sz="2000" dirty="0" err="1">
                <a:latin typeface="Arial" pitchFamily="34" charset="0"/>
                <a:cs typeface="Arial" pitchFamily="34" charset="0"/>
              </a:rPr>
              <a:t>nhiều</a:t>
            </a:r>
            <a:r>
              <a:rPr lang="en-US" sz="2000" dirty="0">
                <a:latin typeface="Arial" pitchFamily="34" charset="0"/>
                <a:cs typeface="Arial" pitchFamily="34" charset="0"/>
              </a:rPr>
              <a:t>, </a:t>
            </a:r>
            <a:r>
              <a:rPr lang="en-US" sz="2000" dirty="0" err="1">
                <a:latin typeface="Arial" pitchFamily="34" charset="0"/>
                <a:cs typeface="Arial" pitchFamily="34" charset="0"/>
              </a:rPr>
              <a:t>phân</a:t>
            </a:r>
            <a:r>
              <a:rPr lang="en-US" sz="2000" dirty="0">
                <a:latin typeface="Arial" pitchFamily="34" charset="0"/>
                <a:cs typeface="Arial" pitchFamily="34" charset="0"/>
              </a:rPr>
              <a:t> </a:t>
            </a:r>
            <a:r>
              <a:rPr lang="en-US" sz="2000" dirty="0" err="1">
                <a:latin typeface="Arial" pitchFamily="34" charset="0"/>
                <a:cs typeface="Arial" pitchFamily="34" charset="0"/>
              </a:rPr>
              <a:t>nhầy</a:t>
            </a:r>
            <a:r>
              <a:rPr lang="en-US" sz="2000" dirty="0">
                <a:latin typeface="Arial" pitchFamily="34" charset="0"/>
                <a:cs typeface="Arial" pitchFamily="34" charset="0"/>
              </a:rPr>
              <a:t> </a:t>
            </a:r>
            <a:r>
              <a:rPr lang="en-US" sz="2000" dirty="0" err="1">
                <a:latin typeface="Arial" pitchFamily="34" charset="0"/>
                <a:cs typeface="Arial" pitchFamily="34" charset="0"/>
              </a:rPr>
              <a:t>mủ</a:t>
            </a:r>
            <a:r>
              <a:rPr lang="en-US" sz="2000" dirty="0">
                <a:latin typeface="Arial" pitchFamily="34" charset="0"/>
                <a:cs typeface="Arial" pitchFamily="34" charset="0"/>
              </a:rPr>
              <a:t>, </a:t>
            </a:r>
            <a:r>
              <a:rPr lang="en-US" sz="2000" dirty="0" err="1">
                <a:latin typeface="Arial" pitchFamily="34" charset="0"/>
                <a:cs typeface="Arial" pitchFamily="34" charset="0"/>
              </a:rPr>
              <a:t>có</a:t>
            </a:r>
            <a:r>
              <a:rPr lang="en-US" sz="2000" dirty="0">
                <a:latin typeface="Arial" pitchFamily="34" charset="0"/>
                <a:cs typeface="Arial" pitchFamily="34" charset="0"/>
              </a:rPr>
              <a:t> </a:t>
            </a:r>
            <a:r>
              <a:rPr lang="en-US" sz="2000" dirty="0" err="1">
                <a:latin typeface="Arial" pitchFamily="34" charset="0"/>
                <a:cs typeface="Arial" pitchFamily="34" charset="0"/>
              </a:rPr>
              <a:t>khi</a:t>
            </a:r>
            <a:r>
              <a:rPr lang="en-US" sz="2000" dirty="0">
                <a:latin typeface="Arial" pitchFamily="34" charset="0"/>
                <a:cs typeface="Arial" pitchFamily="34" charset="0"/>
              </a:rPr>
              <a:t> </a:t>
            </a:r>
            <a:r>
              <a:rPr lang="en-US" sz="2000" dirty="0" err="1">
                <a:latin typeface="Arial" pitchFamily="34" charset="0"/>
                <a:cs typeface="Arial" pitchFamily="34" charset="0"/>
              </a:rPr>
              <a:t>toàn</a:t>
            </a:r>
            <a:r>
              <a:rPr lang="en-US" sz="2000" dirty="0">
                <a:latin typeface="Arial" pitchFamily="34" charset="0"/>
                <a:cs typeface="Arial" pitchFamily="34" charset="0"/>
              </a:rPr>
              <a:t> </a:t>
            </a:r>
            <a:r>
              <a:rPr lang="en-US" sz="2000" dirty="0" err="1">
                <a:latin typeface="Arial" pitchFamily="34" charset="0"/>
                <a:cs typeface="Arial" pitchFamily="34" charset="0"/>
              </a:rPr>
              <a:t>máu</a:t>
            </a:r>
            <a:r>
              <a:rPr lang="en-US" sz="2000" dirty="0">
                <a:latin typeface="Arial" pitchFamily="34" charset="0"/>
                <a:cs typeface="Arial" pitchFamily="34" charset="0"/>
              </a:rPr>
              <a:t>, </a:t>
            </a:r>
            <a:r>
              <a:rPr lang="en-US" sz="2000" dirty="0" err="1">
                <a:latin typeface="Arial" pitchFamily="34" charset="0"/>
                <a:cs typeface="Arial" pitchFamily="34" charset="0"/>
              </a:rPr>
              <a:t>bệnh</a:t>
            </a:r>
            <a:r>
              <a:rPr lang="en-US" sz="2000" dirty="0">
                <a:latin typeface="Arial" pitchFamily="34" charset="0"/>
                <a:cs typeface="Arial" pitchFamily="34" charset="0"/>
              </a:rPr>
              <a:t> </a:t>
            </a:r>
            <a:r>
              <a:rPr lang="en-US" sz="2000" dirty="0" err="1">
                <a:latin typeface="Arial" pitchFamily="34" charset="0"/>
                <a:cs typeface="Arial" pitchFamily="34" charset="0"/>
              </a:rPr>
              <a:t>nhân</a:t>
            </a:r>
            <a:r>
              <a:rPr lang="en-US" sz="2000" dirty="0">
                <a:latin typeface="Arial" pitchFamily="34" charset="0"/>
                <a:cs typeface="Arial" pitchFamily="34" charset="0"/>
              </a:rPr>
              <a:t> </a:t>
            </a:r>
            <a:r>
              <a:rPr lang="en-US" sz="2000" dirty="0" err="1">
                <a:latin typeface="Arial" pitchFamily="34" charset="0"/>
                <a:cs typeface="Arial" pitchFamily="34" charset="0"/>
              </a:rPr>
              <a:t>có</a:t>
            </a:r>
            <a:r>
              <a:rPr lang="en-US" sz="2000" dirty="0">
                <a:latin typeface="Arial" pitchFamily="34" charset="0"/>
                <a:cs typeface="Arial" pitchFamily="34" charset="0"/>
              </a:rPr>
              <a:t> </a:t>
            </a:r>
            <a:r>
              <a:rPr lang="en-US" sz="2000" dirty="0" err="1">
                <a:latin typeface="Arial" pitchFamily="34" charset="0"/>
                <a:cs typeface="Arial" pitchFamily="34" charset="0"/>
              </a:rPr>
              <a:t>thể</a:t>
            </a:r>
            <a:r>
              <a:rPr lang="en-US" sz="2000" dirty="0">
                <a:latin typeface="Arial" pitchFamily="34" charset="0"/>
                <a:cs typeface="Arial" pitchFamily="34" charset="0"/>
              </a:rPr>
              <a:t> </a:t>
            </a:r>
            <a:r>
              <a:rPr lang="en-US" sz="2000" dirty="0" err="1">
                <a:latin typeface="Arial" pitchFamily="34" charset="0"/>
                <a:cs typeface="Arial" pitchFamily="34" charset="0"/>
              </a:rPr>
              <a:t>chết</a:t>
            </a:r>
            <a:r>
              <a:rPr lang="en-US" sz="2000" dirty="0">
                <a:latin typeface="Arial" pitchFamily="34" charset="0"/>
                <a:cs typeface="Arial" pitchFamily="34" charset="0"/>
              </a:rPr>
              <a:t> </a:t>
            </a:r>
            <a:r>
              <a:rPr lang="en-US" sz="2000" dirty="0" err="1">
                <a:latin typeface="Arial" pitchFamily="34" charset="0"/>
                <a:cs typeface="Arial" pitchFamily="34" charset="0"/>
              </a:rPr>
              <a:t>trong</a:t>
            </a:r>
            <a:r>
              <a:rPr lang="en-US" sz="2000" dirty="0">
                <a:latin typeface="Arial" pitchFamily="34" charset="0"/>
                <a:cs typeface="Arial" pitchFamily="34" charset="0"/>
              </a:rPr>
              <a:t> </a:t>
            </a:r>
            <a:r>
              <a:rPr lang="en-US" sz="2000" dirty="0" err="1">
                <a:latin typeface="Arial" pitchFamily="34" charset="0"/>
                <a:cs typeface="Arial" pitchFamily="34" charset="0"/>
              </a:rPr>
              <a:t>vài</a:t>
            </a:r>
            <a:r>
              <a:rPr lang="en-US" sz="2000" dirty="0">
                <a:latin typeface="Arial" pitchFamily="34" charset="0"/>
                <a:cs typeface="Arial" pitchFamily="34" charset="0"/>
              </a:rPr>
              <a:t> </a:t>
            </a:r>
            <a:r>
              <a:rPr lang="en-US" sz="2000" dirty="0" err="1">
                <a:latin typeface="Arial" pitchFamily="34" charset="0"/>
                <a:cs typeface="Arial" pitchFamily="34" charset="0"/>
              </a:rPr>
              <a:t>ngày</a:t>
            </a:r>
            <a:r>
              <a:rPr lang="en-US" sz="2000" dirty="0">
                <a:latin typeface="Arial" pitchFamily="34" charset="0"/>
                <a:cs typeface="Arial" pitchFamily="34" charset="0"/>
              </a:rPr>
              <a:t> </a:t>
            </a:r>
            <a:r>
              <a:rPr lang="en-US" sz="2000" dirty="0" err="1">
                <a:latin typeface="Arial" pitchFamily="34" charset="0"/>
                <a:cs typeface="Arial" pitchFamily="34" charset="0"/>
              </a:rPr>
              <a:t>đầu</a:t>
            </a:r>
            <a:r>
              <a:rPr lang="en-US" sz="2000" dirty="0">
                <a:latin typeface="Arial" pitchFamily="34" charset="0"/>
                <a:cs typeface="Arial" pitchFamily="34" charset="0"/>
              </a:rPr>
              <a:t> </a:t>
            </a:r>
            <a:r>
              <a:rPr lang="en-US" sz="2000" dirty="0" err="1">
                <a:latin typeface="Arial" pitchFamily="34" charset="0"/>
                <a:cs typeface="Arial" pitchFamily="34" charset="0"/>
              </a:rPr>
              <a:t>trong</a:t>
            </a:r>
            <a:r>
              <a:rPr lang="en-US" sz="2000" dirty="0">
                <a:latin typeface="Arial" pitchFamily="34" charset="0"/>
                <a:cs typeface="Arial" pitchFamily="34" charset="0"/>
              </a:rPr>
              <a:t> </a:t>
            </a:r>
            <a:r>
              <a:rPr lang="en-US" sz="2000" dirty="0" err="1">
                <a:latin typeface="Arial" pitchFamily="34" charset="0"/>
                <a:cs typeface="Arial" pitchFamily="34" charset="0"/>
              </a:rPr>
              <a:t>hôn</a:t>
            </a:r>
            <a:r>
              <a:rPr lang="en-US" sz="2000" dirty="0">
                <a:latin typeface="Arial" pitchFamily="34" charset="0"/>
                <a:cs typeface="Arial" pitchFamily="34" charset="0"/>
              </a:rPr>
              <a:t> </a:t>
            </a:r>
            <a:r>
              <a:rPr lang="en-US" sz="2000" dirty="0" err="1">
                <a:latin typeface="Arial" pitchFamily="34" charset="0"/>
                <a:cs typeface="Arial" pitchFamily="34" charset="0"/>
              </a:rPr>
              <a:t>mê</a:t>
            </a:r>
            <a:r>
              <a:rPr lang="en-US" sz="2000" dirty="0">
                <a:latin typeface="Arial" pitchFamily="34" charset="0"/>
                <a:cs typeface="Arial" pitchFamily="34" charset="0"/>
              </a:rPr>
              <a:t>, </a:t>
            </a:r>
            <a:r>
              <a:rPr lang="en-US" sz="2000" dirty="0" err="1">
                <a:latin typeface="Arial" pitchFamily="34" charset="0"/>
                <a:cs typeface="Arial" pitchFamily="34" charset="0"/>
              </a:rPr>
              <a:t>trụy</a:t>
            </a:r>
            <a:r>
              <a:rPr lang="en-US" sz="2000" dirty="0">
                <a:latin typeface="Arial" pitchFamily="34" charset="0"/>
                <a:cs typeface="Arial" pitchFamily="34" charset="0"/>
              </a:rPr>
              <a:t> </a:t>
            </a:r>
            <a:r>
              <a:rPr lang="en-US" sz="2000" dirty="0" err="1">
                <a:latin typeface="Arial" pitchFamily="34" charset="0"/>
                <a:cs typeface="Arial" pitchFamily="34" charset="0"/>
              </a:rPr>
              <a:t>tim</a:t>
            </a:r>
            <a:r>
              <a:rPr lang="en-US" sz="2000" dirty="0">
                <a:latin typeface="Arial" pitchFamily="34" charset="0"/>
                <a:cs typeface="Arial" pitchFamily="34" charset="0"/>
              </a:rPr>
              <a:t> </a:t>
            </a:r>
            <a:r>
              <a:rPr lang="en-US" sz="2000" dirty="0" err="1">
                <a:latin typeface="Arial" pitchFamily="34" charset="0"/>
                <a:cs typeface="Arial" pitchFamily="34" charset="0"/>
              </a:rPr>
              <a:t>mạch</a:t>
            </a:r>
            <a:r>
              <a:rPr lang="en-US" sz="2000" dirty="0">
                <a:latin typeface="Arial" pitchFamily="34" charset="0"/>
                <a:cs typeface="Arial" pitchFamily="34" charset="0"/>
              </a:rPr>
              <a:t>. </a:t>
            </a:r>
          </a:p>
          <a:p>
            <a:pPr marL="0" indent="0" algn="just">
              <a:buNone/>
            </a:pPr>
            <a:endParaRPr lang="en-US" sz="2000" dirty="0">
              <a:latin typeface="Arial" pitchFamily="34" charset="0"/>
              <a:cs typeface="Arial" pitchFamily="34" charset="0"/>
            </a:endParaRPr>
          </a:p>
          <a:p>
            <a:pPr marL="0" indent="0" algn="just">
              <a:buNone/>
            </a:pPr>
            <a:r>
              <a:rPr lang="en-US" sz="2000" b="1" dirty="0">
                <a:latin typeface="Arial" pitchFamily="34" charset="0"/>
                <a:cs typeface="Arial" pitchFamily="34" charset="0"/>
              </a:rPr>
              <a:t>2.7. </a:t>
            </a:r>
            <a:r>
              <a:rPr lang="en-US" sz="2000" b="1" dirty="0" err="1">
                <a:latin typeface="Arial" pitchFamily="34" charset="0"/>
                <a:cs typeface="Arial" pitchFamily="34" charset="0"/>
              </a:rPr>
              <a:t>Lỵ</a:t>
            </a:r>
            <a:r>
              <a:rPr lang="en-US" sz="2000" b="1" dirty="0">
                <a:latin typeface="Arial" pitchFamily="34" charset="0"/>
                <a:cs typeface="Arial" pitchFamily="34" charset="0"/>
              </a:rPr>
              <a:t> </a:t>
            </a:r>
            <a:r>
              <a:rPr lang="en-US" sz="2000" b="1" dirty="0" err="1">
                <a:latin typeface="Arial" pitchFamily="34" charset="0"/>
                <a:cs typeface="Arial" pitchFamily="34" charset="0"/>
              </a:rPr>
              <a:t>kéo</a:t>
            </a:r>
            <a:r>
              <a:rPr lang="en-US" sz="2000" b="1" dirty="0">
                <a:latin typeface="Arial" pitchFamily="34" charset="0"/>
                <a:cs typeface="Arial" pitchFamily="34" charset="0"/>
              </a:rPr>
              <a:t> </a:t>
            </a:r>
            <a:r>
              <a:rPr lang="en-US" sz="2000" b="1" dirty="0" err="1">
                <a:latin typeface="Arial" pitchFamily="34" charset="0"/>
                <a:cs typeface="Arial" pitchFamily="34" charset="0"/>
              </a:rPr>
              <a:t>dài</a:t>
            </a:r>
            <a:r>
              <a:rPr lang="en-US" sz="2000" b="1" dirty="0">
                <a:latin typeface="Arial" pitchFamily="34" charset="0"/>
                <a:cs typeface="Arial" pitchFamily="34" charset="0"/>
              </a:rPr>
              <a:t>, </a:t>
            </a:r>
            <a:r>
              <a:rPr lang="en-US" sz="2000" b="1" dirty="0" err="1">
                <a:latin typeface="Arial" pitchFamily="34" charset="0"/>
                <a:cs typeface="Arial" pitchFamily="34" charset="0"/>
              </a:rPr>
              <a:t>mạn</a:t>
            </a:r>
            <a:r>
              <a:rPr lang="en-US" sz="2000" b="1" dirty="0">
                <a:latin typeface="Arial" pitchFamily="34" charset="0"/>
                <a:cs typeface="Arial" pitchFamily="34" charset="0"/>
              </a:rPr>
              <a:t> </a:t>
            </a:r>
            <a:r>
              <a:rPr lang="en-US" sz="2000" b="1" dirty="0" err="1">
                <a:latin typeface="Arial" pitchFamily="34" charset="0"/>
                <a:cs typeface="Arial" pitchFamily="34" charset="0"/>
              </a:rPr>
              <a:t>tính</a:t>
            </a:r>
            <a:r>
              <a:rPr lang="en-US" sz="2000" b="1" dirty="0">
                <a:latin typeface="Arial" pitchFamily="34" charset="0"/>
                <a:cs typeface="Arial" pitchFamily="34" charset="0"/>
              </a:rPr>
              <a:t> </a:t>
            </a:r>
          </a:p>
          <a:p>
            <a:pPr algn="just">
              <a:buFont typeface="Wingdings" pitchFamily="2" charset="2"/>
              <a:buChar char="ü"/>
            </a:pPr>
            <a:r>
              <a:rPr lang="en-US" sz="2000" dirty="0" err="1">
                <a:latin typeface="Arial" pitchFamily="34" charset="0"/>
                <a:cs typeface="Arial" pitchFamily="34" charset="0"/>
              </a:rPr>
              <a:t>Thể</a:t>
            </a:r>
            <a:r>
              <a:rPr lang="en-US" sz="2000" dirty="0">
                <a:latin typeface="Arial" pitchFamily="34" charset="0"/>
                <a:cs typeface="Arial" pitchFamily="34" charset="0"/>
              </a:rPr>
              <a:t> </a:t>
            </a:r>
            <a:r>
              <a:rPr lang="en-US" sz="2000" dirty="0" err="1">
                <a:latin typeface="Arial" pitchFamily="34" charset="0"/>
                <a:cs typeface="Arial" pitchFamily="34" charset="0"/>
              </a:rPr>
              <a:t>này</a:t>
            </a:r>
            <a:r>
              <a:rPr lang="en-US" sz="2000" dirty="0">
                <a:latin typeface="Arial" pitchFamily="34" charset="0"/>
                <a:cs typeface="Arial" pitchFamily="34" charset="0"/>
              </a:rPr>
              <a:t> </a:t>
            </a:r>
            <a:r>
              <a:rPr lang="en-US" sz="2000" dirty="0" err="1">
                <a:latin typeface="Arial" pitchFamily="34" charset="0"/>
                <a:cs typeface="Arial" pitchFamily="34" charset="0"/>
              </a:rPr>
              <a:t>ít</a:t>
            </a:r>
            <a:r>
              <a:rPr lang="en-US" sz="2000" dirty="0">
                <a:latin typeface="Arial" pitchFamily="34" charset="0"/>
                <a:cs typeface="Arial" pitchFamily="34" charset="0"/>
              </a:rPr>
              <a:t> </a:t>
            </a:r>
            <a:r>
              <a:rPr lang="en-US" sz="2000" dirty="0" err="1">
                <a:latin typeface="Arial" pitchFamily="34" charset="0"/>
                <a:cs typeface="Arial" pitchFamily="34" charset="0"/>
              </a:rPr>
              <a:t>gặp</a:t>
            </a:r>
            <a:r>
              <a:rPr lang="en-US" sz="2000" dirty="0">
                <a:latin typeface="Arial" pitchFamily="34" charset="0"/>
                <a:cs typeface="Arial" pitchFamily="34" charset="0"/>
              </a:rPr>
              <a:t>, </a:t>
            </a:r>
            <a:r>
              <a:rPr lang="en-US" sz="2000" dirty="0" err="1">
                <a:latin typeface="Arial" pitchFamily="34" charset="0"/>
                <a:cs typeface="Arial" pitchFamily="34" charset="0"/>
              </a:rPr>
              <a:t>nếu</a:t>
            </a:r>
            <a:r>
              <a:rPr lang="en-US" sz="2000" dirty="0">
                <a:latin typeface="Arial" pitchFamily="34" charset="0"/>
                <a:cs typeface="Arial" pitchFamily="34" charset="0"/>
              </a:rPr>
              <a:t> </a:t>
            </a:r>
            <a:r>
              <a:rPr lang="en-US" sz="2000" dirty="0" err="1">
                <a:latin typeface="Arial" pitchFamily="34" charset="0"/>
                <a:cs typeface="Arial" pitchFamily="34" charset="0"/>
              </a:rPr>
              <a:t>có</a:t>
            </a:r>
            <a:r>
              <a:rPr lang="en-US" sz="2000" dirty="0">
                <a:latin typeface="Arial" pitchFamily="34" charset="0"/>
                <a:cs typeface="Arial" pitchFamily="34" charset="0"/>
              </a:rPr>
              <a:t> </a:t>
            </a:r>
            <a:r>
              <a:rPr lang="en-US" sz="2000" dirty="0" err="1">
                <a:latin typeface="Arial" pitchFamily="34" charset="0"/>
                <a:cs typeface="Arial" pitchFamily="34" charset="0"/>
              </a:rPr>
              <a:t>thường</a:t>
            </a:r>
            <a:r>
              <a:rPr lang="en-US" sz="2000" dirty="0">
                <a:latin typeface="Arial" pitchFamily="34" charset="0"/>
                <a:cs typeface="Arial" pitchFamily="34" charset="0"/>
              </a:rPr>
              <a:t> </a:t>
            </a:r>
            <a:r>
              <a:rPr lang="en-US" sz="2000" dirty="0" err="1">
                <a:latin typeface="Arial" pitchFamily="34" charset="0"/>
                <a:cs typeface="Arial" pitchFamily="34" charset="0"/>
              </a:rPr>
              <a:t>thấy</a:t>
            </a:r>
            <a:r>
              <a:rPr lang="en-US" sz="2000" dirty="0">
                <a:latin typeface="Arial" pitchFamily="34" charset="0"/>
                <a:cs typeface="Arial" pitchFamily="34" charset="0"/>
              </a:rPr>
              <a:t> ở </a:t>
            </a:r>
            <a:r>
              <a:rPr lang="en-US" sz="2000" dirty="0" err="1">
                <a:latin typeface="Arial" pitchFamily="34" charset="0"/>
                <a:cs typeface="Arial" pitchFamily="34" charset="0"/>
              </a:rPr>
              <a:t>trẻ</a:t>
            </a:r>
            <a:r>
              <a:rPr lang="en-US" sz="2000" dirty="0">
                <a:latin typeface="Arial" pitchFamily="34" charset="0"/>
                <a:cs typeface="Arial" pitchFamily="34" charset="0"/>
              </a:rPr>
              <a:t> </a:t>
            </a:r>
            <a:r>
              <a:rPr lang="en-US" sz="2000" dirty="0" err="1">
                <a:latin typeface="Arial" pitchFamily="34" charset="0"/>
                <a:cs typeface="Arial" pitchFamily="34" charset="0"/>
              </a:rPr>
              <a:t>em</a:t>
            </a:r>
            <a:r>
              <a:rPr lang="en-US" sz="2000" dirty="0">
                <a:latin typeface="Arial" pitchFamily="34" charset="0"/>
                <a:cs typeface="Arial" pitchFamily="34" charset="0"/>
              </a:rPr>
              <a:t> (</a:t>
            </a:r>
            <a:r>
              <a:rPr lang="en-US" sz="2000" dirty="0" err="1">
                <a:latin typeface="Arial" pitchFamily="34" charset="0"/>
                <a:cs typeface="Arial" pitchFamily="34" charset="0"/>
              </a:rPr>
              <a:t>chiếm</a:t>
            </a:r>
            <a:r>
              <a:rPr lang="en-US" sz="2000" dirty="0">
                <a:latin typeface="Arial" pitchFamily="34" charset="0"/>
                <a:cs typeface="Arial" pitchFamily="34" charset="0"/>
              </a:rPr>
              <a:t> </a:t>
            </a:r>
            <a:r>
              <a:rPr lang="en-US" sz="2000" dirty="0" err="1">
                <a:latin typeface="Arial" pitchFamily="34" charset="0"/>
                <a:cs typeface="Arial" pitchFamily="34" charset="0"/>
              </a:rPr>
              <a:t>tỷ</a:t>
            </a:r>
            <a:r>
              <a:rPr lang="en-US" sz="2000" dirty="0">
                <a:latin typeface="Arial" pitchFamily="34" charset="0"/>
                <a:cs typeface="Arial" pitchFamily="34" charset="0"/>
              </a:rPr>
              <a:t> </a:t>
            </a:r>
            <a:r>
              <a:rPr lang="en-US" sz="2000" dirty="0" err="1">
                <a:latin typeface="Arial" pitchFamily="34" charset="0"/>
                <a:cs typeface="Arial" pitchFamily="34" charset="0"/>
              </a:rPr>
              <a:t>lệ</a:t>
            </a:r>
            <a:r>
              <a:rPr lang="en-US" sz="2000" dirty="0">
                <a:latin typeface="Arial" pitchFamily="34" charset="0"/>
                <a:cs typeface="Arial" pitchFamily="34" charset="0"/>
              </a:rPr>
              <a:t> </a:t>
            </a:r>
            <a:r>
              <a:rPr lang="en-US" sz="2000" dirty="0" err="1">
                <a:latin typeface="Arial" pitchFamily="34" charset="0"/>
                <a:cs typeface="Arial" pitchFamily="34" charset="0"/>
              </a:rPr>
              <a:t>từ</a:t>
            </a:r>
            <a:r>
              <a:rPr lang="en-US" sz="2000" dirty="0">
                <a:latin typeface="Arial" pitchFamily="34" charset="0"/>
                <a:cs typeface="Arial" pitchFamily="34" charset="0"/>
              </a:rPr>
              <a:t> 2 - 5% </a:t>
            </a:r>
            <a:r>
              <a:rPr lang="en-US" sz="2000" dirty="0" err="1">
                <a:latin typeface="Arial" pitchFamily="34" charset="0"/>
                <a:cs typeface="Arial" pitchFamily="34" charset="0"/>
              </a:rPr>
              <a:t>tổng</a:t>
            </a:r>
            <a:r>
              <a:rPr lang="en-US" sz="2000" dirty="0">
                <a:latin typeface="Arial" pitchFamily="34" charset="0"/>
                <a:cs typeface="Arial" pitchFamily="34" charset="0"/>
              </a:rPr>
              <a:t> </a:t>
            </a:r>
            <a:r>
              <a:rPr lang="en-US" sz="2000" dirty="0" err="1">
                <a:latin typeface="Arial" pitchFamily="34" charset="0"/>
                <a:cs typeface="Arial" pitchFamily="34" charset="0"/>
              </a:rPr>
              <a:t>số</a:t>
            </a:r>
            <a:r>
              <a:rPr lang="en-US" sz="2000" dirty="0">
                <a:latin typeface="Arial" pitchFamily="34" charset="0"/>
                <a:cs typeface="Arial" pitchFamily="34" charset="0"/>
              </a:rPr>
              <a:t> </a:t>
            </a:r>
            <a:r>
              <a:rPr lang="en-US" sz="2000" dirty="0" err="1">
                <a:latin typeface="Arial" pitchFamily="34" charset="0"/>
                <a:cs typeface="Arial" pitchFamily="34" charset="0"/>
              </a:rPr>
              <a:t>trường</a:t>
            </a:r>
            <a:r>
              <a:rPr lang="en-US" sz="2000" dirty="0">
                <a:latin typeface="Arial" pitchFamily="34" charset="0"/>
                <a:cs typeface="Arial" pitchFamily="34" charset="0"/>
              </a:rPr>
              <a:t> </a:t>
            </a:r>
            <a:r>
              <a:rPr lang="en-US" sz="2000" dirty="0" err="1">
                <a:latin typeface="Arial" pitchFamily="34" charset="0"/>
                <a:cs typeface="Arial" pitchFamily="34" charset="0"/>
              </a:rPr>
              <a:t>hợp</a:t>
            </a:r>
            <a:r>
              <a:rPr lang="en-US" sz="2000" dirty="0">
                <a:latin typeface="Arial" pitchFamily="34" charset="0"/>
                <a:cs typeface="Arial" pitchFamily="34" charset="0"/>
              </a:rPr>
              <a:t> </a:t>
            </a:r>
            <a:r>
              <a:rPr lang="en-US" sz="2000" dirty="0" err="1">
                <a:latin typeface="Arial" pitchFamily="34" charset="0"/>
                <a:cs typeface="Arial" pitchFamily="34" charset="0"/>
              </a:rPr>
              <a:t>lỵ</a:t>
            </a:r>
            <a:r>
              <a:rPr lang="en-US" sz="2000" dirty="0">
                <a:latin typeface="Arial" pitchFamily="34" charset="0"/>
                <a:cs typeface="Arial" pitchFamily="34" charset="0"/>
              </a:rPr>
              <a:t>). </a:t>
            </a:r>
          </a:p>
          <a:p>
            <a:pPr algn="just">
              <a:buFont typeface="Wingdings" pitchFamily="2" charset="2"/>
              <a:buChar char="ü"/>
            </a:pPr>
            <a:r>
              <a:rPr lang="en-US" sz="2000" dirty="0" err="1">
                <a:latin typeface="Arial" pitchFamily="34" charset="0"/>
                <a:cs typeface="Arial" pitchFamily="34" charset="0"/>
              </a:rPr>
              <a:t>Lỵ</a:t>
            </a:r>
            <a:r>
              <a:rPr lang="en-US" sz="2000" dirty="0">
                <a:latin typeface="Arial" pitchFamily="34" charset="0"/>
                <a:cs typeface="Arial" pitchFamily="34" charset="0"/>
              </a:rPr>
              <a:t> </a:t>
            </a:r>
            <a:r>
              <a:rPr lang="en-US" sz="2000" dirty="0" err="1">
                <a:latin typeface="Arial" pitchFamily="34" charset="0"/>
                <a:cs typeface="Arial" pitchFamily="34" charset="0"/>
              </a:rPr>
              <a:t>mạn</a:t>
            </a:r>
            <a:r>
              <a:rPr lang="en-US" sz="2000" dirty="0">
                <a:latin typeface="Arial" pitchFamily="34" charset="0"/>
                <a:cs typeface="Arial" pitchFamily="34" charset="0"/>
              </a:rPr>
              <a:t> </a:t>
            </a:r>
            <a:r>
              <a:rPr lang="en-US" sz="2000" dirty="0" err="1">
                <a:latin typeface="Arial" pitchFamily="34" charset="0"/>
                <a:cs typeface="Arial" pitchFamily="34" charset="0"/>
              </a:rPr>
              <a:t>tính</a:t>
            </a:r>
            <a:r>
              <a:rPr lang="en-US" sz="2000" dirty="0">
                <a:latin typeface="Arial" pitchFamily="34" charset="0"/>
                <a:cs typeface="Arial" pitchFamily="34" charset="0"/>
              </a:rPr>
              <a:t> </a:t>
            </a:r>
            <a:r>
              <a:rPr lang="en-US" sz="2000" dirty="0" err="1">
                <a:latin typeface="Arial" pitchFamily="34" charset="0"/>
                <a:cs typeface="Arial" pitchFamily="34" charset="0"/>
              </a:rPr>
              <a:t>có</a:t>
            </a:r>
            <a:r>
              <a:rPr lang="en-US" sz="2000" dirty="0">
                <a:latin typeface="Arial" pitchFamily="34" charset="0"/>
                <a:cs typeface="Arial" pitchFamily="34" charset="0"/>
              </a:rPr>
              <a:t> </a:t>
            </a:r>
            <a:r>
              <a:rPr lang="en-US" sz="2000" dirty="0" err="1">
                <a:latin typeface="Arial" pitchFamily="34" charset="0"/>
                <a:cs typeface="Arial" pitchFamily="34" charset="0"/>
              </a:rPr>
              <a:t>thời</a:t>
            </a:r>
            <a:r>
              <a:rPr lang="en-US" sz="2000" dirty="0">
                <a:latin typeface="Arial" pitchFamily="34" charset="0"/>
                <a:cs typeface="Arial" pitchFamily="34" charset="0"/>
              </a:rPr>
              <a:t> </a:t>
            </a:r>
            <a:r>
              <a:rPr lang="en-US" sz="2000" dirty="0" err="1">
                <a:latin typeface="Arial" pitchFamily="34" charset="0"/>
                <a:cs typeface="Arial" pitchFamily="34" charset="0"/>
              </a:rPr>
              <a:t>kỳ</a:t>
            </a:r>
            <a:r>
              <a:rPr lang="en-US" sz="2000" dirty="0">
                <a:latin typeface="Arial" pitchFamily="34" charset="0"/>
                <a:cs typeface="Arial" pitchFamily="34" charset="0"/>
              </a:rPr>
              <a:t> </a:t>
            </a:r>
            <a:r>
              <a:rPr lang="en-US" sz="2000" dirty="0" err="1">
                <a:latin typeface="Arial" pitchFamily="34" charset="0"/>
                <a:cs typeface="Arial" pitchFamily="34" charset="0"/>
              </a:rPr>
              <a:t>bột</a:t>
            </a:r>
            <a:r>
              <a:rPr lang="en-US" sz="2000" dirty="0">
                <a:latin typeface="Arial" pitchFamily="34" charset="0"/>
                <a:cs typeface="Arial" pitchFamily="34" charset="0"/>
              </a:rPr>
              <a:t> </a:t>
            </a:r>
            <a:r>
              <a:rPr lang="en-US" sz="2000" dirty="0" err="1">
                <a:latin typeface="Arial" pitchFamily="34" charset="0"/>
                <a:cs typeface="Arial" pitchFamily="34" charset="0"/>
              </a:rPr>
              <a:t>phát</a:t>
            </a:r>
            <a:r>
              <a:rPr lang="en-US" sz="2000" dirty="0">
                <a:latin typeface="Arial" pitchFamily="34" charset="0"/>
                <a:cs typeface="Arial" pitchFamily="34" charset="0"/>
              </a:rPr>
              <a:t> </a:t>
            </a:r>
            <a:r>
              <a:rPr lang="en-US" sz="2000" dirty="0" err="1">
                <a:latin typeface="Arial" pitchFamily="34" charset="0"/>
                <a:cs typeface="Arial" pitchFamily="34" charset="0"/>
              </a:rPr>
              <a:t>và</a:t>
            </a:r>
            <a:r>
              <a:rPr lang="en-US" sz="2000" dirty="0">
                <a:latin typeface="Arial" pitchFamily="34" charset="0"/>
                <a:cs typeface="Arial" pitchFamily="34" charset="0"/>
              </a:rPr>
              <a:t> </a:t>
            </a:r>
            <a:r>
              <a:rPr lang="en-US" sz="2000" dirty="0" err="1">
                <a:latin typeface="Arial" pitchFamily="34" charset="0"/>
                <a:cs typeface="Arial" pitchFamily="34" charset="0"/>
              </a:rPr>
              <a:t>thuyên</a:t>
            </a:r>
            <a:r>
              <a:rPr lang="en-US" sz="2000" dirty="0">
                <a:latin typeface="Arial" pitchFamily="34" charset="0"/>
                <a:cs typeface="Arial" pitchFamily="34" charset="0"/>
              </a:rPr>
              <a:t> </a:t>
            </a:r>
            <a:r>
              <a:rPr lang="en-US" sz="2000" dirty="0" err="1">
                <a:latin typeface="Arial" pitchFamily="34" charset="0"/>
                <a:cs typeface="Arial" pitchFamily="34" charset="0"/>
              </a:rPr>
              <a:t>giảm</a:t>
            </a:r>
            <a:r>
              <a:rPr lang="en-US" sz="2000" dirty="0">
                <a:latin typeface="Arial" pitchFamily="34" charset="0"/>
                <a:cs typeface="Arial" pitchFamily="34" charset="0"/>
              </a:rPr>
              <a:t> </a:t>
            </a:r>
            <a:r>
              <a:rPr lang="en-US" sz="2000" dirty="0" err="1">
                <a:latin typeface="Arial" pitchFamily="34" charset="0"/>
                <a:cs typeface="Arial" pitchFamily="34" charset="0"/>
              </a:rPr>
              <a:t>nối</a:t>
            </a:r>
            <a:r>
              <a:rPr lang="en-US" sz="2000" dirty="0">
                <a:latin typeface="Arial" pitchFamily="34" charset="0"/>
                <a:cs typeface="Arial" pitchFamily="34" charset="0"/>
              </a:rPr>
              <a:t> </a:t>
            </a:r>
            <a:r>
              <a:rPr lang="en-US" sz="2000" dirty="0" err="1">
                <a:latin typeface="Arial" pitchFamily="34" charset="0"/>
                <a:cs typeface="Arial" pitchFamily="34" charset="0"/>
              </a:rPr>
              <a:t>tiếp</a:t>
            </a:r>
            <a:r>
              <a:rPr lang="en-US" sz="2000" dirty="0">
                <a:latin typeface="Arial" pitchFamily="34" charset="0"/>
                <a:cs typeface="Arial" pitchFamily="34" charset="0"/>
              </a:rPr>
              <a:t> </a:t>
            </a:r>
            <a:r>
              <a:rPr lang="en-US" sz="2000" dirty="0" err="1">
                <a:latin typeface="Arial" pitchFamily="34" charset="0"/>
                <a:cs typeface="Arial" pitchFamily="34" charset="0"/>
              </a:rPr>
              <a:t>nhau</a:t>
            </a:r>
            <a:r>
              <a:rPr lang="en-US" sz="2000" dirty="0">
                <a:latin typeface="Arial" pitchFamily="34" charset="0"/>
                <a:cs typeface="Arial" pitchFamily="34" charset="0"/>
              </a:rPr>
              <a:t>. </a:t>
            </a:r>
          </a:p>
          <a:p>
            <a:pPr algn="just">
              <a:buFont typeface="Wingdings" pitchFamily="2" charset="2"/>
              <a:buChar char="ü"/>
            </a:pPr>
            <a:r>
              <a:rPr lang="en-US" sz="2000" dirty="0" err="1">
                <a:latin typeface="Arial" pitchFamily="34" charset="0"/>
                <a:cs typeface="Arial" pitchFamily="34" charset="0"/>
              </a:rPr>
              <a:t>Khi</a:t>
            </a:r>
            <a:r>
              <a:rPr lang="en-US" sz="2000" dirty="0">
                <a:latin typeface="Arial" pitchFamily="34" charset="0"/>
                <a:cs typeface="Arial" pitchFamily="34" charset="0"/>
              </a:rPr>
              <a:t> </a:t>
            </a:r>
            <a:r>
              <a:rPr lang="en-US" sz="2000" dirty="0" err="1">
                <a:latin typeface="Arial" pitchFamily="34" charset="0"/>
                <a:cs typeface="Arial" pitchFamily="34" charset="0"/>
              </a:rPr>
              <a:t>bột</a:t>
            </a:r>
            <a:r>
              <a:rPr lang="en-US" sz="2000" dirty="0">
                <a:latin typeface="Arial" pitchFamily="34" charset="0"/>
                <a:cs typeface="Arial" pitchFamily="34" charset="0"/>
              </a:rPr>
              <a:t> </a:t>
            </a:r>
            <a:r>
              <a:rPr lang="en-US" sz="2000" dirty="0" err="1">
                <a:latin typeface="Arial" pitchFamily="34" charset="0"/>
                <a:cs typeface="Arial" pitchFamily="34" charset="0"/>
              </a:rPr>
              <a:t>phát</a:t>
            </a:r>
            <a:r>
              <a:rPr lang="en-US" sz="2000" dirty="0">
                <a:latin typeface="Arial" pitchFamily="34" charset="0"/>
                <a:cs typeface="Arial" pitchFamily="34" charset="0"/>
              </a:rPr>
              <a:t>, </a:t>
            </a:r>
            <a:r>
              <a:rPr lang="en-US" sz="2000" dirty="0" err="1">
                <a:latin typeface="Arial" pitchFamily="34" charset="0"/>
                <a:cs typeface="Arial" pitchFamily="34" charset="0"/>
              </a:rPr>
              <a:t>biểu</a:t>
            </a:r>
            <a:r>
              <a:rPr lang="en-US" sz="2000" dirty="0">
                <a:latin typeface="Arial" pitchFamily="34" charset="0"/>
                <a:cs typeface="Arial" pitchFamily="34" charset="0"/>
              </a:rPr>
              <a:t> </a:t>
            </a:r>
            <a:r>
              <a:rPr lang="en-US" sz="2000" dirty="0" err="1">
                <a:latin typeface="Arial" pitchFamily="34" charset="0"/>
                <a:cs typeface="Arial" pitchFamily="34" charset="0"/>
              </a:rPr>
              <a:t>hiện</a:t>
            </a:r>
            <a:r>
              <a:rPr lang="en-US" sz="2000" dirty="0">
                <a:latin typeface="Arial" pitchFamily="34" charset="0"/>
                <a:cs typeface="Arial" pitchFamily="34" charset="0"/>
              </a:rPr>
              <a:t> </a:t>
            </a:r>
            <a:r>
              <a:rPr lang="en-US" sz="2000" dirty="0" err="1">
                <a:latin typeface="Arial" pitchFamily="34" charset="0"/>
                <a:cs typeface="Arial" pitchFamily="34" charset="0"/>
              </a:rPr>
              <a:t>lâm</a:t>
            </a:r>
            <a:r>
              <a:rPr lang="en-US" sz="2000" dirty="0">
                <a:latin typeface="Arial" pitchFamily="34" charset="0"/>
                <a:cs typeface="Arial" pitchFamily="34" charset="0"/>
              </a:rPr>
              <a:t> </a:t>
            </a:r>
            <a:r>
              <a:rPr lang="en-US" sz="2000" dirty="0" err="1">
                <a:latin typeface="Arial" pitchFamily="34" charset="0"/>
                <a:cs typeface="Arial" pitchFamily="34" charset="0"/>
              </a:rPr>
              <a:t>sàng</a:t>
            </a:r>
            <a:r>
              <a:rPr lang="en-US" sz="2000" dirty="0">
                <a:latin typeface="Arial" pitchFamily="34" charset="0"/>
                <a:cs typeface="Arial" pitchFamily="34" charset="0"/>
              </a:rPr>
              <a:t> </a:t>
            </a:r>
            <a:r>
              <a:rPr lang="en-US" sz="2000" dirty="0" err="1">
                <a:latin typeface="Arial" pitchFamily="34" charset="0"/>
                <a:cs typeface="Arial" pitchFamily="34" charset="0"/>
              </a:rPr>
              <a:t>như</a:t>
            </a:r>
            <a:r>
              <a:rPr lang="en-US" sz="2000" dirty="0">
                <a:latin typeface="Arial" pitchFamily="34" charset="0"/>
                <a:cs typeface="Arial" pitchFamily="34" charset="0"/>
              </a:rPr>
              <a:t> </a:t>
            </a:r>
            <a:r>
              <a:rPr lang="en-US" sz="2000" dirty="0" err="1">
                <a:latin typeface="Arial" pitchFamily="34" charset="0"/>
                <a:cs typeface="Arial" pitchFamily="34" charset="0"/>
              </a:rPr>
              <a:t>lỵ</a:t>
            </a:r>
            <a:r>
              <a:rPr lang="en-US" sz="2000" dirty="0">
                <a:latin typeface="Arial" pitchFamily="34" charset="0"/>
                <a:cs typeface="Arial" pitchFamily="34" charset="0"/>
              </a:rPr>
              <a:t> </a:t>
            </a:r>
            <a:r>
              <a:rPr lang="en-US" sz="2000" dirty="0" err="1">
                <a:latin typeface="Arial" pitchFamily="34" charset="0"/>
                <a:cs typeface="Arial" pitchFamily="34" charset="0"/>
              </a:rPr>
              <a:t>cấp</a:t>
            </a:r>
            <a:r>
              <a:rPr lang="en-US" sz="2000" dirty="0">
                <a:latin typeface="Arial" pitchFamily="34" charset="0"/>
                <a:cs typeface="Arial" pitchFamily="34" charset="0"/>
              </a:rPr>
              <a:t> </a:t>
            </a:r>
            <a:r>
              <a:rPr lang="en-US" sz="2000" dirty="0" err="1">
                <a:latin typeface="Arial" pitchFamily="34" charset="0"/>
                <a:cs typeface="Arial" pitchFamily="34" charset="0"/>
              </a:rPr>
              <a:t>nhẹ</a:t>
            </a:r>
            <a:r>
              <a:rPr lang="en-US" sz="2000" dirty="0">
                <a:latin typeface="Arial" pitchFamily="34" charset="0"/>
                <a:cs typeface="Arial" pitchFamily="34" charset="0"/>
              </a:rPr>
              <a:t> </a:t>
            </a:r>
            <a:r>
              <a:rPr lang="en-US" sz="2000" dirty="0" err="1">
                <a:latin typeface="Arial" pitchFamily="34" charset="0"/>
                <a:cs typeface="Arial" pitchFamily="34" charset="0"/>
              </a:rPr>
              <a:t>hoặc</a:t>
            </a:r>
            <a:r>
              <a:rPr lang="en-US" sz="2000" dirty="0">
                <a:latin typeface="Arial" pitchFamily="34" charset="0"/>
                <a:cs typeface="Arial" pitchFamily="34" charset="0"/>
              </a:rPr>
              <a:t> </a:t>
            </a:r>
            <a:r>
              <a:rPr lang="en-US" sz="2000" dirty="0" err="1">
                <a:latin typeface="Arial" pitchFamily="34" charset="0"/>
                <a:cs typeface="Arial" pitchFamily="34" charset="0"/>
              </a:rPr>
              <a:t>vừa</a:t>
            </a:r>
            <a:r>
              <a:rPr lang="en-US" sz="2000" dirty="0">
                <a:latin typeface="Arial" pitchFamily="34" charset="0"/>
                <a:cs typeface="Arial" pitchFamily="34" charset="0"/>
              </a:rPr>
              <a:t>. </a:t>
            </a:r>
          </a:p>
          <a:p>
            <a:pPr algn="just">
              <a:buFont typeface="Wingdings" pitchFamily="2" charset="2"/>
              <a:buChar char="ü"/>
            </a:pPr>
            <a:r>
              <a:rPr lang="en-US" sz="2000" dirty="0">
                <a:latin typeface="Arial" pitchFamily="34" charset="0"/>
                <a:cs typeface="Arial" pitchFamily="34" charset="0"/>
              </a:rPr>
              <a:t>Ở </a:t>
            </a:r>
            <a:r>
              <a:rPr lang="en-US" sz="2000" dirty="0" err="1">
                <a:latin typeface="Arial" pitchFamily="34" charset="0"/>
                <a:cs typeface="Arial" pitchFamily="34" charset="0"/>
              </a:rPr>
              <a:t>giai</a:t>
            </a:r>
            <a:r>
              <a:rPr lang="en-US" sz="2000" dirty="0">
                <a:latin typeface="Arial" pitchFamily="34" charset="0"/>
                <a:cs typeface="Arial" pitchFamily="34" charset="0"/>
              </a:rPr>
              <a:t> </a:t>
            </a:r>
            <a:r>
              <a:rPr lang="en-US" sz="2000" dirty="0" err="1">
                <a:latin typeface="Arial" pitchFamily="34" charset="0"/>
                <a:cs typeface="Arial" pitchFamily="34" charset="0"/>
              </a:rPr>
              <a:t>đoạn</a:t>
            </a:r>
            <a:r>
              <a:rPr lang="en-US" sz="2000" dirty="0">
                <a:latin typeface="Arial" pitchFamily="34" charset="0"/>
                <a:cs typeface="Arial" pitchFamily="34" charset="0"/>
              </a:rPr>
              <a:t> </a:t>
            </a:r>
            <a:r>
              <a:rPr lang="en-US" sz="2000" dirty="0" err="1">
                <a:latin typeface="Arial" pitchFamily="34" charset="0"/>
                <a:cs typeface="Arial" pitchFamily="34" charset="0"/>
              </a:rPr>
              <a:t>thuyên</a:t>
            </a:r>
            <a:r>
              <a:rPr lang="en-US" sz="2000" dirty="0">
                <a:latin typeface="Arial" pitchFamily="34" charset="0"/>
                <a:cs typeface="Arial" pitchFamily="34" charset="0"/>
              </a:rPr>
              <a:t> </a:t>
            </a:r>
            <a:r>
              <a:rPr lang="en-US" sz="2000" dirty="0" err="1">
                <a:latin typeface="Arial" pitchFamily="34" charset="0"/>
                <a:cs typeface="Arial" pitchFamily="34" charset="0"/>
              </a:rPr>
              <a:t>giảm</a:t>
            </a:r>
            <a:r>
              <a:rPr lang="en-US" sz="2000" dirty="0">
                <a:latin typeface="Arial" pitchFamily="34" charset="0"/>
                <a:cs typeface="Arial" pitchFamily="34" charset="0"/>
              </a:rPr>
              <a:t> </a:t>
            </a:r>
            <a:r>
              <a:rPr lang="en-US" sz="2000" dirty="0" err="1">
                <a:latin typeface="Arial" pitchFamily="34" charset="0"/>
                <a:cs typeface="Arial" pitchFamily="34" charset="0"/>
              </a:rPr>
              <a:t>các</a:t>
            </a:r>
            <a:r>
              <a:rPr lang="en-US" sz="2000" dirty="0">
                <a:latin typeface="Arial" pitchFamily="34" charset="0"/>
                <a:cs typeface="Arial" pitchFamily="34" charset="0"/>
              </a:rPr>
              <a:t> </a:t>
            </a:r>
            <a:r>
              <a:rPr lang="en-US" sz="2000" dirty="0" err="1">
                <a:latin typeface="Arial" pitchFamily="34" charset="0"/>
                <a:cs typeface="Arial" pitchFamily="34" charset="0"/>
              </a:rPr>
              <a:t>triệu</a:t>
            </a:r>
            <a:r>
              <a:rPr lang="en-US" sz="2000" dirty="0">
                <a:latin typeface="Arial" pitchFamily="34" charset="0"/>
                <a:cs typeface="Arial" pitchFamily="34" charset="0"/>
              </a:rPr>
              <a:t> </a:t>
            </a:r>
            <a:r>
              <a:rPr lang="en-US" sz="2000" dirty="0" err="1">
                <a:latin typeface="Arial" pitchFamily="34" charset="0"/>
                <a:cs typeface="Arial" pitchFamily="34" charset="0"/>
              </a:rPr>
              <a:t>chứng</a:t>
            </a:r>
            <a:r>
              <a:rPr lang="en-US" sz="2000" dirty="0">
                <a:latin typeface="Arial" pitchFamily="34" charset="0"/>
                <a:cs typeface="Arial" pitchFamily="34" charset="0"/>
              </a:rPr>
              <a:t> </a:t>
            </a:r>
            <a:r>
              <a:rPr lang="en-US" sz="2000" dirty="0" err="1">
                <a:latin typeface="Arial" pitchFamily="34" charset="0"/>
                <a:cs typeface="Arial" pitchFamily="34" charset="0"/>
              </a:rPr>
              <a:t>giảm</a:t>
            </a:r>
            <a:r>
              <a:rPr lang="en-US" sz="2000" dirty="0">
                <a:latin typeface="Arial" pitchFamily="34" charset="0"/>
                <a:cs typeface="Arial" pitchFamily="34" charset="0"/>
              </a:rPr>
              <a:t> </a:t>
            </a:r>
            <a:r>
              <a:rPr lang="en-US" sz="2000" dirty="0" err="1">
                <a:latin typeface="Arial" pitchFamily="34" charset="0"/>
                <a:cs typeface="Arial" pitchFamily="34" charset="0"/>
              </a:rPr>
              <a:t>dần</a:t>
            </a:r>
            <a:r>
              <a:rPr lang="en-US" sz="2000" dirty="0">
                <a:latin typeface="Arial" pitchFamily="34" charset="0"/>
                <a:cs typeface="Arial" pitchFamily="34" charset="0"/>
              </a:rPr>
              <a:t> </a:t>
            </a:r>
            <a:r>
              <a:rPr lang="en-US" sz="2000" dirty="0" err="1">
                <a:latin typeface="Arial" pitchFamily="34" charset="0"/>
                <a:cs typeface="Arial" pitchFamily="34" charset="0"/>
              </a:rPr>
              <a:t>nhưng</a:t>
            </a:r>
            <a:r>
              <a:rPr lang="en-US" sz="2000" dirty="0">
                <a:latin typeface="Arial" pitchFamily="34" charset="0"/>
                <a:cs typeface="Arial" pitchFamily="34" charset="0"/>
              </a:rPr>
              <a:t> </a:t>
            </a:r>
            <a:r>
              <a:rPr lang="en-US" sz="2000" dirty="0" err="1">
                <a:latin typeface="Arial" pitchFamily="34" charset="0"/>
                <a:cs typeface="Arial" pitchFamily="34" charset="0"/>
              </a:rPr>
              <a:t>vẫn</a:t>
            </a:r>
            <a:r>
              <a:rPr lang="en-US" sz="2000" dirty="0">
                <a:latin typeface="Arial" pitchFamily="34" charset="0"/>
                <a:cs typeface="Arial" pitchFamily="34" charset="0"/>
              </a:rPr>
              <a:t> </a:t>
            </a:r>
            <a:r>
              <a:rPr lang="en-US" sz="2000" dirty="0" err="1">
                <a:latin typeface="Arial" pitchFamily="34" charset="0"/>
                <a:cs typeface="Arial" pitchFamily="34" charset="0"/>
              </a:rPr>
              <a:t>rối</a:t>
            </a:r>
            <a:r>
              <a:rPr lang="en-US" sz="2000" dirty="0">
                <a:latin typeface="Arial" pitchFamily="34" charset="0"/>
                <a:cs typeface="Arial" pitchFamily="34" charset="0"/>
              </a:rPr>
              <a:t> </a:t>
            </a:r>
            <a:r>
              <a:rPr lang="en-US" sz="2000" dirty="0" err="1">
                <a:latin typeface="Arial" pitchFamily="34" charset="0"/>
                <a:cs typeface="Arial" pitchFamily="34" charset="0"/>
              </a:rPr>
              <a:t>loạn</a:t>
            </a:r>
            <a:r>
              <a:rPr lang="en-US" sz="2000" dirty="0">
                <a:latin typeface="Arial" pitchFamily="34" charset="0"/>
                <a:cs typeface="Arial" pitchFamily="34" charset="0"/>
              </a:rPr>
              <a:t> </a:t>
            </a:r>
            <a:r>
              <a:rPr lang="en-US" sz="2000" dirty="0" err="1">
                <a:latin typeface="Arial" pitchFamily="34" charset="0"/>
                <a:cs typeface="Arial" pitchFamily="34" charset="0"/>
              </a:rPr>
              <a:t>tiêu</a:t>
            </a:r>
            <a:r>
              <a:rPr lang="en-US" sz="2000" dirty="0">
                <a:latin typeface="Arial" pitchFamily="34" charset="0"/>
                <a:cs typeface="Arial" pitchFamily="34" charset="0"/>
              </a:rPr>
              <a:t> </a:t>
            </a:r>
            <a:r>
              <a:rPr lang="en-US" sz="2000" dirty="0" err="1">
                <a:latin typeface="Arial" pitchFamily="34" charset="0"/>
                <a:cs typeface="Arial" pitchFamily="34" charset="0"/>
              </a:rPr>
              <a:t>hóa</a:t>
            </a:r>
            <a:r>
              <a:rPr lang="en-US" sz="2000" dirty="0">
                <a:latin typeface="Arial" pitchFamily="34" charset="0"/>
                <a:cs typeface="Arial" pitchFamily="34" charset="0"/>
              </a:rPr>
              <a:t> </a:t>
            </a:r>
          </a:p>
          <a:p>
            <a:pPr algn="just"/>
            <a:endParaRPr lang="en-US" sz="2000" dirty="0">
              <a:latin typeface="Arial" pitchFamily="34" charset="0"/>
              <a:cs typeface="Arial" pitchFamily="34" charset="0"/>
            </a:endParaRPr>
          </a:p>
        </p:txBody>
      </p:sp>
      <p:sp>
        <p:nvSpPr>
          <p:cNvPr id="7" name="Tiêu đề 1">
            <a:extLst>
              <a:ext uri="{FF2B5EF4-FFF2-40B4-BE49-F238E27FC236}">
                <a16:creationId xmlns:a16="http://schemas.microsoft.com/office/drawing/2014/main" xmlns="" id="{C98A5779-0D20-F746-86A7-119A3BB7F135}"/>
              </a:ext>
            </a:extLst>
          </p:cNvPr>
          <p:cNvSpPr txBox="1">
            <a:spLocks/>
          </p:cNvSpPr>
          <p:nvPr/>
        </p:nvSpPr>
        <p:spPr>
          <a:xfrm>
            <a:off x="152400" y="152400"/>
            <a:ext cx="5928545"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 </a:t>
            </a:r>
            <a:r>
              <a:rPr lang="vi-VN" sz="4000" b="1" dirty="0" smtClean="0">
                <a:solidFill>
                  <a:srgbClr val="FF0000"/>
                </a:solidFill>
                <a:latin typeface="Arial" pitchFamily="34" charset="0"/>
                <a:ea typeface="+mj-ea"/>
                <a:cs typeface="Arial" pitchFamily="34" charset="0"/>
              </a:rPr>
              <a:t>LÂM SÀNG</a:t>
            </a:r>
            <a:endParaRPr lang="vi-VN" sz="4000" b="1" dirty="0">
              <a:solidFill>
                <a:srgbClr val="FF0000"/>
              </a:solidFill>
              <a:latin typeface="Arial" pitchFamily="34" charset="0"/>
              <a:ea typeface="+mj-ea"/>
              <a:cs typeface="Arial" pitchFamily="34" charset="0"/>
            </a:endParaRPr>
          </a:p>
        </p:txBody>
      </p:sp>
      <p:sp>
        <p:nvSpPr>
          <p:cNvPr id="9" name="TextBox 8"/>
          <p:cNvSpPr txBox="1"/>
          <p:nvPr/>
        </p:nvSpPr>
        <p:spPr>
          <a:xfrm>
            <a:off x="1219200" y="685800"/>
            <a:ext cx="4095482" cy="553998"/>
          </a:xfrm>
          <a:prstGeom prst="rect">
            <a:avLst/>
          </a:prstGeom>
          <a:noFill/>
        </p:spPr>
        <p:txBody>
          <a:bodyPr wrap="square" rtlCol="0">
            <a:spAutoFit/>
          </a:bodyPr>
          <a:lstStyle/>
          <a:p>
            <a:pPr algn="just"/>
            <a:r>
              <a:rPr lang="en-US" sz="3000" b="1" dirty="0">
                <a:latin typeface="Arial" pitchFamily="34" charset="0"/>
                <a:cs typeface="Arial" pitchFamily="34" charset="0"/>
              </a:rPr>
              <a:t>2. </a:t>
            </a:r>
            <a:r>
              <a:rPr lang="en-US" sz="3000" b="1" dirty="0" err="1">
                <a:latin typeface="Arial" pitchFamily="34" charset="0"/>
                <a:cs typeface="Arial" pitchFamily="34" charset="0"/>
              </a:rPr>
              <a:t>Các</a:t>
            </a:r>
            <a:r>
              <a:rPr lang="en-US" sz="3000" b="1" dirty="0">
                <a:latin typeface="Arial" pitchFamily="34" charset="0"/>
                <a:cs typeface="Arial" pitchFamily="34" charset="0"/>
              </a:rPr>
              <a:t> </a:t>
            </a:r>
            <a:r>
              <a:rPr lang="en-US" sz="3000" b="1" dirty="0" err="1">
                <a:latin typeface="Arial" pitchFamily="34" charset="0"/>
                <a:cs typeface="Arial" pitchFamily="34" charset="0"/>
              </a:rPr>
              <a:t>thể</a:t>
            </a:r>
            <a:r>
              <a:rPr lang="en-US" sz="3000" b="1" dirty="0">
                <a:latin typeface="Arial" pitchFamily="34" charset="0"/>
                <a:cs typeface="Arial" pitchFamily="34" charset="0"/>
              </a:rPr>
              <a:t> </a:t>
            </a:r>
            <a:r>
              <a:rPr lang="en-US" sz="3000" b="1" dirty="0" err="1">
                <a:latin typeface="Arial" pitchFamily="34" charset="0"/>
                <a:cs typeface="Arial" pitchFamily="34" charset="0"/>
              </a:rPr>
              <a:t>lâm</a:t>
            </a:r>
            <a:r>
              <a:rPr lang="en-US" sz="3000" b="1" dirty="0">
                <a:latin typeface="Arial" pitchFamily="34" charset="0"/>
                <a:cs typeface="Arial" pitchFamily="34" charset="0"/>
              </a:rPr>
              <a:t> </a:t>
            </a:r>
            <a:r>
              <a:rPr lang="en-US" sz="3000" b="1" dirty="0" err="1">
                <a:latin typeface="Arial" pitchFamily="34" charset="0"/>
                <a:cs typeface="Arial" pitchFamily="34" charset="0"/>
              </a:rPr>
              <a:t>sàng</a:t>
            </a:r>
            <a:endParaRPr lang="en-US" sz="3000" b="1" dirty="0">
              <a:latin typeface="Arial" pitchFamily="34" charset="0"/>
              <a:cs typeface="Arial" pitchFamily="34" charset="0"/>
            </a:endParaRPr>
          </a:p>
        </p:txBody>
      </p:sp>
    </p:spTree>
    <p:extLst>
      <p:ext uri="{BB962C8B-B14F-4D97-AF65-F5344CB8AC3E}">
        <p14:creationId xmlns:p14="http://schemas.microsoft.com/office/powerpoint/2010/main" val="1255505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arn(inVertical)">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a:spLocks noChangeArrowheads="1"/>
          </p:cNvSpPr>
          <p:nvPr/>
        </p:nvSpPr>
        <p:spPr bwMode="auto">
          <a:xfrm>
            <a:off x="628651" y="3556936"/>
            <a:ext cx="138564" cy="80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2400">
                <a:solidFill>
                  <a:srgbClr val="333333"/>
                </a:solidFill>
                <a:latin typeface="Arial" panose="020B0604020202020204" pitchFamily="34" charset="0"/>
                <a:cs typeface="Arial" panose="020B0604020202020204" pitchFamily="34" charset="0"/>
              </a:rPr>
              <a:t/>
            </a:r>
            <a:br>
              <a:rPr lang="en-US" altLang="en-US" sz="2400">
                <a:solidFill>
                  <a:srgbClr val="333333"/>
                </a:solidFill>
                <a:latin typeface="Arial" panose="020B0604020202020204" pitchFamily="34" charset="0"/>
                <a:cs typeface="Arial" panose="020B0604020202020204" pitchFamily="34" charset="0"/>
              </a:rPr>
            </a:br>
            <a:endParaRPr lang="en-US" altLang="en-US" sz="2400">
              <a:latin typeface="Arial" panose="020B0604020202020204" pitchFamily="34" charset="0"/>
              <a:cs typeface="Arial" panose="020B0604020202020204" pitchFamily="34" charset="0"/>
            </a:endParaRPr>
          </a:p>
        </p:txBody>
      </p:sp>
      <p:sp>
        <p:nvSpPr>
          <p:cNvPr id="3" name="Rectangle 2"/>
          <p:cNvSpPr/>
          <p:nvPr/>
        </p:nvSpPr>
        <p:spPr>
          <a:xfrm>
            <a:off x="656486" y="2666939"/>
            <a:ext cx="1953734" cy="7939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Biến</a:t>
            </a:r>
            <a:r>
              <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chứng</a:t>
            </a:r>
            <a:r>
              <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sớm</a:t>
            </a:r>
            <a:endPar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9" name="Rectangle 8"/>
          <p:cNvSpPr/>
          <p:nvPr/>
        </p:nvSpPr>
        <p:spPr>
          <a:xfrm>
            <a:off x="642567" y="5334984"/>
            <a:ext cx="1981571" cy="763324"/>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Biến</a:t>
            </a:r>
            <a:r>
              <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chứng</a:t>
            </a:r>
            <a:r>
              <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muộn</a:t>
            </a:r>
            <a:endPar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cxnSp>
        <p:nvCxnSpPr>
          <p:cNvPr id="12" name="Elbow Connector 11"/>
          <p:cNvCxnSpPr>
            <a:stCxn id="3" idx="3"/>
            <a:endCxn id="19" idx="1"/>
          </p:cNvCxnSpPr>
          <p:nvPr/>
        </p:nvCxnSpPr>
        <p:spPr>
          <a:xfrm flipV="1">
            <a:off x="2610220" y="1767759"/>
            <a:ext cx="980749" cy="1296149"/>
          </a:xfrm>
          <a:prstGeom prst="bentConnector3">
            <a:avLst>
              <a:gd name="adj1" fmla="val 50000"/>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a:endCxn id="22" idx="1"/>
          </p:cNvCxnSpPr>
          <p:nvPr/>
        </p:nvCxnSpPr>
        <p:spPr>
          <a:xfrm>
            <a:off x="3115683" y="2382389"/>
            <a:ext cx="497561" cy="43367"/>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9" name="Rectangle 18"/>
          <p:cNvSpPr/>
          <p:nvPr/>
        </p:nvSpPr>
        <p:spPr>
          <a:xfrm>
            <a:off x="3590969" y="1589870"/>
            <a:ext cx="2035792" cy="355777"/>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dirty="0" err="1">
                <a:latin typeface="Arial" panose="020B0604020202020204" pitchFamily="34" charset="0"/>
                <a:cs typeface="Arial" panose="020B0604020202020204" pitchFamily="34" charset="0"/>
              </a:rPr>
              <a:t>Tại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ruột</a:t>
            </a:r>
            <a:endParaRPr lang="en-US" sz="2400" dirty="0">
              <a:latin typeface="Arial" panose="020B0604020202020204" pitchFamily="34" charset="0"/>
              <a:cs typeface="Arial" panose="020B0604020202020204" pitchFamily="34" charset="0"/>
            </a:endParaRPr>
          </a:p>
        </p:txBody>
      </p:sp>
      <p:sp>
        <p:nvSpPr>
          <p:cNvPr id="20" name="Rectangle 19"/>
          <p:cNvSpPr/>
          <p:nvPr/>
        </p:nvSpPr>
        <p:spPr>
          <a:xfrm>
            <a:off x="3590969" y="3234221"/>
            <a:ext cx="4006756" cy="667462"/>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dirty="0" err="1">
                <a:latin typeface="Arial" panose="020B0604020202020204" pitchFamily="34" charset="0"/>
                <a:cs typeface="Arial" panose="020B0604020202020204" pitchFamily="34" charset="0"/>
              </a:rPr>
              <a:t>Hội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chứng</a:t>
            </a:r>
            <a:r>
              <a:rPr lang="en-US" sz="2400" dirty="0">
                <a:latin typeface="Arial" panose="020B0604020202020204" pitchFamily="34" charset="0"/>
                <a:cs typeface="Arial" panose="020B0604020202020204" pitchFamily="34" charset="0"/>
              </a:rPr>
              <a:t> tan </a:t>
            </a:r>
            <a:r>
              <a:rPr lang="en-US" sz="2400" dirty="0" err="1">
                <a:latin typeface="Arial" panose="020B0604020202020204" pitchFamily="34" charset="0"/>
                <a:cs typeface="Arial" panose="020B0604020202020204" pitchFamily="34" charset="0"/>
              </a:rPr>
              <a:t>máu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ure</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huyết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cao</a:t>
            </a:r>
            <a:endParaRPr lang="en-US" sz="2400" dirty="0">
              <a:latin typeface="Arial" panose="020B0604020202020204" pitchFamily="34" charset="0"/>
              <a:cs typeface="Arial" panose="020B0604020202020204" pitchFamily="34" charset="0"/>
            </a:endParaRPr>
          </a:p>
        </p:txBody>
      </p:sp>
      <p:sp>
        <p:nvSpPr>
          <p:cNvPr id="21" name="Rectangle 20"/>
          <p:cNvSpPr/>
          <p:nvPr/>
        </p:nvSpPr>
        <p:spPr>
          <a:xfrm>
            <a:off x="3590969" y="2737716"/>
            <a:ext cx="2035791" cy="371764"/>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dirty="0" err="1">
                <a:latin typeface="Arial" panose="020B0604020202020204" pitchFamily="34" charset="0"/>
                <a:cs typeface="Arial" panose="020B0604020202020204" pitchFamily="34" charset="0"/>
              </a:rPr>
              <a:t>Toàn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thân</a:t>
            </a:r>
            <a:endParaRPr lang="en-US" sz="2400" dirty="0">
              <a:latin typeface="Arial" panose="020B0604020202020204" pitchFamily="34" charset="0"/>
              <a:cs typeface="Arial" panose="020B0604020202020204" pitchFamily="34" charset="0"/>
            </a:endParaRPr>
          </a:p>
        </p:txBody>
      </p:sp>
      <p:sp>
        <p:nvSpPr>
          <p:cNvPr id="22" name="Rectangle 21"/>
          <p:cNvSpPr/>
          <p:nvPr/>
        </p:nvSpPr>
        <p:spPr>
          <a:xfrm>
            <a:off x="3613244" y="2222141"/>
            <a:ext cx="2013516" cy="407229"/>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dirty="0" err="1">
                <a:latin typeface="Arial" panose="020B0604020202020204" pitchFamily="34" charset="0"/>
                <a:cs typeface="Arial" panose="020B0604020202020204" pitchFamily="34" charset="0"/>
              </a:rPr>
              <a:t>Bội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nhiễm</a:t>
            </a:r>
            <a:endParaRPr lang="en-US" sz="2400" dirty="0">
              <a:latin typeface="Arial" panose="020B0604020202020204" pitchFamily="34" charset="0"/>
              <a:cs typeface="Arial" panose="020B0604020202020204" pitchFamily="34" charset="0"/>
            </a:endParaRPr>
          </a:p>
        </p:txBody>
      </p:sp>
      <p:cxnSp>
        <p:nvCxnSpPr>
          <p:cNvPr id="34" name="Elbow Connector 33"/>
          <p:cNvCxnSpPr/>
          <p:nvPr/>
        </p:nvCxnSpPr>
        <p:spPr>
          <a:xfrm rot="16200000" flipH="1">
            <a:off x="2840733" y="2851615"/>
            <a:ext cx="1034710" cy="510313"/>
          </a:xfrm>
          <a:prstGeom prst="bentConnector2">
            <a:avLst/>
          </a:prstGeom>
          <a:ln>
            <a:tailEnd type="arrow"/>
          </a:ln>
        </p:spPr>
        <p:style>
          <a:lnRef idx="3">
            <a:schemeClr val="accent2"/>
          </a:lnRef>
          <a:fillRef idx="0">
            <a:schemeClr val="accent2"/>
          </a:fillRef>
          <a:effectRef idx="2">
            <a:schemeClr val="accent2"/>
          </a:effectRef>
          <a:fontRef idx="minor">
            <a:schemeClr val="tx1"/>
          </a:fontRef>
        </p:style>
      </p:cxnSp>
      <p:cxnSp>
        <p:nvCxnSpPr>
          <p:cNvPr id="36" name="Straight Arrow Connector 35"/>
          <p:cNvCxnSpPr>
            <a:endCxn id="21" idx="1"/>
          </p:cNvCxnSpPr>
          <p:nvPr/>
        </p:nvCxnSpPr>
        <p:spPr>
          <a:xfrm>
            <a:off x="3090894" y="2874173"/>
            <a:ext cx="500075" cy="4942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37" name="Rectangle 36"/>
          <p:cNvSpPr/>
          <p:nvPr/>
        </p:nvSpPr>
        <p:spPr>
          <a:xfrm>
            <a:off x="3613244" y="5760773"/>
            <a:ext cx="2994266" cy="583964"/>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Hội</a:t>
            </a:r>
            <a:r>
              <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chứng</a:t>
            </a:r>
            <a:r>
              <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R</a:t>
            </a:r>
            <a:r>
              <a:rPr lang="en-US" sz="2400" dirty="0" smtClean="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eiter</a:t>
            </a:r>
            <a:endPar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38" name="Rectangle 37"/>
          <p:cNvSpPr/>
          <p:nvPr/>
        </p:nvSpPr>
        <p:spPr>
          <a:xfrm>
            <a:off x="3645093" y="4789652"/>
            <a:ext cx="3525572" cy="667455"/>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Suy</a:t>
            </a:r>
            <a:r>
              <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dinh</a:t>
            </a:r>
            <a:r>
              <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dưỡng</a:t>
            </a:r>
            <a:r>
              <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phù</a:t>
            </a:r>
            <a:r>
              <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toàn</a:t>
            </a:r>
            <a:r>
              <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r>
              <a:rPr lang="en-US" sz="2400" dirty="0" err="1">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thân</a:t>
            </a:r>
            <a:endParaRPr lang="en-US" sz="24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cxnSp>
        <p:nvCxnSpPr>
          <p:cNvPr id="42" name="Elbow Connector 41"/>
          <p:cNvCxnSpPr/>
          <p:nvPr/>
        </p:nvCxnSpPr>
        <p:spPr>
          <a:xfrm flipV="1">
            <a:off x="2660854" y="5072607"/>
            <a:ext cx="1030862" cy="683724"/>
          </a:xfrm>
          <a:prstGeom prst="bentConnector3">
            <a:avLst/>
          </a:prstGeom>
          <a:ln>
            <a:tailEnd type="arrow"/>
          </a:ln>
        </p:spPr>
        <p:style>
          <a:lnRef idx="3">
            <a:schemeClr val="accent2"/>
          </a:lnRef>
          <a:fillRef idx="0">
            <a:schemeClr val="accent2"/>
          </a:fillRef>
          <a:effectRef idx="2">
            <a:schemeClr val="accent2"/>
          </a:effectRef>
          <a:fontRef idx="minor">
            <a:schemeClr val="tx1"/>
          </a:fontRef>
        </p:style>
      </p:cxnSp>
      <p:cxnSp>
        <p:nvCxnSpPr>
          <p:cNvPr id="44" name="Elbow Connector 43"/>
          <p:cNvCxnSpPr/>
          <p:nvPr/>
        </p:nvCxnSpPr>
        <p:spPr>
          <a:xfrm>
            <a:off x="3176285" y="5756331"/>
            <a:ext cx="515431" cy="357899"/>
          </a:xfrm>
          <a:prstGeom prst="bentConnector3">
            <a:avLst>
              <a:gd name="adj1" fmla="val -1633"/>
            </a:avLst>
          </a:prstGeom>
          <a:ln>
            <a:tailEnd type="arrow"/>
          </a:ln>
        </p:spPr>
        <p:style>
          <a:lnRef idx="3">
            <a:schemeClr val="accent2"/>
          </a:lnRef>
          <a:fillRef idx="0">
            <a:schemeClr val="accent2"/>
          </a:fillRef>
          <a:effectRef idx="2">
            <a:schemeClr val="accent2"/>
          </a:effectRef>
          <a:fontRef idx="minor">
            <a:schemeClr val="tx1"/>
          </a:fontRef>
        </p:style>
      </p:cxnSp>
      <p:sp>
        <p:nvSpPr>
          <p:cNvPr id="50" name="Rectangle 49"/>
          <p:cNvSpPr/>
          <p:nvPr/>
        </p:nvSpPr>
        <p:spPr>
          <a:xfrm>
            <a:off x="3610873" y="4125938"/>
            <a:ext cx="3559791" cy="502340"/>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dirty="0" err="1">
                <a:latin typeface="Arial" panose="020B0604020202020204" pitchFamily="34" charset="0"/>
                <a:cs typeface="Arial" panose="020B0604020202020204" pitchFamily="34" charset="0"/>
              </a:rPr>
              <a:t>Hội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chứng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Eriki</a:t>
            </a:r>
            <a:endParaRPr lang="en-US" sz="2400" dirty="0">
              <a:latin typeface="Arial" panose="020B0604020202020204" pitchFamily="34" charset="0"/>
              <a:cs typeface="Arial" panose="020B0604020202020204" pitchFamily="34" charset="0"/>
            </a:endParaRPr>
          </a:p>
        </p:txBody>
      </p:sp>
      <p:cxnSp>
        <p:nvCxnSpPr>
          <p:cNvPr id="52" name="Elbow Connector 51"/>
          <p:cNvCxnSpPr>
            <a:endCxn id="50" idx="1"/>
          </p:cNvCxnSpPr>
          <p:nvPr/>
        </p:nvCxnSpPr>
        <p:spPr>
          <a:xfrm rot="16200000" flipH="1">
            <a:off x="2921969" y="3688204"/>
            <a:ext cx="872614" cy="505194"/>
          </a:xfrm>
          <a:prstGeom prst="bentConnector2">
            <a:avLst/>
          </a:prstGeom>
          <a:ln>
            <a:tailEnd type="arrow"/>
          </a:ln>
        </p:spPr>
        <p:style>
          <a:lnRef idx="3">
            <a:schemeClr val="accent2"/>
          </a:lnRef>
          <a:fillRef idx="0">
            <a:schemeClr val="accent2"/>
          </a:fillRef>
          <a:effectRef idx="2">
            <a:schemeClr val="accent2"/>
          </a:effectRef>
          <a:fontRef idx="minor">
            <a:schemeClr val="tx1"/>
          </a:fontRef>
        </p:style>
      </p:cxnSp>
      <p:sp>
        <p:nvSpPr>
          <p:cNvPr id="23" name="Tiêu đề 1">
            <a:extLst>
              <a:ext uri="{FF2B5EF4-FFF2-40B4-BE49-F238E27FC236}">
                <a16:creationId xmlns:a16="http://schemas.microsoft.com/office/drawing/2014/main" xmlns="" id="{C98A5779-0D20-F746-86A7-119A3BB7F135}"/>
              </a:ext>
            </a:extLst>
          </p:cNvPr>
          <p:cNvSpPr txBox="1">
            <a:spLocks/>
          </p:cNvSpPr>
          <p:nvPr/>
        </p:nvSpPr>
        <p:spPr>
          <a:xfrm>
            <a:off x="133541" y="202931"/>
            <a:ext cx="5928545"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 </a:t>
            </a:r>
            <a:r>
              <a:rPr lang="vi-VN" sz="4000" b="1" dirty="0" smtClean="0">
                <a:solidFill>
                  <a:srgbClr val="FF0000"/>
                </a:solidFill>
                <a:latin typeface="Arial" pitchFamily="34" charset="0"/>
                <a:ea typeface="+mj-ea"/>
                <a:cs typeface="Arial" pitchFamily="34" charset="0"/>
              </a:rPr>
              <a:t>LÂM SÀNG</a:t>
            </a:r>
            <a:endParaRPr lang="vi-VN" sz="4000" b="1" dirty="0">
              <a:solidFill>
                <a:srgbClr val="FF0000"/>
              </a:solidFill>
              <a:latin typeface="Arial" pitchFamily="34" charset="0"/>
              <a:ea typeface="+mj-ea"/>
              <a:cs typeface="Arial" pitchFamily="34" charset="0"/>
            </a:endParaRPr>
          </a:p>
        </p:txBody>
      </p:sp>
      <p:sp>
        <p:nvSpPr>
          <p:cNvPr id="24" name="TextBox 23"/>
          <p:cNvSpPr txBox="1"/>
          <p:nvPr/>
        </p:nvSpPr>
        <p:spPr>
          <a:xfrm>
            <a:off x="1219200" y="685800"/>
            <a:ext cx="4095482" cy="553998"/>
          </a:xfrm>
          <a:prstGeom prst="rect">
            <a:avLst/>
          </a:prstGeom>
          <a:noFill/>
        </p:spPr>
        <p:txBody>
          <a:bodyPr wrap="square" rtlCol="0">
            <a:spAutoFit/>
          </a:bodyPr>
          <a:lstStyle/>
          <a:p>
            <a:pPr algn="just"/>
            <a:r>
              <a:rPr lang="en-US" sz="3000" b="1" dirty="0" smtClean="0">
                <a:latin typeface="Arial" panose="020B0604020202020204" pitchFamily="34" charset="0"/>
                <a:cs typeface="Arial" pitchFamily="34" charset="0"/>
              </a:rPr>
              <a:t>3. </a:t>
            </a:r>
            <a:r>
              <a:rPr lang="en-US" sz="3000" b="1" dirty="0" err="1" smtClean="0">
                <a:latin typeface="Arial" pitchFamily="34" charset="0"/>
                <a:cs typeface="Arial" pitchFamily="34" charset="0"/>
              </a:rPr>
              <a:t>Biến</a:t>
            </a:r>
            <a:r>
              <a:rPr lang="en-US" sz="3000" b="1" dirty="0" smtClean="0">
                <a:latin typeface="Arial" pitchFamily="34" charset="0"/>
                <a:cs typeface="Arial" pitchFamily="34" charset="0"/>
              </a:rPr>
              <a:t> </a:t>
            </a:r>
            <a:r>
              <a:rPr lang="en-US" sz="3000" b="1" dirty="0" err="1" smtClean="0">
                <a:latin typeface="Arial" pitchFamily="34" charset="0"/>
                <a:cs typeface="Arial" pitchFamily="34" charset="0"/>
              </a:rPr>
              <a:t>chứng</a:t>
            </a:r>
            <a:endParaRPr lang="en-US" sz="3000" b="1" dirty="0">
              <a:latin typeface="Arial" pitchFamily="34" charset="0"/>
              <a:cs typeface="Arial" pitchFamily="34" charset="0"/>
            </a:endParaRPr>
          </a:p>
        </p:txBody>
      </p:sp>
    </p:spTree>
    <p:extLst>
      <p:ext uri="{BB962C8B-B14F-4D97-AF65-F5344CB8AC3E}">
        <p14:creationId xmlns:p14="http://schemas.microsoft.com/office/powerpoint/2010/main" val="1893338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down)">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4"/>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8"/>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9" grpId="0" animBg="1"/>
      <p:bldP spid="20" grpId="0" animBg="1"/>
      <p:bldP spid="21" grpId="0" animBg="1"/>
      <p:bldP spid="22" grpId="0" animBg="1"/>
      <p:bldP spid="37" grpId="0" animBg="1"/>
      <p:bldP spid="38" grpId="0" animBg="1"/>
      <p:bldP spid="50" grpId="0" animBg="1"/>
      <p:bldP spid="2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7471" y="1420381"/>
            <a:ext cx="2775329" cy="565494"/>
          </a:xfrm>
        </p:spPr>
        <p:txBody>
          <a:bodyPr>
            <a:normAutofit fontScale="90000"/>
          </a:bodyPr>
          <a:lstStyle/>
          <a:p>
            <a:r>
              <a:rPr lang="en-US" sz="2400" b="1" i="1" u="sng" dirty="0" err="1">
                <a:latin typeface="Arial" pitchFamily="34" charset="0"/>
                <a:cs typeface="Arial" pitchFamily="34" charset="0"/>
              </a:rPr>
              <a:t>Hội</a:t>
            </a:r>
            <a:r>
              <a:rPr lang="en-US" sz="2400" b="1" i="1" u="sng" dirty="0">
                <a:latin typeface="Arial" pitchFamily="34" charset="0"/>
                <a:cs typeface="Arial" pitchFamily="34" charset="0"/>
              </a:rPr>
              <a:t> </a:t>
            </a:r>
            <a:r>
              <a:rPr lang="en-US" sz="2400" b="1" i="1" u="sng" dirty="0" err="1">
                <a:latin typeface="Arial" pitchFamily="34" charset="0"/>
                <a:cs typeface="Arial" pitchFamily="34" charset="0"/>
              </a:rPr>
              <a:t>chứng</a:t>
            </a:r>
            <a:r>
              <a:rPr lang="en-US" sz="2400" b="1" i="1" u="sng" dirty="0">
                <a:latin typeface="Arial" pitchFamily="34" charset="0"/>
                <a:cs typeface="Arial" pitchFamily="34" charset="0"/>
              </a:rPr>
              <a:t> </a:t>
            </a:r>
            <a:r>
              <a:rPr lang="en-US" sz="2400" b="1" i="1" u="sng" dirty="0" err="1">
                <a:latin typeface="Arial" pitchFamily="34" charset="0"/>
                <a:cs typeface="Arial" pitchFamily="34" charset="0"/>
              </a:rPr>
              <a:t>Eriki</a:t>
            </a:r>
            <a:r>
              <a:rPr lang="en-US" sz="2400" b="1" i="1" u="sng" dirty="0">
                <a:latin typeface="Arial" pitchFamily="34" charset="0"/>
                <a:cs typeface="Arial" pitchFamily="34" charset="0"/>
              </a:rPr>
              <a:t/>
            </a:r>
            <a:br>
              <a:rPr lang="en-US" sz="2400" b="1" i="1" u="sng" dirty="0">
                <a:latin typeface="Arial" pitchFamily="34" charset="0"/>
                <a:cs typeface="Arial" pitchFamily="34" charset="0"/>
              </a:rPr>
            </a:br>
            <a:r>
              <a:rPr lang="en-US" sz="2400" b="1" i="1" u="sng" dirty="0">
                <a:latin typeface="Arial" pitchFamily="34" charset="0"/>
                <a:cs typeface="Arial" pitchFamily="34" charset="0"/>
              </a:rPr>
              <a:t/>
            </a:r>
            <a:br>
              <a:rPr lang="en-US" sz="2400" b="1" i="1" u="sng" dirty="0">
                <a:latin typeface="Arial" pitchFamily="34" charset="0"/>
                <a:cs typeface="Arial" pitchFamily="34" charset="0"/>
              </a:rPr>
            </a:br>
            <a:endParaRPr lang="en-US" sz="1650" dirty="0">
              <a:latin typeface="Arial" pitchFamily="34" charset="0"/>
              <a:cs typeface="Arial" pitchFamily="34" charset="0"/>
            </a:endParaRPr>
          </a:p>
        </p:txBody>
      </p:sp>
      <p:sp>
        <p:nvSpPr>
          <p:cNvPr id="7" name="Rectangle 6"/>
          <p:cNvSpPr/>
          <p:nvPr/>
        </p:nvSpPr>
        <p:spPr>
          <a:xfrm>
            <a:off x="577471" y="2049342"/>
            <a:ext cx="4772167" cy="4832092"/>
          </a:xfrm>
          <a:prstGeom prst="rect">
            <a:avLst/>
          </a:prstGeom>
        </p:spPr>
        <p:txBody>
          <a:bodyPr wrap="square">
            <a:spAutoFit/>
          </a:bodyPr>
          <a:lstStyle/>
          <a:p>
            <a:pPr marL="342900" indent="-342900" algn="just">
              <a:buFont typeface="Arial" panose="020B0604020202020204" pitchFamily="34" charset="0"/>
              <a:buChar char="•"/>
            </a:pPr>
            <a:r>
              <a:rPr lang="en-US" sz="2200" dirty="0" err="1">
                <a:latin typeface="Arial" pitchFamily="34" charset="0"/>
                <a:cs typeface="Arial" pitchFamily="34" charset="0"/>
              </a:rPr>
              <a:t>Nhiễm</a:t>
            </a:r>
            <a:r>
              <a:rPr lang="en-US" sz="2200" dirty="0">
                <a:latin typeface="Arial" pitchFamily="34" charset="0"/>
                <a:cs typeface="Arial" pitchFamily="34" charset="0"/>
              </a:rPr>
              <a:t> </a:t>
            </a:r>
            <a:r>
              <a:rPr lang="en-US" sz="2200" dirty="0" err="1">
                <a:latin typeface="Arial" pitchFamily="34" charset="0"/>
                <a:cs typeface="Arial" pitchFamily="34" charset="0"/>
              </a:rPr>
              <a:t>độc</a:t>
            </a:r>
            <a:r>
              <a:rPr lang="en-US" sz="2200" dirty="0">
                <a:latin typeface="Arial" pitchFamily="34" charset="0"/>
                <a:cs typeface="Arial" pitchFamily="34" charset="0"/>
              </a:rPr>
              <a:t> </a:t>
            </a:r>
            <a:r>
              <a:rPr lang="en-US" sz="2200" dirty="0" err="1">
                <a:latin typeface="Arial" pitchFamily="34" charset="0"/>
                <a:cs typeface="Arial" pitchFamily="34" charset="0"/>
              </a:rPr>
              <a:t>thần</a:t>
            </a:r>
            <a:r>
              <a:rPr lang="en-US" sz="2200" dirty="0">
                <a:latin typeface="Arial" pitchFamily="34" charset="0"/>
                <a:cs typeface="Arial" pitchFamily="34" charset="0"/>
              </a:rPr>
              <a:t> </a:t>
            </a:r>
            <a:r>
              <a:rPr lang="en-US" sz="2200" dirty="0" err="1">
                <a:latin typeface="Arial" pitchFamily="34" charset="0"/>
                <a:cs typeface="Arial" pitchFamily="34" charset="0"/>
              </a:rPr>
              <a:t>kinh</a:t>
            </a:r>
            <a:r>
              <a:rPr lang="en-US" sz="2200" dirty="0">
                <a:latin typeface="Arial" pitchFamily="34" charset="0"/>
                <a:cs typeface="Arial" pitchFamily="34" charset="0"/>
              </a:rPr>
              <a:t> </a:t>
            </a:r>
          </a:p>
          <a:p>
            <a:pPr marL="342900" indent="-342900" algn="just">
              <a:buFont typeface="Arial" panose="020B0604020202020204" pitchFamily="34" charset="0"/>
              <a:buChar char="•"/>
            </a:pPr>
            <a:r>
              <a:rPr lang="en-US" sz="2200" dirty="0" err="1">
                <a:latin typeface="Arial" pitchFamily="34" charset="0"/>
                <a:cs typeface="Arial" pitchFamily="34" charset="0"/>
              </a:rPr>
              <a:t>Tăng</a:t>
            </a:r>
            <a:r>
              <a:rPr lang="en-US" sz="2200" dirty="0">
                <a:latin typeface="Arial" pitchFamily="34" charset="0"/>
                <a:cs typeface="Arial" pitchFamily="34" charset="0"/>
              </a:rPr>
              <a:t> </a:t>
            </a:r>
            <a:r>
              <a:rPr lang="en-US" sz="2200" dirty="0" err="1">
                <a:latin typeface="Arial" pitchFamily="34" charset="0"/>
                <a:cs typeface="Arial" pitchFamily="34" charset="0"/>
              </a:rPr>
              <a:t>thân</a:t>
            </a:r>
            <a:r>
              <a:rPr lang="en-US" sz="2200" dirty="0">
                <a:latin typeface="Arial" pitchFamily="34" charset="0"/>
                <a:cs typeface="Arial" pitchFamily="34" charset="0"/>
              </a:rPr>
              <a:t> </a:t>
            </a:r>
            <a:r>
              <a:rPr lang="en-US" sz="2200" dirty="0" err="1">
                <a:latin typeface="Arial" pitchFamily="34" charset="0"/>
                <a:cs typeface="Arial" pitchFamily="34" charset="0"/>
              </a:rPr>
              <a:t>nhiệt</a:t>
            </a:r>
            <a:endParaRPr lang="en-US" sz="2200" dirty="0">
              <a:latin typeface="Arial" pitchFamily="34" charset="0"/>
              <a:cs typeface="Arial" pitchFamily="34" charset="0"/>
            </a:endParaRPr>
          </a:p>
          <a:p>
            <a:pPr marL="342900" indent="-342900" algn="just">
              <a:buFont typeface="Arial" panose="020B0604020202020204" pitchFamily="34" charset="0"/>
              <a:buChar char="•"/>
            </a:pPr>
            <a:r>
              <a:rPr lang="en-US" sz="2200" dirty="0">
                <a:latin typeface="Arial" pitchFamily="34" charset="0"/>
                <a:cs typeface="Arial" pitchFamily="34" charset="0"/>
              </a:rPr>
              <a:t>Co </a:t>
            </a:r>
            <a:r>
              <a:rPr lang="en-US" sz="2200" dirty="0" err="1">
                <a:latin typeface="Arial" pitchFamily="34" charset="0"/>
                <a:cs typeface="Arial" pitchFamily="34" charset="0"/>
              </a:rPr>
              <a:t>giật</a:t>
            </a:r>
            <a:r>
              <a:rPr lang="en-US" sz="2200" dirty="0">
                <a:latin typeface="Arial" pitchFamily="34" charset="0"/>
                <a:cs typeface="Arial" pitchFamily="34" charset="0"/>
              </a:rPr>
              <a:t> </a:t>
            </a:r>
          </a:p>
          <a:p>
            <a:pPr marL="342900" indent="-342900" algn="just">
              <a:buFont typeface="Arial" panose="020B0604020202020204" pitchFamily="34" charset="0"/>
              <a:buChar char="•"/>
            </a:pPr>
            <a:r>
              <a:rPr lang="en-US" sz="2200" dirty="0" err="1">
                <a:latin typeface="Arial" pitchFamily="34" charset="0"/>
                <a:cs typeface="Arial" pitchFamily="34" charset="0"/>
              </a:rPr>
              <a:t>Hôn</a:t>
            </a:r>
            <a:r>
              <a:rPr lang="en-US" sz="2200" dirty="0">
                <a:latin typeface="Arial" pitchFamily="34" charset="0"/>
                <a:cs typeface="Arial" pitchFamily="34" charset="0"/>
              </a:rPr>
              <a:t> </a:t>
            </a:r>
            <a:r>
              <a:rPr lang="en-US" sz="2200" dirty="0" err="1">
                <a:latin typeface="Arial" pitchFamily="34" charset="0"/>
                <a:cs typeface="Arial" pitchFamily="34" charset="0"/>
              </a:rPr>
              <a:t>mê</a:t>
            </a:r>
            <a:endParaRPr lang="en-US" sz="2200" dirty="0">
              <a:latin typeface="Arial" pitchFamily="34" charset="0"/>
              <a:cs typeface="Arial" pitchFamily="34" charset="0"/>
            </a:endParaRPr>
          </a:p>
          <a:p>
            <a:pPr marL="342900" indent="-342900" algn="just">
              <a:buFont typeface="Arial" panose="020B0604020202020204" pitchFamily="34" charset="0"/>
              <a:buChar char="•"/>
            </a:pPr>
            <a:r>
              <a:rPr lang="en-US" sz="2200" dirty="0" err="1">
                <a:latin typeface="Arial" pitchFamily="34" charset="0"/>
                <a:cs typeface="Arial" pitchFamily="34" charset="0"/>
              </a:rPr>
              <a:t>Nhiễm</a:t>
            </a:r>
            <a:r>
              <a:rPr lang="en-US" sz="2200" dirty="0">
                <a:latin typeface="Arial" pitchFamily="34" charset="0"/>
                <a:cs typeface="Arial" pitchFamily="34" charset="0"/>
              </a:rPr>
              <a:t> </a:t>
            </a:r>
            <a:r>
              <a:rPr lang="en-US" sz="2200" dirty="0" err="1">
                <a:latin typeface="Arial" pitchFamily="34" charset="0"/>
                <a:cs typeface="Arial" pitchFamily="34" charset="0"/>
              </a:rPr>
              <a:t>độc</a:t>
            </a:r>
            <a:r>
              <a:rPr lang="en-US" sz="2200" dirty="0">
                <a:latin typeface="Arial" pitchFamily="34" charset="0"/>
                <a:cs typeface="Arial" pitchFamily="34" charset="0"/>
              </a:rPr>
              <a:t> </a:t>
            </a:r>
            <a:r>
              <a:rPr lang="en-US" sz="2200" dirty="0" err="1">
                <a:latin typeface="Arial" pitchFamily="34" charset="0"/>
                <a:cs typeface="Arial" pitchFamily="34" charset="0"/>
              </a:rPr>
              <a:t>nặng</a:t>
            </a:r>
            <a:r>
              <a:rPr lang="en-US" sz="2200" dirty="0">
                <a:latin typeface="Arial" pitchFamily="34" charset="0"/>
                <a:cs typeface="Arial" pitchFamily="34" charset="0"/>
              </a:rPr>
              <a:t> </a:t>
            </a:r>
          </a:p>
          <a:p>
            <a:pPr marL="342900" indent="-342900" algn="just">
              <a:buFont typeface="Arial" panose="020B0604020202020204" pitchFamily="34" charset="0"/>
              <a:buChar char="•"/>
            </a:pPr>
            <a:r>
              <a:rPr lang="en-US" sz="2200" dirty="0" err="1">
                <a:latin typeface="Arial" pitchFamily="34" charset="0"/>
                <a:cs typeface="Arial" pitchFamily="34" charset="0"/>
              </a:rPr>
              <a:t>Nặng</a:t>
            </a:r>
            <a:r>
              <a:rPr lang="en-US" sz="2200" dirty="0">
                <a:latin typeface="Arial" pitchFamily="34" charset="0"/>
                <a:cs typeface="Arial" pitchFamily="34" charset="0"/>
              </a:rPr>
              <a:t> </a:t>
            </a:r>
            <a:r>
              <a:rPr lang="en-US" sz="2200" dirty="0" err="1">
                <a:latin typeface="Arial" pitchFamily="34" charset="0"/>
                <a:cs typeface="Arial" pitchFamily="34" charset="0"/>
              </a:rPr>
              <a:t>nhưng</a:t>
            </a:r>
            <a:r>
              <a:rPr lang="en-US" sz="2200" dirty="0">
                <a:latin typeface="Arial" pitchFamily="34" charset="0"/>
                <a:cs typeface="Arial" pitchFamily="34" charset="0"/>
              </a:rPr>
              <a:t> </a:t>
            </a:r>
            <a:r>
              <a:rPr lang="en-US" sz="2200" dirty="0" err="1">
                <a:latin typeface="Arial" pitchFamily="34" charset="0"/>
                <a:cs typeface="Arial" pitchFamily="34" charset="0"/>
              </a:rPr>
              <a:t>không</a:t>
            </a:r>
            <a:r>
              <a:rPr lang="en-US" sz="2200" dirty="0">
                <a:latin typeface="Arial" pitchFamily="34" charset="0"/>
                <a:cs typeface="Arial" pitchFamily="34" charset="0"/>
              </a:rPr>
              <a:t> </a:t>
            </a:r>
            <a:r>
              <a:rPr lang="en-US" sz="2200" dirty="0" err="1">
                <a:latin typeface="Arial" pitchFamily="34" charset="0"/>
                <a:cs typeface="Arial" pitchFamily="34" charset="0"/>
              </a:rPr>
              <a:t>để</a:t>
            </a:r>
            <a:r>
              <a:rPr lang="en-US" sz="2200" dirty="0">
                <a:latin typeface="Arial" pitchFamily="34" charset="0"/>
                <a:cs typeface="Arial" pitchFamily="34" charset="0"/>
              </a:rPr>
              <a:t> </a:t>
            </a:r>
            <a:r>
              <a:rPr lang="en-US" sz="2200" dirty="0" err="1">
                <a:latin typeface="Arial" pitchFamily="34" charset="0"/>
                <a:cs typeface="Arial" pitchFamily="34" charset="0"/>
              </a:rPr>
              <a:t>lại</a:t>
            </a:r>
            <a:r>
              <a:rPr lang="en-US" sz="2200" dirty="0">
                <a:latin typeface="Arial" pitchFamily="34" charset="0"/>
                <a:cs typeface="Arial" pitchFamily="34" charset="0"/>
              </a:rPr>
              <a:t> di </a:t>
            </a:r>
            <a:r>
              <a:rPr lang="en-US" sz="2200" dirty="0" err="1">
                <a:latin typeface="Arial" pitchFamily="34" charset="0"/>
                <a:cs typeface="Arial" pitchFamily="34" charset="0"/>
              </a:rPr>
              <a:t>chứng</a:t>
            </a:r>
            <a:endParaRPr lang="en-US" sz="2200" dirty="0">
              <a:latin typeface="Arial" pitchFamily="34" charset="0"/>
              <a:cs typeface="Arial" pitchFamily="34" charset="0"/>
            </a:endParaRPr>
          </a:p>
          <a:p>
            <a:pPr marL="342900" indent="-342900" algn="just">
              <a:buFont typeface="Arial" panose="020B0604020202020204" pitchFamily="34" charset="0"/>
              <a:buChar char="•"/>
            </a:pPr>
            <a:r>
              <a:rPr lang="en-US" sz="2200" dirty="0">
                <a:latin typeface="Arial" pitchFamily="34" charset="0"/>
                <a:cs typeface="Arial" pitchFamily="34" charset="0"/>
              </a:rPr>
              <a:t>Do </a:t>
            </a:r>
            <a:r>
              <a:rPr lang="en-US" sz="2200" dirty="0" err="1">
                <a:latin typeface="Arial" pitchFamily="34" charset="0"/>
                <a:cs typeface="Arial" pitchFamily="34" charset="0"/>
              </a:rPr>
              <a:t>Shigella</a:t>
            </a:r>
            <a:r>
              <a:rPr lang="en-US" sz="2200" dirty="0">
                <a:latin typeface="Arial" pitchFamily="34" charset="0"/>
                <a:cs typeface="Arial" pitchFamily="34" charset="0"/>
              </a:rPr>
              <a:t> </a:t>
            </a:r>
            <a:r>
              <a:rPr lang="en-US" sz="2200" dirty="0" err="1">
                <a:latin typeface="Arial" pitchFamily="34" charset="0"/>
                <a:cs typeface="Arial" pitchFamily="34" charset="0"/>
              </a:rPr>
              <a:t>nhóm</a:t>
            </a:r>
            <a:r>
              <a:rPr lang="en-US" sz="2200" dirty="0">
                <a:latin typeface="Arial" pitchFamily="34" charset="0"/>
                <a:cs typeface="Arial" pitchFamily="34" charset="0"/>
              </a:rPr>
              <a:t> A, B hay c ở </a:t>
            </a:r>
            <a:r>
              <a:rPr lang="en-US" sz="2200" dirty="0" err="1">
                <a:latin typeface="Arial" pitchFamily="34" charset="0"/>
                <a:cs typeface="Arial" pitchFamily="34" charset="0"/>
              </a:rPr>
              <a:t>các</a:t>
            </a:r>
            <a:r>
              <a:rPr lang="en-US" sz="2200" dirty="0">
                <a:latin typeface="Arial" pitchFamily="34" charset="0"/>
                <a:cs typeface="Arial" pitchFamily="34" charset="0"/>
              </a:rPr>
              <a:t> </a:t>
            </a:r>
            <a:r>
              <a:rPr lang="en-US" sz="2200" dirty="0" err="1">
                <a:latin typeface="Arial" pitchFamily="34" charset="0"/>
                <a:cs typeface="Arial" pitchFamily="34" charset="0"/>
              </a:rPr>
              <a:t>nước</a:t>
            </a:r>
            <a:r>
              <a:rPr lang="en-US" sz="2200" dirty="0">
                <a:latin typeface="Arial" pitchFamily="34" charset="0"/>
                <a:cs typeface="Arial" pitchFamily="34" charset="0"/>
              </a:rPr>
              <a:t> </a:t>
            </a:r>
            <a:r>
              <a:rPr lang="en-US" sz="2200" dirty="0" err="1">
                <a:latin typeface="Arial" pitchFamily="34" charset="0"/>
                <a:cs typeface="Arial" pitchFamily="34" charset="0"/>
              </a:rPr>
              <a:t>công</a:t>
            </a:r>
            <a:r>
              <a:rPr lang="en-US" sz="2200" dirty="0">
                <a:latin typeface="Arial" pitchFamily="34" charset="0"/>
                <a:cs typeface="Arial" pitchFamily="34" charset="0"/>
              </a:rPr>
              <a:t> </a:t>
            </a:r>
            <a:r>
              <a:rPr lang="en-US" sz="2200" dirty="0" err="1">
                <a:latin typeface="Arial" pitchFamily="34" charset="0"/>
                <a:cs typeface="Arial" pitchFamily="34" charset="0"/>
              </a:rPr>
              <a:t>nghiệp</a:t>
            </a:r>
            <a:endParaRPr lang="en-US" sz="2200" dirty="0">
              <a:latin typeface="Arial" pitchFamily="34" charset="0"/>
              <a:cs typeface="Arial" pitchFamily="34" charset="0"/>
            </a:endParaRPr>
          </a:p>
          <a:p>
            <a:pPr marL="342900" indent="-342900" algn="just">
              <a:buFont typeface="Arial" panose="020B0604020202020204" pitchFamily="34" charset="0"/>
              <a:buChar char="•"/>
            </a:pPr>
            <a:r>
              <a:rPr lang="en-US" sz="2200" dirty="0" err="1">
                <a:latin typeface="Arial" pitchFamily="34" charset="0"/>
                <a:cs typeface="Arial" pitchFamily="34" charset="0"/>
              </a:rPr>
              <a:t>Phân</a:t>
            </a:r>
            <a:r>
              <a:rPr lang="en-US" sz="2200" dirty="0">
                <a:latin typeface="Arial" pitchFamily="34" charset="0"/>
                <a:cs typeface="Arial" pitchFamily="34" charset="0"/>
              </a:rPr>
              <a:t> </a:t>
            </a:r>
            <a:r>
              <a:rPr lang="en-US" sz="2200" dirty="0" err="1">
                <a:latin typeface="Arial" pitchFamily="34" charset="0"/>
                <a:cs typeface="Arial" pitchFamily="34" charset="0"/>
              </a:rPr>
              <a:t>biệt</a:t>
            </a:r>
            <a:r>
              <a:rPr lang="en-US" sz="2200" dirty="0">
                <a:latin typeface="Arial" pitchFamily="34" charset="0"/>
                <a:cs typeface="Arial" pitchFamily="34" charset="0"/>
              </a:rPr>
              <a:t> </a:t>
            </a:r>
            <a:r>
              <a:rPr lang="en-US" sz="2200" dirty="0" err="1">
                <a:latin typeface="Arial" pitchFamily="34" charset="0"/>
                <a:cs typeface="Arial" pitchFamily="34" charset="0"/>
              </a:rPr>
              <a:t>với</a:t>
            </a:r>
            <a:r>
              <a:rPr lang="en-US" sz="2200" dirty="0">
                <a:latin typeface="Arial" pitchFamily="34" charset="0"/>
                <a:cs typeface="Arial" pitchFamily="34" charset="0"/>
              </a:rPr>
              <a:t>: </a:t>
            </a:r>
            <a:r>
              <a:rPr lang="en-US" sz="2200" dirty="0" err="1">
                <a:latin typeface="Arial" pitchFamily="34" charset="0"/>
                <a:cs typeface="Arial" pitchFamily="34" charset="0"/>
              </a:rPr>
              <a:t>cứng</a:t>
            </a:r>
            <a:r>
              <a:rPr lang="en-US" sz="2200" dirty="0">
                <a:latin typeface="Arial" pitchFamily="34" charset="0"/>
                <a:cs typeface="Arial" pitchFamily="34" charset="0"/>
              </a:rPr>
              <a:t> </a:t>
            </a:r>
            <a:r>
              <a:rPr lang="en-US" sz="2200" dirty="0" err="1">
                <a:latin typeface="Arial" pitchFamily="34" charset="0"/>
                <a:cs typeface="Arial" pitchFamily="34" charset="0"/>
              </a:rPr>
              <a:t>gáy</a:t>
            </a:r>
            <a:r>
              <a:rPr lang="en-US" sz="2200" dirty="0">
                <a:latin typeface="Arial" pitchFamily="34" charset="0"/>
                <a:cs typeface="Arial" pitchFamily="34" charset="0"/>
              </a:rPr>
              <a:t>, RLTG, co </a:t>
            </a:r>
            <a:r>
              <a:rPr lang="en-US" sz="2200" dirty="0" err="1">
                <a:latin typeface="Arial" pitchFamily="34" charset="0"/>
                <a:cs typeface="Arial" pitchFamily="34" charset="0"/>
              </a:rPr>
              <a:t>giật</a:t>
            </a:r>
            <a:r>
              <a:rPr lang="en-US" sz="2200" dirty="0">
                <a:latin typeface="Arial" pitchFamily="34" charset="0"/>
                <a:cs typeface="Arial" pitchFamily="34" charset="0"/>
              </a:rPr>
              <a:t> do</a:t>
            </a:r>
          </a:p>
          <a:p>
            <a:pPr marL="685800" lvl="1" indent="-342900" algn="just">
              <a:buFont typeface="Arial" panose="020B0604020202020204" pitchFamily="34" charset="0"/>
              <a:buChar char="•"/>
            </a:pPr>
            <a:r>
              <a:rPr lang="en-US" sz="2200" dirty="0" err="1">
                <a:latin typeface="Arial" pitchFamily="34" charset="0"/>
                <a:cs typeface="Arial" pitchFamily="34" charset="0"/>
              </a:rPr>
              <a:t>Sốt</a:t>
            </a:r>
            <a:r>
              <a:rPr lang="en-US" sz="2200" dirty="0">
                <a:latin typeface="Arial" pitchFamily="34" charset="0"/>
                <a:cs typeface="Arial" pitchFamily="34" charset="0"/>
              </a:rPr>
              <a:t> </a:t>
            </a:r>
            <a:r>
              <a:rPr lang="en-US" sz="2200" dirty="0" err="1">
                <a:latin typeface="Arial" pitchFamily="34" charset="0"/>
                <a:cs typeface="Arial" pitchFamily="34" charset="0"/>
              </a:rPr>
              <a:t>cao</a:t>
            </a:r>
            <a:endParaRPr lang="en-US" sz="2200" dirty="0">
              <a:latin typeface="Arial" pitchFamily="34" charset="0"/>
              <a:cs typeface="Arial" pitchFamily="34" charset="0"/>
            </a:endParaRPr>
          </a:p>
          <a:p>
            <a:pPr marL="685800" lvl="1" indent="-342900" algn="just">
              <a:buFont typeface="Arial" panose="020B0604020202020204" pitchFamily="34" charset="0"/>
              <a:buChar char="•"/>
            </a:pPr>
            <a:r>
              <a:rPr lang="en-US" sz="2200" dirty="0" err="1">
                <a:latin typeface="Arial" pitchFamily="34" charset="0"/>
                <a:cs typeface="Arial" pitchFamily="34" charset="0"/>
              </a:rPr>
              <a:t>Rối</a:t>
            </a:r>
            <a:r>
              <a:rPr lang="en-US" sz="2200" dirty="0">
                <a:latin typeface="Arial" pitchFamily="34" charset="0"/>
                <a:cs typeface="Arial" pitchFamily="34" charset="0"/>
              </a:rPr>
              <a:t> </a:t>
            </a:r>
            <a:r>
              <a:rPr lang="en-US" sz="2200" dirty="0" err="1">
                <a:latin typeface="Arial" pitchFamily="34" charset="0"/>
                <a:cs typeface="Arial" pitchFamily="34" charset="0"/>
              </a:rPr>
              <a:t>loạn</a:t>
            </a:r>
            <a:r>
              <a:rPr lang="en-US" sz="2200" dirty="0">
                <a:latin typeface="Arial" pitchFamily="34" charset="0"/>
                <a:cs typeface="Arial" pitchFamily="34" charset="0"/>
              </a:rPr>
              <a:t> </a:t>
            </a:r>
            <a:r>
              <a:rPr lang="en-US" sz="2200" dirty="0" err="1">
                <a:latin typeface="Arial" pitchFamily="34" charset="0"/>
                <a:cs typeface="Arial" pitchFamily="34" charset="0"/>
              </a:rPr>
              <a:t>chuyển</a:t>
            </a:r>
            <a:r>
              <a:rPr lang="en-US" sz="2200" dirty="0">
                <a:latin typeface="Arial" pitchFamily="34" charset="0"/>
                <a:cs typeface="Arial" pitchFamily="34" charset="0"/>
              </a:rPr>
              <a:t> </a:t>
            </a:r>
            <a:r>
              <a:rPr lang="en-US" sz="2200" dirty="0" err="1">
                <a:latin typeface="Arial" pitchFamily="34" charset="0"/>
                <a:cs typeface="Arial" pitchFamily="34" charset="0"/>
              </a:rPr>
              <a:t>hóa</a:t>
            </a:r>
            <a:r>
              <a:rPr lang="en-US" sz="2200" dirty="0">
                <a:latin typeface="Arial" pitchFamily="34" charset="0"/>
                <a:cs typeface="Arial" pitchFamily="34" charset="0"/>
              </a:rPr>
              <a:t> </a:t>
            </a:r>
            <a:r>
              <a:rPr lang="en-US" sz="2200" dirty="0" err="1">
                <a:latin typeface="Arial" pitchFamily="34" charset="0"/>
                <a:cs typeface="Arial" pitchFamily="34" charset="0"/>
              </a:rPr>
              <a:t>đường</a:t>
            </a:r>
            <a:endParaRPr lang="en-US" sz="2200" dirty="0">
              <a:latin typeface="Arial" pitchFamily="34" charset="0"/>
              <a:cs typeface="Arial" pitchFamily="34" charset="0"/>
            </a:endParaRPr>
          </a:p>
          <a:p>
            <a:pPr marL="685800" lvl="1" indent="-342900" algn="just">
              <a:buFont typeface="Arial" panose="020B0604020202020204" pitchFamily="34" charset="0"/>
              <a:buChar char="•"/>
            </a:pPr>
            <a:r>
              <a:rPr lang="en-US" sz="2200" dirty="0" err="1">
                <a:latin typeface="Arial" pitchFamily="34" charset="0"/>
                <a:cs typeface="Arial" pitchFamily="34" charset="0"/>
              </a:rPr>
              <a:t>Hạ</a:t>
            </a:r>
            <a:r>
              <a:rPr lang="en-US" sz="2200" dirty="0">
                <a:latin typeface="Arial" pitchFamily="34" charset="0"/>
                <a:cs typeface="Arial" pitchFamily="34" charset="0"/>
              </a:rPr>
              <a:t> </a:t>
            </a:r>
            <a:r>
              <a:rPr lang="en-US" sz="2200" dirty="0" err="1">
                <a:latin typeface="Arial" pitchFamily="34" charset="0"/>
                <a:cs typeface="Arial" pitchFamily="34" charset="0"/>
              </a:rPr>
              <a:t>natri</a:t>
            </a:r>
            <a:r>
              <a:rPr lang="en-US" sz="2200" dirty="0">
                <a:latin typeface="Arial" pitchFamily="34" charset="0"/>
                <a:cs typeface="Arial" pitchFamily="34" charset="0"/>
              </a:rPr>
              <a:t> </a:t>
            </a:r>
            <a:r>
              <a:rPr lang="en-US" sz="2200" dirty="0" err="1">
                <a:latin typeface="Arial" pitchFamily="34" charset="0"/>
                <a:cs typeface="Arial" pitchFamily="34" charset="0"/>
              </a:rPr>
              <a:t>máu</a:t>
            </a:r>
            <a:r>
              <a:rPr lang="en-US" sz="2200" dirty="0">
                <a:latin typeface="Arial" pitchFamily="34" charset="0"/>
                <a:cs typeface="Arial" pitchFamily="34" charset="0"/>
              </a:rPr>
              <a:t> do </a:t>
            </a:r>
            <a:r>
              <a:rPr lang="en-US" sz="2200" dirty="0" err="1">
                <a:latin typeface="Arial" pitchFamily="34" charset="0"/>
                <a:cs typeface="Arial" pitchFamily="34" charset="0"/>
              </a:rPr>
              <a:t>mất</a:t>
            </a:r>
            <a:r>
              <a:rPr lang="en-US" sz="2200" dirty="0">
                <a:latin typeface="Arial" pitchFamily="34" charset="0"/>
                <a:cs typeface="Arial" pitchFamily="34" charset="0"/>
              </a:rPr>
              <a:t> qua </a:t>
            </a:r>
            <a:r>
              <a:rPr lang="en-US" sz="2200" dirty="0" err="1">
                <a:latin typeface="Arial" pitchFamily="34" charset="0"/>
                <a:cs typeface="Arial" pitchFamily="34" charset="0"/>
              </a:rPr>
              <a:t>ruột</a:t>
            </a:r>
            <a:endParaRPr lang="en-US" sz="2200" dirty="0"/>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50000" t="20013" b="34819"/>
          <a:stretch/>
        </p:blipFill>
        <p:spPr>
          <a:xfrm>
            <a:off x="5642927" y="1889666"/>
            <a:ext cx="3309574" cy="2910934"/>
          </a:xfrm>
          <a:prstGeom prst="rect">
            <a:avLst/>
          </a:prstGeom>
        </p:spPr>
      </p:pic>
      <p:sp>
        <p:nvSpPr>
          <p:cNvPr id="5" name="Tiêu đề 1">
            <a:extLst>
              <a:ext uri="{FF2B5EF4-FFF2-40B4-BE49-F238E27FC236}">
                <a16:creationId xmlns:a16="http://schemas.microsoft.com/office/drawing/2014/main" xmlns="" id="{C98A5779-0D20-F746-86A7-119A3BB7F135}"/>
              </a:ext>
            </a:extLst>
          </p:cNvPr>
          <p:cNvSpPr txBox="1">
            <a:spLocks/>
          </p:cNvSpPr>
          <p:nvPr/>
        </p:nvSpPr>
        <p:spPr>
          <a:xfrm>
            <a:off x="202712" y="237964"/>
            <a:ext cx="5928545"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 </a:t>
            </a:r>
            <a:r>
              <a:rPr lang="vi-VN" sz="4000" b="1" dirty="0" smtClean="0">
                <a:solidFill>
                  <a:srgbClr val="FF0000"/>
                </a:solidFill>
                <a:latin typeface="Arial" pitchFamily="34" charset="0"/>
                <a:ea typeface="+mj-ea"/>
                <a:cs typeface="Arial" pitchFamily="34" charset="0"/>
              </a:rPr>
              <a:t>LÂM SÀNG</a:t>
            </a:r>
            <a:endParaRPr lang="vi-VN" sz="4000" b="1" dirty="0">
              <a:solidFill>
                <a:srgbClr val="FF0000"/>
              </a:solidFill>
              <a:latin typeface="Arial" pitchFamily="34" charset="0"/>
              <a:ea typeface="+mj-ea"/>
              <a:cs typeface="Arial" pitchFamily="34" charset="0"/>
            </a:endParaRPr>
          </a:p>
        </p:txBody>
      </p:sp>
      <p:sp>
        <p:nvSpPr>
          <p:cNvPr id="6" name="TextBox 5"/>
          <p:cNvSpPr txBox="1"/>
          <p:nvPr/>
        </p:nvSpPr>
        <p:spPr>
          <a:xfrm>
            <a:off x="1119243" y="685800"/>
            <a:ext cx="4095482" cy="553998"/>
          </a:xfrm>
          <a:prstGeom prst="rect">
            <a:avLst/>
          </a:prstGeom>
          <a:noFill/>
        </p:spPr>
        <p:txBody>
          <a:bodyPr wrap="square" rtlCol="0">
            <a:spAutoFit/>
          </a:bodyPr>
          <a:lstStyle/>
          <a:p>
            <a:pPr algn="just"/>
            <a:r>
              <a:rPr lang="en-US" sz="3000" b="1" dirty="0" smtClean="0">
                <a:latin typeface="Arial" panose="020B0604020202020204" pitchFamily="34" charset="0"/>
                <a:cs typeface="Arial" pitchFamily="34" charset="0"/>
              </a:rPr>
              <a:t>3. </a:t>
            </a:r>
            <a:r>
              <a:rPr lang="en-US" sz="3000" b="1" dirty="0" err="1" smtClean="0">
                <a:latin typeface="Arial" pitchFamily="34" charset="0"/>
                <a:cs typeface="Arial" pitchFamily="34" charset="0"/>
              </a:rPr>
              <a:t>Biến</a:t>
            </a:r>
            <a:r>
              <a:rPr lang="en-US" sz="3000" b="1" dirty="0" smtClean="0">
                <a:latin typeface="Arial" pitchFamily="34" charset="0"/>
                <a:cs typeface="Arial" pitchFamily="34" charset="0"/>
              </a:rPr>
              <a:t> </a:t>
            </a:r>
            <a:r>
              <a:rPr lang="en-US" sz="3000" b="1" dirty="0" err="1" smtClean="0">
                <a:latin typeface="Arial" pitchFamily="34" charset="0"/>
                <a:cs typeface="Arial" pitchFamily="34" charset="0"/>
              </a:rPr>
              <a:t>chứng</a:t>
            </a:r>
            <a:endParaRPr lang="en-US" sz="3000" b="1" dirty="0">
              <a:latin typeface="Arial" pitchFamily="34" charset="0"/>
              <a:cs typeface="Arial" pitchFamily="34" charset="0"/>
            </a:endParaRPr>
          </a:p>
        </p:txBody>
      </p:sp>
    </p:spTree>
    <p:extLst>
      <p:ext uri="{BB962C8B-B14F-4D97-AF65-F5344CB8AC3E}">
        <p14:creationId xmlns:p14="http://schemas.microsoft.com/office/powerpoint/2010/main" val="391733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300" y="1308051"/>
            <a:ext cx="4329048" cy="4138796"/>
          </a:xfrm>
        </p:spPr>
        <p:txBody>
          <a:bodyPr>
            <a:noAutofit/>
          </a:bodyPr>
          <a:lstStyle/>
          <a:p>
            <a:pPr marL="0" indent="0" algn="just">
              <a:buNone/>
            </a:pPr>
            <a:r>
              <a:rPr lang="en-US" b="1" i="1" u="sng" dirty="0" err="1">
                <a:latin typeface="Arial" pitchFamily="34" charset="0"/>
                <a:cs typeface="Arial" pitchFamily="34" charset="0"/>
              </a:rPr>
              <a:t>Hội</a:t>
            </a:r>
            <a:r>
              <a:rPr lang="en-US" b="1" i="1" u="sng" dirty="0">
                <a:latin typeface="Arial" pitchFamily="34" charset="0"/>
                <a:cs typeface="Arial" pitchFamily="34" charset="0"/>
              </a:rPr>
              <a:t> </a:t>
            </a:r>
            <a:r>
              <a:rPr lang="en-US" b="1" i="1" u="sng" dirty="0" err="1">
                <a:latin typeface="Arial" pitchFamily="34" charset="0"/>
                <a:cs typeface="Arial" pitchFamily="34" charset="0"/>
              </a:rPr>
              <a:t>chứng</a:t>
            </a:r>
            <a:r>
              <a:rPr lang="en-US" b="1" i="1" u="sng" dirty="0">
                <a:latin typeface="Arial" pitchFamily="34" charset="0"/>
                <a:cs typeface="Arial" pitchFamily="34" charset="0"/>
              </a:rPr>
              <a:t> tan </a:t>
            </a:r>
            <a:r>
              <a:rPr lang="en-US" b="1" i="1" u="sng" dirty="0" err="1">
                <a:latin typeface="Arial" pitchFamily="34" charset="0"/>
                <a:cs typeface="Arial" pitchFamily="34" charset="0"/>
              </a:rPr>
              <a:t>máu</a:t>
            </a:r>
            <a:r>
              <a:rPr lang="en-US" b="1" i="1" u="sng" dirty="0">
                <a:latin typeface="Arial" pitchFamily="34" charset="0"/>
                <a:cs typeface="Arial" pitchFamily="34" charset="0"/>
              </a:rPr>
              <a:t> </a:t>
            </a:r>
            <a:r>
              <a:rPr lang="en-US" b="1" i="1" u="sng" dirty="0" err="1">
                <a:latin typeface="Arial" pitchFamily="34" charset="0"/>
                <a:cs typeface="Arial" pitchFamily="34" charset="0"/>
              </a:rPr>
              <a:t>ure</a:t>
            </a:r>
            <a:r>
              <a:rPr lang="en-US" b="1" i="1" u="sng" dirty="0">
                <a:latin typeface="Arial" pitchFamily="34" charset="0"/>
                <a:cs typeface="Arial" pitchFamily="34" charset="0"/>
              </a:rPr>
              <a:t> </a:t>
            </a:r>
            <a:r>
              <a:rPr lang="en-US" b="1" i="1" u="sng" dirty="0" err="1">
                <a:latin typeface="Arial" pitchFamily="34" charset="0"/>
                <a:cs typeface="Arial" pitchFamily="34" charset="0"/>
              </a:rPr>
              <a:t>huyết</a:t>
            </a:r>
            <a:r>
              <a:rPr lang="en-US" b="1" i="1" u="sng" dirty="0">
                <a:latin typeface="Arial" pitchFamily="34" charset="0"/>
                <a:cs typeface="Arial" pitchFamily="34" charset="0"/>
              </a:rPr>
              <a:t> </a:t>
            </a:r>
            <a:r>
              <a:rPr lang="en-US" b="1" i="1" u="sng" dirty="0" err="1">
                <a:latin typeface="Arial" pitchFamily="34" charset="0"/>
                <a:cs typeface="Arial" pitchFamily="34" charset="0"/>
              </a:rPr>
              <a:t>cao</a:t>
            </a:r>
            <a:r>
              <a:rPr lang="en-US" b="1" i="1" u="sng" dirty="0">
                <a:latin typeface="Arial" pitchFamily="34" charset="0"/>
                <a:cs typeface="Arial" pitchFamily="34" charset="0"/>
              </a:rPr>
              <a:t>: </a:t>
            </a:r>
            <a:endParaRPr lang="en-US" b="1" i="1" u="sng" dirty="0" smtClean="0">
              <a:latin typeface="Arial" pitchFamily="34" charset="0"/>
              <a:cs typeface="Arial" pitchFamily="34" charset="0"/>
            </a:endParaRPr>
          </a:p>
          <a:p>
            <a:pPr algn="just">
              <a:buFont typeface="Arial" panose="020B0604020202020204" pitchFamily="34" charset="0"/>
              <a:buChar char="•"/>
            </a:pPr>
            <a:r>
              <a:rPr lang="en-US" sz="1600" dirty="0" err="1">
                <a:latin typeface="Arial" pitchFamily="34" charset="0"/>
                <a:cs typeface="Arial" pitchFamily="34" charset="0"/>
              </a:rPr>
              <a:t>Thường</a:t>
            </a:r>
            <a:r>
              <a:rPr lang="en-US" sz="1600" dirty="0">
                <a:latin typeface="Arial" pitchFamily="34" charset="0"/>
                <a:cs typeface="Arial" pitchFamily="34" charset="0"/>
              </a:rPr>
              <a:t> do </a:t>
            </a:r>
            <a:r>
              <a:rPr lang="en-US" sz="1600" i="1" dirty="0">
                <a:latin typeface="Arial" pitchFamily="34" charset="0"/>
                <a:cs typeface="Arial" pitchFamily="34" charset="0"/>
              </a:rPr>
              <a:t>S. </a:t>
            </a:r>
            <a:r>
              <a:rPr lang="en-US" sz="1600" i="1" dirty="0" err="1">
                <a:latin typeface="Arial" pitchFamily="34" charset="0"/>
                <a:cs typeface="Arial" pitchFamily="34" charset="0"/>
              </a:rPr>
              <a:t>dysenteriae</a:t>
            </a:r>
            <a:r>
              <a:rPr lang="en-US" sz="1600" dirty="0">
                <a:latin typeface="Arial" pitchFamily="34" charset="0"/>
                <a:cs typeface="Arial" pitchFamily="34" charset="0"/>
              </a:rPr>
              <a:t> týp1.</a:t>
            </a:r>
          </a:p>
          <a:p>
            <a:pPr algn="just">
              <a:buFont typeface="Arial" panose="020B0604020202020204" pitchFamily="34" charset="0"/>
              <a:buChar char="•"/>
            </a:pPr>
            <a:r>
              <a:rPr lang="en-US" sz="1600" dirty="0" err="1">
                <a:latin typeface="Arial" pitchFamily="34" charset="0"/>
                <a:cs typeface="Arial" pitchFamily="34" charset="0"/>
              </a:rPr>
              <a:t>Đây</a:t>
            </a:r>
            <a:r>
              <a:rPr lang="en-US" sz="1600" dirty="0">
                <a:latin typeface="Arial" pitchFamily="34" charset="0"/>
                <a:cs typeface="Arial" pitchFamily="34" charset="0"/>
              </a:rPr>
              <a:t> </a:t>
            </a:r>
            <a:r>
              <a:rPr lang="en-US" sz="1600" dirty="0" err="1">
                <a:latin typeface="Arial" pitchFamily="34" charset="0"/>
                <a:cs typeface="Arial" pitchFamily="34" charset="0"/>
              </a:rPr>
              <a:t>là</a:t>
            </a:r>
            <a:r>
              <a:rPr lang="en-US" sz="1600" dirty="0">
                <a:latin typeface="Arial" pitchFamily="34" charset="0"/>
                <a:cs typeface="Arial" pitchFamily="34" charset="0"/>
              </a:rPr>
              <a:t> </a:t>
            </a:r>
            <a:r>
              <a:rPr lang="en-US" sz="1600" dirty="0" err="1">
                <a:latin typeface="Arial" pitchFamily="34" charset="0"/>
                <a:cs typeface="Arial" pitchFamily="34" charset="0"/>
              </a:rPr>
              <a:t>biến</a:t>
            </a:r>
            <a:r>
              <a:rPr lang="en-US" sz="1600" dirty="0">
                <a:latin typeface="Arial" pitchFamily="34" charset="0"/>
                <a:cs typeface="Arial" pitchFamily="34" charset="0"/>
              </a:rPr>
              <a:t> </a:t>
            </a:r>
            <a:r>
              <a:rPr lang="en-US" sz="1600" dirty="0" err="1">
                <a:latin typeface="Arial" pitchFamily="34" charset="0"/>
                <a:cs typeface="Arial" pitchFamily="34" charset="0"/>
              </a:rPr>
              <a:t>chứng</a:t>
            </a:r>
            <a:r>
              <a:rPr lang="en-US" sz="1600" dirty="0">
                <a:latin typeface="Arial" pitchFamily="34" charset="0"/>
                <a:cs typeface="Arial" pitchFamily="34" charset="0"/>
              </a:rPr>
              <a:t> </a:t>
            </a:r>
            <a:r>
              <a:rPr lang="en-US" sz="1600" dirty="0" err="1">
                <a:latin typeface="Arial" pitchFamily="34" charset="0"/>
                <a:cs typeface="Arial" pitchFamily="34" charset="0"/>
              </a:rPr>
              <a:t>không</a:t>
            </a:r>
            <a:r>
              <a:rPr lang="en-US" sz="1600" dirty="0">
                <a:latin typeface="Arial" pitchFamily="34" charset="0"/>
                <a:cs typeface="Arial" pitchFamily="34" charset="0"/>
              </a:rPr>
              <a:t> </a:t>
            </a:r>
            <a:r>
              <a:rPr lang="en-US" sz="1600" dirty="0" err="1">
                <a:latin typeface="Arial" pitchFamily="34" charset="0"/>
                <a:cs typeface="Arial" pitchFamily="34" charset="0"/>
              </a:rPr>
              <a:t>phổ</a:t>
            </a:r>
            <a:r>
              <a:rPr lang="en-US" sz="1600" dirty="0">
                <a:latin typeface="Arial" pitchFamily="34" charset="0"/>
                <a:cs typeface="Arial" pitchFamily="34" charset="0"/>
              </a:rPr>
              <a:t> </a:t>
            </a:r>
            <a:r>
              <a:rPr lang="en-US" sz="1600" dirty="0" err="1">
                <a:latin typeface="Arial" pitchFamily="34" charset="0"/>
                <a:cs typeface="Arial" pitchFamily="34" charset="0"/>
              </a:rPr>
              <a:t>biến</a:t>
            </a:r>
            <a:r>
              <a:rPr lang="en-US" sz="1600" dirty="0">
                <a:latin typeface="Arial" pitchFamily="34" charset="0"/>
                <a:cs typeface="Arial" pitchFamily="34" charset="0"/>
              </a:rPr>
              <a:t> </a:t>
            </a:r>
            <a:r>
              <a:rPr lang="en-US" sz="1600" dirty="0" err="1">
                <a:latin typeface="Arial" pitchFamily="34" charset="0"/>
                <a:cs typeface="Arial" pitchFamily="34" charset="0"/>
              </a:rPr>
              <a:t>nhưng</a:t>
            </a:r>
            <a:r>
              <a:rPr lang="en-US" sz="1600" dirty="0">
                <a:latin typeface="Arial" pitchFamily="34" charset="0"/>
                <a:cs typeface="Arial" pitchFamily="34" charset="0"/>
              </a:rPr>
              <a:t> </a:t>
            </a:r>
            <a:r>
              <a:rPr lang="en-US" sz="1600" dirty="0" err="1">
                <a:latin typeface="Arial" pitchFamily="34" charset="0"/>
                <a:cs typeface="Arial" pitchFamily="34" charset="0"/>
              </a:rPr>
              <a:t>trầm</a:t>
            </a:r>
            <a:r>
              <a:rPr lang="en-US" sz="1600" dirty="0">
                <a:latin typeface="Arial" pitchFamily="34" charset="0"/>
                <a:cs typeface="Arial" pitchFamily="34" charset="0"/>
              </a:rPr>
              <a:t> </a:t>
            </a:r>
            <a:r>
              <a:rPr lang="en-US" sz="1600" dirty="0" err="1">
                <a:latin typeface="Arial" pitchFamily="34" charset="0"/>
                <a:cs typeface="Arial" pitchFamily="34" charset="0"/>
              </a:rPr>
              <a:t>trọng</a:t>
            </a:r>
            <a:r>
              <a:rPr lang="en-US" sz="1600" dirty="0">
                <a:latin typeface="Arial" pitchFamily="34" charset="0"/>
                <a:cs typeface="Arial" pitchFamily="34" charset="0"/>
              </a:rPr>
              <a:t> </a:t>
            </a:r>
            <a:r>
              <a:rPr lang="en-US" sz="1600" dirty="0" err="1">
                <a:latin typeface="Arial" pitchFamily="34" charset="0"/>
                <a:cs typeface="Arial" pitchFamily="34" charset="0"/>
              </a:rPr>
              <a:t>của</a:t>
            </a:r>
            <a:r>
              <a:rPr lang="en-US" sz="1600" dirty="0">
                <a:latin typeface="Arial" pitchFamily="34" charset="0"/>
                <a:cs typeface="Arial" pitchFamily="34" charset="0"/>
              </a:rPr>
              <a:t> </a:t>
            </a:r>
            <a:r>
              <a:rPr lang="en-US" sz="1600" dirty="0" err="1">
                <a:latin typeface="Arial" pitchFamily="34" charset="0"/>
                <a:cs typeface="Arial" pitchFamily="34" charset="0"/>
              </a:rPr>
              <a:t>bệnh</a:t>
            </a:r>
            <a:r>
              <a:rPr lang="en-US" sz="1600" dirty="0">
                <a:latin typeface="Arial" pitchFamily="34" charset="0"/>
                <a:cs typeface="Arial" pitchFamily="34" charset="0"/>
              </a:rPr>
              <a:t> </a:t>
            </a:r>
            <a:r>
              <a:rPr lang="en-US" sz="1600" dirty="0" err="1">
                <a:latin typeface="Arial" pitchFamily="34" charset="0"/>
                <a:cs typeface="Arial" pitchFamily="34" charset="0"/>
              </a:rPr>
              <a:t>lỵ</a:t>
            </a:r>
            <a:r>
              <a:rPr lang="en-US" sz="1600" dirty="0">
                <a:latin typeface="Arial" pitchFamily="34" charset="0"/>
                <a:cs typeface="Arial" pitchFamily="34" charset="0"/>
              </a:rPr>
              <a:t>, </a:t>
            </a:r>
            <a:r>
              <a:rPr lang="en-US" sz="1600" dirty="0" err="1">
                <a:latin typeface="Arial" pitchFamily="34" charset="0"/>
                <a:cs typeface="Arial" pitchFamily="34" charset="0"/>
              </a:rPr>
              <a:t>ảnh</a:t>
            </a:r>
            <a:r>
              <a:rPr lang="en-US" sz="1600" dirty="0">
                <a:latin typeface="Arial" pitchFamily="34" charset="0"/>
                <a:cs typeface="Arial" pitchFamily="34" charset="0"/>
              </a:rPr>
              <a:t> </a:t>
            </a:r>
            <a:r>
              <a:rPr lang="en-US" sz="1600" dirty="0" err="1">
                <a:latin typeface="Arial" pitchFamily="34" charset="0"/>
                <a:cs typeface="Arial" pitchFamily="34" charset="0"/>
              </a:rPr>
              <a:t>hưởng</a:t>
            </a:r>
            <a:r>
              <a:rPr lang="en-US" sz="1600" dirty="0">
                <a:latin typeface="Arial" pitchFamily="34" charset="0"/>
                <a:cs typeface="Arial" pitchFamily="34" charset="0"/>
              </a:rPr>
              <a:t> </a:t>
            </a:r>
            <a:r>
              <a:rPr lang="en-US" sz="1600" dirty="0" err="1">
                <a:latin typeface="Arial" pitchFamily="34" charset="0"/>
                <a:cs typeface="Arial" pitchFamily="34" charset="0"/>
              </a:rPr>
              <a:t>đến</a:t>
            </a:r>
            <a:r>
              <a:rPr lang="en-US" sz="1600" dirty="0">
                <a:latin typeface="Arial" pitchFamily="34" charset="0"/>
                <a:cs typeface="Arial" pitchFamily="34" charset="0"/>
              </a:rPr>
              <a:t> </a:t>
            </a:r>
            <a:r>
              <a:rPr lang="en-US" sz="1600" dirty="0" err="1">
                <a:latin typeface="Arial" pitchFamily="34" charset="0"/>
                <a:cs typeface="Arial" pitchFamily="34" charset="0"/>
              </a:rPr>
              <a:t>hệ</a:t>
            </a:r>
            <a:r>
              <a:rPr lang="en-US" sz="1600" dirty="0">
                <a:latin typeface="Arial" pitchFamily="34" charset="0"/>
                <a:cs typeface="Arial" pitchFamily="34" charset="0"/>
              </a:rPr>
              <a:t> </a:t>
            </a:r>
            <a:r>
              <a:rPr lang="en-US" sz="1600" dirty="0" err="1">
                <a:latin typeface="Arial" pitchFamily="34" charset="0"/>
                <a:cs typeface="Arial" pitchFamily="34" charset="0"/>
              </a:rPr>
              <a:t>thống</a:t>
            </a:r>
            <a:r>
              <a:rPr lang="en-US" sz="1600" dirty="0">
                <a:latin typeface="Arial" pitchFamily="34" charset="0"/>
                <a:cs typeface="Arial" pitchFamily="34" charset="0"/>
              </a:rPr>
              <a:t> </a:t>
            </a:r>
            <a:r>
              <a:rPr lang="en-US" sz="1600" dirty="0" err="1">
                <a:latin typeface="Arial" pitchFamily="34" charset="0"/>
                <a:cs typeface="Arial" pitchFamily="34" charset="0"/>
              </a:rPr>
              <a:t>đông</a:t>
            </a:r>
            <a:r>
              <a:rPr lang="en-US" sz="1600" dirty="0">
                <a:latin typeface="Arial" pitchFamily="34" charset="0"/>
                <a:cs typeface="Arial" pitchFamily="34" charset="0"/>
              </a:rPr>
              <a:t> </a:t>
            </a:r>
            <a:r>
              <a:rPr lang="en-US" sz="1600" dirty="0" err="1">
                <a:latin typeface="Arial" pitchFamily="34" charset="0"/>
                <a:cs typeface="Arial" pitchFamily="34" charset="0"/>
              </a:rPr>
              <a:t>máu</a:t>
            </a:r>
            <a:r>
              <a:rPr lang="en-US" sz="1600" dirty="0">
                <a:latin typeface="Arial" pitchFamily="34" charset="0"/>
                <a:cs typeface="Arial" pitchFamily="34" charset="0"/>
              </a:rPr>
              <a:t> </a:t>
            </a:r>
            <a:r>
              <a:rPr lang="en-US" sz="1600" dirty="0" err="1">
                <a:latin typeface="Arial" pitchFamily="34" charset="0"/>
                <a:cs typeface="Arial" pitchFamily="34" charset="0"/>
              </a:rPr>
              <a:t>và</a:t>
            </a:r>
            <a:r>
              <a:rPr lang="en-US" sz="1600" dirty="0">
                <a:latin typeface="Arial" pitchFamily="34" charset="0"/>
                <a:cs typeface="Arial" pitchFamily="34" charset="0"/>
              </a:rPr>
              <a:t> </a:t>
            </a:r>
            <a:r>
              <a:rPr lang="en-US" sz="1600" dirty="0" err="1">
                <a:latin typeface="Arial" pitchFamily="34" charset="0"/>
                <a:cs typeface="Arial" pitchFamily="34" charset="0"/>
              </a:rPr>
              <a:t>thận</a:t>
            </a:r>
            <a:r>
              <a:rPr lang="en-US" sz="1600" dirty="0">
                <a:latin typeface="Arial" pitchFamily="34" charset="0"/>
                <a:cs typeface="Arial" pitchFamily="34" charset="0"/>
              </a:rPr>
              <a:t>. </a:t>
            </a:r>
          </a:p>
          <a:p>
            <a:pPr algn="just">
              <a:buFont typeface="Arial" panose="020B0604020202020204" pitchFamily="34" charset="0"/>
              <a:buChar char="•"/>
            </a:pPr>
            <a:r>
              <a:rPr lang="en-US" sz="1600" dirty="0" err="1">
                <a:latin typeface="Arial" pitchFamily="34" charset="0"/>
                <a:cs typeface="Arial" pitchFamily="34" charset="0"/>
              </a:rPr>
              <a:t>Thường</a:t>
            </a:r>
            <a:r>
              <a:rPr lang="en-US" sz="1600" dirty="0">
                <a:latin typeface="Arial" pitchFamily="34" charset="0"/>
                <a:cs typeface="Arial" pitchFamily="34" charset="0"/>
              </a:rPr>
              <a:t> </a:t>
            </a:r>
            <a:r>
              <a:rPr lang="en-US" sz="1600" dirty="0" err="1">
                <a:latin typeface="Arial" pitchFamily="34" charset="0"/>
                <a:cs typeface="Arial" pitchFamily="34" charset="0"/>
              </a:rPr>
              <a:t>có</a:t>
            </a:r>
            <a:r>
              <a:rPr lang="en-US" sz="1600" dirty="0">
                <a:latin typeface="Arial" pitchFamily="34" charset="0"/>
                <a:cs typeface="Arial" pitchFamily="34" charset="0"/>
              </a:rPr>
              <a:t> 3 </a:t>
            </a:r>
            <a:r>
              <a:rPr lang="en-US" sz="1600" dirty="0" err="1">
                <a:latin typeface="Arial" pitchFamily="34" charset="0"/>
                <a:cs typeface="Arial" pitchFamily="34" charset="0"/>
              </a:rPr>
              <a:t>triệu</a:t>
            </a:r>
            <a:r>
              <a:rPr lang="en-US" sz="1600" dirty="0">
                <a:latin typeface="Arial" pitchFamily="34" charset="0"/>
                <a:cs typeface="Arial" pitchFamily="34" charset="0"/>
              </a:rPr>
              <a:t> </a:t>
            </a:r>
            <a:r>
              <a:rPr lang="en-US" sz="1600" dirty="0" err="1">
                <a:latin typeface="Arial" pitchFamily="34" charset="0"/>
                <a:cs typeface="Arial" pitchFamily="34" charset="0"/>
              </a:rPr>
              <a:t>chứng</a:t>
            </a:r>
            <a:r>
              <a:rPr lang="en-US" sz="1600" dirty="0">
                <a:latin typeface="Arial" pitchFamily="34" charset="0"/>
                <a:cs typeface="Arial" pitchFamily="34" charset="0"/>
              </a:rPr>
              <a:t>: </a:t>
            </a:r>
          </a:p>
          <a:p>
            <a:pPr algn="just">
              <a:buFont typeface="Arial" panose="020B0604020202020204" pitchFamily="34" charset="0"/>
              <a:buChar char="•"/>
            </a:pPr>
            <a:r>
              <a:rPr lang="en-US" sz="1600" dirty="0" err="1">
                <a:latin typeface="Arial" pitchFamily="34" charset="0"/>
                <a:cs typeface="Arial" pitchFamily="34" charset="0"/>
              </a:rPr>
              <a:t>Thiếu</a:t>
            </a:r>
            <a:r>
              <a:rPr lang="en-US" sz="1600" dirty="0">
                <a:latin typeface="Arial" pitchFamily="34" charset="0"/>
                <a:cs typeface="Arial" pitchFamily="34" charset="0"/>
              </a:rPr>
              <a:t> </a:t>
            </a:r>
            <a:r>
              <a:rPr lang="en-US" sz="1600" dirty="0" err="1">
                <a:latin typeface="Arial" pitchFamily="34" charset="0"/>
                <a:cs typeface="Arial" pitchFamily="34" charset="0"/>
              </a:rPr>
              <a:t>máu</a:t>
            </a:r>
            <a:r>
              <a:rPr lang="en-US" sz="1600" dirty="0">
                <a:latin typeface="Arial" pitchFamily="34" charset="0"/>
                <a:cs typeface="Arial" pitchFamily="34" charset="0"/>
              </a:rPr>
              <a:t> do tan </a:t>
            </a:r>
            <a:r>
              <a:rPr lang="en-US" sz="1600" dirty="0" err="1">
                <a:latin typeface="Arial" pitchFamily="34" charset="0"/>
                <a:cs typeface="Arial" pitchFamily="34" charset="0"/>
              </a:rPr>
              <a:t>máu</a:t>
            </a:r>
            <a:r>
              <a:rPr lang="en-US" sz="1600" dirty="0">
                <a:latin typeface="Arial" pitchFamily="34" charset="0"/>
                <a:cs typeface="Arial" pitchFamily="34" charset="0"/>
              </a:rPr>
              <a:t>, </a:t>
            </a:r>
          </a:p>
          <a:p>
            <a:pPr algn="just">
              <a:buFont typeface="Arial" panose="020B0604020202020204" pitchFamily="34" charset="0"/>
              <a:buChar char="•"/>
            </a:pPr>
            <a:r>
              <a:rPr lang="en-US" sz="1600" dirty="0" err="1">
                <a:latin typeface="Arial" pitchFamily="34" charset="0"/>
                <a:cs typeface="Arial" pitchFamily="34" charset="0"/>
              </a:rPr>
              <a:t>Giảm</a:t>
            </a:r>
            <a:r>
              <a:rPr lang="en-US" sz="1600" dirty="0">
                <a:latin typeface="Arial" pitchFamily="34" charset="0"/>
                <a:cs typeface="Arial" pitchFamily="34" charset="0"/>
              </a:rPr>
              <a:t> </a:t>
            </a:r>
            <a:r>
              <a:rPr lang="en-US" sz="1600" dirty="0" err="1">
                <a:latin typeface="Arial" pitchFamily="34" charset="0"/>
                <a:cs typeface="Arial" pitchFamily="34" charset="0"/>
              </a:rPr>
              <a:t>tiểu</a:t>
            </a:r>
            <a:r>
              <a:rPr lang="en-US" sz="1600" dirty="0">
                <a:latin typeface="Arial" pitchFamily="34" charset="0"/>
                <a:cs typeface="Arial" pitchFamily="34" charset="0"/>
              </a:rPr>
              <a:t> </a:t>
            </a:r>
            <a:r>
              <a:rPr lang="en-US" sz="1600" dirty="0" err="1">
                <a:latin typeface="Arial" pitchFamily="34" charset="0"/>
                <a:cs typeface="Arial" pitchFamily="34" charset="0"/>
              </a:rPr>
              <a:t>cầu</a:t>
            </a:r>
            <a:r>
              <a:rPr lang="en-US" sz="1600" dirty="0">
                <a:latin typeface="Arial" pitchFamily="34" charset="0"/>
                <a:cs typeface="Arial" pitchFamily="34" charset="0"/>
              </a:rPr>
              <a:t> </a:t>
            </a:r>
          </a:p>
          <a:p>
            <a:pPr algn="just">
              <a:buFont typeface="Arial" panose="020B0604020202020204" pitchFamily="34" charset="0"/>
              <a:buChar char="•"/>
            </a:pPr>
            <a:r>
              <a:rPr lang="en-US" sz="1600" dirty="0" err="1">
                <a:latin typeface="Arial" pitchFamily="34" charset="0"/>
                <a:cs typeface="Arial" pitchFamily="34" charset="0"/>
              </a:rPr>
              <a:t>Suy</a:t>
            </a:r>
            <a:r>
              <a:rPr lang="en-US" sz="1600" dirty="0">
                <a:latin typeface="Arial" pitchFamily="34" charset="0"/>
                <a:cs typeface="Arial" pitchFamily="34" charset="0"/>
              </a:rPr>
              <a:t> </a:t>
            </a:r>
            <a:r>
              <a:rPr lang="en-US" sz="1600" dirty="0" err="1">
                <a:latin typeface="Arial" pitchFamily="34" charset="0"/>
                <a:cs typeface="Arial" pitchFamily="34" charset="0"/>
              </a:rPr>
              <a:t>thận</a:t>
            </a:r>
            <a:endParaRPr lang="en-US" sz="1600" dirty="0">
              <a:latin typeface="Arial" pitchFamily="34" charset="0"/>
              <a:cs typeface="Arial" pitchFamily="34" charset="0"/>
            </a:endParaRPr>
          </a:p>
          <a:p>
            <a:pPr algn="just">
              <a:buFont typeface="Arial" panose="020B0604020202020204" pitchFamily="34" charset="0"/>
              <a:buChar char="•"/>
            </a:pPr>
            <a:r>
              <a:rPr lang="en-US" sz="1600" dirty="0" err="1">
                <a:latin typeface="Arial" pitchFamily="34" charset="0"/>
                <a:cs typeface="Arial" pitchFamily="34" charset="0"/>
              </a:rPr>
              <a:t>Nếu</a:t>
            </a:r>
            <a:r>
              <a:rPr lang="en-US" sz="1600" dirty="0">
                <a:latin typeface="Arial" pitchFamily="34" charset="0"/>
                <a:cs typeface="Arial" pitchFamily="34" charset="0"/>
              </a:rPr>
              <a:t> </a:t>
            </a:r>
            <a:r>
              <a:rPr lang="en-US" sz="1600" dirty="0" err="1">
                <a:latin typeface="Arial" pitchFamily="34" charset="0"/>
                <a:cs typeface="Arial" pitchFamily="34" charset="0"/>
              </a:rPr>
              <a:t>nặng</a:t>
            </a:r>
            <a:r>
              <a:rPr lang="en-US" sz="1600" dirty="0">
                <a:latin typeface="Arial" pitchFamily="34" charset="0"/>
                <a:cs typeface="Arial" pitchFamily="34" charset="0"/>
              </a:rPr>
              <a:t> </a:t>
            </a:r>
            <a:r>
              <a:rPr lang="en-US" sz="1600" dirty="0" err="1">
                <a:latin typeface="Arial" pitchFamily="34" charset="0"/>
                <a:cs typeface="Arial" pitchFamily="34" charset="0"/>
              </a:rPr>
              <a:t>có</a:t>
            </a:r>
            <a:r>
              <a:rPr lang="en-US" sz="1600" dirty="0">
                <a:latin typeface="Arial" pitchFamily="34" charset="0"/>
                <a:cs typeface="Arial" pitchFamily="34" charset="0"/>
              </a:rPr>
              <a:t> </a:t>
            </a:r>
            <a:r>
              <a:rPr lang="en-US" sz="1600" dirty="0" err="1">
                <a:latin typeface="Arial" pitchFamily="34" charset="0"/>
                <a:cs typeface="Arial" pitchFamily="34" charset="0"/>
              </a:rPr>
              <a:t>thể</a:t>
            </a:r>
            <a:r>
              <a:rPr lang="en-US" sz="1600" dirty="0">
                <a:latin typeface="Arial" pitchFamily="34" charset="0"/>
                <a:cs typeface="Arial" pitchFamily="34" charset="0"/>
              </a:rPr>
              <a:t> </a:t>
            </a:r>
            <a:r>
              <a:rPr lang="en-US" sz="1600" dirty="0" err="1">
                <a:latin typeface="Arial" pitchFamily="34" charset="0"/>
                <a:cs typeface="Arial" pitchFamily="34" charset="0"/>
              </a:rPr>
              <a:t>gây</a:t>
            </a:r>
            <a:r>
              <a:rPr lang="en-US" sz="1600" dirty="0">
                <a:latin typeface="Arial" pitchFamily="34" charset="0"/>
                <a:cs typeface="Arial" pitchFamily="34" charset="0"/>
              </a:rPr>
              <a:t> </a:t>
            </a:r>
            <a:r>
              <a:rPr lang="en-US" sz="1600" dirty="0" err="1">
                <a:latin typeface="Arial" pitchFamily="34" charset="0"/>
                <a:cs typeface="Arial" pitchFamily="34" charset="0"/>
              </a:rPr>
              <a:t>thiếu</a:t>
            </a:r>
            <a:r>
              <a:rPr lang="en-US" sz="1600" dirty="0">
                <a:latin typeface="Arial" pitchFamily="34" charset="0"/>
                <a:cs typeface="Arial" pitchFamily="34" charset="0"/>
              </a:rPr>
              <a:t> </a:t>
            </a:r>
            <a:r>
              <a:rPr lang="en-US" sz="1600" dirty="0" err="1">
                <a:latin typeface="Arial" pitchFamily="34" charset="0"/>
                <a:cs typeface="Arial" pitchFamily="34" charset="0"/>
              </a:rPr>
              <a:t>máu</a:t>
            </a:r>
            <a:r>
              <a:rPr lang="en-US" sz="1600" dirty="0">
                <a:latin typeface="Arial" pitchFamily="34" charset="0"/>
                <a:cs typeface="Arial" pitchFamily="34" charset="0"/>
              </a:rPr>
              <a:t> </a:t>
            </a:r>
            <a:r>
              <a:rPr lang="en-US" sz="1600" dirty="0" err="1">
                <a:latin typeface="Arial" pitchFamily="34" charset="0"/>
                <a:cs typeface="Arial" pitchFamily="34" charset="0"/>
              </a:rPr>
              <a:t>nặng</a:t>
            </a:r>
            <a:r>
              <a:rPr lang="en-US" sz="1600" dirty="0">
                <a:latin typeface="Arial" pitchFamily="34" charset="0"/>
                <a:cs typeface="Arial" pitchFamily="34" charset="0"/>
              </a:rPr>
              <a:t>, </a:t>
            </a:r>
            <a:r>
              <a:rPr lang="en-US" sz="1600" dirty="0" err="1">
                <a:latin typeface="Arial" pitchFamily="34" charset="0"/>
                <a:cs typeface="Arial" pitchFamily="34" charset="0"/>
              </a:rPr>
              <a:t>rối</a:t>
            </a:r>
            <a:r>
              <a:rPr lang="en-US" sz="1600" dirty="0">
                <a:latin typeface="Arial" pitchFamily="34" charset="0"/>
                <a:cs typeface="Arial" pitchFamily="34" charset="0"/>
              </a:rPr>
              <a:t> </a:t>
            </a:r>
            <a:r>
              <a:rPr lang="en-US" sz="1600" dirty="0" err="1">
                <a:latin typeface="Arial" pitchFamily="34" charset="0"/>
                <a:cs typeface="Arial" pitchFamily="34" charset="0"/>
              </a:rPr>
              <a:t>lọan</a:t>
            </a:r>
            <a:r>
              <a:rPr lang="en-US" sz="1600" dirty="0">
                <a:latin typeface="Arial" pitchFamily="34" charset="0"/>
                <a:cs typeface="Arial" pitchFamily="34" charset="0"/>
              </a:rPr>
              <a:t> </a:t>
            </a:r>
            <a:r>
              <a:rPr lang="en-US" sz="1600" dirty="0" err="1">
                <a:latin typeface="Arial" pitchFamily="34" charset="0"/>
                <a:cs typeface="Arial" pitchFamily="34" charset="0"/>
              </a:rPr>
              <a:t>đông</a:t>
            </a:r>
            <a:r>
              <a:rPr lang="en-US" sz="1600" dirty="0">
                <a:latin typeface="Arial" pitchFamily="34" charset="0"/>
                <a:cs typeface="Arial" pitchFamily="34" charset="0"/>
              </a:rPr>
              <a:t> </a:t>
            </a:r>
            <a:r>
              <a:rPr lang="en-US" sz="1600" dirty="0" err="1">
                <a:latin typeface="Arial" pitchFamily="34" charset="0"/>
                <a:cs typeface="Arial" pitchFamily="34" charset="0"/>
              </a:rPr>
              <a:t>máu</a:t>
            </a:r>
            <a:r>
              <a:rPr lang="en-US" sz="1600" dirty="0">
                <a:latin typeface="Arial" pitchFamily="34" charset="0"/>
                <a:cs typeface="Arial" pitchFamily="34" charset="0"/>
              </a:rPr>
              <a:t> </a:t>
            </a:r>
            <a:r>
              <a:rPr lang="en-US" sz="1600" dirty="0" err="1">
                <a:latin typeface="Arial" pitchFamily="34" charset="0"/>
                <a:cs typeface="Arial" pitchFamily="34" charset="0"/>
              </a:rPr>
              <a:t>gây</a:t>
            </a:r>
            <a:r>
              <a:rPr lang="en-US" sz="1600" dirty="0">
                <a:latin typeface="Arial" pitchFamily="34" charset="0"/>
                <a:cs typeface="Arial" pitchFamily="34" charset="0"/>
              </a:rPr>
              <a:t> </a:t>
            </a:r>
            <a:r>
              <a:rPr lang="en-US" sz="1600" dirty="0" err="1">
                <a:latin typeface="Arial" pitchFamily="34" charset="0"/>
                <a:cs typeface="Arial" pitchFamily="34" charset="0"/>
              </a:rPr>
              <a:t>ra</a:t>
            </a:r>
            <a:r>
              <a:rPr lang="en-US" sz="1600" dirty="0">
                <a:latin typeface="Arial" pitchFamily="34" charset="0"/>
                <a:cs typeface="Arial" pitchFamily="34" charset="0"/>
              </a:rPr>
              <a:t> </a:t>
            </a:r>
            <a:r>
              <a:rPr lang="en-US" sz="1600" dirty="0" err="1">
                <a:latin typeface="Arial" pitchFamily="34" charset="0"/>
                <a:cs typeface="Arial" pitchFamily="34" charset="0"/>
              </a:rPr>
              <a:t>tình</a:t>
            </a:r>
            <a:r>
              <a:rPr lang="en-US" sz="1600" dirty="0">
                <a:latin typeface="Arial" pitchFamily="34" charset="0"/>
                <a:cs typeface="Arial" pitchFamily="34" charset="0"/>
              </a:rPr>
              <a:t> </a:t>
            </a:r>
            <a:r>
              <a:rPr lang="en-US" sz="1600" dirty="0" err="1">
                <a:latin typeface="Arial" pitchFamily="34" charset="0"/>
                <a:cs typeface="Arial" pitchFamily="34" charset="0"/>
              </a:rPr>
              <a:t>trạng</a:t>
            </a:r>
            <a:r>
              <a:rPr lang="en-US" sz="1600" dirty="0">
                <a:latin typeface="Arial" pitchFamily="34" charset="0"/>
                <a:cs typeface="Arial" pitchFamily="34" charset="0"/>
              </a:rPr>
              <a:t> </a:t>
            </a:r>
            <a:r>
              <a:rPr lang="en-US" sz="1600" dirty="0" err="1">
                <a:latin typeface="Arial" pitchFamily="34" charset="0"/>
                <a:cs typeface="Arial" pitchFamily="34" charset="0"/>
              </a:rPr>
              <a:t>xuất</a:t>
            </a:r>
            <a:r>
              <a:rPr lang="en-US" sz="1600" dirty="0">
                <a:latin typeface="Arial" pitchFamily="34" charset="0"/>
                <a:cs typeface="Arial" pitchFamily="34" charset="0"/>
              </a:rPr>
              <a:t> </a:t>
            </a:r>
            <a:r>
              <a:rPr lang="en-US" sz="1600" dirty="0" err="1">
                <a:latin typeface="Arial" pitchFamily="34" charset="0"/>
                <a:cs typeface="Arial" pitchFamily="34" charset="0"/>
              </a:rPr>
              <a:t>huyết</a:t>
            </a:r>
            <a:r>
              <a:rPr lang="en-US" sz="1600" dirty="0">
                <a:latin typeface="Arial" pitchFamily="34" charset="0"/>
                <a:cs typeface="Arial" pitchFamily="34" charset="0"/>
              </a:rPr>
              <a:t> </a:t>
            </a:r>
            <a:r>
              <a:rPr lang="en-US" sz="1600" dirty="0" err="1">
                <a:latin typeface="Arial" pitchFamily="34" charset="0"/>
                <a:cs typeface="Arial" pitchFamily="34" charset="0"/>
              </a:rPr>
              <a:t>dưới</a:t>
            </a:r>
            <a:r>
              <a:rPr lang="en-US" sz="1600" dirty="0">
                <a:latin typeface="Arial" pitchFamily="34" charset="0"/>
                <a:cs typeface="Arial" pitchFamily="34" charset="0"/>
              </a:rPr>
              <a:t> da, </a:t>
            </a:r>
            <a:r>
              <a:rPr lang="en-US" sz="1600" dirty="0" err="1">
                <a:latin typeface="Arial" pitchFamily="34" charset="0"/>
                <a:cs typeface="Arial" pitchFamily="34" charset="0"/>
              </a:rPr>
              <a:t>niêm</a:t>
            </a:r>
            <a:r>
              <a:rPr lang="en-US" sz="1600" dirty="0">
                <a:latin typeface="Arial" pitchFamily="34" charset="0"/>
                <a:cs typeface="Arial" pitchFamily="34" charset="0"/>
              </a:rPr>
              <a:t> </a:t>
            </a:r>
            <a:r>
              <a:rPr lang="en-US" sz="1600" dirty="0" err="1">
                <a:latin typeface="Arial" pitchFamily="34" charset="0"/>
                <a:cs typeface="Arial" pitchFamily="34" charset="0"/>
              </a:rPr>
              <a:t>mạc</a:t>
            </a:r>
            <a:r>
              <a:rPr lang="en-US" sz="1600" dirty="0">
                <a:latin typeface="Arial" pitchFamily="34" charset="0"/>
                <a:cs typeface="Arial" pitchFamily="34" charset="0"/>
              </a:rPr>
              <a:t> </a:t>
            </a:r>
            <a:r>
              <a:rPr lang="en-US" sz="1600" dirty="0" err="1">
                <a:latin typeface="Arial" pitchFamily="34" charset="0"/>
                <a:cs typeface="Arial" pitchFamily="34" charset="0"/>
              </a:rPr>
              <a:t>và</a:t>
            </a:r>
            <a:r>
              <a:rPr lang="en-US" sz="1600" dirty="0">
                <a:latin typeface="Arial" pitchFamily="34" charset="0"/>
                <a:cs typeface="Arial" pitchFamily="34" charset="0"/>
              </a:rPr>
              <a:t> </a:t>
            </a:r>
            <a:r>
              <a:rPr lang="en-US" sz="1600" dirty="0" err="1">
                <a:latin typeface="Arial" pitchFamily="34" charset="0"/>
                <a:cs typeface="Arial" pitchFamily="34" charset="0"/>
              </a:rPr>
              <a:t>gây</a:t>
            </a:r>
            <a:r>
              <a:rPr lang="en-US" sz="1600" dirty="0">
                <a:latin typeface="Arial" pitchFamily="34" charset="0"/>
                <a:cs typeface="Arial" pitchFamily="34" charset="0"/>
              </a:rPr>
              <a:t> </a:t>
            </a:r>
            <a:r>
              <a:rPr lang="en-US" sz="1600" dirty="0" err="1">
                <a:latin typeface="Arial" pitchFamily="34" charset="0"/>
                <a:cs typeface="Arial" pitchFamily="34" charset="0"/>
              </a:rPr>
              <a:t>suy</a:t>
            </a:r>
            <a:r>
              <a:rPr lang="en-US" sz="1600" dirty="0">
                <a:latin typeface="Arial" pitchFamily="34" charset="0"/>
                <a:cs typeface="Arial" pitchFamily="34" charset="0"/>
              </a:rPr>
              <a:t> </a:t>
            </a:r>
            <a:r>
              <a:rPr lang="en-US" sz="1600" dirty="0" err="1">
                <a:latin typeface="Arial" pitchFamily="34" charset="0"/>
                <a:cs typeface="Arial" pitchFamily="34" charset="0"/>
              </a:rPr>
              <a:t>thận</a:t>
            </a:r>
            <a:r>
              <a:rPr lang="en-US" sz="1600" dirty="0">
                <a:latin typeface="Arial" pitchFamily="34" charset="0"/>
                <a:cs typeface="Arial" pitchFamily="34" charset="0"/>
              </a:rPr>
              <a:t> </a:t>
            </a:r>
            <a:r>
              <a:rPr lang="en-US" sz="1600" dirty="0" err="1">
                <a:latin typeface="Arial" pitchFamily="34" charset="0"/>
                <a:cs typeface="Arial" pitchFamily="34" charset="0"/>
              </a:rPr>
              <a:t>yêu</a:t>
            </a:r>
            <a:r>
              <a:rPr lang="en-US" sz="1600" dirty="0">
                <a:latin typeface="Arial" pitchFamily="34" charset="0"/>
                <a:cs typeface="Arial" pitchFamily="34" charset="0"/>
              </a:rPr>
              <a:t> </a:t>
            </a:r>
            <a:r>
              <a:rPr lang="en-US" sz="1600" dirty="0" err="1">
                <a:latin typeface="Arial" pitchFamily="34" charset="0"/>
                <a:cs typeface="Arial" pitchFamily="34" charset="0"/>
              </a:rPr>
              <a:t>cầu</a:t>
            </a:r>
            <a:r>
              <a:rPr lang="en-US" sz="1600" dirty="0">
                <a:latin typeface="Arial" pitchFamily="34" charset="0"/>
                <a:cs typeface="Arial" pitchFamily="34" charset="0"/>
              </a:rPr>
              <a:t> </a:t>
            </a:r>
            <a:r>
              <a:rPr lang="en-US" sz="1600" dirty="0" err="1">
                <a:latin typeface="Arial" pitchFamily="34" charset="0"/>
                <a:cs typeface="Arial" pitchFamily="34" charset="0"/>
              </a:rPr>
              <a:t>cần</a:t>
            </a:r>
            <a:r>
              <a:rPr lang="en-US" sz="1600" dirty="0">
                <a:latin typeface="Arial" pitchFamily="34" charset="0"/>
                <a:cs typeface="Arial" pitchFamily="34" charset="0"/>
              </a:rPr>
              <a:t> </a:t>
            </a:r>
            <a:r>
              <a:rPr lang="en-US" sz="1600" dirty="0" err="1">
                <a:latin typeface="Arial" pitchFamily="34" charset="0"/>
                <a:cs typeface="Arial" pitchFamily="34" charset="0"/>
              </a:rPr>
              <a:t>lọc</a:t>
            </a:r>
            <a:r>
              <a:rPr lang="en-US" sz="1600" dirty="0">
                <a:latin typeface="Arial" pitchFamily="34" charset="0"/>
                <a:cs typeface="Arial" pitchFamily="34" charset="0"/>
              </a:rPr>
              <a:t> </a:t>
            </a:r>
            <a:r>
              <a:rPr lang="en-US" sz="1600" dirty="0" err="1">
                <a:latin typeface="Arial" pitchFamily="34" charset="0"/>
                <a:cs typeface="Arial" pitchFamily="34" charset="0"/>
              </a:rPr>
              <a:t>máu</a:t>
            </a:r>
            <a:r>
              <a:rPr lang="en-US" sz="1600" dirty="0">
                <a:latin typeface="Arial" pitchFamily="34" charset="0"/>
                <a:cs typeface="Arial" pitchFamily="34" charset="0"/>
              </a:rPr>
              <a:t> </a:t>
            </a:r>
            <a:r>
              <a:rPr lang="en-US" sz="1600" dirty="0" err="1">
                <a:latin typeface="Arial" pitchFamily="34" charset="0"/>
                <a:cs typeface="Arial" pitchFamily="34" charset="0"/>
              </a:rPr>
              <a:t>ngoài</a:t>
            </a:r>
            <a:r>
              <a:rPr lang="en-US" sz="1600" dirty="0">
                <a:latin typeface="Arial" pitchFamily="34" charset="0"/>
                <a:cs typeface="Arial" pitchFamily="34" charset="0"/>
              </a:rPr>
              <a:t> </a:t>
            </a:r>
            <a:r>
              <a:rPr lang="en-US" sz="1600" dirty="0" err="1">
                <a:latin typeface="Arial" pitchFamily="34" charset="0"/>
                <a:cs typeface="Arial" pitchFamily="34" charset="0"/>
              </a:rPr>
              <a:t>thận</a:t>
            </a:r>
            <a:endParaRPr lang="en-US" sz="1600" dirty="0">
              <a:latin typeface="Arial" pitchFamily="34" charset="0"/>
              <a:cs typeface="Arial"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1215" y="967348"/>
            <a:ext cx="4124646" cy="4124409"/>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47800" y="5483620"/>
            <a:ext cx="2445152" cy="1464629"/>
          </a:xfrm>
          <a:prstGeom prst="rect">
            <a:avLst/>
          </a:prstGeom>
        </p:spPr>
      </p:pic>
      <p:pic>
        <p:nvPicPr>
          <p:cNvPr id="2050" name="Picture 2" descr="Káº¿t quáº£ hÃ¬nh áº£nh cho Há»i chá»©ng hu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8348" y="5357199"/>
            <a:ext cx="4571324" cy="1500801"/>
          </a:xfrm>
          <a:prstGeom prst="rect">
            <a:avLst/>
          </a:prstGeom>
          <a:noFill/>
          <a:extLst>
            <a:ext uri="{909E8E84-426E-40DD-AFC4-6F175D3DCCD1}">
              <a14:hiddenFill xmlns:a14="http://schemas.microsoft.com/office/drawing/2010/main">
                <a:solidFill>
                  <a:srgbClr val="FFFFFF"/>
                </a:solidFill>
              </a14:hiddenFill>
            </a:ext>
          </a:extLst>
        </p:spPr>
      </p:pic>
      <p:sp>
        <p:nvSpPr>
          <p:cNvPr id="6" name="Tiêu đề 1">
            <a:extLst>
              <a:ext uri="{FF2B5EF4-FFF2-40B4-BE49-F238E27FC236}">
                <a16:creationId xmlns:a16="http://schemas.microsoft.com/office/drawing/2014/main" xmlns="" id="{C98A5779-0D20-F746-86A7-119A3BB7F135}"/>
              </a:ext>
            </a:extLst>
          </p:cNvPr>
          <p:cNvSpPr txBox="1">
            <a:spLocks/>
          </p:cNvSpPr>
          <p:nvPr/>
        </p:nvSpPr>
        <p:spPr>
          <a:xfrm>
            <a:off x="199300" y="170406"/>
            <a:ext cx="5928545"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 </a:t>
            </a:r>
            <a:r>
              <a:rPr lang="vi-VN" sz="4000" b="1" dirty="0" smtClean="0">
                <a:solidFill>
                  <a:srgbClr val="FF0000"/>
                </a:solidFill>
                <a:latin typeface="Arial" pitchFamily="34" charset="0"/>
                <a:ea typeface="+mj-ea"/>
                <a:cs typeface="Arial" pitchFamily="34" charset="0"/>
              </a:rPr>
              <a:t>LÂM SÀNG</a:t>
            </a:r>
            <a:endParaRPr lang="vi-VN" sz="4000" b="1" dirty="0">
              <a:solidFill>
                <a:srgbClr val="FF0000"/>
              </a:solidFill>
              <a:latin typeface="Arial" pitchFamily="34" charset="0"/>
              <a:ea typeface="+mj-ea"/>
              <a:cs typeface="Arial" pitchFamily="34" charset="0"/>
            </a:endParaRPr>
          </a:p>
        </p:txBody>
      </p:sp>
      <p:sp>
        <p:nvSpPr>
          <p:cNvPr id="7" name="TextBox 6"/>
          <p:cNvSpPr txBox="1"/>
          <p:nvPr/>
        </p:nvSpPr>
        <p:spPr>
          <a:xfrm>
            <a:off x="1219200" y="685800"/>
            <a:ext cx="4095482" cy="553998"/>
          </a:xfrm>
          <a:prstGeom prst="rect">
            <a:avLst/>
          </a:prstGeom>
          <a:noFill/>
        </p:spPr>
        <p:txBody>
          <a:bodyPr wrap="square" rtlCol="0">
            <a:spAutoFit/>
          </a:bodyPr>
          <a:lstStyle/>
          <a:p>
            <a:pPr algn="just"/>
            <a:r>
              <a:rPr lang="en-US" sz="3000" b="1" dirty="0" smtClean="0">
                <a:latin typeface="Arial" panose="020B0604020202020204" pitchFamily="34" charset="0"/>
                <a:cs typeface="Arial" pitchFamily="34" charset="0"/>
              </a:rPr>
              <a:t>3. </a:t>
            </a:r>
            <a:r>
              <a:rPr lang="en-US" sz="3000" b="1" dirty="0" err="1" smtClean="0">
                <a:latin typeface="Arial" pitchFamily="34" charset="0"/>
                <a:cs typeface="Arial" pitchFamily="34" charset="0"/>
              </a:rPr>
              <a:t>Biến</a:t>
            </a:r>
            <a:r>
              <a:rPr lang="en-US" sz="3000" b="1" dirty="0" smtClean="0">
                <a:latin typeface="Arial" pitchFamily="34" charset="0"/>
                <a:cs typeface="Arial" pitchFamily="34" charset="0"/>
              </a:rPr>
              <a:t> </a:t>
            </a:r>
            <a:r>
              <a:rPr lang="en-US" sz="3000" b="1" dirty="0" err="1" smtClean="0">
                <a:latin typeface="Arial" pitchFamily="34" charset="0"/>
                <a:cs typeface="Arial" pitchFamily="34" charset="0"/>
              </a:rPr>
              <a:t>chứng</a:t>
            </a:r>
            <a:endParaRPr lang="en-US" sz="3000" b="1" dirty="0">
              <a:latin typeface="Arial" pitchFamily="34" charset="0"/>
              <a:cs typeface="Arial" pitchFamily="34" charset="0"/>
            </a:endParaRPr>
          </a:p>
        </p:txBody>
      </p:sp>
    </p:spTree>
    <p:extLst>
      <p:ext uri="{BB962C8B-B14F-4D97-AF65-F5344CB8AC3E}">
        <p14:creationId xmlns:p14="http://schemas.microsoft.com/office/powerpoint/2010/main" val="17767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ppt_x"/>
                                          </p:val>
                                        </p:tav>
                                        <p:tav tm="100000">
                                          <p:val>
                                            <p:strVal val="#ppt_x"/>
                                          </p:val>
                                        </p:tav>
                                      </p:tavLst>
                                    </p:anim>
                                    <p:anim calcmode="lin" valueType="num">
                                      <p:cBhvr additive="base">
                                        <p:cTn id="29" dur="500" fill="hold"/>
                                        <p:tgtEl>
                                          <p:spTgt spid="4"/>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050"/>
                                        </p:tgtEl>
                                        <p:attrNameLst>
                                          <p:attrName>style.visibility</p:attrName>
                                        </p:attrNameLst>
                                      </p:cBhvr>
                                      <p:to>
                                        <p:strVal val="visible"/>
                                      </p:to>
                                    </p:set>
                                    <p:anim calcmode="lin" valueType="num">
                                      <p:cBhvr additive="base">
                                        <p:cTn id="32" dur="500" fill="hold"/>
                                        <p:tgtEl>
                                          <p:spTgt spid="2050"/>
                                        </p:tgtEl>
                                        <p:attrNameLst>
                                          <p:attrName>ppt_x</p:attrName>
                                        </p:attrNameLst>
                                      </p:cBhvr>
                                      <p:tavLst>
                                        <p:tav tm="0">
                                          <p:val>
                                            <p:strVal val="#ppt_x"/>
                                          </p:val>
                                        </p:tav>
                                        <p:tav tm="100000">
                                          <p:val>
                                            <p:strVal val="#ppt_x"/>
                                          </p:val>
                                        </p:tav>
                                      </p:tavLst>
                                    </p:anim>
                                    <p:anim calcmode="lin" valueType="num">
                                      <p:cBhvr additive="base">
                                        <p:cTn id="33" dur="500" fill="hold"/>
                                        <p:tgtEl>
                                          <p:spTgt spid="2050"/>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ppt_x"/>
                                          </p:val>
                                        </p:tav>
                                        <p:tav tm="100000">
                                          <p:val>
                                            <p:strVal val="#ppt_x"/>
                                          </p:val>
                                        </p:tav>
                                      </p:tavLst>
                                    </p:anim>
                                    <p:anim calcmode="lin" valueType="num">
                                      <p:cBhvr additive="base">
                                        <p:cTn id="3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069" y="1382035"/>
            <a:ext cx="2633792" cy="601061"/>
          </a:xfrm>
        </p:spPr>
        <p:txBody>
          <a:bodyPr>
            <a:normAutofit fontScale="90000"/>
          </a:bodyPr>
          <a:lstStyle/>
          <a:p>
            <a:r>
              <a:rPr lang="en-US" sz="2100" b="1" i="1" u="sng" dirty="0" err="1">
                <a:latin typeface="Arial" pitchFamily="34" charset="0"/>
                <a:cs typeface="Arial" pitchFamily="34" charset="0"/>
              </a:rPr>
              <a:t>Hội</a:t>
            </a:r>
            <a:r>
              <a:rPr lang="en-US" sz="2100" b="1" i="1" u="sng" dirty="0">
                <a:latin typeface="Arial" pitchFamily="34" charset="0"/>
                <a:cs typeface="Arial" pitchFamily="34" charset="0"/>
              </a:rPr>
              <a:t> </a:t>
            </a:r>
            <a:r>
              <a:rPr lang="en-US" sz="2100" b="1" i="1" u="sng" dirty="0" err="1">
                <a:latin typeface="Arial" pitchFamily="34" charset="0"/>
                <a:cs typeface="Arial" pitchFamily="34" charset="0"/>
              </a:rPr>
              <a:t>chứng</a:t>
            </a:r>
            <a:r>
              <a:rPr lang="en-US" sz="2100" b="1" i="1" u="sng" dirty="0">
                <a:latin typeface="Arial" pitchFamily="34" charset="0"/>
                <a:cs typeface="Arial" pitchFamily="34" charset="0"/>
              </a:rPr>
              <a:t> Reiter</a:t>
            </a:r>
            <a:r>
              <a:rPr lang="en-US" b="1" i="1" u="sng" dirty="0">
                <a:latin typeface="Arial" pitchFamily="34" charset="0"/>
                <a:cs typeface="Arial" pitchFamily="34" charset="0"/>
              </a:rPr>
              <a:t/>
            </a:r>
            <a:br>
              <a:rPr lang="en-US" b="1" i="1" u="sng" dirty="0">
                <a:latin typeface="Arial" pitchFamily="34" charset="0"/>
                <a:cs typeface="Arial" pitchFamily="34" charset="0"/>
              </a:rPr>
            </a:br>
            <a:endParaRPr lang="en-US" dirty="0"/>
          </a:p>
        </p:txBody>
      </p:sp>
      <p:sp>
        <p:nvSpPr>
          <p:cNvPr id="3" name="Content Placeholder 2"/>
          <p:cNvSpPr>
            <a:spLocks noGrp="1"/>
          </p:cNvSpPr>
          <p:nvPr>
            <p:ph idx="1"/>
          </p:nvPr>
        </p:nvSpPr>
        <p:spPr>
          <a:xfrm>
            <a:off x="221070" y="1983096"/>
            <a:ext cx="4264073" cy="4192605"/>
          </a:xfrm>
        </p:spPr>
        <p:txBody>
          <a:bodyPr>
            <a:normAutofit/>
          </a:bodyPr>
          <a:lstStyle/>
          <a:p>
            <a:pPr algn="just">
              <a:buFont typeface="Arial" panose="020B0604020202020204" pitchFamily="34" charset="0"/>
              <a:buChar char="•"/>
            </a:pPr>
            <a:r>
              <a:rPr lang="en-US" sz="2000" dirty="0" err="1">
                <a:latin typeface="Arial" panose="020B0604020202020204" pitchFamily="34" charset="0"/>
                <a:cs typeface="Arial" panose="020B0604020202020204" pitchFamily="34" charset="0"/>
              </a:rPr>
              <a:t>Hội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chứng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viêm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đạo</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khớp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hội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chứng</a:t>
            </a:r>
            <a:r>
              <a:rPr lang="en-US" sz="2000" dirty="0">
                <a:latin typeface="Arial" panose="020B0604020202020204" pitchFamily="34" charset="0"/>
                <a:cs typeface="Arial" panose="020B0604020202020204" pitchFamily="34" charset="0"/>
              </a:rPr>
              <a:t> Reiter): </a:t>
            </a:r>
            <a:r>
              <a:rPr lang="en-US" sz="2000" dirty="0" err="1">
                <a:latin typeface="Arial" panose="020B0604020202020204" pitchFamily="34" charset="0"/>
                <a:cs typeface="Arial" panose="020B0604020202020204" pitchFamily="34" charset="0"/>
              </a:rPr>
              <a:t>xuất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sau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ỉa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chảy</a:t>
            </a:r>
            <a:r>
              <a:rPr lang="en-US" sz="2000" dirty="0">
                <a:latin typeface="Arial" panose="020B0604020202020204" pitchFamily="34" charset="0"/>
                <a:cs typeface="Arial" panose="020B0604020202020204" pitchFamily="34" charset="0"/>
              </a:rPr>
              <a:t> 2 </a:t>
            </a:r>
            <a:r>
              <a:rPr lang="en-US" sz="2000" dirty="0" err="1">
                <a:latin typeface="Arial" panose="020B0604020202020204" pitchFamily="34" charset="0"/>
                <a:cs typeface="Arial" panose="020B0604020202020204" pitchFamily="34" charset="0"/>
              </a:rPr>
              <a:t>tuần</a:t>
            </a:r>
            <a:r>
              <a:rPr lang="en-US" sz="2000" dirty="0">
                <a:latin typeface="Arial" panose="020B0604020202020204" pitchFamily="34" charset="0"/>
                <a:cs typeface="Arial" panose="020B0604020202020204" pitchFamily="34" charset="0"/>
              </a:rPr>
              <a:t>. </a:t>
            </a:r>
            <a:endParaRPr lang="en-US" sz="2000" dirty="0" smtClean="0">
              <a:latin typeface="Arial" panose="020B0604020202020204" pitchFamily="34" charset="0"/>
              <a:cs typeface="Arial" panose="020B0604020202020204" pitchFamily="34" charset="0"/>
            </a:endParaRPr>
          </a:p>
          <a:p>
            <a:pPr algn="just">
              <a:buFont typeface="Arial" panose="020B0604020202020204" pitchFamily="34" charset="0"/>
              <a:buChar char="•"/>
            </a:pPr>
            <a:r>
              <a:rPr lang="en-US" sz="2000" dirty="0" err="1" smtClean="0">
                <a:latin typeface="Arial" panose="020B0604020202020204" pitchFamily="34" charset="0"/>
                <a:cs typeface="Arial" panose="020B0604020202020204" pitchFamily="34" charset="0"/>
              </a:rPr>
              <a:t>Viêm</a:t>
            </a:r>
            <a:r>
              <a:rPr lang="en-US" sz="2000" dirty="0" smtClean="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giảm</a:t>
            </a:r>
            <a:r>
              <a:rPr lang="en-US" sz="2000" dirty="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nhanh</a:t>
            </a:r>
            <a:endParaRPr lang="en-US" sz="2000" dirty="0" smtClean="0">
              <a:latin typeface="Arial" panose="020B0604020202020204" pitchFamily="34" charset="0"/>
              <a:cs typeface="Arial" panose="020B0604020202020204" pitchFamily="34" charset="0"/>
            </a:endParaRPr>
          </a:p>
          <a:p>
            <a:pPr algn="just">
              <a:buFont typeface="Arial" panose="020B0604020202020204" pitchFamily="34" charset="0"/>
              <a:buChar char="•"/>
            </a:pPr>
            <a:r>
              <a:rPr lang="en-US" sz="2000" dirty="0" err="1">
                <a:latin typeface="Arial" panose="020B0604020202020204" pitchFamily="34" charset="0"/>
                <a:cs typeface="Arial" panose="020B0604020202020204" pitchFamily="34" charset="0"/>
              </a:rPr>
              <a:t>V</a:t>
            </a:r>
            <a:r>
              <a:rPr lang="en-US" sz="2000" dirty="0" err="1" smtClean="0">
                <a:latin typeface="Arial" panose="020B0604020202020204" pitchFamily="34" charset="0"/>
                <a:cs typeface="Arial" panose="020B0604020202020204" pitchFamily="34" charset="0"/>
              </a:rPr>
              <a:t>iêm</a:t>
            </a:r>
            <a:r>
              <a:rPr lang="en-US" sz="2000" dirty="0" smtClean="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khớp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khỏi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chậm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di </a:t>
            </a:r>
            <a:r>
              <a:rPr lang="en-US" sz="2000" dirty="0" err="1">
                <a:latin typeface="Arial" panose="020B0604020202020204" pitchFamily="34" charset="0"/>
                <a:cs typeface="Arial" panose="020B0604020202020204" pitchFamily="34" charset="0"/>
              </a:rPr>
              <a:t>chứng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cứng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khớp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teo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smtClean="0">
                <a:latin typeface="Arial" panose="020B0604020202020204" pitchFamily="34" charset="0"/>
                <a:cs typeface="Arial" panose="020B0604020202020204" pitchFamily="34" charset="0"/>
              </a:rPr>
              <a:t>.</a:t>
            </a:r>
          </a:p>
          <a:p>
            <a:pPr algn="just">
              <a:buFont typeface="Arial" panose="020B0604020202020204" pitchFamily="34" charset="0"/>
              <a:buChar char="•"/>
            </a:pPr>
            <a:r>
              <a:rPr lang="en-US" sz="2000" dirty="0" smtClean="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Đây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biến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chứng</a:t>
            </a:r>
            <a:r>
              <a:rPr lang="en-US" sz="2000" dirty="0">
                <a:latin typeface="Arial" panose="020B0604020202020204" pitchFamily="34" charset="0"/>
                <a:cs typeface="Arial" panose="020B0604020202020204" pitchFamily="34" charset="0"/>
              </a:rPr>
              <a:t> hay </a:t>
            </a:r>
            <a:r>
              <a:rPr lang="en-US" sz="2000" dirty="0" err="1">
                <a:latin typeface="Arial" panose="020B0604020202020204" pitchFamily="34" charset="0"/>
                <a:cs typeface="Arial" panose="020B0604020202020204" pitchFamily="34" charset="0"/>
              </a:rPr>
              <a:t>gặp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bởi</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S. </a:t>
            </a:r>
            <a:r>
              <a:rPr lang="en-US" sz="2000" i="1" dirty="0" err="1">
                <a:latin typeface="Arial" panose="020B0604020202020204" pitchFamily="34" charset="0"/>
                <a:cs typeface="Arial" panose="020B0604020202020204" pitchFamily="34" charset="0"/>
              </a:rPr>
              <a:t>flexneri</a:t>
            </a:r>
            <a:r>
              <a:rPr lang="en-US" sz="2000" dirty="0">
                <a:latin typeface="Arial" panose="020B0604020202020204" pitchFamily="34" charset="0"/>
                <a:cs typeface="Arial" panose="020B0604020202020204" pitchFamily="34" charset="0"/>
              </a:rPr>
              <a:t> </a:t>
            </a:r>
          </a:p>
        </p:txBody>
      </p:sp>
      <p:pic>
        <p:nvPicPr>
          <p:cNvPr id="4098" name="Picture 2" descr="Káº¿t quáº£ hÃ¬nh áº£nh cho há»i chá»©ng rei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5939" y="1147519"/>
            <a:ext cx="3598922" cy="26531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52187"/>
          <a:stretch/>
        </p:blipFill>
        <p:spPr>
          <a:xfrm>
            <a:off x="5105400" y="4343400"/>
            <a:ext cx="3714718" cy="2133600"/>
          </a:xfrm>
          <a:prstGeom prst="rect">
            <a:avLst/>
          </a:prstGeom>
        </p:spPr>
      </p:pic>
      <p:sp>
        <p:nvSpPr>
          <p:cNvPr id="6" name="Tiêu đề 1">
            <a:extLst>
              <a:ext uri="{FF2B5EF4-FFF2-40B4-BE49-F238E27FC236}">
                <a16:creationId xmlns:a16="http://schemas.microsoft.com/office/drawing/2014/main" xmlns="" id="{C98A5779-0D20-F746-86A7-119A3BB7F135}"/>
              </a:ext>
            </a:extLst>
          </p:cNvPr>
          <p:cNvSpPr txBox="1">
            <a:spLocks/>
          </p:cNvSpPr>
          <p:nvPr/>
        </p:nvSpPr>
        <p:spPr>
          <a:xfrm>
            <a:off x="221070" y="154341"/>
            <a:ext cx="5928545"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 </a:t>
            </a:r>
            <a:r>
              <a:rPr lang="vi-VN" sz="4000" b="1" dirty="0" smtClean="0">
                <a:solidFill>
                  <a:srgbClr val="FF0000"/>
                </a:solidFill>
                <a:latin typeface="Arial" pitchFamily="34" charset="0"/>
                <a:ea typeface="+mj-ea"/>
                <a:cs typeface="Arial" pitchFamily="34" charset="0"/>
              </a:rPr>
              <a:t>LÂM SÀNG</a:t>
            </a:r>
            <a:endParaRPr lang="vi-VN" sz="4000" b="1" dirty="0">
              <a:solidFill>
                <a:srgbClr val="FF0000"/>
              </a:solidFill>
              <a:latin typeface="Arial" pitchFamily="34" charset="0"/>
              <a:ea typeface="+mj-ea"/>
              <a:cs typeface="Arial" pitchFamily="34" charset="0"/>
            </a:endParaRPr>
          </a:p>
        </p:txBody>
      </p:sp>
      <p:pic>
        <p:nvPicPr>
          <p:cNvPr id="5" name="Picture 4"/>
          <p:cNvPicPr>
            <a:picLocks noChangeAspect="1"/>
          </p:cNvPicPr>
          <p:nvPr/>
        </p:nvPicPr>
        <p:blipFill>
          <a:blip r:embed="rId4"/>
          <a:stretch>
            <a:fillRect/>
          </a:stretch>
        </p:blipFill>
        <p:spPr>
          <a:xfrm>
            <a:off x="1066800" y="599165"/>
            <a:ext cx="4237087" cy="848635"/>
          </a:xfrm>
          <a:prstGeom prst="rect">
            <a:avLst/>
          </a:prstGeom>
        </p:spPr>
      </p:pic>
    </p:spTree>
    <p:extLst>
      <p:ext uri="{BB962C8B-B14F-4D97-AF65-F5344CB8AC3E}">
        <p14:creationId xmlns:p14="http://schemas.microsoft.com/office/powerpoint/2010/main" val="1178191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4098"/>
                                        </p:tgtEl>
                                        <p:attrNameLst>
                                          <p:attrName>style.visibility</p:attrName>
                                        </p:attrNameLst>
                                      </p:cBhvr>
                                      <p:to>
                                        <p:strVal val="visible"/>
                                      </p:to>
                                    </p:set>
                                    <p:anim calcmode="lin" valueType="num">
                                      <p:cBhvr additive="base">
                                        <p:cTn id="16" dur="500" fill="hold"/>
                                        <p:tgtEl>
                                          <p:spTgt spid="4098"/>
                                        </p:tgtEl>
                                        <p:attrNameLst>
                                          <p:attrName>ppt_x</p:attrName>
                                        </p:attrNameLst>
                                      </p:cBhvr>
                                      <p:tavLst>
                                        <p:tav tm="0">
                                          <p:val>
                                            <p:strVal val="#ppt_x"/>
                                          </p:val>
                                        </p:tav>
                                        <p:tav tm="100000">
                                          <p:val>
                                            <p:strVal val="#ppt_x"/>
                                          </p:val>
                                        </p:tav>
                                      </p:tavLst>
                                    </p:anim>
                                    <p:anim calcmode="lin" valueType="num">
                                      <p:cBhvr additive="base">
                                        <p:cTn id="17"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a16="http://schemas.microsoft.com/office/drawing/2014/main" xmlns="" id="{C98A5779-0D20-F746-86A7-119A3BB7F135}"/>
              </a:ext>
            </a:extLst>
          </p:cNvPr>
          <p:cNvSpPr txBox="1">
            <a:spLocks/>
          </p:cNvSpPr>
          <p:nvPr/>
        </p:nvSpPr>
        <p:spPr>
          <a:xfrm>
            <a:off x="228600" y="152400"/>
            <a:ext cx="5928545" cy="458132"/>
          </a:xfrm>
          <a:prstGeom prst="rect">
            <a:avLst/>
          </a:prstGeom>
        </p:spPr>
        <p:txBody>
          <a:bodyPr vert="horz" lIns="68580" tIns="34290" rIns="68580" bIns="34290" rtlCol="0" anchor="ctr">
            <a:noAutofit/>
          </a:bodyPr>
          <a:lstStyle/>
          <a:p>
            <a:pPr algn="just" defTabSz="685800">
              <a:spcBef>
                <a:spcPct val="0"/>
              </a:spcBef>
              <a:defRPr/>
            </a:pPr>
            <a:r>
              <a:rPr lang="en-US" sz="3300" b="1" dirty="0" smtClean="0">
                <a:solidFill>
                  <a:srgbClr val="FF0000"/>
                </a:solidFill>
                <a:latin typeface="Arial" pitchFamily="34" charset="0"/>
                <a:ea typeface="+mj-ea"/>
                <a:cs typeface="Arial" pitchFamily="34" charset="0"/>
              </a:rPr>
              <a:t>VI. CẬN </a:t>
            </a:r>
            <a:r>
              <a:rPr lang="en-US" sz="3300" b="1" dirty="0">
                <a:solidFill>
                  <a:srgbClr val="FF0000"/>
                </a:solidFill>
                <a:latin typeface="Arial" pitchFamily="34" charset="0"/>
                <a:ea typeface="+mj-ea"/>
                <a:cs typeface="Arial" pitchFamily="34" charset="0"/>
              </a:rPr>
              <a:t>LÂM SÀNG</a:t>
            </a:r>
            <a:endParaRPr lang="vi-VN" sz="3300" b="1" dirty="0">
              <a:solidFill>
                <a:srgbClr val="FF0000"/>
              </a:solidFill>
              <a:latin typeface="Arial" pitchFamily="34" charset="0"/>
              <a:ea typeface="+mj-ea"/>
              <a:cs typeface="Arial" pitchFamily="34" charset="0"/>
            </a:endParaRPr>
          </a:p>
        </p:txBody>
      </p:sp>
      <p:sp>
        <p:nvSpPr>
          <p:cNvPr id="7" name="Rectangle 1"/>
          <p:cNvSpPr>
            <a:spLocks noChangeArrowheads="1"/>
          </p:cNvSpPr>
          <p:nvPr/>
        </p:nvSpPr>
        <p:spPr bwMode="auto">
          <a:xfrm>
            <a:off x="628651" y="3741601"/>
            <a:ext cx="138564"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050">
                <a:solidFill>
                  <a:srgbClr val="333333"/>
                </a:solidFill>
                <a:latin typeface="Arial" panose="020B0604020202020204" pitchFamily="34" charset="0"/>
                <a:cs typeface="Arial" panose="020B0604020202020204" pitchFamily="34" charset="0"/>
              </a:rPr>
              <a:t/>
            </a:r>
            <a:br>
              <a:rPr lang="en-US" altLang="en-US" sz="1050">
                <a:solidFill>
                  <a:srgbClr val="333333"/>
                </a:solidFill>
                <a:latin typeface="Arial" panose="020B0604020202020204" pitchFamily="34" charset="0"/>
                <a:cs typeface="Arial" panose="020B0604020202020204" pitchFamily="34" charset="0"/>
              </a:rPr>
            </a:br>
            <a:endParaRPr lang="en-US" altLang="en-US" sz="1350">
              <a:latin typeface="Arial" panose="020B0604020202020204" pitchFamily="34" charset="0"/>
            </a:endParaRPr>
          </a:p>
        </p:txBody>
      </p:sp>
      <p:sp>
        <p:nvSpPr>
          <p:cNvPr id="2" name="Content Placeholder 1"/>
          <p:cNvSpPr>
            <a:spLocks noGrp="1"/>
          </p:cNvSpPr>
          <p:nvPr>
            <p:ph idx="1"/>
          </p:nvPr>
        </p:nvSpPr>
        <p:spPr>
          <a:xfrm>
            <a:off x="417446" y="1563897"/>
            <a:ext cx="8309107" cy="4793990"/>
          </a:xfrm>
        </p:spPr>
        <p:txBody>
          <a:bodyPr>
            <a:noAutofit/>
          </a:bodyPr>
          <a:lstStyle/>
          <a:p>
            <a:pPr algn="just">
              <a:buFont typeface="Arial" panose="020B0604020202020204" pitchFamily="34" charset="0"/>
              <a:buChar char="•"/>
            </a:pPr>
            <a:r>
              <a:rPr lang="en-US" sz="2000" dirty="0" err="1" smtClean="0">
                <a:latin typeface="Arial" pitchFamily="34" charset="0"/>
                <a:cs typeface="Arial" pitchFamily="34" charset="0"/>
              </a:rPr>
              <a:t>Các</a:t>
            </a:r>
            <a:r>
              <a:rPr lang="en-US" sz="2000" dirty="0" smtClean="0">
                <a:latin typeface="Arial" pitchFamily="34" charset="0"/>
                <a:cs typeface="Arial" pitchFamily="34" charset="0"/>
              </a:rPr>
              <a:t> </a:t>
            </a:r>
            <a:r>
              <a:rPr lang="en-US" sz="2000" dirty="0" err="1">
                <a:latin typeface="Arial" pitchFamily="34" charset="0"/>
                <a:cs typeface="Arial" pitchFamily="34" charset="0"/>
              </a:rPr>
              <a:t>xét</a:t>
            </a:r>
            <a:r>
              <a:rPr lang="en-US" sz="2000" dirty="0">
                <a:latin typeface="Arial" pitchFamily="34" charset="0"/>
                <a:cs typeface="Arial" pitchFamily="34" charset="0"/>
              </a:rPr>
              <a:t> </a:t>
            </a:r>
            <a:r>
              <a:rPr lang="en-US" sz="2000" dirty="0" err="1">
                <a:latin typeface="Arial" pitchFamily="34" charset="0"/>
                <a:cs typeface="Arial" pitchFamily="34" charset="0"/>
              </a:rPr>
              <a:t>nghiệm</a:t>
            </a:r>
            <a:r>
              <a:rPr lang="en-US" sz="2000" dirty="0">
                <a:latin typeface="Arial" pitchFamily="34" charset="0"/>
                <a:cs typeface="Arial" pitchFamily="34" charset="0"/>
              </a:rPr>
              <a:t> </a:t>
            </a:r>
            <a:r>
              <a:rPr lang="en-US" sz="2000" dirty="0" err="1">
                <a:latin typeface="Arial" pitchFamily="34" charset="0"/>
                <a:cs typeface="Arial" pitchFamily="34" charset="0"/>
              </a:rPr>
              <a:t>máu</a:t>
            </a:r>
            <a:r>
              <a:rPr lang="en-US" sz="2000" dirty="0">
                <a:latin typeface="Arial" pitchFamily="34" charset="0"/>
                <a:cs typeface="Arial" pitchFamily="34" charset="0"/>
              </a:rPr>
              <a:t> </a:t>
            </a:r>
            <a:r>
              <a:rPr lang="en-US" sz="2000" dirty="0" err="1">
                <a:latin typeface="Arial" pitchFamily="34" charset="0"/>
                <a:cs typeface="Arial" pitchFamily="34" charset="0"/>
              </a:rPr>
              <a:t>thường</a:t>
            </a:r>
            <a:r>
              <a:rPr lang="en-US" sz="2000" dirty="0">
                <a:latin typeface="Arial" pitchFamily="34" charset="0"/>
                <a:cs typeface="Arial" pitchFamily="34" charset="0"/>
              </a:rPr>
              <a:t> </a:t>
            </a:r>
            <a:r>
              <a:rPr lang="en-US" sz="2000" dirty="0" err="1">
                <a:latin typeface="Arial" pitchFamily="34" charset="0"/>
                <a:cs typeface="Arial" pitchFamily="34" charset="0"/>
              </a:rPr>
              <a:t>không</a:t>
            </a:r>
            <a:r>
              <a:rPr lang="en-US" sz="2000" dirty="0">
                <a:latin typeface="Arial" pitchFamily="34" charset="0"/>
                <a:cs typeface="Arial" pitchFamily="34" charset="0"/>
              </a:rPr>
              <a:t> </a:t>
            </a:r>
            <a:r>
              <a:rPr lang="en-US" sz="2000" dirty="0" err="1">
                <a:latin typeface="Arial" pitchFamily="34" charset="0"/>
                <a:cs typeface="Arial" pitchFamily="34" charset="0"/>
              </a:rPr>
              <a:t>đặc</a:t>
            </a:r>
            <a:r>
              <a:rPr lang="en-US" sz="2000" dirty="0">
                <a:latin typeface="Arial" pitchFamily="34" charset="0"/>
                <a:cs typeface="Arial" pitchFamily="34" charset="0"/>
              </a:rPr>
              <a:t> </a:t>
            </a:r>
            <a:r>
              <a:rPr lang="en-US" sz="2000" dirty="0" err="1">
                <a:latin typeface="Arial" pitchFamily="34" charset="0"/>
                <a:cs typeface="Arial" pitchFamily="34" charset="0"/>
              </a:rPr>
              <a:t>hiệu</a:t>
            </a:r>
            <a:r>
              <a:rPr lang="en-US" sz="2000" dirty="0">
                <a:latin typeface="Arial" pitchFamily="34" charset="0"/>
                <a:cs typeface="Arial" pitchFamily="34" charset="0"/>
              </a:rPr>
              <a:t>. </a:t>
            </a:r>
            <a:endParaRPr lang="en-US" sz="2000" dirty="0" smtClean="0">
              <a:latin typeface="Arial" pitchFamily="34" charset="0"/>
              <a:cs typeface="Arial" pitchFamily="34" charset="0"/>
            </a:endParaRPr>
          </a:p>
          <a:p>
            <a:pPr algn="just">
              <a:buFont typeface="Arial" panose="020B0604020202020204" pitchFamily="34" charset="0"/>
              <a:buChar char="•"/>
            </a:pPr>
            <a:r>
              <a:rPr lang="en-US" sz="2000" dirty="0" err="1" smtClean="0">
                <a:latin typeface="Arial" pitchFamily="34" charset="0"/>
                <a:cs typeface="Arial" pitchFamily="34" charset="0"/>
              </a:rPr>
              <a:t>Trong</a:t>
            </a:r>
            <a:r>
              <a:rPr lang="en-US" sz="2000" dirty="0" smtClean="0">
                <a:latin typeface="Arial" pitchFamily="34" charset="0"/>
                <a:cs typeface="Arial" pitchFamily="34" charset="0"/>
              </a:rPr>
              <a:t> </a:t>
            </a:r>
            <a:r>
              <a:rPr lang="en-US" sz="2000" dirty="0" err="1">
                <a:latin typeface="Arial" pitchFamily="34" charset="0"/>
                <a:cs typeface="Arial" pitchFamily="34" charset="0"/>
              </a:rPr>
              <a:t>trường</a:t>
            </a:r>
            <a:r>
              <a:rPr lang="en-US" sz="2000" dirty="0">
                <a:latin typeface="Arial" pitchFamily="34" charset="0"/>
                <a:cs typeface="Arial" pitchFamily="34" charset="0"/>
              </a:rPr>
              <a:t> </a:t>
            </a:r>
            <a:r>
              <a:rPr lang="en-US" sz="2000" dirty="0" err="1">
                <a:latin typeface="Arial" pitchFamily="34" charset="0"/>
                <a:cs typeface="Arial" pitchFamily="34" charset="0"/>
              </a:rPr>
              <a:t>hợp</a:t>
            </a:r>
            <a:r>
              <a:rPr lang="en-US" sz="2000" dirty="0">
                <a:latin typeface="Arial" pitchFamily="34" charset="0"/>
                <a:cs typeface="Arial" pitchFamily="34" charset="0"/>
              </a:rPr>
              <a:t> </a:t>
            </a:r>
            <a:r>
              <a:rPr lang="en-US" sz="2000" dirty="0" err="1">
                <a:latin typeface="Arial" pitchFamily="34" charset="0"/>
                <a:cs typeface="Arial" pitchFamily="34" charset="0"/>
              </a:rPr>
              <a:t>có</a:t>
            </a:r>
            <a:r>
              <a:rPr lang="en-US" sz="2000" dirty="0">
                <a:latin typeface="Arial" pitchFamily="34" charset="0"/>
                <a:cs typeface="Arial" pitchFamily="34" charset="0"/>
              </a:rPr>
              <a:t> </a:t>
            </a:r>
            <a:r>
              <a:rPr lang="en-US" sz="2000" dirty="0" err="1">
                <a:latin typeface="Arial" pitchFamily="34" charset="0"/>
                <a:cs typeface="Arial" pitchFamily="34" charset="0"/>
              </a:rPr>
              <a:t>hội</a:t>
            </a:r>
            <a:r>
              <a:rPr lang="en-US" sz="2000" dirty="0">
                <a:latin typeface="Arial" pitchFamily="34" charset="0"/>
                <a:cs typeface="Arial" pitchFamily="34" charset="0"/>
              </a:rPr>
              <a:t> </a:t>
            </a:r>
            <a:r>
              <a:rPr lang="en-US" sz="2000" dirty="0" err="1">
                <a:latin typeface="Arial" pitchFamily="34" charset="0"/>
                <a:cs typeface="Arial" pitchFamily="34" charset="0"/>
              </a:rPr>
              <a:t>chứng</a:t>
            </a:r>
            <a:r>
              <a:rPr lang="en-US" sz="2000" dirty="0">
                <a:latin typeface="Arial" pitchFamily="34" charset="0"/>
                <a:cs typeface="Arial" pitchFamily="34" charset="0"/>
              </a:rPr>
              <a:t> tan </a:t>
            </a:r>
            <a:r>
              <a:rPr lang="en-US" sz="2000" dirty="0" err="1">
                <a:latin typeface="Arial" pitchFamily="34" charset="0"/>
                <a:cs typeface="Arial" pitchFamily="34" charset="0"/>
              </a:rPr>
              <a:t>máu</a:t>
            </a:r>
            <a:r>
              <a:rPr lang="en-US" sz="2000" dirty="0">
                <a:latin typeface="Arial" pitchFamily="34" charset="0"/>
                <a:cs typeface="Arial" pitchFamily="34" charset="0"/>
              </a:rPr>
              <a:t> </a:t>
            </a:r>
            <a:r>
              <a:rPr lang="en-US" sz="2000" dirty="0" err="1">
                <a:latin typeface="Arial" pitchFamily="34" charset="0"/>
                <a:cs typeface="Arial" pitchFamily="34" charset="0"/>
              </a:rPr>
              <a:t>urê</a:t>
            </a:r>
            <a:r>
              <a:rPr lang="en-US" sz="2000" dirty="0">
                <a:latin typeface="Arial" pitchFamily="34" charset="0"/>
                <a:cs typeface="Arial" pitchFamily="34" charset="0"/>
              </a:rPr>
              <a:t> </a:t>
            </a:r>
            <a:r>
              <a:rPr lang="en-US" sz="2000" dirty="0" err="1">
                <a:latin typeface="Arial" pitchFamily="34" charset="0"/>
                <a:cs typeface="Arial" pitchFamily="34" charset="0"/>
              </a:rPr>
              <a:t>huyết</a:t>
            </a:r>
            <a:r>
              <a:rPr lang="en-US" sz="2000" dirty="0">
                <a:latin typeface="Arial" pitchFamily="34" charset="0"/>
                <a:cs typeface="Arial" pitchFamily="34" charset="0"/>
              </a:rPr>
              <a:t> </a:t>
            </a:r>
            <a:r>
              <a:rPr lang="en-US" sz="2000" dirty="0" err="1">
                <a:latin typeface="Arial" pitchFamily="34" charset="0"/>
                <a:cs typeface="Arial" pitchFamily="34" charset="0"/>
              </a:rPr>
              <a:t>cao</a:t>
            </a:r>
            <a:r>
              <a:rPr lang="en-US" sz="2000" dirty="0">
                <a:latin typeface="Arial" pitchFamily="34" charset="0"/>
                <a:cs typeface="Arial" pitchFamily="34" charset="0"/>
              </a:rPr>
              <a:t>, </a:t>
            </a:r>
            <a:r>
              <a:rPr lang="en-US" sz="2000" dirty="0" err="1">
                <a:latin typeface="Arial" pitchFamily="34" charset="0"/>
                <a:cs typeface="Arial" pitchFamily="34" charset="0"/>
              </a:rPr>
              <a:t>có</a:t>
            </a:r>
            <a:r>
              <a:rPr lang="en-US" sz="2000" dirty="0">
                <a:latin typeface="Arial" pitchFamily="34" charset="0"/>
                <a:cs typeface="Arial" pitchFamily="34" charset="0"/>
              </a:rPr>
              <a:t> </a:t>
            </a:r>
            <a:r>
              <a:rPr lang="en-US" sz="2000" dirty="0" err="1">
                <a:latin typeface="Arial" pitchFamily="34" charset="0"/>
                <a:cs typeface="Arial" pitchFamily="34" charset="0"/>
              </a:rPr>
              <a:t>biểu</a:t>
            </a:r>
            <a:r>
              <a:rPr lang="en-US" sz="2000" dirty="0">
                <a:latin typeface="Arial" pitchFamily="34" charset="0"/>
                <a:cs typeface="Arial" pitchFamily="34" charset="0"/>
              </a:rPr>
              <a:t> </a:t>
            </a:r>
            <a:r>
              <a:rPr lang="en-US" sz="2000" dirty="0" err="1">
                <a:latin typeface="Arial" pitchFamily="34" charset="0"/>
                <a:cs typeface="Arial" pitchFamily="34" charset="0"/>
              </a:rPr>
              <a:t>hiện</a:t>
            </a:r>
            <a:r>
              <a:rPr lang="en-US" sz="2000" dirty="0">
                <a:latin typeface="Arial" pitchFamily="34" charset="0"/>
                <a:cs typeface="Arial" pitchFamily="34" charset="0"/>
              </a:rPr>
              <a:t> </a:t>
            </a:r>
            <a:r>
              <a:rPr lang="en-US" sz="2000" dirty="0" err="1">
                <a:latin typeface="Arial" pitchFamily="34" charset="0"/>
                <a:cs typeface="Arial" pitchFamily="34" charset="0"/>
              </a:rPr>
              <a:t>thiếu</a:t>
            </a:r>
            <a:r>
              <a:rPr lang="en-US" sz="2000" dirty="0">
                <a:latin typeface="Arial" pitchFamily="34" charset="0"/>
                <a:cs typeface="Arial" pitchFamily="34" charset="0"/>
              </a:rPr>
              <a:t> </a:t>
            </a:r>
            <a:r>
              <a:rPr lang="en-US" sz="2000" dirty="0" err="1">
                <a:latin typeface="Arial" pitchFamily="34" charset="0"/>
                <a:cs typeface="Arial" pitchFamily="34" charset="0"/>
              </a:rPr>
              <a:t>máu</a:t>
            </a:r>
            <a:r>
              <a:rPr lang="en-US" sz="2000" dirty="0">
                <a:latin typeface="Arial" pitchFamily="34" charset="0"/>
                <a:cs typeface="Arial" pitchFamily="34" charset="0"/>
              </a:rPr>
              <a:t>: </a:t>
            </a:r>
            <a:r>
              <a:rPr lang="en-US" sz="2000" dirty="0" err="1">
                <a:latin typeface="Arial" pitchFamily="34" charset="0"/>
                <a:cs typeface="Arial" pitchFamily="34" charset="0"/>
              </a:rPr>
              <a:t>hồng</a:t>
            </a:r>
            <a:r>
              <a:rPr lang="en-US" sz="2000" dirty="0">
                <a:latin typeface="Arial" pitchFamily="34" charset="0"/>
                <a:cs typeface="Arial" pitchFamily="34" charset="0"/>
              </a:rPr>
              <a:t> </a:t>
            </a:r>
            <a:r>
              <a:rPr lang="en-US" sz="2000" dirty="0" err="1">
                <a:latin typeface="Arial" pitchFamily="34" charset="0"/>
                <a:cs typeface="Arial" pitchFamily="34" charset="0"/>
              </a:rPr>
              <a:t>cầu</a:t>
            </a:r>
            <a:r>
              <a:rPr lang="en-US" sz="2000" dirty="0">
                <a:latin typeface="Arial" pitchFamily="34" charset="0"/>
                <a:cs typeface="Arial" pitchFamily="34" charset="0"/>
              </a:rPr>
              <a:t>, hemoglobin </a:t>
            </a:r>
            <a:r>
              <a:rPr lang="en-US" sz="2000" dirty="0" err="1">
                <a:latin typeface="Arial" pitchFamily="34" charset="0"/>
                <a:cs typeface="Arial" pitchFamily="34" charset="0"/>
              </a:rPr>
              <a:t>và</a:t>
            </a:r>
            <a:r>
              <a:rPr lang="en-US" sz="2000" dirty="0">
                <a:latin typeface="Arial" pitchFamily="34" charset="0"/>
                <a:cs typeface="Arial" pitchFamily="34" charset="0"/>
              </a:rPr>
              <a:t> hematocrit </a:t>
            </a:r>
            <a:r>
              <a:rPr lang="en-US" sz="2000" dirty="0" err="1">
                <a:latin typeface="Arial" pitchFamily="34" charset="0"/>
                <a:cs typeface="Arial" pitchFamily="34" charset="0"/>
              </a:rPr>
              <a:t>giảm</a:t>
            </a:r>
            <a:r>
              <a:rPr lang="en-US" sz="2000" dirty="0">
                <a:latin typeface="Arial" pitchFamily="34" charset="0"/>
                <a:cs typeface="Arial" pitchFamily="34" charset="0"/>
              </a:rPr>
              <a:t>, </a:t>
            </a:r>
            <a:r>
              <a:rPr lang="en-US" sz="2000" dirty="0" err="1">
                <a:latin typeface="Arial" pitchFamily="34" charset="0"/>
                <a:cs typeface="Arial" pitchFamily="34" charset="0"/>
              </a:rPr>
              <a:t>tiểu</a:t>
            </a:r>
            <a:r>
              <a:rPr lang="en-US" sz="2000" dirty="0">
                <a:latin typeface="Arial" pitchFamily="34" charset="0"/>
                <a:cs typeface="Arial" pitchFamily="34" charset="0"/>
              </a:rPr>
              <a:t> </a:t>
            </a:r>
            <a:r>
              <a:rPr lang="en-US" sz="2000" dirty="0" err="1">
                <a:latin typeface="Arial" pitchFamily="34" charset="0"/>
                <a:cs typeface="Arial" pitchFamily="34" charset="0"/>
              </a:rPr>
              <a:t>cầu</a:t>
            </a:r>
            <a:r>
              <a:rPr lang="en-US" sz="2000" dirty="0">
                <a:latin typeface="Arial" pitchFamily="34" charset="0"/>
                <a:cs typeface="Arial" pitchFamily="34" charset="0"/>
              </a:rPr>
              <a:t> </a:t>
            </a:r>
            <a:r>
              <a:rPr lang="en-US" sz="2000" dirty="0" err="1">
                <a:latin typeface="Arial" pitchFamily="34" charset="0"/>
                <a:cs typeface="Arial" pitchFamily="34" charset="0"/>
              </a:rPr>
              <a:t>giảm</a:t>
            </a:r>
            <a:r>
              <a:rPr lang="en-US" sz="2000" dirty="0">
                <a:latin typeface="Arial" pitchFamily="34" charset="0"/>
                <a:cs typeface="Arial" pitchFamily="34" charset="0"/>
              </a:rPr>
              <a:t>, </a:t>
            </a:r>
            <a:r>
              <a:rPr lang="en-US" sz="2000" dirty="0" err="1">
                <a:latin typeface="Arial" pitchFamily="34" charset="0"/>
                <a:cs typeface="Arial" pitchFamily="34" charset="0"/>
              </a:rPr>
              <a:t>ure</a:t>
            </a:r>
            <a:r>
              <a:rPr lang="en-US" sz="2000" dirty="0">
                <a:latin typeface="Arial" pitchFamily="34" charset="0"/>
                <a:cs typeface="Arial" pitchFamily="34" charset="0"/>
              </a:rPr>
              <a:t> </a:t>
            </a:r>
            <a:r>
              <a:rPr lang="en-US" sz="2000" dirty="0" err="1">
                <a:latin typeface="Arial" pitchFamily="34" charset="0"/>
                <a:cs typeface="Arial" pitchFamily="34" charset="0"/>
              </a:rPr>
              <a:t>và</a:t>
            </a:r>
            <a:r>
              <a:rPr lang="en-US" sz="2000" dirty="0">
                <a:latin typeface="Arial" pitchFamily="34" charset="0"/>
                <a:cs typeface="Arial" pitchFamily="34" charset="0"/>
              </a:rPr>
              <a:t> </a:t>
            </a:r>
            <a:r>
              <a:rPr lang="en-US" sz="2000" dirty="0" err="1">
                <a:latin typeface="Arial" pitchFamily="34" charset="0"/>
                <a:cs typeface="Arial" pitchFamily="34" charset="0"/>
              </a:rPr>
              <a:t>creatinin</a:t>
            </a:r>
            <a:r>
              <a:rPr lang="en-US" sz="2000" dirty="0">
                <a:latin typeface="Arial" pitchFamily="34" charset="0"/>
                <a:cs typeface="Arial" pitchFamily="34" charset="0"/>
              </a:rPr>
              <a:t> </a:t>
            </a:r>
            <a:r>
              <a:rPr lang="en-US" sz="2000" dirty="0" err="1">
                <a:latin typeface="Arial" pitchFamily="34" charset="0"/>
                <a:cs typeface="Arial" pitchFamily="34" charset="0"/>
              </a:rPr>
              <a:t>máu</a:t>
            </a:r>
            <a:r>
              <a:rPr lang="en-US" sz="2000" dirty="0">
                <a:latin typeface="Arial" pitchFamily="34" charset="0"/>
                <a:cs typeface="Arial" pitchFamily="34" charset="0"/>
              </a:rPr>
              <a:t> tang</a:t>
            </a:r>
          </a:p>
          <a:p>
            <a:pPr algn="just">
              <a:buFont typeface="Arial" panose="020B0604020202020204" pitchFamily="34" charset="0"/>
              <a:buChar char="•"/>
            </a:pPr>
            <a:r>
              <a:rPr lang="en-US" sz="2000" dirty="0" err="1">
                <a:latin typeface="Arial" pitchFamily="34" charset="0"/>
                <a:cs typeface="Arial" pitchFamily="34" charset="0"/>
              </a:rPr>
              <a:t>Rối</a:t>
            </a:r>
            <a:r>
              <a:rPr lang="en-US" sz="2000" dirty="0">
                <a:latin typeface="Arial" pitchFamily="34" charset="0"/>
                <a:cs typeface="Arial" pitchFamily="34" charset="0"/>
              </a:rPr>
              <a:t> </a:t>
            </a:r>
            <a:r>
              <a:rPr lang="en-US" sz="2000" dirty="0" err="1">
                <a:latin typeface="Arial" pitchFamily="34" charset="0"/>
                <a:cs typeface="Arial" pitchFamily="34" charset="0"/>
              </a:rPr>
              <a:t>loạn</a:t>
            </a:r>
            <a:r>
              <a:rPr lang="en-US" sz="2000" dirty="0">
                <a:latin typeface="Arial" pitchFamily="34" charset="0"/>
                <a:cs typeface="Arial" pitchFamily="34" charset="0"/>
              </a:rPr>
              <a:t> </a:t>
            </a:r>
            <a:r>
              <a:rPr lang="en-US" sz="2000" dirty="0" err="1">
                <a:latin typeface="Arial" pitchFamily="34" charset="0"/>
                <a:cs typeface="Arial" pitchFamily="34" charset="0"/>
              </a:rPr>
              <a:t>điện</a:t>
            </a:r>
            <a:r>
              <a:rPr lang="en-US" sz="2000" dirty="0">
                <a:latin typeface="Arial" pitchFamily="34" charset="0"/>
                <a:cs typeface="Arial" pitchFamily="34" charset="0"/>
              </a:rPr>
              <a:t> </a:t>
            </a:r>
            <a:r>
              <a:rPr lang="en-US" sz="2000" dirty="0" err="1">
                <a:latin typeface="Arial" pitchFamily="34" charset="0"/>
                <a:cs typeface="Arial" pitchFamily="34" charset="0"/>
              </a:rPr>
              <a:t>giải</a:t>
            </a:r>
            <a:r>
              <a:rPr lang="en-US" sz="2000" dirty="0">
                <a:latin typeface="Arial" pitchFamily="34" charset="0"/>
                <a:cs typeface="Arial" pitchFamily="34" charset="0"/>
              </a:rPr>
              <a:t>: </a:t>
            </a:r>
            <a:r>
              <a:rPr lang="en-US" sz="2000" dirty="0" err="1">
                <a:latin typeface="Arial" pitchFamily="34" charset="0"/>
                <a:cs typeface="Arial" pitchFamily="34" charset="0"/>
              </a:rPr>
              <a:t>Natri</a:t>
            </a:r>
            <a:r>
              <a:rPr lang="en-US" sz="2000" dirty="0">
                <a:latin typeface="Arial" pitchFamily="34" charset="0"/>
                <a:cs typeface="Arial" pitchFamily="34" charset="0"/>
              </a:rPr>
              <a:t>, Kali,HCO3 </a:t>
            </a:r>
            <a:r>
              <a:rPr lang="en-US" sz="2000" dirty="0" err="1">
                <a:latin typeface="Arial" pitchFamily="34" charset="0"/>
                <a:cs typeface="Arial" pitchFamily="34" charset="0"/>
              </a:rPr>
              <a:t>trong</a:t>
            </a:r>
            <a:r>
              <a:rPr lang="en-US" sz="2000" dirty="0">
                <a:latin typeface="Arial" pitchFamily="34" charset="0"/>
                <a:cs typeface="Arial" pitchFamily="34" charset="0"/>
              </a:rPr>
              <a:t> </a:t>
            </a:r>
            <a:r>
              <a:rPr lang="en-US" sz="2000" dirty="0" err="1">
                <a:latin typeface="Arial" pitchFamily="34" charset="0"/>
                <a:cs typeface="Arial" pitchFamily="34" charset="0"/>
              </a:rPr>
              <a:t>trường</a:t>
            </a:r>
            <a:r>
              <a:rPr lang="en-US" sz="2000" dirty="0">
                <a:latin typeface="Arial" pitchFamily="34" charset="0"/>
                <a:cs typeface="Arial" pitchFamily="34" charset="0"/>
              </a:rPr>
              <a:t> </a:t>
            </a:r>
            <a:r>
              <a:rPr lang="en-US" sz="2000" dirty="0" err="1">
                <a:latin typeface="Arial" pitchFamily="34" charset="0"/>
                <a:cs typeface="Arial" pitchFamily="34" charset="0"/>
              </a:rPr>
              <a:t>hợp</a:t>
            </a:r>
            <a:r>
              <a:rPr lang="en-US" sz="2000" dirty="0">
                <a:latin typeface="Arial" pitchFamily="34" charset="0"/>
                <a:cs typeface="Arial" pitchFamily="34" charset="0"/>
              </a:rPr>
              <a:t> </a:t>
            </a:r>
            <a:r>
              <a:rPr lang="en-US" sz="2000" dirty="0" err="1">
                <a:latin typeface="Arial" pitchFamily="34" charset="0"/>
                <a:cs typeface="Arial" pitchFamily="34" charset="0"/>
              </a:rPr>
              <a:t>mất</a:t>
            </a:r>
            <a:r>
              <a:rPr lang="en-US" sz="2000" dirty="0">
                <a:latin typeface="Arial" pitchFamily="34" charset="0"/>
                <a:cs typeface="Arial" pitchFamily="34" charset="0"/>
              </a:rPr>
              <a:t> </a:t>
            </a:r>
            <a:r>
              <a:rPr lang="en-US" sz="2000" dirty="0" err="1" smtClean="0">
                <a:latin typeface="Arial" pitchFamily="34" charset="0"/>
                <a:cs typeface="Arial" pitchFamily="34" charset="0"/>
              </a:rPr>
              <a:t>nước</a:t>
            </a:r>
            <a:r>
              <a:rPr lang="en-US" sz="2000" dirty="0" smtClean="0">
                <a:latin typeface="Arial" pitchFamily="34" charset="0"/>
                <a:cs typeface="Arial" pitchFamily="34" charset="0"/>
              </a:rPr>
              <a:t>.</a:t>
            </a:r>
            <a:endParaRPr lang="en-US" sz="2000" dirty="0">
              <a:latin typeface="Arial" pitchFamily="34" charset="0"/>
              <a:cs typeface="Arial" pitchFamily="34" charset="0"/>
            </a:endParaRPr>
          </a:p>
          <a:p>
            <a:pPr algn="just">
              <a:buFont typeface="Arial" panose="020B0604020202020204" pitchFamily="34" charset="0"/>
              <a:buChar char="•"/>
            </a:pPr>
            <a:r>
              <a:rPr lang="en-US" sz="2000" dirty="0" err="1">
                <a:latin typeface="Arial" pitchFamily="34" charset="0"/>
                <a:cs typeface="Arial" pitchFamily="34" charset="0"/>
              </a:rPr>
              <a:t>Cấy</a:t>
            </a:r>
            <a:r>
              <a:rPr lang="en-US" sz="2000" dirty="0">
                <a:latin typeface="Arial" pitchFamily="34" charset="0"/>
                <a:cs typeface="Arial" pitchFamily="34" charset="0"/>
              </a:rPr>
              <a:t> </a:t>
            </a:r>
            <a:r>
              <a:rPr lang="en-US" sz="2000" dirty="0" err="1">
                <a:latin typeface="Arial" pitchFamily="34" charset="0"/>
                <a:cs typeface="Arial" pitchFamily="34" charset="0"/>
              </a:rPr>
              <a:t>máu</a:t>
            </a:r>
            <a:r>
              <a:rPr lang="en-US" sz="2000" dirty="0">
                <a:latin typeface="Arial" pitchFamily="34" charset="0"/>
                <a:cs typeface="Arial" pitchFamily="34" charset="0"/>
              </a:rPr>
              <a:t> </a:t>
            </a:r>
            <a:r>
              <a:rPr lang="en-US" sz="2000" dirty="0" err="1">
                <a:latin typeface="Arial" pitchFamily="34" charset="0"/>
                <a:cs typeface="Arial" pitchFamily="34" charset="0"/>
              </a:rPr>
              <a:t>được</a:t>
            </a:r>
            <a:r>
              <a:rPr lang="en-US" sz="2000" dirty="0">
                <a:latin typeface="Arial" pitchFamily="34" charset="0"/>
                <a:cs typeface="Arial" pitchFamily="34" charset="0"/>
              </a:rPr>
              <a:t> </a:t>
            </a:r>
            <a:r>
              <a:rPr lang="en-US" sz="2000" dirty="0" err="1">
                <a:latin typeface="Arial" pitchFamily="34" charset="0"/>
                <a:cs typeface="Arial" pitchFamily="34" charset="0"/>
              </a:rPr>
              <a:t>đặt</a:t>
            </a:r>
            <a:r>
              <a:rPr lang="en-US" sz="2000" dirty="0">
                <a:latin typeface="Arial" pitchFamily="34" charset="0"/>
                <a:cs typeface="Arial" pitchFamily="34" charset="0"/>
              </a:rPr>
              <a:t> </a:t>
            </a:r>
            <a:r>
              <a:rPr lang="en-US" sz="2000" dirty="0" err="1">
                <a:latin typeface="Arial" pitchFamily="34" charset="0"/>
                <a:cs typeface="Arial" pitchFamily="34" charset="0"/>
              </a:rPr>
              <a:t>ra</a:t>
            </a:r>
            <a:r>
              <a:rPr lang="en-US" sz="2000" dirty="0">
                <a:latin typeface="Arial" pitchFamily="34" charset="0"/>
                <a:cs typeface="Arial" pitchFamily="34" charset="0"/>
              </a:rPr>
              <a:t> </a:t>
            </a:r>
            <a:r>
              <a:rPr lang="en-US" sz="2000" dirty="0" err="1">
                <a:latin typeface="Arial" pitchFamily="34" charset="0"/>
                <a:cs typeface="Arial" pitchFamily="34" charset="0"/>
              </a:rPr>
              <a:t>với</a:t>
            </a:r>
            <a:r>
              <a:rPr lang="en-US" sz="2000" dirty="0">
                <a:latin typeface="Arial" pitchFamily="34" charset="0"/>
                <a:cs typeface="Arial" pitchFamily="34" charset="0"/>
              </a:rPr>
              <a:t> </a:t>
            </a:r>
            <a:r>
              <a:rPr lang="en-US" sz="2000" dirty="0" err="1">
                <a:latin typeface="Arial" pitchFamily="34" charset="0"/>
                <a:cs typeface="Arial" pitchFamily="34" charset="0"/>
              </a:rPr>
              <a:t>bệnh</a:t>
            </a:r>
            <a:r>
              <a:rPr lang="en-US" sz="2000" dirty="0">
                <a:latin typeface="Arial" pitchFamily="34" charset="0"/>
                <a:cs typeface="Arial" pitchFamily="34" charset="0"/>
              </a:rPr>
              <a:t> </a:t>
            </a:r>
            <a:r>
              <a:rPr lang="en-US" sz="2000" dirty="0" err="1">
                <a:latin typeface="Arial" pitchFamily="34" charset="0"/>
                <a:cs typeface="Arial" pitchFamily="34" charset="0"/>
              </a:rPr>
              <a:t>nhân</a:t>
            </a:r>
            <a:r>
              <a:rPr lang="en-US" sz="2000" dirty="0">
                <a:latin typeface="Arial" pitchFamily="34" charset="0"/>
                <a:cs typeface="Arial" pitchFamily="34" charset="0"/>
              </a:rPr>
              <a:t> </a:t>
            </a:r>
            <a:r>
              <a:rPr lang="en-US" sz="2000" dirty="0" err="1">
                <a:latin typeface="Arial" pitchFamily="34" charset="0"/>
                <a:cs typeface="Arial" pitchFamily="34" charset="0"/>
              </a:rPr>
              <a:t>suy</a:t>
            </a:r>
            <a:r>
              <a:rPr lang="en-US" sz="2000" dirty="0">
                <a:latin typeface="Arial" pitchFamily="34" charset="0"/>
                <a:cs typeface="Arial" pitchFamily="34" charset="0"/>
              </a:rPr>
              <a:t> </a:t>
            </a:r>
            <a:r>
              <a:rPr lang="en-US" sz="2000" dirty="0" err="1">
                <a:latin typeface="Arial" pitchFamily="34" charset="0"/>
                <a:cs typeface="Arial" pitchFamily="34" charset="0"/>
              </a:rPr>
              <a:t>dinh</a:t>
            </a:r>
            <a:r>
              <a:rPr lang="en-US" sz="2000" dirty="0">
                <a:latin typeface="Arial" pitchFamily="34" charset="0"/>
                <a:cs typeface="Arial" pitchFamily="34" charset="0"/>
              </a:rPr>
              <a:t> </a:t>
            </a:r>
            <a:r>
              <a:rPr lang="en-US" sz="2000" dirty="0" err="1">
                <a:latin typeface="Arial" pitchFamily="34" charset="0"/>
                <a:cs typeface="Arial" pitchFamily="34" charset="0"/>
              </a:rPr>
              <a:t>dưỡng</a:t>
            </a:r>
            <a:r>
              <a:rPr lang="en-US" sz="2000" dirty="0">
                <a:latin typeface="Arial" pitchFamily="34" charset="0"/>
                <a:cs typeface="Arial" pitchFamily="34" charset="0"/>
              </a:rPr>
              <a:t>, </a:t>
            </a:r>
            <a:r>
              <a:rPr lang="en-US" sz="2000" dirty="0" err="1">
                <a:latin typeface="Arial" pitchFamily="34" charset="0"/>
                <a:cs typeface="Arial" pitchFamily="34" charset="0"/>
              </a:rPr>
              <a:t>suy</a:t>
            </a:r>
            <a:r>
              <a:rPr lang="en-US" sz="2000" dirty="0">
                <a:latin typeface="Arial" pitchFamily="34" charset="0"/>
                <a:cs typeface="Arial" pitchFamily="34" charset="0"/>
              </a:rPr>
              <a:t> </a:t>
            </a:r>
            <a:r>
              <a:rPr lang="en-US" sz="2000" dirty="0" err="1">
                <a:latin typeface="Arial" pitchFamily="34" charset="0"/>
                <a:cs typeface="Arial" pitchFamily="34" charset="0"/>
              </a:rPr>
              <a:t>giảm</a:t>
            </a:r>
            <a:r>
              <a:rPr lang="en-US" sz="2000" dirty="0">
                <a:latin typeface="Arial" pitchFamily="34" charset="0"/>
                <a:cs typeface="Arial" pitchFamily="34" charset="0"/>
              </a:rPr>
              <a:t> </a:t>
            </a:r>
            <a:r>
              <a:rPr lang="en-US" sz="2000" dirty="0" err="1" smtClean="0">
                <a:latin typeface="Arial" pitchFamily="34" charset="0"/>
                <a:cs typeface="Arial" pitchFamily="34" charset="0"/>
              </a:rPr>
              <a:t>miễn</a:t>
            </a:r>
            <a:r>
              <a:rPr lang="en-US" sz="2000" dirty="0" smtClean="0">
                <a:latin typeface="Arial" pitchFamily="34" charset="0"/>
                <a:cs typeface="Arial" pitchFamily="34" charset="0"/>
              </a:rPr>
              <a:t> </a:t>
            </a:r>
            <a:r>
              <a:rPr lang="en-US" sz="2000" dirty="0" err="1">
                <a:latin typeface="Arial" pitchFamily="34" charset="0"/>
                <a:cs typeface="Arial" pitchFamily="34" charset="0"/>
              </a:rPr>
              <a:t>dịch</a:t>
            </a:r>
            <a:r>
              <a:rPr lang="en-US" sz="2000" dirty="0">
                <a:latin typeface="Arial" pitchFamily="34" charset="0"/>
                <a:cs typeface="Arial" pitchFamily="34" charset="0"/>
              </a:rPr>
              <a:t>.</a:t>
            </a:r>
          </a:p>
          <a:p>
            <a:pPr algn="just">
              <a:buFont typeface="Arial" panose="020B0604020202020204" pitchFamily="34" charset="0"/>
              <a:buChar char="•"/>
            </a:pPr>
            <a:r>
              <a:rPr lang="en-US" sz="2000" dirty="0" err="1">
                <a:latin typeface="Arial" pitchFamily="34" charset="0"/>
                <a:cs typeface="Arial" pitchFamily="34" charset="0"/>
              </a:rPr>
              <a:t>Phương</a:t>
            </a:r>
            <a:r>
              <a:rPr lang="en-US" sz="2000" dirty="0">
                <a:latin typeface="Arial" pitchFamily="34" charset="0"/>
                <a:cs typeface="Arial" pitchFamily="34" charset="0"/>
              </a:rPr>
              <a:t> </a:t>
            </a:r>
            <a:r>
              <a:rPr lang="en-US" sz="2000" dirty="0" err="1">
                <a:latin typeface="Arial" pitchFamily="34" charset="0"/>
                <a:cs typeface="Arial" pitchFamily="34" charset="0"/>
              </a:rPr>
              <a:t>pháp</a:t>
            </a:r>
            <a:r>
              <a:rPr lang="en-US" sz="2000" dirty="0">
                <a:latin typeface="Arial" pitchFamily="34" charset="0"/>
                <a:cs typeface="Arial" pitchFamily="34" charset="0"/>
              </a:rPr>
              <a:t> </a:t>
            </a:r>
            <a:r>
              <a:rPr lang="en-US" sz="2000" dirty="0" err="1">
                <a:latin typeface="Arial" pitchFamily="34" charset="0"/>
                <a:cs typeface="Arial" pitchFamily="34" charset="0"/>
              </a:rPr>
              <a:t>chẩn</a:t>
            </a:r>
            <a:r>
              <a:rPr lang="en-US" sz="2000" dirty="0">
                <a:latin typeface="Arial" pitchFamily="34" charset="0"/>
                <a:cs typeface="Arial" pitchFamily="34" charset="0"/>
              </a:rPr>
              <a:t> </a:t>
            </a:r>
            <a:r>
              <a:rPr lang="en-US" sz="2000" dirty="0" err="1">
                <a:latin typeface="Arial" pitchFamily="34" charset="0"/>
                <a:cs typeface="Arial" pitchFamily="34" charset="0"/>
              </a:rPr>
              <a:t>đoán</a:t>
            </a:r>
            <a:r>
              <a:rPr lang="en-US" sz="2000" dirty="0">
                <a:latin typeface="Arial" pitchFamily="34" charset="0"/>
                <a:cs typeface="Arial" pitchFamily="34" charset="0"/>
              </a:rPr>
              <a:t> </a:t>
            </a:r>
            <a:r>
              <a:rPr lang="en-US" sz="2000" dirty="0" err="1">
                <a:latin typeface="Arial" pitchFamily="34" charset="0"/>
                <a:cs typeface="Arial" pitchFamily="34" charset="0"/>
              </a:rPr>
              <a:t>huyết</a:t>
            </a:r>
            <a:r>
              <a:rPr lang="en-US" sz="2000" dirty="0">
                <a:latin typeface="Arial" pitchFamily="34" charset="0"/>
                <a:cs typeface="Arial" pitchFamily="34" charset="0"/>
              </a:rPr>
              <a:t> </a:t>
            </a:r>
            <a:r>
              <a:rPr lang="en-US" sz="2000" dirty="0" err="1">
                <a:latin typeface="Arial" pitchFamily="34" charset="0"/>
                <a:cs typeface="Arial" pitchFamily="34" charset="0"/>
              </a:rPr>
              <a:t>thanh</a:t>
            </a:r>
            <a:r>
              <a:rPr lang="en-US" sz="2000" dirty="0">
                <a:latin typeface="Arial" pitchFamily="34" charset="0"/>
                <a:cs typeface="Arial" pitchFamily="34" charset="0"/>
              </a:rPr>
              <a:t>: </a:t>
            </a:r>
            <a:r>
              <a:rPr lang="en-US" sz="2000" dirty="0" err="1">
                <a:latin typeface="Arial" pitchFamily="34" charset="0"/>
                <a:cs typeface="Arial" pitchFamily="34" charset="0"/>
              </a:rPr>
              <a:t>ngưng</a:t>
            </a:r>
            <a:r>
              <a:rPr lang="en-US" sz="2000" dirty="0">
                <a:latin typeface="Arial" pitchFamily="34" charset="0"/>
                <a:cs typeface="Arial" pitchFamily="34" charset="0"/>
              </a:rPr>
              <a:t> </a:t>
            </a:r>
            <a:r>
              <a:rPr lang="en-US" sz="2000" dirty="0" err="1">
                <a:latin typeface="Arial" pitchFamily="34" charset="0"/>
                <a:cs typeface="Arial" pitchFamily="34" charset="0"/>
              </a:rPr>
              <a:t>kết</a:t>
            </a:r>
            <a:r>
              <a:rPr lang="en-US" sz="2000" dirty="0">
                <a:latin typeface="Arial" pitchFamily="34" charset="0"/>
                <a:cs typeface="Arial" pitchFamily="34" charset="0"/>
              </a:rPr>
              <a:t> </a:t>
            </a:r>
            <a:r>
              <a:rPr lang="en-US" sz="2000" dirty="0" err="1">
                <a:latin typeface="Arial" pitchFamily="34" charset="0"/>
                <a:cs typeface="Arial" pitchFamily="34" charset="0"/>
              </a:rPr>
              <a:t>hồng</a:t>
            </a:r>
            <a:r>
              <a:rPr lang="en-US" sz="2000" dirty="0">
                <a:latin typeface="Arial" pitchFamily="34" charset="0"/>
                <a:cs typeface="Arial" pitchFamily="34" charset="0"/>
              </a:rPr>
              <a:t> </a:t>
            </a:r>
            <a:r>
              <a:rPr lang="en-US" sz="2000" dirty="0" err="1">
                <a:latin typeface="Arial" pitchFamily="34" charset="0"/>
                <a:cs typeface="Arial" pitchFamily="34" charset="0"/>
              </a:rPr>
              <a:t>cầu</a:t>
            </a:r>
            <a:r>
              <a:rPr lang="en-US" sz="2000" dirty="0">
                <a:latin typeface="Arial" pitchFamily="34" charset="0"/>
                <a:cs typeface="Arial" pitchFamily="34" charset="0"/>
              </a:rPr>
              <a:t> </a:t>
            </a:r>
            <a:r>
              <a:rPr lang="en-US" sz="2000" dirty="0" err="1">
                <a:latin typeface="Arial" pitchFamily="34" charset="0"/>
                <a:cs typeface="Arial" pitchFamily="34" charset="0"/>
              </a:rPr>
              <a:t>rất</a:t>
            </a:r>
            <a:r>
              <a:rPr lang="en-US" sz="2000" dirty="0">
                <a:latin typeface="Arial" pitchFamily="34" charset="0"/>
                <a:cs typeface="Arial" pitchFamily="34" charset="0"/>
              </a:rPr>
              <a:t> </a:t>
            </a:r>
            <a:r>
              <a:rPr lang="en-US" sz="2000" dirty="0" err="1">
                <a:latin typeface="Arial" pitchFamily="34" charset="0"/>
                <a:cs typeface="Arial" pitchFamily="34" charset="0"/>
              </a:rPr>
              <a:t>nhạy</a:t>
            </a:r>
            <a:r>
              <a:rPr lang="en-US" sz="2000" dirty="0">
                <a:latin typeface="Arial" pitchFamily="34" charset="0"/>
                <a:cs typeface="Arial" pitchFamily="34" charset="0"/>
              </a:rPr>
              <a:t> </a:t>
            </a:r>
            <a:r>
              <a:rPr lang="en-US" sz="2000" dirty="0" err="1">
                <a:latin typeface="Arial" pitchFamily="34" charset="0"/>
                <a:cs typeface="Arial" pitchFamily="34" charset="0"/>
              </a:rPr>
              <a:t>cảm</a:t>
            </a:r>
            <a:r>
              <a:rPr lang="en-US" sz="2000" dirty="0">
                <a:latin typeface="Arial" pitchFamily="34" charset="0"/>
                <a:cs typeface="Arial" pitchFamily="34" charset="0"/>
              </a:rPr>
              <a:t> </a:t>
            </a:r>
            <a:r>
              <a:rPr lang="en-US" sz="2000" dirty="0" err="1">
                <a:latin typeface="Arial" pitchFamily="34" charset="0"/>
                <a:cs typeface="Arial" pitchFamily="34" charset="0"/>
              </a:rPr>
              <a:t>và</a:t>
            </a:r>
            <a:r>
              <a:rPr lang="en-US" sz="2000" dirty="0">
                <a:latin typeface="Arial" pitchFamily="34" charset="0"/>
                <a:cs typeface="Arial" pitchFamily="34" charset="0"/>
              </a:rPr>
              <a:t> </a:t>
            </a:r>
            <a:r>
              <a:rPr lang="en-US" sz="2000" dirty="0" err="1">
                <a:latin typeface="Arial" pitchFamily="34" charset="0"/>
                <a:cs typeface="Arial" pitchFamily="34" charset="0"/>
              </a:rPr>
              <a:t>mang</a:t>
            </a:r>
            <a:r>
              <a:rPr lang="en-US" sz="2000" dirty="0">
                <a:latin typeface="Arial" pitchFamily="34" charset="0"/>
                <a:cs typeface="Arial" pitchFamily="34" charset="0"/>
              </a:rPr>
              <a:t> </a:t>
            </a:r>
            <a:r>
              <a:rPr lang="en-US" sz="2000" dirty="0" err="1">
                <a:latin typeface="Arial" pitchFamily="34" charset="0"/>
                <a:cs typeface="Arial" pitchFamily="34" charset="0"/>
              </a:rPr>
              <a:t>tính</a:t>
            </a:r>
            <a:r>
              <a:rPr lang="en-US" sz="2000" dirty="0">
                <a:latin typeface="Arial" pitchFamily="34" charset="0"/>
                <a:cs typeface="Arial" pitchFamily="34" charset="0"/>
              </a:rPr>
              <a:t> </a:t>
            </a:r>
            <a:r>
              <a:rPr lang="en-US" sz="2000" dirty="0" err="1">
                <a:latin typeface="Arial" pitchFamily="34" charset="0"/>
                <a:cs typeface="Arial" pitchFamily="34" charset="0"/>
              </a:rPr>
              <a:t>đặc</a:t>
            </a:r>
            <a:r>
              <a:rPr lang="en-US" sz="2000" dirty="0">
                <a:latin typeface="Arial" pitchFamily="34" charset="0"/>
                <a:cs typeface="Arial" pitchFamily="34" charset="0"/>
              </a:rPr>
              <a:t> </a:t>
            </a:r>
            <a:r>
              <a:rPr lang="en-US" sz="2000" dirty="0" err="1">
                <a:latin typeface="Arial" pitchFamily="34" charset="0"/>
                <a:cs typeface="Arial" pitchFamily="34" charset="0"/>
              </a:rPr>
              <a:t>hiệu</a:t>
            </a:r>
            <a:r>
              <a:rPr lang="en-US" sz="2000" dirty="0">
                <a:latin typeface="Arial" pitchFamily="34" charset="0"/>
                <a:cs typeface="Arial" pitchFamily="34" charset="0"/>
              </a:rPr>
              <a:t> </a:t>
            </a:r>
            <a:r>
              <a:rPr lang="en-US" sz="2000" dirty="0" err="1">
                <a:latin typeface="Arial" pitchFamily="34" charset="0"/>
                <a:cs typeface="Arial" pitchFamily="34" charset="0"/>
              </a:rPr>
              <a:t>có</a:t>
            </a:r>
            <a:r>
              <a:rPr lang="en-US" sz="2000" dirty="0">
                <a:latin typeface="Arial" pitchFamily="34" charset="0"/>
                <a:cs typeface="Arial" pitchFamily="34" charset="0"/>
              </a:rPr>
              <a:t> </a:t>
            </a:r>
            <a:r>
              <a:rPr lang="en-US" sz="2000" dirty="0" err="1">
                <a:latin typeface="Arial" pitchFamily="34" charset="0"/>
                <a:cs typeface="Arial" pitchFamily="34" charset="0"/>
              </a:rPr>
              <a:t>giá</a:t>
            </a:r>
            <a:r>
              <a:rPr lang="en-US" sz="2000" dirty="0">
                <a:latin typeface="Arial" pitchFamily="34" charset="0"/>
                <a:cs typeface="Arial" pitchFamily="34" charset="0"/>
              </a:rPr>
              <a:t> </a:t>
            </a:r>
            <a:r>
              <a:rPr lang="en-US" sz="2000" dirty="0" err="1">
                <a:latin typeface="Arial" pitchFamily="34" charset="0"/>
                <a:cs typeface="Arial" pitchFamily="34" charset="0"/>
              </a:rPr>
              <a:t>trị</a:t>
            </a:r>
            <a:r>
              <a:rPr lang="en-US" sz="2000" dirty="0">
                <a:latin typeface="Arial" pitchFamily="34" charset="0"/>
                <a:cs typeface="Arial" pitchFamily="34" charset="0"/>
              </a:rPr>
              <a:t> </a:t>
            </a:r>
            <a:r>
              <a:rPr lang="en-US" sz="2000" dirty="0" err="1">
                <a:latin typeface="Arial" pitchFamily="34" charset="0"/>
                <a:cs typeface="Arial" pitchFamily="34" charset="0"/>
              </a:rPr>
              <a:t>trong</a:t>
            </a:r>
            <a:r>
              <a:rPr lang="en-US" sz="2000" dirty="0">
                <a:latin typeface="Arial" pitchFamily="34" charset="0"/>
                <a:cs typeface="Arial" pitchFamily="34" charset="0"/>
              </a:rPr>
              <a:t> </a:t>
            </a:r>
            <a:r>
              <a:rPr lang="en-US" sz="2000" dirty="0" err="1">
                <a:latin typeface="Arial" pitchFamily="34" charset="0"/>
                <a:cs typeface="Arial" pitchFamily="34" charset="0"/>
              </a:rPr>
              <a:t>chẩn</a:t>
            </a:r>
            <a:r>
              <a:rPr lang="en-US" sz="2000" dirty="0">
                <a:latin typeface="Arial" pitchFamily="34" charset="0"/>
                <a:cs typeface="Arial" pitchFamily="34" charset="0"/>
              </a:rPr>
              <a:t> </a:t>
            </a:r>
            <a:r>
              <a:rPr lang="en-US" sz="2000" dirty="0" err="1">
                <a:latin typeface="Arial" pitchFamily="34" charset="0"/>
                <a:cs typeface="Arial" pitchFamily="34" charset="0"/>
              </a:rPr>
              <a:t>đoán</a:t>
            </a:r>
            <a:r>
              <a:rPr lang="en-US" sz="2000" dirty="0">
                <a:latin typeface="Arial" pitchFamily="34" charset="0"/>
                <a:cs typeface="Arial" pitchFamily="34" charset="0"/>
              </a:rPr>
              <a:t> </a:t>
            </a:r>
            <a:r>
              <a:rPr lang="en-US" sz="2000" dirty="0" err="1">
                <a:latin typeface="Arial" pitchFamily="34" charset="0"/>
                <a:cs typeface="Arial" pitchFamily="34" charset="0"/>
              </a:rPr>
              <a:t>hồi</a:t>
            </a:r>
            <a:r>
              <a:rPr lang="en-US" sz="2000" dirty="0">
                <a:latin typeface="Arial" pitchFamily="34" charset="0"/>
                <a:cs typeface="Arial" pitchFamily="34" charset="0"/>
              </a:rPr>
              <a:t> </a:t>
            </a:r>
            <a:r>
              <a:rPr lang="en-US" sz="2000" dirty="0" err="1">
                <a:latin typeface="Arial" pitchFamily="34" charset="0"/>
                <a:cs typeface="Arial" pitchFamily="34" charset="0"/>
              </a:rPr>
              <a:t>cứu</a:t>
            </a:r>
            <a:r>
              <a:rPr lang="en-US" sz="2000" dirty="0">
                <a:latin typeface="Arial" pitchFamily="34" charset="0"/>
                <a:cs typeface="Arial" pitchFamily="34" charset="0"/>
              </a:rPr>
              <a:t> </a:t>
            </a:r>
            <a:r>
              <a:rPr lang="en-US" sz="2000" dirty="0" err="1">
                <a:latin typeface="Arial" pitchFamily="34" charset="0"/>
                <a:cs typeface="Arial" pitchFamily="34" charset="0"/>
              </a:rPr>
              <a:t>và</a:t>
            </a:r>
            <a:r>
              <a:rPr lang="en-US" sz="2000" dirty="0">
                <a:latin typeface="Arial" pitchFamily="34" charset="0"/>
                <a:cs typeface="Arial" pitchFamily="34" charset="0"/>
              </a:rPr>
              <a:t> </a:t>
            </a:r>
            <a:r>
              <a:rPr lang="en-US" sz="2000" dirty="0" err="1">
                <a:latin typeface="Arial" pitchFamily="34" charset="0"/>
                <a:cs typeface="Arial" pitchFamily="34" charset="0"/>
              </a:rPr>
              <a:t>lỵ</a:t>
            </a:r>
            <a:r>
              <a:rPr lang="en-US" sz="2000" dirty="0">
                <a:latin typeface="Arial" pitchFamily="34" charset="0"/>
                <a:cs typeface="Arial" pitchFamily="34" charset="0"/>
              </a:rPr>
              <a:t> </a:t>
            </a:r>
            <a:r>
              <a:rPr lang="en-US" sz="2000" dirty="0" err="1">
                <a:latin typeface="Arial" pitchFamily="34" charset="0"/>
                <a:cs typeface="Arial" pitchFamily="34" charset="0"/>
              </a:rPr>
              <a:t>trực</a:t>
            </a:r>
            <a:r>
              <a:rPr lang="en-US" sz="2000" dirty="0">
                <a:latin typeface="Arial" pitchFamily="34" charset="0"/>
                <a:cs typeface="Arial" pitchFamily="34" charset="0"/>
              </a:rPr>
              <a:t> </a:t>
            </a:r>
            <a:r>
              <a:rPr lang="en-US" sz="2000" dirty="0" err="1">
                <a:latin typeface="Arial" pitchFamily="34" charset="0"/>
                <a:cs typeface="Arial" pitchFamily="34" charset="0"/>
              </a:rPr>
              <a:t>khuẩn</a:t>
            </a:r>
            <a:r>
              <a:rPr lang="en-US" sz="2000" dirty="0">
                <a:latin typeface="Arial" pitchFamily="34" charset="0"/>
                <a:cs typeface="Arial" pitchFamily="34" charset="0"/>
              </a:rPr>
              <a:t> </a:t>
            </a:r>
            <a:r>
              <a:rPr lang="en-US" sz="2000" dirty="0" err="1">
                <a:latin typeface="Arial" pitchFamily="34" charset="0"/>
                <a:cs typeface="Arial" pitchFamily="34" charset="0"/>
              </a:rPr>
              <a:t>mạn</a:t>
            </a:r>
            <a:r>
              <a:rPr lang="en-US" sz="2000" dirty="0">
                <a:latin typeface="Arial" pitchFamily="34" charset="0"/>
                <a:cs typeface="Arial" pitchFamily="34" charset="0"/>
              </a:rPr>
              <a:t> </a:t>
            </a:r>
            <a:r>
              <a:rPr lang="en-US" sz="2000" dirty="0" err="1">
                <a:latin typeface="Arial" pitchFamily="34" charset="0"/>
                <a:cs typeface="Arial" pitchFamily="34" charset="0"/>
              </a:rPr>
              <a:t>tính</a:t>
            </a:r>
            <a:endParaRPr lang="en-US" sz="2000" dirty="0">
              <a:latin typeface="Arial" pitchFamily="34" charset="0"/>
              <a:cs typeface="Arial" pitchFamily="34" charset="0"/>
            </a:endParaRPr>
          </a:p>
          <a:p>
            <a:pPr algn="just">
              <a:buFont typeface="Arial" panose="020B0604020202020204" pitchFamily="34" charset="0"/>
              <a:buChar char="•"/>
            </a:pPr>
            <a:endParaRPr lang="en-US" sz="2000" dirty="0">
              <a:latin typeface="Arial" pitchFamily="34" charset="0"/>
              <a:cs typeface="Arial" pitchFamily="34" charset="0"/>
            </a:endParaRPr>
          </a:p>
        </p:txBody>
      </p:sp>
      <p:sp>
        <p:nvSpPr>
          <p:cNvPr id="3" name="TextBox 2"/>
          <p:cNvSpPr txBox="1"/>
          <p:nvPr/>
        </p:nvSpPr>
        <p:spPr>
          <a:xfrm>
            <a:off x="1135472" y="685800"/>
            <a:ext cx="4114800" cy="553998"/>
          </a:xfrm>
          <a:prstGeom prst="rect">
            <a:avLst/>
          </a:prstGeom>
          <a:noFill/>
        </p:spPr>
        <p:txBody>
          <a:bodyPr wrap="square" rtlCol="0">
            <a:spAutoFit/>
          </a:bodyPr>
          <a:lstStyle/>
          <a:p>
            <a:pPr algn="just"/>
            <a:r>
              <a:rPr lang="en-US" sz="3000" b="1" dirty="0">
                <a:latin typeface="Arial" pitchFamily="34" charset="0"/>
                <a:cs typeface="Arial" pitchFamily="34" charset="0"/>
              </a:rPr>
              <a:t>1. </a:t>
            </a:r>
            <a:r>
              <a:rPr lang="en-US" sz="3000" b="1" dirty="0" err="1">
                <a:latin typeface="Arial" pitchFamily="34" charset="0"/>
                <a:cs typeface="Arial" pitchFamily="34" charset="0"/>
              </a:rPr>
              <a:t>Xét</a:t>
            </a:r>
            <a:r>
              <a:rPr lang="en-US" sz="3000" b="1" dirty="0">
                <a:latin typeface="Arial" pitchFamily="34" charset="0"/>
                <a:cs typeface="Arial" pitchFamily="34" charset="0"/>
              </a:rPr>
              <a:t> </a:t>
            </a:r>
            <a:r>
              <a:rPr lang="en-US" sz="3000" b="1" dirty="0" err="1">
                <a:latin typeface="Arial" pitchFamily="34" charset="0"/>
                <a:cs typeface="Arial" pitchFamily="34" charset="0"/>
              </a:rPr>
              <a:t>nghiệm</a:t>
            </a:r>
            <a:r>
              <a:rPr lang="en-US" sz="3000" b="1" dirty="0">
                <a:latin typeface="Arial" pitchFamily="34" charset="0"/>
                <a:cs typeface="Arial" pitchFamily="34" charset="0"/>
              </a:rPr>
              <a:t> </a:t>
            </a:r>
            <a:r>
              <a:rPr lang="en-US" sz="3000" b="1" dirty="0" err="1">
                <a:latin typeface="Arial" pitchFamily="34" charset="0"/>
                <a:cs typeface="Arial" pitchFamily="34" charset="0"/>
              </a:rPr>
              <a:t>máu</a:t>
            </a:r>
            <a:r>
              <a:rPr lang="en-US" sz="3000" b="1" dirty="0">
                <a:latin typeface="Arial" pitchFamily="34" charset="0"/>
                <a:cs typeface="Arial" pitchFamily="34" charset="0"/>
              </a:rPr>
              <a:t> </a:t>
            </a:r>
          </a:p>
        </p:txBody>
      </p:sp>
    </p:spTree>
    <p:extLst>
      <p:ext uri="{BB962C8B-B14F-4D97-AF65-F5344CB8AC3E}">
        <p14:creationId xmlns:p14="http://schemas.microsoft.com/office/powerpoint/2010/main" val="29447006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a:spLocks noChangeArrowheads="1"/>
          </p:cNvSpPr>
          <p:nvPr/>
        </p:nvSpPr>
        <p:spPr bwMode="auto">
          <a:xfrm>
            <a:off x="628651" y="3741601"/>
            <a:ext cx="138564"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050">
                <a:solidFill>
                  <a:srgbClr val="333333"/>
                </a:solidFill>
                <a:latin typeface="Arial" panose="020B0604020202020204" pitchFamily="34" charset="0"/>
                <a:cs typeface="Arial" panose="020B0604020202020204" pitchFamily="34" charset="0"/>
              </a:rPr>
              <a:t/>
            </a:r>
            <a:br>
              <a:rPr lang="en-US" altLang="en-US" sz="1050">
                <a:solidFill>
                  <a:srgbClr val="333333"/>
                </a:solidFill>
                <a:latin typeface="Arial" panose="020B0604020202020204" pitchFamily="34" charset="0"/>
                <a:cs typeface="Arial" panose="020B0604020202020204" pitchFamily="34" charset="0"/>
              </a:rPr>
            </a:br>
            <a:endParaRPr lang="en-US" altLang="en-US" sz="1350">
              <a:latin typeface="Arial" panose="020B0604020202020204" pitchFamily="34" charset="0"/>
            </a:endParaRPr>
          </a:p>
        </p:txBody>
      </p:sp>
      <p:sp>
        <p:nvSpPr>
          <p:cNvPr id="2" name="Content Placeholder 1"/>
          <p:cNvSpPr>
            <a:spLocks noGrp="1"/>
          </p:cNvSpPr>
          <p:nvPr>
            <p:ph idx="1"/>
          </p:nvPr>
        </p:nvSpPr>
        <p:spPr>
          <a:xfrm>
            <a:off x="416257" y="1374084"/>
            <a:ext cx="4037358" cy="3060750"/>
          </a:xfrm>
        </p:spPr>
        <p:txBody>
          <a:bodyPr>
            <a:noAutofit/>
          </a:bodyPr>
          <a:lstStyle/>
          <a:p>
            <a:pPr algn="just">
              <a:buFont typeface="Wingdings" pitchFamily="2" charset="2"/>
              <a:buChar char="§"/>
            </a:pPr>
            <a:r>
              <a:rPr lang="en-US" sz="2000" dirty="0" err="1" smtClean="0">
                <a:latin typeface="Arial" pitchFamily="34" charset="0"/>
                <a:cs typeface="Arial" pitchFamily="34" charset="0"/>
              </a:rPr>
              <a:t>Soi</a:t>
            </a:r>
            <a:r>
              <a:rPr lang="en-US" sz="2000" dirty="0" smtClean="0">
                <a:latin typeface="Arial" pitchFamily="34" charset="0"/>
                <a:cs typeface="Arial" pitchFamily="34" charset="0"/>
              </a:rPr>
              <a:t> </a:t>
            </a:r>
            <a:r>
              <a:rPr lang="en-US" sz="2000" dirty="0" err="1">
                <a:latin typeface="Arial" pitchFamily="34" charset="0"/>
                <a:cs typeface="Arial" pitchFamily="34" charset="0"/>
              </a:rPr>
              <a:t>phân</a:t>
            </a:r>
            <a:r>
              <a:rPr lang="en-US" sz="2000" dirty="0">
                <a:latin typeface="Arial" pitchFamily="34" charset="0"/>
                <a:cs typeface="Arial" pitchFamily="34" charset="0"/>
              </a:rPr>
              <a:t> </a:t>
            </a:r>
            <a:r>
              <a:rPr lang="en-US" sz="2000" dirty="0" err="1">
                <a:latin typeface="Arial" pitchFamily="34" charset="0"/>
                <a:cs typeface="Arial" pitchFamily="34" charset="0"/>
              </a:rPr>
              <a:t>thấy</a:t>
            </a:r>
            <a:r>
              <a:rPr lang="en-US" sz="2000" dirty="0">
                <a:latin typeface="Arial" pitchFamily="34" charset="0"/>
                <a:cs typeface="Arial" pitchFamily="34" charset="0"/>
              </a:rPr>
              <a:t> </a:t>
            </a:r>
            <a:r>
              <a:rPr lang="en-US" sz="2000" dirty="0" err="1">
                <a:latin typeface="Arial" pitchFamily="34" charset="0"/>
                <a:cs typeface="Arial" pitchFamily="34" charset="0"/>
              </a:rPr>
              <a:t>nhiều</a:t>
            </a:r>
            <a:r>
              <a:rPr lang="en-US" sz="2000" dirty="0">
                <a:latin typeface="Arial" pitchFamily="34" charset="0"/>
                <a:cs typeface="Arial" pitchFamily="34" charset="0"/>
              </a:rPr>
              <a:t> </a:t>
            </a:r>
            <a:r>
              <a:rPr lang="en-US" sz="2000" dirty="0" err="1">
                <a:latin typeface="Arial" pitchFamily="34" charset="0"/>
                <a:cs typeface="Arial" pitchFamily="34" charset="0"/>
              </a:rPr>
              <a:t>hồng</a:t>
            </a:r>
            <a:r>
              <a:rPr lang="en-US" sz="2000" dirty="0">
                <a:latin typeface="Arial" pitchFamily="34" charset="0"/>
                <a:cs typeface="Arial" pitchFamily="34" charset="0"/>
              </a:rPr>
              <a:t> </a:t>
            </a:r>
            <a:r>
              <a:rPr lang="en-US" sz="2000" dirty="0" err="1">
                <a:latin typeface="Arial" pitchFamily="34" charset="0"/>
                <a:cs typeface="Arial" pitchFamily="34" charset="0"/>
              </a:rPr>
              <a:t>cầu</a:t>
            </a:r>
            <a:r>
              <a:rPr lang="en-US" sz="2000" dirty="0">
                <a:latin typeface="Arial" pitchFamily="34" charset="0"/>
                <a:cs typeface="Arial" pitchFamily="34" charset="0"/>
              </a:rPr>
              <a:t> </a:t>
            </a:r>
            <a:r>
              <a:rPr lang="en-US" sz="2000" dirty="0" err="1">
                <a:latin typeface="Arial" pitchFamily="34" charset="0"/>
                <a:cs typeface="Arial" pitchFamily="34" charset="0"/>
              </a:rPr>
              <a:t>và</a:t>
            </a:r>
            <a:r>
              <a:rPr lang="en-US" sz="2000" dirty="0">
                <a:latin typeface="Arial" pitchFamily="34" charset="0"/>
                <a:cs typeface="Arial" pitchFamily="34" charset="0"/>
              </a:rPr>
              <a:t> </a:t>
            </a:r>
            <a:r>
              <a:rPr lang="en-US" sz="2000" dirty="0" err="1">
                <a:latin typeface="Arial" pitchFamily="34" charset="0"/>
                <a:cs typeface="Arial" pitchFamily="34" charset="0"/>
              </a:rPr>
              <a:t>bạch</a:t>
            </a:r>
            <a:r>
              <a:rPr lang="en-US" sz="2000" dirty="0">
                <a:latin typeface="Arial" pitchFamily="34" charset="0"/>
                <a:cs typeface="Arial" pitchFamily="34" charset="0"/>
              </a:rPr>
              <a:t> </a:t>
            </a:r>
            <a:r>
              <a:rPr lang="en-US" sz="2000" dirty="0" err="1">
                <a:latin typeface="Arial" pitchFamily="34" charset="0"/>
                <a:cs typeface="Arial" pitchFamily="34" charset="0"/>
              </a:rPr>
              <a:t>cầu</a:t>
            </a:r>
            <a:r>
              <a:rPr lang="en-US" sz="2000" dirty="0">
                <a:latin typeface="Arial" pitchFamily="34" charset="0"/>
                <a:cs typeface="Arial" pitchFamily="34" charset="0"/>
              </a:rPr>
              <a:t> </a:t>
            </a:r>
          </a:p>
          <a:p>
            <a:pPr algn="just">
              <a:buFont typeface="Wingdings" pitchFamily="2" charset="2"/>
              <a:buChar char="§"/>
            </a:pPr>
            <a:r>
              <a:rPr lang="en-US" sz="2000" dirty="0" err="1">
                <a:latin typeface="Arial" pitchFamily="34" charset="0"/>
                <a:cs typeface="Arial" pitchFamily="34" charset="0"/>
              </a:rPr>
              <a:t>Nuôi</a:t>
            </a:r>
            <a:r>
              <a:rPr lang="en-US" sz="2000" dirty="0">
                <a:latin typeface="Arial" pitchFamily="34" charset="0"/>
                <a:cs typeface="Arial" pitchFamily="34" charset="0"/>
              </a:rPr>
              <a:t> </a:t>
            </a:r>
            <a:r>
              <a:rPr lang="en-US" sz="2000" dirty="0" err="1">
                <a:latin typeface="Arial" pitchFamily="34" charset="0"/>
                <a:cs typeface="Arial" pitchFamily="34" charset="0"/>
              </a:rPr>
              <a:t>cấy</a:t>
            </a:r>
            <a:r>
              <a:rPr lang="en-US" sz="2000" dirty="0">
                <a:latin typeface="Arial" pitchFamily="34" charset="0"/>
                <a:cs typeface="Arial" pitchFamily="34" charset="0"/>
              </a:rPr>
              <a:t> </a:t>
            </a:r>
            <a:r>
              <a:rPr lang="en-US" sz="2000" dirty="0" err="1">
                <a:latin typeface="Arial" pitchFamily="34" charset="0"/>
                <a:cs typeface="Arial" pitchFamily="34" charset="0"/>
              </a:rPr>
              <a:t>phân</a:t>
            </a:r>
            <a:r>
              <a:rPr lang="en-US" sz="2000" dirty="0">
                <a:latin typeface="Arial" pitchFamily="34" charset="0"/>
                <a:cs typeface="Arial" pitchFamily="34" charset="0"/>
              </a:rPr>
              <a:t> </a:t>
            </a:r>
            <a:r>
              <a:rPr lang="en-US" sz="2000" dirty="0" err="1">
                <a:latin typeface="Arial" pitchFamily="34" charset="0"/>
                <a:cs typeface="Arial" pitchFamily="34" charset="0"/>
              </a:rPr>
              <a:t>phân</a:t>
            </a:r>
            <a:r>
              <a:rPr lang="en-US" sz="2000" dirty="0">
                <a:latin typeface="Arial" pitchFamily="34" charset="0"/>
                <a:cs typeface="Arial" pitchFamily="34" charset="0"/>
              </a:rPr>
              <a:t> </a:t>
            </a:r>
            <a:r>
              <a:rPr lang="en-US" sz="2000" dirty="0" err="1">
                <a:latin typeface="Arial" pitchFamily="34" charset="0"/>
                <a:cs typeface="Arial" pitchFamily="34" charset="0"/>
              </a:rPr>
              <a:t>lập</a:t>
            </a:r>
            <a:r>
              <a:rPr lang="en-US" sz="2000" dirty="0">
                <a:latin typeface="Arial" pitchFamily="34" charset="0"/>
                <a:cs typeface="Arial" pitchFamily="34" charset="0"/>
              </a:rPr>
              <a:t> vi </a:t>
            </a:r>
            <a:r>
              <a:rPr lang="en-US" sz="2000" dirty="0" err="1">
                <a:latin typeface="Arial" pitchFamily="34" charset="0"/>
                <a:cs typeface="Arial" pitchFamily="34" charset="0"/>
              </a:rPr>
              <a:t>khuẩn</a:t>
            </a:r>
            <a:r>
              <a:rPr lang="en-US" sz="2000" dirty="0">
                <a:latin typeface="Arial" pitchFamily="34" charset="0"/>
                <a:cs typeface="Arial" pitchFamily="34" charset="0"/>
              </a:rPr>
              <a:t> </a:t>
            </a:r>
          </a:p>
          <a:p>
            <a:pPr marL="0" indent="0" algn="just">
              <a:buNone/>
            </a:pPr>
            <a:r>
              <a:rPr lang="en-US" sz="2000" dirty="0">
                <a:latin typeface="Arial" pitchFamily="34" charset="0"/>
                <a:cs typeface="Arial" pitchFamily="34" charset="0"/>
              </a:rPr>
              <a:t>=&gt; </a:t>
            </a:r>
            <a:r>
              <a:rPr lang="en-US" sz="2000" dirty="0" err="1">
                <a:latin typeface="Arial" pitchFamily="34" charset="0"/>
                <a:cs typeface="Arial" pitchFamily="34" charset="0"/>
              </a:rPr>
              <a:t>Là</a:t>
            </a:r>
            <a:r>
              <a:rPr lang="en-US" sz="2000" dirty="0">
                <a:latin typeface="Arial" pitchFamily="34" charset="0"/>
                <a:cs typeface="Arial" pitchFamily="34" charset="0"/>
              </a:rPr>
              <a:t> </a:t>
            </a:r>
            <a:r>
              <a:rPr lang="en-US" sz="2000" dirty="0" err="1">
                <a:latin typeface="Arial" pitchFamily="34" charset="0"/>
                <a:cs typeface="Arial" pitchFamily="34" charset="0"/>
              </a:rPr>
              <a:t>tiêu</a:t>
            </a:r>
            <a:r>
              <a:rPr lang="en-US" sz="2000" dirty="0">
                <a:latin typeface="Arial" pitchFamily="34" charset="0"/>
                <a:cs typeface="Arial" pitchFamily="34" charset="0"/>
              </a:rPr>
              <a:t> </a:t>
            </a:r>
            <a:r>
              <a:rPr lang="en-US" sz="2000" dirty="0" err="1">
                <a:latin typeface="Arial" pitchFamily="34" charset="0"/>
                <a:cs typeface="Arial" pitchFamily="34" charset="0"/>
              </a:rPr>
              <a:t>chuẩn</a:t>
            </a:r>
            <a:r>
              <a:rPr lang="en-US" sz="2000" dirty="0">
                <a:latin typeface="Arial" pitchFamily="34" charset="0"/>
                <a:cs typeface="Arial" pitchFamily="34" charset="0"/>
              </a:rPr>
              <a:t> </a:t>
            </a:r>
            <a:r>
              <a:rPr lang="en-US" sz="2000" dirty="0" err="1">
                <a:latin typeface="Arial" pitchFamily="34" charset="0"/>
                <a:cs typeface="Arial" pitchFamily="34" charset="0"/>
              </a:rPr>
              <a:t>quyết</a:t>
            </a:r>
            <a:r>
              <a:rPr lang="en-US" sz="2000" dirty="0">
                <a:latin typeface="Arial" pitchFamily="34" charset="0"/>
                <a:cs typeface="Arial" pitchFamily="34" charset="0"/>
              </a:rPr>
              <a:t> </a:t>
            </a:r>
            <a:r>
              <a:rPr lang="en-US" sz="2000" dirty="0" err="1">
                <a:latin typeface="Arial" pitchFamily="34" charset="0"/>
                <a:cs typeface="Arial" pitchFamily="34" charset="0"/>
              </a:rPr>
              <a:t>định</a:t>
            </a:r>
            <a:r>
              <a:rPr lang="en-US" sz="2000" dirty="0">
                <a:latin typeface="Arial" pitchFamily="34" charset="0"/>
                <a:cs typeface="Arial" pitchFamily="34" charset="0"/>
              </a:rPr>
              <a:t> </a:t>
            </a:r>
            <a:r>
              <a:rPr lang="en-US" sz="2000" dirty="0" err="1">
                <a:latin typeface="Arial" pitchFamily="34" charset="0"/>
                <a:cs typeface="Arial" pitchFamily="34" charset="0"/>
              </a:rPr>
              <a:t>chẩn</a:t>
            </a:r>
            <a:r>
              <a:rPr lang="en-US" sz="2000" dirty="0">
                <a:latin typeface="Arial" pitchFamily="34" charset="0"/>
                <a:cs typeface="Arial" pitchFamily="34" charset="0"/>
              </a:rPr>
              <a:t> </a:t>
            </a:r>
            <a:r>
              <a:rPr lang="en-US" sz="2000" dirty="0" err="1">
                <a:latin typeface="Arial" pitchFamily="34" charset="0"/>
                <a:cs typeface="Arial" pitchFamily="34" charset="0"/>
              </a:rPr>
              <a:t>đoán</a:t>
            </a:r>
            <a:r>
              <a:rPr lang="en-US" sz="2000" dirty="0">
                <a:latin typeface="Arial" pitchFamily="34" charset="0"/>
                <a:cs typeface="Arial" pitchFamily="34" charset="0"/>
              </a:rPr>
              <a:t> </a:t>
            </a:r>
            <a:r>
              <a:rPr lang="en-US" sz="2000" dirty="0" err="1">
                <a:latin typeface="Arial" pitchFamily="34" charset="0"/>
                <a:cs typeface="Arial" pitchFamily="34" charset="0"/>
              </a:rPr>
              <a:t>lỵ</a:t>
            </a:r>
            <a:r>
              <a:rPr lang="en-US" sz="2000" dirty="0">
                <a:latin typeface="Arial" pitchFamily="34" charset="0"/>
                <a:cs typeface="Arial" pitchFamily="34" charset="0"/>
              </a:rPr>
              <a:t> </a:t>
            </a:r>
            <a:r>
              <a:rPr lang="en-US" sz="2000" dirty="0" err="1">
                <a:latin typeface="Arial" pitchFamily="34" charset="0"/>
                <a:cs typeface="Arial" pitchFamily="34" charset="0"/>
              </a:rPr>
              <a:t>trực</a:t>
            </a:r>
            <a:r>
              <a:rPr lang="en-US" sz="2000" dirty="0">
                <a:latin typeface="Arial" pitchFamily="34" charset="0"/>
                <a:cs typeface="Arial" pitchFamily="34" charset="0"/>
              </a:rPr>
              <a:t> </a:t>
            </a:r>
            <a:r>
              <a:rPr lang="en-US" sz="2000" dirty="0" err="1">
                <a:latin typeface="Arial" pitchFamily="34" charset="0"/>
                <a:cs typeface="Arial" pitchFamily="34" charset="0"/>
              </a:rPr>
              <a:t>khuẩn</a:t>
            </a:r>
            <a:r>
              <a:rPr lang="en-US" sz="2000" dirty="0">
                <a:latin typeface="Arial" pitchFamily="34" charset="0"/>
                <a:cs typeface="Arial" pitchFamily="34" charset="0"/>
              </a:rPr>
              <a:t> do </a:t>
            </a:r>
            <a:r>
              <a:rPr lang="en-US" sz="2000" i="1" dirty="0" err="1">
                <a:latin typeface="Arial" pitchFamily="34" charset="0"/>
                <a:cs typeface="Arial" pitchFamily="34" charset="0"/>
              </a:rPr>
              <a:t>Shigella</a:t>
            </a:r>
            <a:r>
              <a:rPr lang="en-US" sz="2000" dirty="0">
                <a:latin typeface="Arial" pitchFamily="34" charset="0"/>
                <a:cs typeface="Arial" pitchFamily="34" charset="0"/>
              </a:rPr>
              <a:t>, </a:t>
            </a:r>
            <a:r>
              <a:rPr lang="en-US" sz="2000" dirty="0" err="1">
                <a:latin typeface="Arial" pitchFamily="34" charset="0"/>
                <a:cs typeface="Arial" pitchFamily="34" charset="0"/>
              </a:rPr>
              <a:t>độ</a:t>
            </a:r>
            <a:r>
              <a:rPr lang="en-US" sz="2000" dirty="0">
                <a:latin typeface="Arial" pitchFamily="34" charset="0"/>
                <a:cs typeface="Arial" pitchFamily="34" charset="0"/>
              </a:rPr>
              <a:t> </a:t>
            </a:r>
            <a:r>
              <a:rPr lang="en-US" sz="2000" dirty="0" err="1">
                <a:latin typeface="Arial" pitchFamily="34" charset="0"/>
                <a:cs typeface="Arial" pitchFamily="34" charset="0"/>
              </a:rPr>
              <a:t>đặc</a:t>
            </a:r>
            <a:r>
              <a:rPr lang="en-US" sz="2000" dirty="0">
                <a:latin typeface="Arial" pitchFamily="34" charset="0"/>
                <a:cs typeface="Arial" pitchFamily="34" charset="0"/>
              </a:rPr>
              <a:t> </a:t>
            </a:r>
            <a:r>
              <a:rPr lang="en-US" sz="2000" dirty="0" err="1">
                <a:latin typeface="Arial" pitchFamily="34" charset="0"/>
                <a:cs typeface="Arial" pitchFamily="34" charset="0"/>
              </a:rPr>
              <a:t>hiệu</a:t>
            </a:r>
            <a:r>
              <a:rPr lang="en-US" sz="2000" dirty="0">
                <a:latin typeface="Arial" pitchFamily="34" charset="0"/>
                <a:cs typeface="Arial" pitchFamily="34" charset="0"/>
              </a:rPr>
              <a:t> </a:t>
            </a:r>
            <a:r>
              <a:rPr lang="en-US" sz="2000" dirty="0" err="1">
                <a:latin typeface="Arial" pitchFamily="34" charset="0"/>
                <a:cs typeface="Arial" pitchFamily="34" charset="0"/>
              </a:rPr>
              <a:t>cao</a:t>
            </a:r>
            <a:r>
              <a:rPr lang="en-US" sz="2000" dirty="0">
                <a:latin typeface="Arial" pitchFamily="34" charset="0"/>
                <a:cs typeface="Arial" pitchFamily="34" charset="0"/>
              </a:rPr>
              <a:t> </a:t>
            </a:r>
            <a:r>
              <a:rPr lang="en-US" sz="2000" dirty="0" err="1">
                <a:latin typeface="Arial" pitchFamily="34" charset="0"/>
                <a:cs typeface="Arial" pitchFamily="34" charset="0"/>
              </a:rPr>
              <a:t>nhưng</a:t>
            </a:r>
            <a:r>
              <a:rPr lang="en-US" sz="2000" dirty="0">
                <a:latin typeface="Arial" pitchFamily="34" charset="0"/>
                <a:cs typeface="Arial" pitchFamily="34" charset="0"/>
              </a:rPr>
              <a:t> </a:t>
            </a:r>
            <a:r>
              <a:rPr lang="en-US" sz="2000" dirty="0" err="1">
                <a:latin typeface="Arial" pitchFamily="34" charset="0"/>
                <a:cs typeface="Arial" pitchFamily="34" charset="0"/>
              </a:rPr>
              <a:t>độ</a:t>
            </a:r>
            <a:r>
              <a:rPr lang="en-US" sz="2000" dirty="0">
                <a:latin typeface="Arial" pitchFamily="34" charset="0"/>
                <a:cs typeface="Arial" pitchFamily="34" charset="0"/>
              </a:rPr>
              <a:t> </a:t>
            </a:r>
            <a:r>
              <a:rPr lang="en-US" sz="2000" dirty="0" err="1">
                <a:latin typeface="Arial" pitchFamily="34" charset="0"/>
                <a:cs typeface="Arial" pitchFamily="34" charset="0"/>
              </a:rPr>
              <a:t>nhạy</a:t>
            </a:r>
            <a:r>
              <a:rPr lang="en-US" sz="2000" dirty="0">
                <a:latin typeface="Arial" pitchFamily="34" charset="0"/>
                <a:cs typeface="Arial" pitchFamily="34" charset="0"/>
              </a:rPr>
              <a:t> </a:t>
            </a:r>
            <a:r>
              <a:rPr lang="en-US" sz="2000" dirty="0" err="1">
                <a:latin typeface="Arial" pitchFamily="34" charset="0"/>
                <a:cs typeface="Arial" pitchFamily="34" charset="0"/>
              </a:rPr>
              <a:t>thấp</a:t>
            </a:r>
            <a:r>
              <a:rPr lang="en-US" sz="2000" dirty="0">
                <a:latin typeface="Arial" pitchFamily="34" charset="0"/>
                <a:cs typeface="Arial" pitchFamily="34" charset="0"/>
              </a:rPr>
              <a:t>, </a:t>
            </a:r>
            <a:r>
              <a:rPr lang="en-US" sz="2000" dirty="0" err="1">
                <a:latin typeface="Arial" pitchFamily="34" charset="0"/>
                <a:cs typeface="Arial" pitchFamily="34" charset="0"/>
              </a:rPr>
              <a:t>tỷ</a:t>
            </a:r>
            <a:r>
              <a:rPr lang="en-US" sz="2000" dirty="0">
                <a:latin typeface="Arial" pitchFamily="34" charset="0"/>
                <a:cs typeface="Arial" pitchFamily="34" charset="0"/>
              </a:rPr>
              <a:t> </a:t>
            </a:r>
            <a:r>
              <a:rPr lang="en-US" sz="2000" dirty="0" err="1">
                <a:latin typeface="Arial" pitchFamily="34" charset="0"/>
                <a:cs typeface="Arial" pitchFamily="34" charset="0"/>
              </a:rPr>
              <a:t>lệ</a:t>
            </a:r>
            <a:r>
              <a:rPr lang="en-US" sz="2000" dirty="0">
                <a:latin typeface="Arial" pitchFamily="34" charset="0"/>
                <a:cs typeface="Arial" pitchFamily="34" charset="0"/>
              </a:rPr>
              <a:t> </a:t>
            </a:r>
            <a:r>
              <a:rPr lang="en-US" sz="2000" dirty="0" err="1">
                <a:latin typeface="Arial" pitchFamily="34" charset="0"/>
                <a:cs typeface="Arial" pitchFamily="34" charset="0"/>
              </a:rPr>
              <a:t>mọc</a:t>
            </a:r>
            <a:r>
              <a:rPr lang="en-US" sz="2000" dirty="0">
                <a:latin typeface="Arial" pitchFamily="34" charset="0"/>
                <a:cs typeface="Arial" pitchFamily="34" charset="0"/>
              </a:rPr>
              <a:t> </a:t>
            </a:r>
            <a:r>
              <a:rPr lang="en-US" sz="2000" dirty="0" err="1">
                <a:latin typeface="Arial" pitchFamily="34" charset="0"/>
                <a:cs typeface="Arial" pitchFamily="34" charset="0"/>
              </a:rPr>
              <a:t>sớm</a:t>
            </a:r>
            <a:r>
              <a:rPr lang="en-US" sz="2000" dirty="0">
                <a:latin typeface="Arial" pitchFamily="34" charset="0"/>
                <a:cs typeface="Arial" pitchFamily="34" charset="0"/>
              </a:rPr>
              <a:t> </a:t>
            </a:r>
            <a:r>
              <a:rPr lang="en-US" sz="2000" dirty="0" err="1">
                <a:latin typeface="Arial" pitchFamily="34" charset="0"/>
                <a:cs typeface="Arial" pitchFamily="34" charset="0"/>
              </a:rPr>
              <a:t>trong</a:t>
            </a:r>
            <a:r>
              <a:rPr lang="en-US" sz="2000" dirty="0">
                <a:latin typeface="Arial" pitchFamily="34" charset="0"/>
                <a:cs typeface="Arial" pitchFamily="34" charset="0"/>
              </a:rPr>
              <a:t> </a:t>
            </a:r>
            <a:r>
              <a:rPr lang="en-US" sz="2000" dirty="0" err="1">
                <a:latin typeface="Arial" pitchFamily="34" charset="0"/>
                <a:cs typeface="Arial" pitchFamily="34" charset="0"/>
              </a:rPr>
              <a:t>giai</a:t>
            </a:r>
            <a:r>
              <a:rPr lang="en-US" sz="2000" dirty="0">
                <a:latin typeface="Arial" pitchFamily="34" charset="0"/>
                <a:cs typeface="Arial" pitchFamily="34" charset="0"/>
              </a:rPr>
              <a:t> </a:t>
            </a:r>
            <a:r>
              <a:rPr lang="en-US" sz="2000" dirty="0" err="1">
                <a:latin typeface="Arial" pitchFamily="34" charset="0"/>
                <a:cs typeface="Arial" pitchFamily="34" charset="0"/>
              </a:rPr>
              <a:t>đoạn</a:t>
            </a:r>
            <a:r>
              <a:rPr lang="en-US" sz="2000" dirty="0">
                <a:latin typeface="Arial" pitchFamily="34" charset="0"/>
                <a:cs typeface="Arial" pitchFamily="34" charset="0"/>
              </a:rPr>
              <a:t> </a:t>
            </a:r>
            <a:r>
              <a:rPr lang="en-US" sz="2000" dirty="0" err="1">
                <a:latin typeface="Arial" pitchFamily="34" charset="0"/>
                <a:cs typeface="Arial" pitchFamily="34" charset="0"/>
              </a:rPr>
              <a:t>đầu</a:t>
            </a:r>
            <a:r>
              <a:rPr lang="en-US" sz="2000" dirty="0">
                <a:latin typeface="Arial" pitchFamily="34" charset="0"/>
                <a:cs typeface="Arial" pitchFamily="34" charset="0"/>
              </a:rPr>
              <a:t> </a:t>
            </a:r>
            <a:r>
              <a:rPr lang="en-US" sz="2000" dirty="0" err="1">
                <a:latin typeface="Arial" pitchFamily="34" charset="0"/>
                <a:cs typeface="Arial" pitchFamily="34" charset="0"/>
              </a:rPr>
              <a:t>của</a:t>
            </a:r>
            <a:r>
              <a:rPr lang="en-US" sz="2000" dirty="0">
                <a:latin typeface="Arial" pitchFamily="34" charset="0"/>
                <a:cs typeface="Arial" pitchFamily="34" charset="0"/>
              </a:rPr>
              <a:t> </a:t>
            </a:r>
            <a:r>
              <a:rPr lang="en-US" sz="2000" dirty="0" err="1" smtClean="0">
                <a:latin typeface="Arial" pitchFamily="34" charset="0"/>
                <a:cs typeface="Arial" pitchFamily="34" charset="0"/>
              </a:rPr>
              <a:t>bệnh</a:t>
            </a:r>
            <a:r>
              <a:rPr lang="en-US" sz="2000" dirty="0">
                <a:latin typeface="Arial" pitchFamily="34" charset="0"/>
                <a:cs typeface="Arial" pitchFamily="34" charset="0"/>
              </a:rPr>
              <a:t>.</a:t>
            </a:r>
          </a:p>
          <a:p>
            <a:pPr marL="0" indent="0" algn="just">
              <a:buNone/>
            </a:pPr>
            <a:endParaRPr lang="en-US" sz="2000" dirty="0">
              <a:latin typeface="Arial" pitchFamily="34" charset="0"/>
              <a:cs typeface="Arial"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962" y="4417774"/>
            <a:ext cx="3365724" cy="218785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1438" y="4434834"/>
            <a:ext cx="4843463" cy="2270766"/>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76800" y="848719"/>
            <a:ext cx="3886200" cy="3091135"/>
          </a:xfrm>
          <a:prstGeom prst="rect">
            <a:avLst/>
          </a:prstGeom>
        </p:spPr>
      </p:pic>
      <p:sp>
        <p:nvSpPr>
          <p:cNvPr id="8" name="Tiêu đề 1">
            <a:extLst>
              <a:ext uri="{FF2B5EF4-FFF2-40B4-BE49-F238E27FC236}">
                <a16:creationId xmlns:a16="http://schemas.microsoft.com/office/drawing/2014/main" xmlns="" id="{C98A5779-0D20-F746-86A7-119A3BB7F135}"/>
              </a:ext>
            </a:extLst>
          </p:cNvPr>
          <p:cNvSpPr txBox="1">
            <a:spLocks/>
          </p:cNvSpPr>
          <p:nvPr/>
        </p:nvSpPr>
        <p:spPr>
          <a:xfrm>
            <a:off x="228600" y="152400"/>
            <a:ext cx="5928545" cy="458132"/>
          </a:xfrm>
          <a:prstGeom prst="rect">
            <a:avLst/>
          </a:prstGeom>
        </p:spPr>
        <p:txBody>
          <a:bodyPr vert="horz" lIns="68580" tIns="34290" rIns="68580" bIns="34290" rtlCol="0" anchor="ctr">
            <a:noAutofit/>
          </a:bodyPr>
          <a:lstStyle/>
          <a:p>
            <a:pPr algn="just" defTabSz="685800">
              <a:spcBef>
                <a:spcPct val="0"/>
              </a:spcBef>
              <a:defRPr/>
            </a:pPr>
            <a:r>
              <a:rPr lang="en-US" sz="3300" b="1" dirty="0" smtClean="0">
                <a:solidFill>
                  <a:srgbClr val="FF0000"/>
                </a:solidFill>
                <a:latin typeface="Arial" pitchFamily="34" charset="0"/>
                <a:ea typeface="+mj-ea"/>
                <a:cs typeface="Arial" pitchFamily="34" charset="0"/>
              </a:rPr>
              <a:t>VI. CẬN </a:t>
            </a:r>
            <a:r>
              <a:rPr lang="en-US" sz="3300" b="1" dirty="0">
                <a:solidFill>
                  <a:srgbClr val="FF0000"/>
                </a:solidFill>
                <a:latin typeface="Arial" pitchFamily="34" charset="0"/>
                <a:ea typeface="+mj-ea"/>
                <a:cs typeface="Arial" pitchFamily="34" charset="0"/>
              </a:rPr>
              <a:t>LÂM SÀNG</a:t>
            </a:r>
            <a:endParaRPr lang="vi-VN" sz="3300" b="1" dirty="0">
              <a:solidFill>
                <a:srgbClr val="FF0000"/>
              </a:solidFill>
              <a:latin typeface="Arial" pitchFamily="34" charset="0"/>
              <a:ea typeface="+mj-ea"/>
              <a:cs typeface="Arial" pitchFamily="34" charset="0"/>
            </a:endParaRPr>
          </a:p>
        </p:txBody>
      </p:sp>
      <p:sp>
        <p:nvSpPr>
          <p:cNvPr id="9" name="TextBox 8"/>
          <p:cNvSpPr txBox="1"/>
          <p:nvPr/>
        </p:nvSpPr>
        <p:spPr>
          <a:xfrm>
            <a:off x="1135472" y="685800"/>
            <a:ext cx="4114800" cy="553998"/>
          </a:xfrm>
          <a:prstGeom prst="rect">
            <a:avLst/>
          </a:prstGeom>
          <a:noFill/>
        </p:spPr>
        <p:txBody>
          <a:bodyPr wrap="square" rtlCol="0">
            <a:spAutoFit/>
          </a:bodyPr>
          <a:lstStyle/>
          <a:p>
            <a:pPr algn="just"/>
            <a:r>
              <a:rPr lang="en-US" sz="3000" b="1" dirty="0" smtClean="0">
                <a:latin typeface="Arial" pitchFamily="34" charset="0"/>
                <a:cs typeface="Arial" pitchFamily="34" charset="0"/>
              </a:rPr>
              <a:t>2. </a:t>
            </a:r>
            <a:r>
              <a:rPr lang="en-US" sz="3000" b="1" dirty="0" err="1" smtClean="0">
                <a:latin typeface="Arial" pitchFamily="34" charset="0"/>
                <a:cs typeface="Arial" pitchFamily="34" charset="0"/>
              </a:rPr>
              <a:t>Xét</a:t>
            </a:r>
            <a:r>
              <a:rPr lang="en-US" sz="3000" b="1" dirty="0" smtClean="0">
                <a:latin typeface="Arial" pitchFamily="34" charset="0"/>
                <a:cs typeface="Arial" pitchFamily="34" charset="0"/>
              </a:rPr>
              <a:t> </a:t>
            </a:r>
            <a:r>
              <a:rPr lang="en-US" sz="3000" b="1" dirty="0" err="1" smtClean="0">
                <a:latin typeface="Arial" pitchFamily="34" charset="0"/>
                <a:cs typeface="Arial" pitchFamily="34" charset="0"/>
              </a:rPr>
              <a:t>nghiệm</a:t>
            </a:r>
            <a:r>
              <a:rPr lang="en-US" sz="3000" b="1" dirty="0" smtClean="0">
                <a:latin typeface="Arial" pitchFamily="34" charset="0"/>
                <a:cs typeface="Arial" pitchFamily="34" charset="0"/>
              </a:rPr>
              <a:t> </a:t>
            </a:r>
            <a:r>
              <a:rPr lang="en-US" sz="3000" b="1" dirty="0" err="1" smtClean="0">
                <a:latin typeface="Arial" pitchFamily="34" charset="0"/>
                <a:cs typeface="Arial" pitchFamily="34" charset="0"/>
              </a:rPr>
              <a:t>phân</a:t>
            </a:r>
            <a:endParaRPr lang="en-US" sz="3000" b="1" dirty="0">
              <a:latin typeface="Arial" pitchFamily="34" charset="0"/>
              <a:cs typeface="Arial" pitchFamily="34" charset="0"/>
            </a:endParaRPr>
          </a:p>
        </p:txBody>
      </p:sp>
    </p:spTree>
    <p:extLst>
      <p:ext uri="{BB962C8B-B14F-4D97-AF65-F5344CB8AC3E}">
        <p14:creationId xmlns:p14="http://schemas.microsoft.com/office/powerpoint/2010/main" val="235724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676400"/>
            <a:ext cx="8153400" cy="3263504"/>
          </a:xfrm>
        </p:spPr>
        <p:txBody>
          <a:bodyPr>
            <a:normAutofit/>
          </a:bodyPr>
          <a:lstStyle/>
          <a:p>
            <a:pPr algn="just">
              <a:buFont typeface="Arial" panose="020B0604020202020204" pitchFamily="34" charset="0"/>
              <a:buChar char="•"/>
            </a:pPr>
            <a:r>
              <a:rPr lang="en-US" sz="2200" dirty="0" err="1" smtClean="0">
                <a:latin typeface="Arial" pitchFamily="34" charset="0"/>
                <a:cs typeface="Arial" pitchFamily="34" charset="0"/>
              </a:rPr>
              <a:t>Phương</a:t>
            </a:r>
            <a:r>
              <a:rPr lang="en-US" sz="2200" dirty="0" smtClean="0">
                <a:latin typeface="Arial" pitchFamily="34" charset="0"/>
                <a:cs typeface="Arial" pitchFamily="34" charset="0"/>
              </a:rPr>
              <a:t> </a:t>
            </a:r>
            <a:r>
              <a:rPr lang="en-US" sz="2200" dirty="0" err="1">
                <a:latin typeface="Arial" pitchFamily="34" charset="0"/>
                <a:cs typeface="Arial" pitchFamily="34" charset="0"/>
              </a:rPr>
              <a:t>pháp</a:t>
            </a:r>
            <a:r>
              <a:rPr lang="en-US" sz="2200" dirty="0">
                <a:latin typeface="Arial" pitchFamily="34" charset="0"/>
                <a:cs typeface="Arial" pitchFamily="34" charset="0"/>
              </a:rPr>
              <a:t> ELISA </a:t>
            </a:r>
            <a:r>
              <a:rPr lang="en-US" sz="2200" dirty="0" err="1">
                <a:latin typeface="Arial" pitchFamily="34" charset="0"/>
                <a:cs typeface="Arial" pitchFamily="34" charset="0"/>
              </a:rPr>
              <a:t>được</a:t>
            </a:r>
            <a:r>
              <a:rPr lang="en-US" sz="2200" dirty="0">
                <a:latin typeface="Arial" pitchFamily="34" charset="0"/>
                <a:cs typeface="Arial" pitchFamily="34" charset="0"/>
              </a:rPr>
              <a:t> </a:t>
            </a:r>
            <a:r>
              <a:rPr lang="en-US" sz="2200" dirty="0" err="1">
                <a:latin typeface="Arial" pitchFamily="34" charset="0"/>
                <a:cs typeface="Arial" pitchFamily="34" charset="0"/>
              </a:rPr>
              <a:t>sử</a:t>
            </a:r>
            <a:r>
              <a:rPr lang="en-US" sz="2200" dirty="0">
                <a:latin typeface="Arial" pitchFamily="34" charset="0"/>
                <a:cs typeface="Arial" pitchFamily="34" charset="0"/>
              </a:rPr>
              <a:t> </a:t>
            </a:r>
            <a:r>
              <a:rPr lang="en-US" sz="2200" dirty="0" err="1">
                <a:latin typeface="Arial" pitchFamily="34" charset="0"/>
                <a:cs typeface="Arial" pitchFamily="34" charset="0"/>
              </a:rPr>
              <a:t>dụng</a:t>
            </a:r>
            <a:r>
              <a:rPr lang="en-US" sz="2200" dirty="0">
                <a:latin typeface="Arial" pitchFamily="34" charset="0"/>
                <a:cs typeface="Arial" pitchFamily="34" charset="0"/>
              </a:rPr>
              <a:t> </a:t>
            </a:r>
            <a:r>
              <a:rPr lang="en-US" sz="2200" dirty="0" err="1">
                <a:latin typeface="Arial" pitchFamily="34" charset="0"/>
                <a:cs typeface="Arial" pitchFamily="34" charset="0"/>
              </a:rPr>
              <a:t>để</a:t>
            </a:r>
            <a:r>
              <a:rPr lang="en-US" sz="2200" dirty="0">
                <a:latin typeface="Arial" pitchFamily="34" charset="0"/>
                <a:cs typeface="Arial" pitchFamily="34" charset="0"/>
              </a:rPr>
              <a:t> </a:t>
            </a:r>
            <a:r>
              <a:rPr lang="en-US" sz="2200" dirty="0" err="1">
                <a:latin typeface="Arial" pitchFamily="34" charset="0"/>
                <a:cs typeface="Arial" pitchFamily="34" charset="0"/>
              </a:rPr>
              <a:t>chẩn</a:t>
            </a:r>
            <a:r>
              <a:rPr lang="en-US" sz="2200" dirty="0">
                <a:latin typeface="Arial" pitchFamily="34" charset="0"/>
                <a:cs typeface="Arial" pitchFamily="34" charset="0"/>
              </a:rPr>
              <a:t> </a:t>
            </a:r>
            <a:r>
              <a:rPr lang="en-US" sz="2200" dirty="0" err="1">
                <a:latin typeface="Arial" pitchFamily="34" charset="0"/>
                <a:cs typeface="Arial" pitchFamily="34" charset="0"/>
              </a:rPr>
              <a:t>đoán</a:t>
            </a:r>
            <a:r>
              <a:rPr lang="en-US" sz="2200" dirty="0">
                <a:latin typeface="Arial" pitchFamily="34" charset="0"/>
                <a:cs typeface="Arial" pitchFamily="34" charset="0"/>
              </a:rPr>
              <a:t> </a:t>
            </a:r>
            <a:r>
              <a:rPr lang="en-US" sz="2200" dirty="0" err="1">
                <a:latin typeface="Arial" pitchFamily="34" charset="0"/>
                <a:cs typeface="Arial" pitchFamily="34" charset="0"/>
              </a:rPr>
              <a:t>nhóm</a:t>
            </a:r>
            <a:r>
              <a:rPr lang="en-US" sz="2200" dirty="0">
                <a:latin typeface="Arial" pitchFamily="34" charset="0"/>
                <a:cs typeface="Arial" pitchFamily="34" charset="0"/>
              </a:rPr>
              <a:t> </a:t>
            </a:r>
            <a:r>
              <a:rPr lang="en-US" sz="2200" dirty="0" err="1">
                <a:latin typeface="Arial" pitchFamily="34" charset="0"/>
                <a:cs typeface="Arial" pitchFamily="34" charset="0"/>
              </a:rPr>
              <a:t>và</a:t>
            </a:r>
            <a:r>
              <a:rPr lang="en-US" sz="2200" dirty="0">
                <a:latin typeface="Arial" pitchFamily="34" charset="0"/>
                <a:cs typeface="Arial" pitchFamily="34" charset="0"/>
              </a:rPr>
              <a:t> </a:t>
            </a:r>
            <a:r>
              <a:rPr lang="en-US" sz="2200" dirty="0" err="1">
                <a:latin typeface="Arial" pitchFamily="34" charset="0"/>
                <a:cs typeface="Arial" pitchFamily="34" charset="0"/>
              </a:rPr>
              <a:t>týp</a:t>
            </a:r>
            <a:r>
              <a:rPr lang="en-US" sz="2200" dirty="0">
                <a:latin typeface="Arial" pitchFamily="34" charset="0"/>
                <a:cs typeface="Arial" pitchFamily="34" charset="0"/>
              </a:rPr>
              <a:t> </a:t>
            </a:r>
            <a:r>
              <a:rPr lang="en-US" sz="2200" dirty="0" err="1">
                <a:latin typeface="Arial" pitchFamily="34" charset="0"/>
                <a:cs typeface="Arial" pitchFamily="34" charset="0"/>
              </a:rPr>
              <a:t>huyết</a:t>
            </a:r>
            <a:r>
              <a:rPr lang="en-US" sz="2200" dirty="0">
                <a:latin typeface="Arial" pitchFamily="34" charset="0"/>
                <a:cs typeface="Arial" pitchFamily="34" charset="0"/>
              </a:rPr>
              <a:t> </a:t>
            </a:r>
            <a:r>
              <a:rPr lang="en-US" sz="2200" dirty="0" err="1">
                <a:latin typeface="Arial" pitchFamily="34" charset="0"/>
                <a:cs typeface="Arial" pitchFamily="34" charset="0"/>
              </a:rPr>
              <a:t>thanh</a:t>
            </a:r>
            <a:r>
              <a:rPr lang="en-US" sz="2200" dirty="0">
                <a:latin typeface="Arial" pitchFamily="34" charset="0"/>
                <a:cs typeface="Arial" pitchFamily="34" charset="0"/>
              </a:rPr>
              <a:t>. </a:t>
            </a:r>
            <a:r>
              <a:rPr lang="en-US" sz="2200" dirty="0" err="1">
                <a:latin typeface="Arial" pitchFamily="34" charset="0"/>
                <a:cs typeface="Arial" pitchFamily="34" charset="0"/>
              </a:rPr>
              <a:t>Phương</a:t>
            </a:r>
            <a:r>
              <a:rPr lang="en-US" sz="2200" dirty="0">
                <a:latin typeface="Arial" pitchFamily="34" charset="0"/>
                <a:cs typeface="Arial" pitchFamily="34" charset="0"/>
              </a:rPr>
              <a:t> </a:t>
            </a:r>
            <a:r>
              <a:rPr lang="en-US" sz="2200" dirty="0" err="1">
                <a:latin typeface="Arial" pitchFamily="34" charset="0"/>
                <a:cs typeface="Arial" pitchFamily="34" charset="0"/>
              </a:rPr>
              <a:t>pháp</a:t>
            </a:r>
            <a:r>
              <a:rPr lang="en-US" sz="2200" dirty="0">
                <a:latin typeface="Arial" pitchFamily="34" charset="0"/>
                <a:cs typeface="Arial" pitchFamily="34" charset="0"/>
              </a:rPr>
              <a:t> </a:t>
            </a:r>
            <a:r>
              <a:rPr lang="en-US" sz="2200" dirty="0" err="1">
                <a:latin typeface="Arial" pitchFamily="34" charset="0"/>
                <a:cs typeface="Arial" pitchFamily="34" charset="0"/>
              </a:rPr>
              <a:t>này</a:t>
            </a:r>
            <a:r>
              <a:rPr lang="en-US" sz="2200" dirty="0">
                <a:latin typeface="Arial" pitchFamily="34" charset="0"/>
                <a:cs typeface="Arial" pitchFamily="34" charset="0"/>
              </a:rPr>
              <a:t> </a:t>
            </a:r>
            <a:r>
              <a:rPr lang="en-US" sz="2200" dirty="0" err="1">
                <a:latin typeface="Arial" pitchFamily="34" charset="0"/>
                <a:cs typeface="Arial" pitchFamily="34" charset="0"/>
              </a:rPr>
              <a:t>có</a:t>
            </a:r>
            <a:r>
              <a:rPr lang="en-US" sz="2200" dirty="0">
                <a:latin typeface="Arial" pitchFamily="34" charset="0"/>
                <a:cs typeface="Arial" pitchFamily="34" charset="0"/>
              </a:rPr>
              <a:t> </a:t>
            </a:r>
            <a:r>
              <a:rPr lang="en-US" sz="2200" dirty="0" err="1">
                <a:latin typeface="Arial" pitchFamily="34" charset="0"/>
                <a:cs typeface="Arial" pitchFamily="34" charset="0"/>
              </a:rPr>
              <a:t>độ</a:t>
            </a:r>
            <a:r>
              <a:rPr lang="en-US" sz="2200" dirty="0">
                <a:latin typeface="Arial" pitchFamily="34" charset="0"/>
                <a:cs typeface="Arial" pitchFamily="34" charset="0"/>
              </a:rPr>
              <a:t> </a:t>
            </a:r>
            <a:r>
              <a:rPr lang="en-US" sz="2200" dirty="0" err="1">
                <a:latin typeface="Arial" pitchFamily="34" charset="0"/>
                <a:cs typeface="Arial" pitchFamily="34" charset="0"/>
              </a:rPr>
              <a:t>nhạy</a:t>
            </a:r>
            <a:r>
              <a:rPr lang="en-US" sz="2200" dirty="0">
                <a:latin typeface="Arial" pitchFamily="34" charset="0"/>
                <a:cs typeface="Arial" pitchFamily="34" charset="0"/>
              </a:rPr>
              <a:t> </a:t>
            </a:r>
            <a:r>
              <a:rPr lang="en-US" sz="2200" dirty="0" err="1">
                <a:latin typeface="Arial" pitchFamily="34" charset="0"/>
                <a:cs typeface="Arial" pitchFamily="34" charset="0"/>
              </a:rPr>
              <a:t>và</a:t>
            </a:r>
            <a:r>
              <a:rPr lang="en-US" sz="2200" dirty="0">
                <a:latin typeface="Arial" pitchFamily="34" charset="0"/>
                <a:cs typeface="Arial" pitchFamily="34" charset="0"/>
              </a:rPr>
              <a:t> </a:t>
            </a:r>
            <a:r>
              <a:rPr lang="en-US" sz="2200" dirty="0" err="1">
                <a:latin typeface="Arial" pitchFamily="34" charset="0"/>
                <a:cs typeface="Arial" pitchFamily="34" charset="0"/>
              </a:rPr>
              <a:t>độ</a:t>
            </a:r>
            <a:r>
              <a:rPr lang="en-US" sz="2200" dirty="0">
                <a:latin typeface="Arial" pitchFamily="34" charset="0"/>
                <a:cs typeface="Arial" pitchFamily="34" charset="0"/>
              </a:rPr>
              <a:t> </a:t>
            </a:r>
            <a:r>
              <a:rPr lang="en-US" sz="2200" dirty="0" err="1">
                <a:latin typeface="Arial" pitchFamily="34" charset="0"/>
                <a:cs typeface="Arial" pitchFamily="34" charset="0"/>
              </a:rPr>
              <a:t>đặc</a:t>
            </a:r>
            <a:r>
              <a:rPr lang="en-US" sz="2200" dirty="0">
                <a:latin typeface="Arial" pitchFamily="34" charset="0"/>
                <a:cs typeface="Arial" pitchFamily="34" charset="0"/>
              </a:rPr>
              <a:t> </a:t>
            </a:r>
            <a:r>
              <a:rPr lang="en-US" sz="2200" dirty="0" err="1">
                <a:latin typeface="Arial" pitchFamily="34" charset="0"/>
                <a:cs typeface="Arial" pitchFamily="34" charset="0"/>
              </a:rPr>
              <a:t>hiệu</a:t>
            </a:r>
            <a:r>
              <a:rPr lang="en-US" sz="2200" dirty="0">
                <a:latin typeface="Arial" pitchFamily="34" charset="0"/>
                <a:cs typeface="Arial" pitchFamily="34" charset="0"/>
              </a:rPr>
              <a:t> </a:t>
            </a:r>
            <a:r>
              <a:rPr lang="en-US" sz="2200" dirty="0" err="1">
                <a:latin typeface="Arial" pitchFamily="34" charset="0"/>
                <a:cs typeface="Arial" pitchFamily="34" charset="0"/>
              </a:rPr>
              <a:t>cao</a:t>
            </a:r>
            <a:r>
              <a:rPr lang="en-US" sz="2200" dirty="0">
                <a:latin typeface="Arial" pitchFamily="34" charset="0"/>
                <a:cs typeface="Arial" pitchFamily="34" charset="0"/>
              </a:rPr>
              <a:t> </a:t>
            </a:r>
            <a:r>
              <a:rPr lang="en-US" sz="2200" dirty="0" smtClean="0">
                <a:latin typeface="Arial" pitchFamily="34" charset="0"/>
                <a:cs typeface="Arial" pitchFamily="34" charset="0"/>
              </a:rPr>
              <a:t>  </a:t>
            </a:r>
            <a:endParaRPr lang="en-US" sz="2200" dirty="0">
              <a:latin typeface="Arial" pitchFamily="34" charset="0"/>
              <a:cs typeface="Arial" pitchFamily="34" charset="0"/>
            </a:endParaRPr>
          </a:p>
          <a:p>
            <a:pPr algn="just">
              <a:buFont typeface="Arial" panose="020B0604020202020204" pitchFamily="34" charset="0"/>
              <a:buChar char="•"/>
            </a:pPr>
            <a:r>
              <a:rPr lang="en-US" sz="2200" dirty="0" err="1" smtClean="0">
                <a:latin typeface="Arial" pitchFamily="34" charset="0"/>
                <a:cs typeface="Arial" pitchFamily="34" charset="0"/>
              </a:rPr>
              <a:t>Phương</a:t>
            </a:r>
            <a:r>
              <a:rPr lang="en-US" sz="2200" dirty="0" smtClean="0">
                <a:latin typeface="Arial" pitchFamily="34" charset="0"/>
                <a:cs typeface="Arial" pitchFamily="34" charset="0"/>
              </a:rPr>
              <a:t> </a:t>
            </a:r>
            <a:r>
              <a:rPr lang="en-US" sz="2200" dirty="0" err="1">
                <a:latin typeface="Arial" pitchFamily="34" charset="0"/>
                <a:cs typeface="Arial" pitchFamily="34" charset="0"/>
              </a:rPr>
              <a:t>pháp</a:t>
            </a:r>
            <a:r>
              <a:rPr lang="en-US" sz="2200" dirty="0">
                <a:latin typeface="Arial" pitchFamily="34" charset="0"/>
                <a:cs typeface="Arial" pitchFamily="34" charset="0"/>
              </a:rPr>
              <a:t> </a:t>
            </a:r>
            <a:r>
              <a:rPr lang="en-US" sz="2200" dirty="0" err="1">
                <a:latin typeface="Arial" pitchFamily="34" charset="0"/>
                <a:cs typeface="Arial" pitchFamily="34" charset="0"/>
              </a:rPr>
              <a:t>lai</a:t>
            </a:r>
            <a:r>
              <a:rPr lang="en-US" sz="2200" dirty="0">
                <a:latin typeface="Arial" pitchFamily="34" charset="0"/>
                <a:cs typeface="Arial" pitchFamily="34" charset="0"/>
              </a:rPr>
              <a:t> </a:t>
            </a:r>
            <a:r>
              <a:rPr lang="en-US" sz="2200" dirty="0" err="1">
                <a:latin typeface="Arial" pitchFamily="34" charset="0"/>
                <a:cs typeface="Arial" pitchFamily="34" charset="0"/>
              </a:rPr>
              <a:t>tạo</a:t>
            </a:r>
            <a:r>
              <a:rPr lang="en-US" sz="2200" dirty="0">
                <a:latin typeface="Arial" pitchFamily="34" charset="0"/>
                <a:cs typeface="Arial" pitchFamily="34" charset="0"/>
              </a:rPr>
              <a:t> gen </a:t>
            </a:r>
            <a:r>
              <a:rPr lang="en-US" sz="2200" dirty="0" err="1">
                <a:latin typeface="Arial" pitchFamily="34" charset="0"/>
                <a:cs typeface="Arial" pitchFamily="34" charset="0"/>
              </a:rPr>
              <a:t>và</a:t>
            </a:r>
            <a:r>
              <a:rPr lang="en-US" sz="2200" dirty="0">
                <a:latin typeface="Arial" pitchFamily="34" charset="0"/>
                <a:cs typeface="Arial" pitchFamily="34" charset="0"/>
              </a:rPr>
              <a:t> </a:t>
            </a:r>
            <a:r>
              <a:rPr lang="en-US" sz="2200" dirty="0" err="1">
                <a:latin typeface="Arial" pitchFamily="34" charset="0"/>
                <a:cs typeface="Arial" pitchFamily="34" charset="0"/>
              </a:rPr>
              <a:t>phản</a:t>
            </a:r>
            <a:r>
              <a:rPr lang="en-US" sz="2200" dirty="0">
                <a:latin typeface="Arial" pitchFamily="34" charset="0"/>
                <a:cs typeface="Arial" pitchFamily="34" charset="0"/>
              </a:rPr>
              <a:t> </a:t>
            </a:r>
            <a:r>
              <a:rPr lang="en-US" sz="2200" dirty="0" err="1">
                <a:latin typeface="Arial" pitchFamily="34" charset="0"/>
                <a:cs typeface="Arial" pitchFamily="34" charset="0"/>
              </a:rPr>
              <a:t>ứng</a:t>
            </a:r>
            <a:r>
              <a:rPr lang="en-US" sz="2200" dirty="0">
                <a:latin typeface="Arial" pitchFamily="34" charset="0"/>
                <a:cs typeface="Arial" pitchFamily="34" charset="0"/>
              </a:rPr>
              <a:t> </a:t>
            </a:r>
            <a:r>
              <a:rPr lang="en-US" sz="2200" dirty="0" err="1">
                <a:latin typeface="Arial" pitchFamily="34" charset="0"/>
                <a:cs typeface="Arial" pitchFamily="34" charset="0"/>
              </a:rPr>
              <a:t>chuỗi</a:t>
            </a:r>
            <a:r>
              <a:rPr lang="en-US" sz="2200" dirty="0">
                <a:latin typeface="Arial" pitchFamily="34" charset="0"/>
                <a:cs typeface="Arial" pitchFamily="34" charset="0"/>
              </a:rPr>
              <a:t> PCR (polymerase chain reaction) </a:t>
            </a:r>
            <a:r>
              <a:rPr lang="en-US" sz="2200" dirty="0" err="1">
                <a:latin typeface="Arial" pitchFamily="34" charset="0"/>
                <a:cs typeface="Arial" pitchFamily="34" charset="0"/>
              </a:rPr>
              <a:t>có</a:t>
            </a:r>
            <a:r>
              <a:rPr lang="en-US" sz="2200" dirty="0">
                <a:latin typeface="Arial" pitchFamily="34" charset="0"/>
                <a:cs typeface="Arial" pitchFamily="34" charset="0"/>
              </a:rPr>
              <a:t> </a:t>
            </a:r>
            <a:r>
              <a:rPr lang="en-US" sz="2200" dirty="0" err="1">
                <a:latin typeface="Arial" pitchFamily="34" charset="0"/>
                <a:cs typeface="Arial" pitchFamily="34" charset="0"/>
              </a:rPr>
              <a:t>độ</a:t>
            </a:r>
            <a:r>
              <a:rPr lang="en-US" sz="2200" dirty="0">
                <a:latin typeface="Arial" pitchFamily="34" charset="0"/>
                <a:cs typeface="Arial" pitchFamily="34" charset="0"/>
              </a:rPr>
              <a:t> </a:t>
            </a:r>
            <a:r>
              <a:rPr lang="en-US" sz="2200" dirty="0" err="1">
                <a:latin typeface="Arial" pitchFamily="34" charset="0"/>
                <a:cs typeface="Arial" pitchFamily="34" charset="0"/>
              </a:rPr>
              <a:t>nhạy</a:t>
            </a:r>
            <a:r>
              <a:rPr lang="en-US" sz="2200" dirty="0">
                <a:latin typeface="Arial" pitchFamily="34" charset="0"/>
                <a:cs typeface="Arial" pitchFamily="34" charset="0"/>
              </a:rPr>
              <a:t> </a:t>
            </a:r>
            <a:r>
              <a:rPr lang="en-US" sz="2200" dirty="0" err="1">
                <a:latin typeface="Arial" pitchFamily="34" charset="0"/>
                <a:cs typeface="Arial" pitchFamily="34" charset="0"/>
              </a:rPr>
              <a:t>cao</a:t>
            </a:r>
            <a:r>
              <a:rPr lang="en-US" sz="2200" dirty="0">
                <a:latin typeface="Arial" pitchFamily="34" charset="0"/>
                <a:cs typeface="Arial" pitchFamily="34" charset="0"/>
              </a:rPr>
              <a:t>, </a:t>
            </a:r>
            <a:r>
              <a:rPr lang="en-US" sz="2200" dirty="0" err="1">
                <a:latin typeface="Arial" pitchFamily="34" charset="0"/>
                <a:cs typeface="Arial" pitchFamily="34" charset="0"/>
              </a:rPr>
              <a:t>phát</a:t>
            </a:r>
            <a:r>
              <a:rPr lang="en-US" sz="2200" dirty="0">
                <a:latin typeface="Arial" pitchFamily="34" charset="0"/>
                <a:cs typeface="Arial" pitchFamily="34" charset="0"/>
              </a:rPr>
              <a:t> </a:t>
            </a:r>
            <a:r>
              <a:rPr lang="en-US" sz="2200" dirty="0" err="1">
                <a:latin typeface="Arial" pitchFamily="34" charset="0"/>
                <a:cs typeface="Arial" pitchFamily="34" charset="0"/>
              </a:rPr>
              <a:t>hiện</a:t>
            </a:r>
            <a:r>
              <a:rPr lang="en-US" sz="2200" dirty="0">
                <a:latin typeface="Arial" pitchFamily="34" charset="0"/>
                <a:cs typeface="Arial" pitchFamily="34" charset="0"/>
              </a:rPr>
              <a:t> </a:t>
            </a:r>
            <a:r>
              <a:rPr lang="en-US" sz="2200" dirty="0" err="1">
                <a:latin typeface="Arial" pitchFamily="34" charset="0"/>
                <a:cs typeface="Arial" pitchFamily="34" charset="0"/>
              </a:rPr>
              <a:t>được</a:t>
            </a:r>
            <a:r>
              <a:rPr lang="en-US" sz="2200" dirty="0">
                <a:latin typeface="Arial" pitchFamily="34" charset="0"/>
                <a:cs typeface="Arial" pitchFamily="34" charset="0"/>
              </a:rPr>
              <a:t> </a:t>
            </a:r>
            <a:r>
              <a:rPr lang="en-US" sz="2200" dirty="0" err="1">
                <a:latin typeface="Arial" pitchFamily="34" charset="0"/>
                <a:cs typeface="Arial" pitchFamily="34" charset="0"/>
              </a:rPr>
              <a:t>Shigella</a:t>
            </a:r>
            <a:r>
              <a:rPr lang="en-US" sz="2200" dirty="0">
                <a:latin typeface="Arial" pitchFamily="34" charset="0"/>
                <a:cs typeface="Arial" pitchFamily="34" charset="0"/>
              </a:rPr>
              <a:t> </a:t>
            </a:r>
            <a:r>
              <a:rPr lang="en-US" sz="2200" dirty="0" err="1">
                <a:latin typeface="Arial" pitchFamily="34" charset="0"/>
                <a:cs typeface="Arial" pitchFamily="34" charset="0"/>
              </a:rPr>
              <a:t>gấp</a:t>
            </a:r>
            <a:r>
              <a:rPr lang="en-US" sz="2200" dirty="0">
                <a:latin typeface="Arial" pitchFamily="34" charset="0"/>
                <a:cs typeface="Arial" pitchFamily="34" charset="0"/>
              </a:rPr>
              <a:t> 2 </a:t>
            </a:r>
            <a:r>
              <a:rPr lang="en-US" sz="2200" dirty="0" err="1" smtClean="0">
                <a:latin typeface="Arial" pitchFamily="34" charset="0"/>
                <a:cs typeface="Arial" pitchFamily="34" charset="0"/>
              </a:rPr>
              <a:t>lần</a:t>
            </a:r>
            <a:r>
              <a:rPr lang="en-US" sz="2200" dirty="0" smtClean="0">
                <a:latin typeface="Arial" pitchFamily="34" charset="0"/>
                <a:cs typeface="Arial" pitchFamily="34" charset="0"/>
              </a:rPr>
              <a:t>. </a:t>
            </a:r>
            <a:endParaRPr lang="en-US" sz="2200" dirty="0">
              <a:latin typeface="Arial" pitchFamily="34" charset="0"/>
              <a:cs typeface="Arial" pitchFamily="34" charset="0"/>
            </a:endParaRPr>
          </a:p>
          <a:p>
            <a:pPr algn="just">
              <a:buFont typeface="Arial" panose="020B0604020202020204" pitchFamily="34" charset="0"/>
              <a:buChar char="•"/>
            </a:pPr>
            <a:r>
              <a:rPr lang="en-US" sz="2200" dirty="0" err="1" smtClean="0">
                <a:latin typeface="Arial" pitchFamily="34" charset="0"/>
                <a:cs typeface="Arial" pitchFamily="34" charset="0"/>
              </a:rPr>
              <a:t>Phương</a:t>
            </a:r>
            <a:r>
              <a:rPr lang="en-US" sz="2200" dirty="0" smtClean="0">
                <a:latin typeface="Arial" pitchFamily="34" charset="0"/>
                <a:cs typeface="Arial" pitchFamily="34" charset="0"/>
              </a:rPr>
              <a:t> </a:t>
            </a:r>
            <a:r>
              <a:rPr lang="en-US" sz="2200" dirty="0" err="1">
                <a:latin typeface="Arial" pitchFamily="34" charset="0"/>
                <a:cs typeface="Arial" pitchFamily="34" charset="0"/>
              </a:rPr>
              <a:t>pháp</a:t>
            </a:r>
            <a:r>
              <a:rPr lang="en-US" sz="2200" dirty="0">
                <a:latin typeface="Arial" pitchFamily="34" charset="0"/>
                <a:cs typeface="Arial" pitchFamily="34" charset="0"/>
              </a:rPr>
              <a:t> </a:t>
            </a:r>
            <a:r>
              <a:rPr lang="en-US" sz="2200" dirty="0" err="1">
                <a:latin typeface="Arial" pitchFamily="34" charset="0"/>
                <a:cs typeface="Arial" pitchFamily="34" charset="0"/>
              </a:rPr>
              <a:t>miễn</a:t>
            </a:r>
            <a:r>
              <a:rPr lang="en-US" sz="2200" dirty="0">
                <a:latin typeface="Arial" pitchFamily="34" charset="0"/>
                <a:cs typeface="Arial" pitchFamily="34" charset="0"/>
              </a:rPr>
              <a:t> </a:t>
            </a:r>
            <a:r>
              <a:rPr lang="en-US" sz="2200" dirty="0" err="1">
                <a:latin typeface="Arial" pitchFamily="34" charset="0"/>
                <a:cs typeface="Arial" pitchFamily="34" charset="0"/>
              </a:rPr>
              <a:t>dịch</a:t>
            </a:r>
            <a:r>
              <a:rPr lang="en-US" sz="2200" dirty="0">
                <a:latin typeface="Arial" pitchFamily="34" charset="0"/>
                <a:cs typeface="Arial" pitchFamily="34" charset="0"/>
              </a:rPr>
              <a:t> </a:t>
            </a:r>
            <a:r>
              <a:rPr lang="en-US" sz="2200" dirty="0" err="1">
                <a:latin typeface="Arial" pitchFamily="34" charset="0"/>
                <a:cs typeface="Arial" pitchFamily="34" charset="0"/>
              </a:rPr>
              <a:t>huỳnh</a:t>
            </a:r>
            <a:r>
              <a:rPr lang="en-US" sz="2200" dirty="0">
                <a:latin typeface="Arial" pitchFamily="34" charset="0"/>
                <a:cs typeface="Arial" pitchFamily="34" charset="0"/>
              </a:rPr>
              <a:t> </a:t>
            </a:r>
            <a:r>
              <a:rPr lang="en-US" sz="2200" dirty="0" err="1">
                <a:latin typeface="Arial" pitchFamily="34" charset="0"/>
                <a:cs typeface="Arial" pitchFamily="34" charset="0"/>
              </a:rPr>
              <a:t>quang</a:t>
            </a:r>
            <a:r>
              <a:rPr lang="en-US" sz="2200" dirty="0">
                <a:latin typeface="Arial" pitchFamily="34" charset="0"/>
                <a:cs typeface="Arial" pitchFamily="34" charset="0"/>
              </a:rPr>
              <a:t> </a:t>
            </a:r>
            <a:r>
              <a:rPr lang="en-US" sz="2200" dirty="0" err="1">
                <a:latin typeface="Arial" pitchFamily="34" charset="0"/>
                <a:cs typeface="Arial" pitchFamily="34" charset="0"/>
              </a:rPr>
              <a:t>phát</a:t>
            </a:r>
            <a:r>
              <a:rPr lang="en-US" sz="2200" dirty="0">
                <a:latin typeface="Arial" pitchFamily="34" charset="0"/>
                <a:cs typeface="Arial" pitchFamily="34" charset="0"/>
              </a:rPr>
              <a:t> </a:t>
            </a:r>
            <a:r>
              <a:rPr lang="en-US" sz="2200" dirty="0" err="1">
                <a:latin typeface="Arial" pitchFamily="34" charset="0"/>
                <a:cs typeface="Arial" pitchFamily="34" charset="0"/>
              </a:rPr>
              <a:t>hiện</a:t>
            </a:r>
            <a:r>
              <a:rPr lang="en-US" sz="2200" dirty="0">
                <a:latin typeface="Arial" pitchFamily="34" charset="0"/>
                <a:cs typeface="Arial" pitchFamily="34" charset="0"/>
              </a:rPr>
              <a:t> </a:t>
            </a:r>
            <a:r>
              <a:rPr lang="en-US" sz="2200" dirty="0" err="1">
                <a:latin typeface="Arial" pitchFamily="34" charset="0"/>
                <a:cs typeface="Arial" pitchFamily="34" charset="0"/>
              </a:rPr>
              <a:t>được</a:t>
            </a:r>
            <a:r>
              <a:rPr lang="en-US" sz="2200" dirty="0">
                <a:latin typeface="Arial" pitchFamily="34" charset="0"/>
                <a:cs typeface="Arial" pitchFamily="34" charset="0"/>
              </a:rPr>
              <a:t> vi </a:t>
            </a:r>
            <a:r>
              <a:rPr lang="en-US" sz="2200" dirty="0" err="1">
                <a:latin typeface="Arial" pitchFamily="34" charset="0"/>
                <a:cs typeface="Arial" pitchFamily="34" charset="0"/>
              </a:rPr>
              <a:t>khuẩn</a:t>
            </a:r>
            <a:r>
              <a:rPr lang="en-US" sz="2200" dirty="0">
                <a:latin typeface="Arial" pitchFamily="34" charset="0"/>
                <a:cs typeface="Arial" pitchFamily="34" charset="0"/>
              </a:rPr>
              <a:t> </a:t>
            </a:r>
            <a:r>
              <a:rPr lang="en-US" sz="2200" dirty="0" err="1">
                <a:latin typeface="Arial" pitchFamily="34" charset="0"/>
                <a:cs typeface="Arial" pitchFamily="34" charset="0"/>
              </a:rPr>
              <a:t>trong</a:t>
            </a:r>
            <a:r>
              <a:rPr lang="en-US" sz="2200" dirty="0">
                <a:latin typeface="Arial" pitchFamily="34" charset="0"/>
                <a:cs typeface="Arial" pitchFamily="34" charset="0"/>
              </a:rPr>
              <a:t> </a:t>
            </a:r>
            <a:r>
              <a:rPr lang="en-US" sz="2200" dirty="0" err="1">
                <a:latin typeface="Arial" pitchFamily="34" charset="0"/>
                <a:cs typeface="Arial" pitchFamily="34" charset="0"/>
              </a:rPr>
              <a:t>giai</a:t>
            </a:r>
            <a:r>
              <a:rPr lang="en-US" sz="2200" dirty="0">
                <a:latin typeface="Arial" pitchFamily="34" charset="0"/>
                <a:cs typeface="Arial" pitchFamily="34" charset="0"/>
              </a:rPr>
              <a:t> </a:t>
            </a:r>
            <a:r>
              <a:rPr lang="en-US" sz="2200" dirty="0" err="1">
                <a:latin typeface="Arial" pitchFamily="34" charset="0"/>
                <a:cs typeface="Arial" pitchFamily="34" charset="0"/>
              </a:rPr>
              <a:t>đoạn</a:t>
            </a:r>
            <a:r>
              <a:rPr lang="en-US" sz="2200" dirty="0">
                <a:latin typeface="Arial" pitchFamily="34" charset="0"/>
                <a:cs typeface="Arial" pitchFamily="34" charset="0"/>
              </a:rPr>
              <a:t> </a:t>
            </a:r>
            <a:r>
              <a:rPr lang="en-US" sz="2200" dirty="0" err="1">
                <a:latin typeface="Arial" pitchFamily="34" charset="0"/>
                <a:cs typeface="Arial" pitchFamily="34" charset="0"/>
              </a:rPr>
              <a:t>cấp</a:t>
            </a:r>
            <a:r>
              <a:rPr lang="en-US" sz="2200" dirty="0">
                <a:latin typeface="Arial" pitchFamily="34" charset="0"/>
                <a:cs typeface="Arial" pitchFamily="34" charset="0"/>
              </a:rPr>
              <a:t>.</a:t>
            </a:r>
          </a:p>
          <a:p>
            <a:pPr algn="just"/>
            <a:endParaRPr lang="en-US" sz="2200" dirty="0">
              <a:latin typeface="Arial" pitchFamily="34" charset="0"/>
              <a:cs typeface="Arial" pitchFamily="34" charset="0"/>
            </a:endParaRPr>
          </a:p>
        </p:txBody>
      </p:sp>
      <p:sp>
        <p:nvSpPr>
          <p:cNvPr id="4" name="Tiêu đề 1">
            <a:extLst>
              <a:ext uri="{FF2B5EF4-FFF2-40B4-BE49-F238E27FC236}">
                <a16:creationId xmlns:a16="http://schemas.microsoft.com/office/drawing/2014/main" xmlns="" id="{C98A5779-0D20-F746-86A7-119A3BB7F135}"/>
              </a:ext>
            </a:extLst>
          </p:cNvPr>
          <p:cNvSpPr txBox="1">
            <a:spLocks/>
          </p:cNvSpPr>
          <p:nvPr/>
        </p:nvSpPr>
        <p:spPr>
          <a:xfrm>
            <a:off x="228600" y="152400"/>
            <a:ext cx="5928545" cy="458132"/>
          </a:xfrm>
          <a:prstGeom prst="rect">
            <a:avLst/>
          </a:prstGeom>
        </p:spPr>
        <p:txBody>
          <a:bodyPr vert="horz" lIns="68580" tIns="34290" rIns="68580" bIns="34290" rtlCol="0" anchor="ctr">
            <a:noAutofit/>
          </a:bodyPr>
          <a:lstStyle/>
          <a:p>
            <a:pPr algn="just" defTabSz="685800">
              <a:spcBef>
                <a:spcPct val="0"/>
              </a:spcBef>
              <a:defRPr/>
            </a:pPr>
            <a:r>
              <a:rPr lang="en-US" sz="3300" b="1" dirty="0" smtClean="0">
                <a:solidFill>
                  <a:srgbClr val="FF0000"/>
                </a:solidFill>
                <a:latin typeface="Arial" pitchFamily="34" charset="0"/>
                <a:ea typeface="+mj-ea"/>
                <a:cs typeface="Arial" pitchFamily="34" charset="0"/>
              </a:rPr>
              <a:t>VI. CẬN </a:t>
            </a:r>
            <a:r>
              <a:rPr lang="en-US" sz="3300" b="1" dirty="0">
                <a:solidFill>
                  <a:srgbClr val="FF0000"/>
                </a:solidFill>
                <a:latin typeface="Arial" pitchFamily="34" charset="0"/>
                <a:ea typeface="+mj-ea"/>
                <a:cs typeface="Arial" pitchFamily="34" charset="0"/>
              </a:rPr>
              <a:t>LÂM SÀNG</a:t>
            </a:r>
            <a:endParaRPr lang="vi-VN" sz="3300" b="1" dirty="0">
              <a:solidFill>
                <a:srgbClr val="FF0000"/>
              </a:solidFill>
              <a:latin typeface="Arial" pitchFamily="34" charset="0"/>
              <a:ea typeface="+mj-ea"/>
              <a:cs typeface="Arial" pitchFamily="34" charset="0"/>
            </a:endParaRPr>
          </a:p>
        </p:txBody>
      </p:sp>
      <p:sp>
        <p:nvSpPr>
          <p:cNvPr id="5" name="TextBox 4"/>
          <p:cNvSpPr txBox="1"/>
          <p:nvPr/>
        </p:nvSpPr>
        <p:spPr>
          <a:xfrm>
            <a:off x="1135472" y="685800"/>
            <a:ext cx="4114800" cy="553998"/>
          </a:xfrm>
          <a:prstGeom prst="rect">
            <a:avLst/>
          </a:prstGeom>
          <a:noFill/>
        </p:spPr>
        <p:txBody>
          <a:bodyPr wrap="square" rtlCol="0">
            <a:spAutoFit/>
          </a:bodyPr>
          <a:lstStyle/>
          <a:p>
            <a:pPr algn="just"/>
            <a:r>
              <a:rPr lang="en-US" sz="3000" b="1" dirty="0" smtClean="0">
                <a:latin typeface="Arial" pitchFamily="34" charset="0"/>
                <a:cs typeface="Arial" pitchFamily="34" charset="0"/>
              </a:rPr>
              <a:t>3. </a:t>
            </a:r>
            <a:r>
              <a:rPr lang="en-US" sz="3000" b="1" dirty="0" err="1">
                <a:latin typeface="Arial" pitchFamily="34" charset="0"/>
                <a:cs typeface="Arial" pitchFamily="34" charset="0"/>
              </a:rPr>
              <a:t>Xét</a:t>
            </a:r>
            <a:r>
              <a:rPr lang="en-US" sz="3000" b="1" dirty="0">
                <a:latin typeface="Arial" pitchFamily="34" charset="0"/>
                <a:cs typeface="Arial" pitchFamily="34" charset="0"/>
              </a:rPr>
              <a:t> </a:t>
            </a:r>
            <a:r>
              <a:rPr lang="en-US" sz="3000" b="1" dirty="0" err="1">
                <a:latin typeface="Arial" pitchFamily="34" charset="0"/>
                <a:cs typeface="Arial" pitchFamily="34" charset="0"/>
              </a:rPr>
              <a:t>nghiệm</a:t>
            </a:r>
            <a:r>
              <a:rPr lang="en-US" sz="3000" b="1" dirty="0">
                <a:latin typeface="Arial" pitchFamily="34" charset="0"/>
                <a:cs typeface="Arial" pitchFamily="34" charset="0"/>
              </a:rPr>
              <a:t> </a:t>
            </a:r>
            <a:r>
              <a:rPr lang="en-US" sz="3000" b="1" dirty="0" err="1" smtClean="0">
                <a:latin typeface="Arial" pitchFamily="34" charset="0"/>
                <a:cs typeface="Arial" pitchFamily="34" charset="0"/>
              </a:rPr>
              <a:t>khác</a:t>
            </a:r>
            <a:r>
              <a:rPr lang="en-US" sz="3000" b="1" dirty="0" smtClean="0">
                <a:latin typeface="Arial" pitchFamily="34" charset="0"/>
                <a:cs typeface="Arial" pitchFamily="34" charset="0"/>
              </a:rPr>
              <a:t> </a:t>
            </a:r>
            <a:endParaRPr lang="en-US" sz="3000" b="1" dirty="0">
              <a:latin typeface="Arial" pitchFamily="34" charset="0"/>
              <a:cs typeface="Arial" pitchFamily="34" charset="0"/>
            </a:endParaRPr>
          </a:p>
        </p:txBody>
      </p:sp>
    </p:spTree>
    <p:extLst>
      <p:ext uri="{BB962C8B-B14F-4D97-AF65-F5344CB8AC3E}">
        <p14:creationId xmlns:p14="http://schemas.microsoft.com/office/powerpoint/2010/main" val="2217126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342900" y="1524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 CHẨN ĐOÁN</a:t>
            </a:r>
            <a:endParaRPr lang="vi-VN" sz="4000" b="1" dirty="0">
              <a:solidFill>
                <a:srgbClr val="FF0000"/>
              </a:solidFill>
              <a:latin typeface="Arial" pitchFamily="34" charset="0"/>
              <a:ea typeface="+mj-ea"/>
              <a:cs typeface="Arial" pitchFamily="34" charset="0"/>
            </a:endParaRPr>
          </a:p>
        </p:txBody>
      </p:sp>
      <p:sp>
        <p:nvSpPr>
          <p:cNvPr id="5" name="TextBox 4"/>
          <p:cNvSpPr txBox="1"/>
          <p:nvPr/>
        </p:nvSpPr>
        <p:spPr>
          <a:xfrm>
            <a:off x="1295400" y="740285"/>
            <a:ext cx="5334000" cy="553998"/>
          </a:xfrm>
          <a:prstGeom prst="rect">
            <a:avLst/>
          </a:prstGeom>
          <a:noFill/>
        </p:spPr>
        <p:txBody>
          <a:bodyPr wrap="square" rtlCol="0">
            <a:spAutoFit/>
          </a:bodyPr>
          <a:lstStyle/>
          <a:p>
            <a:pPr algn="just"/>
            <a:r>
              <a:rPr lang="en-US" sz="3000" b="1" dirty="0" smtClean="0">
                <a:latin typeface="Arial" panose="020B0604020202020204" pitchFamily="34" charset="0"/>
                <a:cs typeface="Arial" panose="020B0604020202020204" pitchFamily="34" charset="0"/>
              </a:rPr>
              <a:t>6.1. </a:t>
            </a:r>
            <a:r>
              <a:rPr lang="en-US" sz="3000" b="1" dirty="0" err="1" smtClean="0">
                <a:latin typeface="Arial" panose="020B0604020202020204" pitchFamily="34" charset="0"/>
                <a:cs typeface="Arial" panose="020B0604020202020204" pitchFamily="34" charset="0"/>
              </a:rPr>
              <a:t>Chẩn</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đoán</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xác</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định</a:t>
            </a:r>
            <a:endParaRPr lang="en-US" sz="3000" b="1" dirty="0">
              <a:latin typeface="Arial" panose="020B0604020202020204" pitchFamily="34" charset="0"/>
              <a:cs typeface="Arial" panose="020B0604020202020204" pitchFamily="34" charset="0"/>
            </a:endParaRPr>
          </a:p>
        </p:txBody>
      </p:sp>
      <p:sp>
        <p:nvSpPr>
          <p:cNvPr id="6" name="TextBox 5"/>
          <p:cNvSpPr txBox="1"/>
          <p:nvPr/>
        </p:nvSpPr>
        <p:spPr>
          <a:xfrm>
            <a:off x="342900" y="1676400"/>
            <a:ext cx="8077200" cy="4339650"/>
          </a:xfrm>
          <a:prstGeom prst="rect">
            <a:avLst/>
          </a:prstGeom>
          <a:noFill/>
        </p:spPr>
        <p:txBody>
          <a:bodyPr wrap="square" rtlCol="0">
            <a:spAutoFit/>
          </a:bodyPr>
          <a:lstStyle/>
          <a:p>
            <a:pPr algn="just"/>
            <a:r>
              <a:rPr lang="en-US" sz="2400" b="1" dirty="0">
                <a:latin typeface="Arial" panose="020B0604020202020204" pitchFamily="34" charset="0"/>
                <a:cs typeface="Arial" panose="020B0604020202020204" pitchFamily="34" charset="0"/>
              </a:rPr>
              <a:t>- </a:t>
            </a:r>
            <a:r>
              <a:rPr lang="en-US" sz="2400" b="1" i="1" dirty="0" err="1">
                <a:latin typeface="Arial" panose="020B0604020202020204" pitchFamily="34" charset="0"/>
                <a:cs typeface="Arial" panose="020B0604020202020204" pitchFamily="34" charset="0"/>
              </a:rPr>
              <a:t>Lâm</a:t>
            </a:r>
            <a:r>
              <a:rPr lang="en-US" sz="2400" b="1" i="1" dirty="0">
                <a:latin typeface="Arial" panose="020B0604020202020204" pitchFamily="34" charset="0"/>
                <a:cs typeface="Arial" panose="020B0604020202020204" pitchFamily="34" charset="0"/>
              </a:rPr>
              <a:t> </a:t>
            </a:r>
            <a:r>
              <a:rPr lang="en-US" sz="2400" b="1" i="1" dirty="0" err="1">
                <a:latin typeface="Arial" panose="020B0604020202020204" pitchFamily="34" charset="0"/>
                <a:cs typeface="Arial" panose="020B0604020202020204" pitchFamily="34" charset="0"/>
              </a:rPr>
              <a:t>sàng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gồm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hội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chứng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nhiễm</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trùng</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nhiễm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hội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chứng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lỵ</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biểu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hiện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rõ</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rệt</a:t>
            </a:r>
            <a:r>
              <a:rPr lang="en-US" sz="2400" dirty="0">
                <a:latin typeface="Arial" panose="020B0604020202020204" pitchFamily="34" charset="0"/>
                <a:cs typeface="Arial" panose="020B0604020202020204" pitchFamily="34" charset="0"/>
              </a:rPr>
              <a:t>. </a:t>
            </a:r>
          </a:p>
          <a:p>
            <a:pPr algn="just">
              <a:lnSpc>
                <a:spcPct val="150000"/>
              </a:lnSpc>
            </a:pP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 </a:t>
            </a:r>
            <a:r>
              <a:rPr lang="en-US" sz="2400" b="1" i="1" dirty="0" err="1">
                <a:latin typeface="Arial" panose="020B0604020202020204" pitchFamily="34" charset="0"/>
                <a:cs typeface="Arial" panose="020B0604020202020204" pitchFamily="34" charset="0"/>
              </a:rPr>
              <a:t>Cận</a:t>
            </a:r>
            <a:r>
              <a:rPr lang="en-US" sz="2400" b="1" i="1" dirty="0">
                <a:latin typeface="Arial" panose="020B0604020202020204" pitchFamily="34" charset="0"/>
                <a:cs typeface="Arial" panose="020B0604020202020204" pitchFamily="34" charset="0"/>
              </a:rPr>
              <a:t> </a:t>
            </a:r>
            <a:r>
              <a:rPr lang="en-US" sz="2400" b="1" i="1" dirty="0" err="1">
                <a:latin typeface="Arial" panose="020B0604020202020204" pitchFamily="34" charset="0"/>
                <a:cs typeface="Arial" panose="020B0604020202020204" pitchFamily="34" charset="0"/>
              </a:rPr>
              <a:t>lâm</a:t>
            </a:r>
            <a:r>
              <a:rPr lang="en-US" sz="2400" b="1" i="1" dirty="0">
                <a:latin typeface="Arial" panose="020B0604020202020204" pitchFamily="34" charset="0"/>
                <a:cs typeface="Arial" panose="020B0604020202020204" pitchFamily="34" charset="0"/>
              </a:rPr>
              <a:t> </a:t>
            </a:r>
            <a:r>
              <a:rPr lang="en-US" sz="2400" b="1" i="1" dirty="0" err="1">
                <a:latin typeface="Arial" panose="020B0604020202020204" pitchFamily="34" charset="0"/>
                <a:cs typeface="Arial" panose="020B0604020202020204" pitchFamily="34" charset="0"/>
              </a:rPr>
              <a:t>sàng</a:t>
            </a:r>
            <a:r>
              <a:rPr lang="en-US" sz="2400" dirty="0">
                <a:latin typeface="Arial" panose="020B0604020202020204" pitchFamily="34" charset="0"/>
                <a:cs typeface="Arial" panose="020B0604020202020204" pitchFamily="34" charset="0"/>
              </a:rPr>
              <a:t>: </a:t>
            </a:r>
          </a:p>
          <a:p>
            <a:pPr algn="just"/>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Soi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thấy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nhiều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hồng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cầu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cầu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amip</a:t>
            </a:r>
            <a:r>
              <a:rPr lang="en-US" sz="2400" dirty="0" smtClean="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T</a:t>
            </a:r>
            <a:r>
              <a:rPr lang="en-US" sz="2400" i="1" dirty="0" err="1" smtClean="0">
                <a:latin typeface="Arial" panose="020B0604020202020204" pitchFamily="34" charset="0"/>
                <a:cs typeface="Arial" panose="020B0604020202020204" pitchFamily="34" charset="0"/>
              </a:rPr>
              <a:t>iêu</a:t>
            </a:r>
            <a:r>
              <a:rPr lang="en-US" sz="2400" i="1" dirty="0" smtClean="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chuẩn</a:t>
            </a:r>
            <a:r>
              <a:rPr lang="en-US" sz="2400" i="1"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vàng</a:t>
            </a:r>
            <a:r>
              <a:rPr lang="en-US" sz="2400" i="1"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là</a:t>
            </a:r>
            <a:r>
              <a:rPr lang="en-US" sz="2400" i="1"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cấy</a:t>
            </a:r>
            <a:r>
              <a:rPr lang="en-US" sz="2400" i="1"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phân</a:t>
            </a:r>
            <a:r>
              <a:rPr lang="en-US" sz="2400" i="1"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phân</a:t>
            </a:r>
            <a:r>
              <a:rPr lang="en-US" sz="2400" i="1"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lập</a:t>
            </a:r>
            <a:r>
              <a:rPr lang="en-US" sz="2400" i="1"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được</a:t>
            </a:r>
            <a:r>
              <a:rPr lang="en-US" sz="2400" i="1"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Shigella</a:t>
            </a:r>
            <a:r>
              <a:rPr lang="en-US" sz="2400" i="1" dirty="0">
                <a:latin typeface="Arial" panose="020B0604020202020204" pitchFamily="34" charset="0"/>
                <a:cs typeface="Arial" panose="020B0604020202020204" pitchFamily="34" charset="0"/>
              </a:rPr>
              <a:t>. </a:t>
            </a:r>
          </a:p>
          <a:p>
            <a:pPr algn="just"/>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Soi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tràng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toàn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bộ</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niêm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đại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tràng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phù</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nề</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xung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huyết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nhiều</a:t>
            </a:r>
            <a:r>
              <a:rPr lang="en-US" sz="2400" dirty="0">
                <a:latin typeface="Arial" panose="020B0604020202020204" pitchFamily="34" charset="0"/>
                <a:cs typeface="Arial" panose="020B0604020202020204" pitchFamily="34" charset="0"/>
              </a:rPr>
              <a:t> ổ </a:t>
            </a:r>
            <a:r>
              <a:rPr lang="en-US" sz="2400" dirty="0" err="1">
                <a:latin typeface="Arial" panose="020B0604020202020204" pitchFamily="34" charset="0"/>
                <a:cs typeface="Arial" panose="020B0604020202020204" pitchFamily="34" charset="0"/>
              </a:rPr>
              <a:t>loét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rộng</a:t>
            </a:r>
            <a:r>
              <a:rPr lang="en-US" sz="2400" dirty="0">
                <a:latin typeface="Arial" panose="020B0604020202020204" pitchFamily="34" charset="0"/>
                <a:cs typeface="Arial" panose="020B0604020202020204" pitchFamily="34" charset="0"/>
              </a:rPr>
              <a:t>.</a:t>
            </a:r>
          </a:p>
          <a:p>
            <a:pPr algn="just">
              <a:lnSpc>
                <a:spcPct val="150000"/>
              </a:lnSpc>
            </a:pPr>
            <a:r>
              <a:rPr lang="en-US" sz="2400" b="1" dirty="0">
                <a:latin typeface="Arial" panose="020B0604020202020204" pitchFamily="34" charset="0"/>
                <a:cs typeface="Arial" panose="020B0604020202020204" pitchFamily="34" charset="0"/>
              </a:rPr>
              <a:t>- </a:t>
            </a:r>
            <a:r>
              <a:rPr lang="en-US" sz="2400" b="1" i="1" dirty="0" err="1">
                <a:latin typeface="Arial" panose="020B0604020202020204" pitchFamily="34" charset="0"/>
                <a:cs typeface="Arial" panose="020B0604020202020204" pitchFamily="34" charset="0"/>
              </a:rPr>
              <a:t>Dịch</a:t>
            </a:r>
            <a:r>
              <a:rPr lang="en-US" sz="2400" b="1" i="1" dirty="0">
                <a:latin typeface="Arial" panose="020B0604020202020204" pitchFamily="34" charset="0"/>
                <a:cs typeface="Arial" panose="020B0604020202020204" pitchFamily="34" charset="0"/>
              </a:rPr>
              <a:t> </a:t>
            </a:r>
            <a:r>
              <a:rPr lang="en-US" sz="2400" b="1" i="1" dirty="0" err="1">
                <a:latin typeface="Arial" panose="020B0604020202020204" pitchFamily="34" charset="0"/>
                <a:cs typeface="Arial" panose="020B0604020202020204" pitchFamily="34" charset="0"/>
              </a:rPr>
              <a:t>tễ</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trong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cùng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điểm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cùng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môi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trường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nhiều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mắc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tương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nhau</a:t>
            </a:r>
            <a:r>
              <a:rPr lang="en-US" sz="24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66626081"/>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86105" y="1524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 CHẨN ĐOÁN</a:t>
            </a:r>
            <a:endParaRPr lang="vi-VN" sz="4000" b="1" dirty="0">
              <a:solidFill>
                <a:srgbClr val="FF0000"/>
              </a:solidFill>
              <a:latin typeface="Arial" pitchFamily="34" charset="0"/>
              <a:ea typeface="+mj-ea"/>
              <a:cs typeface="Arial" pitchFamily="34" charset="0"/>
            </a:endParaRPr>
          </a:p>
        </p:txBody>
      </p:sp>
      <p:sp>
        <p:nvSpPr>
          <p:cNvPr id="5" name="Title 1"/>
          <p:cNvSpPr>
            <a:spLocks noGrp="1"/>
          </p:cNvSpPr>
          <p:nvPr>
            <p:ph type="title"/>
          </p:nvPr>
        </p:nvSpPr>
        <p:spPr>
          <a:xfrm>
            <a:off x="1230117" y="685800"/>
            <a:ext cx="6683765" cy="533400"/>
          </a:xfrm>
        </p:spPr>
        <p:txBody>
          <a:bodyPr>
            <a:noAutofit/>
          </a:bodyPr>
          <a:lstStyle/>
          <a:p>
            <a:pPr algn="just"/>
            <a:r>
              <a:rPr lang="en-US" sz="3000" b="1" dirty="0" smtClean="0">
                <a:latin typeface="Arial" panose="020B0604020202020204" pitchFamily="34" charset="0"/>
                <a:cs typeface="Arial" panose="020B0604020202020204" pitchFamily="34" charset="0"/>
              </a:rPr>
              <a:t>6.2. </a:t>
            </a:r>
            <a:r>
              <a:rPr lang="en-US" sz="3000" b="1" dirty="0" err="1" smtClean="0">
                <a:latin typeface="Arial" panose="020B0604020202020204" pitchFamily="34" charset="0"/>
                <a:cs typeface="Arial" panose="020B0604020202020204" pitchFamily="34" charset="0"/>
              </a:rPr>
              <a:t>Chẩn</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đoán</a:t>
            </a:r>
            <a:r>
              <a:rPr lang="en-US" sz="3000" b="1" dirty="0" smtClean="0">
                <a:latin typeface="Arial" panose="020B0604020202020204" pitchFamily="34" charset="0"/>
                <a:cs typeface="Arial" panose="020B0604020202020204" pitchFamily="34" charset="0"/>
              </a:rPr>
              <a:t> phân biệt:</a:t>
            </a:r>
            <a:endParaRPr lang="en-US" sz="3000" b="1" dirty="0">
              <a:latin typeface="Arial" panose="020B0604020202020204" pitchFamily="34" charset="0"/>
              <a:cs typeface="Arial" panose="020B0604020202020204" pitchFamily="34" charset="0"/>
            </a:endParaRPr>
          </a:p>
        </p:txBody>
      </p:sp>
      <p:sp>
        <p:nvSpPr>
          <p:cNvPr id="8" name="TextBox 7"/>
          <p:cNvSpPr txBox="1"/>
          <p:nvPr/>
        </p:nvSpPr>
        <p:spPr>
          <a:xfrm>
            <a:off x="457200" y="1447800"/>
            <a:ext cx="8534400" cy="4873129"/>
          </a:xfrm>
          <a:prstGeom prst="rect">
            <a:avLst/>
          </a:prstGeom>
          <a:noFill/>
        </p:spPr>
        <p:txBody>
          <a:bodyPr wrap="square" rtlCol="0">
            <a:spAutoFit/>
          </a:bodyPr>
          <a:lstStyle/>
          <a:p>
            <a:pPr algn="just"/>
            <a:r>
              <a:rPr lang="en-US" sz="2400" b="1" dirty="0" smtClean="0">
                <a:latin typeface="Arial" panose="020B0604020202020204" pitchFamily="34" charset="0"/>
                <a:cs typeface="Arial" panose="020B0604020202020204" pitchFamily="34" charset="0"/>
              </a:rPr>
              <a:t>a, </a:t>
            </a:r>
            <a:r>
              <a:rPr lang="en-US" sz="2400" b="1" dirty="0" err="1">
                <a:latin typeface="Arial" panose="020B0604020202020204" pitchFamily="34" charset="0"/>
                <a:cs typeface="Arial" panose="020B0604020202020204" pitchFamily="34" charset="0"/>
              </a:rPr>
              <a:t>Lỵ</a:t>
            </a:r>
            <a:r>
              <a:rPr lang="en-US" sz="2400" b="1" dirty="0">
                <a:latin typeface="Arial" panose="020B0604020202020204" pitchFamily="34" charset="0"/>
                <a:cs typeface="Arial" panose="020B0604020202020204" pitchFamily="34" charset="0"/>
              </a:rPr>
              <a:t> do a </a:t>
            </a:r>
            <a:r>
              <a:rPr lang="en-US" sz="2400" b="1" dirty="0" err="1">
                <a:latin typeface="Arial" panose="020B0604020202020204" pitchFamily="34" charset="0"/>
                <a:cs typeface="Arial" panose="020B0604020202020204" pitchFamily="34" charset="0"/>
              </a:rPr>
              <a:t>mip</a:t>
            </a:r>
            <a:r>
              <a:rPr lang="en-US" sz="2400" dirty="0">
                <a:latin typeface="Arial" panose="020B0604020202020204" pitchFamily="34" charset="0"/>
                <a:cs typeface="Arial" panose="020B0604020202020204" pitchFamily="34" charset="0"/>
              </a:rPr>
              <a:t>:</a:t>
            </a:r>
          </a:p>
          <a:p>
            <a:pPr marL="342900" indent="-342900" algn="just">
              <a:lnSpc>
                <a:spcPct val="150000"/>
              </a:lnSpc>
              <a:buFont typeface="Wingdings" panose="05000000000000000000" pitchFamily="2" charset="2"/>
              <a:buChar char="v"/>
            </a:pPr>
            <a:r>
              <a:rPr lang="en-US" sz="2200" dirty="0" err="1" smtClean="0">
                <a:latin typeface="Arial" panose="020B0604020202020204" pitchFamily="34" charset="0"/>
                <a:cs typeface="Arial" panose="020B0604020202020204" pitchFamily="34" charset="0"/>
              </a:rPr>
              <a:t>Lâm</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sàng</a:t>
            </a:r>
            <a:r>
              <a:rPr lang="en-US" sz="2200" dirty="0" smtClean="0">
                <a:latin typeface="Arial" panose="020B0604020202020204" pitchFamily="34" charset="0"/>
                <a:cs typeface="Arial" panose="020B0604020202020204" pitchFamily="34" charset="0"/>
              </a:rPr>
              <a:t>: </a:t>
            </a:r>
          </a:p>
          <a:p>
            <a:pPr algn="just">
              <a:lnSpc>
                <a:spcPct val="150000"/>
              </a:lnSpc>
            </a:pPr>
            <a:r>
              <a:rPr lang="en-US" sz="2200" dirty="0" smtClean="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HCNT :</a:t>
            </a:r>
            <a:r>
              <a:rPr lang="en-US" sz="2200" dirty="0" err="1" smtClean="0">
                <a:latin typeface="Arial" panose="020B0604020202020204" pitchFamily="34" charset="0"/>
                <a:cs typeface="Arial" panose="020B0604020202020204" pitchFamily="34" charset="0"/>
              </a:rPr>
              <a:t>không</a:t>
            </a:r>
            <a:r>
              <a:rPr lang="en-US" sz="2200" dirty="0" smtClean="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rõ</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sốt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nhẹ</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hoặc</a:t>
            </a:r>
            <a:r>
              <a:rPr lang="en-US" sz="2200" dirty="0">
                <a:latin typeface="Arial" panose="020B0604020202020204" pitchFamily="34" charset="0"/>
                <a:cs typeface="Arial" panose="020B0604020202020204" pitchFamily="34" charset="0"/>
              </a:rPr>
              <a:t> , </a:t>
            </a:r>
            <a:r>
              <a:rPr lang="en-US" sz="2200" dirty="0" err="1">
                <a:latin typeface="Arial" panose="020B0604020202020204" pitchFamily="34" charset="0"/>
                <a:cs typeface="Arial" panose="020B0604020202020204" pitchFamily="34" charset="0"/>
              </a:rPr>
              <a:t>toàn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thân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ít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thay</a:t>
            </a:r>
            <a:r>
              <a:rPr lang="en-US" sz="2200" dirty="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đổi</a:t>
            </a:r>
            <a:r>
              <a:rPr lang="en-US" sz="2200" dirty="0" smtClean="0">
                <a:latin typeface="Arial" panose="020B0604020202020204" pitchFamily="34" charset="0"/>
                <a:cs typeface="Arial" panose="020B0604020202020204" pitchFamily="34" charset="0"/>
              </a:rPr>
              <a:t>.</a:t>
            </a:r>
          </a:p>
          <a:p>
            <a:pPr algn="just"/>
            <a:r>
              <a:rPr lang="en-US" sz="2200" dirty="0" smtClean="0">
                <a:latin typeface="Arial" panose="020B0604020202020204" pitchFamily="34" charset="0"/>
                <a:cs typeface="Arial" panose="020B0604020202020204" pitchFamily="34" charset="0"/>
              </a:rPr>
              <a:t>	+</a:t>
            </a:r>
            <a:r>
              <a:rPr lang="en-US" sz="2200" dirty="0" err="1" smtClean="0">
                <a:solidFill>
                  <a:srgbClr val="000000"/>
                </a:solidFill>
                <a:latin typeface="Arial" panose="020B0604020202020204" pitchFamily="34" charset="0"/>
                <a:ea typeface="Times New Roman"/>
                <a:cs typeface="Arial" panose="020B0604020202020204" pitchFamily="34" charset="0"/>
              </a:rPr>
              <a:t>Hội</a:t>
            </a:r>
            <a:r>
              <a:rPr lang="en-US" sz="2200" dirty="0" smtClean="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chứng</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lỵ</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amip</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đặc</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trưng</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đau</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quặn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vùng</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hố</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chậu</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phải</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có</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dấu</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hiệu</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đi</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ngoài</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giả</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mót</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smtClean="0">
                <a:solidFill>
                  <a:srgbClr val="000000"/>
                </a:solidFill>
                <a:latin typeface="Arial" panose="020B0604020202020204" pitchFamily="34" charset="0"/>
                <a:ea typeface="Times New Roman"/>
                <a:cs typeface="Arial" panose="020B0604020202020204" pitchFamily="34" charset="0"/>
              </a:rPr>
              <a:t>rặn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số</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lần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đi</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ngoài</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ít</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nhầy</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và</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máu</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trong</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phân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thường</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riêng</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rẽ</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số</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lượng</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smtClean="0">
                <a:solidFill>
                  <a:srgbClr val="000000"/>
                </a:solidFill>
                <a:latin typeface="Arial" panose="020B0604020202020204" pitchFamily="34" charset="0"/>
                <a:ea typeface="Times New Roman"/>
                <a:cs typeface="Arial" panose="020B0604020202020204" pitchFamily="34" charset="0"/>
              </a:rPr>
              <a:t>ít</a:t>
            </a:r>
            <a:r>
              <a:rPr lang="en-US" sz="2200" dirty="0" smtClean="0">
                <a:solidFill>
                  <a:srgbClr val="000000"/>
                </a:solidFill>
                <a:latin typeface="Arial" panose="020B0604020202020204" pitchFamily="34" charset="0"/>
                <a:ea typeface="Times New Roman"/>
                <a:cs typeface="Arial" panose="020B0604020202020204" pitchFamily="34" charset="0"/>
              </a:rPr>
              <a:t>.</a:t>
            </a:r>
          </a:p>
          <a:p>
            <a:pPr marL="342900" marR="104140" indent="-342900" algn="just">
              <a:lnSpc>
                <a:spcPct val="150000"/>
              </a:lnSpc>
              <a:spcAft>
                <a:spcPts val="685"/>
              </a:spcAft>
              <a:buFont typeface="Wingdings" panose="05000000000000000000" pitchFamily="2" charset="2"/>
              <a:buChar char="v"/>
            </a:pPr>
            <a:r>
              <a:rPr lang="en-US" sz="2200" dirty="0" err="1" smtClean="0">
                <a:latin typeface="Arial" panose="020B0604020202020204" pitchFamily="34" charset="0"/>
                <a:cs typeface="Arial" panose="020B0604020202020204" pitchFamily="34" charset="0"/>
              </a:rPr>
              <a:t>Cận</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lâm</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sàng</a:t>
            </a:r>
            <a:r>
              <a:rPr lang="en-US" sz="2200" dirty="0" smtClean="0">
                <a:latin typeface="Arial" panose="020B0604020202020204" pitchFamily="34" charset="0"/>
                <a:cs typeface="Arial" panose="020B0604020202020204" pitchFamily="34" charset="0"/>
              </a:rPr>
              <a:t>:</a:t>
            </a:r>
          </a:p>
          <a:p>
            <a:pPr marL="6350" marR="104140" indent="-6350" algn="just">
              <a:spcAft>
                <a:spcPts val="685"/>
              </a:spcAft>
            </a:pPr>
            <a:r>
              <a:rPr lang="en-US" sz="2200" dirty="0" smtClean="0">
                <a:latin typeface="Arial" panose="020B0604020202020204" pitchFamily="34" charset="0"/>
                <a:cs typeface="Arial" panose="020B0604020202020204" pitchFamily="34" charset="0"/>
              </a:rPr>
              <a:t>		+ </a:t>
            </a:r>
            <a:r>
              <a:rPr lang="en-US" sz="2200" dirty="0" err="1" smtClean="0">
                <a:solidFill>
                  <a:srgbClr val="000000"/>
                </a:solidFill>
                <a:latin typeface="Arial" panose="020B0604020202020204" pitchFamily="34" charset="0"/>
                <a:ea typeface="Times New Roman"/>
                <a:cs typeface="Arial" panose="020B0604020202020204" pitchFamily="34" charset="0"/>
              </a:rPr>
              <a:t>Soi</a:t>
            </a:r>
            <a:r>
              <a:rPr lang="en-US" sz="2200" dirty="0" smtClean="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cấy</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phân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có</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nhiều</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bạch</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cầu</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đơn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nhân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có</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thể</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amip</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ăn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hồng</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smtClean="0">
                <a:solidFill>
                  <a:srgbClr val="000000"/>
                </a:solidFill>
                <a:latin typeface="Arial" panose="020B0604020202020204" pitchFamily="34" charset="0"/>
                <a:ea typeface="Times New Roman"/>
                <a:cs typeface="Arial" panose="020B0604020202020204" pitchFamily="34" charset="0"/>
              </a:rPr>
              <a:t>cầu</a:t>
            </a:r>
            <a:r>
              <a:rPr lang="en-US" sz="2200" dirty="0" smtClean="0">
                <a:solidFill>
                  <a:srgbClr val="000000"/>
                </a:solidFill>
                <a:latin typeface="Arial" panose="020B0604020202020204" pitchFamily="34" charset="0"/>
                <a:ea typeface="Times New Roman"/>
                <a:cs typeface="Arial" panose="020B0604020202020204" pitchFamily="34" charset="0"/>
              </a:rPr>
              <a:t>.</a:t>
            </a:r>
          </a:p>
          <a:p>
            <a:pPr marL="6350" marR="104140" indent="-6350" algn="just">
              <a:spcAft>
                <a:spcPts val="685"/>
              </a:spcAft>
            </a:pPr>
            <a:r>
              <a:rPr lang="en-US" sz="2200" dirty="0" smtClean="0">
                <a:solidFill>
                  <a:srgbClr val="000000"/>
                </a:solidFill>
                <a:latin typeface="Arial" panose="020B0604020202020204" pitchFamily="34" charset="0"/>
                <a:ea typeface="Times New Roman"/>
                <a:cs typeface="Arial" panose="020B0604020202020204" pitchFamily="34" charset="0"/>
              </a:rPr>
              <a:t>		+</a:t>
            </a:r>
            <a:r>
              <a:rPr lang="en-US" sz="2200" dirty="0" err="1" smtClean="0">
                <a:solidFill>
                  <a:srgbClr val="000000"/>
                </a:solidFill>
                <a:latin typeface="Arial" panose="020B0604020202020204" pitchFamily="34" charset="0"/>
                <a:ea typeface="Times New Roman"/>
                <a:cs typeface="Arial" panose="020B0604020202020204" pitchFamily="34" charset="0"/>
              </a:rPr>
              <a:t>Soi</a:t>
            </a:r>
            <a:r>
              <a:rPr lang="en-US" sz="2200" dirty="0" smtClean="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trực</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tràng</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thấy</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các</a:t>
            </a:r>
            <a:r>
              <a:rPr lang="en-US" sz="2200" dirty="0">
                <a:solidFill>
                  <a:srgbClr val="000000"/>
                </a:solidFill>
                <a:latin typeface="Arial" panose="020B0604020202020204" pitchFamily="34" charset="0"/>
                <a:ea typeface="Times New Roman"/>
                <a:cs typeface="Arial" panose="020B0604020202020204" pitchFamily="34" charset="0"/>
              </a:rPr>
              <a:t> ổ </a:t>
            </a:r>
            <a:r>
              <a:rPr lang="en-US" sz="2200" dirty="0" err="1">
                <a:solidFill>
                  <a:srgbClr val="000000"/>
                </a:solidFill>
                <a:latin typeface="Arial" panose="020B0604020202020204" pitchFamily="34" charset="0"/>
                <a:ea typeface="Times New Roman"/>
                <a:cs typeface="Arial" panose="020B0604020202020204" pitchFamily="34" charset="0"/>
              </a:rPr>
              <a:t>loét</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nhỏ</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sâu</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bờ</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nham</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nhở</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trên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nền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niêm</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mạc</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gần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như</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bình</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thường</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tổn</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thương</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thưa</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a:solidFill>
                  <a:srgbClr val="000000"/>
                </a:solidFill>
                <a:latin typeface="Arial" panose="020B0604020202020204" pitchFamily="34" charset="0"/>
                <a:ea typeface="Times New Roman"/>
                <a:cs typeface="Arial" panose="020B0604020202020204" pitchFamily="34" charset="0"/>
              </a:rPr>
              <a:t>rải</a:t>
            </a:r>
            <a:r>
              <a:rPr lang="en-US" sz="2200" dirty="0">
                <a:solidFill>
                  <a:srgbClr val="000000"/>
                </a:solidFill>
                <a:latin typeface="Arial" panose="020B0604020202020204" pitchFamily="34" charset="0"/>
                <a:ea typeface="Times New Roman"/>
                <a:cs typeface="Arial" panose="020B0604020202020204" pitchFamily="34" charset="0"/>
              </a:rPr>
              <a:t> </a:t>
            </a:r>
            <a:r>
              <a:rPr lang="en-US" sz="2200" dirty="0" err="1" smtClean="0">
                <a:solidFill>
                  <a:srgbClr val="000000"/>
                </a:solidFill>
                <a:latin typeface="Arial" panose="020B0604020202020204" pitchFamily="34" charset="0"/>
                <a:ea typeface="Times New Roman"/>
                <a:cs typeface="Arial" panose="020B0604020202020204" pitchFamily="34" charset="0"/>
              </a:rPr>
              <a:t>rác</a:t>
            </a:r>
            <a:r>
              <a:rPr lang="en-US" sz="2200" dirty="0" smtClean="0">
                <a:solidFill>
                  <a:srgbClr val="000000"/>
                </a:solidFill>
                <a:latin typeface="Arial" panose="020B0604020202020204" pitchFamily="34" charset="0"/>
                <a:ea typeface="Times New Roman"/>
                <a:cs typeface="Arial" panose="020B0604020202020204" pitchFamily="34" charset="0"/>
              </a:rPr>
              <a:t>.</a:t>
            </a:r>
            <a:endParaRPr lang="en-US" sz="2200" dirty="0"/>
          </a:p>
        </p:txBody>
      </p:sp>
    </p:spTree>
    <p:extLst>
      <p:ext uri="{BB962C8B-B14F-4D97-AF65-F5344CB8AC3E}">
        <p14:creationId xmlns:p14="http://schemas.microsoft.com/office/powerpoint/2010/main" val="41241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 calcmode="lin" valueType="num">
                                      <p:cBhvr additive="base">
                                        <p:cTn id="12"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230117" y="700380"/>
            <a:ext cx="6683765" cy="533400"/>
          </a:xfrm>
        </p:spPr>
        <p:txBody>
          <a:bodyPr>
            <a:noAutofit/>
          </a:bodyPr>
          <a:lstStyle/>
          <a:p>
            <a:pPr algn="just"/>
            <a:r>
              <a:rPr lang="en-US" sz="3000" b="1" dirty="0" smtClean="0">
                <a:latin typeface="Arial" panose="020B0604020202020204" pitchFamily="34" charset="0"/>
                <a:cs typeface="Arial" panose="020B0604020202020204" pitchFamily="34" charset="0"/>
              </a:rPr>
              <a:t>6.2. </a:t>
            </a:r>
            <a:r>
              <a:rPr lang="en-US" sz="3000" b="1" dirty="0" err="1" smtClean="0">
                <a:latin typeface="Arial" panose="020B0604020202020204" pitchFamily="34" charset="0"/>
                <a:cs typeface="Arial" panose="020B0604020202020204" pitchFamily="34" charset="0"/>
              </a:rPr>
              <a:t>Chẩn</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đoán</a:t>
            </a:r>
            <a:r>
              <a:rPr lang="en-US" sz="3000" b="1" dirty="0" smtClean="0">
                <a:latin typeface="Arial" panose="020B0604020202020204" pitchFamily="34" charset="0"/>
                <a:cs typeface="Arial" panose="020B0604020202020204" pitchFamily="34" charset="0"/>
              </a:rPr>
              <a:t> phân biệt:</a:t>
            </a:r>
            <a:endParaRPr lang="en-US" sz="3000" b="1" dirty="0">
              <a:latin typeface="Arial" panose="020B0604020202020204" pitchFamily="34" charset="0"/>
              <a:cs typeface="Arial" panose="020B0604020202020204" pitchFamily="34" charset="0"/>
            </a:endParaRPr>
          </a:p>
        </p:txBody>
      </p:sp>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86105" y="2286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 CHẨN ĐOÁN</a:t>
            </a:r>
            <a:endParaRPr lang="vi-VN" sz="4000" b="1" dirty="0">
              <a:solidFill>
                <a:srgbClr val="FF0000"/>
              </a:solidFill>
              <a:latin typeface="Arial" pitchFamily="34" charset="0"/>
              <a:ea typeface="+mj-ea"/>
              <a:cs typeface="Arial" pitchFamily="34" charset="0"/>
            </a:endParaRPr>
          </a:p>
        </p:txBody>
      </p:sp>
      <p:sp>
        <p:nvSpPr>
          <p:cNvPr id="6" name="Content Placeholder 2"/>
          <p:cNvSpPr txBox="1">
            <a:spLocks/>
          </p:cNvSpPr>
          <p:nvPr/>
        </p:nvSpPr>
        <p:spPr>
          <a:xfrm>
            <a:off x="457200" y="1430740"/>
            <a:ext cx="4114800" cy="131246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dk1"/>
                </a:solidFill>
                <a:latin typeface="+mn-lt"/>
                <a:ea typeface="+mn-ea"/>
                <a:cs typeface="+mn-cs"/>
              </a:defRPr>
            </a:lvl9pPr>
          </a:lstStyle>
          <a:p>
            <a:pPr marL="0" indent="0" algn="just">
              <a:buNone/>
            </a:pPr>
            <a:r>
              <a:rPr lang="en-US" sz="2200" b="1" dirty="0" smtClean="0">
                <a:latin typeface="Arial" panose="020B0604020202020204" pitchFamily="34" charset="0"/>
                <a:cs typeface="Arial" panose="020B0604020202020204" pitchFamily="34" charset="0"/>
              </a:rPr>
              <a:t>b, Polyp </a:t>
            </a:r>
            <a:r>
              <a:rPr lang="en-US" sz="2200" b="1" dirty="0" err="1" smtClean="0">
                <a:latin typeface="Arial" panose="020B0604020202020204" pitchFamily="34" charset="0"/>
                <a:cs typeface="Arial" panose="020B0604020202020204" pitchFamily="34" charset="0"/>
              </a:rPr>
              <a:t>trực</a:t>
            </a:r>
            <a:r>
              <a:rPr lang="en-US" sz="2200" b="1" dirty="0" smtClean="0">
                <a:latin typeface="Arial" panose="020B0604020202020204" pitchFamily="34" charset="0"/>
                <a:cs typeface="Arial" panose="020B0604020202020204" pitchFamily="34" charset="0"/>
              </a:rPr>
              <a:t> </a:t>
            </a:r>
            <a:r>
              <a:rPr lang="en-US" sz="2200" b="1" dirty="0" err="1" smtClean="0">
                <a:latin typeface="Arial" panose="020B0604020202020204" pitchFamily="34" charset="0"/>
                <a:cs typeface="Arial" panose="020B0604020202020204" pitchFamily="34" charset="0"/>
              </a:rPr>
              <a:t>tràng</a:t>
            </a:r>
            <a:r>
              <a:rPr lang="en-US" sz="2200" dirty="0" smtClean="0">
                <a:latin typeface="Arial" panose="020B0604020202020204" pitchFamily="34" charset="0"/>
                <a:cs typeface="Arial" panose="020B0604020202020204" pitchFamily="34" charset="0"/>
              </a:rPr>
              <a:t>: </a:t>
            </a:r>
            <a:endParaRPr lang="en-US" sz="2200" dirty="0">
              <a:latin typeface="Arial" panose="020B0604020202020204" pitchFamily="34" charset="0"/>
              <a:cs typeface="Arial" panose="020B0604020202020204" pitchFamily="34" charset="0"/>
            </a:endParaRPr>
          </a:p>
          <a:p>
            <a:pPr algn="just">
              <a:buFont typeface="Arial" panose="020B0604020202020204" pitchFamily="34" charset="0"/>
              <a:buChar char="•"/>
            </a:pPr>
            <a:r>
              <a:rPr lang="en-US" sz="2200" dirty="0" err="1" smtClean="0">
                <a:latin typeface="Arial" panose="020B0604020202020204" pitchFamily="34" charset="0"/>
                <a:cs typeface="Arial" panose="020B0604020202020204" pitchFamily="34" charset="0"/>
              </a:rPr>
              <a:t>Hội</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chứng</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nhiễm</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trùng</a:t>
            </a:r>
            <a:r>
              <a:rPr lang="en-US" sz="2200" dirty="0" smtClean="0">
                <a:latin typeface="Arial" panose="020B0604020202020204" pitchFamily="34" charset="0"/>
                <a:cs typeface="Arial" panose="020B0604020202020204" pitchFamily="34" charset="0"/>
              </a:rPr>
              <a:t>(-).</a:t>
            </a:r>
          </a:p>
          <a:p>
            <a:pPr algn="just">
              <a:buFont typeface="Arial" panose="020B0604020202020204" pitchFamily="34" charset="0"/>
              <a:buChar char="•"/>
            </a:pPr>
            <a:r>
              <a:rPr lang="en-US" sz="2200" dirty="0" err="1">
                <a:latin typeface="Arial" panose="020B0604020202020204" pitchFamily="34" charset="0"/>
                <a:cs typeface="Arial" panose="020B0604020202020204" pitchFamily="34" charset="0"/>
              </a:rPr>
              <a:t>S</a:t>
            </a:r>
            <a:r>
              <a:rPr lang="en-US" sz="2200" dirty="0" err="1" smtClean="0">
                <a:latin typeface="Arial" panose="020B0604020202020204" pitchFamily="34" charset="0"/>
                <a:cs typeface="Arial" panose="020B0604020202020204" pitchFamily="34" charset="0"/>
              </a:rPr>
              <a:t>oi</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trực</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tràng</a:t>
            </a:r>
            <a:r>
              <a:rPr lang="en-US" sz="2200" dirty="0" smtClean="0">
                <a:latin typeface="Arial" panose="020B0604020202020204" pitchFamily="34" charset="0"/>
                <a:cs typeface="Arial" panose="020B0604020202020204" pitchFamily="34" charset="0"/>
              </a:rPr>
              <a:t> </a:t>
            </a:r>
            <a:r>
              <a:rPr lang="en-US" sz="2200" dirty="0" err="1" smtClean="0">
                <a:latin typeface="Arial" panose="020B0604020202020204" pitchFamily="34" charset="0"/>
                <a:cs typeface="Arial" panose="020B0604020202020204" pitchFamily="34" charset="0"/>
              </a:rPr>
              <a:t>có</a:t>
            </a:r>
            <a:r>
              <a:rPr lang="en-US" sz="2200" dirty="0" smtClean="0">
                <a:latin typeface="Arial" panose="020B0604020202020204" pitchFamily="34" charset="0"/>
                <a:cs typeface="Arial" panose="020B0604020202020204" pitchFamily="34" charset="0"/>
              </a:rPr>
              <a:t> polyp.</a:t>
            </a:r>
          </a:p>
          <a:p>
            <a:pPr marL="0" indent="0" algn="just">
              <a:buNone/>
            </a:pPr>
            <a:r>
              <a:rPr lang="en-US" sz="2200" dirty="0" smtClean="0">
                <a:latin typeface="Arial" panose="020B0604020202020204" pitchFamily="34" charset="0"/>
                <a:cs typeface="Arial" panose="020B0604020202020204" pitchFamily="34" charset="0"/>
              </a:rPr>
              <a:t> </a:t>
            </a:r>
            <a:endParaRPr lang="en-US" sz="2200"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0" y="1247428"/>
            <a:ext cx="4076700" cy="2181572"/>
          </a:xfrm>
          <a:prstGeom prst="rect">
            <a:avLst/>
          </a:prstGeom>
        </p:spPr>
      </p:pic>
      <p:sp>
        <p:nvSpPr>
          <p:cNvPr id="2" name="TextBox 1"/>
          <p:cNvSpPr txBox="1"/>
          <p:nvPr/>
        </p:nvSpPr>
        <p:spPr>
          <a:xfrm>
            <a:off x="457200" y="3886200"/>
            <a:ext cx="8153400" cy="2790508"/>
          </a:xfrm>
          <a:prstGeom prst="rect">
            <a:avLst/>
          </a:prstGeom>
          <a:noFill/>
        </p:spPr>
        <p:txBody>
          <a:bodyPr wrap="square" rtlCol="0">
            <a:spAutoFit/>
          </a:bodyPr>
          <a:lstStyle/>
          <a:p>
            <a:pPr marR="106045" algn="just">
              <a:lnSpc>
                <a:spcPct val="110000"/>
              </a:lnSpc>
              <a:spcAft>
                <a:spcPts val="1395"/>
              </a:spcAft>
            </a:pPr>
            <a:r>
              <a:rPr lang="en-US" sz="2000" b="1" dirty="0">
                <a:solidFill>
                  <a:srgbClr val="000000"/>
                </a:solidFill>
                <a:latin typeface="Arial" panose="020B0604020202020204" pitchFamily="34" charset="0"/>
                <a:ea typeface="Times New Roman"/>
                <a:cs typeface="Arial" panose="020B0604020202020204" pitchFamily="34" charset="0"/>
              </a:rPr>
              <a:t>c</a:t>
            </a:r>
            <a:r>
              <a:rPr lang="en-US" sz="2000" b="1" dirty="0" smtClean="0">
                <a:solidFill>
                  <a:srgbClr val="000000"/>
                </a:solidFill>
                <a:latin typeface="Arial" panose="020B0604020202020204" pitchFamily="34" charset="0"/>
                <a:ea typeface="Times New Roman"/>
                <a:cs typeface="Arial" panose="020B0604020202020204" pitchFamily="34" charset="0"/>
              </a:rPr>
              <a:t>, </a:t>
            </a:r>
            <a:r>
              <a:rPr lang="en-US" sz="2000" b="1" dirty="0" err="1" smtClean="0">
                <a:solidFill>
                  <a:srgbClr val="000000"/>
                </a:solidFill>
                <a:latin typeface="Arial" panose="020B0604020202020204" pitchFamily="34" charset="0"/>
                <a:ea typeface="Times New Roman"/>
                <a:cs typeface="Arial" panose="020B0604020202020204" pitchFamily="34" charset="0"/>
              </a:rPr>
              <a:t>Với</a:t>
            </a:r>
            <a:r>
              <a:rPr lang="en-US" sz="2000" b="1" dirty="0" smtClean="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nhiễm</a:t>
            </a:r>
            <a:r>
              <a:rPr lang="en-US" sz="2000" b="1" dirty="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trùng</a:t>
            </a:r>
            <a:r>
              <a:rPr lang="en-US" sz="2000" b="1" dirty="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nhiễm</a:t>
            </a:r>
            <a:r>
              <a:rPr lang="en-US" sz="2000" b="1" dirty="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độc</a:t>
            </a:r>
            <a:r>
              <a:rPr lang="en-US" sz="2000" b="1" dirty="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thức</a:t>
            </a:r>
            <a:r>
              <a:rPr lang="en-US" sz="2000" b="1" dirty="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ăn</a:t>
            </a:r>
            <a:r>
              <a:rPr lang="en-US" sz="2000" b="1" dirty="0">
                <a:solidFill>
                  <a:srgbClr val="000000"/>
                </a:solidFill>
                <a:latin typeface="Arial" panose="020B0604020202020204" pitchFamily="34" charset="0"/>
                <a:ea typeface="Times New Roman"/>
                <a:cs typeface="Arial" panose="020B0604020202020204" pitchFamily="34" charset="0"/>
              </a:rPr>
              <a:t> do </a:t>
            </a:r>
            <a:r>
              <a:rPr lang="en-US" sz="2000" b="1" i="1" dirty="0">
                <a:solidFill>
                  <a:srgbClr val="000000"/>
                </a:solidFill>
                <a:latin typeface="Arial" panose="020B0604020202020204" pitchFamily="34" charset="0"/>
                <a:ea typeface="Times New Roman"/>
                <a:cs typeface="Arial" panose="020B0604020202020204" pitchFamily="34" charset="0"/>
              </a:rPr>
              <a:t>Salmonella</a:t>
            </a:r>
            <a:r>
              <a:rPr lang="en-US" sz="2000" b="1" dirty="0">
                <a:solidFill>
                  <a:srgbClr val="000000"/>
                </a:solidFill>
                <a:latin typeface="Arial" panose="020B0604020202020204" pitchFamily="34" charset="0"/>
                <a:ea typeface="Times New Roman"/>
                <a:cs typeface="Arial" panose="020B0604020202020204" pitchFamily="34" charset="0"/>
              </a:rPr>
              <a:t>  </a:t>
            </a:r>
          </a:p>
          <a:p>
            <a:pPr marR="106045" algn="just">
              <a:lnSpc>
                <a:spcPct val="110000"/>
              </a:lnSpc>
              <a:spcAft>
                <a:spcPts val="1395"/>
              </a:spcAft>
            </a:pP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Thời</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gian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nung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bệnh</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ngắn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Sốt</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cao</a:t>
            </a:r>
            <a:r>
              <a:rPr lang="en-US" sz="2000" dirty="0">
                <a:solidFill>
                  <a:srgbClr val="000000"/>
                </a:solidFill>
                <a:latin typeface="Arial" panose="020B0604020202020204" pitchFamily="34" charset="0"/>
                <a:ea typeface="Times New Roman"/>
                <a:cs typeface="Arial" panose="020B0604020202020204" pitchFamily="34" charset="0"/>
              </a:rPr>
              <a:t> 39- 40</a:t>
            </a:r>
            <a:r>
              <a:rPr lang="en-US" sz="2000" baseline="30000" dirty="0">
                <a:solidFill>
                  <a:srgbClr val="000000"/>
                </a:solidFill>
                <a:latin typeface="Arial" panose="020B0604020202020204" pitchFamily="34" charset="0"/>
                <a:ea typeface="Times New Roman"/>
                <a:cs typeface="Arial" panose="020B0604020202020204" pitchFamily="34" charset="0"/>
              </a:rPr>
              <a:t>o</a:t>
            </a:r>
            <a:r>
              <a:rPr lang="en-US" sz="2000" dirty="0">
                <a:solidFill>
                  <a:srgbClr val="000000"/>
                </a:solidFill>
                <a:latin typeface="Arial" panose="020B0604020202020204" pitchFamily="34" charset="0"/>
                <a:ea typeface="Times New Roman"/>
                <a:cs typeface="Arial" panose="020B0604020202020204" pitchFamily="34" charset="0"/>
              </a:rPr>
              <a:t>C </a:t>
            </a:r>
            <a:r>
              <a:rPr lang="en-US" sz="2000" dirty="0" err="1">
                <a:solidFill>
                  <a:srgbClr val="000000"/>
                </a:solidFill>
                <a:latin typeface="Arial" panose="020B0604020202020204" pitchFamily="34" charset="0"/>
                <a:ea typeface="Times New Roman"/>
                <a:cs typeface="Arial" panose="020B0604020202020204" pitchFamily="34" charset="0"/>
              </a:rPr>
              <a:t>và</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có</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rét</a:t>
            </a:r>
            <a:r>
              <a:rPr lang="en-US" sz="2000" dirty="0">
                <a:solidFill>
                  <a:srgbClr val="000000"/>
                </a:solidFill>
                <a:latin typeface="Arial" panose="020B0604020202020204" pitchFamily="34" charset="0"/>
                <a:ea typeface="Times New Roman"/>
                <a:cs typeface="Arial" panose="020B0604020202020204" pitchFamily="34" charset="0"/>
              </a:rPr>
              <a:t> run. </a:t>
            </a:r>
            <a:r>
              <a:rPr lang="en-US" sz="2000" dirty="0" err="1">
                <a:solidFill>
                  <a:srgbClr val="000000"/>
                </a:solidFill>
                <a:latin typeface="Arial" panose="020B0604020202020204" pitchFamily="34" charset="0"/>
                <a:ea typeface="Times New Roman"/>
                <a:cs typeface="Arial" panose="020B0604020202020204" pitchFamily="34" charset="0"/>
              </a:rPr>
              <a:t>Hội</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chứng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viêm</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dạ</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dày</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ruột</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nổi</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bật</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ngay</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từ</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đầu</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với</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nôn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nhiều</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đau</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bụng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vùng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thượng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vị</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và</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quanh</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rốn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đi</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ngoài</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dễ</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dàng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ít</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khi</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có</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mót</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rặn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Phân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lỏng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khối</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lượng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nhiều</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lẫn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thức</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ăn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chưa</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tiêu</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Cấy</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phân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thấy</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i="1" dirty="0">
                <a:solidFill>
                  <a:srgbClr val="000000"/>
                </a:solidFill>
                <a:latin typeface="Arial" panose="020B0604020202020204" pitchFamily="34" charset="0"/>
                <a:ea typeface="Times New Roman"/>
                <a:cs typeface="Arial" panose="020B0604020202020204" pitchFamily="34" charset="0"/>
              </a:rPr>
              <a:t>Salmonella</a:t>
            </a:r>
            <a:r>
              <a:rPr lang="en-US" sz="2000" dirty="0">
                <a:solidFill>
                  <a:srgbClr val="000000"/>
                </a:solidFill>
                <a:latin typeface="Arial" panose="020B0604020202020204" pitchFamily="34" charset="0"/>
                <a:ea typeface="Times New Roman"/>
                <a:cs typeface="Arial" panose="020B0604020202020204" pitchFamily="34" charset="0"/>
              </a:rPr>
              <a:t>. </a:t>
            </a:r>
          </a:p>
          <a:p>
            <a:endParaRPr lang="en-US" sz="2000" dirty="0"/>
          </a:p>
        </p:txBody>
      </p:sp>
    </p:spTree>
    <p:extLst>
      <p:ext uri="{BB962C8B-B14F-4D97-AF65-F5344CB8AC3E}">
        <p14:creationId xmlns:p14="http://schemas.microsoft.com/office/powerpoint/2010/main" val="3891644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230117" y="724366"/>
            <a:ext cx="6683765" cy="533400"/>
          </a:xfrm>
        </p:spPr>
        <p:txBody>
          <a:bodyPr>
            <a:noAutofit/>
          </a:bodyPr>
          <a:lstStyle/>
          <a:p>
            <a:pPr algn="just"/>
            <a:r>
              <a:rPr lang="en-US" sz="3000" b="1" dirty="0" smtClean="0">
                <a:latin typeface="Arial" panose="020B0604020202020204" pitchFamily="34" charset="0"/>
                <a:cs typeface="Arial" panose="020B0604020202020204" pitchFamily="34" charset="0"/>
              </a:rPr>
              <a:t>6.2. </a:t>
            </a:r>
            <a:r>
              <a:rPr lang="en-US" sz="3000" b="1" dirty="0" err="1" smtClean="0">
                <a:latin typeface="Arial" panose="020B0604020202020204" pitchFamily="34" charset="0"/>
                <a:cs typeface="Arial" panose="020B0604020202020204" pitchFamily="34" charset="0"/>
              </a:rPr>
              <a:t>Chẩn</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đoán</a:t>
            </a:r>
            <a:r>
              <a:rPr lang="en-US" sz="3000" b="1" dirty="0" smtClean="0">
                <a:latin typeface="Arial" panose="020B0604020202020204" pitchFamily="34" charset="0"/>
                <a:cs typeface="Arial" panose="020B0604020202020204" pitchFamily="34" charset="0"/>
              </a:rPr>
              <a:t> phân biệt:</a:t>
            </a:r>
            <a:endParaRPr lang="en-US" sz="3000" b="1" dirty="0">
              <a:latin typeface="Arial" panose="020B0604020202020204" pitchFamily="34" charset="0"/>
              <a:cs typeface="Arial" panose="020B0604020202020204" pitchFamily="34" charset="0"/>
            </a:endParaRPr>
          </a:p>
        </p:txBody>
      </p:sp>
      <p:sp>
        <p:nvSpPr>
          <p:cNvPr id="5" name="Tiêu đề 1">
            <a:extLst>
              <a:ext uri="{FF2B5EF4-FFF2-40B4-BE49-F238E27FC236}">
                <a16:creationId xmlns="" xmlns:a16="http://schemas.microsoft.com/office/drawing/2014/main" id="{C98A5779-0D20-F746-86A7-119A3BB7F135}"/>
              </a:ext>
            </a:extLst>
          </p:cNvPr>
          <p:cNvSpPr txBox="1">
            <a:spLocks/>
          </p:cNvSpPr>
          <p:nvPr/>
        </p:nvSpPr>
        <p:spPr>
          <a:xfrm>
            <a:off x="211126" y="1524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 CHẨN ĐOÁN</a:t>
            </a:r>
            <a:endParaRPr lang="vi-VN" sz="4000" b="1" dirty="0">
              <a:solidFill>
                <a:srgbClr val="FF0000"/>
              </a:solidFill>
              <a:latin typeface="Arial" pitchFamily="34" charset="0"/>
              <a:ea typeface="+mj-ea"/>
              <a:cs typeface="Arial" pitchFamily="34" charset="0"/>
            </a:endParaRPr>
          </a:p>
        </p:txBody>
      </p:sp>
      <p:sp>
        <p:nvSpPr>
          <p:cNvPr id="2" name="TextBox 1"/>
          <p:cNvSpPr txBox="1"/>
          <p:nvPr/>
        </p:nvSpPr>
        <p:spPr>
          <a:xfrm>
            <a:off x="838200" y="1638645"/>
            <a:ext cx="7924800" cy="2446824"/>
          </a:xfrm>
          <a:prstGeom prst="rect">
            <a:avLst/>
          </a:prstGeom>
          <a:noFill/>
        </p:spPr>
        <p:txBody>
          <a:bodyPr wrap="square" rtlCol="0">
            <a:spAutoFit/>
          </a:bodyPr>
          <a:lstStyle/>
          <a:p>
            <a:pPr marR="106045" algn="just">
              <a:lnSpc>
                <a:spcPct val="110000"/>
              </a:lnSpc>
              <a:spcAft>
                <a:spcPts val="1450"/>
              </a:spcAft>
            </a:pPr>
            <a:r>
              <a:rPr lang="en-US" sz="2000" b="1" dirty="0">
                <a:solidFill>
                  <a:srgbClr val="000000"/>
                </a:solidFill>
                <a:latin typeface="Arial" panose="020B0604020202020204" pitchFamily="34" charset="0"/>
                <a:ea typeface="Times New Roman"/>
                <a:cs typeface="Arial" panose="020B0604020202020204" pitchFamily="34" charset="0"/>
              </a:rPr>
              <a:t>d, </a:t>
            </a:r>
            <a:r>
              <a:rPr lang="en-US" sz="2000" b="1" dirty="0" err="1">
                <a:solidFill>
                  <a:srgbClr val="000000"/>
                </a:solidFill>
                <a:latin typeface="Arial" panose="020B0604020202020204" pitchFamily="34" charset="0"/>
                <a:ea typeface="Times New Roman"/>
                <a:cs typeface="Arial" panose="020B0604020202020204" pitchFamily="34" charset="0"/>
              </a:rPr>
              <a:t>Với</a:t>
            </a:r>
            <a:r>
              <a:rPr lang="en-US" sz="2000" b="1" dirty="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ỉa</a:t>
            </a:r>
            <a:r>
              <a:rPr lang="en-US" sz="2000" b="1" dirty="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chảy</a:t>
            </a:r>
            <a:r>
              <a:rPr lang="en-US" sz="2000" b="1" dirty="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xuất</a:t>
            </a:r>
            <a:r>
              <a:rPr lang="en-US" sz="2000" b="1" dirty="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huyết</a:t>
            </a:r>
            <a:r>
              <a:rPr lang="en-US" sz="2000" b="1" dirty="0">
                <a:solidFill>
                  <a:srgbClr val="000000"/>
                </a:solidFill>
                <a:latin typeface="Arial" panose="020B0604020202020204" pitchFamily="34" charset="0"/>
                <a:ea typeface="Times New Roman"/>
                <a:cs typeface="Arial" panose="020B0604020202020204" pitchFamily="34" charset="0"/>
              </a:rPr>
              <a:t> do </a:t>
            </a:r>
            <a:r>
              <a:rPr lang="en-US" sz="2000" b="1" i="1" dirty="0">
                <a:solidFill>
                  <a:srgbClr val="000000"/>
                </a:solidFill>
                <a:latin typeface="Arial" panose="020B0604020202020204" pitchFamily="34" charset="0"/>
                <a:ea typeface="Times New Roman"/>
                <a:cs typeface="Arial" panose="020B0604020202020204" pitchFamily="34" charset="0"/>
              </a:rPr>
              <a:t>E. coli</a:t>
            </a:r>
            <a:r>
              <a:rPr lang="en-US" sz="2000" b="1" dirty="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xâm</a:t>
            </a:r>
            <a:r>
              <a:rPr lang="en-US" sz="2000" b="1" dirty="0">
                <a:solidFill>
                  <a:srgbClr val="000000"/>
                </a:solidFill>
                <a:latin typeface="Arial" panose="020B0604020202020204" pitchFamily="34" charset="0"/>
                <a:ea typeface="Times New Roman"/>
                <a:cs typeface="Arial" panose="020B0604020202020204" pitchFamily="34" charset="0"/>
              </a:rPr>
              <a:t> </a:t>
            </a:r>
            <a:r>
              <a:rPr lang="en-US" sz="2000" b="1" dirty="0" err="1">
                <a:solidFill>
                  <a:srgbClr val="000000"/>
                </a:solidFill>
                <a:latin typeface="Arial" panose="020B0604020202020204" pitchFamily="34" charset="0"/>
                <a:ea typeface="Times New Roman"/>
                <a:cs typeface="Arial" panose="020B0604020202020204" pitchFamily="34" charset="0"/>
              </a:rPr>
              <a:t>nhập</a:t>
            </a:r>
            <a:r>
              <a:rPr lang="en-US" sz="2000" dirty="0">
                <a:solidFill>
                  <a:srgbClr val="000000"/>
                </a:solidFill>
                <a:latin typeface="Arial" panose="020B0604020202020204" pitchFamily="34" charset="0"/>
                <a:ea typeface="Times New Roman"/>
                <a:cs typeface="Arial" panose="020B0604020202020204" pitchFamily="34" charset="0"/>
              </a:rPr>
              <a:t> </a:t>
            </a:r>
            <a:endParaRPr lang="en-US" sz="2000" b="1" dirty="0" smtClean="0">
              <a:solidFill>
                <a:srgbClr val="000000"/>
              </a:solidFill>
              <a:latin typeface="Arial" panose="020B0604020202020204" pitchFamily="34" charset="0"/>
              <a:ea typeface="Times New Roman"/>
              <a:cs typeface="Arial" panose="020B0604020202020204" pitchFamily="34" charset="0"/>
            </a:endParaRPr>
          </a:p>
          <a:p>
            <a:pPr marR="106045" algn="just">
              <a:lnSpc>
                <a:spcPct val="110000"/>
              </a:lnSpc>
              <a:spcAft>
                <a:spcPts val="1450"/>
              </a:spcAft>
            </a:pPr>
            <a:r>
              <a:rPr lang="en-US" sz="2000" dirty="0" err="1" smtClean="0">
                <a:solidFill>
                  <a:srgbClr val="000000"/>
                </a:solidFill>
                <a:latin typeface="Arial" panose="020B0604020202020204" pitchFamily="34" charset="0"/>
                <a:ea typeface="Times New Roman"/>
                <a:cs typeface="Arial" panose="020B0604020202020204" pitchFamily="34" charset="0"/>
              </a:rPr>
              <a:t>Lỵ</a:t>
            </a:r>
            <a:r>
              <a:rPr lang="en-US" sz="2000" dirty="0" smtClean="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trực</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khuẩn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và</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i="1" dirty="0">
                <a:solidFill>
                  <a:srgbClr val="000000"/>
                </a:solidFill>
                <a:latin typeface="Arial" panose="020B0604020202020204" pitchFamily="34" charset="0"/>
                <a:ea typeface="Times New Roman"/>
                <a:cs typeface="Arial" panose="020B0604020202020204" pitchFamily="34" charset="0"/>
              </a:rPr>
              <a:t>EIEC</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có</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bệnh</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cảnh</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lâm</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sàng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khá</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tương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đồng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cũng</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sốt</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ỉa</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máu</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Hiện</a:t>
            </a:r>
            <a:r>
              <a:rPr lang="en-US" sz="2000" dirty="0">
                <a:solidFill>
                  <a:srgbClr val="000000"/>
                </a:solidFill>
                <a:latin typeface="Arial" panose="020B0604020202020204" pitchFamily="34" charset="0"/>
                <a:ea typeface="Times New Roman"/>
                <a:cs typeface="Arial" panose="020B0604020202020204" pitchFamily="34" charset="0"/>
              </a:rPr>
              <a:t> nay, </a:t>
            </a:r>
            <a:r>
              <a:rPr lang="en-US" sz="2000" dirty="0" err="1">
                <a:solidFill>
                  <a:srgbClr val="000000"/>
                </a:solidFill>
                <a:latin typeface="Arial" panose="020B0604020202020204" pitchFamily="34" charset="0"/>
                <a:ea typeface="Times New Roman"/>
                <a:cs typeface="Arial" panose="020B0604020202020204" pitchFamily="34" charset="0"/>
              </a:rPr>
              <a:t>người</a:t>
            </a:r>
            <a:r>
              <a:rPr lang="en-US" sz="2000" dirty="0">
                <a:solidFill>
                  <a:srgbClr val="000000"/>
                </a:solidFill>
                <a:latin typeface="Arial" panose="020B0604020202020204" pitchFamily="34" charset="0"/>
                <a:ea typeface="Times New Roman"/>
                <a:cs typeface="Arial" panose="020B0604020202020204" pitchFamily="34" charset="0"/>
              </a:rPr>
              <a:t> ta </a:t>
            </a:r>
            <a:r>
              <a:rPr lang="en-US" sz="2000" dirty="0" err="1">
                <a:solidFill>
                  <a:srgbClr val="000000"/>
                </a:solidFill>
                <a:latin typeface="Arial" panose="020B0604020202020204" pitchFamily="34" charset="0"/>
                <a:ea typeface="Times New Roman"/>
                <a:cs typeface="Arial" panose="020B0604020202020204" pitchFamily="34" charset="0"/>
              </a:rPr>
              <a:t>coi</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cả</a:t>
            </a:r>
            <a:r>
              <a:rPr lang="en-US" sz="2000" dirty="0">
                <a:solidFill>
                  <a:srgbClr val="000000"/>
                </a:solidFill>
                <a:latin typeface="Arial" panose="020B0604020202020204" pitchFamily="34" charset="0"/>
                <a:ea typeface="Times New Roman"/>
                <a:cs typeface="Arial" panose="020B0604020202020204" pitchFamily="34" charset="0"/>
              </a:rPr>
              <a:t> 2 vi </a:t>
            </a:r>
            <a:r>
              <a:rPr lang="en-US" sz="2000" dirty="0" err="1">
                <a:solidFill>
                  <a:srgbClr val="000000"/>
                </a:solidFill>
                <a:latin typeface="Arial" panose="020B0604020202020204" pitchFamily="34" charset="0"/>
                <a:ea typeface="Times New Roman"/>
                <a:cs typeface="Arial" panose="020B0604020202020204" pitchFamily="34" charset="0"/>
              </a:rPr>
              <a:t>khuẩn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đều</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là</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trực</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khuẩn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lỵ</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Chẩn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đoán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phân</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biệt</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chủ</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yếu</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dựa</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vào</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cấy</a:t>
            </a:r>
            <a:r>
              <a:rPr lang="en-US" sz="2000" dirty="0">
                <a:solidFill>
                  <a:srgbClr val="000000"/>
                </a:solidFill>
                <a:latin typeface="Arial" panose="020B0604020202020204" pitchFamily="34" charset="0"/>
                <a:ea typeface="Times New Roman"/>
                <a:cs typeface="Arial" panose="020B0604020202020204" pitchFamily="34" charset="0"/>
              </a:rPr>
              <a:t> </a:t>
            </a:r>
            <a:r>
              <a:rPr lang="en-US" sz="2000" dirty="0" err="1">
                <a:solidFill>
                  <a:srgbClr val="000000"/>
                </a:solidFill>
                <a:latin typeface="Arial" panose="020B0604020202020204" pitchFamily="34" charset="0"/>
                <a:ea typeface="Times New Roman"/>
                <a:cs typeface="Arial" panose="020B0604020202020204" pitchFamily="34" charset="0"/>
              </a:rPr>
              <a:t>phân</a:t>
            </a:r>
            <a:r>
              <a:rPr lang="en-US" sz="2000" dirty="0">
                <a:solidFill>
                  <a:srgbClr val="000000"/>
                </a:solidFill>
                <a:latin typeface="Arial" panose="020B0604020202020204" pitchFamily="34" charset="0"/>
                <a:ea typeface="Times New Roman"/>
                <a:cs typeface="Arial" panose="020B0604020202020204" pitchFamily="34" charset="0"/>
              </a:rPr>
              <a:t>. </a:t>
            </a:r>
          </a:p>
          <a:p>
            <a:pPr algn="just"/>
            <a:endParaRPr lang="en-US" sz="2000" dirty="0">
              <a:latin typeface="Arial" panose="020B0604020202020204" pitchFamily="34" charset="0"/>
              <a:cs typeface="Arial" panose="020B0604020202020204" pitchFamily="34" charset="0"/>
            </a:endParaRPr>
          </a:p>
          <a:p>
            <a:pPr algn="just"/>
            <a:endParaRPr lang="en-US" sz="2000" dirty="0"/>
          </a:p>
        </p:txBody>
      </p:sp>
      <p:sp>
        <p:nvSpPr>
          <p:cNvPr id="7" name="TextBox 6"/>
          <p:cNvSpPr txBox="1"/>
          <p:nvPr/>
        </p:nvSpPr>
        <p:spPr>
          <a:xfrm>
            <a:off x="838200" y="4343400"/>
            <a:ext cx="7950958" cy="1015663"/>
          </a:xfrm>
          <a:prstGeom prst="rect">
            <a:avLst/>
          </a:prstGeom>
          <a:noFill/>
        </p:spPr>
        <p:txBody>
          <a:bodyPr wrap="square" rtlCol="0">
            <a:spAutoFit/>
          </a:bodyPr>
          <a:lstStyle/>
          <a:p>
            <a:pPr algn="just"/>
            <a:r>
              <a:rPr lang="en-US" sz="2000" b="1" dirty="0">
                <a:latin typeface="Arial" panose="020B0604020202020204" pitchFamily="34" charset="0"/>
                <a:cs typeface="Arial" panose="020B0604020202020204" pitchFamily="34" charset="0"/>
              </a:rPr>
              <a:t>e, </a:t>
            </a:r>
            <a:r>
              <a:rPr lang="en-US" sz="2000" b="1" dirty="0" err="1">
                <a:latin typeface="Arial" panose="020B0604020202020204" pitchFamily="34" charset="0"/>
                <a:cs typeface="Arial" panose="020B0604020202020204" pitchFamily="34" charset="0"/>
              </a:rPr>
              <a:t>Lồng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ruột</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Thăm</a:t>
            </a:r>
            <a:r>
              <a:rPr lang="en-US" sz="2000" dirty="0" smtClean="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tràng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máu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theo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găng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siêu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âm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lồng</a:t>
            </a:r>
            <a:r>
              <a:rPr lang="en-US" sz="2000" dirty="0">
                <a:latin typeface="Arial" panose="020B0604020202020204" pitchFamily="34" charset="0"/>
                <a:cs typeface="Arial" panose="020B0604020202020204" pitchFamily="34" charset="0"/>
              </a:rPr>
              <a:t>.</a:t>
            </a:r>
          </a:p>
          <a:p>
            <a:endParaRPr lang="en-US" sz="2000" dirty="0"/>
          </a:p>
        </p:txBody>
      </p:sp>
    </p:spTree>
    <p:extLst>
      <p:ext uri="{BB962C8B-B14F-4D97-AF65-F5344CB8AC3E}">
        <p14:creationId xmlns:p14="http://schemas.microsoft.com/office/powerpoint/2010/main" val="779211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704724"/>
            <a:ext cx="6683765" cy="685800"/>
          </a:xfrm>
        </p:spPr>
        <p:txBody>
          <a:bodyPr>
            <a:normAutofit/>
          </a:bodyPr>
          <a:lstStyle/>
          <a:p>
            <a:pPr algn="just"/>
            <a:r>
              <a:rPr lang="en-US" sz="3000" b="1" dirty="0" smtClean="0">
                <a:solidFill>
                  <a:schemeClr val="tx1"/>
                </a:solidFill>
                <a:latin typeface="Arial" panose="020B0604020202020204" pitchFamily="34" charset="0"/>
                <a:cs typeface="Arial" panose="020B0604020202020204" pitchFamily="34" charset="0"/>
              </a:rPr>
              <a:t>6.3. Chẩn đoán thể lâm sàng:</a:t>
            </a:r>
            <a:endParaRPr lang="en-US" sz="3000" b="1" dirty="0">
              <a:solidFill>
                <a:schemeClr val="tx1"/>
              </a:solidFill>
              <a:latin typeface="Arial" panose="020B0604020202020204" pitchFamily="34" charset="0"/>
              <a:cs typeface="Arial" panose="020B0604020202020204" pitchFamily="34" charset="0"/>
            </a:endParaRPr>
          </a:p>
        </p:txBody>
      </p:sp>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52400" y="2286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 CHẨN ĐOÁN</a:t>
            </a:r>
            <a:endParaRPr lang="vi-VN" sz="4000" b="1" dirty="0">
              <a:solidFill>
                <a:srgbClr val="FF0000"/>
              </a:solidFill>
              <a:latin typeface="Arial" pitchFamily="34" charset="0"/>
              <a:ea typeface="+mj-ea"/>
              <a:cs typeface="Arial" pitchFamily="34" charset="0"/>
            </a:endParaRPr>
          </a:p>
        </p:txBody>
      </p:sp>
      <p:sp>
        <p:nvSpPr>
          <p:cNvPr id="5" name="TextBox 4"/>
          <p:cNvSpPr txBox="1"/>
          <p:nvPr/>
        </p:nvSpPr>
        <p:spPr>
          <a:xfrm>
            <a:off x="304800" y="1427850"/>
            <a:ext cx="8382000" cy="4893647"/>
          </a:xfrm>
          <a:prstGeom prst="rect">
            <a:avLst/>
          </a:prstGeom>
          <a:noFill/>
        </p:spPr>
        <p:txBody>
          <a:bodyPr wrap="square" rtlCol="0">
            <a:spAutoFit/>
          </a:bodyPr>
          <a:lstStyle/>
          <a:p>
            <a:pPr algn="just">
              <a:buFont typeface="Wingdings" panose="05000000000000000000" pitchFamily="2" charset="2"/>
              <a:buChar char="v"/>
            </a:pP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Lỵ</a:t>
            </a:r>
            <a:r>
              <a:rPr lang="en-US" sz="2400" b="1" dirty="0" smtClean="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trực</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khuẩn</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cấp</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có</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các</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mức</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độ</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nhẹ</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vừa</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nặng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điển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tối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dày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tiểu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tràng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ẩn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lỵ</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khuẩn</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mang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khuẩn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triệu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chứng</a:t>
            </a:r>
            <a:r>
              <a:rPr lang="en-US" sz="2400" dirty="0">
                <a:latin typeface="Arial" panose="020B0604020202020204" pitchFamily="34" charset="0"/>
                <a:cs typeface="Arial" panose="020B0604020202020204" pitchFamily="34" charset="0"/>
              </a:rPr>
              <a:t>.</a:t>
            </a:r>
          </a:p>
          <a:p>
            <a:pPr algn="just">
              <a:buFont typeface="Wingdings" panose="05000000000000000000" pitchFamily="2" charset="2"/>
              <a:buChar char="v"/>
            </a:pP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Thể</a:t>
            </a:r>
            <a:r>
              <a:rPr lang="en-US" sz="2400" b="1" dirty="0" smtClean="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nặng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thường</a:t>
            </a:r>
            <a:r>
              <a:rPr lang="en-US" sz="2400" dirty="0">
                <a:latin typeface="Arial" panose="020B0604020202020204" pitchFamily="34" charset="0"/>
                <a:cs typeface="Arial" panose="020B0604020202020204" pitchFamily="34" charset="0"/>
              </a:rPr>
              <a:t> do </a:t>
            </a:r>
            <a:r>
              <a:rPr lang="en-US" sz="2400" dirty="0" err="1">
                <a:latin typeface="Arial" panose="020B0604020202020204" pitchFamily="34" charset="0"/>
                <a:cs typeface="Arial" panose="020B0604020202020204" pitchFamily="34" charset="0"/>
              </a:rPr>
              <a:t>Sh.shiga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gây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nên</a:t>
            </a:r>
            <a:r>
              <a:rPr lang="en-US" sz="2400" dirty="0">
                <a:latin typeface="Arial" panose="020B0604020202020204" pitchFamily="34" charset="0"/>
                <a:cs typeface="Arial" panose="020B0604020202020204" pitchFamily="34" charset="0"/>
              </a:rPr>
              <a:t> ở </a:t>
            </a:r>
            <a:r>
              <a:rPr lang="en-US" sz="2400" dirty="0" err="1" smtClean="0">
                <a:latin typeface="Arial" panose="020B0604020202020204" pitchFamily="34" charset="0"/>
                <a:cs typeface="Arial" panose="020B0604020202020204" pitchFamily="34" charset="0"/>
              </a:rPr>
              <a:t>trẻ</a:t>
            </a:r>
            <a:r>
              <a:rPr lang="en-US" sz="2400" dirty="0" smtClean="0">
                <a:latin typeface="Arial" panose="020B0604020202020204" pitchFamily="34" charset="0"/>
                <a:cs typeface="Arial" panose="020B0604020202020204" pitchFamily="34" charset="0"/>
              </a:rPr>
              <a:t>&lt; 5 </a:t>
            </a:r>
            <a:r>
              <a:rPr lang="en-US" sz="2400" dirty="0" err="1">
                <a:latin typeface="Arial" panose="020B0604020202020204" pitchFamily="34" charset="0"/>
                <a:cs typeface="Arial" panose="020B0604020202020204" pitchFamily="34" charset="0"/>
              </a:rPr>
              <a:t>tuổi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sdd</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suy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giảm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miễn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dịch</a:t>
            </a:r>
            <a:r>
              <a:rPr lang="en-US" sz="2400" dirty="0">
                <a:latin typeface="Arial" panose="020B0604020202020204" pitchFamily="34" charset="0"/>
                <a:cs typeface="Arial" panose="020B0604020202020204" pitchFamily="34" charset="0"/>
              </a:rPr>
              <a:t>.</a:t>
            </a:r>
          </a:p>
          <a:p>
            <a:pPr algn="just">
              <a:buFont typeface="Wingdings" panose="05000000000000000000" pitchFamily="2" charset="2"/>
              <a:buChar char="v"/>
            </a:pP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Thể</a:t>
            </a:r>
            <a:r>
              <a:rPr lang="en-US" sz="2400" b="1" dirty="0" smtClean="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tối</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độc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tính</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nặng</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sốt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cao</a:t>
            </a:r>
            <a:r>
              <a:rPr lang="en-US" sz="2400" dirty="0">
                <a:latin typeface="Arial" panose="020B0604020202020204" pitchFamily="34" charset="0"/>
                <a:cs typeface="Arial" panose="020B0604020202020204" pitchFamily="34" charset="0"/>
              </a:rPr>
              <a:t>&gt;40</a:t>
            </a:r>
            <a:r>
              <a:rPr lang="en-US" sz="2400" baseline="30000" dirty="0">
                <a:latin typeface="Arial" panose="020B0604020202020204" pitchFamily="34" charset="0"/>
                <a:cs typeface="Arial" panose="020B0604020202020204" pitchFamily="34" charset="0"/>
              </a:rPr>
              <a:t>o</a:t>
            </a:r>
            <a:r>
              <a:rPr lang="en-US" sz="2400" dirty="0">
                <a:latin typeface="Arial" panose="020B0604020202020204" pitchFamily="34" charset="0"/>
                <a:cs typeface="Arial" panose="020B0604020202020204" pitchFamily="34" charset="0"/>
              </a:rPr>
              <a:t>C, </a:t>
            </a:r>
            <a:r>
              <a:rPr lang="en-US" sz="2400" dirty="0" err="1">
                <a:latin typeface="Arial" panose="020B0604020202020204" pitchFamily="34" charset="0"/>
                <a:cs typeface="Arial" panose="020B0604020202020204" pitchFamily="34" charset="0"/>
              </a:rPr>
              <a:t>ỉa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máu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nhiễm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thần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nặng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mê</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sảng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trụy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suy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hô</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vong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nhanh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sau</a:t>
            </a:r>
            <a:r>
              <a:rPr lang="en-US" sz="2400" dirty="0">
                <a:latin typeface="Arial" panose="020B0604020202020204" pitchFamily="34" charset="0"/>
                <a:cs typeface="Arial" panose="020B0604020202020204" pitchFamily="34" charset="0"/>
              </a:rPr>
              <a:t> 1-2 </a:t>
            </a:r>
            <a:r>
              <a:rPr lang="en-US" sz="2400" dirty="0" err="1">
                <a:latin typeface="Arial" panose="020B0604020202020204" pitchFamily="34" charset="0"/>
                <a:cs typeface="Arial" panose="020B0604020202020204" pitchFamily="34" charset="0"/>
              </a:rPr>
              <a:t>ngày</a:t>
            </a:r>
            <a:r>
              <a:rPr lang="en-US" sz="2400" dirty="0">
                <a:latin typeface="Arial" panose="020B0604020202020204" pitchFamily="34" charset="0"/>
                <a:cs typeface="Arial" panose="020B0604020202020204" pitchFamily="34" charset="0"/>
              </a:rPr>
              <a:t>.</a:t>
            </a:r>
          </a:p>
          <a:p>
            <a:pPr algn="just">
              <a:buFont typeface="Wingdings" panose="05000000000000000000" pitchFamily="2" charset="2"/>
              <a:buChar char="v"/>
            </a:pP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Thể</a:t>
            </a:r>
            <a:r>
              <a:rPr lang="en-US" sz="2400" b="1" dirty="0" smtClean="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nặng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Khởi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như</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trung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rồi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nặng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dần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lỵ</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rất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nặng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đau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bụng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ỉa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liên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tục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chảy</a:t>
            </a:r>
            <a:r>
              <a:rPr lang="en-US" sz="2400" dirty="0">
                <a:latin typeface="Arial" panose="020B0604020202020204" pitchFamily="34" charset="0"/>
                <a:cs typeface="Arial" panose="020B0604020202020204" pitchFamily="34" charset="0"/>
              </a:rPr>
              <a:t> qua </a:t>
            </a:r>
            <a:r>
              <a:rPr lang="en-US" sz="2400" dirty="0" err="1">
                <a:latin typeface="Arial" panose="020B0604020202020204" pitchFamily="34" charset="0"/>
                <a:cs typeface="Arial" panose="020B0604020202020204" pitchFamily="34" charset="0"/>
              </a:rPr>
              <a:t>hậu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môn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toàn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mủ</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máu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Hcnt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nặng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sốt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cao</a:t>
            </a:r>
            <a:r>
              <a:rPr lang="en-US" sz="2400" dirty="0">
                <a:latin typeface="Arial" panose="020B0604020202020204" pitchFamily="34" charset="0"/>
                <a:cs typeface="Arial" panose="020B0604020202020204" pitchFamily="34" charset="0"/>
              </a:rPr>
              <a:t>&gt;40</a:t>
            </a:r>
            <a:r>
              <a:rPr lang="en-US" sz="2400" baseline="30000" dirty="0">
                <a:latin typeface="Arial" panose="020B0604020202020204" pitchFamily="34" charset="0"/>
                <a:cs typeface="Arial" panose="020B0604020202020204" pitchFamily="34" charset="0"/>
              </a:rPr>
              <a:t>o</a:t>
            </a:r>
            <a:r>
              <a:rPr lang="en-US" sz="2400" dirty="0">
                <a:latin typeface="Arial" panose="020B0604020202020204" pitchFamily="34" charset="0"/>
                <a:cs typeface="Arial" panose="020B0604020202020204" pitchFamily="34" charset="0"/>
              </a:rPr>
              <a:t>C li </a:t>
            </a:r>
            <a:r>
              <a:rPr lang="en-US" sz="2400" dirty="0" err="1">
                <a:latin typeface="Arial" panose="020B0604020202020204" pitchFamily="34" charset="0"/>
                <a:cs typeface="Arial" panose="020B0604020202020204" pitchFamily="34" charset="0"/>
              </a:rPr>
              <a:t>bì</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hôn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mê</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trụy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mất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nước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nặng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chữa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khỏi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nhưng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kéo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dài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nhiều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biến</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chứng</a:t>
            </a:r>
            <a:r>
              <a:rPr lang="en-US" sz="2400" dirty="0" smtClean="0">
                <a:latin typeface="Arial" panose="020B0604020202020204" pitchFamily="34" charset="0"/>
                <a:cs typeface="Arial" panose="020B0604020202020204" pitchFamily="34" charset="0"/>
              </a:rPr>
              <a:t>.</a:t>
            </a:r>
            <a:endParaRPr lang="en-US" sz="2400" dirty="0"/>
          </a:p>
        </p:txBody>
      </p:sp>
    </p:spTree>
    <p:extLst>
      <p:ext uri="{BB962C8B-B14F-4D97-AF65-F5344CB8AC3E}">
        <p14:creationId xmlns:p14="http://schemas.microsoft.com/office/powerpoint/2010/main" val="223446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143000" y="762000"/>
            <a:ext cx="6683765" cy="564245"/>
          </a:xfrm>
        </p:spPr>
        <p:txBody>
          <a:bodyPr>
            <a:normAutofit/>
          </a:bodyPr>
          <a:lstStyle/>
          <a:p>
            <a:pPr algn="just"/>
            <a:r>
              <a:rPr lang="en-US" sz="3000" b="1" dirty="0" smtClean="0">
                <a:solidFill>
                  <a:schemeClr val="tx1"/>
                </a:solidFill>
                <a:latin typeface="Arial" panose="020B0604020202020204" pitchFamily="34" charset="0"/>
                <a:cs typeface="Arial" panose="020B0604020202020204" pitchFamily="34" charset="0"/>
              </a:rPr>
              <a:t>6.3. Chẩn đoán thể lâm sàng:</a:t>
            </a:r>
            <a:endParaRPr lang="en-US" sz="30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2286000"/>
            <a:ext cx="8610600" cy="2514600"/>
          </a:xfrm>
        </p:spPr>
        <p:style>
          <a:lnRef idx="2">
            <a:schemeClr val="accent2"/>
          </a:lnRef>
          <a:fillRef idx="1">
            <a:schemeClr val="lt1"/>
          </a:fillRef>
          <a:effectRef idx="0">
            <a:schemeClr val="accent2"/>
          </a:effectRef>
          <a:fontRef idx="minor">
            <a:schemeClr val="dk1"/>
          </a:fontRef>
        </p:style>
        <p:txBody>
          <a:bodyPr>
            <a:normAutofit/>
          </a:bodyPr>
          <a:lstStyle/>
          <a:p>
            <a:pPr algn="just">
              <a:buFont typeface="Wingdings" panose="05000000000000000000" pitchFamily="2" charset="2"/>
              <a:buChar char="v"/>
            </a:pPr>
            <a:r>
              <a:rPr lang="en-US" sz="2200" b="1" dirty="0" err="1" smtClean="0">
                <a:solidFill>
                  <a:schemeClr val="tx1"/>
                </a:solidFill>
                <a:latin typeface="Arial" panose="020B0604020202020204" pitchFamily="34" charset="0"/>
                <a:cs typeface="Arial" panose="020B0604020202020204" pitchFamily="34" charset="0"/>
              </a:rPr>
              <a:t>Thể</a:t>
            </a:r>
            <a:r>
              <a:rPr lang="en-US" sz="2200" b="1" dirty="0" smtClean="0">
                <a:solidFill>
                  <a:schemeClr val="tx1"/>
                </a:solidFill>
                <a:latin typeface="Arial" panose="020B0604020202020204" pitchFamily="34" charset="0"/>
                <a:cs typeface="Arial" panose="020B0604020202020204" pitchFamily="34" charset="0"/>
              </a:rPr>
              <a:t> viêm dạ dày _ tiểu tràng cấp</a:t>
            </a:r>
            <a:r>
              <a:rPr lang="en-US" sz="2200" dirty="0" smtClean="0">
                <a:solidFill>
                  <a:schemeClr val="tx1"/>
                </a:solidFill>
                <a:latin typeface="Arial" panose="020B0604020202020204" pitchFamily="34" charset="0"/>
                <a:cs typeface="Arial" panose="020B0604020202020204" pitchFamily="34" charset="0"/>
              </a:rPr>
              <a:t>: Sốt, đau bụng, </a:t>
            </a:r>
            <a:r>
              <a:rPr lang="en-US" sz="2200" dirty="0" err="1">
                <a:solidFill>
                  <a:schemeClr val="tx1"/>
                </a:solidFill>
                <a:latin typeface="Arial" panose="020B0604020202020204" pitchFamily="34" charset="0"/>
                <a:cs typeface="Arial" panose="020B0604020202020204" pitchFamily="34" charset="0"/>
              </a:rPr>
              <a:t>đ</a:t>
            </a:r>
            <a:r>
              <a:rPr lang="en-US" sz="2200" dirty="0" err="1" smtClean="0">
                <a:solidFill>
                  <a:schemeClr val="tx1"/>
                </a:solidFill>
                <a:latin typeface="Arial" panose="020B0604020202020204" pitchFamily="34" charset="0"/>
                <a:cs typeface="Arial" panose="020B0604020202020204" pitchFamily="34" charset="0"/>
              </a:rPr>
              <a:t>au</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quanh</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rốn</a:t>
            </a:r>
            <a:r>
              <a:rPr lang="en-US" sz="2200" dirty="0" smtClean="0">
                <a:solidFill>
                  <a:schemeClr val="tx1"/>
                </a:solidFill>
                <a:latin typeface="Arial" panose="020B0604020202020204" pitchFamily="34" charset="0"/>
                <a:cs typeface="Arial" panose="020B0604020202020204" pitchFamily="34" charset="0"/>
              </a:rPr>
              <a:t>, nôn, ỉa lỏng nhiều, mất nước, </a:t>
            </a:r>
            <a:r>
              <a:rPr lang="en-US" sz="2200" dirty="0" err="1" smtClean="0">
                <a:solidFill>
                  <a:schemeClr val="tx1"/>
                </a:solidFill>
                <a:latin typeface="Arial" panose="020B0604020202020204" pitchFamily="34" charset="0"/>
                <a:cs typeface="Arial" panose="020B0604020202020204" pitchFamily="34" charset="0"/>
              </a:rPr>
              <a:t>rối</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loạn</a:t>
            </a:r>
            <a:r>
              <a:rPr lang="en-US" sz="2200" dirty="0" smtClean="0">
                <a:solidFill>
                  <a:schemeClr val="tx1"/>
                </a:solidFill>
                <a:latin typeface="Arial" panose="020B0604020202020204" pitchFamily="34" charset="0"/>
                <a:cs typeface="Arial" panose="020B0604020202020204" pitchFamily="34" charset="0"/>
              </a:rPr>
              <a:t> nước </a:t>
            </a:r>
            <a:r>
              <a:rPr lang="en-US" sz="2200" dirty="0" err="1" smtClean="0">
                <a:solidFill>
                  <a:schemeClr val="tx1"/>
                </a:solidFill>
                <a:latin typeface="Arial" panose="020B0604020202020204" pitchFamily="34" charset="0"/>
                <a:cs typeface="Arial" panose="020B0604020202020204" pitchFamily="34" charset="0"/>
              </a:rPr>
              <a:t>điện</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giải</a:t>
            </a:r>
            <a:r>
              <a:rPr lang="en-US" sz="2200" dirty="0" smtClean="0">
                <a:solidFill>
                  <a:schemeClr val="tx1"/>
                </a:solidFill>
                <a:latin typeface="Arial" panose="020B0604020202020204" pitchFamily="34" charset="0"/>
                <a:cs typeface="Arial" panose="020B0604020202020204" pitchFamily="34" charset="0"/>
              </a:rPr>
              <a:t>, hay ở </a:t>
            </a:r>
            <a:r>
              <a:rPr lang="en-US" sz="2200" dirty="0" err="1" smtClean="0">
                <a:solidFill>
                  <a:schemeClr val="tx1"/>
                </a:solidFill>
                <a:latin typeface="Arial" panose="020B0604020202020204" pitchFamily="34" charset="0"/>
                <a:cs typeface="Arial" panose="020B0604020202020204" pitchFamily="34" charset="0"/>
              </a:rPr>
              <a:t>trẻ</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nhỏ</a:t>
            </a:r>
            <a:r>
              <a:rPr lang="en-US" sz="2200" dirty="0" smtClean="0">
                <a:solidFill>
                  <a:schemeClr val="tx1"/>
                </a:solidFill>
                <a:latin typeface="Arial" panose="020B0604020202020204" pitchFamily="34" charset="0"/>
                <a:cs typeface="Arial" panose="020B0604020202020204" pitchFamily="34" charset="0"/>
              </a:rPr>
              <a:t>.</a:t>
            </a:r>
          </a:p>
          <a:p>
            <a:pPr algn="just">
              <a:buFont typeface="Wingdings" panose="05000000000000000000" pitchFamily="2" charset="2"/>
              <a:buChar char="v"/>
            </a:pPr>
            <a:r>
              <a:rPr lang="en-US" sz="2200" b="1" dirty="0" err="1" smtClean="0">
                <a:solidFill>
                  <a:schemeClr val="tx1"/>
                </a:solidFill>
                <a:latin typeface="Arial" panose="020B0604020202020204" pitchFamily="34" charset="0"/>
                <a:cs typeface="Arial" panose="020B0604020202020204" pitchFamily="34" charset="0"/>
              </a:rPr>
              <a:t>Thể</a:t>
            </a:r>
            <a:r>
              <a:rPr lang="en-US" sz="2200" b="1" dirty="0" smtClean="0">
                <a:solidFill>
                  <a:schemeClr val="tx1"/>
                </a:solidFill>
                <a:latin typeface="Arial" panose="020B0604020202020204" pitchFamily="34" charset="0"/>
                <a:cs typeface="Arial" panose="020B0604020202020204" pitchFamily="34" charset="0"/>
              </a:rPr>
              <a:t> kéo dài </a:t>
            </a:r>
            <a:r>
              <a:rPr lang="en-US" sz="2200" dirty="0" smtClean="0">
                <a:solidFill>
                  <a:schemeClr val="tx1"/>
                </a:solidFill>
                <a:latin typeface="Arial" panose="020B0604020202020204" pitchFamily="34" charset="0"/>
                <a:cs typeface="Arial" panose="020B0604020202020204" pitchFamily="34" charset="0"/>
              </a:rPr>
              <a:t>: ỉa máu kéo dài, </a:t>
            </a:r>
            <a:r>
              <a:rPr lang="en-US" sz="2200" dirty="0" err="1" smtClean="0">
                <a:solidFill>
                  <a:schemeClr val="tx1"/>
                </a:solidFill>
                <a:latin typeface="Arial" panose="020B0604020202020204" pitchFamily="34" charset="0"/>
                <a:cs typeface="Arial" panose="020B0604020202020204" pitchFamily="34" charset="0"/>
              </a:rPr>
              <a:t>suy</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kiệt</a:t>
            </a:r>
            <a:r>
              <a:rPr lang="en-US" sz="2200" dirty="0" smtClean="0">
                <a:solidFill>
                  <a:schemeClr val="tx1"/>
                </a:solidFill>
                <a:latin typeface="Arial" panose="020B0604020202020204" pitchFamily="34" charset="0"/>
                <a:cs typeface="Arial" panose="020B0604020202020204" pitchFamily="34" charset="0"/>
              </a:rPr>
              <a:t>.</a:t>
            </a:r>
          </a:p>
          <a:p>
            <a:pPr algn="just">
              <a:buFont typeface="Wingdings" panose="05000000000000000000" pitchFamily="2" charset="2"/>
              <a:buChar char="v"/>
            </a:pPr>
            <a:r>
              <a:rPr lang="en-US" sz="2200" b="1" dirty="0" err="1" smtClean="0">
                <a:solidFill>
                  <a:schemeClr val="tx1"/>
                </a:solidFill>
                <a:latin typeface="Arial" panose="020B0604020202020204" pitchFamily="34" charset="0"/>
                <a:cs typeface="Arial" panose="020B0604020202020204" pitchFamily="34" charset="0"/>
              </a:rPr>
              <a:t>Thể</a:t>
            </a:r>
            <a:r>
              <a:rPr lang="en-US" sz="2200" b="1" dirty="0" smtClean="0">
                <a:solidFill>
                  <a:schemeClr val="tx1"/>
                </a:solidFill>
                <a:latin typeface="Arial" panose="020B0604020202020204" pitchFamily="34" charset="0"/>
                <a:cs typeface="Arial" panose="020B0604020202020204" pitchFamily="34" charset="0"/>
              </a:rPr>
              <a:t> có sốc nội </a:t>
            </a:r>
            <a:r>
              <a:rPr lang="en-US" sz="2200" b="1" dirty="0" err="1" smtClean="0">
                <a:solidFill>
                  <a:schemeClr val="tx1"/>
                </a:solidFill>
                <a:latin typeface="Arial" panose="020B0604020202020204" pitchFamily="34" charset="0"/>
                <a:cs typeface="Arial" panose="020B0604020202020204" pitchFamily="34" charset="0"/>
              </a:rPr>
              <a:t>độc</a:t>
            </a:r>
            <a:r>
              <a:rPr lang="en-US" sz="2200" b="1" dirty="0" smtClean="0">
                <a:solidFill>
                  <a:schemeClr val="tx1"/>
                </a:solidFill>
                <a:latin typeface="Arial" panose="020B0604020202020204" pitchFamily="34" charset="0"/>
                <a:cs typeface="Arial" panose="020B0604020202020204" pitchFamily="34" charset="0"/>
              </a:rPr>
              <a:t> </a:t>
            </a:r>
            <a:r>
              <a:rPr lang="en-US" sz="2200" b="1" dirty="0" err="1" smtClean="0">
                <a:solidFill>
                  <a:schemeClr val="tx1"/>
                </a:solidFill>
                <a:latin typeface="Arial" panose="020B0604020202020204" pitchFamily="34" charset="0"/>
                <a:cs typeface="Arial" panose="020B0604020202020204" pitchFamily="34" charset="0"/>
              </a:rPr>
              <a:t>tố</a:t>
            </a:r>
            <a:r>
              <a:rPr lang="en-US" sz="2200" b="1" dirty="0" smtClean="0">
                <a:solidFill>
                  <a:schemeClr val="tx1"/>
                </a:solidFill>
                <a:latin typeface="Arial" panose="020B0604020202020204" pitchFamily="34" charset="0"/>
                <a:cs typeface="Arial" panose="020B0604020202020204" pitchFamily="34" charset="0"/>
              </a:rPr>
              <a:t>.</a:t>
            </a:r>
            <a:endParaRPr lang="en-US" sz="2200" b="1" dirty="0">
              <a:solidFill>
                <a:schemeClr val="tx1"/>
              </a:solidFill>
              <a:latin typeface="Arial" panose="020B0604020202020204" pitchFamily="34" charset="0"/>
              <a:cs typeface="Arial" panose="020B0604020202020204" pitchFamily="34" charset="0"/>
            </a:endParaRPr>
          </a:p>
        </p:txBody>
      </p:sp>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52400" y="1524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 CHẨN ĐOÁN</a:t>
            </a:r>
            <a:endParaRPr lang="vi-VN" sz="4000" b="1" dirty="0">
              <a:solidFill>
                <a:srgbClr val="FF0000"/>
              </a:solidFill>
              <a:latin typeface="Arial" pitchFamily="34" charset="0"/>
              <a:ea typeface="+mj-ea"/>
              <a:cs typeface="Arial" pitchFamily="34" charset="0"/>
            </a:endParaRPr>
          </a:p>
        </p:txBody>
      </p:sp>
    </p:spTree>
    <p:extLst>
      <p:ext uri="{BB962C8B-B14F-4D97-AF65-F5344CB8AC3E}">
        <p14:creationId xmlns:p14="http://schemas.microsoft.com/office/powerpoint/2010/main" val="33376450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86732"/>
            <a:ext cx="6683765" cy="685800"/>
          </a:xfrm>
        </p:spPr>
        <p:txBody>
          <a:bodyPr>
            <a:normAutofit/>
          </a:bodyPr>
          <a:lstStyle/>
          <a:p>
            <a:pPr algn="just"/>
            <a:r>
              <a:rPr lang="en-US" sz="3000" b="1" dirty="0" smtClean="0">
                <a:solidFill>
                  <a:schemeClr val="tx1"/>
                </a:solidFill>
                <a:latin typeface="Arial" panose="020B0604020202020204" pitchFamily="34" charset="0"/>
                <a:cs typeface="Arial" panose="020B0604020202020204" pitchFamily="34" charset="0"/>
              </a:rPr>
              <a:t>6.4:Chẩn đoán </a:t>
            </a:r>
            <a:r>
              <a:rPr lang="en-US" sz="3000" b="1" dirty="0" err="1" smtClean="0">
                <a:solidFill>
                  <a:schemeClr val="tx1"/>
                </a:solidFill>
                <a:latin typeface="Arial" panose="020B0604020202020204" pitchFamily="34" charset="0"/>
                <a:cs typeface="Arial" panose="020B0604020202020204" pitchFamily="34" charset="0"/>
              </a:rPr>
              <a:t>biến</a:t>
            </a:r>
            <a:r>
              <a:rPr lang="en-US" sz="3000" b="1" dirty="0" smtClean="0">
                <a:solidFill>
                  <a:schemeClr val="tx1"/>
                </a:solidFill>
                <a:latin typeface="Arial" panose="020B0604020202020204" pitchFamily="34" charset="0"/>
                <a:cs typeface="Arial" panose="020B0604020202020204" pitchFamily="34" charset="0"/>
              </a:rPr>
              <a:t> </a:t>
            </a:r>
            <a:r>
              <a:rPr lang="en-US" sz="3000" b="1" dirty="0" err="1" smtClean="0">
                <a:solidFill>
                  <a:schemeClr val="tx1"/>
                </a:solidFill>
                <a:latin typeface="Arial" panose="020B0604020202020204" pitchFamily="34" charset="0"/>
                <a:cs typeface="Arial" panose="020B0604020202020204" pitchFamily="34" charset="0"/>
              </a:rPr>
              <a:t>chứng</a:t>
            </a:r>
            <a:r>
              <a:rPr lang="en-US" sz="3000" b="1" dirty="0" smtClean="0">
                <a:solidFill>
                  <a:schemeClr val="tx1"/>
                </a:solidFill>
                <a:latin typeface="Arial" panose="020B0604020202020204" pitchFamily="34" charset="0"/>
                <a:cs typeface="Arial" panose="020B0604020202020204" pitchFamily="34" charset="0"/>
              </a:rPr>
              <a:t>.</a:t>
            </a:r>
            <a:endParaRPr lang="en-US" sz="30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33400" y="1830664"/>
            <a:ext cx="8476059" cy="4493936"/>
          </a:xfrm>
        </p:spPr>
        <p:style>
          <a:lnRef idx="2">
            <a:schemeClr val="accent2"/>
          </a:lnRef>
          <a:fillRef idx="1">
            <a:schemeClr val="lt1"/>
          </a:fillRef>
          <a:effectRef idx="0">
            <a:schemeClr val="accent2"/>
          </a:effectRef>
          <a:fontRef idx="minor">
            <a:schemeClr val="dk1"/>
          </a:fontRef>
        </p:style>
        <p:txBody>
          <a:bodyPr>
            <a:normAutofit/>
          </a:bodyPr>
          <a:lstStyle/>
          <a:p>
            <a:pPr algn="just">
              <a:buFont typeface="Wingdings" panose="05000000000000000000" pitchFamily="2" charset="2"/>
              <a:buChar char="v"/>
            </a:pPr>
            <a:r>
              <a:rPr lang="en-US" sz="2200" dirty="0" err="1" smtClean="0">
                <a:solidFill>
                  <a:schemeClr val="tx1"/>
                </a:solidFill>
                <a:latin typeface="Arial" panose="020B0604020202020204" pitchFamily="34" charset="0"/>
                <a:cs typeface="Arial" panose="020B0604020202020204" pitchFamily="34" charset="0"/>
              </a:rPr>
              <a:t>Toàn</a:t>
            </a:r>
            <a:r>
              <a:rPr lang="en-US" sz="2200" dirty="0" smtClean="0">
                <a:solidFill>
                  <a:schemeClr val="tx1"/>
                </a:solidFill>
                <a:latin typeface="Arial" panose="020B0604020202020204" pitchFamily="34" charset="0"/>
                <a:cs typeface="Arial" panose="020B0604020202020204" pitchFamily="34" charset="0"/>
              </a:rPr>
              <a:t> thân: Sốc do mất nước, điện giải, co giật, </a:t>
            </a:r>
            <a:r>
              <a:rPr lang="en-US" sz="2200" dirty="0" err="1" smtClean="0">
                <a:solidFill>
                  <a:schemeClr val="tx1"/>
                </a:solidFill>
                <a:latin typeface="Arial" panose="020B0604020202020204" pitchFamily="34" charset="0"/>
                <a:cs typeface="Arial" panose="020B0604020202020204" pitchFamily="34" charset="0"/>
              </a:rPr>
              <a:t>nhiễm</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độc</a:t>
            </a:r>
            <a:r>
              <a:rPr lang="en-US" sz="2200" dirty="0" smtClean="0">
                <a:solidFill>
                  <a:schemeClr val="tx1"/>
                </a:solidFill>
                <a:latin typeface="Arial" panose="020B0604020202020204" pitchFamily="34" charset="0"/>
                <a:cs typeface="Arial" panose="020B0604020202020204" pitchFamily="34" charset="0"/>
              </a:rPr>
              <a:t> thần kinh, trụy tim mạch, nhiễm khuẩn huyết.</a:t>
            </a:r>
          </a:p>
          <a:p>
            <a:pPr algn="just">
              <a:buFont typeface="Wingdings" panose="05000000000000000000" pitchFamily="2" charset="2"/>
              <a:buChar char="v"/>
            </a:pPr>
            <a:r>
              <a:rPr lang="en-US" sz="2200" dirty="0" err="1" smtClean="0">
                <a:solidFill>
                  <a:schemeClr val="tx1"/>
                </a:solidFill>
                <a:latin typeface="Arial" panose="020B0604020202020204" pitchFamily="34" charset="0"/>
                <a:cs typeface="Arial" panose="020B0604020202020204" pitchFamily="34" charset="0"/>
              </a:rPr>
              <a:t>Ruột</a:t>
            </a:r>
            <a:r>
              <a:rPr lang="en-US" sz="2200" dirty="0" smtClean="0">
                <a:solidFill>
                  <a:schemeClr val="tx1"/>
                </a:solidFill>
                <a:latin typeface="Arial" panose="020B0604020202020204" pitchFamily="34" charset="0"/>
                <a:cs typeface="Arial" panose="020B0604020202020204" pitchFamily="34" charset="0"/>
              </a:rPr>
              <a:t>: Chảy máu </a:t>
            </a:r>
            <a:r>
              <a:rPr lang="en-US" sz="2200" dirty="0" err="1" smtClean="0">
                <a:solidFill>
                  <a:schemeClr val="tx1"/>
                </a:solidFill>
                <a:latin typeface="Arial" panose="020B0604020202020204" pitchFamily="34" charset="0"/>
                <a:cs typeface="Arial" panose="020B0604020202020204" pitchFamily="34" charset="0"/>
              </a:rPr>
              <a:t>thủng</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ruột</a:t>
            </a:r>
            <a:r>
              <a:rPr lang="en-US" sz="2200" dirty="0" smtClean="0">
                <a:solidFill>
                  <a:schemeClr val="tx1"/>
                </a:solidFill>
                <a:latin typeface="Arial" panose="020B0604020202020204" pitchFamily="34" charset="0"/>
                <a:cs typeface="Arial" panose="020B0604020202020204" pitchFamily="34" charset="0"/>
              </a:rPr>
              <a:t>, viêm </a:t>
            </a:r>
            <a:r>
              <a:rPr lang="en-US" sz="2200" dirty="0" err="1" smtClean="0">
                <a:solidFill>
                  <a:schemeClr val="tx1"/>
                </a:solidFill>
                <a:latin typeface="Arial" panose="020B0604020202020204" pitchFamily="34" charset="0"/>
                <a:cs typeface="Arial" panose="020B0604020202020204" pitchFamily="34" charset="0"/>
              </a:rPr>
              <a:t>phúc</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mạc</a:t>
            </a:r>
            <a:r>
              <a:rPr lang="en-US" sz="2200" dirty="0" smtClean="0">
                <a:solidFill>
                  <a:schemeClr val="tx1"/>
                </a:solidFill>
                <a:latin typeface="Arial" panose="020B0604020202020204" pitchFamily="34" charset="0"/>
                <a:cs typeface="Arial" panose="020B0604020202020204" pitchFamily="34" charset="0"/>
              </a:rPr>
              <a:t>, sa </a:t>
            </a:r>
            <a:r>
              <a:rPr lang="en-US" sz="2200" dirty="0" err="1" smtClean="0">
                <a:solidFill>
                  <a:schemeClr val="tx1"/>
                </a:solidFill>
                <a:latin typeface="Arial" panose="020B0604020202020204" pitchFamily="34" charset="0"/>
                <a:cs typeface="Arial" panose="020B0604020202020204" pitchFamily="34" charset="0"/>
              </a:rPr>
              <a:t>trực</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tràng</a:t>
            </a:r>
            <a:r>
              <a:rPr lang="en-US" sz="2200" dirty="0" smtClean="0">
                <a:solidFill>
                  <a:schemeClr val="tx1"/>
                </a:solidFill>
                <a:latin typeface="Arial" panose="020B0604020202020204" pitchFamily="34" charset="0"/>
                <a:cs typeface="Arial" panose="020B0604020202020204" pitchFamily="34" charset="0"/>
              </a:rPr>
              <a:t>.</a:t>
            </a:r>
          </a:p>
          <a:p>
            <a:pPr algn="just">
              <a:buFont typeface="Wingdings" panose="05000000000000000000" pitchFamily="2" charset="2"/>
              <a:buChar char="v"/>
            </a:pPr>
            <a:r>
              <a:rPr lang="en-US" sz="2200" dirty="0" err="1" smtClean="0">
                <a:solidFill>
                  <a:schemeClr val="tx1"/>
                </a:solidFill>
                <a:latin typeface="Arial" panose="020B0604020202020204" pitchFamily="34" charset="0"/>
                <a:cs typeface="Arial" panose="020B0604020202020204" pitchFamily="34" charset="0"/>
              </a:rPr>
              <a:t>Bội</a:t>
            </a:r>
            <a:r>
              <a:rPr lang="en-US" sz="2200" dirty="0" smtClean="0">
                <a:solidFill>
                  <a:schemeClr val="tx1"/>
                </a:solidFill>
                <a:latin typeface="Arial" panose="020B0604020202020204" pitchFamily="34" charset="0"/>
                <a:cs typeface="Arial" panose="020B0604020202020204" pitchFamily="34" charset="0"/>
              </a:rPr>
              <a:t> nhiễm: Viêm túi mật, nhiễm khuẩn huyết, viêm phổi, đường </a:t>
            </a:r>
            <a:r>
              <a:rPr lang="en-US" sz="2200" dirty="0" err="1" smtClean="0">
                <a:solidFill>
                  <a:schemeClr val="tx1"/>
                </a:solidFill>
                <a:latin typeface="Arial" panose="020B0604020202020204" pitchFamily="34" charset="0"/>
                <a:cs typeface="Arial" panose="020B0604020202020204" pitchFamily="34" charset="0"/>
              </a:rPr>
              <a:t>tiết</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niệu</a:t>
            </a:r>
            <a:r>
              <a:rPr lang="en-US" sz="2200" dirty="0" smtClean="0">
                <a:solidFill>
                  <a:schemeClr val="tx1"/>
                </a:solidFill>
                <a:latin typeface="Arial" panose="020B0604020202020204" pitchFamily="34" charset="0"/>
                <a:cs typeface="Arial" panose="020B0604020202020204" pitchFamily="34" charset="0"/>
              </a:rPr>
              <a:t>.</a:t>
            </a:r>
          </a:p>
          <a:p>
            <a:pPr algn="just">
              <a:buFont typeface="Wingdings" panose="05000000000000000000" pitchFamily="2" charset="2"/>
              <a:buChar char="v"/>
            </a:pPr>
            <a:r>
              <a:rPr lang="en-US" sz="2200" dirty="0" err="1" smtClean="0">
                <a:solidFill>
                  <a:schemeClr val="tx1"/>
                </a:solidFill>
                <a:latin typeface="Arial" panose="020B0604020202020204" pitchFamily="34" charset="0"/>
                <a:cs typeface="Arial" panose="020B0604020202020204" pitchFamily="34" charset="0"/>
              </a:rPr>
              <a:t>Hội</a:t>
            </a:r>
            <a:r>
              <a:rPr lang="en-US" sz="2200" dirty="0" smtClean="0">
                <a:solidFill>
                  <a:schemeClr val="tx1"/>
                </a:solidFill>
                <a:latin typeface="Arial" panose="020B0604020202020204" pitchFamily="34" charset="0"/>
                <a:cs typeface="Arial" panose="020B0604020202020204" pitchFamily="34" charset="0"/>
              </a:rPr>
              <a:t> chứng tan máu, ure huyết: thiếu máu do tan máu giảm tiểu </a:t>
            </a:r>
            <a:r>
              <a:rPr lang="en-US" sz="2200" dirty="0" err="1" smtClean="0">
                <a:solidFill>
                  <a:schemeClr val="tx1"/>
                </a:solidFill>
                <a:latin typeface="Arial" panose="020B0604020202020204" pitchFamily="34" charset="0"/>
                <a:cs typeface="Arial" panose="020B0604020202020204" pitchFamily="34" charset="0"/>
              </a:rPr>
              <a:t>cầu</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suy</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thận</a:t>
            </a:r>
            <a:r>
              <a:rPr lang="en-US" sz="2200" dirty="0" smtClean="0">
                <a:solidFill>
                  <a:schemeClr val="tx1"/>
                </a:solidFill>
                <a:latin typeface="Arial" panose="020B0604020202020204" pitchFamily="34" charset="0"/>
                <a:cs typeface="Arial" panose="020B0604020202020204" pitchFamily="34" charset="0"/>
              </a:rPr>
              <a:t>, hematocrit giảm thường do </a:t>
            </a:r>
            <a:r>
              <a:rPr lang="en-US" sz="2200" dirty="0" err="1" smtClean="0">
                <a:solidFill>
                  <a:schemeClr val="tx1"/>
                </a:solidFill>
                <a:latin typeface="Arial" panose="020B0604020202020204" pitchFamily="34" charset="0"/>
                <a:cs typeface="Arial" panose="020B0604020202020204" pitchFamily="34" charset="0"/>
              </a:rPr>
              <a:t>sh.shiga</a:t>
            </a:r>
            <a:r>
              <a:rPr lang="en-US" sz="2200" dirty="0" smtClean="0">
                <a:solidFill>
                  <a:schemeClr val="tx1"/>
                </a:solidFill>
                <a:latin typeface="Arial" panose="020B0604020202020204" pitchFamily="34" charset="0"/>
                <a:cs typeface="Arial" panose="020B0604020202020204" pitchFamily="34" charset="0"/>
              </a:rPr>
              <a:t>.</a:t>
            </a:r>
          </a:p>
          <a:p>
            <a:pPr algn="just">
              <a:buFont typeface="Wingdings" panose="05000000000000000000" pitchFamily="2" charset="2"/>
              <a:buChar char="v"/>
            </a:pPr>
            <a:r>
              <a:rPr lang="en-US" sz="2200" dirty="0" err="1" smtClean="0">
                <a:solidFill>
                  <a:schemeClr val="tx1"/>
                </a:solidFill>
                <a:latin typeface="Arial" panose="020B0604020202020204" pitchFamily="34" charset="0"/>
                <a:cs typeface="Arial" panose="020B0604020202020204" pitchFamily="34" charset="0"/>
              </a:rPr>
              <a:t>Hội</a:t>
            </a:r>
            <a:r>
              <a:rPr lang="en-US" sz="2200" dirty="0" smtClean="0">
                <a:solidFill>
                  <a:schemeClr val="tx1"/>
                </a:solidFill>
                <a:latin typeface="Arial" panose="020B0604020202020204" pitchFamily="34" charset="0"/>
                <a:cs typeface="Arial" panose="020B0604020202020204" pitchFamily="34" charset="0"/>
              </a:rPr>
              <a:t> </a:t>
            </a:r>
            <a:r>
              <a:rPr lang="en-US" sz="2200" dirty="0" err="1" smtClean="0">
                <a:solidFill>
                  <a:schemeClr val="tx1"/>
                </a:solidFill>
                <a:latin typeface="Arial" panose="020B0604020202020204" pitchFamily="34" charset="0"/>
                <a:cs typeface="Arial" panose="020B0604020202020204" pitchFamily="34" charset="0"/>
              </a:rPr>
              <a:t>chứng</a:t>
            </a:r>
            <a:r>
              <a:rPr lang="en-US" sz="2200" dirty="0" smtClean="0">
                <a:solidFill>
                  <a:schemeClr val="tx1"/>
                </a:solidFill>
                <a:latin typeface="Arial" panose="020B0604020202020204" pitchFamily="34" charset="0"/>
                <a:cs typeface="Arial" panose="020B0604020202020204" pitchFamily="34" charset="0"/>
              </a:rPr>
              <a:t> Reiter: tam chứng viêm khớp, viêm niệu đạo, viêm kết mạc do Chlamydia, </a:t>
            </a:r>
            <a:r>
              <a:rPr lang="en-US" sz="2200" dirty="0" err="1" smtClean="0">
                <a:solidFill>
                  <a:schemeClr val="tx1"/>
                </a:solidFill>
                <a:latin typeface="Arial" panose="020B0604020202020204" pitchFamily="34" charset="0"/>
                <a:cs typeface="Arial" panose="020B0604020202020204" pitchFamily="34" charset="0"/>
              </a:rPr>
              <a:t>xuất</a:t>
            </a:r>
            <a:r>
              <a:rPr lang="en-US" sz="2200" dirty="0" smtClean="0">
                <a:solidFill>
                  <a:schemeClr val="tx1"/>
                </a:solidFill>
                <a:latin typeface="Arial" panose="020B0604020202020204" pitchFamily="34" charset="0"/>
                <a:cs typeface="Arial" panose="020B0604020202020204" pitchFamily="34" charset="0"/>
              </a:rPr>
              <a:t> hiện sau khỏi lỵ 2- 3 </a:t>
            </a:r>
            <a:r>
              <a:rPr lang="en-US" sz="2200" dirty="0" err="1" smtClean="0">
                <a:solidFill>
                  <a:schemeClr val="tx1"/>
                </a:solidFill>
                <a:latin typeface="Arial" panose="020B0604020202020204" pitchFamily="34" charset="0"/>
                <a:cs typeface="Arial" panose="020B0604020202020204" pitchFamily="34" charset="0"/>
              </a:rPr>
              <a:t>tuần</a:t>
            </a:r>
            <a:r>
              <a:rPr lang="en-US" sz="2200" dirty="0" smtClean="0">
                <a:solidFill>
                  <a:schemeClr val="tx1"/>
                </a:solidFill>
                <a:latin typeface="Arial" panose="020B0604020202020204" pitchFamily="34" charset="0"/>
                <a:cs typeface="Arial" panose="020B0604020202020204" pitchFamily="34" charset="0"/>
              </a:rPr>
              <a:t>.</a:t>
            </a:r>
          </a:p>
          <a:p>
            <a:pPr algn="just">
              <a:buFont typeface="Wingdings" panose="05000000000000000000" pitchFamily="2" charset="2"/>
              <a:buChar char="v"/>
            </a:pPr>
            <a:r>
              <a:rPr lang="en-US" sz="2200" dirty="0" err="1" smtClean="0">
                <a:solidFill>
                  <a:schemeClr val="tx1"/>
                </a:solidFill>
                <a:latin typeface="Arial" panose="020B0604020202020204" pitchFamily="34" charset="0"/>
                <a:cs typeface="Arial" panose="020B0604020202020204" pitchFamily="34" charset="0"/>
              </a:rPr>
              <a:t>Biến</a:t>
            </a:r>
            <a:r>
              <a:rPr lang="en-US" sz="2200" dirty="0" smtClean="0">
                <a:solidFill>
                  <a:schemeClr val="tx1"/>
                </a:solidFill>
                <a:latin typeface="Arial" panose="020B0604020202020204" pitchFamily="34" charset="0"/>
                <a:cs typeface="Arial" panose="020B0604020202020204" pitchFamily="34" charset="0"/>
              </a:rPr>
              <a:t> chứng khác: </a:t>
            </a:r>
            <a:r>
              <a:rPr lang="en-US" sz="2200" dirty="0" err="1" smtClean="0">
                <a:solidFill>
                  <a:schemeClr val="tx1"/>
                </a:solidFill>
                <a:latin typeface="Arial" panose="020B0604020202020204" pitchFamily="34" charset="0"/>
                <a:cs typeface="Arial" panose="020B0604020202020204" pitchFamily="34" charset="0"/>
              </a:rPr>
              <a:t>sdd</a:t>
            </a:r>
            <a:r>
              <a:rPr lang="en-US" sz="2200" dirty="0" smtClean="0">
                <a:solidFill>
                  <a:schemeClr val="tx1"/>
                </a:solidFill>
                <a:latin typeface="Arial" panose="020B0604020202020204" pitchFamily="34" charset="0"/>
                <a:cs typeface="Arial" panose="020B0604020202020204" pitchFamily="34" charset="0"/>
              </a:rPr>
              <a:t>, viêm loét đại tràng...</a:t>
            </a:r>
            <a:endParaRPr lang="en-US" sz="2200" dirty="0">
              <a:latin typeface="Arial" panose="020B0604020202020204" pitchFamily="34" charset="0"/>
              <a:cs typeface="Arial" panose="020B0604020202020204" pitchFamily="34" charset="0"/>
            </a:endParaRPr>
          </a:p>
        </p:txBody>
      </p:sp>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52400" y="2286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 CHẨN ĐOÁN</a:t>
            </a:r>
            <a:endParaRPr lang="vi-VN" sz="4000" b="1" dirty="0">
              <a:solidFill>
                <a:srgbClr val="FF0000"/>
              </a:solidFill>
              <a:latin typeface="Arial" pitchFamily="34" charset="0"/>
              <a:ea typeface="+mj-ea"/>
              <a:cs typeface="Arial" pitchFamily="34" charset="0"/>
            </a:endParaRPr>
          </a:p>
        </p:txBody>
      </p:sp>
    </p:spTree>
    <p:extLst>
      <p:ext uri="{BB962C8B-B14F-4D97-AF65-F5344CB8AC3E}">
        <p14:creationId xmlns:p14="http://schemas.microsoft.com/office/powerpoint/2010/main" val="304962556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332048" y="151468"/>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VIII. ĐIỀU TRỊ</a:t>
            </a:r>
            <a:endParaRPr lang="vi-VN" sz="4000" b="1" dirty="0">
              <a:solidFill>
                <a:srgbClr val="FF0000"/>
              </a:solidFill>
              <a:latin typeface="Arial" pitchFamily="34" charset="0"/>
              <a:ea typeface="+mj-ea"/>
              <a:cs typeface="Arial" pitchFamily="34" charset="0"/>
            </a:endParaRPr>
          </a:p>
        </p:txBody>
      </p:sp>
      <p:sp>
        <p:nvSpPr>
          <p:cNvPr id="5" name="Tiêu đề phụ 2">
            <a:extLst>
              <a:ext uri="{FF2B5EF4-FFF2-40B4-BE49-F238E27FC236}">
                <a16:creationId xmlns="" xmlns:a16="http://schemas.microsoft.com/office/drawing/2014/main" id="{883784F6-5A10-2245-B981-1C07B2D91F51}"/>
              </a:ext>
            </a:extLst>
          </p:cNvPr>
          <p:cNvSpPr txBox="1">
            <a:spLocks/>
          </p:cNvSpPr>
          <p:nvPr/>
        </p:nvSpPr>
        <p:spPr>
          <a:xfrm>
            <a:off x="1133759" y="685800"/>
            <a:ext cx="6686549" cy="55352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just">
              <a:buFont typeface="Wingdings 3" charset="2"/>
              <a:buAutoNum type="arabicPeriod"/>
            </a:pPr>
            <a:r>
              <a:rPr lang="en-US" sz="3000" b="1" dirty="0" smtClean="0">
                <a:solidFill>
                  <a:schemeClr val="tx1"/>
                </a:solidFill>
                <a:latin typeface="Arial" panose="020B0604020202020204" pitchFamily="34" charset="0"/>
                <a:cs typeface="Arial" panose="020B0604020202020204" pitchFamily="34" charset="0"/>
              </a:rPr>
              <a:t> </a:t>
            </a:r>
            <a:r>
              <a:rPr lang="vi-VN" sz="3000" b="1" dirty="0" smtClean="0">
                <a:solidFill>
                  <a:schemeClr val="tx1"/>
                </a:solidFill>
                <a:latin typeface="Arial" panose="020B0604020202020204" pitchFamily="34" charset="0"/>
                <a:cs typeface="Arial" panose="020B0604020202020204" pitchFamily="34" charset="0"/>
              </a:rPr>
              <a:t>Nguyên tắc điều trị</a:t>
            </a:r>
          </a:p>
          <a:p>
            <a:pPr algn="just"/>
            <a:endParaRPr lang="vi-VN" sz="3000" b="1" dirty="0" smtClean="0">
              <a:solidFill>
                <a:schemeClr val="tx1"/>
              </a:solidFill>
              <a:latin typeface="Arial" panose="020B0604020202020204" pitchFamily="34" charset="0"/>
              <a:cs typeface="Arial" panose="020B0604020202020204" pitchFamily="34" charset="0"/>
            </a:endParaRPr>
          </a:p>
          <a:p>
            <a:pPr algn="just"/>
            <a:endParaRPr lang="vi-VN" sz="3000" b="1" dirty="0">
              <a:solidFill>
                <a:srgbClr val="FF0000"/>
              </a:solidFill>
              <a:latin typeface="Arial" panose="020B0604020202020204" pitchFamily="34" charset="0"/>
              <a:cs typeface="Arial" panose="020B0604020202020204" pitchFamily="34" charset="0"/>
            </a:endParaRPr>
          </a:p>
        </p:txBody>
      </p:sp>
      <p:sp>
        <p:nvSpPr>
          <p:cNvPr id="6" name="Hộp Văn bản 3">
            <a:extLst>
              <a:ext uri="{FF2B5EF4-FFF2-40B4-BE49-F238E27FC236}">
                <a16:creationId xmlns="" xmlns:a16="http://schemas.microsoft.com/office/drawing/2014/main" id="{0322FFAA-C2EE-934B-AE4E-97D41D46EE0A}"/>
              </a:ext>
            </a:extLst>
          </p:cNvPr>
          <p:cNvSpPr txBox="1"/>
          <p:nvPr/>
        </p:nvSpPr>
        <p:spPr>
          <a:xfrm>
            <a:off x="251345" y="1600200"/>
            <a:ext cx="8451376" cy="4507837"/>
          </a:xfrm>
          <a:prstGeom prst="rect">
            <a:avLst/>
          </a:prstGeom>
          <a:noFill/>
        </p:spPr>
        <p:txBody>
          <a:bodyPr wrap="square">
            <a:spAutoFit/>
          </a:bodyPr>
          <a:lstStyle/>
          <a:p>
            <a:pPr marL="1028700" marR="24289" lvl="2" indent="-342900" algn="just" fontAlgn="base">
              <a:lnSpc>
                <a:spcPct val="103000"/>
              </a:lnSpc>
              <a:spcAft>
                <a:spcPts val="578"/>
              </a:spcAft>
              <a:buClr>
                <a:srgbClr val="000000"/>
              </a:buClr>
              <a:buSzPts val="1200"/>
              <a:buFont typeface="Wingdings" panose="05000000000000000000" pitchFamily="2" charset="2"/>
              <a:buChar char="v"/>
            </a:pPr>
            <a:r>
              <a:rPr lang="vi-VN" sz="2400" dirty="0">
                <a:solidFill>
                  <a:srgbClr val="000000"/>
                </a:solidFill>
                <a:uFill>
                  <a:solidFill>
                    <a:srgbClr val="000000"/>
                  </a:solidFill>
                </a:uFill>
                <a:latin typeface="Arial" panose="020B0604020202020204" pitchFamily="34" charset="0"/>
                <a:ea typeface="Segoe UI Symbol" panose="020B0502040204020203" pitchFamily="34" charset="0"/>
                <a:cs typeface="Arial" panose="020B0604020202020204" pitchFamily="34" charset="0"/>
              </a:rPr>
              <a:t>Dùng kháng sinh sớm và thích hợp để giảm thời gian bị bệnh và giảm thải vi khuẩn ra ngoài môi trường. </a:t>
            </a:r>
          </a:p>
          <a:p>
            <a:pPr marL="1028700" marR="24289" lvl="2" indent="-342900" algn="just" fontAlgn="base">
              <a:lnSpc>
                <a:spcPct val="103000"/>
              </a:lnSpc>
              <a:spcAft>
                <a:spcPts val="596"/>
              </a:spcAft>
              <a:buClr>
                <a:srgbClr val="000000"/>
              </a:buClr>
              <a:buSzPts val="1200"/>
              <a:buFont typeface="Wingdings" panose="05000000000000000000" pitchFamily="2" charset="2"/>
              <a:buChar char="v"/>
            </a:pPr>
            <a:r>
              <a:rPr lang="vi-VN" sz="2400" dirty="0">
                <a:solidFill>
                  <a:srgbClr val="000000"/>
                </a:solidFill>
                <a:uFill>
                  <a:solidFill>
                    <a:srgbClr val="000000"/>
                  </a:solidFill>
                </a:uFill>
                <a:latin typeface="Arial" panose="020B0604020202020204" pitchFamily="34" charset="0"/>
                <a:ea typeface="Segoe UI Symbol" panose="020B0502040204020203" pitchFamily="34" charset="0"/>
                <a:cs typeface="Arial" panose="020B0604020202020204" pitchFamily="34" charset="0"/>
              </a:rPr>
              <a:t>Bồi phụ nước và điện giải sớm và kịp thời để tránh để xảy ra tình trạng sốc do mất nước và rối loạn điện giải. </a:t>
            </a:r>
          </a:p>
          <a:p>
            <a:pPr marL="1028700" marR="24289" lvl="2" indent="-342900" algn="just" fontAlgn="base">
              <a:lnSpc>
                <a:spcPct val="103000"/>
              </a:lnSpc>
              <a:spcAft>
                <a:spcPts val="578"/>
              </a:spcAft>
              <a:buClr>
                <a:srgbClr val="000000"/>
              </a:buClr>
              <a:buSzPts val="1200"/>
              <a:buFont typeface="Wingdings" panose="05000000000000000000" pitchFamily="2" charset="2"/>
              <a:buChar char="v"/>
            </a:pPr>
            <a:r>
              <a:rPr lang="vi-VN" sz="2400" dirty="0">
                <a:solidFill>
                  <a:srgbClr val="000000"/>
                </a:solidFill>
                <a:uFill>
                  <a:solidFill>
                    <a:srgbClr val="000000"/>
                  </a:solidFill>
                </a:uFill>
                <a:latin typeface="Arial" panose="020B0604020202020204" pitchFamily="34" charset="0"/>
                <a:ea typeface="Segoe UI Symbol" panose="020B0502040204020203" pitchFamily="34" charset="0"/>
                <a:cs typeface="Arial" panose="020B0604020202020204" pitchFamily="34" charset="0"/>
              </a:rPr>
              <a:t>Điều trị các triệu chứng khác gồm giảm đau bụng, hạ sốt, trợ tim mạch và các triệu chứng liên quan khác đồng thời với điều trị căn nguyên và bồi phụ nước điện giải. </a:t>
            </a:r>
          </a:p>
          <a:p>
            <a:pPr marL="1028700" marR="24289" lvl="2" indent="-342900" algn="just" fontAlgn="base">
              <a:lnSpc>
                <a:spcPct val="103000"/>
              </a:lnSpc>
              <a:spcAft>
                <a:spcPts val="409"/>
              </a:spcAft>
              <a:buClr>
                <a:srgbClr val="000000"/>
              </a:buClr>
              <a:buSzPts val="1200"/>
              <a:buFont typeface="Wingdings" panose="05000000000000000000" pitchFamily="2" charset="2"/>
              <a:buChar char="v"/>
            </a:pPr>
            <a:r>
              <a:rPr lang="vi-VN" sz="2400" dirty="0">
                <a:solidFill>
                  <a:srgbClr val="000000"/>
                </a:solidFill>
                <a:uFill>
                  <a:solidFill>
                    <a:srgbClr val="000000"/>
                  </a:solidFill>
                </a:uFill>
                <a:latin typeface="Arial" panose="020B0604020202020204" pitchFamily="34" charset="0"/>
                <a:ea typeface="Segoe UI Symbol" panose="020B0502040204020203" pitchFamily="34" charset="0"/>
                <a:cs typeface="Arial" panose="020B0604020202020204" pitchFamily="34" charset="0"/>
              </a:rPr>
              <a:t>Đảm bảo phòng chống lây nhiễm và thông báo dịch theo quy định. </a:t>
            </a:r>
          </a:p>
        </p:txBody>
      </p:sp>
    </p:spTree>
    <p:extLst>
      <p:ext uri="{BB962C8B-B14F-4D97-AF65-F5344CB8AC3E}">
        <p14:creationId xmlns:p14="http://schemas.microsoft.com/office/powerpoint/2010/main" val="8479040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êu đề 5">
            <a:extLst>
              <a:ext uri="{FF2B5EF4-FFF2-40B4-BE49-F238E27FC236}">
                <a16:creationId xmlns="" xmlns:a16="http://schemas.microsoft.com/office/drawing/2014/main" id="{97F3C032-36F5-1949-91D1-B7699A91CBB4}"/>
              </a:ext>
            </a:extLst>
          </p:cNvPr>
          <p:cNvSpPr>
            <a:spLocks noGrp="1"/>
          </p:cNvSpPr>
          <p:nvPr>
            <p:ph type="title"/>
          </p:nvPr>
        </p:nvSpPr>
        <p:spPr>
          <a:xfrm>
            <a:off x="1230117" y="730261"/>
            <a:ext cx="6683765" cy="504828"/>
          </a:xfrm>
        </p:spPr>
        <p:txBody>
          <a:bodyPr>
            <a:noAutofit/>
          </a:bodyPr>
          <a:lstStyle/>
          <a:p>
            <a:pPr algn="just"/>
            <a:r>
              <a:rPr lang="vi-VN" sz="3000" b="1" dirty="0">
                <a:solidFill>
                  <a:schemeClr val="tx1"/>
                </a:solidFill>
                <a:latin typeface="Arial" panose="020B0604020202020204" pitchFamily="34" charset="0"/>
                <a:cs typeface="Arial" panose="020B0604020202020204" pitchFamily="34" charset="0"/>
              </a:rPr>
              <a:t>2. Điều trị cụ thể</a:t>
            </a:r>
          </a:p>
        </p:txBody>
      </p:sp>
      <p:sp>
        <p:nvSpPr>
          <p:cNvPr id="9" name="Chỗ dành sẵn cho Nội dung 8">
            <a:extLst>
              <a:ext uri="{FF2B5EF4-FFF2-40B4-BE49-F238E27FC236}">
                <a16:creationId xmlns="" xmlns:a16="http://schemas.microsoft.com/office/drawing/2014/main" id="{4FC5608A-5659-5D4C-B736-6C911E6D73AF}"/>
              </a:ext>
            </a:extLst>
          </p:cNvPr>
          <p:cNvSpPr>
            <a:spLocks noGrp="1"/>
          </p:cNvSpPr>
          <p:nvPr>
            <p:ph sz="half" idx="1"/>
          </p:nvPr>
        </p:nvSpPr>
        <p:spPr>
          <a:xfrm>
            <a:off x="457199" y="1981200"/>
            <a:ext cx="4114800" cy="3530536"/>
          </a:xfrm>
        </p:spPr>
        <p:txBody>
          <a:bodyPr>
            <a:noAutofit/>
          </a:bodyPr>
          <a:lstStyle/>
          <a:p>
            <a:pPr marL="0" indent="0" algn="just">
              <a:buNone/>
            </a:pPr>
            <a:r>
              <a:rPr lang="vi-VN" sz="2400" b="1" i="1" dirty="0" smtClean="0">
                <a:latin typeface="Arial" panose="020B0604020202020204" pitchFamily="34" charset="0"/>
                <a:cs typeface="Arial" panose="020B0604020202020204" pitchFamily="34" charset="0"/>
              </a:rPr>
              <a:t>2.1</a:t>
            </a:r>
            <a:r>
              <a:rPr lang="vi-VN" sz="2400" b="1" i="1" dirty="0">
                <a:latin typeface="Arial" panose="020B0604020202020204" pitchFamily="34" charset="0"/>
                <a:cs typeface="Arial" panose="020B0604020202020204" pitchFamily="34" charset="0"/>
              </a:rPr>
              <a:t>. Kháng sinh</a:t>
            </a:r>
          </a:p>
          <a:p>
            <a:pPr marL="0" indent="0" algn="just">
              <a:buNone/>
            </a:pPr>
            <a:r>
              <a:rPr lang="vi-VN" sz="2400" dirty="0">
                <a:latin typeface="Arial" panose="020B0604020202020204" pitchFamily="34" charset="0"/>
                <a:cs typeface="Arial" panose="020B0604020202020204" pitchFamily="34" charset="0"/>
              </a:rPr>
              <a:t> - Kháng sinh là phương pháp điều trị đặc hiệu, tổ chức </a:t>
            </a:r>
            <a:r>
              <a:rPr lang="en-US" sz="2400" dirty="0" smtClean="0">
                <a:latin typeface="Arial" panose="020B0604020202020204" pitchFamily="34" charset="0"/>
                <a:cs typeface="Arial" panose="020B0604020202020204" pitchFamily="34" charset="0"/>
              </a:rPr>
              <a:t>Y</a:t>
            </a:r>
            <a:r>
              <a:rPr lang="vi-VN" sz="2400" dirty="0" smtClean="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tế </a:t>
            </a:r>
            <a:r>
              <a:rPr lang="en-US" sz="2400" dirty="0" err="1" smtClean="0">
                <a:latin typeface="Arial" panose="020B0604020202020204" pitchFamily="34" charset="0"/>
                <a:cs typeface="Arial" panose="020B0604020202020204" pitchFamily="34" charset="0"/>
              </a:rPr>
              <a:t>Th</a:t>
            </a:r>
            <a:r>
              <a:rPr lang="vi-VN" sz="2400" dirty="0" smtClean="0">
                <a:latin typeface="Arial" panose="020B0604020202020204" pitchFamily="34" charset="0"/>
                <a:cs typeface="Arial" panose="020B0604020202020204" pitchFamily="34" charset="0"/>
              </a:rPr>
              <a:t>ế </a:t>
            </a:r>
            <a:r>
              <a:rPr lang="vi-VN" sz="2400" dirty="0">
                <a:latin typeface="Arial" panose="020B0604020202020204" pitchFamily="34" charset="0"/>
                <a:cs typeface="Arial" panose="020B0604020202020204" pitchFamily="34" charset="0"/>
              </a:rPr>
              <a:t>giới (WHO) khuyến cáo sử dụng cho tất cả trường hợp có nghi ngờ </a:t>
            </a:r>
            <a:r>
              <a:rPr lang="vi-VN" sz="2400" b="1" i="1" dirty="0">
                <a:solidFill>
                  <a:schemeClr val="tx1"/>
                </a:solidFill>
                <a:latin typeface="Arial" panose="020B0604020202020204" pitchFamily="34" charset="0"/>
                <a:cs typeface="Arial" panose="020B0604020202020204" pitchFamily="34" charset="0"/>
              </a:rPr>
              <a:t>Lỵ trực khuẩn</a:t>
            </a:r>
            <a:r>
              <a:rPr lang="vi-VN" sz="2400" b="1" dirty="0">
                <a:solidFill>
                  <a:schemeClr val="tx1"/>
                </a:solidFill>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trên lâm sàng.</a:t>
            </a:r>
          </a:p>
          <a:p>
            <a:pPr marL="0" indent="0" algn="just">
              <a:buNone/>
            </a:pPr>
            <a:endParaRPr lang="vi-VN" sz="2400" dirty="0">
              <a:latin typeface="Arial" panose="020B0604020202020204" pitchFamily="34" charset="0"/>
              <a:cs typeface="Arial" panose="020B0604020202020204" pitchFamily="34" charset="0"/>
            </a:endParaRPr>
          </a:p>
        </p:txBody>
      </p:sp>
      <p:pic>
        <p:nvPicPr>
          <p:cNvPr id="2" name="Hình ảnh 2">
            <a:extLst>
              <a:ext uri="{FF2B5EF4-FFF2-40B4-BE49-F238E27FC236}">
                <a16:creationId xmlns="" xmlns:a16="http://schemas.microsoft.com/office/drawing/2014/main" id="{9A057920-49AD-DE40-92C9-FC0CA96F6433}"/>
              </a:ext>
            </a:extLst>
          </p:cNvPr>
          <p:cNvPicPr>
            <a:picLocks noGrp="1" noChangeAspect="1"/>
          </p:cNvPicPr>
          <p:nvPr>
            <p:ph sz="half" idx="2"/>
          </p:nvPr>
        </p:nvPicPr>
        <p:blipFill>
          <a:blip r:embed="rId2"/>
          <a:stretch>
            <a:fillRect/>
          </a:stretch>
        </p:blipFill>
        <p:spPr>
          <a:xfrm>
            <a:off x="4724400" y="1752600"/>
            <a:ext cx="4038600" cy="4353479"/>
          </a:xfrm>
          <a:prstGeom prst="rect">
            <a:avLst/>
          </a:prstGeom>
        </p:spPr>
      </p:pic>
      <p:sp>
        <p:nvSpPr>
          <p:cNvPr id="5" name="Tiêu đề 1">
            <a:extLst>
              <a:ext uri="{FF2B5EF4-FFF2-40B4-BE49-F238E27FC236}">
                <a16:creationId xmlns="" xmlns:a16="http://schemas.microsoft.com/office/drawing/2014/main" id="{C98A5779-0D20-F746-86A7-119A3BB7F135}"/>
              </a:ext>
            </a:extLst>
          </p:cNvPr>
          <p:cNvSpPr txBox="1">
            <a:spLocks/>
          </p:cNvSpPr>
          <p:nvPr/>
        </p:nvSpPr>
        <p:spPr>
          <a:xfrm>
            <a:off x="228600" y="2286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VIII. ĐIỀU TRỊ</a:t>
            </a:r>
            <a:endParaRPr lang="vi-VN" sz="4000" b="1" dirty="0">
              <a:solidFill>
                <a:srgbClr val="FF0000"/>
              </a:solidFill>
              <a:latin typeface="Arial" pitchFamily="34" charset="0"/>
              <a:ea typeface="+mj-ea"/>
              <a:cs typeface="Arial" pitchFamily="34" charset="0"/>
            </a:endParaRPr>
          </a:p>
        </p:txBody>
      </p:sp>
    </p:spTree>
    <p:extLst>
      <p:ext uri="{BB962C8B-B14F-4D97-AF65-F5344CB8AC3E}">
        <p14:creationId xmlns:p14="http://schemas.microsoft.com/office/powerpoint/2010/main" val="24467414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down)">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5">
            <a:extLst>
              <a:ext uri="{FF2B5EF4-FFF2-40B4-BE49-F238E27FC236}">
                <a16:creationId xmlns="" xmlns:a16="http://schemas.microsoft.com/office/drawing/2014/main" id="{97F3C032-36F5-1949-91D1-B7699A91CBB4}"/>
              </a:ext>
            </a:extLst>
          </p:cNvPr>
          <p:cNvSpPr>
            <a:spLocks noGrp="1"/>
          </p:cNvSpPr>
          <p:nvPr>
            <p:ph type="title"/>
          </p:nvPr>
        </p:nvSpPr>
        <p:spPr>
          <a:xfrm>
            <a:off x="1230117" y="730261"/>
            <a:ext cx="6683765" cy="504828"/>
          </a:xfrm>
        </p:spPr>
        <p:txBody>
          <a:bodyPr>
            <a:noAutofit/>
          </a:bodyPr>
          <a:lstStyle/>
          <a:p>
            <a:pPr algn="just"/>
            <a:r>
              <a:rPr lang="vi-VN" sz="3000" b="1" dirty="0">
                <a:solidFill>
                  <a:schemeClr val="tx1"/>
                </a:solidFill>
                <a:latin typeface="Arial" panose="020B0604020202020204" pitchFamily="34" charset="0"/>
                <a:cs typeface="Arial" panose="020B0604020202020204" pitchFamily="34" charset="0"/>
              </a:rPr>
              <a:t>2. Điều trị cụ thể</a:t>
            </a:r>
          </a:p>
        </p:txBody>
      </p:sp>
      <p:sp>
        <p:nvSpPr>
          <p:cNvPr id="8" name="Chỗ dành sẵn cho Văn bản 7">
            <a:extLst>
              <a:ext uri="{FF2B5EF4-FFF2-40B4-BE49-F238E27FC236}">
                <a16:creationId xmlns="" xmlns:a16="http://schemas.microsoft.com/office/drawing/2014/main" id="{FDC088B2-005A-7347-8219-6CBBA38372DB}"/>
              </a:ext>
            </a:extLst>
          </p:cNvPr>
          <p:cNvSpPr>
            <a:spLocks noGrp="1"/>
          </p:cNvSpPr>
          <p:nvPr>
            <p:ph type="body" sz="half" idx="2"/>
          </p:nvPr>
        </p:nvSpPr>
        <p:spPr>
          <a:xfrm>
            <a:off x="685800" y="1905000"/>
            <a:ext cx="8115884" cy="3810000"/>
          </a:xfrm>
        </p:spPr>
        <p:txBody>
          <a:bodyPr>
            <a:noAutofit/>
          </a:bodyPr>
          <a:lstStyle/>
          <a:p>
            <a:pPr algn="just"/>
            <a:r>
              <a:rPr lang="vi-VN" sz="2400" b="1" i="1" dirty="0">
                <a:latin typeface="Arial" panose="020B0604020202020204" pitchFamily="34" charset="0"/>
                <a:cs typeface="Arial" panose="020B0604020202020204" pitchFamily="34" charset="0"/>
              </a:rPr>
              <a:t>Theo phác đồ điều trị Lỵ trực khuẩn cho trẻ em của </a:t>
            </a:r>
            <a:r>
              <a:rPr lang="en-US" sz="2400" b="1" i="1" dirty="0" smtClean="0">
                <a:latin typeface="Arial" panose="020B0604020202020204" pitchFamily="34" charset="0"/>
                <a:cs typeface="Arial" panose="020B0604020202020204" pitchFamily="34" charset="0"/>
              </a:rPr>
              <a:t>B</a:t>
            </a:r>
            <a:r>
              <a:rPr lang="vi-VN" sz="2400" b="1" i="1" dirty="0" smtClean="0">
                <a:latin typeface="Arial" panose="020B0604020202020204" pitchFamily="34" charset="0"/>
                <a:cs typeface="Arial" panose="020B0604020202020204" pitchFamily="34" charset="0"/>
              </a:rPr>
              <a:t>ộ </a:t>
            </a:r>
            <a:r>
              <a:rPr lang="vi-VN" sz="2400" b="1" i="1" dirty="0">
                <a:latin typeface="Arial" panose="020B0604020202020204" pitchFamily="34" charset="0"/>
                <a:cs typeface="Arial" panose="020B0604020202020204" pitchFamily="34" charset="0"/>
              </a:rPr>
              <a:t>Y tế, có thể dùng kháng sinh sau</a:t>
            </a:r>
            <a:r>
              <a:rPr lang="vi-VN" sz="2400" b="1" i="1" dirty="0" smtClean="0">
                <a:latin typeface="Arial" panose="020B0604020202020204" pitchFamily="34" charset="0"/>
                <a:cs typeface="Arial" panose="020B0604020202020204" pitchFamily="34" charset="0"/>
              </a:rPr>
              <a:t>:</a:t>
            </a:r>
            <a:endParaRPr lang="vi-VN" sz="2400" b="1" i="1" dirty="0">
              <a:latin typeface="Arial" panose="020B0604020202020204" pitchFamily="34" charset="0"/>
              <a:cs typeface="Arial" panose="020B0604020202020204" pitchFamily="34" charset="0"/>
            </a:endParaRPr>
          </a:p>
          <a:p>
            <a:pPr marL="257175" indent="-257175" algn="just">
              <a:buFont typeface="Arial" panose="020B0604020202020204" pitchFamily="34" charset="0"/>
              <a:buChar char="•"/>
            </a:pPr>
            <a:r>
              <a:rPr lang="vi-VN" sz="2400" b="1" dirty="0">
                <a:latin typeface="Arial" panose="020B0604020202020204" pitchFamily="34" charset="0"/>
                <a:cs typeface="Arial" panose="020B0604020202020204" pitchFamily="34" charset="0"/>
              </a:rPr>
              <a:t>Ciprofloxacin </a:t>
            </a:r>
            <a:r>
              <a:rPr lang="vi-VN" sz="2400" dirty="0" smtClean="0">
                <a:latin typeface="Arial" panose="020B0604020202020204" pitchFamily="34" charset="0"/>
                <a:cs typeface="Arial" panose="020B0604020202020204" pitchFamily="34" charset="0"/>
              </a:rPr>
              <a:t>15mg/kg/lần</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x </a:t>
            </a:r>
            <a:r>
              <a:rPr lang="vi-VN" sz="2400" dirty="0" smtClean="0">
                <a:latin typeface="Arial" panose="020B0604020202020204" pitchFamily="34" charset="0"/>
                <a:cs typeface="Arial" panose="020B0604020202020204" pitchFamily="34" charset="0"/>
              </a:rPr>
              <a:t>2 lần/ngày</a:t>
            </a:r>
            <a:r>
              <a:rPr lang="en-US" sz="2400" dirty="0" smtClean="0">
                <a:latin typeface="Arial" panose="020B0604020202020204" pitchFamily="34" charset="0"/>
                <a:cs typeface="Arial" panose="020B0604020202020204" pitchFamily="34" charset="0"/>
              </a:rPr>
              <a:t> x </a:t>
            </a:r>
            <a:r>
              <a:rPr lang="vi-VN" sz="2400" dirty="0" smtClean="0">
                <a:latin typeface="Arial" panose="020B0604020202020204" pitchFamily="34" charset="0"/>
                <a:cs typeface="Arial" panose="020B0604020202020204" pitchFamily="34" charset="0"/>
              </a:rPr>
              <a:t>3 </a:t>
            </a:r>
            <a:r>
              <a:rPr lang="vi-VN" sz="2400" dirty="0">
                <a:latin typeface="Arial" panose="020B0604020202020204" pitchFamily="34" charset="0"/>
                <a:cs typeface="Arial" panose="020B0604020202020204" pitchFamily="34" charset="0"/>
              </a:rPr>
              <a:t>ngày dùng cho trẻ trên 2 tháng tuổi nếu không rõ độ nhạy kháng sinh</a:t>
            </a:r>
            <a:r>
              <a:rPr lang="vi-VN" sz="2400" dirty="0" smtClean="0">
                <a:latin typeface="Arial" panose="020B0604020202020204" pitchFamily="34" charset="0"/>
                <a:cs typeface="Arial" panose="020B0604020202020204" pitchFamily="34" charset="0"/>
              </a:rPr>
              <a:t>.</a:t>
            </a:r>
            <a:endParaRPr lang="vi-VN" sz="2400" dirty="0">
              <a:latin typeface="Arial" panose="020B0604020202020204" pitchFamily="34" charset="0"/>
              <a:cs typeface="Arial" panose="020B0604020202020204" pitchFamily="34" charset="0"/>
            </a:endParaRPr>
          </a:p>
          <a:p>
            <a:pPr marL="257175" indent="-257175" algn="just">
              <a:buFont typeface="Arial" panose="020B0604020202020204" pitchFamily="34" charset="0"/>
              <a:buChar char="•"/>
            </a:pPr>
            <a:r>
              <a:rPr lang="vi-VN" sz="2400" dirty="0">
                <a:latin typeface="Arial" panose="020B0604020202020204" pitchFamily="34" charset="0"/>
                <a:cs typeface="Arial" panose="020B0604020202020204" pitchFamily="34" charset="0"/>
              </a:rPr>
              <a:t>Kháng sinh thay thế:</a:t>
            </a:r>
          </a:p>
          <a:p>
            <a:pPr algn="just"/>
            <a:r>
              <a:rPr lang="vi-VN" sz="2400" dirty="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 </a:t>
            </a:r>
            <a:r>
              <a:rPr lang="vi-VN" sz="2400" dirty="0" smtClean="0">
                <a:latin typeface="Arial" panose="020B0604020202020204" pitchFamily="34" charset="0"/>
                <a:cs typeface="Arial" panose="020B0604020202020204" pitchFamily="34" charset="0"/>
              </a:rPr>
              <a:t>Hoặc </a:t>
            </a:r>
            <a:r>
              <a:rPr lang="vi-VN" sz="2400" i="1" u="sng" dirty="0">
                <a:latin typeface="Arial" panose="020B0604020202020204" pitchFamily="34" charset="0"/>
                <a:cs typeface="Arial" panose="020B0604020202020204" pitchFamily="34" charset="0"/>
              </a:rPr>
              <a:t>Ceftriaxone </a:t>
            </a:r>
            <a:r>
              <a:rPr lang="vi-VN" sz="2400" dirty="0">
                <a:latin typeface="Arial" panose="020B0604020202020204" pitchFamily="34" charset="0"/>
                <a:cs typeface="Arial" panose="020B0604020202020204" pitchFamily="34" charset="0"/>
              </a:rPr>
              <a:t>50-100 </a:t>
            </a:r>
            <a:r>
              <a:rPr lang="vi-VN" sz="2400" dirty="0" smtClean="0">
                <a:latin typeface="Arial" panose="020B0604020202020204" pitchFamily="34" charset="0"/>
                <a:cs typeface="Arial" panose="020B0604020202020204" pitchFamily="34" charset="0"/>
              </a:rPr>
              <a:t>mg/kg/24h</a:t>
            </a:r>
            <a:r>
              <a:rPr lang="en-US" sz="2400" dirty="0" smtClean="0">
                <a:latin typeface="Arial" panose="020B0604020202020204" pitchFamily="34" charset="0"/>
                <a:cs typeface="Arial" panose="020B0604020202020204" pitchFamily="34" charset="0"/>
              </a:rPr>
              <a:t> x </a:t>
            </a:r>
            <a:r>
              <a:rPr lang="vi-VN" sz="2400" dirty="0" smtClean="0">
                <a:latin typeface="Arial" panose="020B0604020202020204" pitchFamily="34" charset="0"/>
                <a:cs typeface="Arial" panose="020B0604020202020204" pitchFamily="34" charset="0"/>
              </a:rPr>
              <a:t>1 </a:t>
            </a:r>
            <a:r>
              <a:rPr lang="vi-VN" sz="2400" dirty="0">
                <a:latin typeface="Arial" panose="020B0604020202020204" pitchFamily="34" charset="0"/>
                <a:cs typeface="Arial" panose="020B0604020202020204" pitchFamily="34" charset="0"/>
              </a:rPr>
              <a:t>lần/ ngày trong 2-5 ngày (tiêm tĩnh mạch). Dùng được cho trẻ &lt; 2 tháng.</a:t>
            </a:r>
          </a:p>
          <a:p>
            <a:pPr marL="257175" indent="-257175" algn="just">
              <a:buFont typeface="Arial" panose="020B0604020202020204" pitchFamily="34" charset="0"/>
              <a:buChar char="•"/>
            </a:pPr>
            <a:endParaRPr lang="vi-VN" sz="2400" dirty="0">
              <a:latin typeface="Arial" panose="020B0604020202020204" pitchFamily="34" charset="0"/>
              <a:cs typeface="Arial" panose="020B0604020202020204" pitchFamily="34" charset="0"/>
            </a:endParaRPr>
          </a:p>
          <a:p>
            <a:pPr marL="257175" indent="-257175" algn="just">
              <a:buFont typeface="Arial" panose="020B0604020202020204" pitchFamily="34" charset="0"/>
              <a:buChar char="•"/>
            </a:pPr>
            <a:endParaRPr lang="vi-VN" sz="2400" b="1" dirty="0">
              <a:latin typeface="Arial" panose="020B0604020202020204" pitchFamily="34" charset="0"/>
              <a:cs typeface="Arial" panose="020B0604020202020204" pitchFamily="34" charset="0"/>
            </a:endParaRPr>
          </a:p>
          <a:p>
            <a:pPr algn="just"/>
            <a:endParaRPr lang="vi-VN" sz="2400" dirty="0">
              <a:latin typeface="Arial" panose="020B0604020202020204" pitchFamily="34" charset="0"/>
              <a:cs typeface="Arial" panose="020B0604020202020204" pitchFamily="34" charset="0"/>
            </a:endParaRPr>
          </a:p>
        </p:txBody>
      </p:sp>
      <p:sp>
        <p:nvSpPr>
          <p:cNvPr id="3" name="Tiêu đề 1">
            <a:extLst>
              <a:ext uri="{FF2B5EF4-FFF2-40B4-BE49-F238E27FC236}">
                <a16:creationId xmlns="" xmlns:a16="http://schemas.microsoft.com/office/drawing/2014/main" id="{C98A5779-0D20-F746-86A7-119A3BB7F135}"/>
              </a:ext>
            </a:extLst>
          </p:cNvPr>
          <p:cNvSpPr txBox="1">
            <a:spLocks/>
          </p:cNvSpPr>
          <p:nvPr/>
        </p:nvSpPr>
        <p:spPr>
          <a:xfrm>
            <a:off x="228600" y="1524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VIII. ĐIỀU TRỊ</a:t>
            </a:r>
            <a:endParaRPr lang="vi-VN" sz="4000" b="1" dirty="0">
              <a:solidFill>
                <a:srgbClr val="FF0000"/>
              </a:solidFill>
              <a:latin typeface="Arial" pitchFamily="34" charset="0"/>
              <a:ea typeface="+mj-ea"/>
              <a:cs typeface="Arial" pitchFamily="34" charset="0"/>
            </a:endParaRPr>
          </a:p>
        </p:txBody>
      </p:sp>
    </p:spTree>
    <p:extLst>
      <p:ext uri="{BB962C8B-B14F-4D97-AF65-F5344CB8AC3E}">
        <p14:creationId xmlns:p14="http://schemas.microsoft.com/office/powerpoint/2010/main" val="12538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 xmlns:a16="http://schemas.microsoft.com/office/drawing/2014/main" id="{CCACBCF4-DCAB-6E40-A8FA-F5B123AEB254}"/>
              </a:ext>
            </a:extLst>
          </p:cNvPr>
          <p:cNvSpPr>
            <a:spLocks noGrp="1"/>
          </p:cNvSpPr>
          <p:nvPr>
            <p:ph type="subTitle" idx="1"/>
          </p:nvPr>
        </p:nvSpPr>
        <p:spPr>
          <a:xfrm>
            <a:off x="468573" y="1533606"/>
            <a:ext cx="7703696" cy="2101323"/>
          </a:xfrm>
        </p:spPr>
        <p:txBody>
          <a:bodyPr anchor="t">
            <a:noAutofit/>
          </a:bodyPr>
          <a:lstStyle/>
          <a:p>
            <a:pPr algn="just"/>
            <a:r>
              <a:rPr lang="vi-VN" sz="2400" b="1" i="1" dirty="0">
                <a:latin typeface="Arial" panose="020B0604020202020204" pitchFamily="34" charset="0"/>
                <a:cs typeface="Arial" panose="020B0604020202020204" pitchFamily="34" charset="0"/>
              </a:rPr>
              <a:t>2.2. Bồi phụ nước, điện giải</a:t>
            </a:r>
            <a:endParaRPr lang="vi-VN" sz="2400"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L="342900" indent="-342900" algn="just" fontAlgn="base">
              <a:buFont typeface="Arial" panose="020B0604020202020204" pitchFamily="34" charset="0"/>
              <a:buChar char="•"/>
            </a:pPr>
            <a:r>
              <a:rPr lang="vi-VN" sz="2400" dirty="0">
                <a:solidFill>
                  <a:srgbClr val="000000"/>
                </a:solidFill>
                <a:uFill>
                  <a:solidFill>
                    <a:srgbClr val="000000"/>
                  </a:solidFill>
                </a:uFill>
                <a:latin typeface="Arial" panose="020B0604020202020204" pitchFamily="34" charset="0"/>
                <a:ea typeface="Segoe UI Symbol" panose="020B0502040204020203" pitchFamily="34" charset="0"/>
                <a:cs typeface="Arial" panose="020B0604020202020204" pitchFamily="34" charset="0"/>
              </a:rPr>
              <a:t>Cần đánh giá mức độ mất nước, điện giải của trẻ để bù dịch phù hợp và kịp thời theo phác đồ A,B,C. </a:t>
            </a:r>
          </a:p>
          <a:p>
            <a:pPr marL="257175" indent="-257175" algn="just">
              <a:buFont typeface="Arial" panose="020B0604020202020204" pitchFamily="34" charset="0"/>
              <a:buChar char="•"/>
            </a:pPr>
            <a:r>
              <a:rPr lang="vi-VN" sz="2400" dirty="0">
                <a:latin typeface="Arial" panose="020B0604020202020204" pitchFamily="34" charset="0"/>
                <a:cs typeface="Arial" panose="020B0604020202020204" pitchFamily="34" charset="0"/>
              </a:rPr>
              <a:t>Theo dõi toàn trạng của trẻ để thay đổi phác đồ kịp thời.</a:t>
            </a:r>
          </a:p>
        </p:txBody>
      </p:sp>
      <p:pic>
        <p:nvPicPr>
          <p:cNvPr id="6" name="Hình ảnh 6">
            <a:extLst>
              <a:ext uri="{FF2B5EF4-FFF2-40B4-BE49-F238E27FC236}">
                <a16:creationId xmlns="" xmlns:a16="http://schemas.microsoft.com/office/drawing/2014/main" id="{2FAD4ACE-3B76-7848-BFB5-FBAEE1ED6F31}"/>
              </a:ext>
            </a:extLst>
          </p:cNvPr>
          <p:cNvPicPr>
            <a:picLocks noChangeAspect="1"/>
          </p:cNvPicPr>
          <p:nvPr/>
        </p:nvPicPr>
        <p:blipFill>
          <a:blip r:embed="rId2"/>
          <a:stretch>
            <a:fillRect/>
          </a:stretch>
        </p:blipFill>
        <p:spPr>
          <a:xfrm>
            <a:off x="909718" y="3805952"/>
            <a:ext cx="3403879" cy="2438400"/>
          </a:xfrm>
          <a:prstGeom prst="rect">
            <a:avLst/>
          </a:prstGeom>
        </p:spPr>
      </p:pic>
      <p:pic>
        <p:nvPicPr>
          <p:cNvPr id="8" name="Hình ảnh 8">
            <a:extLst>
              <a:ext uri="{FF2B5EF4-FFF2-40B4-BE49-F238E27FC236}">
                <a16:creationId xmlns="" xmlns:a16="http://schemas.microsoft.com/office/drawing/2014/main" id="{1F24EBFF-D2E8-A04C-A8FB-3B6AC9E41145}"/>
              </a:ext>
            </a:extLst>
          </p:cNvPr>
          <p:cNvPicPr>
            <a:picLocks noChangeAspect="1"/>
          </p:cNvPicPr>
          <p:nvPr/>
        </p:nvPicPr>
        <p:blipFill>
          <a:blip r:embed="rId3"/>
          <a:stretch>
            <a:fillRect/>
          </a:stretch>
        </p:blipFill>
        <p:spPr>
          <a:xfrm>
            <a:off x="5181600" y="3729752"/>
            <a:ext cx="3200400" cy="2514600"/>
          </a:xfrm>
          <a:prstGeom prst="rect">
            <a:avLst/>
          </a:prstGeom>
        </p:spPr>
      </p:pic>
      <p:sp>
        <p:nvSpPr>
          <p:cNvPr id="7" name="Tiêu đề 1">
            <a:extLst>
              <a:ext uri="{FF2B5EF4-FFF2-40B4-BE49-F238E27FC236}">
                <a16:creationId xmlns="" xmlns:a16="http://schemas.microsoft.com/office/drawing/2014/main" id="{C98A5779-0D20-F746-86A7-119A3BB7F135}"/>
              </a:ext>
            </a:extLst>
          </p:cNvPr>
          <p:cNvSpPr txBox="1">
            <a:spLocks/>
          </p:cNvSpPr>
          <p:nvPr/>
        </p:nvSpPr>
        <p:spPr>
          <a:xfrm>
            <a:off x="457200" y="2286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VIII. ĐIỀU TRỊ</a:t>
            </a:r>
            <a:endParaRPr lang="vi-VN" sz="4000" b="1" dirty="0">
              <a:solidFill>
                <a:srgbClr val="FF0000"/>
              </a:solidFill>
              <a:latin typeface="Arial" pitchFamily="34" charset="0"/>
              <a:ea typeface="+mj-ea"/>
              <a:cs typeface="Arial" pitchFamily="34" charset="0"/>
            </a:endParaRPr>
          </a:p>
        </p:txBody>
      </p:sp>
      <p:sp>
        <p:nvSpPr>
          <p:cNvPr id="9" name="Tiêu đề 5">
            <a:extLst>
              <a:ext uri="{FF2B5EF4-FFF2-40B4-BE49-F238E27FC236}">
                <a16:creationId xmlns="" xmlns:a16="http://schemas.microsoft.com/office/drawing/2014/main" id="{97F3C032-36F5-1949-91D1-B7699A91CBB4}"/>
              </a:ext>
            </a:extLst>
          </p:cNvPr>
          <p:cNvSpPr txBox="1">
            <a:spLocks/>
          </p:cNvSpPr>
          <p:nvPr/>
        </p:nvSpPr>
        <p:spPr>
          <a:xfrm>
            <a:off x="457200" y="857755"/>
            <a:ext cx="6683765" cy="504828"/>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vi-VN" sz="3000" b="1" dirty="0" smtClean="0">
                <a:solidFill>
                  <a:schemeClr val="tx1"/>
                </a:solidFill>
                <a:latin typeface="Arial" panose="020B0604020202020204" pitchFamily="34" charset="0"/>
                <a:cs typeface="Arial" panose="020B0604020202020204" pitchFamily="34" charset="0"/>
              </a:rPr>
              <a:t>2. Điều trị cụ thể</a:t>
            </a:r>
            <a:endParaRPr lang="vi-VN" sz="3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951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 xmlns:a16="http://schemas.microsoft.com/office/drawing/2014/main" id="{3DCFB8DD-1C14-8449-9D6C-6BEFD466CF7B}"/>
              </a:ext>
            </a:extLst>
          </p:cNvPr>
          <p:cNvSpPr>
            <a:spLocks noGrp="1"/>
          </p:cNvSpPr>
          <p:nvPr>
            <p:ph idx="1"/>
          </p:nvPr>
        </p:nvSpPr>
        <p:spPr>
          <a:xfrm>
            <a:off x="676702" y="1494838"/>
            <a:ext cx="6686550" cy="379373"/>
          </a:xfrm>
        </p:spPr>
        <p:txBody>
          <a:bodyPr>
            <a:normAutofit fontScale="92500" lnSpcReduction="20000"/>
          </a:bodyPr>
          <a:lstStyle/>
          <a:p>
            <a:pPr marL="0" indent="0" algn="just">
              <a:buNone/>
            </a:pPr>
            <a:r>
              <a:rPr lang="vi-VN" sz="2400" b="1" i="1" dirty="0">
                <a:latin typeface="Arial" panose="020B0604020202020204" pitchFamily="34" charset="0"/>
                <a:cs typeface="Arial" panose="020B0604020202020204" pitchFamily="34" charset="0"/>
              </a:rPr>
              <a:t>2.3. Điều trị triệu chứng</a:t>
            </a:r>
          </a:p>
          <a:p>
            <a:pPr marL="0" indent="0" algn="just">
              <a:buNone/>
            </a:pPr>
            <a:endParaRPr lang="vi-VN" sz="2400" b="1" i="1" dirty="0">
              <a:latin typeface="Arial" panose="020B0604020202020204" pitchFamily="34" charset="0"/>
              <a:cs typeface="Arial" panose="020B0604020202020204" pitchFamily="34" charset="0"/>
            </a:endParaRPr>
          </a:p>
        </p:txBody>
      </p:sp>
      <p:pic>
        <p:nvPicPr>
          <p:cNvPr id="4" name="Hình ảnh 4">
            <a:extLst>
              <a:ext uri="{FF2B5EF4-FFF2-40B4-BE49-F238E27FC236}">
                <a16:creationId xmlns="" xmlns:a16="http://schemas.microsoft.com/office/drawing/2014/main" id="{0B2AF907-D8C5-894A-A3A8-A9C8A8CD2FAF}"/>
              </a:ext>
            </a:extLst>
          </p:cNvPr>
          <p:cNvPicPr>
            <a:picLocks noChangeAspect="1"/>
          </p:cNvPicPr>
          <p:nvPr/>
        </p:nvPicPr>
        <p:blipFill>
          <a:blip r:embed="rId2"/>
          <a:stretch>
            <a:fillRect/>
          </a:stretch>
        </p:blipFill>
        <p:spPr>
          <a:xfrm>
            <a:off x="4724400" y="1915105"/>
            <a:ext cx="4277756" cy="3027790"/>
          </a:xfrm>
          <a:prstGeom prst="rect">
            <a:avLst/>
          </a:prstGeom>
        </p:spPr>
      </p:pic>
      <p:pic>
        <p:nvPicPr>
          <p:cNvPr id="6" name="Hình ảnh 6">
            <a:extLst>
              <a:ext uri="{FF2B5EF4-FFF2-40B4-BE49-F238E27FC236}">
                <a16:creationId xmlns="" xmlns:a16="http://schemas.microsoft.com/office/drawing/2014/main" id="{199F4F0A-EAE1-7C4F-8123-D83CB293195E}"/>
              </a:ext>
            </a:extLst>
          </p:cNvPr>
          <p:cNvPicPr>
            <a:picLocks noChangeAspect="1"/>
          </p:cNvPicPr>
          <p:nvPr/>
        </p:nvPicPr>
        <p:blipFill>
          <a:blip r:embed="rId3"/>
          <a:stretch>
            <a:fillRect/>
          </a:stretch>
        </p:blipFill>
        <p:spPr>
          <a:xfrm>
            <a:off x="466040" y="1936665"/>
            <a:ext cx="4011907" cy="2984670"/>
          </a:xfrm>
          <a:prstGeom prst="rect">
            <a:avLst/>
          </a:prstGeom>
        </p:spPr>
      </p:pic>
      <p:sp>
        <p:nvSpPr>
          <p:cNvPr id="5" name="Hộp Văn bản 4">
            <a:extLst>
              <a:ext uri="{FF2B5EF4-FFF2-40B4-BE49-F238E27FC236}">
                <a16:creationId xmlns="" xmlns:a16="http://schemas.microsoft.com/office/drawing/2014/main" id="{F8E648A9-0E95-4842-97FF-6F91A98C19F7}"/>
              </a:ext>
            </a:extLst>
          </p:cNvPr>
          <p:cNvSpPr txBox="1"/>
          <p:nvPr/>
        </p:nvSpPr>
        <p:spPr>
          <a:xfrm>
            <a:off x="1062520" y="5402178"/>
            <a:ext cx="2818948" cy="369332"/>
          </a:xfrm>
          <a:prstGeom prst="rect">
            <a:avLst/>
          </a:prstGeom>
          <a:noFill/>
        </p:spPr>
        <p:txBody>
          <a:bodyPr wrap="square" rtlCol="0">
            <a:spAutoFit/>
          </a:bodyPr>
          <a:lstStyle/>
          <a:p>
            <a:pPr algn="ctr"/>
            <a:r>
              <a:rPr lang="vi-VN" b="1" i="1" dirty="0">
                <a:solidFill>
                  <a:srgbClr val="FF0000"/>
                </a:solidFill>
                <a:latin typeface="Arial" panose="020B0604020202020204" pitchFamily="34" charset="0"/>
                <a:cs typeface="Arial" panose="020B0604020202020204" pitchFamily="34" charset="0"/>
              </a:rPr>
              <a:t>Hạ sốt</a:t>
            </a:r>
          </a:p>
        </p:txBody>
      </p:sp>
      <p:sp>
        <p:nvSpPr>
          <p:cNvPr id="7" name="Hộp Văn bản 6">
            <a:extLst>
              <a:ext uri="{FF2B5EF4-FFF2-40B4-BE49-F238E27FC236}">
                <a16:creationId xmlns="" xmlns:a16="http://schemas.microsoft.com/office/drawing/2014/main" id="{D4E9D928-2907-554E-8DFA-716FDA9656C3}"/>
              </a:ext>
            </a:extLst>
          </p:cNvPr>
          <p:cNvSpPr txBox="1"/>
          <p:nvPr/>
        </p:nvSpPr>
        <p:spPr>
          <a:xfrm>
            <a:off x="5791200" y="5358899"/>
            <a:ext cx="1750171" cy="369332"/>
          </a:xfrm>
          <a:prstGeom prst="rect">
            <a:avLst/>
          </a:prstGeom>
          <a:noFill/>
        </p:spPr>
        <p:txBody>
          <a:bodyPr wrap="square" rtlCol="0">
            <a:spAutoFit/>
          </a:bodyPr>
          <a:lstStyle/>
          <a:p>
            <a:pPr algn="ctr"/>
            <a:r>
              <a:rPr lang="vi-VN" b="1" i="1" dirty="0">
                <a:solidFill>
                  <a:srgbClr val="FF0000"/>
                </a:solidFill>
                <a:latin typeface="Arial" panose="020B0604020202020204" pitchFamily="34" charset="0"/>
                <a:cs typeface="Arial" panose="020B0604020202020204" pitchFamily="34" charset="0"/>
              </a:rPr>
              <a:t>Bổ sung kẽm</a:t>
            </a:r>
          </a:p>
        </p:txBody>
      </p:sp>
      <p:sp>
        <p:nvSpPr>
          <p:cNvPr id="8" name="Tiêu đề 1">
            <a:extLst>
              <a:ext uri="{FF2B5EF4-FFF2-40B4-BE49-F238E27FC236}">
                <a16:creationId xmlns="" xmlns:a16="http://schemas.microsoft.com/office/drawing/2014/main" id="{C98A5779-0D20-F746-86A7-119A3BB7F135}"/>
              </a:ext>
            </a:extLst>
          </p:cNvPr>
          <p:cNvSpPr txBox="1">
            <a:spLocks/>
          </p:cNvSpPr>
          <p:nvPr/>
        </p:nvSpPr>
        <p:spPr>
          <a:xfrm>
            <a:off x="332919" y="160208"/>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VIII. ĐIỀU TRỊ</a:t>
            </a:r>
            <a:endParaRPr lang="vi-VN" sz="4000" b="1" dirty="0">
              <a:solidFill>
                <a:srgbClr val="FF0000"/>
              </a:solidFill>
              <a:latin typeface="Arial" pitchFamily="34" charset="0"/>
              <a:ea typeface="+mj-ea"/>
              <a:cs typeface="Arial" pitchFamily="34" charset="0"/>
            </a:endParaRPr>
          </a:p>
        </p:txBody>
      </p:sp>
      <p:sp>
        <p:nvSpPr>
          <p:cNvPr id="10" name="Tiêu đề 5">
            <a:extLst>
              <a:ext uri="{FF2B5EF4-FFF2-40B4-BE49-F238E27FC236}">
                <a16:creationId xmlns="" xmlns:a16="http://schemas.microsoft.com/office/drawing/2014/main" id="{97F3C032-36F5-1949-91D1-B7699A91CBB4}"/>
              </a:ext>
            </a:extLst>
          </p:cNvPr>
          <p:cNvSpPr txBox="1">
            <a:spLocks/>
          </p:cNvSpPr>
          <p:nvPr/>
        </p:nvSpPr>
        <p:spPr>
          <a:xfrm>
            <a:off x="1146156" y="746121"/>
            <a:ext cx="6683765" cy="504828"/>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vi-VN" sz="3000" b="1" dirty="0" smtClean="0">
                <a:solidFill>
                  <a:schemeClr val="tx1"/>
                </a:solidFill>
                <a:latin typeface="Arial" panose="020B0604020202020204" pitchFamily="34" charset="0"/>
                <a:cs typeface="Arial" panose="020B0604020202020204" pitchFamily="34" charset="0"/>
              </a:rPr>
              <a:t>2. Điều trị cụ thể</a:t>
            </a:r>
            <a:endParaRPr lang="vi-VN" sz="3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9446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 xmlns:a16="http://schemas.microsoft.com/office/drawing/2014/main" id="{0327407D-D94C-4E4D-A07E-867DB56035E6}"/>
              </a:ext>
            </a:extLst>
          </p:cNvPr>
          <p:cNvSpPr>
            <a:spLocks noGrp="1"/>
          </p:cNvSpPr>
          <p:nvPr>
            <p:ph sz="half" idx="1"/>
          </p:nvPr>
        </p:nvSpPr>
        <p:spPr>
          <a:xfrm>
            <a:off x="318134" y="1439804"/>
            <a:ext cx="4330066" cy="4656196"/>
          </a:xfrm>
        </p:spPr>
        <p:txBody>
          <a:bodyPr>
            <a:noAutofit/>
          </a:bodyPr>
          <a:lstStyle/>
          <a:p>
            <a:pPr marL="0" indent="0" algn="just">
              <a:buNone/>
            </a:pPr>
            <a:r>
              <a:rPr lang="vi-VN" sz="2200" b="1" i="1" dirty="0">
                <a:latin typeface="Arial" panose="020B0604020202020204" pitchFamily="34" charset="0"/>
                <a:cs typeface="Arial" panose="020B0604020202020204" pitchFamily="34" charset="0"/>
              </a:rPr>
              <a:t>2.4. Vấn đề dinh dưỡng</a:t>
            </a:r>
          </a:p>
          <a:p>
            <a:pPr algn="just">
              <a:buFontTx/>
              <a:buChar char="-"/>
            </a:pPr>
            <a:r>
              <a:rPr lang="vi-VN" sz="2200" dirty="0">
                <a:latin typeface="Arial" panose="020B0604020202020204" pitchFamily="34" charset="0"/>
                <a:cs typeface="Arial" panose="020B0604020202020204" pitchFamily="34" charset="0"/>
              </a:rPr>
              <a:t>Đây là một vấn đề quan trọng trong điều trị Lỵ. </a:t>
            </a:r>
          </a:p>
          <a:p>
            <a:pPr algn="just">
              <a:buFontTx/>
              <a:buChar char="-"/>
            </a:pPr>
            <a:r>
              <a:rPr lang="vi-VN" sz="2200" dirty="0">
                <a:latin typeface="Arial" panose="020B0604020202020204" pitchFamily="34" charset="0"/>
                <a:cs typeface="Arial" panose="020B0604020202020204" pitchFamily="34" charset="0"/>
              </a:rPr>
              <a:t>Vì hội chứng Lỵ gây ảnh hưởng tới quá trình tiêu hóa và hấp thu của trẻ,làm cho trẻ có cảm giác chán ăn.</a:t>
            </a:r>
          </a:p>
          <a:p>
            <a:pPr algn="just">
              <a:buFontTx/>
              <a:buChar char="-"/>
            </a:pPr>
            <a:r>
              <a:rPr lang="vi-VN" sz="2200" dirty="0">
                <a:latin typeface="Arial" panose="020B0604020202020204" pitchFamily="34" charset="0"/>
                <a:cs typeface="Arial" panose="020B0604020202020204" pitchFamily="34" charset="0"/>
              </a:rPr>
              <a:t>Bú mẹ cần được duy trì,thậm chí cần tăng cường thêm.</a:t>
            </a:r>
          </a:p>
          <a:p>
            <a:pPr algn="just">
              <a:buFontTx/>
              <a:buChar char="-"/>
            </a:pPr>
            <a:r>
              <a:rPr lang="vi-VN" sz="2200" dirty="0">
                <a:latin typeface="Arial" panose="020B0604020202020204" pitchFamily="34" charset="0"/>
                <a:cs typeface="Arial" panose="020B0604020202020204" pitchFamily="34" charset="0"/>
              </a:rPr>
              <a:t>Trẻ &gt; 6 tháng tuổi nên được ăn dặm thêm và khuyến khích trẻ ăn bằng các món trẻ thích.</a:t>
            </a:r>
          </a:p>
        </p:txBody>
      </p:sp>
      <p:pic>
        <p:nvPicPr>
          <p:cNvPr id="5" name="Hình ảnh 5">
            <a:extLst>
              <a:ext uri="{FF2B5EF4-FFF2-40B4-BE49-F238E27FC236}">
                <a16:creationId xmlns="" xmlns:a16="http://schemas.microsoft.com/office/drawing/2014/main" id="{C41A13B4-3260-FC48-BE9F-D6B9B8F2437C}"/>
              </a:ext>
            </a:extLst>
          </p:cNvPr>
          <p:cNvPicPr>
            <a:picLocks noGrp="1" noChangeAspect="1"/>
          </p:cNvPicPr>
          <p:nvPr>
            <p:ph sz="half" idx="2"/>
          </p:nvPr>
        </p:nvPicPr>
        <p:blipFill>
          <a:blip r:embed="rId2"/>
          <a:stretch>
            <a:fillRect/>
          </a:stretch>
        </p:blipFill>
        <p:spPr>
          <a:xfrm>
            <a:off x="5140345" y="1524000"/>
            <a:ext cx="3622655" cy="2067231"/>
          </a:xfrm>
          <a:prstGeom prst="rect">
            <a:avLst/>
          </a:prstGeom>
        </p:spPr>
      </p:pic>
      <p:pic>
        <p:nvPicPr>
          <p:cNvPr id="7" name="Hình ảnh 7">
            <a:extLst>
              <a:ext uri="{FF2B5EF4-FFF2-40B4-BE49-F238E27FC236}">
                <a16:creationId xmlns="" xmlns:a16="http://schemas.microsoft.com/office/drawing/2014/main" id="{350A93EC-79D3-4946-9408-1EA7D1755EA7}"/>
              </a:ext>
            </a:extLst>
          </p:cNvPr>
          <p:cNvPicPr>
            <a:picLocks noChangeAspect="1"/>
          </p:cNvPicPr>
          <p:nvPr/>
        </p:nvPicPr>
        <p:blipFill>
          <a:blip r:embed="rId3"/>
          <a:stretch>
            <a:fillRect/>
          </a:stretch>
        </p:blipFill>
        <p:spPr>
          <a:xfrm>
            <a:off x="5140346" y="4343408"/>
            <a:ext cx="3622655" cy="1981192"/>
          </a:xfrm>
          <a:prstGeom prst="rect">
            <a:avLst/>
          </a:prstGeom>
        </p:spPr>
      </p:pic>
      <p:sp>
        <p:nvSpPr>
          <p:cNvPr id="6" name="Tiêu đề 1">
            <a:extLst>
              <a:ext uri="{FF2B5EF4-FFF2-40B4-BE49-F238E27FC236}">
                <a16:creationId xmlns="" xmlns:a16="http://schemas.microsoft.com/office/drawing/2014/main" id="{C98A5779-0D20-F746-86A7-119A3BB7F135}"/>
              </a:ext>
            </a:extLst>
          </p:cNvPr>
          <p:cNvSpPr txBox="1">
            <a:spLocks/>
          </p:cNvSpPr>
          <p:nvPr/>
        </p:nvSpPr>
        <p:spPr>
          <a:xfrm>
            <a:off x="318134" y="208007"/>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VIII. ĐIỀU TRỊ</a:t>
            </a:r>
            <a:endParaRPr lang="vi-VN" sz="4000" b="1" dirty="0">
              <a:solidFill>
                <a:srgbClr val="FF0000"/>
              </a:solidFill>
              <a:latin typeface="Arial" pitchFamily="34" charset="0"/>
              <a:ea typeface="+mj-ea"/>
              <a:cs typeface="Arial" pitchFamily="34" charset="0"/>
            </a:endParaRPr>
          </a:p>
        </p:txBody>
      </p:sp>
      <p:sp>
        <p:nvSpPr>
          <p:cNvPr id="8" name="Tiêu đề 5">
            <a:extLst>
              <a:ext uri="{FF2B5EF4-FFF2-40B4-BE49-F238E27FC236}">
                <a16:creationId xmlns="" xmlns:a16="http://schemas.microsoft.com/office/drawing/2014/main" id="{97F3C032-36F5-1949-91D1-B7699A91CBB4}"/>
              </a:ext>
            </a:extLst>
          </p:cNvPr>
          <p:cNvSpPr txBox="1">
            <a:spLocks/>
          </p:cNvSpPr>
          <p:nvPr/>
        </p:nvSpPr>
        <p:spPr>
          <a:xfrm>
            <a:off x="1134002" y="762914"/>
            <a:ext cx="6683765" cy="504828"/>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vi-VN" sz="3000" b="1" dirty="0" smtClean="0">
                <a:solidFill>
                  <a:schemeClr val="tx1"/>
                </a:solidFill>
                <a:latin typeface="Arial" panose="020B0604020202020204" pitchFamily="34" charset="0"/>
                <a:cs typeface="Arial" panose="020B0604020202020204" pitchFamily="34" charset="0"/>
              </a:rPr>
              <a:t>2. Điều trị cụ thể</a:t>
            </a:r>
            <a:endParaRPr lang="vi-VN" sz="3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402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 xmlns:a16="http://schemas.microsoft.com/office/drawing/2014/main" id="{1AF09F58-A1CC-3645-8B03-0AD402FA0388}"/>
              </a:ext>
            </a:extLst>
          </p:cNvPr>
          <p:cNvSpPr>
            <a:spLocks noGrp="1"/>
          </p:cNvSpPr>
          <p:nvPr>
            <p:ph type="title"/>
          </p:nvPr>
        </p:nvSpPr>
        <p:spPr>
          <a:xfrm>
            <a:off x="1240409" y="625498"/>
            <a:ext cx="6663181" cy="684868"/>
          </a:xfrm>
        </p:spPr>
        <p:txBody>
          <a:bodyPr anchor="ctr">
            <a:normAutofit/>
          </a:bodyPr>
          <a:lstStyle/>
          <a:p>
            <a:pPr algn="just"/>
            <a:r>
              <a:rPr lang="en-US" sz="3000" b="1" dirty="0">
                <a:latin typeface="Arial" panose="020B0604020202020204" pitchFamily="34" charset="0"/>
                <a:cs typeface="Arial" panose="020B0604020202020204" pitchFamily="34" charset="0"/>
              </a:rPr>
              <a:t>3</a:t>
            </a:r>
            <a:r>
              <a:rPr lang="vi-VN" sz="3000" b="1" dirty="0" smtClean="0">
                <a:latin typeface="Arial" panose="020B0604020202020204" pitchFamily="34" charset="0"/>
                <a:cs typeface="Arial" panose="020B0604020202020204" pitchFamily="34" charset="0"/>
              </a:rPr>
              <a:t>. </a:t>
            </a:r>
            <a:r>
              <a:rPr lang="vi-VN" sz="3000" b="1" dirty="0">
                <a:latin typeface="Arial" panose="020B0604020202020204" pitchFamily="34" charset="0"/>
                <a:cs typeface="Arial" panose="020B0604020202020204" pitchFamily="34" charset="0"/>
              </a:rPr>
              <a:t>Theo dõi</a:t>
            </a:r>
          </a:p>
        </p:txBody>
      </p:sp>
      <p:sp>
        <p:nvSpPr>
          <p:cNvPr id="3" name="Chỗ dành sẵn cho Nội dung 2">
            <a:extLst>
              <a:ext uri="{FF2B5EF4-FFF2-40B4-BE49-F238E27FC236}">
                <a16:creationId xmlns="" xmlns:a16="http://schemas.microsoft.com/office/drawing/2014/main" id="{36ACE3C9-0906-A34A-919D-74CC42091D97}"/>
              </a:ext>
            </a:extLst>
          </p:cNvPr>
          <p:cNvSpPr>
            <a:spLocks noGrp="1"/>
          </p:cNvSpPr>
          <p:nvPr>
            <p:ph idx="1"/>
          </p:nvPr>
        </p:nvSpPr>
        <p:spPr>
          <a:xfrm>
            <a:off x="609601" y="1447800"/>
            <a:ext cx="7996740" cy="5286801"/>
          </a:xfrm>
        </p:spPr>
        <p:txBody>
          <a:bodyPr>
            <a:noAutofit/>
          </a:bodyPr>
          <a:lstStyle/>
          <a:p>
            <a:pPr algn="just">
              <a:buFont typeface="Wingdings" panose="05000000000000000000" pitchFamily="2" charset="2"/>
              <a:buChar char="v"/>
            </a:pPr>
            <a:r>
              <a:rPr lang="vi-VN" sz="2400" dirty="0">
                <a:latin typeface="Arial" panose="020B0604020202020204" pitchFamily="34" charset="0"/>
                <a:cs typeface="Arial" panose="020B0604020202020204" pitchFamily="34" charset="0"/>
              </a:rPr>
              <a:t>Tái khám trẻ sau 2 ngày, đánh giá tình trạng của trẻ đã cải thiện : giảm sốt, giảm đại tiện có máu, bú tốt ăn uống tốt hơn.</a:t>
            </a:r>
          </a:p>
          <a:p>
            <a:pPr algn="just">
              <a:buFont typeface="Wingdings" panose="05000000000000000000" pitchFamily="2" charset="2"/>
              <a:buChar char="v"/>
            </a:pPr>
            <a:r>
              <a:rPr lang="vi-VN" sz="2400" dirty="0">
                <a:latin typeface="Arial" panose="020B0604020202020204" pitchFamily="34" charset="0"/>
                <a:cs typeface="Arial" panose="020B0604020202020204" pitchFamily="34" charset="0"/>
              </a:rPr>
              <a:t>Nếu triệu chứng không giảm sau 2 ngày:</a:t>
            </a:r>
          </a:p>
          <a:p>
            <a:pPr marL="0" indent="0" algn="just">
              <a:buNone/>
            </a:pPr>
            <a:r>
              <a:rPr lang="vi-VN" sz="2400" dirty="0">
                <a:latin typeface="Arial" panose="020B0604020202020204" pitchFamily="34" charset="0"/>
                <a:cs typeface="Arial" panose="020B0604020202020204" pitchFamily="34" charset="0"/>
              </a:rPr>
              <a:t>	- Kiểm tra lại chẩn đoán và nguyên nhân.</a:t>
            </a:r>
          </a:p>
          <a:p>
            <a:pPr marL="0" indent="0" algn="just">
              <a:buNone/>
            </a:pPr>
            <a:r>
              <a:rPr lang="vi-VN" sz="2400" dirty="0">
                <a:latin typeface="Arial" panose="020B0604020202020204" pitchFamily="34" charset="0"/>
                <a:cs typeface="Arial" panose="020B0604020202020204" pitchFamily="34" charset="0"/>
              </a:rPr>
              <a:t>	- Ngưng kháng sinh ban đầu và chuyển sang kháng sinh thứ 2 hoặc kháng sinh nhạy cảm với </a:t>
            </a:r>
            <a:r>
              <a:rPr lang="vi-VN" sz="2400" i="1" dirty="0">
                <a:solidFill>
                  <a:srgbClr val="FF0000"/>
                </a:solidFill>
                <a:latin typeface="Arial" panose="020B0604020202020204" pitchFamily="34" charset="0"/>
                <a:cs typeface="Arial" panose="020B0604020202020204" pitchFamily="34" charset="0"/>
              </a:rPr>
              <a:t>Shigella</a:t>
            </a:r>
            <a:r>
              <a:rPr lang="vi-VN" sz="2400" dirty="0">
                <a:latin typeface="Arial" panose="020B0604020202020204" pitchFamily="34" charset="0"/>
                <a:cs typeface="Arial" panose="020B0604020202020204" pitchFamily="34" charset="0"/>
              </a:rPr>
              <a:t> theo từng vùng.</a:t>
            </a:r>
          </a:p>
          <a:p>
            <a:pPr marL="0" indent="0" algn="just">
              <a:buNone/>
            </a:pPr>
            <a:r>
              <a:rPr lang="vi-VN" sz="2400" dirty="0">
                <a:latin typeface="Arial" panose="020B0604020202020204" pitchFamily="34" charset="0"/>
                <a:cs typeface="Arial" panose="020B0604020202020204" pitchFamily="34" charset="0"/>
              </a:rPr>
              <a:t>	- Nếu cả 2 kháng sinh nhạy cảm thường dùng với Shigella không hiệu quả sau 2 ngày, cầm xem lại chẩn đoán và tìm nguyên nhân.</a:t>
            </a:r>
          </a:p>
        </p:txBody>
      </p:sp>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52400" y="1524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VIII. ĐIỀU TRỊ</a:t>
            </a:r>
            <a:endParaRPr lang="vi-VN" sz="4000" b="1" dirty="0">
              <a:solidFill>
                <a:srgbClr val="FF0000"/>
              </a:solidFill>
              <a:latin typeface="Arial" pitchFamily="34" charset="0"/>
              <a:ea typeface="+mj-ea"/>
              <a:cs typeface="Arial" pitchFamily="34" charset="0"/>
            </a:endParaRPr>
          </a:p>
        </p:txBody>
      </p:sp>
    </p:spTree>
    <p:extLst>
      <p:ext uri="{BB962C8B-B14F-4D97-AF65-F5344CB8AC3E}">
        <p14:creationId xmlns:p14="http://schemas.microsoft.com/office/powerpoint/2010/main" val="2335458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 xmlns:a16="http://schemas.microsoft.com/office/drawing/2014/main" id="{B5E49981-39B0-F54F-9A8B-C3A46F563802}"/>
              </a:ext>
            </a:extLst>
          </p:cNvPr>
          <p:cNvSpPr>
            <a:spLocks noGrp="1"/>
          </p:cNvSpPr>
          <p:nvPr>
            <p:ph type="title"/>
          </p:nvPr>
        </p:nvSpPr>
        <p:spPr>
          <a:xfrm>
            <a:off x="938909" y="762000"/>
            <a:ext cx="7266182" cy="1280890"/>
          </a:xfrm>
        </p:spPr>
        <p:txBody>
          <a:bodyPr/>
          <a:lstStyle/>
          <a:p>
            <a:pPr algn="just"/>
            <a:r>
              <a:rPr lang="en-US" i="1" dirty="0" smtClean="0">
                <a:latin typeface="Arial" panose="020B0604020202020204" pitchFamily="34" charset="0"/>
                <a:cs typeface="Arial" panose="020B0604020202020204" pitchFamily="34" charset="0"/>
              </a:rPr>
              <a:t>	</a:t>
            </a:r>
            <a:r>
              <a:rPr lang="vi-VN" i="1" dirty="0" smtClean="0">
                <a:latin typeface="Arial" panose="020B0604020202020204" pitchFamily="34" charset="0"/>
                <a:cs typeface="Arial" panose="020B0604020202020204" pitchFamily="34" charset="0"/>
              </a:rPr>
              <a:t>Khi </a:t>
            </a:r>
            <a:r>
              <a:rPr lang="vi-VN" i="1" dirty="0">
                <a:latin typeface="Arial" panose="020B0604020202020204" pitchFamily="34" charset="0"/>
                <a:cs typeface="Arial" panose="020B0604020202020204" pitchFamily="34" charset="0"/>
              </a:rPr>
              <a:t>nào trẻ cần nhập viện để điều trị </a:t>
            </a:r>
            <a:r>
              <a:rPr lang="vi-VN" i="1" dirty="0" smtClean="0">
                <a:latin typeface="Arial" panose="020B0604020202020204" pitchFamily="34" charset="0"/>
                <a:cs typeface="Arial" panose="020B0604020202020204" pitchFamily="34" charset="0"/>
              </a:rPr>
              <a:t>Lỵ</a:t>
            </a:r>
            <a:r>
              <a:rPr lang="en-US" i="1" dirty="0" smtClean="0">
                <a:latin typeface="Arial" panose="020B0604020202020204" pitchFamily="34" charset="0"/>
                <a:cs typeface="Arial" panose="020B0604020202020204" pitchFamily="34" charset="0"/>
              </a:rPr>
              <a:t>???</a:t>
            </a:r>
            <a:endParaRPr lang="vi-VN" i="1" dirty="0">
              <a:latin typeface="Arial" panose="020B0604020202020204" pitchFamily="34" charset="0"/>
              <a:cs typeface="Arial" panose="020B0604020202020204" pitchFamily="34" charset="0"/>
            </a:endParaRPr>
          </a:p>
        </p:txBody>
      </p:sp>
      <p:pic>
        <p:nvPicPr>
          <p:cNvPr id="4" name="Hình ảnh 4">
            <a:extLst>
              <a:ext uri="{FF2B5EF4-FFF2-40B4-BE49-F238E27FC236}">
                <a16:creationId xmlns="" xmlns:a16="http://schemas.microsoft.com/office/drawing/2014/main" id="{F9AFFF78-0324-5348-BDBD-EB0FF2D98D0A}"/>
              </a:ext>
            </a:extLst>
          </p:cNvPr>
          <p:cNvPicPr>
            <a:picLocks noGrp="1" noChangeAspect="1"/>
          </p:cNvPicPr>
          <p:nvPr>
            <p:ph idx="1"/>
          </p:nvPr>
        </p:nvPicPr>
        <p:blipFill>
          <a:blip r:embed="rId2"/>
          <a:stretch>
            <a:fillRect/>
          </a:stretch>
        </p:blipFill>
        <p:spPr>
          <a:xfrm>
            <a:off x="1676400" y="2590800"/>
            <a:ext cx="6172200" cy="3733800"/>
          </a:xfrm>
          <a:prstGeom prst="rect">
            <a:avLst/>
          </a:prstGeom>
        </p:spPr>
      </p:pic>
      <p:sp>
        <p:nvSpPr>
          <p:cNvPr id="5" name="Tiêu đề 1">
            <a:extLst>
              <a:ext uri="{FF2B5EF4-FFF2-40B4-BE49-F238E27FC236}">
                <a16:creationId xmlns="" xmlns:a16="http://schemas.microsoft.com/office/drawing/2014/main" id="{C98A5779-0D20-F746-86A7-119A3BB7F135}"/>
              </a:ext>
            </a:extLst>
          </p:cNvPr>
          <p:cNvSpPr txBox="1">
            <a:spLocks/>
          </p:cNvSpPr>
          <p:nvPr/>
        </p:nvSpPr>
        <p:spPr>
          <a:xfrm>
            <a:off x="152400" y="1524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VIII. ĐIỀU TRỊ</a:t>
            </a:r>
            <a:endParaRPr lang="vi-VN" sz="4000" b="1" dirty="0">
              <a:solidFill>
                <a:srgbClr val="FF0000"/>
              </a:solidFill>
              <a:latin typeface="Arial" pitchFamily="34" charset="0"/>
              <a:ea typeface="+mj-ea"/>
              <a:cs typeface="Arial" pitchFamily="34" charset="0"/>
            </a:endParaRPr>
          </a:p>
        </p:txBody>
      </p:sp>
    </p:spTree>
    <p:extLst>
      <p:ext uri="{BB962C8B-B14F-4D97-AF65-F5344CB8AC3E}">
        <p14:creationId xmlns:p14="http://schemas.microsoft.com/office/powerpoint/2010/main" val="68862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 xmlns:a16="http://schemas.microsoft.com/office/drawing/2014/main" id="{F62D771B-42FE-B842-990E-773EBCAECD0B}"/>
              </a:ext>
            </a:extLst>
          </p:cNvPr>
          <p:cNvSpPr>
            <a:spLocks noGrp="1"/>
          </p:cNvSpPr>
          <p:nvPr>
            <p:ph type="title"/>
          </p:nvPr>
        </p:nvSpPr>
        <p:spPr>
          <a:xfrm>
            <a:off x="1230117" y="762000"/>
            <a:ext cx="6683765" cy="595090"/>
          </a:xfrm>
        </p:spPr>
        <p:txBody>
          <a:bodyPr>
            <a:normAutofit/>
          </a:bodyPr>
          <a:lstStyle/>
          <a:p>
            <a:pPr algn="just"/>
            <a:r>
              <a:rPr lang="vi-VN" sz="3000" b="1" dirty="0">
                <a:solidFill>
                  <a:schemeClr val="tx1"/>
                </a:solidFill>
                <a:latin typeface="Arial" panose="020B0604020202020204" pitchFamily="34" charset="0"/>
                <a:cs typeface="Arial" panose="020B0604020202020204" pitchFamily="34" charset="0"/>
              </a:rPr>
              <a:t>3. Tiêu chuẩn nhập viện</a:t>
            </a:r>
          </a:p>
        </p:txBody>
      </p:sp>
      <p:sp>
        <p:nvSpPr>
          <p:cNvPr id="3" name="Chỗ dành sẵn cho Nội dung 2">
            <a:extLst>
              <a:ext uri="{FF2B5EF4-FFF2-40B4-BE49-F238E27FC236}">
                <a16:creationId xmlns="" xmlns:a16="http://schemas.microsoft.com/office/drawing/2014/main" id="{44BFF63B-EA40-2140-A7E1-4697F6900A8C}"/>
              </a:ext>
            </a:extLst>
          </p:cNvPr>
          <p:cNvSpPr>
            <a:spLocks noGrp="1"/>
          </p:cNvSpPr>
          <p:nvPr>
            <p:ph idx="1"/>
          </p:nvPr>
        </p:nvSpPr>
        <p:spPr>
          <a:xfrm>
            <a:off x="714970" y="1752600"/>
            <a:ext cx="7714059" cy="2209800"/>
          </a:xfrm>
        </p:spPr>
        <p:txBody>
          <a:bodyPr>
            <a:normAutofit/>
          </a:bodyPr>
          <a:lstStyle/>
          <a:p>
            <a:pPr algn="just">
              <a:buFont typeface="Wingdings" panose="05000000000000000000" pitchFamily="2" charset="2"/>
              <a:buChar char="Ø"/>
            </a:pPr>
            <a:r>
              <a:rPr lang="vi-VN" sz="2400" dirty="0">
                <a:latin typeface="Arial" panose="020B0604020202020204" pitchFamily="34" charset="0"/>
                <a:cs typeface="Arial" panose="020B0604020202020204" pitchFamily="34" charset="0"/>
              </a:rPr>
              <a:t>Trẻ nhỏ &lt; 2 tháng tuổi.</a:t>
            </a:r>
          </a:p>
          <a:p>
            <a:pPr algn="just">
              <a:buFont typeface="Wingdings" panose="05000000000000000000" pitchFamily="2" charset="2"/>
              <a:buChar char="Ø"/>
            </a:pPr>
            <a:r>
              <a:rPr lang="vi-VN" sz="2400" dirty="0">
                <a:latin typeface="Arial" panose="020B0604020202020204" pitchFamily="34" charset="0"/>
                <a:cs typeface="Arial" panose="020B0604020202020204" pitchFamily="34" charset="0"/>
              </a:rPr>
              <a:t>Trẻ mắc hội chứng Lỵ có kèm theo bệnh có chỉ định nhập viện.</a:t>
            </a:r>
          </a:p>
          <a:p>
            <a:pPr algn="just">
              <a:buFont typeface="Wingdings" panose="05000000000000000000" pitchFamily="2" charset="2"/>
              <a:buChar char="Ø"/>
            </a:pPr>
            <a:r>
              <a:rPr lang="vi-VN" sz="2400" dirty="0">
                <a:latin typeface="Arial" panose="020B0604020202020204" pitchFamily="34" charset="0"/>
                <a:cs typeface="Arial" panose="020B0604020202020204" pitchFamily="34" charset="0"/>
              </a:rPr>
              <a:t>Trẻ có tình trạng nặng: lừ đừ, bụng chướng, co giật, đề kháng bụng.</a:t>
            </a:r>
          </a:p>
        </p:txBody>
      </p:sp>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52400" y="152400"/>
            <a:ext cx="7488260" cy="458132"/>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VIII. ĐIỀU TRỊ</a:t>
            </a:r>
            <a:endParaRPr lang="vi-VN" sz="4000" b="1" dirty="0">
              <a:solidFill>
                <a:srgbClr val="FF0000"/>
              </a:solidFill>
              <a:latin typeface="Arial" pitchFamily="34" charset="0"/>
              <a:ea typeface="+mj-ea"/>
              <a:cs typeface="Arial" pitchFamily="34" charset="0"/>
            </a:endParaRPr>
          </a:p>
        </p:txBody>
      </p:sp>
    </p:spTree>
    <p:extLst>
      <p:ext uri="{BB962C8B-B14F-4D97-AF65-F5344CB8AC3E}">
        <p14:creationId xmlns:p14="http://schemas.microsoft.com/office/powerpoint/2010/main" val="186372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1550" y="1447800"/>
            <a:ext cx="7200900" cy="4906108"/>
          </a:xfrm>
          <a:ln>
            <a:solidFill>
              <a:srgbClr val="DE7E18"/>
            </a:solidFill>
          </a:ln>
        </p:spPr>
        <p:style>
          <a:lnRef idx="2">
            <a:schemeClr val="accent2"/>
          </a:lnRef>
          <a:fillRef idx="1">
            <a:schemeClr val="lt1"/>
          </a:fillRef>
          <a:effectRef idx="0">
            <a:schemeClr val="accent2"/>
          </a:effectRef>
          <a:fontRef idx="minor">
            <a:schemeClr val="dk1"/>
          </a:fontRef>
        </p:style>
      </p:pic>
      <p:sp>
        <p:nvSpPr>
          <p:cNvPr id="5" name="Tiêu đề 1">
            <a:extLst>
              <a:ext uri="{FF2B5EF4-FFF2-40B4-BE49-F238E27FC236}">
                <a16:creationId xmlns="" xmlns:a16="http://schemas.microsoft.com/office/drawing/2014/main" id="{C98A5779-0D20-F746-86A7-119A3BB7F135}"/>
              </a:ext>
            </a:extLst>
          </p:cNvPr>
          <p:cNvSpPr txBox="1">
            <a:spLocks/>
          </p:cNvSpPr>
          <p:nvPr/>
        </p:nvSpPr>
        <p:spPr>
          <a:xfrm>
            <a:off x="152400" y="152400"/>
            <a:ext cx="7488260" cy="471710"/>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IX. PHÒNG BỆNH</a:t>
            </a:r>
            <a:endParaRPr lang="vi-VN" sz="4000" b="1" dirty="0">
              <a:solidFill>
                <a:srgbClr val="FF0000"/>
              </a:solidFill>
              <a:latin typeface="Arial" pitchFamily="34" charset="0"/>
              <a:ea typeface="+mj-ea"/>
              <a:cs typeface="Arial" pitchFamily="34" charset="0"/>
            </a:endParaRPr>
          </a:p>
        </p:txBody>
      </p:sp>
    </p:spTree>
    <p:extLst>
      <p:ext uri="{BB962C8B-B14F-4D97-AF65-F5344CB8AC3E}">
        <p14:creationId xmlns:p14="http://schemas.microsoft.com/office/powerpoint/2010/main" val="9479435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52400" y="152400"/>
            <a:ext cx="7488260" cy="471710"/>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IX. PHÒNG BỆNH</a:t>
            </a:r>
            <a:endParaRPr lang="vi-VN" sz="4000" b="1" dirty="0">
              <a:solidFill>
                <a:srgbClr val="FF0000"/>
              </a:solidFill>
              <a:latin typeface="Arial" pitchFamily="34" charset="0"/>
              <a:ea typeface="+mj-ea"/>
              <a:cs typeface="Arial" pitchFamily="34" charset="0"/>
            </a:endParaRPr>
          </a:p>
        </p:txBody>
      </p:sp>
      <p:sp>
        <p:nvSpPr>
          <p:cNvPr id="5" name="TextBox 4"/>
          <p:cNvSpPr txBox="1"/>
          <p:nvPr/>
        </p:nvSpPr>
        <p:spPr>
          <a:xfrm>
            <a:off x="1082295" y="710557"/>
            <a:ext cx="5628470" cy="553998"/>
          </a:xfrm>
          <a:prstGeom prst="rect">
            <a:avLst/>
          </a:prstGeom>
          <a:noFill/>
        </p:spPr>
        <p:txBody>
          <a:bodyPr wrap="square" rtlCol="0">
            <a:spAutoFit/>
          </a:bodyPr>
          <a:lstStyle/>
          <a:p>
            <a:pPr algn="just"/>
            <a:r>
              <a:rPr lang="en-US" sz="3000" b="1" dirty="0" smtClean="0">
                <a:latin typeface="Arial" panose="020B0604020202020204" pitchFamily="34" charset="0"/>
                <a:cs typeface="Arial" panose="020B0604020202020204" pitchFamily="34" charset="0"/>
              </a:rPr>
              <a:t>1.Tăng </a:t>
            </a:r>
            <a:r>
              <a:rPr lang="en-US" sz="3000" b="1" dirty="0" err="1">
                <a:latin typeface="Arial" panose="020B0604020202020204" pitchFamily="34" charset="0"/>
                <a:cs typeface="Arial" panose="020B0604020202020204" pitchFamily="34" charset="0"/>
              </a:rPr>
              <a:t>sức</a:t>
            </a:r>
            <a:r>
              <a:rPr lang="en-US" sz="3000" b="1" dirty="0">
                <a:latin typeface="Arial" panose="020B0604020202020204" pitchFamily="34" charset="0"/>
                <a:cs typeface="Arial" panose="020B0604020202020204" pitchFamily="34" charset="0"/>
              </a:rPr>
              <a:t> </a:t>
            </a:r>
            <a:r>
              <a:rPr lang="en-US" sz="3000" b="1" dirty="0" err="1">
                <a:latin typeface="Arial" panose="020B0604020202020204" pitchFamily="34" charset="0"/>
                <a:cs typeface="Arial" panose="020B0604020202020204" pitchFamily="34" charset="0"/>
              </a:rPr>
              <a:t>đề</a:t>
            </a:r>
            <a:r>
              <a:rPr lang="en-US" sz="3000" b="1" dirty="0">
                <a:latin typeface="Arial" panose="020B0604020202020204" pitchFamily="34" charset="0"/>
                <a:cs typeface="Arial" panose="020B0604020202020204" pitchFamily="34" charset="0"/>
              </a:rPr>
              <a:t> </a:t>
            </a:r>
            <a:r>
              <a:rPr lang="en-US" sz="3000" b="1" dirty="0" err="1">
                <a:latin typeface="Arial" panose="020B0604020202020204" pitchFamily="34" charset="0"/>
                <a:cs typeface="Arial" panose="020B0604020202020204" pitchFamily="34" charset="0"/>
              </a:rPr>
              <a:t>kháng</a:t>
            </a:r>
            <a:endParaRPr lang="en-US" sz="3000" b="1" dirty="0">
              <a:latin typeface="Arial" panose="020B0604020202020204" pitchFamily="34" charset="0"/>
              <a:cs typeface="Arial" panose="020B0604020202020204" pitchFamily="34" charset="0"/>
            </a:endParaRPr>
          </a:p>
        </p:txBody>
      </p:sp>
      <p:sp>
        <p:nvSpPr>
          <p:cNvPr id="2" name="TextBox 1"/>
          <p:cNvSpPr txBox="1"/>
          <p:nvPr/>
        </p:nvSpPr>
        <p:spPr>
          <a:xfrm>
            <a:off x="304800" y="1676400"/>
            <a:ext cx="8534400" cy="3128549"/>
          </a:xfrm>
          <a:prstGeom prst="rect">
            <a:avLst/>
          </a:prstGeom>
          <a:noFill/>
        </p:spPr>
        <p:txBody>
          <a:bodyPr wrap="square" rtlCol="0">
            <a:spAutoFit/>
          </a:bodyPr>
          <a:lstStyle/>
          <a:p>
            <a:pPr marR="106045" algn="just">
              <a:lnSpc>
                <a:spcPct val="110000"/>
              </a:lnSpc>
              <a:spcAft>
                <a:spcPts val="1470"/>
              </a:spcAft>
              <a:buFont typeface="Wingdings" panose="05000000000000000000" pitchFamily="2" charset="2"/>
              <a:buChar char="v"/>
            </a:pP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Nuôi</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a:solidFill>
                  <a:srgbClr val="000000"/>
                </a:solidFill>
                <a:latin typeface="Arial" panose="020B0604020202020204" pitchFamily="34" charset="0"/>
                <a:ea typeface="Times New Roman"/>
                <a:cs typeface="Arial" panose="020B0604020202020204" pitchFamily="34" charset="0"/>
              </a:rPr>
              <a:t>con </a:t>
            </a:r>
            <a:r>
              <a:rPr lang="en-US" sz="2400" b="1" dirty="0" err="1">
                <a:solidFill>
                  <a:srgbClr val="000000"/>
                </a:solidFill>
                <a:latin typeface="Arial" panose="020B0604020202020204" pitchFamily="34" charset="0"/>
                <a:ea typeface="Times New Roman"/>
                <a:cs typeface="Arial" panose="020B0604020202020204" pitchFamily="34" charset="0"/>
              </a:rPr>
              <a:t>bằng</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sữa</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mẹ</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Trong</a:t>
            </a:r>
            <a:r>
              <a:rPr lang="en-US" sz="2400" dirty="0">
                <a:solidFill>
                  <a:srgbClr val="000000"/>
                </a:solidFill>
                <a:latin typeface="Arial" panose="020B0604020202020204" pitchFamily="34" charset="0"/>
                <a:ea typeface="Times New Roman"/>
                <a:cs typeface="Arial" panose="020B0604020202020204" pitchFamily="34" charset="0"/>
              </a:rPr>
              <a:t> 6 </a:t>
            </a:r>
            <a:r>
              <a:rPr lang="en-US" sz="2400" dirty="0" err="1">
                <a:solidFill>
                  <a:srgbClr val="000000"/>
                </a:solidFill>
                <a:latin typeface="Arial" panose="020B0604020202020204" pitchFamily="34" charset="0"/>
                <a:ea typeface="Times New Roman"/>
                <a:cs typeface="Arial" panose="020B0604020202020204" pitchFamily="34" charset="0"/>
              </a:rPr>
              <a:t>tháng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đầu</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đời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trẻ</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cần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được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bú</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mẹ</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hoàn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toàn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Nên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cho</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trẻ</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bú</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tới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khi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trẻ</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được</a:t>
            </a:r>
            <a:r>
              <a:rPr lang="en-US" sz="2400" dirty="0">
                <a:solidFill>
                  <a:srgbClr val="000000"/>
                </a:solidFill>
                <a:latin typeface="Arial" panose="020B0604020202020204" pitchFamily="34" charset="0"/>
                <a:ea typeface="Times New Roman"/>
                <a:cs typeface="Arial" panose="020B0604020202020204" pitchFamily="34" charset="0"/>
              </a:rPr>
              <a:t> 2 </a:t>
            </a:r>
            <a:r>
              <a:rPr lang="en-US" sz="2400" dirty="0" err="1">
                <a:solidFill>
                  <a:srgbClr val="000000"/>
                </a:solidFill>
                <a:latin typeface="Arial" panose="020B0604020202020204" pitchFamily="34" charset="0"/>
                <a:ea typeface="Times New Roman"/>
                <a:cs typeface="Arial" panose="020B0604020202020204" pitchFamily="34" charset="0"/>
              </a:rPr>
              <a:t>tuổi</a:t>
            </a:r>
            <a:r>
              <a:rPr lang="en-US" sz="2400" dirty="0">
                <a:solidFill>
                  <a:srgbClr val="000000"/>
                </a:solidFill>
                <a:latin typeface="Arial" panose="020B0604020202020204" pitchFamily="34" charset="0"/>
                <a:ea typeface="Times New Roman"/>
                <a:cs typeface="Arial" panose="020B0604020202020204" pitchFamily="34" charset="0"/>
              </a:rPr>
              <a:t>. Cho </a:t>
            </a:r>
            <a:r>
              <a:rPr lang="en-US" sz="2400" dirty="0" err="1">
                <a:solidFill>
                  <a:srgbClr val="000000"/>
                </a:solidFill>
                <a:latin typeface="Arial" panose="020B0604020202020204" pitchFamily="34" charset="0"/>
                <a:ea typeface="Times New Roman"/>
                <a:cs typeface="Arial" panose="020B0604020202020204" pitchFamily="34" charset="0"/>
              </a:rPr>
              <a:t>trẻ</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bú</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càng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sớm</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càng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tốt</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ngay</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sau</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sinh</a:t>
            </a:r>
            <a:r>
              <a:rPr lang="en-US" sz="2400" dirty="0">
                <a:solidFill>
                  <a:srgbClr val="000000"/>
                </a:solidFill>
                <a:latin typeface="Arial" panose="020B0604020202020204" pitchFamily="34" charset="0"/>
                <a:ea typeface="Times New Roman"/>
                <a:cs typeface="Arial" panose="020B0604020202020204" pitchFamily="34" charset="0"/>
              </a:rPr>
              <a:t>. </a:t>
            </a:r>
          </a:p>
          <a:p>
            <a:pPr marR="106045" algn="just">
              <a:lnSpc>
                <a:spcPct val="110000"/>
              </a:lnSpc>
              <a:spcAft>
                <a:spcPts val="855"/>
              </a:spcAft>
              <a:buFont typeface="Wingdings" panose="05000000000000000000" pitchFamily="2" charset="2"/>
              <a:buChar char="v"/>
            </a:pP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Cải</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thiện</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nuôi</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dưỡng</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bằng</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thức</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ăn</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bổ</a:t>
            </a:r>
            <a:r>
              <a:rPr lang="en-US" sz="2400" b="1" dirty="0">
                <a:solidFill>
                  <a:srgbClr val="000000"/>
                </a:solidFill>
                <a:latin typeface="Arial" panose="020B0604020202020204" pitchFamily="34" charset="0"/>
                <a:ea typeface="Times New Roman"/>
                <a:cs typeface="Arial" panose="020B0604020202020204" pitchFamily="34" charset="0"/>
              </a:rPr>
              <a:t> sung: </a:t>
            </a:r>
            <a:r>
              <a:rPr lang="en-US" sz="2400" dirty="0">
                <a:solidFill>
                  <a:srgbClr val="000000"/>
                </a:solidFill>
                <a:latin typeface="Arial" panose="020B0604020202020204" pitchFamily="34" charset="0"/>
                <a:ea typeface="Times New Roman"/>
                <a:cs typeface="Arial" panose="020B0604020202020204" pitchFamily="34" charset="0"/>
              </a:rPr>
              <a:t>Cho </a:t>
            </a:r>
            <a:r>
              <a:rPr lang="en-US" sz="2400" dirty="0" err="1">
                <a:solidFill>
                  <a:srgbClr val="000000"/>
                </a:solidFill>
                <a:latin typeface="Arial" panose="020B0604020202020204" pitchFamily="34" charset="0"/>
                <a:ea typeface="Times New Roman"/>
                <a:cs typeface="Arial" panose="020B0604020202020204" pitchFamily="34" charset="0"/>
              </a:rPr>
              <a:t>trẻ</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ăn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bổ</a:t>
            </a:r>
            <a:r>
              <a:rPr lang="en-US" sz="2400" dirty="0">
                <a:solidFill>
                  <a:srgbClr val="000000"/>
                </a:solidFill>
                <a:latin typeface="Arial" panose="020B0604020202020204" pitchFamily="34" charset="0"/>
                <a:ea typeface="Times New Roman"/>
                <a:cs typeface="Arial" panose="020B0604020202020204" pitchFamily="34" charset="0"/>
              </a:rPr>
              <a:t> sung </a:t>
            </a:r>
            <a:r>
              <a:rPr lang="en-US" sz="2400" dirty="0" err="1">
                <a:solidFill>
                  <a:srgbClr val="000000"/>
                </a:solidFill>
                <a:latin typeface="Arial" panose="020B0604020202020204" pitchFamily="34" charset="0"/>
                <a:ea typeface="Times New Roman"/>
                <a:cs typeface="Arial" panose="020B0604020202020204" pitchFamily="34" charset="0"/>
              </a:rPr>
              <a:t>khi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trẻ</a:t>
            </a:r>
            <a:r>
              <a:rPr lang="en-US" sz="2400" dirty="0">
                <a:solidFill>
                  <a:srgbClr val="000000"/>
                </a:solidFill>
                <a:latin typeface="Arial" panose="020B0604020202020204" pitchFamily="34" charset="0"/>
                <a:ea typeface="Times New Roman"/>
                <a:cs typeface="Arial" panose="020B0604020202020204" pitchFamily="34" charset="0"/>
              </a:rPr>
              <a:t> 6 </a:t>
            </a:r>
            <a:r>
              <a:rPr lang="en-US" sz="2400" dirty="0" err="1">
                <a:solidFill>
                  <a:srgbClr val="000000"/>
                </a:solidFill>
                <a:latin typeface="Arial" panose="020B0604020202020204" pitchFamily="34" charset="0"/>
                <a:ea typeface="Times New Roman"/>
                <a:cs typeface="Arial" panose="020B0604020202020204" pitchFamily="34" charset="0"/>
              </a:rPr>
              <a:t>tháng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tuổi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hoặc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bất</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cứ</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thời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gian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nào</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sau</a:t>
            </a:r>
            <a:r>
              <a:rPr lang="en-US" sz="2400" dirty="0">
                <a:solidFill>
                  <a:srgbClr val="000000"/>
                </a:solidFill>
                <a:latin typeface="Arial" panose="020B0604020202020204" pitchFamily="34" charset="0"/>
                <a:ea typeface="Times New Roman"/>
                <a:cs typeface="Arial" panose="020B0604020202020204" pitchFamily="34" charset="0"/>
              </a:rPr>
              <a:t> 4 </a:t>
            </a:r>
            <a:r>
              <a:rPr lang="en-US" sz="2400" dirty="0" err="1">
                <a:solidFill>
                  <a:srgbClr val="000000"/>
                </a:solidFill>
                <a:latin typeface="Arial" panose="020B0604020202020204" pitchFamily="34" charset="0"/>
                <a:ea typeface="Times New Roman"/>
                <a:cs typeface="Arial" panose="020B0604020202020204" pitchFamily="34" charset="0"/>
              </a:rPr>
              <a:t>tháng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tuổi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nếu</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trẻ</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phát</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triển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kém</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Lựa</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chọn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chế</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độ</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ăn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sam</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giầu</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dinh</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dưỡng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và</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chế</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biến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hợp</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vệ</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sinh</a:t>
            </a:r>
            <a:endParaRPr lang="en-US" sz="2400" dirty="0"/>
          </a:p>
        </p:txBody>
      </p:sp>
    </p:spTree>
    <p:extLst>
      <p:ext uri="{BB962C8B-B14F-4D97-AF65-F5344CB8AC3E}">
        <p14:creationId xmlns:p14="http://schemas.microsoft.com/office/powerpoint/2010/main" val="138586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52400" y="152400"/>
            <a:ext cx="7488260" cy="471710"/>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IX. PHÒNG BỆNH</a:t>
            </a:r>
            <a:endParaRPr lang="vi-VN" sz="4000" b="1" dirty="0">
              <a:solidFill>
                <a:srgbClr val="FF0000"/>
              </a:solidFill>
              <a:latin typeface="Arial" pitchFamily="34" charset="0"/>
              <a:ea typeface="+mj-ea"/>
              <a:cs typeface="Arial" pitchFamily="34" charset="0"/>
            </a:endParaRPr>
          </a:p>
        </p:txBody>
      </p:sp>
      <p:sp>
        <p:nvSpPr>
          <p:cNvPr id="5" name="TextBox 4"/>
          <p:cNvSpPr txBox="1"/>
          <p:nvPr/>
        </p:nvSpPr>
        <p:spPr>
          <a:xfrm>
            <a:off x="1219200" y="710557"/>
            <a:ext cx="5628470" cy="553998"/>
          </a:xfrm>
          <a:prstGeom prst="rect">
            <a:avLst/>
          </a:prstGeom>
          <a:noFill/>
        </p:spPr>
        <p:txBody>
          <a:bodyPr wrap="square" rtlCol="0">
            <a:spAutoFit/>
          </a:bodyPr>
          <a:lstStyle/>
          <a:p>
            <a:pPr algn="just"/>
            <a:r>
              <a:rPr lang="en-US" sz="3000" b="1" dirty="0" smtClean="0">
                <a:latin typeface="Arial" panose="020B0604020202020204" pitchFamily="34" charset="0"/>
                <a:cs typeface="Arial" panose="020B0604020202020204" pitchFamily="34" charset="0"/>
              </a:rPr>
              <a:t>2. </a:t>
            </a:r>
            <a:r>
              <a:rPr lang="en-US" sz="3000" b="1" dirty="0" err="1" smtClean="0">
                <a:latin typeface="Arial" panose="020B0604020202020204" pitchFamily="34" charset="0"/>
                <a:cs typeface="Arial" panose="020B0604020202020204" pitchFamily="34" charset="0"/>
              </a:rPr>
              <a:t>Cắt</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các</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đường</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lây</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nhiễm</a:t>
            </a:r>
            <a:endParaRPr lang="en-US" sz="3000" b="1" dirty="0">
              <a:latin typeface="Arial" panose="020B0604020202020204" pitchFamily="34" charset="0"/>
              <a:cs typeface="Arial" panose="020B0604020202020204" pitchFamily="34" charset="0"/>
            </a:endParaRPr>
          </a:p>
        </p:txBody>
      </p:sp>
      <p:sp>
        <p:nvSpPr>
          <p:cNvPr id="2" name="TextBox 1"/>
          <p:cNvSpPr txBox="1"/>
          <p:nvPr/>
        </p:nvSpPr>
        <p:spPr>
          <a:xfrm>
            <a:off x="457200" y="1752600"/>
            <a:ext cx="8153400" cy="4502771"/>
          </a:xfrm>
          <a:prstGeom prst="rect">
            <a:avLst/>
          </a:prstGeom>
          <a:noFill/>
        </p:spPr>
        <p:txBody>
          <a:bodyPr wrap="square" rtlCol="0">
            <a:spAutoFit/>
          </a:bodyPr>
          <a:lstStyle/>
          <a:p>
            <a:pPr marR="106045" algn="just">
              <a:lnSpc>
                <a:spcPct val="110000"/>
              </a:lnSpc>
              <a:spcAft>
                <a:spcPts val="1465"/>
              </a:spcAft>
              <a:buFont typeface="Wingdings" panose="05000000000000000000" pitchFamily="2" charset="2"/>
              <a:buChar char="v"/>
            </a:pP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Sử</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dụng</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nước</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sạch</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Chọn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nguồn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nước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sử</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dụng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sạch</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nhất</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có</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thể</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sử</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dụng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nước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đã</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đun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sôi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cho</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trẻ</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uống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và</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chế</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biến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thức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ăn</a:t>
            </a:r>
            <a:r>
              <a:rPr lang="en-US" sz="2400" dirty="0">
                <a:solidFill>
                  <a:srgbClr val="000000"/>
                </a:solidFill>
                <a:latin typeface="Arial" panose="020B0604020202020204" pitchFamily="34" charset="0"/>
                <a:ea typeface="Times New Roman"/>
                <a:cs typeface="Arial" panose="020B0604020202020204" pitchFamily="34" charset="0"/>
              </a:rPr>
              <a:t>. </a:t>
            </a:r>
          </a:p>
          <a:p>
            <a:pPr marR="106045" algn="just">
              <a:lnSpc>
                <a:spcPct val="110000"/>
              </a:lnSpc>
              <a:spcAft>
                <a:spcPts val="1480"/>
              </a:spcAft>
              <a:buFont typeface="Wingdings" panose="05000000000000000000" pitchFamily="2" charset="2"/>
              <a:buChar char="v"/>
            </a:pPr>
            <a:r>
              <a:rPr lang="en-US" sz="2400" b="1" dirty="0">
                <a:solidFill>
                  <a:srgbClr val="000000"/>
                </a:solidFill>
                <a:latin typeface="Arial" panose="020B0604020202020204" pitchFamily="34" charset="0"/>
                <a:ea typeface="Arial"/>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Rửa</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tay</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thường</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quy</a:t>
            </a:r>
            <a:r>
              <a:rPr lang="en-US" sz="2400" dirty="0">
                <a:solidFill>
                  <a:srgbClr val="000000"/>
                </a:solidFill>
                <a:latin typeface="Arial" panose="020B0604020202020204" pitchFamily="34" charset="0"/>
                <a:ea typeface="Times New Roman"/>
                <a:cs typeface="Arial" panose="020B0604020202020204" pitchFamily="34" charset="0"/>
              </a:rPr>
              <a:t>:</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Nguy</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cơ</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tiêu</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chảy</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giảm</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khi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thực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hiện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rửa</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tay</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thường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quy</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Tất</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cả</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các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thành</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viên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trong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gia</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đình</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cần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phải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rửa</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tay</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thật</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kỹ</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sau</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khi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ngoài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sau</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khi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vệ</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sinh</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cho</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trẻ</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ngoài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sau</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khi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dọn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phân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cho</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trẻ</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trước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khi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chuẩn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bị</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thức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ăn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và</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trước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khi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ăn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Rửa</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tay</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đòi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hỏi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phải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có</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xà</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phòng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có</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đủ</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nước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để</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rửa</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tay</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thật</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kỹ</a:t>
            </a:r>
            <a:r>
              <a:rPr lang="en-US" sz="2400" dirty="0">
                <a:solidFill>
                  <a:srgbClr val="000000"/>
                </a:solidFill>
                <a:latin typeface="Arial" panose="020B0604020202020204" pitchFamily="34" charset="0"/>
                <a:ea typeface="Times New Roman"/>
                <a:cs typeface="Arial" panose="020B0604020202020204" pitchFamily="34" charset="0"/>
              </a:rPr>
              <a:t>. </a:t>
            </a:r>
          </a:p>
          <a:p>
            <a:endParaRPr lang="en-US" sz="2400" dirty="0"/>
          </a:p>
        </p:txBody>
      </p:sp>
    </p:spTree>
    <p:extLst>
      <p:ext uri="{BB962C8B-B14F-4D97-AF65-F5344CB8AC3E}">
        <p14:creationId xmlns:p14="http://schemas.microsoft.com/office/powerpoint/2010/main" val="3288881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351002"/>
            <a:ext cx="8610600" cy="5278398"/>
          </a:xfrm>
        </p:spPr>
        <p:style>
          <a:lnRef idx="2">
            <a:schemeClr val="accent2"/>
          </a:lnRef>
          <a:fillRef idx="1">
            <a:schemeClr val="lt1"/>
          </a:fillRef>
          <a:effectRef idx="0">
            <a:schemeClr val="accent2"/>
          </a:effectRef>
          <a:fontRef idx="minor">
            <a:schemeClr val="dk1"/>
          </a:fontRef>
        </p:style>
      </p:pic>
      <p:sp>
        <p:nvSpPr>
          <p:cNvPr id="5" name="Tiêu đề 1">
            <a:extLst>
              <a:ext uri="{FF2B5EF4-FFF2-40B4-BE49-F238E27FC236}">
                <a16:creationId xmlns="" xmlns:a16="http://schemas.microsoft.com/office/drawing/2014/main" id="{C98A5779-0D20-F746-86A7-119A3BB7F135}"/>
              </a:ext>
            </a:extLst>
          </p:cNvPr>
          <p:cNvSpPr txBox="1">
            <a:spLocks/>
          </p:cNvSpPr>
          <p:nvPr/>
        </p:nvSpPr>
        <p:spPr>
          <a:xfrm>
            <a:off x="152400" y="152400"/>
            <a:ext cx="7488260" cy="471710"/>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IX. PHÒNG BỆNH</a:t>
            </a:r>
            <a:endParaRPr lang="vi-VN" sz="4000" b="1" dirty="0">
              <a:solidFill>
                <a:srgbClr val="FF0000"/>
              </a:solidFill>
              <a:latin typeface="Arial" pitchFamily="34" charset="0"/>
              <a:ea typeface="+mj-ea"/>
              <a:cs typeface="Arial" pitchFamily="34" charset="0"/>
            </a:endParaRPr>
          </a:p>
        </p:txBody>
      </p:sp>
      <p:sp>
        <p:nvSpPr>
          <p:cNvPr id="6" name="TextBox 5"/>
          <p:cNvSpPr txBox="1"/>
          <p:nvPr/>
        </p:nvSpPr>
        <p:spPr>
          <a:xfrm>
            <a:off x="1219200" y="710557"/>
            <a:ext cx="5628470" cy="553998"/>
          </a:xfrm>
          <a:prstGeom prst="rect">
            <a:avLst/>
          </a:prstGeom>
          <a:noFill/>
        </p:spPr>
        <p:txBody>
          <a:bodyPr wrap="square" rtlCol="0">
            <a:spAutoFit/>
          </a:bodyPr>
          <a:lstStyle/>
          <a:p>
            <a:pPr algn="just"/>
            <a:r>
              <a:rPr lang="en-US" sz="3000" b="1" dirty="0" smtClean="0">
                <a:latin typeface="Arial" panose="020B0604020202020204" pitchFamily="34" charset="0"/>
                <a:cs typeface="Arial" panose="020B0604020202020204" pitchFamily="34" charset="0"/>
              </a:rPr>
              <a:t>2. </a:t>
            </a:r>
            <a:r>
              <a:rPr lang="en-US" sz="3000" b="1" dirty="0" err="1" smtClean="0">
                <a:latin typeface="Arial" panose="020B0604020202020204" pitchFamily="34" charset="0"/>
                <a:cs typeface="Arial" panose="020B0604020202020204" pitchFamily="34" charset="0"/>
              </a:rPr>
              <a:t>Cắt</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các</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đường</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lây</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nhiễm</a:t>
            </a:r>
            <a:endParaRPr lang="en-US" sz="3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960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 xmlns:a16="http://schemas.microsoft.com/office/drawing/2014/main" id="{C98A5779-0D20-F746-86A7-119A3BB7F135}"/>
              </a:ext>
            </a:extLst>
          </p:cNvPr>
          <p:cNvSpPr txBox="1">
            <a:spLocks/>
          </p:cNvSpPr>
          <p:nvPr/>
        </p:nvSpPr>
        <p:spPr>
          <a:xfrm>
            <a:off x="152400" y="152400"/>
            <a:ext cx="7488260" cy="471710"/>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IX. PHÒNG BỆNH</a:t>
            </a:r>
            <a:endParaRPr lang="vi-VN" sz="4000" b="1" dirty="0">
              <a:solidFill>
                <a:srgbClr val="FF0000"/>
              </a:solidFill>
              <a:latin typeface="Arial" pitchFamily="34" charset="0"/>
              <a:ea typeface="+mj-ea"/>
              <a:cs typeface="Arial" pitchFamily="34" charset="0"/>
            </a:endParaRPr>
          </a:p>
        </p:txBody>
      </p:sp>
      <p:sp>
        <p:nvSpPr>
          <p:cNvPr id="6" name="TextBox 5"/>
          <p:cNvSpPr txBox="1"/>
          <p:nvPr/>
        </p:nvSpPr>
        <p:spPr>
          <a:xfrm>
            <a:off x="1219200" y="710557"/>
            <a:ext cx="5628470" cy="553998"/>
          </a:xfrm>
          <a:prstGeom prst="rect">
            <a:avLst/>
          </a:prstGeom>
          <a:noFill/>
        </p:spPr>
        <p:txBody>
          <a:bodyPr wrap="square" rtlCol="0">
            <a:spAutoFit/>
          </a:bodyPr>
          <a:lstStyle/>
          <a:p>
            <a:pPr algn="just"/>
            <a:r>
              <a:rPr lang="en-US" sz="3000" b="1" dirty="0" smtClean="0">
                <a:latin typeface="Arial" panose="020B0604020202020204" pitchFamily="34" charset="0"/>
                <a:cs typeface="Arial" panose="020B0604020202020204" pitchFamily="34" charset="0"/>
              </a:rPr>
              <a:t>2. </a:t>
            </a:r>
            <a:r>
              <a:rPr lang="en-US" sz="3000" b="1" dirty="0" err="1" smtClean="0">
                <a:latin typeface="Arial" panose="020B0604020202020204" pitchFamily="34" charset="0"/>
                <a:cs typeface="Arial" panose="020B0604020202020204" pitchFamily="34" charset="0"/>
              </a:rPr>
              <a:t>Cắt</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các</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đường</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lây</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nhiễm</a:t>
            </a:r>
            <a:endParaRPr lang="en-US" sz="3000" b="1" dirty="0">
              <a:latin typeface="Arial" panose="020B0604020202020204" pitchFamily="34" charset="0"/>
              <a:cs typeface="Arial" panose="020B0604020202020204" pitchFamily="34" charset="0"/>
            </a:endParaRPr>
          </a:p>
        </p:txBody>
      </p:sp>
      <p:sp>
        <p:nvSpPr>
          <p:cNvPr id="2" name="TextBox 1"/>
          <p:cNvSpPr txBox="1"/>
          <p:nvPr/>
        </p:nvSpPr>
        <p:spPr>
          <a:xfrm>
            <a:off x="228600" y="1600200"/>
            <a:ext cx="8915400" cy="4747453"/>
          </a:xfrm>
          <a:prstGeom prst="rect">
            <a:avLst/>
          </a:prstGeom>
          <a:noFill/>
        </p:spPr>
        <p:txBody>
          <a:bodyPr wrap="square" rtlCol="0">
            <a:spAutoFit/>
          </a:bodyPr>
          <a:lstStyle/>
          <a:p>
            <a:pPr marR="102235" algn="just">
              <a:spcAft>
                <a:spcPts val="1465"/>
              </a:spcAft>
              <a:buFont typeface="Wingdings" panose="05000000000000000000" pitchFamily="2" charset="2"/>
              <a:buChar char="v"/>
            </a:pP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Thực</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phẩm</a:t>
            </a:r>
            <a:r>
              <a:rPr lang="en-US" sz="2400" b="1" dirty="0">
                <a:solidFill>
                  <a:srgbClr val="000000"/>
                </a:solidFill>
                <a:latin typeface="Arial" panose="020B0604020202020204" pitchFamily="34" charset="0"/>
                <a:ea typeface="Times New Roman"/>
                <a:cs typeface="Arial" panose="020B0604020202020204" pitchFamily="34" charset="0"/>
              </a:rPr>
              <a:t> an </a:t>
            </a:r>
            <a:r>
              <a:rPr lang="en-US" sz="2400" b="1" dirty="0" err="1">
                <a:solidFill>
                  <a:srgbClr val="000000"/>
                </a:solidFill>
                <a:latin typeface="Arial" panose="020B0604020202020204" pitchFamily="34" charset="0"/>
                <a:ea typeface="Times New Roman"/>
                <a:cs typeface="Arial" panose="020B0604020202020204" pitchFamily="34" charset="0"/>
              </a:rPr>
              <a:t>toàn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Thực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hiện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ăn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chín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bảo</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quản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thức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ăn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tránh</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nhiễm</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bẩn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tránh</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ruồi</a:t>
            </a:r>
            <a:r>
              <a:rPr lang="en-US" sz="2400" dirty="0">
                <a:solidFill>
                  <a:srgbClr val="000000"/>
                </a:solidFill>
                <a:latin typeface="Arial" panose="020B0604020202020204" pitchFamily="34" charset="0"/>
                <a:ea typeface="Times New Roman"/>
                <a:cs typeface="Arial" panose="020B0604020202020204" pitchFamily="34" charset="0"/>
              </a:rPr>
              <a:t>. </a:t>
            </a:r>
          </a:p>
          <a:p>
            <a:pPr marR="102235" algn="just">
              <a:spcAft>
                <a:spcPts val="1485"/>
              </a:spcAft>
              <a:buFont typeface="Wingdings" panose="05000000000000000000" pitchFamily="2" charset="2"/>
              <a:buChar char="v"/>
            </a:pP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Sử</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dụng</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hố</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xí</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và</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xử</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lý</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phân</a:t>
            </a:r>
            <a:r>
              <a:rPr lang="en-US" sz="2400" b="1" dirty="0">
                <a:solidFill>
                  <a:srgbClr val="000000"/>
                </a:solidFill>
                <a:latin typeface="Arial" panose="020B0604020202020204" pitchFamily="34" charset="0"/>
                <a:ea typeface="Times New Roman"/>
                <a:cs typeface="Arial" panose="020B0604020202020204" pitchFamily="34" charset="0"/>
              </a:rPr>
              <a:t> an </a:t>
            </a:r>
            <a:r>
              <a:rPr lang="en-US" sz="2400" b="1" dirty="0" err="1">
                <a:solidFill>
                  <a:srgbClr val="000000"/>
                </a:solidFill>
                <a:latin typeface="Arial" panose="020B0604020202020204" pitchFamily="34" charset="0"/>
                <a:ea typeface="Times New Roman"/>
                <a:cs typeface="Arial" panose="020B0604020202020204" pitchFamily="34" charset="0"/>
              </a:rPr>
              <a:t>toàn</a:t>
            </a:r>
            <a:r>
              <a:rPr lang="en-US" sz="2400" dirty="0">
                <a:solidFill>
                  <a:srgbClr val="000000"/>
                </a:solidFill>
                <a:latin typeface="Arial" panose="020B0604020202020204" pitchFamily="34" charset="0"/>
                <a:ea typeface="Times New Roman"/>
                <a:cs typeface="Arial" panose="020B0604020202020204" pitchFamily="34" charset="0"/>
              </a:rPr>
              <a:t>.</a:t>
            </a:r>
          </a:p>
          <a:p>
            <a:pPr marR="102235" algn="just">
              <a:spcAft>
                <a:spcPts val="1485"/>
              </a:spcAft>
              <a:buFont typeface="Wingdings" panose="05000000000000000000" pitchFamily="2" charset="2"/>
              <a:buChar char="v"/>
            </a:pP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Thường</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xuyên</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vệ</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sinh</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sạch</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sẽ</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mội</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trường</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xung</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quanh</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xử</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lý</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rác</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thải</a:t>
            </a:r>
            <a:r>
              <a:rPr lang="en-US" sz="2400" b="1" dirty="0" smtClean="0">
                <a:solidFill>
                  <a:srgbClr val="000000"/>
                </a:solidFill>
                <a:latin typeface="Arial" panose="020B0604020202020204" pitchFamily="34" charset="0"/>
                <a:ea typeface="Times New Roman"/>
                <a:cs typeface="Arial" panose="020B0604020202020204" pitchFamily="34" charset="0"/>
              </a:rPr>
              <a:t>.</a:t>
            </a:r>
            <a:endParaRPr lang="en-US" sz="2400" b="1" dirty="0">
              <a:solidFill>
                <a:srgbClr val="000000"/>
              </a:solidFill>
              <a:latin typeface="Arial" panose="020B0604020202020204" pitchFamily="34" charset="0"/>
              <a:ea typeface="Times New Roman"/>
              <a:cs typeface="Arial" panose="020B0604020202020204" pitchFamily="34" charset="0"/>
            </a:endParaRPr>
          </a:p>
          <a:p>
            <a:pPr marR="102235" algn="just">
              <a:spcAft>
                <a:spcPts val="1485"/>
              </a:spcAft>
              <a:buFont typeface="Wingdings" panose="05000000000000000000" pitchFamily="2" charset="2"/>
              <a:buChar char="v"/>
            </a:pP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Bệnh</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viện</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Khử</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trùng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tẩy</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uế</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chất</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thải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của</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bệnh</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nhân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tại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bệnh</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viện</a:t>
            </a:r>
            <a:r>
              <a:rPr lang="en-US" sz="2400" dirty="0">
                <a:solidFill>
                  <a:srgbClr val="000000"/>
                </a:solidFill>
                <a:latin typeface="Arial" panose="020B0604020202020204" pitchFamily="34" charset="0"/>
                <a:ea typeface="Times New Roman"/>
                <a:cs typeface="Arial" panose="020B0604020202020204" pitchFamily="34" charset="0"/>
              </a:rPr>
              <a:t>.</a:t>
            </a:r>
          </a:p>
          <a:p>
            <a:pPr marR="102235" algn="just">
              <a:spcAft>
                <a:spcPts val="1485"/>
              </a:spcAft>
              <a:buFont typeface="Wingdings" panose="05000000000000000000" pitchFamily="2" charset="2"/>
              <a:buChar char="v"/>
            </a:pP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smtClean="0">
                <a:solidFill>
                  <a:srgbClr val="000000"/>
                </a:solidFill>
                <a:latin typeface="Arial" panose="020B0604020202020204" pitchFamily="34" charset="0"/>
                <a:ea typeface="Times New Roman"/>
                <a:cs typeface="Arial" panose="020B0604020202020204" pitchFamily="34" charset="0"/>
              </a:rPr>
              <a:t>Phát</a:t>
            </a:r>
            <a:r>
              <a:rPr lang="en-US" sz="2400" b="1" dirty="0" smtClean="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hiện</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và</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điều</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trị</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người</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mang</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trùng</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người</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nhiễm</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trùng</a:t>
            </a:r>
            <a:r>
              <a:rPr lang="en-US" sz="2400" b="1" dirty="0">
                <a:solidFill>
                  <a:srgbClr val="000000"/>
                </a:solidFill>
                <a:latin typeface="Arial" panose="020B0604020202020204" pitchFamily="34" charset="0"/>
                <a:ea typeface="Times New Roman"/>
                <a:cs typeface="Arial" panose="020B0604020202020204" pitchFamily="34" charset="0"/>
              </a:rPr>
              <a:t> </a:t>
            </a:r>
            <a:r>
              <a:rPr lang="en-US" sz="2400" b="1" dirty="0" err="1">
                <a:solidFill>
                  <a:srgbClr val="000000"/>
                </a:solidFill>
                <a:latin typeface="Arial" panose="020B0604020202020204" pitchFamily="34" charset="0"/>
                <a:ea typeface="Times New Roman"/>
                <a:cs typeface="Arial" panose="020B0604020202020204" pitchFamily="34" charset="0"/>
              </a:rPr>
              <a:t>nhẹ</a:t>
            </a:r>
            <a:r>
              <a:rPr lang="en-US" sz="2400" b="1" dirty="0">
                <a:solidFill>
                  <a:srgbClr val="000000"/>
                </a:solidFill>
                <a:latin typeface="Arial" panose="020B0604020202020204" pitchFamily="34" charset="0"/>
                <a:ea typeface="Times New Roman"/>
                <a:cs typeface="Arial" panose="020B0604020202020204" pitchFamily="34" charset="0"/>
              </a:rPr>
              <a:t>.</a:t>
            </a:r>
          </a:p>
          <a:p>
            <a:endParaRPr lang="en-US" sz="2400" dirty="0"/>
          </a:p>
        </p:txBody>
      </p:sp>
    </p:spTree>
    <p:extLst>
      <p:ext uri="{BB962C8B-B14F-4D97-AF65-F5344CB8AC3E}">
        <p14:creationId xmlns:p14="http://schemas.microsoft.com/office/powerpoint/2010/main" val="3646197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 xmlns:a16="http://schemas.microsoft.com/office/drawing/2014/main" id="{C98A5779-0D20-F746-86A7-119A3BB7F135}"/>
              </a:ext>
            </a:extLst>
          </p:cNvPr>
          <p:cNvSpPr txBox="1">
            <a:spLocks/>
          </p:cNvSpPr>
          <p:nvPr/>
        </p:nvSpPr>
        <p:spPr>
          <a:xfrm>
            <a:off x="152400" y="152400"/>
            <a:ext cx="7488260" cy="471710"/>
          </a:xfrm>
          <a:prstGeom prst="rect">
            <a:avLst/>
          </a:prstGeom>
        </p:spPr>
        <p:txBody>
          <a:bodyPr vert="horz" lIns="68580" tIns="34290" rIns="68580" bIns="34290" rtlCol="0" anchor="ctr">
            <a:noAutofit/>
          </a:bodyPr>
          <a:lstStyle/>
          <a:p>
            <a:pPr algn="just" defTabSz="685800">
              <a:spcBef>
                <a:spcPct val="0"/>
              </a:spcBef>
              <a:defRPr/>
            </a:pPr>
            <a:r>
              <a:rPr lang="en-US" sz="4000" b="1" dirty="0" smtClean="0">
                <a:solidFill>
                  <a:srgbClr val="FF0000"/>
                </a:solidFill>
                <a:latin typeface="Arial" pitchFamily="34" charset="0"/>
                <a:ea typeface="+mj-ea"/>
                <a:cs typeface="Arial" pitchFamily="34" charset="0"/>
              </a:rPr>
              <a:t>IX. PHÒNG BỆNH</a:t>
            </a:r>
            <a:endParaRPr lang="vi-VN" sz="4000" b="1" dirty="0">
              <a:solidFill>
                <a:srgbClr val="FF0000"/>
              </a:solidFill>
              <a:latin typeface="Arial" pitchFamily="34" charset="0"/>
              <a:ea typeface="+mj-ea"/>
              <a:cs typeface="Arial" pitchFamily="34" charset="0"/>
            </a:endParaRPr>
          </a:p>
        </p:txBody>
      </p:sp>
      <p:sp>
        <p:nvSpPr>
          <p:cNvPr id="6" name="TextBox 5"/>
          <p:cNvSpPr txBox="1"/>
          <p:nvPr/>
        </p:nvSpPr>
        <p:spPr>
          <a:xfrm>
            <a:off x="1143000" y="663422"/>
            <a:ext cx="5628470" cy="553998"/>
          </a:xfrm>
          <a:prstGeom prst="rect">
            <a:avLst/>
          </a:prstGeom>
          <a:noFill/>
        </p:spPr>
        <p:txBody>
          <a:bodyPr wrap="square" rtlCol="0">
            <a:spAutoFit/>
          </a:bodyPr>
          <a:lstStyle/>
          <a:p>
            <a:pPr algn="just"/>
            <a:r>
              <a:rPr lang="en-US" sz="3000" b="1" dirty="0" smtClean="0">
                <a:latin typeface="Arial" panose="020B0604020202020204" pitchFamily="34" charset="0"/>
                <a:cs typeface="Arial" panose="020B0604020202020204" pitchFamily="34" charset="0"/>
              </a:rPr>
              <a:t>3. </a:t>
            </a:r>
            <a:r>
              <a:rPr lang="en-US" sz="3000" b="1" dirty="0" err="1" smtClean="0">
                <a:latin typeface="Arial" panose="020B0604020202020204" pitchFamily="34" charset="0"/>
                <a:cs typeface="Arial" panose="020B0604020202020204" pitchFamily="34" charset="0"/>
              </a:rPr>
              <a:t>Sử</a:t>
            </a:r>
            <a:r>
              <a:rPr lang="en-US" sz="3000" b="1" dirty="0" smtClean="0">
                <a:latin typeface="Arial" panose="020B0604020202020204" pitchFamily="34" charset="0"/>
                <a:cs typeface="Arial" panose="020B0604020202020204" pitchFamily="34" charset="0"/>
              </a:rPr>
              <a:t> </a:t>
            </a:r>
            <a:r>
              <a:rPr lang="en-US" sz="3000" b="1" dirty="0" err="1" smtClean="0">
                <a:latin typeface="Arial" panose="020B0604020202020204" pitchFamily="34" charset="0"/>
                <a:cs typeface="Arial" panose="020B0604020202020204" pitchFamily="34" charset="0"/>
              </a:rPr>
              <a:t>dụng</a:t>
            </a:r>
            <a:r>
              <a:rPr lang="en-US" sz="3000" b="1" dirty="0" smtClean="0">
                <a:latin typeface="Arial" panose="020B0604020202020204" pitchFamily="34" charset="0"/>
                <a:cs typeface="Arial" panose="020B0604020202020204" pitchFamily="34" charset="0"/>
              </a:rPr>
              <a:t> vaccine</a:t>
            </a:r>
            <a:endParaRPr lang="en-US" sz="3000" b="1" dirty="0">
              <a:latin typeface="Arial" panose="020B0604020202020204" pitchFamily="34" charset="0"/>
              <a:cs typeface="Arial" panose="020B0604020202020204" pitchFamily="34" charset="0"/>
            </a:endParaRPr>
          </a:p>
        </p:txBody>
      </p:sp>
      <p:sp>
        <p:nvSpPr>
          <p:cNvPr id="2" name="TextBox 1"/>
          <p:cNvSpPr txBox="1"/>
          <p:nvPr/>
        </p:nvSpPr>
        <p:spPr>
          <a:xfrm>
            <a:off x="495300" y="1752600"/>
            <a:ext cx="8153400" cy="1938992"/>
          </a:xfrm>
          <a:prstGeom prst="rect">
            <a:avLst/>
          </a:prstGeom>
          <a:noFill/>
        </p:spPr>
        <p:txBody>
          <a:bodyPr wrap="square" rtlCol="0">
            <a:spAutoFit/>
          </a:bodyPr>
          <a:lstStyle/>
          <a:p>
            <a:pPr algn="just"/>
            <a:r>
              <a:rPr lang="en-US" sz="2400" dirty="0" smtClean="0">
                <a:solidFill>
                  <a:srgbClr val="000000"/>
                </a:solidFill>
                <a:latin typeface="Arial" panose="020B0604020202020204" pitchFamily="34" charset="0"/>
                <a:ea typeface="Times New Roman"/>
                <a:cs typeface="Arial" panose="020B0604020202020204" pitchFamily="34" charset="0"/>
              </a:rPr>
              <a:t>	Cho </a:t>
            </a:r>
            <a:r>
              <a:rPr lang="en-US" sz="2400" dirty="0" err="1">
                <a:solidFill>
                  <a:srgbClr val="000000"/>
                </a:solidFill>
                <a:latin typeface="Arial" panose="020B0604020202020204" pitchFamily="34" charset="0"/>
                <a:ea typeface="Times New Roman"/>
                <a:cs typeface="Arial" panose="020B0604020202020204" pitchFamily="34" charset="0"/>
              </a:rPr>
              <a:t>trẻ</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tiêm</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chủng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đầy</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đủ</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các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loại</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vắc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xin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theo</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lịch</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tiêm</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chủng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mở</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rộng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Hiện</a:t>
            </a:r>
            <a:r>
              <a:rPr lang="en-US" sz="2400" dirty="0">
                <a:solidFill>
                  <a:srgbClr val="000000"/>
                </a:solidFill>
                <a:latin typeface="Arial" panose="020B0604020202020204" pitchFamily="34" charset="0"/>
                <a:ea typeface="Times New Roman"/>
                <a:cs typeface="Arial" panose="020B0604020202020204" pitchFamily="34" charset="0"/>
              </a:rPr>
              <a:t> nay </a:t>
            </a:r>
            <a:r>
              <a:rPr lang="en-US" sz="2400" dirty="0" err="1">
                <a:solidFill>
                  <a:srgbClr val="000000"/>
                </a:solidFill>
                <a:latin typeface="Arial" panose="020B0604020202020204" pitchFamily="34" charset="0"/>
                <a:ea typeface="Times New Roman"/>
                <a:cs typeface="Arial" panose="020B0604020202020204" pitchFamily="34" charset="0"/>
              </a:rPr>
              <a:t>vắc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xin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phòng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lỵ</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đang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được</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nghiên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cứu</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sản</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xuất</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và</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sẽ</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đưa</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vào</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sử</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dụng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trong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tương</a:t>
            </a:r>
            <a:r>
              <a:rPr lang="en-US" sz="2400" dirty="0">
                <a:solidFill>
                  <a:srgbClr val="000000"/>
                </a:solidFill>
                <a:latin typeface="Arial" panose="020B0604020202020204" pitchFamily="34" charset="0"/>
                <a:ea typeface="Times New Roman"/>
                <a:cs typeface="Arial" panose="020B0604020202020204" pitchFamily="34" charset="0"/>
              </a:rPr>
              <a:t> </a:t>
            </a:r>
            <a:r>
              <a:rPr lang="en-US" sz="2400" dirty="0" err="1">
                <a:solidFill>
                  <a:srgbClr val="000000"/>
                </a:solidFill>
                <a:latin typeface="Arial" panose="020B0604020202020204" pitchFamily="34" charset="0"/>
                <a:ea typeface="Times New Roman"/>
                <a:cs typeface="Arial" panose="020B0604020202020204" pitchFamily="34" charset="0"/>
              </a:rPr>
              <a:t>lai</a:t>
            </a:r>
            <a:r>
              <a:rPr lang="en-US" sz="2400" dirty="0">
                <a:solidFill>
                  <a:srgbClr val="000000"/>
                </a:solidFill>
                <a:latin typeface="Arial" panose="020B0604020202020204" pitchFamily="34" charset="0"/>
                <a:ea typeface="Times New Roman"/>
                <a:cs typeface="Arial" panose="020B0604020202020204" pitchFamily="34" charset="0"/>
              </a:rPr>
              <a:t> . </a:t>
            </a:r>
          </a:p>
          <a:p>
            <a:pPr algn="just"/>
            <a:endParaRPr lang="en-US" sz="24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3419901"/>
            <a:ext cx="5334000" cy="3133299"/>
          </a:xfrm>
          <a:prstGeom prst="rect">
            <a:avLst/>
          </a:prstGeom>
        </p:spPr>
      </p:pic>
    </p:spTree>
    <p:extLst>
      <p:ext uri="{BB962C8B-B14F-4D97-AF65-F5344CB8AC3E}">
        <p14:creationId xmlns:p14="http://schemas.microsoft.com/office/powerpoint/2010/main" val="2477257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299156"/>
            <a:ext cx="9372600" cy="738664"/>
          </a:xfrm>
          <a:prstGeom prst="rect">
            <a:avLst/>
          </a:prstGeom>
          <a:noFill/>
        </p:spPr>
        <p:txBody>
          <a:bodyPr wrap="square">
            <a:spAutoFit/>
          </a:bodyPr>
          <a:lstStyle/>
          <a:p>
            <a:pPr algn="ctr">
              <a:defRPr/>
            </a:pPr>
            <a:r>
              <a:rPr lang="en-US" sz="42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Arial" pitchFamily="34" charset="0"/>
              </a:rPr>
              <a:t>THANK YOU FOR </a:t>
            </a:r>
            <a:r>
              <a:rPr lang="en-US" sz="4200" b="1"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Arial" pitchFamily="34" charset="0"/>
              </a:rPr>
              <a:t>LISTENING</a:t>
            </a:r>
            <a:endParaRPr lang="en-US" sz="42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Arial" pitchFamily="34" charset="0"/>
            </a:endParaRPr>
          </a:p>
        </p:txBody>
      </p:sp>
      <p:sp>
        <p:nvSpPr>
          <p:cNvPr id="5" name="Rectangle 4"/>
          <p:cNvSpPr/>
          <p:nvPr/>
        </p:nvSpPr>
        <p:spPr>
          <a:xfrm>
            <a:off x="36057" y="152400"/>
            <a:ext cx="9107943" cy="523220"/>
          </a:xfrm>
          <a:prstGeom prst="rect">
            <a:avLst/>
          </a:prstGeom>
          <a:noFill/>
        </p:spPr>
        <p:txBody>
          <a:bodyPr wrap="non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28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CLB </a:t>
            </a:r>
            <a:r>
              <a:rPr lang="en-US" sz="28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Nhi</a:t>
            </a:r>
            <a:r>
              <a:rPr lang="en-US" sz="28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a:t>
            </a:r>
            <a:r>
              <a:rPr lang="en-US" sz="28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khoa</a:t>
            </a:r>
            <a:r>
              <a:rPr lang="en-US" sz="28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 </a:t>
            </a:r>
            <a:r>
              <a:rPr lang="en-US" sz="28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trường</a:t>
            </a:r>
            <a:r>
              <a:rPr lang="en-US" sz="28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a:t>
            </a:r>
            <a:r>
              <a:rPr lang="en-US" sz="28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đh</a:t>
            </a:r>
            <a:r>
              <a:rPr lang="en-US" sz="28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y </a:t>
            </a:r>
            <a:r>
              <a:rPr lang="en-US" sz="28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dược</a:t>
            </a:r>
            <a:r>
              <a:rPr lang="en-US" sz="28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a:t>
            </a:r>
            <a:r>
              <a:rPr lang="en-US" sz="28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hải</a:t>
            </a:r>
            <a:r>
              <a:rPr lang="en-US" sz="28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 </a:t>
            </a:r>
            <a:r>
              <a:rPr lang="en-US" sz="2800" b="1" cap="all" spc="0"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rPr>
              <a:t>phòng</a:t>
            </a:r>
            <a:endParaRPr lang="en-US" sz="2800" b="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2239537"/>
            <a:ext cx="5528146" cy="3284963"/>
          </a:xfrm>
          <a:prstGeom prst="rect">
            <a:avLst/>
          </a:prstGeom>
        </p:spPr>
      </p:pic>
      <p:pic>
        <p:nvPicPr>
          <p:cNvPr id="7" name="Picture 7" descr="btrflycornerl"/>
          <p:cNvPicPr>
            <a:picLocks noChangeAspect="1" noChangeArrowheads="1"/>
          </p:cNvPicPr>
          <p:nvPr/>
        </p:nvPicPr>
        <p:blipFill>
          <a:blip r:embed="rId3"/>
          <a:srcRect/>
          <a:stretch>
            <a:fillRect/>
          </a:stretch>
        </p:blipFill>
        <p:spPr bwMode="auto">
          <a:xfrm>
            <a:off x="-36054" y="4191000"/>
            <a:ext cx="2749551" cy="2667000"/>
          </a:xfrm>
          <a:prstGeom prst="rect">
            <a:avLst/>
          </a:prstGeom>
          <a:noFill/>
          <a:ln w="9525">
            <a:noFill/>
            <a:miter lim="800000"/>
            <a:headEnd/>
            <a:tailEnd/>
          </a:ln>
        </p:spPr>
      </p:pic>
      <p:pic>
        <p:nvPicPr>
          <p:cNvPr id="8" name="Picture 6" descr="btrflycornerl"/>
          <p:cNvPicPr>
            <a:picLocks noChangeAspect="1" noChangeArrowheads="1"/>
          </p:cNvPicPr>
          <p:nvPr/>
        </p:nvPicPr>
        <p:blipFill>
          <a:blip r:embed="rId4"/>
          <a:srcRect/>
          <a:stretch>
            <a:fillRect/>
          </a:stretch>
        </p:blipFill>
        <p:spPr bwMode="auto">
          <a:xfrm>
            <a:off x="6817853" y="4071629"/>
            <a:ext cx="2362200" cy="2797175"/>
          </a:xfrm>
          <a:prstGeom prst="rect">
            <a:avLst/>
          </a:prstGeom>
          <a:noFill/>
          <a:ln w="9525">
            <a:noFill/>
            <a:miter lim="800000"/>
            <a:headEnd/>
            <a:tailEnd/>
          </a:ln>
        </p:spPr>
      </p:pic>
    </p:spTree>
    <p:extLst>
      <p:ext uri="{BB962C8B-B14F-4D97-AF65-F5344CB8AC3E}">
        <p14:creationId xmlns:p14="http://schemas.microsoft.com/office/powerpoint/2010/main" val="24462078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curtains"/>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
  <TotalTime>485</TotalTime>
  <Words>4548</Words>
  <Application>Microsoft Office PowerPoint</Application>
  <PresentationFormat>On-screen Show (4:3)</PresentationFormat>
  <Paragraphs>380</Paragraphs>
  <Slides>55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.VnShelley Allegro</vt:lpstr>
      <vt:lpstr>Arial</vt:lpstr>
      <vt:lpstr>Arial (Body)</vt:lpstr>
      <vt:lpstr>Century Gothic</vt:lpstr>
      <vt:lpstr>Segoe UI Symbol</vt:lpstr>
      <vt:lpstr>Tahoma</vt:lpstr>
      <vt:lpstr>Times New Roman</vt:lpstr>
      <vt:lpstr>Wingdings</vt:lpstr>
      <vt:lpstr>Wingdings 3</vt:lpstr>
      <vt:lpstr>Wisp</vt:lpstr>
      <vt:lpstr>PowerPoint Presentation</vt:lpstr>
      <vt:lpstr>Mục tiêu: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Hội chứng Eriki  </vt:lpstr>
      <vt:lpstr>PowerPoint Presentation</vt:lpstr>
      <vt:lpstr>Hội chứng Reiter </vt:lpstr>
      <vt:lpstr>PowerPoint Presentation</vt:lpstr>
      <vt:lpstr>PowerPoint Presentation</vt:lpstr>
      <vt:lpstr>PowerPoint Presentation</vt:lpstr>
      <vt:lpstr>PowerPoint Presentation</vt:lpstr>
      <vt:lpstr>6.2. Chẩn đoán phân biệt:</vt:lpstr>
      <vt:lpstr>6.2. Chẩn đoán phân biệt:</vt:lpstr>
      <vt:lpstr>6.2. Chẩn đoán phân biệt:</vt:lpstr>
      <vt:lpstr>6.3. Chẩn đoán thể lâm sàng:</vt:lpstr>
      <vt:lpstr>6.3. Chẩn đoán thể lâm sàng:</vt:lpstr>
      <vt:lpstr>6.4:Chẩn đoán biến chứng.</vt:lpstr>
      <vt:lpstr>PowerPoint Presentation</vt:lpstr>
      <vt:lpstr>2. Điều trị cụ thể</vt:lpstr>
      <vt:lpstr>2. Điều trị cụ thể</vt:lpstr>
      <vt:lpstr>PowerPoint Presentation</vt:lpstr>
      <vt:lpstr>PowerPoint Presentation</vt:lpstr>
      <vt:lpstr>PowerPoint Presentation</vt:lpstr>
      <vt:lpstr>3. Theo dõi</vt:lpstr>
      <vt:lpstr> Khi nào trẻ cần nhập viện để điều trị Lỵ???</vt:lpstr>
      <vt:lpstr>3. Tiêu chuẩn nhập viện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 Chẩn đoán:</dc:title>
  <dc:creator>Windows User</dc:creator>
  <cp:lastModifiedBy>Windows User</cp:lastModifiedBy>
  <cp:revision>82</cp:revision>
  <dcterms:created xsi:type="dcterms:W3CDTF">2019-05-12T02:36:52Z</dcterms:created>
  <dcterms:modified xsi:type="dcterms:W3CDTF">2019-05-29T15:57:40Z</dcterms:modified>
</cp:coreProperties>
</file>