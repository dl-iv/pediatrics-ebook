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x-wav"/>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58"/>
  </p:notesMasterIdLst>
  <p:sldIdLst>
    <p:sldId id="256" r:id="rId3"/>
    <p:sldId id="275" r:id="rId4"/>
    <p:sldId id="279" r:id="rId5"/>
    <p:sldId id="258" r:id="rId6"/>
    <p:sldId id="276" r:id="rId7"/>
    <p:sldId id="269" r:id="rId8"/>
    <p:sldId id="277" r:id="rId9"/>
    <p:sldId id="283" r:id="rId10"/>
    <p:sldId id="260" r:id="rId11"/>
    <p:sldId id="318" r:id="rId12"/>
    <p:sldId id="281" r:id="rId13"/>
    <p:sldId id="282" r:id="rId14"/>
    <p:sldId id="284" r:id="rId15"/>
    <p:sldId id="313" r:id="rId16"/>
    <p:sldId id="301" r:id="rId17"/>
    <p:sldId id="290" r:id="rId18"/>
    <p:sldId id="291" r:id="rId19"/>
    <p:sldId id="292" r:id="rId20"/>
    <p:sldId id="263" r:id="rId21"/>
    <p:sldId id="302" r:id="rId22"/>
    <p:sldId id="316" r:id="rId23"/>
    <p:sldId id="317" r:id="rId24"/>
    <p:sldId id="273" r:id="rId25"/>
    <p:sldId id="286" r:id="rId26"/>
    <p:sldId id="325" r:id="rId27"/>
    <p:sldId id="326" r:id="rId28"/>
    <p:sldId id="274" r:id="rId29"/>
    <p:sldId id="295" r:id="rId30"/>
    <p:sldId id="327" r:id="rId31"/>
    <p:sldId id="278" r:id="rId32"/>
    <p:sldId id="270" r:id="rId33"/>
    <p:sldId id="267" r:id="rId34"/>
    <p:sldId id="315" r:id="rId35"/>
    <p:sldId id="268" r:id="rId36"/>
    <p:sldId id="300" r:id="rId37"/>
    <p:sldId id="312" r:id="rId38"/>
    <p:sldId id="311" r:id="rId39"/>
    <p:sldId id="328" r:id="rId40"/>
    <p:sldId id="329" r:id="rId41"/>
    <p:sldId id="330" r:id="rId42"/>
    <p:sldId id="319" r:id="rId43"/>
    <p:sldId id="320" r:id="rId44"/>
    <p:sldId id="294" r:id="rId45"/>
    <p:sldId id="321" r:id="rId46"/>
    <p:sldId id="322" r:id="rId47"/>
    <p:sldId id="293" r:id="rId48"/>
    <p:sldId id="285" r:id="rId49"/>
    <p:sldId id="287" r:id="rId50"/>
    <p:sldId id="288" r:id="rId51"/>
    <p:sldId id="289" r:id="rId52"/>
    <p:sldId id="297" r:id="rId53"/>
    <p:sldId id="305" r:id="rId54"/>
    <p:sldId id="307" r:id="rId55"/>
    <p:sldId id="308" r:id="rId56"/>
    <p:sldId id="309" r:id="rId57"/>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710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74" autoAdjust="0"/>
    <p:restoredTop sz="75583" autoAdjust="0"/>
  </p:normalViewPr>
  <p:slideViewPr>
    <p:cSldViewPr snapToGrid="0" showGuides="1">
      <p:cViewPr varScale="1">
        <p:scale>
          <a:sx n="54" d="100"/>
          <a:sy n="54" d="100"/>
        </p:scale>
        <p:origin x="732" y="42"/>
      </p:cViewPr>
      <p:guideLst>
        <p:guide orient="horz" pos="2160"/>
        <p:guide pos="7106"/>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0B7B9D6-F305-48D0-9406-38A21A30CD5D}"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vi-VN"/>
        </a:p>
      </dgm:t>
    </dgm:pt>
    <dgm:pt modelId="{5E2195DB-CFB2-4DD4-A092-3B7A9AEDBF6F}">
      <dgm:prSet phldrT="[Text]"/>
      <dgm:spPr/>
      <dgm:t>
        <a:bodyPr/>
        <a:lstStyle/>
        <a:p>
          <a:r>
            <a:rPr lang="en-US" err="1" smtClean="0"/>
            <a:t>Phân</a:t>
          </a:r>
          <a:r>
            <a:rPr lang="en-US" smtClean="0"/>
            <a:t> </a:t>
          </a:r>
          <a:r>
            <a:rPr lang="en-US" err="1" smtClean="0"/>
            <a:t>loại</a:t>
          </a:r>
          <a:r>
            <a:rPr lang="en-US" smtClean="0"/>
            <a:t> </a:t>
          </a:r>
          <a:r>
            <a:rPr lang="en-US" err="1" smtClean="0"/>
            <a:t>nguyên</a:t>
          </a:r>
          <a:r>
            <a:rPr lang="en-US" smtClean="0"/>
            <a:t> </a:t>
          </a:r>
          <a:r>
            <a:rPr lang="en-US" err="1" smtClean="0"/>
            <a:t>nhân</a:t>
          </a:r>
          <a:r>
            <a:rPr lang="en-US" smtClean="0"/>
            <a:t> </a:t>
          </a:r>
          <a:r>
            <a:rPr lang="en-US" err="1" smtClean="0"/>
            <a:t>nôn</a:t>
          </a:r>
          <a:endParaRPr lang="vi-VN"/>
        </a:p>
      </dgm:t>
    </dgm:pt>
    <dgm:pt modelId="{5EC7609D-67B2-4C6A-AD18-96A7CFF10D4B}" type="parTrans" cxnId="{322828F4-48AE-4FDB-8D2F-C325F070AC01}">
      <dgm:prSet/>
      <dgm:spPr/>
      <dgm:t>
        <a:bodyPr/>
        <a:lstStyle/>
        <a:p>
          <a:endParaRPr lang="vi-VN"/>
        </a:p>
      </dgm:t>
    </dgm:pt>
    <dgm:pt modelId="{97B5E794-744C-4613-890B-544C56240026}" type="sibTrans" cxnId="{322828F4-48AE-4FDB-8D2F-C325F070AC01}">
      <dgm:prSet/>
      <dgm:spPr/>
      <dgm:t>
        <a:bodyPr/>
        <a:lstStyle/>
        <a:p>
          <a:endParaRPr lang="vi-VN"/>
        </a:p>
      </dgm:t>
    </dgm:pt>
    <dgm:pt modelId="{02049CC8-82D5-44EA-9D92-D6EFA1B703BC}">
      <dgm:prSet phldrT="[Text]"/>
      <dgm:spPr/>
      <dgm:t>
        <a:bodyPr/>
        <a:lstStyle/>
        <a:p>
          <a:r>
            <a:rPr lang="en-US" err="1" smtClean="0"/>
            <a:t>Nội</a:t>
          </a:r>
          <a:r>
            <a:rPr lang="en-US" smtClean="0"/>
            <a:t> </a:t>
          </a:r>
          <a:r>
            <a:rPr lang="en-US" err="1" smtClean="0"/>
            <a:t>khoa</a:t>
          </a:r>
          <a:r>
            <a:rPr lang="en-US" smtClean="0"/>
            <a:t> </a:t>
          </a:r>
          <a:r>
            <a:rPr lang="en-US" err="1" smtClean="0"/>
            <a:t>và</a:t>
          </a:r>
          <a:r>
            <a:rPr lang="en-US" smtClean="0"/>
            <a:t> </a:t>
          </a:r>
          <a:r>
            <a:rPr lang="en-US" err="1" smtClean="0"/>
            <a:t>ngoại</a:t>
          </a:r>
          <a:r>
            <a:rPr lang="en-US" smtClean="0"/>
            <a:t> </a:t>
          </a:r>
          <a:r>
            <a:rPr lang="en-US" err="1" smtClean="0"/>
            <a:t>khoa</a:t>
          </a:r>
          <a:endParaRPr lang="vi-VN"/>
        </a:p>
      </dgm:t>
    </dgm:pt>
    <dgm:pt modelId="{F97EA6C7-C3EF-48DB-9244-7D06DE203055}" type="parTrans" cxnId="{3C26E3D7-81BD-4BBA-9D42-5627412988A4}">
      <dgm:prSet/>
      <dgm:spPr/>
      <dgm:t>
        <a:bodyPr/>
        <a:lstStyle/>
        <a:p>
          <a:endParaRPr lang="vi-VN"/>
        </a:p>
      </dgm:t>
    </dgm:pt>
    <dgm:pt modelId="{28A3B2F4-423E-4582-9719-D30EAF3D0BF0}" type="sibTrans" cxnId="{3C26E3D7-81BD-4BBA-9D42-5627412988A4}">
      <dgm:prSet/>
      <dgm:spPr/>
      <dgm:t>
        <a:bodyPr/>
        <a:lstStyle/>
        <a:p>
          <a:endParaRPr lang="vi-VN"/>
        </a:p>
      </dgm:t>
    </dgm:pt>
    <dgm:pt modelId="{20F1A925-C0AF-4E69-A5AC-86BFF2F71BF7}">
      <dgm:prSet phldrT="[Text]"/>
      <dgm:spPr/>
      <dgm:t>
        <a:bodyPr/>
        <a:lstStyle/>
        <a:p>
          <a:r>
            <a:rPr lang="en-US" dirty="0" err="1" smtClean="0"/>
            <a:t>Tuổi</a:t>
          </a:r>
          <a:endParaRPr lang="vi-VN" dirty="0"/>
        </a:p>
      </dgm:t>
    </dgm:pt>
    <dgm:pt modelId="{A1AC3550-8FD3-4DC2-9400-9687790F982E}" type="parTrans" cxnId="{BCB35636-894A-4088-B008-94B21DC9283E}">
      <dgm:prSet/>
      <dgm:spPr/>
      <dgm:t>
        <a:bodyPr/>
        <a:lstStyle/>
        <a:p>
          <a:endParaRPr lang="vi-VN"/>
        </a:p>
      </dgm:t>
    </dgm:pt>
    <dgm:pt modelId="{630870A7-2FB0-47CC-916A-64280747394F}" type="sibTrans" cxnId="{BCB35636-894A-4088-B008-94B21DC9283E}">
      <dgm:prSet/>
      <dgm:spPr/>
      <dgm:t>
        <a:bodyPr/>
        <a:lstStyle/>
        <a:p>
          <a:endParaRPr lang="vi-VN"/>
        </a:p>
      </dgm:t>
    </dgm:pt>
    <dgm:pt modelId="{7F3D3637-3F8D-4214-A3AC-8CCC0321F2D6}">
      <dgm:prSet phldrT="[Text]"/>
      <dgm:spPr/>
      <dgm:t>
        <a:bodyPr/>
        <a:lstStyle/>
        <a:p>
          <a:r>
            <a:rPr lang="en-US" dirty="0" err="1" smtClean="0"/>
            <a:t>Tiêu</a:t>
          </a:r>
          <a:r>
            <a:rPr lang="en-US" dirty="0" smtClean="0"/>
            <a:t> </a:t>
          </a:r>
          <a:r>
            <a:rPr lang="en-US" dirty="0" err="1" smtClean="0"/>
            <a:t>hóa</a:t>
          </a:r>
          <a:r>
            <a:rPr lang="en-US" dirty="0" smtClean="0"/>
            <a:t> </a:t>
          </a:r>
          <a:r>
            <a:rPr lang="en-US" dirty="0" err="1" smtClean="0"/>
            <a:t>và</a:t>
          </a:r>
          <a:r>
            <a:rPr lang="en-US" dirty="0" smtClean="0"/>
            <a:t> </a:t>
          </a:r>
          <a:r>
            <a:rPr lang="en-US" dirty="0" err="1" smtClean="0"/>
            <a:t>ngoài</a:t>
          </a:r>
          <a:r>
            <a:rPr lang="en-US" dirty="0" smtClean="0"/>
            <a:t> </a:t>
          </a:r>
          <a:r>
            <a:rPr lang="en-US" dirty="0" err="1" smtClean="0"/>
            <a:t>tiêu</a:t>
          </a:r>
          <a:r>
            <a:rPr lang="en-US" dirty="0" smtClean="0"/>
            <a:t> </a:t>
          </a:r>
          <a:r>
            <a:rPr lang="en-US" dirty="0" err="1" smtClean="0"/>
            <a:t>hóa</a:t>
          </a:r>
          <a:endParaRPr lang="vi-VN" dirty="0"/>
        </a:p>
      </dgm:t>
    </dgm:pt>
    <dgm:pt modelId="{F9DA38B6-D862-4798-8693-E45AF0CBD054}" type="parTrans" cxnId="{8D933827-4891-4C00-B932-E23EFF6E7B58}">
      <dgm:prSet/>
      <dgm:spPr/>
      <dgm:t>
        <a:bodyPr/>
        <a:lstStyle/>
        <a:p>
          <a:endParaRPr lang="vi-VN"/>
        </a:p>
      </dgm:t>
    </dgm:pt>
    <dgm:pt modelId="{E55CD12E-E0CA-404A-8908-5D1C52C9A6C9}" type="sibTrans" cxnId="{8D933827-4891-4C00-B932-E23EFF6E7B58}">
      <dgm:prSet/>
      <dgm:spPr/>
      <dgm:t>
        <a:bodyPr/>
        <a:lstStyle/>
        <a:p>
          <a:endParaRPr lang="vi-VN"/>
        </a:p>
      </dgm:t>
    </dgm:pt>
    <dgm:pt modelId="{80E5AEDC-6445-467C-B373-B315DA5B97B1}" type="pres">
      <dgm:prSet presAssocID="{30B7B9D6-F305-48D0-9406-38A21A30CD5D}" presName="hierChild1" presStyleCnt="0">
        <dgm:presLayoutVars>
          <dgm:orgChart val="1"/>
          <dgm:chPref val="1"/>
          <dgm:dir/>
          <dgm:animOne val="branch"/>
          <dgm:animLvl val="lvl"/>
          <dgm:resizeHandles/>
        </dgm:presLayoutVars>
      </dgm:prSet>
      <dgm:spPr/>
      <dgm:t>
        <a:bodyPr/>
        <a:lstStyle/>
        <a:p>
          <a:endParaRPr lang="vi-VN"/>
        </a:p>
      </dgm:t>
    </dgm:pt>
    <dgm:pt modelId="{EEFED5EF-9331-4D31-9332-9940E567DACF}" type="pres">
      <dgm:prSet presAssocID="{5E2195DB-CFB2-4DD4-A092-3B7A9AEDBF6F}" presName="hierRoot1" presStyleCnt="0">
        <dgm:presLayoutVars>
          <dgm:hierBranch val="init"/>
        </dgm:presLayoutVars>
      </dgm:prSet>
      <dgm:spPr/>
    </dgm:pt>
    <dgm:pt modelId="{281989DA-675F-4F9A-8CBB-9AA3522222A5}" type="pres">
      <dgm:prSet presAssocID="{5E2195DB-CFB2-4DD4-A092-3B7A9AEDBF6F}" presName="rootComposite1" presStyleCnt="0"/>
      <dgm:spPr/>
    </dgm:pt>
    <dgm:pt modelId="{EE28B29B-412A-4757-8918-EF6D556D9A6F}" type="pres">
      <dgm:prSet presAssocID="{5E2195DB-CFB2-4DD4-A092-3B7A9AEDBF6F}" presName="rootText1" presStyleLbl="node0" presStyleIdx="0" presStyleCnt="1">
        <dgm:presLayoutVars>
          <dgm:chPref val="3"/>
        </dgm:presLayoutVars>
      </dgm:prSet>
      <dgm:spPr/>
      <dgm:t>
        <a:bodyPr/>
        <a:lstStyle/>
        <a:p>
          <a:endParaRPr lang="vi-VN"/>
        </a:p>
      </dgm:t>
    </dgm:pt>
    <dgm:pt modelId="{B223EE52-0E3B-40DC-A335-4576D2FE00B2}" type="pres">
      <dgm:prSet presAssocID="{5E2195DB-CFB2-4DD4-A092-3B7A9AEDBF6F}" presName="rootConnector1" presStyleLbl="node1" presStyleIdx="0" presStyleCnt="0"/>
      <dgm:spPr/>
      <dgm:t>
        <a:bodyPr/>
        <a:lstStyle/>
        <a:p>
          <a:endParaRPr lang="vi-VN"/>
        </a:p>
      </dgm:t>
    </dgm:pt>
    <dgm:pt modelId="{EA149CC1-3124-4510-B294-1EA9A4378AA3}" type="pres">
      <dgm:prSet presAssocID="{5E2195DB-CFB2-4DD4-A092-3B7A9AEDBF6F}" presName="hierChild2" presStyleCnt="0"/>
      <dgm:spPr/>
    </dgm:pt>
    <dgm:pt modelId="{422FF4E3-1CB4-49CB-A54D-701D0944D81D}" type="pres">
      <dgm:prSet presAssocID="{F97EA6C7-C3EF-48DB-9244-7D06DE203055}" presName="Name37" presStyleLbl="parChTrans1D2" presStyleIdx="0" presStyleCnt="3"/>
      <dgm:spPr/>
      <dgm:t>
        <a:bodyPr/>
        <a:lstStyle/>
        <a:p>
          <a:endParaRPr lang="vi-VN"/>
        </a:p>
      </dgm:t>
    </dgm:pt>
    <dgm:pt modelId="{7E64B283-013B-4D2E-8269-4F4C739FDAE8}" type="pres">
      <dgm:prSet presAssocID="{02049CC8-82D5-44EA-9D92-D6EFA1B703BC}" presName="hierRoot2" presStyleCnt="0">
        <dgm:presLayoutVars>
          <dgm:hierBranch val="init"/>
        </dgm:presLayoutVars>
      </dgm:prSet>
      <dgm:spPr/>
    </dgm:pt>
    <dgm:pt modelId="{AB7A7084-5D10-432D-AF92-2B576957EEB6}" type="pres">
      <dgm:prSet presAssocID="{02049CC8-82D5-44EA-9D92-D6EFA1B703BC}" presName="rootComposite" presStyleCnt="0"/>
      <dgm:spPr/>
    </dgm:pt>
    <dgm:pt modelId="{39A04E9D-AFB1-45F2-B2E2-824DE3569C6F}" type="pres">
      <dgm:prSet presAssocID="{02049CC8-82D5-44EA-9D92-D6EFA1B703BC}" presName="rootText" presStyleLbl="node2" presStyleIdx="0" presStyleCnt="3">
        <dgm:presLayoutVars>
          <dgm:chPref val="3"/>
        </dgm:presLayoutVars>
      </dgm:prSet>
      <dgm:spPr/>
      <dgm:t>
        <a:bodyPr/>
        <a:lstStyle/>
        <a:p>
          <a:endParaRPr lang="vi-VN"/>
        </a:p>
      </dgm:t>
    </dgm:pt>
    <dgm:pt modelId="{4F23BC7E-A143-4363-98D4-6EC1A3A4F248}" type="pres">
      <dgm:prSet presAssocID="{02049CC8-82D5-44EA-9D92-D6EFA1B703BC}" presName="rootConnector" presStyleLbl="node2" presStyleIdx="0" presStyleCnt="3"/>
      <dgm:spPr/>
      <dgm:t>
        <a:bodyPr/>
        <a:lstStyle/>
        <a:p>
          <a:endParaRPr lang="vi-VN"/>
        </a:p>
      </dgm:t>
    </dgm:pt>
    <dgm:pt modelId="{B83D0FD6-9E95-4659-A407-9CA8FB2BBDC0}" type="pres">
      <dgm:prSet presAssocID="{02049CC8-82D5-44EA-9D92-D6EFA1B703BC}" presName="hierChild4" presStyleCnt="0"/>
      <dgm:spPr/>
    </dgm:pt>
    <dgm:pt modelId="{84A683C4-BCC4-497A-87A4-79C2BE3D8D8F}" type="pres">
      <dgm:prSet presAssocID="{02049CC8-82D5-44EA-9D92-D6EFA1B703BC}" presName="hierChild5" presStyleCnt="0"/>
      <dgm:spPr/>
    </dgm:pt>
    <dgm:pt modelId="{3E6B3DAE-8EC4-467A-9EB6-626C97675A6F}" type="pres">
      <dgm:prSet presAssocID="{A1AC3550-8FD3-4DC2-9400-9687790F982E}" presName="Name37" presStyleLbl="parChTrans1D2" presStyleIdx="1" presStyleCnt="3"/>
      <dgm:spPr/>
      <dgm:t>
        <a:bodyPr/>
        <a:lstStyle/>
        <a:p>
          <a:endParaRPr lang="vi-VN"/>
        </a:p>
      </dgm:t>
    </dgm:pt>
    <dgm:pt modelId="{B1753F83-CBBA-4E99-B7BE-8ABB965F4AEE}" type="pres">
      <dgm:prSet presAssocID="{20F1A925-C0AF-4E69-A5AC-86BFF2F71BF7}" presName="hierRoot2" presStyleCnt="0">
        <dgm:presLayoutVars>
          <dgm:hierBranch val="init"/>
        </dgm:presLayoutVars>
      </dgm:prSet>
      <dgm:spPr/>
    </dgm:pt>
    <dgm:pt modelId="{426B9783-804B-4BDA-9CFD-4BDEE1D5602C}" type="pres">
      <dgm:prSet presAssocID="{20F1A925-C0AF-4E69-A5AC-86BFF2F71BF7}" presName="rootComposite" presStyleCnt="0"/>
      <dgm:spPr/>
    </dgm:pt>
    <dgm:pt modelId="{B21689EE-4302-4D98-9691-6485D4F38B60}" type="pres">
      <dgm:prSet presAssocID="{20F1A925-C0AF-4E69-A5AC-86BFF2F71BF7}" presName="rootText" presStyleLbl="node2" presStyleIdx="1" presStyleCnt="3">
        <dgm:presLayoutVars>
          <dgm:chPref val="3"/>
        </dgm:presLayoutVars>
      </dgm:prSet>
      <dgm:spPr/>
      <dgm:t>
        <a:bodyPr/>
        <a:lstStyle/>
        <a:p>
          <a:endParaRPr lang="vi-VN"/>
        </a:p>
      </dgm:t>
    </dgm:pt>
    <dgm:pt modelId="{2B539709-6798-4E8F-BCE4-DE104A52CA6E}" type="pres">
      <dgm:prSet presAssocID="{20F1A925-C0AF-4E69-A5AC-86BFF2F71BF7}" presName="rootConnector" presStyleLbl="node2" presStyleIdx="1" presStyleCnt="3"/>
      <dgm:spPr/>
      <dgm:t>
        <a:bodyPr/>
        <a:lstStyle/>
        <a:p>
          <a:endParaRPr lang="vi-VN"/>
        </a:p>
      </dgm:t>
    </dgm:pt>
    <dgm:pt modelId="{53ACEDAC-11BD-40E3-BA5F-2957BC6E7BCD}" type="pres">
      <dgm:prSet presAssocID="{20F1A925-C0AF-4E69-A5AC-86BFF2F71BF7}" presName="hierChild4" presStyleCnt="0"/>
      <dgm:spPr/>
    </dgm:pt>
    <dgm:pt modelId="{B322A174-F8BB-45B6-A84D-037D8C9C9BDE}" type="pres">
      <dgm:prSet presAssocID="{20F1A925-C0AF-4E69-A5AC-86BFF2F71BF7}" presName="hierChild5" presStyleCnt="0"/>
      <dgm:spPr/>
    </dgm:pt>
    <dgm:pt modelId="{32B01BEF-F1ED-445D-973D-94CE330C311A}" type="pres">
      <dgm:prSet presAssocID="{F9DA38B6-D862-4798-8693-E45AF0CBD054}" presName="Name37" presStyleLbl="parChTrans1D2" presStyleIdx="2" presStyleCnt="3"/>
      <dgm:spPr/>
      <dgm:t>
        <a:bodyPr/>
        <a:lstStyle/>
        <a:p>
          <a:endParaRPr lang="vi-VN"/>
        </a:p>
      </dgm:t>
    </dgm:pt>
    <dgm:pt modelId="{B507106F-1659-4422-937C-C2F320EB974A}" type="pres">
      <dgm:prSet presAssocID="{7F3D3637-3F8D-4214-A3AC-8CCC0321F2D6}" presName="hierRoot2" presStyleCnt="0">
        <dgm:presLayoutVars>
          <dgm:hierBranch val="init"/>
        </dgm:presLayoutVars>
      </dgm:prSet>
      <dgm:spPr/>
    </dgm:pt>
    <dgm:pt modelId="{3B74C655-32AC-4948-828E-92A82E32520A}" type="pres">
      <dgm:prSet presAssocID="{7F3D3637-3F8D-4214-A3AC-8CCC0321F2D6}" presName="rootComposite" presStyleCnt="0"/>
      <dgm:spPr/>
    </dgm:pt>
    <dgm:pt modelId="{C2AB1585-11FB-423B-8E2D-1F4690D5D5DC}" type="pres">
      <dgm:prSet presAssocID="{7F3D3637-3F8D-4214-A3AC-8CCC0321F2D6}" presName="rootText" presStyleLbl="node2" presStyleIdx="2" presStyleCnt="3">
        <dgm:presLayoutVars>
          <dgm:chPref val="3"/>
        </dgm:presLayoutVars>
      </dgm:prSet>
      <dgm:spPr/>
      <dgm:t>
        <a:bodyPr/>
        <a:lstStyle/>
        <a:p>
          <a:endParaRPr lang="vi-VN"/>
        </a:p>
      </dgm:t>
    </dgm:pt>
    <dgm:pt modelId="{420510F3-EABF-41CE-A3AF-3E7E7EAF2EB4}" type="pres">
      <dgm:prSet presAssocID="{7F3D3637-3F8D-4214-A3AC-8CCC0321F2D6}" presName="rootConnector" presStyleLbl="node2" presStyleIdx="2" presStyleCnt="3"/>
      <dgm:spPr/>
      <dgm:t>
        <a:bodyPr/>
        <a:lstStyle/>
        <a:p>
          <a:endParaRPr lang="vi-VN"/>
        </a:p>
      </dgm:t>
    </dgm:pt>
    <dgm:pt modelId="{0DFFE146-ED08-4D43-A2B0-20138A2EEE59}" type="pres">
      <dgm:prSet presAssocID="{7F3D3637-3F8D-4214-A3AC-8CCC0321F2D6}" presName="hierChild4" presStyleCnt="0"/>
      <dgm:spPr/>
    </dgm:pt>
    <dgm:pt modelId="{C679526B-B054-4CE4-9D24-8B4C3FAE5A6B}" type="pres">
      <dgm:prSet presAssocID="{7F3D3637-3F8D-4214-A3AC-8CCC0321F2D6}" presName="hierChild5" presStyleCnt="0"/>
      <dgm:spPr/>
    </dgm:pt>
    <dgm:pt modelId="{D68EFE1B-9BB9-4286-BCC3-96A02E523750}" type="pres">
      <dgm:prSet presAssocID="{5E2195DB-CFB2-4DD4-A092-3B7A9AEDBF6F}" presName="hierChild3" presStyleCnt="0"/>
      <dgm:spPr/>
    </dgm:pt>
  </dgm:ptLst>
  <dgm:cxnLst>
    <dgm:cxn modelId="{157694E5-04A2-47D8-BAF3-216966778126}" type="presOf" srcId="{5E2195DB-CFB2-4DD4-A092-3B7A9AEDBF6F}" destId="{B223EE52-0E3B-40DC-A335-4576D2FE00B2}" srcOrd="1" destOrd="0" presId="urn:microsoft.com/office/officeart/2005/8/layout/orgChart1"/>
    <dgm:cxn modelId="{C255E74B-08AE-426C-899A-72DE6AE2EBEF}" type="presOf" srcId="{30B7B9D6-F305-48D0-9406-38A21A30CD5D}" destId="{80E5AEDC-6445-467C-B373-B315DA5B97B1}" srcOrd="0" destOrd="0" presId="urn:microsoft.com/office/officeart/2005/8/layout/orgChart1"/>
    <dgm:cxn modelId="{0E249EF2-F736-4B90-B65F-283759E673AD}" type="presOf" srcId="{F9DA38B6-D862-4798-8693-E45AF0CBD054}" destId="{32B01BEF-F1ED-445D-973D-94CE330C311A}" srcOrd="0" destOrd="0" presId="urn:microsoft.com/office/officeart/2005/8/layout/orgChart1"/>
    <dgm:cxn modelId="{CAF42327-0E35-4416-B033-6B9938F4DBA4}" type="presOf" srcId="{7F3D3637-3F8D-4214-A3AC-8CCC0321F2D6}" destId="{C2AB1585-11FB-423B-8E2D-1F4690D5D5DC}" srcOrd="0" destOrd="0" presId="urn:microsoft.com/office/officeart/2005/8/layout/orgChart1"/>
    <dgm:cxn modelId="{3C26E3D7-81BD-4BBA-9D42-5627412988A4}" srcId="{5E2195DB-CFB2-4DD4-A092-3B7A9AEDBF6F}" destId="{02049CC8-82D5-44EA-9D92-D6EFA1B703BC}" srcOrd="0" destOrd="0" parTransId="{F97EA6C7-C3EF-48DB-9244-7D06DE203055}" sibTransId="{28A3B2F4-423E-4582-9719-D30EAF3D0BF0}"/>
    <dgm:cxn modelId="{CC33E414-B6D3-434E-B21B-B24262A2B3A6}" type="presOf" srcId="{20F1A925-C0AF-4E69-A5AC-86BFF2F71BF7}" destId="{B21689EE-4302-4D98-9691-6485D4F38B60}" srcOrd="0" destOrd="0" presId="urn:microsoft.com/office/officeart/2005/8/layout/orgChart1"/>
    <dgm:cxn modelId="{56EA9AC5-1F2E-473E-BBE4-64E96789EFB2}" type="presOf" srcId="{A1AC3550-8FD3-4DC2-9400-9687790F982E}" destId="{3E6B3DAE-8EC4-467A-9EB6-626C97675A6F}" srcOrd="0" destOrd="0" presId="urn:microsoft.com/office/officeart/2005/8/layout/orgChart1"/>
    <dgm:cxn modelId="{322828F4-48AE-4FDB-8D2F-C325F070AC01}" srcId="{30B7B9D6-F305-48D0-9406-38A21A30CD5D}" destId="{5E2195DB-CFB2-4DD4-A092-3B7A9AEDBF6F}" srcOrd="0" destOrd="0" parTransId="{5EC7609D-67B2-4C6A-AD18-96A7CFF10D4B}" sibTransId="{97B5E794-744C-4613-890B-544C56240026}"/>
    <dgm:cxn modelId="{CADDCEDE-D4E9-46D6-BEDE-3DD5C418626D}" type="presOf" srcId="{7F3D3637-3F8D-4214-A3AC-8CCC0321F2D6}" destId="{420510F3-EABF-41CE-A3AF-3E7E7EAF2EB4}" srcOrd="1" destOrd="0" presId="urn:microsoft.com/office/officeart/2005/8/layout/orgChart1"/>
    <dgm:cxn modelId="{3BF207C4-5EE7-421A-ABAC-9084A77502F0}" type="presOf" srcId="{02049CC8-82D5-44EA-9D92-D6EFA1B703BC}" destId="{4F23BC7E-A143-4363-98D4-6EC1A3A4F248}" srcOrd="1" destOrd="0" presId="urn:microsoft.com/office/officeart/2005/8/layout/orgChart1"/>
    <dgm:cxn modelId="{0EEE5F1D-F5CD-4EC3-9BFB-741950CA5130}" type="presOf" srcId="{F97EA6C7-C3EF-48DB-9244-7D06DE203055}" destId="{422FF4E3-1CB4-49CB-A54D-701D0944D81D}" srcOrd="0" destOrd="0" presId="urn:microsoft.com/office/officeart/2005/8/layout/orgChart1"/>
    <dgm:cxn modelId="{1842C353-CE9B-485C-B1A4-5FD09831DC54}" type="presOf" srcId="{20F1A925-C0AF-4E69-A5AC-86BFF2F71BF7}" destId="{2B539709-6798-4E8F-BCE4-DE104A52CA6E}" srcOrd="1" destOrd="0" presId="urn:microsoft.com/office/officeart/2005/8/layout/orgChart1"/>
    <dgm:cxn modelId="{3D426D06-8B66-4232-B0BB-9B3F357159DC}" type="presOf" srcId="{02049CC8-82D5-44EA-9D92-D6EFA1B703BC}" destId="{39A04E9D-AFB1-45F2-B2E2-824DE3569C6F}" srcOrd="0" destOrd="0" presId="urn:microsoft.com/office/officeart/2005/8/layout/orgChart1"/>
    <dgm:cxn modelId="{51104242-04C5-4B42-B33D-1592E5BAE2A2}" type="presOf" srcId="{5E2195DB-CFB2-4DD4-A092-3B7A9AEDBF6F}" destId="{EE28B29B-412A-4757-8918-EF6D556D9A6F}" srcOrd="0" destOrd="0" presId="urn:microsoft.com/office/officeart/2005/8/layout/orgChart1"/>
    <dgm:cxn modelId="{8D933827-4891-4C00-B932-E23EFF6E7B58}" srcId="{5E2195DB-CFB2-4DD4-A092-3B7A9AEDBF6F}" destId="{7F3D3637-3F8D-4214-A3AC-8CCC0321F2D6}" srcOrd="2" destOrd="0" parTransId="{F9DA38B6-D862-4798-8693-E45AF0CBD054}" sibTransId="{E55CD12E-E0CA-404A-8908-5D1C52C9A6C9}"/>
    <dgm:cxn modelId="{BCB35636-894A-4088-B008-94B21DC9283E}" srcId="{5E2195DB-CFB2-4DD4-A092-3B7A9AEDBF6F}" destId="{20F1A925-C0AF-4E69-A5AC-86BFF2F71BF7}" srcOrd="1" destOrd="0" parTransId="{A1AC3550-8FD3-4DC2-9400-9687790F982E}" sibTransId="{630870A7-2FB0-47CC-916A-64280747394F}"/>
    <dgm:cxn modelId="{692DE623-D618-4108-B8B8-CD4A2CD4C6B7}" type="presParOf" srcId="{80E5AEDC-6445-467C-B373-B315DA5B97B1}" destId="{EEFED5EF-9331-4D31-9332-9940E567DACF}" srcOrd="0" destOrd="0" presId="urn:microsoft.com/office/officeart/2005/8/layout/orgChart1"/>
    <dgm:cxn modelId="{41CC1BA4-D139-4445-9876-0503B0D0BE0A}" type="presParOf" srcId="{EEFED5EF-9331-4D31-9332-9940E567DACF}" destId="{281989DA-675F-4F9A-8CBB-9AA3522222A5}" srcOrd="0" destOrd="0" presId="urn:microsoft.com/office/officeart/2005/8/layout/orgChart1"/>
    <dgm:cxn modelId="{7182DBBB-0653-4CE0-9555-842BFE111831}" type="presParOf" srcId="{281989DA-675F-4F9A-8CBB-9AA3522222A5}" destId="{EE28B29B-412A-4757-8918-EF6D556D9A6F}" srcOrd="0" destOrd="0" presId="urn:microsoft.com/office/officeart/2005/8/layout/orgChart1"/>
    <dgm:cxn modelId="{792A066E-37AC-4184-9F54-C8278C5D8006}" type="presParOf" srcId="{281989DA-675F-4F9A-8CBB-9AA3522222A5}" destId="{B223EE52-0E3B-40DC-A335-4576D2FE00B2}" srcOrd="1" destOrd="0" presId="urn:microsoft.com/office/officeart/2005/8/layout/orgChart1"/>
    <dgm:cxn modelId="{FBA73CD8-AF38-4404-B10E-B44F0BFCBA4A}" type="presParOf" srcId="{EEFED5EF-9331-4D31-9332-9940E567DACF}" destId="{EA149CC1-3124-4510-B294-1EA9A4378AA3}" srcOrd="1" destOrd="0" presId="urn:microsoft.com/office/officeart/2005/8/layout/orgChart1"/>
    <dgm:cxn modelId="{4E44B406-33C3-4B41-AE66-BB27AE49A6BC}" type="presParOf" srcId="{EA149CC1-3124-4510-B294-1EA9A4378AA3}" destId="{422FF4E3-1CB4-49CB-A54D-701D0944D81D}" srcOrd="0" destOrd="0" presId="urn:microsoft.com/office/officeart/2005/8/layout/orgChart1"/>
    <dgm:cxn modelId="{E6800F22-A825-4B3F-A0B8-7FE6C99D07DC}" type="presParOf" srcId="{EA149CC1-3124-4510-B294-1EA9A4378AA3}" destId="{7E64B283-013B-4D2E-8269-4F4C739FDAE8}" srcOrd="1" destOrd="0" presId="urn:microsoft.com/office/officeart/2005/8/layout/orgChart1"/>
    <dgm:cxn modelId="{A925EDE1-FE4A-485A-B51F-D9B7B9533931}" type="presParOf" srcId="{7E64B283-013B-4D2E-8269-4F4C739FDAE8}" destId="{AB7A7084-5D10-432D-AF92-2B576957EEB6}" srcOrd="0" destOrd="0" presId="urn:microsoft.com/office/officeart/2005/8/layout/orgChart1"/>
    <dgm:cxn modelId="{0CD10227-4F41-4AD8-A864-FDBB8BE78EDE}" type="presParOf" srcId="{AB7A7084-5D10-432D-AF92-2B576957EEB6}" destId="{39A04E9D-AFB1-45F2-B2E2-824DE3569C6F}" srcOrd="0" destOrd="0" presId="urn:microsoft.com/office/officeart/2005/8/layout/orgChart1"/>
    <dgm:cxn modelId="{0C5252F7-AB94-441D-99D9-87E8C46B39E1}" type="presParOf" srcId="{AB7A7084-5D10-432D-AF92-2B576957EEB6}" destId="{4F23BC7E-A143-4363-98D4-6EC1A3A4F248}" srcOrd="1" destOrd="0" presId="urn:microsoft.com/office/officeart/2005/8/layout/orgChart1"/>
    <dgm:cxn modelId="{3C63CD57-9591-45F0-BF9A-57C8A43E6237}" type="presParOf" srcId="{7E64B283-013B-4D2E-8269-4F4C739FDAE8}" destId="{B83D0FD6-9E95-4659-A407-9CA8FB2BBDC0}" srcOrd="1" destOrd="0" presId="urn:microsoft.com/office/officeart/2005/8/layout/orgChart1"/>
    <dgm:cxn modelId="{4C7F57AD-7E72-4DD4-AFB3-9AA1E6F11DD4}" type="presParOf" srcId="{7E64B283-013B-4D2E-8269-4F4C739FDAE8}" destId="{84A683C4-BCC4-497A-87A4-79C2BE3D8D8F}" srcOrd="2" destOrd="0" presId="urn:microsoft.com/office/officeart/2005/8/layout/orgChart1"/>
    <dgm:cxn modelId="{6E915B17-3ED5-469A-AEAF-01D0CA71E04B}" type="presParOf" srcId="{EA149CC1-3124-4510-B294-1EA9A4378AA3}" destId="{3E6B3DAE-8EC4-467A-9EB6-626C97675A6F}" srcOrd="2" destOrd="0" presId="urn:microsoft.com/office/officeart/2005/8/layout/orgChart1"/>
    <dgm:cxn modelId="{5F129E42-A7BD-4837-A126-83B57831D8B6}" type="presParOf" srcId="{EA149CC1-3124-4510-B294-1EA9A4378AA3}" destId="{B1753F83-CBBA-4E99-B7BE-8ABB965F4AEE}" srcOrd="3" destOrd="0" presId="urn:microsoft.com/office/officeart/2005/8/layout/orgChart1"/>
    <dgm:cxn modelId="{13096A42-BED4-4381-BF68-F20FA3FD329F}" type="presParOf" srcId="{B1753F83-CBBA-4E99-B7BE-8ABB965F4AEE}" destId="{426B9783-804B-4BDA-9CFD-4BDEE1D5602C}" srcOrd="0" destOrd="0" presId="urn:microsoft.com/office/officeart/2005/8/layout/orgChart1"/>
    <dgm:cxn modelId="{38B5B071-8AA9-4017-9587-382F51B8C700}" type="presParOf" srcId="{426B9783-804B-4BDA-9CFD-4BDEE1D5602C}" destId="{B21689EE-4302-4D98-9691-6485D4F38B60}" srcOrd="0" destOrd="0" presId="urn:microsoft.com/office/officeart/2005/8/layout/orgChart1"/>
    <dgm:cxn modelId="{2D0B01FF-360B-403F-9AE4-DFBD222F2E36}" type="presParOf" srcId="{426B9783-804B-4BDA-9CFD-4BDEE1D5602C}" destId="{2B539709-6798-4E8F-BCE4-DE104A52CA6E}" srcOrd="1" destOrd="0" presId="urn:microsoft.com/office/officeart/2005/8/layout/orgChart1"/>
    <dgm:cxn modelId="{C4009675-3389-41A8-A0AD-E2808FB024A2}" type="presParOf" srcId="{B1753F83-CBBA-4E99-B7BE-8ABB965F4AEE}" destId="{53ACEDAC-11BD-40E3-BA5F-2957BC6E7BCD}" srcOrd="1" destOrd="0" presId="urn:microsoft.com/office/officeart/2005/8/layout/orgChart1"/>
    <dgm:cxn modelId="{72AA8E34-6E44-4B29-B183-BC5782F80DBE}" type="presParOf" srcId="{B1753F83-CBBA-4E99-B7BE-8ABB965F4AEE}" destId="{B322A174-F8BB-45B6-A84D-037D8C9C9BDE}" srcOrd="2" destOrd="0" presId="urn:microsoft.com/office/officeart/2005/8/layout/orgChart1"/>
    <dgm:cxn modelId="{1B98F6F0-F29A-4E78-BFCC-87878481F028}" type="presParOf" srcId="{EA149CC1-3124-4510-B294-1EA9A4378AA3}" destId="{32B01BEF-F1ED-445D-973D-94CE330C311A}" srcOrd="4" destOrd="0" presId="urn:microsoft.com/office/officeart/2005/8/layout/orgChart1"/>
    <dgm:cxn modelId="{F6EE84EC-0EBA-41E2-8184-B0A6234F6D57}" type="presParOf" srcId="{EA149CC1-3124-4510-B294-1EA9A4378AA3}" destId="{B507106F-1659-4422-937C-C2F320EB974A}" srcOrd="5" destOrd="0" presId="urn:microsoft.com/office/officeart/2005/8/layout/orgChart1"/>
    <dgm:cxn modelId="{7704BF64-5CF0-414C-9A07-DE9420F028DB}" type="presParOf" srcId="{B507106F-1659-4422-937C-C2F320EB974A}" destId="{3B74C655-32AC-4948-828E-92A82E32520A}" srcOrd="0" destOrd="0" presId="urn:microsoft.com/office/officeart/2005/8/layout/orgChart1"/>
    <dgm:cxn modelId="{3694FA2C-6CCA-45AF-8616-2401C0C16474}" type="presParOf" srcId="{3B74C655-32AC-4948-828E-92A82E32520A}" destId="{C2AB1585-11FB-423B-8E2D-1F4690D5D5DC}" srcOrd="0" destOrd="0" presId="urn:microsoft.com/office/officeart/2005/8/layout/orgChart1"/>
    <dgm:cxn modelId="{40246951-9B61-4313-9B55-0997688E1289}" type="presParOf" srcId="{3B74C655-32AC-4948-828E-92A82E32520A}" destId="{420510F3-EABF-41CE-A3AF-3E7E7EAF2EB4}" srcOrd="1" destOrd="0" presId="urn:microsoft.com/office/officeart/2005/8/layout/orgChart1"/>
    <dgm:cxn modelId="{1FABF2BD-C773-487C-8C68-2FE54248CCFA}" type="presParOf" srcId="{B507106F-1659-4422-937C-C2F320EB974A}" destId="{0DFFE146-ED08-4D43-A2B0-20138A2EEE59}" srcOrd="1" destOrd="0" presId="urn:microsoft.com/office/officeart/2005/8/layout/orgChart1"/>
    <dgm:cxn modelId="{0F66903A-D1C4-4542-A2F4-4D69537F388C}" type="presParOf" srcId="{B507106F-1659-4422-937C-C2F320EB974A}" destId="{C679526B-B054-4CE4-9D24-8B4C3FAE5A6B}" srcOrd="2" destOrd="0" presId="urn:microsoft.com/office/officeart/2005/8/layout/orgChart1"/>
    <dgm:cxn modelId="{C4015DE6-609A-4F97-80E1-EE1F871FEF25}" type="presParOf" srcId="{EEFED5EF-9331-4D31-9332-9940E567DACF}" destId="{D68EFE1B-9BB9-4286-BCC3-96A02E523750}"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6AFAD0D-2D75-42BA-96C4-0D6FF59997AE}"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vi-VN"/>
        </a:p>
      </dgm:t>
    </dgm:pt>
    <dgm:pt modelId="{1587CC30-B28E-47CC-B4C7-D8F660481D77}">
      <dgm:prSet phldrT="[Text]"/>
      <dgm:spPr>
        <a:solidFill>
          <a:srgbClr val="FF0000"/>
        </a:solidFill>
      </dgm:spPr>
      <dgm:t>
        <a:bodyPr/>
        <a:lstStyle/>
        <a:p>
          <a:r>
            <a:rPr lang="vi-VN" smtClean="0"/>
            <a:t>1</a:t>
          </a:r>
          <a:endParaRPr lang="vi-VN"/>
        </a:p>
      </dgm:t>
    </dgm:pt>
    <dgm:pt modelId="{2590361B-A16E-4B95-856B-1CB88CFB081C}" type="parTrans" cxnId="{EBEDE577-55FF-439E-8C9A-73264C571BB9}">
      <dgm:prSet/>
      <dgm:spPr/>
      <dgm:t>
        <a:bodyPr/>
        <a:lstStyle/>
        <a:p>
          <a:endParaRPr lang="vi-VN"/>
        </a:p>
      </dgm:t>
    </dgm:pt>
    <dgm:pt modelId="{4223F457-7BA3-408C-A7B5-ECDCDA782FB6}" type="sibTrans" cxnId="{EBEDE577-55FF-439E-8C9A-73264C571BB9}">
      <dgm:prSet/>
      <dgm:spPr/>
      <dgm:t>
        <a:bodyPr/>
        <a:lstStyle/>
        <a:p>
          <a:endParaRPr lang="vi-VN"/>
        </a:p>
      </dgm:t>
    </dgm:pt>
    <dgm:pt modelId="{2B040B69-7F29-400D-905F-3F7BB09DFA93}">
      <dgm:prSet phldrT="[Text]"/>
      <dgm:spPr/>
      <dgm:t>
        <a:bodyPr/>
        <a:lstStyle/>
        <a:p>
          <a:r>
            <a:rPr lang="vi-VN" smtClean="0"/>
            <a:t>Xác định nôn là cấp,mạn hay từng đợt tái diễn</a:t>
          </a:r>
          <a:endParaRPr lang="vi-VN"/>
        </a:p>
      </dgm:t>
    </dgm:pt>
    <dgm:pt modelId="{DF59BCD6-5BAD-4909-B78C-8AE31AC548AA}" type="parTrans" cxnId="{964B5DB7-EECA-4F7F-B9B0-99C1693C9A77}">
      <dgm:prSet/>
      <dgm:spPr/>
      <dgm:t>
        <a:bodyPr/>
        <a:lstStyle/>
        <a:p>
          <a:endParaRPr lang="vi-VN"/>
        </a:p>
      </dgm:t>
    </dgm:pt>
    <dgm:pt modelId="{90737F2C-F0FD-453F-8D97-2B57F937BC8D}" type="sibTrans" cxnId="{964B5DB7-EECA-4F7F-B9B0-99C1693C9A77}">
      <dgm:prSet/>
      <dgm:spPr/>
      <dgm:t>
        <a:bodyPr/>
        <a:lstStyle/>
        <a:p>
          <a:endParaRPr lang="vi-VN"/>
        </a:p>
      </dgm:t>
    </dgm:pt>
    <dgm:pt modelId="{B3AEAD8C-400D-4658-974B-B74DECE976A2}">
      <dgm:prSet phldrT="[Text]"/>
      <dgm:spPr>
        <a:solidFill>
          <a:srgbClr val="00B050"/>
        </a:solidFill>
      </dgm:spPr>
      <dgm:t>
        <a:bodyPr/>
        <a:lstStyle/>
        <a:p>
          <a:r>
            <a:rPr lang="vi-VN" smtClean="0"/>
            <a:t>2</a:t>
          </a:r>
          <a:endParaRPr lang="vi-VN"/>
        </a:p>
      </dgm:t>
    </dgm:pt>
    <dgm:pt modelId="{8887B7A3-9BD2-478E-AA36-BD773B0FBFF3}" type="parTrans" cxnId="{C4D0F2DA-35E9-4994-80D1-241ABD2C068A}">
      <dgm:prSet/>
      <dgm:spPr/>
      <dgm:t>
        <a:bodyPr/>
        <a:lstStyle/>
        <a:p>
          <a:endParaRPr lang="vi-VN"/>
        </a:p>
      </dgm:t>
    </dgm:pt>
    <dgm:pt modelId="{3D662AF6-5C9D-41AD-A385-A2F07E8A9C78}" type="sibTrans" cxnId="{C4D0F2DA-35E9-4994-80D1-241ABD2C068A}">
      <dgm:prSet/>
      <dgm:spPr/>
      <dgm:t>
        <a:bodyPr/>
        <a:lstStyle/>
        <a:p>
          <a:endParaRPr lang="vi-VN"/>
        </a:p>
      </dgm:t>
    </dgm:pt>
    <dgm:pt modelId="{1E7E7EAD-9DD3-4285-BBB3-0DB13C9D8B0F}">
      <dgm:prSet phldrT="[Text]"/>
      <dgm:spPr/>
      <dgm:t>
        <a:bodyPr/>
        <a:lstStyle/>
        <a:p>
          <a:r>
            <a:rPr lang="vi-VN" smtClean="0"/>
            <a:t>Đánh giá hậu quả và biến chứng của nôn</a:t>
          </a:r>
          <a:endParaRPr lang="vi-VN"/>
        </a:p>
      </dgm:t>
    </dgm:pt>
    <dgm:pt modelId="{BFE7F4DF-9085-41A4-A48E-13C02B2084FE}" type="parTrans" cxnId="{54A4365C-353E-44AA-87D1-2C83A459D623}">
      <dgm:prSet/>
      <dgm:spPr/>
      <dgm:t>
        <a:bodyPr/>
        <a:lstStyle/>
        <a:p>
          <a:endParaRPr lang="vi-VN"/>
        </a:p>
      </dgm:t>
    </dgm:pt>
    <dgm:pt modelId="{FFAA607F-0D3D-41A1-861C-D041D335B09E}" type="sibTrans" cxnId="{54A4365C-353E-44AA-87D1-2C83A459D623}">
      <dgm:prSet/>
      <dgm:spPr/>
      <dgm:t>
        <a:bodyPr/>
        <a:lstStyle/>
        <a:p>
          <a:endParaRPr lang="vi-VN"/>
        </a:p>
      </dgm:t>
    </dgm:pt>
    <dgm:pt modelId="{7E3B1AF6-6896-4FC1-A066-4DB06AE05556}">
      <dgm:prSet phldrT="[Text]"/>
      <dgm:spPr>
        <a:solidFill>
          <a:srgbClr val="0070C0"/>
        </a:solidFill>
      </dgm:spPr>
      <dgm:t>
        <a:bodyPr/>
        <a:lstStyle/>
        <a:p>
          <a:r>
            <a:rPr lang="vi-VN" smtClean="0"/>
            <a:t>3</a:t>
          </a:r>
          <a:endParaRPr lang="vi-VN"/>
        </a:p>
      </dgm:t>
    </dgm:pt>
    <dgm:pt modelId="{78884492-8DFB-4601-9C78-CDE29CD7E04B}" type="parTrans" cxnId="{324D6878-CBD4-4F15-A4C4-7BC5B9D89AF3}">
      <dgm:prSet/>
      <dgm:spPr/>
      <dgm:t>
        <a:bodyPr/>
        <a:lstStyle/>
        <a:p>
          <a:endParaRPr lang="vi-VN"/>
        </a:p>
      </dgm:t>
    </dgm:pt>
    <dgm:pt modelId="{C0B02F16-D3EE-4A02-A72E-1AC751EA8226}" type="sibTrans" cxnId="{324D6878-CBD4-4F15-A4C4-7BC5B9D89AF3}">
      <dgm:prSet/>
      <dgm:spPr/>
      <dgm:t>
        <a:bodyPr/>
        <a:lstStyle/>
        <a:p>
          <a:endParaRPr lang="vi-VN"/>
        </a:p>
      </dgm:t>
    </dgm:pt>
    <dgm:pt modelId="{D0BDA1E2-80D7-4CA8-8FA2-32E5FA94FDF8}">
      <dgm:prSet phldrT="[Text]"/>
      <dgm:spPr>
        <a:solidFill>
          <a:srgbClr val="C00000"/>
        </a:solidFill>
      </dgm:spPr>
      <dgm:t>
        <a:bodyPr/>
        <a:lstStyle/>
        <a:p>
          <a:r>
            <a:rPr lang="vi-VN" smtClean="0"/>
            <a:t>4</a:t>
          </a:r>
          <a:endParaRPr lang="vi-VN"/>
        </a:p>
      </dgm:t>
    </dgm:pt>
    <dgm:pt modelId="{ADD0FEDA-1860-4712-8FCA-5FC71DAD3ECC}" type="parTrans" cxnId="{1C05E99F-38E6-4949-9EEF-2293515BE3E0}">
      <dgm:prSet/>
      <dgm:spPr/>
      <dgm:t>
        <a:bodyPr/>
        <a:lstStyle/>
        <a:p>
          <a:endParaRPr lang="vi-VN"/>
        </a:p>
      </dgm:t>
    </dgm:pt>
    <dgm:pt modelId="{CE096127-85AD-49D8-841C-C5D5B485B1DB}" type="sibTrans" cxnId="{1C05E99F-38E6-4949-9EEF-2293515BE3E0}">
      <dgm:prSet/>
      <dgm:spPr/>
      <dgm:t>
        <a:bodyPr/>
        <a:lstStyle/>
        <a:p>
          <a:endParaRPr lang="vi-VN"/>
        </a:p>
      </dgm:t>
    </dgm:pt>
    <dgm:pt modelId="{90DBF92B-1ACC-4045-9036-2F7AA79C77B1}">
      <dgm:prSet phldrT="[Text]"/>
      <dgm:spPr/>
      <dgm:t>
        <a:bodyPr/>
        <a:lstStyle/>
        <a:p>
          <a:r>
            <a:rPr lang="vi-VN" smtClean="0"/>
            <a:t>Điều trị ngay trong các trường hợp cụ thể</a:t>
          </a:r>
          <a:endParaRPr lang="vi-VN"/>
        </a:p>
      </dgm:t>
    </dgm:pt>
    <dgm:pt modelId="{E714B7D9-6A5A-424E-8796-C9D1C5F2B9E9}" type="parTrans" cxnId="{3A033CE4-21D6-4454-8CF8-4E0FE5AB1D24}">
      <dgm:prSet/>
      <dgm:spPr/>
      <dgm:t>
        <a:bodyPr/>
        <a:lstStyle/>
        <a:p>
          <a:endParaRPr lang="vi-VN"/>
        </a:p>
      </dgm:t>
    </dgm:pt>
    <dgm:pt modelId="{C3B42501-AE01-4F4A-A17C-F491B6F2ED39}" type="sibTrans" cxnId="{3A033CE4-21D6-4454-8CF8-4E0FE5AB1D24}">
      <dgm:prSet/>
      <dgm:spPr/>
      <dgm:t>
        <a:bodyPr/>
        <a:lstStyle/>
        <a:p>
          <a:endParaRPr lang="vi-VN"/>
        </a:p>
      </dgm:t>
    </dgm:pt>
    <dgm:pt modelId="{4D4E3D50-BF63-4698-85CC-0E3D932A53A2}">
      <dgm:prSet/>
      <dgm:spPr/>
      <dgm:t>
        <a:bodyPr/>
        <a:lstStyle/>
        <a:p>
          <a:r>
            <a:rPr lang="vi-VN" smtClean="0"/>
            <a:t>Tìm nguyên nhân nôn ( ưu tiên loại trừ các nguyên nhân ngoại khoa và thần kinh  )</a:t>
          </a:r>
          <a:endParaRPr lang="vi-VN"/>
        </a:p>
      </dgm:t>
    </dgm:pt>
    <dgm:pt modelId="{E5A8F667-A427-410E-BD7E-D5ECB146E74F}" type="parTrans" cxnId="{DA4ED112-EDBC-4309-8A27-2D2DEA4913F3}">
      <dgm:prSet/>
      <dgm:spPr/>
      <dgm:t>
        <a:bodyPr/>
        <a:lstStyle/>
        <a:p>
          <a:endParaRPr lang="vi-VN"/>
        </a:p>
      </dgm:t>
    </dgm:pt>
    <dgm:pt modelId="{4E2E3CBA-F2C7-44C7-A751-1A8F241E2A71}" type="sibTrans" cxnId="{DA4ED112-EDBC-4309-8A27-2D2DEA4913F3}">
      <dgm:prSet/>
      <dgm:spPr/>
      <dgm:t>
        <a:bodyPr/>
        <a:lstStyle/>
        <a:p>
          <a:endParaRPr lang="vi-VN"/>
        </a:p>
      </dgm:t>
    </dgm:pt>
    <dgm:pt modelId="{15F5B387-E402-4B03-9D87-9431199F7488}" type="pres">
      <dgm:prSet presAssocID="{F6AFAD0D-2D75-42BA-96C4-0D6FF59997AE}" presName="linearFlow" presStyleCnt="0">
        <dgm:presLayoutVars>
          <dgm:dir/>
          <dgm:animLvl val="lvl"/>
          <dgm:resizeHandles val="exact"/>
        </dgm:presLayoutVars>
      </dgm:prSet>
      <dgm:spPr/>
      <dgm:t>
        <a:bodyPr/>
        <a:lstStyle/>
        <a:p>
          <a:endParaRPr lang="vi-VN"/>
        </a:p>
      </dgm:t>
    </dgm:pt>
    <dgm:pt modelId="{5211C08A-40CD-4538-974B-16A0FDD2A7E1}" type="pres">
      <dgm:prSet presAssocID="{1587CC30-B28E-47CC-B4C7-D8F660481D77}" presName="composite" presStyleCnt="0"/>
      <dgm:spPr/>
    </dgm:pt>
    <dgm:pt modelId="{AE2A84B1-90C4-4993-8E3C-63289D6094C2}" type="pres">
      <dgm:prSet presAssocID="{1587CC30-B28E-47CC-B4C7-D8F660481D77}" presName="parentText" presStyleLbl="alignNode1" presStyleIdx="0" presStyleCnt="4" custLinFactNeighborY="0">
        <dgm:presLayoutVars>
          <dgm:chMax val="1"/>
          <dgm:bulletEnabled val="1"/>
        </dgm:presLayoutVars>
      </dgm:prSet>
      <dgm:spPr/>
      <dgm:t>
        <a:bodyPr/>
        <a:lstStyle/>
        <a:p>
          <a:endParaRPr lang="vi-VN"/>
        </a:p>
      </dgm:t>
    </dgm:pt>
    <dgm:pt modelId="{DC4F71F8-426D-43A7-B75F-3CD1924C0384}" type="pres">
      <dgm:prSet presAssocID="{1587CC30-B28E-47CC-B4C7-D8F660481D77}" presName="descendantText" presStyleLbl="alignAcc1" presStyleIdx="0" presStyleCnt="4" custAng="0">
        <dgm:presLayoutVars>
          <dgm:bulletEnabled val="1"/>
        </dgm:presLayoutVars>
      </dgm:prSet>
      <dgm:spPr/>
      <dgm:t>
        <a:bodyPr/>
        <a:lstStyle/>
        <a:p>
          <a:endParaRPr lang="vi-VN"/>
        </a:p>
      </dgm:t>
    </dgm:pt>
    <dgm:pt modelId="{17D6887B-2A6E-4CF7-A0DE-EFDBFE82FE85}" type="pres">
      <dgm:prSet presAssocID="{4223F457-7BA3-408C-A7B5-ECDCDA782FB6}" presName="sp" presStyleCnt="0"/>
      <dgm:spPr/>
    </dgm:pt>
    <dgm:pt modelId="{80318E15-B3E0-4EBE-9A6D-70E807700E59}" type="pres">
      <dgm:prSet presAssocID="{B3AEAD8C-400D-4658-974B-B74DECE976A2}" presName="composite" presStyleCnt="0"/>
      <dgm:spPr/>
    </dgm:pt>
    <dgm:pt modelId="{E10C4EFD-B867-4DF4-8864-2D45CD581C97}" type="pres">
      <dgm:prSet presAssocID="{B3AEAD8C-400D-4658-974B-B74DECE976A2}" presName="parentText" presStyleLbl="alignNode1" presStyleIdx="1" presStyleCnt="4">
        <dgm:presLayoutVars>
          <dgm:chMax val="1"/>
          <dgm:bulletEnabled val="1"/>
        </dgm:presLayoutVars>
      </dgm:prSet>
      <dgm:spPr/>
      <dgm:t>
        <a:bodyPr/>
        <a:lstStyle/>
        <a:p>
          <a:endParaRPr lang="vi-VN"/>
        </a:p>
      </dgm:t>
    </dgm:pt>
    <dgm:pt modelId="{7F088FF7-C4D5-4990-9A44-18438E029A61}" type="pres">
      <dgm:prSet presAssocID="{B3AEAD8C-400D-4658-974B-B74DECE976A2}" presName="descendantText" presStyleLbl="alignAcc1" presStyleIdx="1" presStyleCnt="4">
        <dgm:presLayoutVars>
          <dgm:bulletEnabled val="1"/>
        </dgm:presLayoutVars>
      </dgm:prSet>
      <dgm:spPr/>
      <dgm:t>
        <a:bodyPr/>
        <a:lstStyle/>
        <a:p>
          <a:endParaRPr lang="vi-VN"/>
        </a:p>
      </dgm:t>
    </dgm:pt>
    <dgm:pt modelId="{427BB527-0194-430A-9FD3-BB2629F1422B}" type="pres">
      <dgm:prSet presAssocID="{3D662AF6-5C9D-41AD-A385-A2F07E8A9C78}" presName="sp" presStyleCnt="0"/>
      <dgm:spPr/>
    </dgm:pt>
    <dgm:pt modelId="{27B9647D-AAC7-49ED-B88B-5BC42403F873}" type="pres">
      <dgm:prSet presAssocID="{7E3B1AF6-6896-4FC1-A066-4DB06AE05556}" presName="composite" presStyleCnt="0"/>
      <dgm:spPr/>
    </dgm:pt>
    <dgm:pt modelId="{813865CD-9D6C-4C18-A1C3-378461C2BFF6}" type="pres">
      <dgm:prSet presAssocID="{7E3B1AF6-6896-4FC1-A066-4DB06AE05556}" presName="parentText" presStyleLbl="alignNode1" presStyleIdx="2" presStyleCnt="4">
        <dgm:presLayoutVars>
          <dgm:chMax val="1"/>
          <dgm:bulletEnabled val="1"/>
        </dgm:presLayoutVars>
      </dgm:prSet>
      <dgm:spPr/>
      <dgm:t>
        <a:bodyPr/>
        <a:lstStyle/>
        <a:p>
          <a:endParaRPr lang="vi-VN"/>
        </a:p>
      </dgm:t>
    </dgm:pt>
    <dgm:pt modelId="{AFEA88B4-82A8-40BF-9749-A4AFF9E41A8B}" type="pres">
      <dgm:prSet presAssocID="{7E3B1AF6-6896-4FC1-A066-4DB06AE05556}" presName="descendantText" presStyleLbl="alignAcc1" presStyleIdx="2" presStyleCnt="4">
        <dgm:presLayoutVars>
          <dgm:bulletEnabled val="1"/>
        </dgm:presLayoutVars>
      </dgm:prSet>
      <dgm:spPr/>
      <dgm:t>
        <a:bodyPr/>
        <a:lstStyle/>
        <a:p>
          <a:endParaRPr lang="vi-VN"/>
        </a:p>
      </dgm:t>
    </dgm:pt>
    <dgm:pt modelId="{62BA13D6-93BF-4723-BB31-EEF2F3DAFEAD}" type="pres">
      <dgm:prSet presAssocID="{C0B02F16-D3EE-4A02-A72E-1AC751EA8226}" presName="sp" presStyleCnt="0"/>
      <dgm:spPr/>
    </dgm:pt>
    <dgm:pt modelId="{482B657D-88AD-4ACE-9B25-0D0ABDE1C662}" type="pres">
      <dgm:prSet presAssocID="{D0BDA1E2-80D7-4CA8-8FA2-32E5FA94FDF8}" presName="composite" presStyleCnt="0"/>
      <dgm:spPr/>
    </dgm:pt>
    <dgm:pt modelId="{8730DF4C-F5DD-499F-AC6B-DF04835A41A1}" type="pres">
      <dgm:prSet presAssocID="{D0BDA1E2-80D7-4CA8-8FA2-32E5FA94FDF8}" presName="parentText" presStyleLbl="alignNode1" presStyleIdx="3" presStyleCnt="4">
        <dgm:presLayoutVars>
          <dgm:chMax val="1"/>
          <dgm:bulletEnabled val="1"/>
        </dgm:presLayoutVars>
      </dgm:prSet>
      <dgm:spPr/>
      <dgm:t>
        <a:bodyPr/>
        <a:lstStyle/>
        <a:p>
          <a:endParaRPr lang="vi-VN"/>
        </a:p>
      </dgm:t>
    </dgm:pt>
    <dgm:pt modelId="{36E43D09-5C59-472D-9F12-97555FAB8DF7}" type="pres">
      <dgm:prSet presAssocID="{D0BDA1E2-80D7-4CA8-8FA2-32E5FA94FDF8}" presName="descendantText" presStyleLbl="alignAcc1" presStyleIdx="3" presStyleCnt="4">
        <dgm:presLayoutVars>
          <dgm:bulletEnabled val="1"/>
        </dgm:presLayoutVars>
      </dgm:prSet>
      <dgm:spPr/>
      <dgm:t>
        <a:bodyPr/>
        <a:lstStyle/>
        <a:p>
          <a:endParaRPr lang="vi-VN"/>
        </a:p>
      </dgm:t>
    </dgm:pt>
  </dgm:ptLst>
  <dgm:cxnLst>
    <dgm:cxn modelId="{9EAE63DD-D050-4D3C-9FB9-C7B99C96EAF8}" type="presOf" srcId="{4D4E3D50-BF63-4698-85CC-0E3D932A53A2}" destId="{AFEA88B4-82A8-40BF-9749-A4AFF9E41A8B}" srcOrd="0" destOrd="0" presId="urn:microsoft.com/office/officeart/2005/8/layout/chevron2"/>
    <dgm:cxn modelId="{964B5DB7-EECA-4F7F-B9B0-99C1693C9A77}" srcId="{1587CC30-B28E-47CC-B4C7-D8F660481D77}" destId="{2B040B69-7F29-400D-905F-3F7BB09DFA93}" srcOrd="0" destOrd="0" parTransId="{DF59BCD6-5BAD-4909-B78C-8AE31AC548AA}" sibTransId="{90737F2C-F0FD-453F-8D97-2B57F937BC8D}"/>
    <dgm:cxn modelId="{8F974D49-D48F-437F-BCAA-BCCF31E8799C}" type="presOf" srcId="{2B040B69-7F29-400D-905F-3F7BB09DFA93}" destId="{DC4F71F8-426D-43A7-B75F-3CD1924C0384}" srcOrd="0" destOrd="0" presId="urn:microsoft.com/office/officeart/2005/8/layout/chevron2"/>
    <dgm:cxn modelId="{EBEDE577-55FF-439E-8C9A-73264C571BB9}" srcId="{F6AFAD0D-2D75-42BA-96C4-0D6FF59997AE}" destId="{1587CC30-B28E-47CC-B4C7-D8F660481D77}" srcOrd="0" destOrd="0" parTransId="{2590361B-A16E-4B95-856B-1CB88CFB081C}" sibTransId="{4223F457-7BA3-408C-A7B5-ECDCDA782FB6}"/>
    <dgm:cxn modelId="{268A7359-1C43-4FD2-8113-F5590E2DFCEE}" type="presOf" srcId="{D0BDA1E2-80D7-4CA8-8FA2-32E5FA94FDF8}" destId="{8730DF4C-F5DD-499F-AC6B-DF04835A41A1}" srcOrd="0" destOrd="0" presId="urn:microsoft.com/office/officeart/2005/8/layout/chevron2"/>
    <dgm:cxn modelId="{0BFDC795-7B8B-4273-BACF-039587DE537F}" type="presOf" srcId="{B3AEAD8C-400D-4658-974B-B74DECE976A2}" destId="{E10C4EFD-B867-4DF4-8864-2D45CD581C97}" srcOrd="0" destOrd="0" presId="urn:microsoft.com/office/officeart/2005/8/layout/chevron2"/>
    <dgm:cxn modelId="{5E729AE4-3C00-4E6F-B7AF-938324633772}" type="presOf" srcId="{90DBF92B-1ACC-4045-9036-2F7AA79C77B1}" destId="{36E43D09-5C59-472D-9F12-97555FAB8DF7}" srcOrd="0" destOrd="0" presId="urn:microsoft.com/office/officeart/2005/8/layout/chevron2"/>
    <dgm:cxn modelId="{F40F9F5A-5742-412D-99EE-783E2128C657}" type="presOf" srcId="{F6AFAD0D-2D75-42BA-96C4-0D6FF59997AE}" destId="{15F5B387-E402-4B03-9D87-9431199F7488}" srcOrd="0" destOrd="0" presId="urn:microsoft.com/office/officeart/2005/8/layout/chevron2"/>
    <dgm:cxn modelId="{DA4ED112-EDBC-4309-8A27-2D2DEA4913F3}" srcId="{7E3B1AF6-6896-4FC1-A066-4DB06AE05556}" destId="{4D4E3D50-BF63-4698-85CC-0E3D932A53A2}" srcOrd="0" destOrd="0" parTransId="{E5A8F667-A427-410E-BD7E-D5ECB146E74F}" sibTransId="{4E2E3CBA-F2C7-44C7-A751-1A8F241E2A71}"/>
    <dgm:cxn modelId="{324D6878-CBD4-4F15-A4C4-7BC5B9D89AF3}" srcId="{F6AFAD0D-2D75-42BA-96C4-0D6FF59997AE}" destId="{7E3B1AF6-6896-4FC1-A066-4DB06AE05556}" srcOrd="2" destOrd="0" parTransId="{78884492-8DFB-4601-9C78-CDE29CD7E04B}" sibTransId="{C0B02F16-D3EE-4A02-A72E-1AC751EA8226}"/>
    <dgm:cxn modelId="{13663C11-9A8D-48EB-9107-264D7A75EF77}" type="presOf" srcId="{1E7E7EAD-9DD3-4285-BBB3-0DB13C9D8B0F}" destId="{7F088FF7-C4D5-4990-9A44-18438E029A61}" srcOrd="0" destOrd="0" presId="urn:microsoft.com/office/officeart/2005/8/layout/chevron2"/>
    <dgm:cxn modelId="{90691058-601E-4342-9D6B-0B99719E5B4E}" type="presOf" srcId="{1587CC30-B28E-47CC-B4C7-D8F660481D77}" destId="{AE2A84B1-90C4-4993-8E3C-63289D6094C2}" srcOrd="0" destOrd="0" presId="urn:microsoft.com/office/officeart/2005/8/layout/chevron2"/>
    <dgm:cxn modelId="{64E845B3-47FB-41FA-9C58-4F386CF4BF40}" type="presOf" srcId="{7E3B1AF6-6896-4FC1-A066-4DB06AE05556}" destId="{813865CD-9D6C-4C18-A1C3-378461C2BFF6}" srcOrd="0" destOrd="0" presId="urn:microsoft.com/office/officeart/2005/8/layout/chevron2"/>
    <dgm:cxn modelId="{54A4365C-353E-44AA-87D1-2C83A459D623}" srcId="{B3AEAD8C-400D-4658-974B-B74DECE976A2}" destId="{1E7E7EAD-9DD3-4285-BBB3-0DB13C9D8B0F}" srcOrd="0" destOrd="0" parTransId="{BFE7F4DF-9085-41A4-A48E-13C02B2084FE}" sibTransId="{FFAA607F-0D3D-41A1-861C-D041D335B09E}"/>
    <dgm:cxn modelId="{3A033CE4-21D6-4454-8CF8-4E0FE5AB1D24}" srcId="{D0BDA1E2-80D7-4CA8-8FA2-32E5FA94FDF8}" destId="{90DBF92B-1ACC-4045-9036-2F7AA79C77B1}" srcOrd="0" destOrd="0" parTransId="{E714B7D9-6A5A-424E-8796-C9D1C5F2B9E9}" sibTransId="{C3B42501-AE01-4F4A-A17C-F491B6F2ED39}"/>
    <dgm:cxn modelId="{1C05E99F-38E6-4949-9EEF-2293515BE3E0}" srcId="{F6AFAD0D-2D75-42BA-96C4-0D6FF59997AE}" destId="{D0BDA1E2-80D7-4CA8-8FA2-32E5FA94FDF8}" srcOrd="3" destOrd="0" parTransId="{ADD0FEDA-1860-4712-8FCA-5FC71DAD3ECC}" sibTransId="{CE096127-85AD-49D8-841C-C5D5B485B1DB}"/>
    <dgm:cxn modelId="{C4D0F2DA-35E9-4994-80D1-241ABD2C068A}" srcId="{F6AFAD0D-2D75-42BA-96C4-0D6FF59997AE}" destId="{B3AEAD8C-400D-4658-974B-B74DECE976A2}" srcOrd="1" destOrd="0" parTransId="{8887B7A3-9BD2-478E-AA36-BD773B0FBFF3}" sibTransId="{3D662AF6-5C9D-41AD-A385-A2F07E8A9C78}"/>
    <dgm:cxn modelId="{DABF51A2-424A-456D-8302-B66899F2DDC6}" type="presParOf" srcId="{15F5B387-E402-4B03-9D87-9431199F7488}" destId="{5211C08A-40CD-4538-974B-16A0FDD2A7E1}" srcOrd="0" destOrd="0" presId="urn:microsoft.com/office/officeart/2005/8/layout/chevron2"/>
    <dgm:cxn modelId="{C27DC89B-2EF7-4C9A-9058-CFC2051DA24A}" type="presParOf" srcId="{5211C08A-40CD-4538-974B-16A0FDD2A7E1}" destId="{AE2A84B1-90C4-4993-8E3C-63289D6094C2}" srcOrd="0" destOrd="0" presId="urn:microsoft.com/office/officeart/2005/8/layout/chevron2"/>
    <dgm:cxn modelId="{1BE1474B-82B1-4608-BEA1-4A59B264434A}" type="presParOf" srcId="{5211C08A-40CD-4538-974B-16A0FDD2A7E1}" destId="{DC4F71F8-426D-43A7-B75F-3CD1924C0384}" srcOrd="1" destOrd="0" presId="urn:microsoft.com/office/officeart/2005/8/layout/chevron2"/>
    <dgm:cxn modelId="{64F20A42-6212-4F33-907D-A248024CDD12}" type="presParOf" srcId="{15F5B387-E402-4B03-9D87-9431199F7488}" destId="{17D6887B-2A6E-4CF7-A0DE-EFDBFE82FE85}" srcOrd="1" destOrd="0" presId="urn:microsoft.com/office/officeart/2005/8/layout/chevron2"/>
    <dgm:cxn modelId="{7D3EF6A6-D57B-4915-87D9-CB4D56CA37E3}" type="presParOf" srcId="{15F5B387-E402-4B03-9D87-9431199F7488}" destId="{80318E15-B3E0-4EBE-9A6D-70E807700E59}" srcOrd="2" destOrd="0" presId="urn:microsoft.com/office/officeart/2005/8/layout/chevron2"/>
    <dgm:cxn modelId="{48524FF7-DE29-4098-990E-6878FE75EA1C}" type="presParOf" srcId="{80318E15-B3E0-4EBE-9A6D-70E807700E59}" destId="{E10C4EFD-B867-4DF4-8864-2D45CD581C97}" srcOrd="0" destOrd="0" presId="urn:microsoft.com/office/officeart/2005/8/layout/chevron2"/>
    <dgm:cxn modelId="{37019B3E-30BB-4942-907D-DAE65D79AE47}" type="presParOf" srcId="{80318E15-B3E0-4EBE-9A6D-70E807700E59}" destId="{7F088FF7-C4D5-4990-9A44-18438E029A61}" srcOrd="1" destOrd="0" presId="urn:microsoft.com/office/officeart/2005/8/layout/chevron2"/>
    <dgm:cxn modelId="{5EFC1BE2-0994-4098-8A5D-A0AA8C989725}" type="presParOf" srcId="{15F5B387-E402-4B03-9D87-9431199F7488}" destId="{427BB527-0194-430A-9FD3-BB2629F1422B}" srcOrd="3" destOrd="0" presId="urn:microsoft.com/office/officeart/2005/8/layout/chevron2"/>
    <dgm:cxn modelId="{C1CC08EA-D29A-4784-A219-81366AA92852}" type="presParOf" srcId="{15F5B387-E402-4B03-9D87-9431199F7488}" destId="{27B9647D-AAC7-49ED-B88B-5BC42403F873}" srcOrd="4" destOrd="0" presId="urn:microsoft.com/office/officeart/2005/8/layout/chevron2"/>
    <dgm:cxn modelId="{F0C91EC9-72D2-4D1E-A749-BED4CD6633F9}" type="presParOf" srcId="{27B9647D-AAC7-49ED-B88B-5BC42403F873}" destId="{813865CD-9D6C-4C18-A1C3-378461C2BFF6}" srcOrd="0" destOrd="0" presId="urn:microsoft.com/office/officeart/2005/8/layout/chevron2"/>
    <dgm:cxn modelId="{B2FC363A-DDE4-43FC-947D-C378B1A65A15}" type="presParOf" srcId="{27B9647D-AAC7-49ED-B88B-5BC42403F873}" destId="{AFEA88B4-82A8-40BF-9749-A4AFF9E41A8B}" srcOrd="1" destOrd="0" presId="urn:microsoft.com/office/officeart/2005/8/layout/chevron2"/>
    <dgm:cxn modelId="{AB551D41-0B0C-4341-A0C2-C3A70426A96F}" type="presParOf" srcId="{15F5B387-E402-4B03-9D87-9431199F7488}" destId="{62BA13D6-93BF-4723-BB31-EEF2F3DAFEAD}" srcOrd="5" destOrd="0" presId="urn:microsoft.com/office/officeart/2005/8/layout/chevron2"/>
    <dgm:cxn modelId="{FD499CF2-CE54-4BC2-AC23-94DE62ACFE89}" type="presParOf" srcId="{15F5B387-E402-4B03-9D87-9431199F7488}" destId="{482B657D-88AD-4ACE-9B25-0D0ABDE1C662}" srcOrd="6" destOrd="0" presId="urn:microsoft.com/office/officeart/2005/8/layout/chevron2"/>
    <dgm:cxn modelId="{381B4ED7-8D3C-4556-99BD-D805435A1717}" type="presParOf" srcId="{482B657D-88AD-4ACE-9B25-0D0ABDE1C662}" destId="{8730DF4C-F5DD-499F-AC6B-DF04835A41A1}" srcOrd="0" destOrd="0" presId="urn:microsoft.com/office/officeart/2005/8/layout/chevron2"/>
    <dgm:cxn modelId="{D0C7DDEF-D6B1-4B36-A8D6-EBEEEBD11DEA}" type="presParOf" srcId="{482B657D-88AD-4ACE-9B25-0D0ABDE1C662}" destId="{36E43D09-5C59-472D-9F12-97555FAB8DF7}"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54DE450-13CD-4AEB-9E1B-39E6AC44D8C6}"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vi-VN"/>
        </a:p>
      </dgm:t>
    </dgm:pt>
    <dgm:pt modelId="{5F46E3D8-A2ED-4D78-870E-045E371F0736}">
      <dgm:prSet phldrT="[Text]"/>
      <dgm:spPr/>
      <dgm:t>
        <a:bodyPr/>
        <a:lstStyle/>
        <a:p>
          <a:pPr algn="l"/>
          <a:r>
            <a:rPr lang="vi-VN" smtClean="0"/>
            <a:t>Điều trị theo nguyên nhân</a:t>
          </a:r>
          <a:endParaRPr lang="vi-VN"/>
        </a:p>
      </dgm:t>
    </dgm:pt>
    <dgm:pt modelId="{74637930-C569-4346-AFCA-709B12E23CC0}" type="parTrans" cxnId="{6735E188-66FB-4DD9-9824-3C786EE5DA90}">
      <dgm:prSet/>
      <dgm:spPr/>
      <dgm:t>
        <a:bodyPr/>
        <a:lstStyle/>
        <a:p>
          <a:endParaRPr lang="vi-VN"/>
        </a:p>
      </dgm:t>
    </dgm:pt>
    <dgm:pt modelId="{8F347BBF-421C-49B2-BBF9-2856F9A92FED}" type="sibTrans" cxnId="{6735E188-66FB-4DD9-9824-3C786EE5DA90}">
      <dgm:prSet/>
      <dgm:spPr/>
      <dgm:t>
        <a:bodyPr/>
        <a:lstStyle/>
        <a:p>
          <a:endParaRPr lang="vi-VN"/>
        </a:p>
      </dgm:t>
    </dgm:pt>
    <dgm:pt modelId="{F6AA7B60-3405-4F6E-8205-254B6015EB0A}">
      <dgm:prSet phldrT="[Text]"/>
      <dgm:spPr/>
      <dgm:t>
        <a:bodyPr/>
        <a:lstStyle/>
        <a:p>
          <a:r>
            <a:rPr lang="vi-VN" smtClean="0"/>
            <a:t>Xử trí kịp thời và ngăn chặn các biến chứng của nôn</a:t>
          </a:r>
          <a:endParaRPr lang="vi-VN"/>
        </a:p>
      </dgm:t>
    </dgm:pt>
    <dgm:pt modelId="{5AF6B212-D37C-46DB-B003-F38468736062}" type="parTrans" cxnId="{B435923F-B4AE-425E-986B-49C18C472519}">
      <dgm:prSet/>
      <dgm:spPr/>
      <dgm:t>
        <a:bodyPr/>
        <a:lstStyle/>
        <a:p>
          <a:endParaRPr lang="vi-VN"/>
        </a:p>
      </dgm:t>
    </dgm:pt>
    <dgm:pt modelId="{24ECCFF8-F70C-48A4-BE29-4217B9DEAC60}" type="sibTrans" cxnId="{B435923F-B4AE-425E-986B-49C18C472519}">
      <dgm:prSet/>
      <dgm:spPr/>
      <dgm:t>
        <a:bodyPr/>
        <a:lstStyle/>
        <a:p>
          <a:endParaRPr lang="vi-VN"/>
        </a:p>
      </dgm:t>
    </dgm:pt>
    <dgm:pt modelId="{BAD92F09-94CB-4EB2-B175-5AD2912E3903}">
      <dgm:prSet phldrT="[Text]"/>
      <dgm:spPr/>
      <dgm:t>
        <a:bodyPr/>
        <a:lstStyle/>
        <a:p>
          <a:r>
            <a:rPr lang="vi-VN" smtClean="0"/>
            <a:t>Điều trị triệu chứng bằng thuốc giảm nôn một cách hợp lý</a:t>
          </a:r>
        </a:p>
      </dgm:t>
    </dgm:pt>
    <dgm:pt modelId="{715C4BEE-93AF-491A-ABA8-D69EF1ED1402}" type="parTrans" cxnId="{1905E704-961C-4F8D-A1BA-44D21EF19859}">
      <dgm:prSet/>
      <dgm:spPr/>
      <dgm:t>
        <a:bodyPr/>
        <a:lstStyle/>
        <a:p>
          <a:endParaRPr lang="vi-VN"/>
        </a:p>
      </dgm:t>
    </dgm:pt>
    <dgm:pt modelId="{C15707EB-44C8-4504-8603-F62140DAB1CB}" type="sibTrans" cxnId="{1905E704-961C-4F8D-A1BA-44D21EF19859}">
      <dgm:prSet/>
      <dgm:spPr/>
      <dgm:t>
        <a:bodyPr/>
        <a:lstStyle/>
        <a:p>
          <a:endParaRPr lang="vi-VN"/>
        </a:p>
      </dgm:t>
    </dgm:pt>
    <dgm:pt modelId="{9E3A7A99-F3BE-4676-A9EC-BADD9A18F63A}">
      <dgm:prSet phldrT="[Text]"/>
      <dgm:spPr/>
      <dgm:t>
        <a:bodyPr/>
        <a:lstStyle/>
        <a:p>
          <a:r>
            <a:rPr lang="vi-VN" smtClean="0"/>
            <a:t>Các can thiệp về nhận thức và hành vi đối với nôn tâm thần,khó tiêu chức năng,chứng cuồng ăn,hội chứng nhai lại</a:t>
          </a:r>
        </a:p>
      </dgm:t>
    </dgm:pt>
    <dgm:pt modelId="{62DB03BC-9979-4F82-9392-2CCED0011AC6}" type="parTrans" cxnId="{77B4E8DD-1EB6-472D-9866-9388B8031319}">
      <dgm:prSet/>
      <dgm:spPr/>
      <dgm:t>
        <a:bodyPr/>
        <a:lstStyle/>
        <a:p>
          <a:endParaRPr lang="vi-VN"/>
        </a:p>
      </dgm:t>
    </dgm:pt>
    <dgm:pt modelId="{AB1F36A0-5A48-49B4-BE4F-FA8F3398B35B}" type="sibTrans" cxnId="{77B4E8DD-1EB6-472D-9866-9388B8031319}">
      <dgm:prSet/>
      <dgm:spPr/>
      <dgm:t>
        <a:bodyPr/>
        <a:lstStyle/>
        <a:p>
          <a:endParaRPr lang="vi-VN"/>
        </a:p>
      </dgm:t>
    </dgm:pt>
    <dgm:pt modelId="{3D5F947B-BF06-447A-9C72-3359C35D4959}" type="pres">
      <dgm:prSet presAssocID="{E54DE450-13CD-4AEB-9E1B-39E6AC44D8C6}" presName="Name0" presStyleCnt="0">
        <dgm:presLayoutVars>
          <dgm:chMax val="7"/>
          <dgm:chPref val="7"/>
          <dgm:dir/>
        </dgm:presLayoutVars>
      </dgm:prSet>
      <dgm:spPr/>
      <dgm:t>
        <a:bodyPr/>
        <a:lstStyle/>
        <a:p>
          <a:endParaRPr lang="vi-VN"/>
        </a:p>
      </dgm:t>
    </dgm:pt>
    <dgm:pt modelId="{268599FA-BB94-45B3-8712-8AE6DD9E8783}" type="pres">
      <dgm:prSet presAssocID="{E54DE450-13CD-4AEB-9E1B-39E6AC44D8C6}" presName="Name1" presStyleCnt="0"/>
      <dgm:spPr/>
    </dgm:pt>
    <dgm:pt modelId="{1A62D950-FD7E-4F9C-BAE4-AA8001B64348}" type="pres">
      <dgm:prSet presAssocID="{E54DE450-13CD-4AEB-9E1B-39E6AC44D8C6}" presName="cycle" presStyleCnt="0"/>
      <dgm:spPr/>
    </dgm:pt>
    <dgm:pt modelId="{77F8B72C-1D75-4A54-8298-0D98537F1724}" type="pres">
      <dgm:prSet presAssocID="{E54DE450-13CD-4AEB-9E1B-39E6AC44D8C6}" presName="srcNode" presStyleLbl="node1" presStyleIdx="0" presStyleCnt="4"/>
      <dgm:spPr/>
    </dgm:pt>
    <dgm:pt modelId="{2641665A-518F-4DF9-BFB4-6798610A5C4B}" type="pres">
      <dgm:prSet presAssocID="{E54DE450-13CD-4AEB-9E1B-39E6AC44D8C6}" presName="conn" presStyleLbl="parChTrans1D2" presStyleIdx="0" presStyleCnt="1"/>
      <dgm:spPr/>
      <dgm:t>
        <a:bodyPr/>
        <a:lstStyle/>
        <a:p>
          <a:endParaRPr lang="vi-VN"/>
        </a:p>
      </dgm:t>
    </dgm:pt>
    <dgm:pt modelId="{E4FDF858-DA01-4D33-9A08-12FBA4F88BD0}" type="pres">
      <dgm:prSet presAssocID="{E54DE450-13CD-4AEB-9E1B-39E6AC44D8C6}" presName="extraNode" presStyleLbl="node1" presStyleIdx="0" presStyleCnt="4"/>
      <dgm:spPr/>
    </dgm:pt>
    <dgm:pt modelId="{F75D1991-A2D1-4C29-99B5-3143AB6465F9}" type="pres">
      <dgm:prSet presAssocID="{E54DE450-13CD-4AEB-9E1B-39E6AC44D8C6}" presName="dstNode" presStyleLbl="node1" presStyleIdx="0" presStyleCnt="4"/>
      <dgm:spPr/>
    </dgm:pt>
    <dgm:pt modelId="{5FA1F4A8-A823-4AC1-A2CB-857CDB80E173}" type="pres">
      <dgm:prSet presAssocID="{5F46E3D8-A2ED-4D78-870E-045E371F0736}" presName="text_1" presStyleLbl="node1" presStyleIdx="0" presStyleCnt="4" custScaleX="99499" custLinFactNeighborX="3812" custLinFactNeighborY="5937">
        <dgm:presLayoutVars>
          <dgm:bulletEnabled val="1"/>
        </dgm:presLayoutVars>
      </dgm:prSet>
      <dgm:spPr/>
      <dgm:t>
        <a:bodyPr/>
        <a:lstStyle/>
        <a:p>
          <a:endParaRPr lang="vi-VN"/>
        </a:p>
      </dgm:t>
    </dgm:pt>
    <dgm:pt modelId="{FC676F97-9031-414B-B9EC-EE2173E8568D}" type="pres">
      <dgm:prSet presAssocID="{5F46E3D8-A2ED-4D78-870E-045E371F0736}" presName="accent_1" presStyleCnt="0"/>
      <dgm:spPr/>
    </dgm:pt>
    <dgm:pt modelId="{E687BDA7-D754-4E66-AB72-DB62107824F4}" type="pres">
      <dgm:prSet presAssocID="{5F46E3D8-A2ED-4D78-870E-045E371F0736}" presName="accentRepeatNode" presStyleLbl="solidFgAcc1" presStyleIdx="0" presStyleCnt="4"/>
      <dgm:spPr>
        <a:solidFill>
          <a:srgbClr val="FFFF00"/>
        </a:solidFill>
      </dgm:spPr>
    </dgm:pt>
    <dgm:pt modelId="{5B3F16F9-8995-4524-BFD7-37000FBE4107}" type="pres">
      <dgm:prSet presAssocID="{F6AA7B60-3405-4F6E-8205-254B6015EB0A}" presName="text_2" presStyleLbl="node1" presStyleIdx="1" presStyleCnt="4">
        <dgm:presLayoutVars>
          <dgm:bulletEnabled val="1"/>
        </dgm:presLayoutVars>
      </dgm:prSet>
      <dgm:spPr/>
      <dgm:t>
        <a:bodyPr/>
        <a:lstStyle/>
        <a:p>
          <a:endParaRPr lang="vi-VN"/>
        </a:p>
      </dgm:t>
    </dgm:pt>
    <dgm:pt modelId="{152F3277-0385-4E3C-B333-B215C8675E1C}" type="pres">
      <dgm:prSet presAssocID="{F6AA7B60-3405-4F6E-8205-254B6015EB0A}" presName="accent_2" presStyleCnt="0"/>
      <dgm:spPr/>
    </dgm:pt>
    <dgm:pt modelId="{473419F6-9163-4F46-9D2D-58D32A4AC121}" type="pres">
      <dgm:prSet presAssocID="{F6AA7B60-3405-4F6E-8205-254B6015EB0A}" presName="accentRepeatNode" presStyleLbl="solidFgAcc1" presStyleIdx="1" presStyleCnt="4"/>
      <dgm:spPr>
        <a:solidFill>
          <a:srgbClr val="00B0F0"/>
        </a:solidFill>
      </dgm:spPr>
    </dgm:pt>
    <dgm:pt modelId="{4C1EF8B4-63FD-400D-BD96-81FBA7A8426D}" type="pres">
      <dgm:prSet presAssocID="{BAD92F09-94CB-4EB2-B175-5AD2912E3903}" presName="text_3" presStyleLbl="node1" presStyleIdx="2" presStyleCnt="4">
        <dgm:presLayoutVars>
          <dgm:bulletEnabled val="1"/>
        </dgm:presLayoutVars>
      </dgm:prSet>
      <dgm:spPr/>
      <dgm:t>
        <a:bodyPr/>
        <a:lstStyle/>
        <a:p>
          <a:endParaRPr lang="vi-VN"/>
        </a:p>
      </dgm:t>
    </dgm:pt>
    <dgm:pt modelId="{0E91760E-919D-4E59-AF63-15C13811B6EC}" type="pres">
      <dgm:prSet presAssocID="{BAD92F09-94CB-4EB2-B175-5AD2912E3903}" presName="accent_3" presStyleCnt="0"/>
      <dgm:spPr/>
    </dgm:pt>
    <dgm:pt modelId="{2279735E-C951-47B2-A493-13F7AB14DEF2}" type="pres">
      <dgm:prSet presAssocID="{BAD92F09-94CB-4EB2-B175-5AD2912E3903}" presName="accentRepeatNode" presStyleLbl="solidFgAcc1" presStyleIdx="2" presStyleCnt="4"/>
      <dgm:spPr>
        <a:solidFill>
          <a:srgbClr val="FF0000"/>
        </a:solidFill>
      </dgm:spPr>
    </dgm:pt>
    <dgm:pt modelId="{34947EA2-64AC-49D7-A3D7-DD833B081356}" type="pres">
      <dgm:prSet presAssocID="{9E3A7A99-F3BE-4676-A9EC-BADD9A18F63A}" presName="text_4" presStyleLbl="node1" presStyleIdx="3" presStyleCnt="4">
        <dgm:presLayoutVars>
          <dgm:bulletEnabled val="1"/>
        </dgm:presLayoutVars>
      </dgm:prSet>
      <dgm:spPr/>
      <dgm:t>
        <a:bodyPr/>
        <a:lstStyle/>
        <a:p>
          <a:endParaRPr lang="vi-VN"/>
        </a:p>
      </dgm:t>
    </dgm:pt>
    <dgm:pt modelId="{C3861C80-99EB-4E11-8760-76691114F59D}" type="pres">
      <dgm:prSet presAssocID="{9E3A7A99-F3BE-4676-A9EC-BADD9A18F63A}" presName="accent_4" presStyleCnt="0"/>
      <dgm:spPr/>
    </dgm:pt>
    <dgm:pt modelId="{811E3F33-C529-469D-82CB-AFDF2B62C3AA}" type="pres">
      <dgm:prSet presAssocID="{9E3A7A99-F3BE-4676-A9EC-BADD9A18F63A}" presName="accentRepeatNode" presStyleLbl="solidFgAcc1" presStyleIdx="3" presStyleCnt="4"/>
      <dgm:spPr>
        <a:solidFill>
          <a:srgbClr val="7030A0"/>
        </a:solidFill>
      </dgm:spPr>
    </dgm:pt>
  </dgm:ptLst>
  <dgm:cxnLst>
    <dgm:cxn modelId="{B435923F-B4AE-425E-986B-49C18C472519}" srcId="{E54DE450-13CD-4AEB-9E1B-39E6AC44D8C6}" destId="{F6AA7B60-3405-4F6E-8205-254B6015EB0A}" srcOrd="1" destOrd="0" parTransId="{5AF6B212-D37C-46DB-B003-F38468736062}" sibTransId="{24ECCFF8-F70C-48A4-BE29-4217B9DEAC60}"/>
    <dgm:cxn modelId="{1905E704-961C-4F8D-A1BA-44D21EF19859}" srcId="{E54DE450-13CD-4AEB-9E1B-39E6AC44D8C6}" destId="{BAD92F09-94CB-4EB2-B175-5AD2912E3903}" srcOrd="2" destOrd="0" parTransId="{715C4BEE-93AF-491A-ABA8-D69EF1ED1402}" sibTransId="{C15707EB-44C8-4504-8603-F62140DAB1CB}"/>
    <dgm:cxn modelId="{82DC9422-8A38-47B5-9F25-F918FCD7DEE1}" type="presOf" srcId="{8F347BBF-421C-49B2-BBF9-2856F9A92FED}" destId="{2641665A-518F-4DF9-BFB4-6798610A5C4B}" srcOrd="0" destOrd="0" presId="urn:microsoft.com/office/officeart/2008/layout/VerticalCurvedList"/>
    <dgm:cxn modelId="{537E786D-7891-4E17-B22E-3B39777D836D}" type="presOf" srcId="{E54DE450-13CD-4AEB-9E1B-39E6AC44D8C6}" destId="{3D5F947B-BF06-447A-9C72-3359C35D4959}" srcOrd="0" destOrd="0" presId="urn:microsoft.com/office/officeart/2008/layout/VerticalCurvedList"/>
    <dgm:cxn modelId="{8D87A4F4-CED6-4687-9D3D-29A4023A3314}" type="presOf" srcId="{BAD92F09-94CB-4EB2-B175-5AD2912E3903}" destId="{4C1EF8B4-63FD-400D-BD96-81FBA7A8426D}" srcOrd="0" destOrd="0" presId="urn:microsoft.com/office/officeart/2008/layout/VerticalCurvedList"/>
    <dgm:cxn modelId="{6735E188-66FB-4DD9-9824-3C786EE5DA90}" srcId="{E54DE450-13CD-4AEB-9E1B-39E6AC44D8C6}" destId="{5F46E3D8-A2ED-4D78-870E-045E371F0736}" srcOrd="0" destOrd="0" parTransId="{74637930-C569-4346-AFCA-709B12E23CC0}" sibTransId="{8F347BBF-421C-49B2-BBF9-2856F9A92FED}"/>
    <dgm:cxn modelId="{38D4DABE-6674-4314-A232-4B6EBDDF58F6}" type="presOf" srcId="{F6AA7B60-3405-4F6E-8205-254B6015EB0A}" destId="{5B3F16F9-8995-4524-BFD7-37000FBE4107}" srcOrd="0" destOrd="0" presId="urn:microsoft.com/office/officeart/2008/layout/VerticalCurvedList"/>
    <dgm:cxn modelId="{FE358201-9A8D-480E-8495-5E8A03615821}" type="presOf" srcId="{5F46E3D8-A2ED-4D78-870E-045E371F0736}" destId="{5FA1F4A8-A823-4AC1-A2CB-857CDB80E173}" srcOrd="0" destOrd="0" presId="urn:microsoft.com/office/officeart/2008/layout/VerticalCurvedList"/>
    <dgm:cxn modelId="{15A6C63F-E446-44D8-A2B0-E7BD9A8D6CC9}" type="presOf" srcId="{9E3A7A99-F3BE-4676-A9EC-BADD9A18F63A}" destId="{34947EA2-64AC-49D7-A3D7-DD833B081356}" srcOrd="0" destOrd="0" presId="urn:microsoft.com/office/officeart/2008/layout/VerticalCurvedList"/>
    <dgm:cxn modelId="{77B4E8DD-1EB6-472D-9866-9388B8031319}" srcId="{E54DE450-13CD-4AEB-9E1B-39E6AC44D8C6}" destId="{9E3A7A99-F3BE-4676-A9EC-BADD9A18F63A}" srcOrd="3" destOrd="0" parTransId="{62DB03BC-9979-4F82-9392-2CCED0011AC6}" sibTransId="{AB1F36A0-5A48-49B4-BE4F-FA8F3398B35B}"/>
    <dgm:cxn modelId="{9E4E8BD4-A755-4E44-A68F-96913F892413}" type="presParOf" srcId="{3D5F947B-BF06-447A-9C72-3359C35D4959}" destId="{268599FA-BB94-45B3-8712-8AE6DD9E8783}" srcOrd="0" destOrd="0" presId="urn:microsoft.com/office/officeart/2008/layout/VerticalCurvedList"/>
    <dgm:cxn modelId="{D1C974CC-9314-4506-AB70-DB9E1AE7286C}" type="presParOf" srcId="{268599FA-BB94-45B3-8712-8AE6DD9E8783}" destId="{1A62D950-FD7E-4F9C-BAE4-AA8001B64348}" srcOrd="0" destOrd="0" presId="urn:microsoft.com/office/officeart/2008/layout/VerticalCurvedList"/>
    <dgm:cxn modelId="{27AB39DE-5AB3-43E5-8B05-E31CE176119F}" type="presParOf" srcId="{1A62D950-FD7E-4F9C-BAE4-AA8001B64348}" destId="{77F8B72C-1D75-4A54-8298-0D98537F1724}" srcOrd="0" destOrd="0" presId="urn:microsoft.com/office/officeart/2008/layout/VerticalCurvedList"/>
    <dgm:cxn modelId="{C5DB5312-2E55-4B7F-B609-253C07E29266}" type="presParOf" srcId="{1A62D950-FD7E-4F9C-BAE4-AA8001B64348}" destId="{2641665A-518F-4DF9-BFB4-6798610A5C4B}" srcOrd="1" destOrd="0" presId="urn:microsoft.com/office/officeart/2008/layout/VerticalCurvedList"/>
    <dgm:cxn modelId="{63127F00-146D-43E2-8789-00267398727E}" type="presParOf" srcId="{1A62D950-FD7E-4F9C-BAE4-AA8001B64348}" destId="{E4FDF858-DA01-4D33-9A08-12FBA4F88BD0}" srcOrd="2" destOrd="0" presId="urn:microsoft.com/office/officeart/2008/layout/VerticalCurvedList"/>
    <dgm:cxn modelId="{380DD944-B2E3-421C-A667-F3E00A2444EE}" type="presParOf" srcId="{1A62D950-FD7E-4F9C-BAE4-AA8001B64348}" destId="{F75D1991-A2D1-4C29-99B5-3143AB6465F9}" srcOrd="3" destOrd="0" presId="urn:microsoft.com/office/officeart/2008/layout/VerticalCurvedList"/>
    <dgm:cxn modelId="{062741DB-2E3A-4888-8CA3-C1FC98689A6A}" type="presParOf" srcId="{268599FA-BB94-45B3-8712-8AE6DD9E8783}" destId="{5FA1F4A8-A823-4AC1-A2CB-857CDB80E173}" srcOrd="1" destOrd="0" presId="urn:microsoft.com/office/officeart/2008/layout/VerticalCurvedList"/>
    <dgm:cxn modelId="{5CBF0813-8235-4C66-A31C-4114D2C7CCA3}" type="presParOf" srcId="{268599FA-BB94-45B3-8712-8AE6DD9E8783}" destId="{FC676F97-9031-414B-B9EC-EE2173E8568D}" srcOrd="2" destOrd="0" presId="urn:microsoft.com/office/officeart/2008/layout/VerticalCurvedList"/>
    <dgm:cxn modelId="{160452BF-D101-4B19-81CA-B766F3CFC53D}" type="presParOf" srcId="{FC676F97-9031-414B-B9EC-EE2173E8568D}" destId="{E687BDA7-D754-4E66-AB72-DB62107824F4}" srcOrd="0" destOrd="0" presId="urn:microsoft.com/office/officeart/2008/layout/VerticalCurvedList"/>
    <dgm:cxn modelId="{ABEF6922-A65F-41E4-8417-CBB0777E4717}" type="presParOf" srcId="{268599FA-BB94-45B3-8712-8AE6DD9E8783}" destId="{5B3F16F9-8995-4524-BFD7-37000FBE4107}" srcOrd="3" destOrd="0" presId="urn:microsoft.com/office/officeart/2008/layout/VerticalCurvedList"/>
    <dgm:cxn modelId="{7F0E2E81-C178-41B7-A93C-6D387F578F00}" type="presParOf" srcId="{268599FA-BB94-45B3-8712-8AE6DD9E8783}" destId="{152F3277-0385-4E3C-B333-B215C8675E1C}" srcOrd="4" destOrd="0" presId="urn:microsoft.com/office/officeart/2008/layout/VerticalCurvedList"/>
    <dgm:cxn modelId="{7B1374A8-429F-44E2-BDE8-806F5CAF6795}" type="presParOf" srcId="{152F3277-0385-4E3C-B333-B215C8675E1C}" destId="{473419F6-9163-4F46-9D2D-58D32A4AC121}" srcOrd="0" destOrd="0" presId="urn:microsoft.com/office/officeart/2008/layout/VerticalCurvedList"/>
    <dgm:cxn modelId="{EA1D265A-61CA-4E33-97B6-2ADEFCB6854D}" type="presParOf" srcId="{268599FA-BB94-45B3-8712-8AE6DD9E8783}" destId="{4C1EF8B4-63FD-400D-BD96-81FBA7A8426D}" srcOrd="5" destOrd="0" presId="urn:microsoft.com/office/officeart/2008/layout/VerticalCurvedList"/>
    <dgm:cxn modelId="{37C0974E-AB9B-4166-BD4E-60FF9D8DC7CA}" type="presParOf" srcId="{268599FA-BB94-45B3-8712-8AE6DD9E8783}" destId="{0E91760E-919D-4E59-AF63-15C13811B6EC}" srcOrd="6" destOrd="0" presId="urn:microsoft.com/office/officeart/2008/layout/VerticalCurvedList"/>
    <dgm:cxn modelId="{01A4042E-93CD-4545-90A3-9DE535D68402}" type="presParOf" srcId="{0E91760E-919D-4E59-AF63-15C13811B6EC}" destId="{2279735E-C951-47B2-A493-13F7AB14DEF2}" srcOrd="0" destOrd="0" presId="urn:microsoft.com/office/officeart/2008/layout/VerticalCurvedList"/>
    <dgm:cxn modelId="{7E3B3AC5-1C83-4962-BE5E-B8216EA64430}" type="presParOf" srcId="{268599FA-BB94-45B3-8712-8AE6DD9E8783}" destId="{34947EA2-64AC-49D7-A3D7-DD833B081356}" srcOrd="7" destOrd="0" presId="urn:microsoft.com/office/officeart/2008/layout/VerticalCurvedList"/>
    <dgm:cxn modelId="{28C7E59D-6170-41F3-913C-7A2F0810A51F}" type="presParOf" srcId="{268599FA-BB94-45B3-8712-8AE6DD9E8783}" destId="{C3861C80-99EB-4E11-8760-76691114F59D}" srcOrd="8" destOrd="0" presId="urn:microsoft.com/office/officeart/2008/layout/VerticalCurvedList"/>
    <dgm:cxn modelId="{6CE2981A-66EB-4423-BBB7-AB4D0340DC5B}" type="presParOf" srcId="{C3861C80-99EB-4E11-8760-76691114F59D}" destId="{811E3F33-C529-469D-82CB-AFDF2B62C3AA}"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F14A992-292E-4C31-9600-05712B249648}"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vi-VN"/>
        </a:p>
      </dgm:t>
    </dgm:pt>
    <dgm:pt modelId="{10E32675-6B92-4BFF-A2AE-9020E88286A3}">
      <dgm:prSet phldrT="[Text]"/>
      <dgm:spPr/>
      <dgm:t>
        <a:bodyPr/>
        <a:lstStyle/>
        <a:p>
          <a:r>
            <a:rPr lang="en-US" err="1" smtClean="0"/>
            <a:t>Nôn</a:t>
          </a:r>
          <a:r>
            <a:rPr lang="en-US" smtClean="0"/>
            <a:t> </a:t>
          </a:r>
          <a:r>
            <a:rPr lang="en-US" err="1" smtClean="0"/>
            <a:t>kéo</a:t>
          </a:r>
          <a:r>
            <a:rPr lang="en-US" smtClean="0"/>
            <a:t> </a:t>
          </a:r>
          <a:r>
            <a:rPr lang="en-US" err="1" smtClean="0"/>
            <a:t>dài</a:t>
          </a:r>
          <a:r>
            <a:rPr lang="en-US" smtClean="0"/>
            <a:t> </a:t>
          </a:r>
          <a:r>
            <a:rPr lang="en-US" err="1" smtClean="0"/>
            <a:t>gây</a:t>
          </a:r>
          <a:r>
            <a:rPr lang="en-US" smtClean="0"/>
            <a:t> </a:t>
          </a:r>
          <a:r>
            <a:rPr lang="en-US" err="1" smtClean="0"/>
            <a:t>rối</a:t>
          </a:r>
          <a:r>
            <a:rPr lang="en-US" smtClean="0"/>
            <a:t> </a:t>
          </a:r>
          <a:r>
            <a:rPr lang="en-US" err="1" smtClean="0"/>
            <a:t>loạn</a:t>
          </a:r>
          <a:r>
            <a:rPr lang="en-US" smtClean="0"/>
            <a:t> </a:t>
          </a:r>
          <a:r>
            <a:rPr lang="en-US" err="1" smtClean="0"/>
            <a:t>điện</a:t>
          </a:r>
          <a:r>
            <a:rPr lang="en-US" smtClean="0"/>
            <a:t> </a:t>
          </a:r>
          <a:r>
            <a:rPr lang="en-US" err="1" smtClean="0"/>
            <a:t>giải</a:t>
          </a:r>
          <a:r>
            <a:rPr lang="en-US" smtClean="0"/>
            <a:t> </a:t>
          </a:r>
          <a:r>
            <a:rPr lang="en-US" err="1" smtClean="0"/>
            <a:t>và</a:t>
          </a:r>
          <a:r>
            <a:rPr lang="en-US" smtClean="0"/>
            <a:t> </a:t>
          </a:r>
          <a:r>
            <a:rPr lang="en-US" err="1" smtClean="0"/>
            <a:t>không</a:t>
          </a:r>
          <a:r>
            <a:rPr lang="en-US" smtClean="0"/>
            <a:t> </a:t>
          </a:r>
          <a:r>
            <a:rPr lang="en-US" err="1" smtClean="0"/>
            <a:t>ăn</a:t>
          </a:r>
          <a:r>
            <a:rPr lang="en-US" smtClean="0"/>
            <a:t> </a:t>
          </a:r>
          <a:r>
            <a:rPr lang="en-US" err="1" smtClean="0"/>
            <a:t>được</a:t>
          </a:r>
          <a:r>
            <a:rPr lang="en-US" smtClean="0"/>
            <a:t> do </a:t>
          </a:r>
          <a:r>
            <a:rPr lang="en-US" err="1" smtClean="0"/>
            <a:t>nôn</a:t>
          </a:r>
          <a:endParaRPr lang="vi-VN"/>
        </a:p>
      </dgm:t>
    </dgm:pt>
    <dgm:pt modelId="{87DE1A75-CFE8-4FAB-8063-D59F5BCE9242}" type="parTrans" cxnId="{67B859AD-3550-48D6-97D7-6A6C98D89A98}">
      <dgm:prSet/>
      <dgm:spPr/>
      <dgm:t>
        <a:bodyPr/>
        <a:lstStyle/>
        <a:p>
          <a:endParaRPr lang="vi-VN"/>
        </a:p>
      </dgm:t>
    </dgm:pt>
    <dgm:pt modelId="{84CD7C57-20B7-4C98-9927-4414511BD6AD}" type="sibTrans" cxnId="{67B859AD-3550-48D6-97D7-6A6C98D89A98}">
      <dgm:prSet/>
      <dgm:spPr/>
      <dgm:t>
        <a:bodyPr/>
        <a:lstStyle/>
        <a:p>
          <a:endParaRPr lang="vi-VN"/>
        </a:p>
      </dgm:t>
    </dgm:pt>
    <dgm:pt modelId="{364F9675-4C0F-4C91-A1C7-C355864D9C18}">
      <dgm:prSet phldrT="[Text]"/>
      <dgm:spPr/>
      <dgm:t>
        <a:bodyPr/>
        <a:lstStyle/>
        <a:p>
          <a:r>
            <a:rPr lang="en-US" err="1" smtClean="0"/>
            <a:t>Không</a:t>
          </a:r>
          <a:r>
            <a:rPr lang="en-US" smtClean="0"/>
            <a:t> </a:t>
          </a:r>
          <a:r>
            <a:rPr lang="en-US" err="1" smtClean="0"/>
            <a:t>sử</a:t>
          </a:r>
          <a:r>
            <a:rPr lang="en-US" smtClean="0"/>
            <a:t> </a:t>
          </a:r>
          <a:r>
            <a:rPr lang="en-US" err="1" smtClean="0"/>
            <a:t>dụng</a:t>
          </a:r>
          <a:r>
            <a:rPr lang="en-US" smtClean="0"/>
            <a:t> </a:t>
          </a:r>
          <a:r>
            <a:rPr lang="en-US" err="1" smtClean="0"/>
            <a:t>cho</a:t>
          </a:r>
          <a:r>
            <a:rPr lang="en-US" smtClean="0"/>
            <a:t> </a:t>
          </a:r>
          <a:r>
            <a:rPr lang="en-US" err="1" smtClean="0"/>
            <a:t>nôn</a:t>
          </a:r>
          <a:r>
            <a:rPr lang="en-US" smtClean="0"/>
            <a:t> </a:t>
          </a:r>
          <a:r>
            <a:rPr lang="en-US" err="1" smtClean="0"/>
            <a:t>không</a:t>
          </a:r>
          <a:r>
            <a:rPr lang="en-US" smtClean="0"/>
            <a:t> </a:t>
          </a:r>
          <a:r>
            <a:rPr lang="en-US" err="1" smtClean="0"/>
            <a:t>rõ</a:t>
          </a:r>
          <a:r>
            <a:rPr lang="en-US" smtClean="0"/>
            <a:t> </a:t>
          </a:r>
          <a:r>
            <a:rPr lang="en-US" err="1" smtClean="0"/>
            <a:t>nguyên</a:t>
          </a:r>
          <a:r>
            <a:rPr lang="en-US" smtClean="0"/>
            <a:t> </a:t>
          </a:r>
          <a:r>
            <a:rPr lang="en-US" err="1" smtClean="0"/>
            <a:t>nhân</a:t>
          </a:r>
          <a:r>
            <a:rPr lang="en-US" smtClean="0"/>
            <a:t> </a:t>
          </a:r>
          <a:endParaRPr lang="vi-VN"/>
        </a:p>
      </dgm:t>
    </dgm:pt>
    <dgm:pt modelId="{B4FA34E0-236E-4B84-8055-CE1BC0730825}" type="parTrans" cxnId="{703341C3-296E-4515-AA44-4AC4AD10CA1C}">
      <dgm:prSet/>
      <dgm:spPr/>
      <dgm:t>
        <a:bodyPr/>
        <a:lstStyle/>
        <a:p>
          <a:endParaRPr lang="vi-VN"/>
        </a:p>
      </dgm:t>
    </dgm:pt>
    <dgm:pt modelId="{CB35D44D-BA8E-4743-B08D-1C8E260A04DB}" type="sibTrans" cxnId="{703341C3-296E-4515-AA44-4AC4AD10CA1C}">
      <dgm:prSet/>
      <dgm:spPr/>
      <dgm:t>
        <a:bodyPr/>
        <a:lstStyle/>
        <a:p>
          <a:endParaRPr lang="vi-VN"/>
        </a:p>
      </dgm:t>
    </dgm:pt>
    <dgm:pt modelId="{3F46F0A7-6D40-4CED-8A8E-2D04922FCC73}">
      <dgm:prSet phldrT="[Text]"/>
      <dgm:spPr/>
      <dgm:t>
        <a:bodyPr/>
        <a:lstStyle/>
        <a:p>
          <a:r>
            <a:rPr lang="en-US" err="1" smtClean="0"/>
            <a:t>Cân</a:t>
          </a:r>
          <a:r>
            <a:rPr lang="en-US" smtClean="0"/>
            <a:t> </a:t>
          </a:r>
          <a:r>
            <a:rPr lang="en-US" err="1" smtClean="0"/>
            <a:t>nhắc</a:t>
          </a:r>
          <a:r>
            <a:rPr lang="en-US" smtClean="0"/>
            <a:t> </a:t>
          </a:r>
          <a:r>
            <a:rPr lang="en-US" err="1" smtClean="0"/>
            <a:t>giữa</a:t>
          </a:r>
          <a:r>
            <a:rPr lang="en-US" smtClean="0"/>
            <a:t> </a:t>
          </a:r>
          <a:r>
            <a:rPr lang="en-US" err="1" smtClean="0"/>
            <a:t>lợi</a:t>
          </a:r>
          <a:r>
            <a:rPr lang="en-US" smtClean="0"/>
            <a:t> </a:t>
          </a:r>
          <a:r>
            <a:rPr lang="en-US" err="1" smtClean="0"/>
            <a:t>ích</a:t>
          </a:r>
          <a:r>
            <a:rPr lang="en-US" smtClean="0"/>
            <a:t> </a:t>
          </a:r>
          <a:r>
            <a:rPr lang="en-US" err="1" smtClean="0"/>
            <a:t>và</a:t>
          </a:r>
          <a:r>
            <a:rPr lang="en-US" smtClean="0"/>
            <a:t> </a:t>
          </a:r>
          <a:r>
            <a:rPr lang="en-US" err="1" smtClean="0"/>
            <a:t>nguy</a:t>
          </a:r>
          <a:r>
            <a:rPr lang="en-US" smtClean="0"/>
            <a:t> </a:t>
          </a:r>
          <a:r>
            <a:rPr lang="en-US" err="1" smtClean="0"/>
            <a:t>cơ</a:t>
          </a:r>
          <a:r>
            <a:rPr lang="en-US" smtClean="0"/>
            <a:t> </a:t>
          </a:r>
          <a:r>
            <a:rPr lang="en-US" err="1" smtClean="0"/>
            <a:t>khi</a:t>
          </a:r>
          <a:r>
            <a:rPr lang="en-US" smtClean="0"/>
            <a:t> </a:t>
          </a:r>
          <a:r>
            <a:rPr lang="en-US" err="1" smtClean="0"/>
            <a:t>sd</a:t>
          </a:r>
          <a:r>
            <a:rPr lang="en-US" smtClean="0"/>
            <a:t> </a:t>
          </a:r>
          <a:r>
            <a:rPr lang="en-US" err="1" smtClean="0"/>
            <a:t>thuốc</a:t>
          </a:r>
          <a:r>
            <a:rPr lang="en-US" smtClean="0"/>
            <a:t> </a:t>
          </a:r>
          <a:r>
            <a:rPr lang="en-US" err="1" smtClean="0"/>
            <a:t>chống</a:t>
          </a:r>
          <a:r>
            <a:rPr lang="en-US" smtClean="0"/>
            <a:t> </a:t>
          </a:r>
          <a:r>
            <a:rPr lang="en-US" err="1" smtClean="0"/>
            <a:t>nôn</a:t>
          </a:r>
          <a:endParaRPr lang="vi-VN"/>
        </a:p>
      </dgm:t>
    </dgm:pt>
    <dgm:pt modelId="{8BEE14ED-3238-4C67-90E1-0C1AF1F64FBC}" type="parTrans" cxnId="{26239419-7B4A-4D21-B8B9-0C0A958F9E34}">
      <dgm:prSet/>
      <dgm:spPr/>
      <dgm:t>
        <a:bodyPr/>
        <a:lstStyle/>
        <a:p>
          <a:endParaRPr lang="vi-VN"/>
        </a:p>
      </dgm:t>
    </dgm:pt>
    <dgm:pt modelId="{402ADAE0-1E25-459B-AE36-7AE215079670}" type="sibTrans" cxnId="{26239419-7B4A-4D21-B8B9-0C0A958F9E34}">
      <dgm:prSet/>
      <dgm:spPr/>
      <dgm:t>
        <a:bodyPr/>
        <a:lstStyle/>
        <a:p>
          <a:endParaRPr lang="vi-VN"/>
        </a:p>
      </dgm:t>
    </dgm:pt>
    <dgm:pt modelId="{D485A0C4-B679-4AA4-89E4-5CF56C0437AD}">
      <dgm:prSet phldrT="[Text]"/>
      <dgm:spPr/>
      <dgm:t>
        <a:bodyPr/>
        <a:lstStyle/>
        <a:p>
          <a:r>
            <a:rPr lang="en-US" err="1" smtClean="0"/>
            <a:t>Không</a:t>
          </a:r>
          <a:r>
            <a:rPr lang="en-US" smtClean="0"/>
            <a:t> </a:t>
          </a:r>
          <a:r>
            <a:rPr lang="en-US" err="1" smtClean="0"/>
            <a:t>sử</a:t>
          </a:r>
          <a:r>
            <a:rPr lang="en-US" smtClean="0"/>
            <a:t> </a:t>
          </a:r>
          <a:r>
            <a:rPr lang="en-US" err="1" smtClean="0"/>
            <a:t>dụng</a:t>
          </a:r>
          <a:r>
            <a:rPr lang="en-US" smtClean="0"/>
            <a:t> </a:t>
          </a:r>
          <a:r>
            <a:rPr lang="en-US" err="1" smtClean="0"/>
            <a:t>cho</a:t>
          </a:r>
          <a:r>
            <a:rPr lang="en-US" smtClean="0"/>
            <a:t> </a:t>
          </a:r>
          <a:r>
            <a:rPr lang="en-US" err="1" smtClean="0"/>
            <a:t>nôn</a:t>
          </a:r>
          <a:r>
            <a:rPr lang="en-US" smtClean="0"/>
            <a:t> do </a:t>
          </a:r>
          <a:r>
            <a:rPr lang="en-US" err="1" smtClean="0"/>
            <a:t>nguyên</a:t>
          </a:r>
          <a:r>
            <a:rPr lang="en-US" smtClean="0"/>
            <a:t> </a:t>
          </a:r>
          <a:r>
            <a:rPr lang="en-US" err="1" smtClean="0"/>
            <a:t>nhân</a:t>
          </a:r>
          <a:r>
            <a:rPr lang="en-US" smtClean="0"/>
            <a:t> </a:t>
          </a:r>
          <a:r>
            <a:rPr lang="en-US" err="1" smtClean="0"/>
            <a:t>bất</a:t>
          </a:r>
          <a:r>
            <a:rPr lang="en-US" smtClean="0"/>
            <a:t> </a:t>
          </a:r>
          <a:r>
            <a:rPr lang="en-US" err="1" smtClean="0"/>
            <a:t>thường</a:t>
          </a:r>
          <a:r>
            <a:rPr lang="en-US" smtClean="0"/>
            <a:t> </a:t>
          </a:r>
          <a:r>
            <a:rPr lang="en-US" err="1" smtClean="0"/>
            <a:t>giải</a:t>
          </a:r>
          <a:r>
            <a:rPr lang="en-US" smtClean="0"/>
            <a:t> </a:t>
          </a:r>
          <a:r>
            <a:rPr lang="en-US" err="1" smtClean="0"/>
            <a:t>phẫu</a:t>
          </a:r>
          <a:r>
            <a:rPr lang="en-US" smtClean="0"/>
            <a:t> </a:t>
          </a:r>
          <a:r>
            <a:rPr lang="en-US" err="1" smtClean="0"/>
            <a:t>hệ</a:t>
          </a:r>
          <a:r>
            <a:rPr lang="en-US" smtClean="0"/>
            <a:t> </a:t>
          </a:r>
          <a:r>
            <a:rPr lang="en-US" err="1" smtClean="0"/>
            <a:t>tiêu</a:t>
          </a:r>
          <a:r>
            <a:rPr lang="en-US" smtClean="0"/>
            <a:t> </a:t>
          </a:r>
          <a:r>
            <a:rPr lang="en-US" err="1" smtClean="0"/>
            <a:t>hóa</a:t>
          </a:r>
          <a:r>
            <a:rPr lang="en-US" smtClean="0"/>
            <a:t> </a:t>
          </a:r>
          <a:r>
            <a:rPr lang="en-US" err="1" smtClean="0"/>
            <a:t>hoặc</a:t>
          </a:r>
          <a:r>
            <a:rPr lang="en-US" smtClean="0"/>
            <a:t> </a:t>
          </a:r>
          <a:r>
            <a:rPr lang="en-US" err="1" smtClean="0"/>
            <a:t>sau</a:t>
          </a:r>
          <a:r>
            <a:rPr lang="en-US" smtClean="0"/>
            <a:t> </a:t>
          </a:r>
          <a:r>
            <a:rPr lang="en-US" err="1" smtClean="0"/>
            <a:t>phẫu</a:t>
          </a:r>
          <a:r>
            <a:rPr lang="en-US" smtClean="0"/>
            <a:t> </a:t>
          </a:r>
          <a:r>
            <a:rPr lang="en-US" err="1" smtClean="0"/>
            <a:t>thuật</a:t>
          </a:r>
          <a:r>
            <a:rPr lang="en-US" smtClean="0"/>
            <a:t> ổ </a:t>
          </a:r>
          <a:r>
            <a:rPr lang="en-US" err="1" smtClean="0"/>
            <a:t>bụng</a:t>
          </a:r>
          <a:endParaRPr lang="vi-VN"/>
        </a:p>
      </dgm:t>
    </dgm:pt>
    <dgm:pt modelId="{18EEAB52-888A-4DA8-A046-84BB1253D47E}" type="parTrans" cxnId="{9FED0942-4874-44F1-911A-C7C14AA78690}">
      <dgm:prSet/>
      <dgm:spPr/>
      <dgm:t>
        <a:bodyPr/>
        <a:lstStyle/>
        <a:p>
          <a:endParaRPr lang="vi-VN"/>
        </a:p>
      </dgm:t>
    </dgm:pt>
    <dgm:pt modelId="{DD9D175C-B810-4E64-B1F3-5CDC30FF5139}" type="sibTrans" cxnId="{9FED0942-4874-44F1-911A-C7C14AA78690}">
      <dgm:prSet/>
      <dgm:spPr/>
      <dgm:t>
        <a:bodyPr/>
        <a:lstStyle/>
        <a:p>
          <a:endParaRPr lang="vi-VN"/>
        </a:p>
      </dgm:t>
    </dgm:pt>
    <dgm:pt modelId="{239D47F6-BD80-4E87-9548-35AE40C73E1B}" type="pres">
      <dgm:prSet presAssocID="{6F14A992-292E-4C31-9600-05712B249648}" presName="Name0" presStyleCnt="0">
        <dgm:presLayoutVars>
          <dgm:chMax val="7"/>
          <dgm:chPref val="7"/>
          <dgm:dir/>
        </dgm:presLayoutVars>
      </dgm:prSet>
      <dgm:spPr/>
      <dgm:t>
        <a:bodyPr/>
        <a:lstStyle/>
        <a:p>
          <a:endParaRPr lang="vi-VN"/>
        </a:p>
      </dgm:t>
    </dgm:pt>
    <dgm:pt modelId="{3DC71AB0-D7DE-48D6-A804-6992F01EA038}" type="pres">
      <dgm:prSet presAssocID="{6F14A992-292E-4C31-9600-05712B249648}" presName="Name1" presStyleCnt="0"/>
      <dgm:spPr/>
    </dgm:pt>
    <dgm:pt modelId="{26732FB9-E5D1-46C5-8F2F-4C3C6ACD2D5F}" type="pres">
      <dgm:prSet presAssocID="{6F14A992-292E-4C31-9600-05712B249648}" presName="cycle" presStyleCnt="0"/>
      <dgm:spPr/>
    </dgm:pt>
    <dgm:pt modelId="{9D70DEAF-D4A2-4499-96F1-8CF6E9AB7B43}" type="pres">
      <dgm:prSet presAssocID="{6F14A992-292E-4C31-9600-05712B249648}" presName="srcNode" presStyleLbl="node1" presStyleIdx="0" presStyleCnt="4"/>
      <dgm:spPr/>
    </dgm:pt>
    <dgm:pt modelId="{6E190F32-A1A0-42D8-8621-98414DCE4BDF}" type="pres">
      <dgm:prSet presAssocID="{6F14A992-292E-4C31-9600-05712B249648}" presName="conn" presStyleLbl="parChTrans1D2" presStyleIdx="0" presStyleCnt="1"/>
      <dgm:spPr/>
      <dgm:t>
        <a:bodyPr/>
        <a:lstStyle/>
        <a:p>
          <a:endParaRPr lang="vi-VN"/>
        </a:p>
      </dgm:t>
    </dgm:pt>
    <dgm:pt modelId="{E442BE7D-C6CC-4305-AC70-00ED90EB79E4}" type="pres">
      <dgm:prSet presAssocID="{6F14A992-292E-4C31-9600-05712B249648}" presName="extraNode" presStyleLbl="node1" presStyleIdx="0" presStyleCnt="4"/>
      <dgm:spPr/>
    </dgm:pt>
    <dgm:pt modelId="{E8088230-7458-47BA-952B-579D6928B98F}" type="pres">
      <dgm:prSet presAssocID="{6F14A992-292E-4C31-9600-05712B249648}" presName="dstNode" presStyleLbl="node1" presStyleIdx="0" presStyleCnt="4"/>
      <dgm:spPr/>
    </dgm:pt>
    <dgm:pt modelId="{B09C97BC-385A-4AAF-A306-772D45A5AA67}" type="pres">
      <dgm:prSet presAssocID="{10E32675-6B92-4BFF-A2AE-9020E88286A3}" presName="text_1" presStyleLbl="node1" presStyleIdx="0" presStyleCnt="4">
        <dgm:presLayoutVars>
          <dgm:bulletEnabled val="1"/>
        </dgm:presLayoutVars>
      </dgm:prSet>
      <dgm:spPr/>
      <dgm:t>
        <a:bodyPr/>
        <a:lstStyle/>
        <a:p>
          <a:endParaRPr lang="vi-VN"/>
        </a:p>
      </dgm:t>
    </dgm:pt>
    <dgm:pt modelId="{4E061637-6F9D-4B71-8051-FB70665FBF9B}" type="pres">
      <dgm:prSet presAssocID="{10E32675-6B92-4BFF-A2AE-9020E88286A3}" presName="accent_1" presStyleCnt="0"/>
      <dgm:spPr/>
    </dgm:pt>
    <dgm:pt modelId="{C37BD0C4-B4D6-48AA-AB57-00DB609EF343}" type="pres">
      <dgm:prSet presAssocID="{10E32675-6B92-4BFF-A2AE-9020E88286A3}" presName="accentRepeatNode" presStyleLbl="solidFgAcc1" presStyleIdx="0" presStyleCnt="4"/>
      <dgm:spPr>
        <a:solidFill>
          <a:srgbClr val="FF0000"/>
        </a:solidFill>
      </dgm:spPr>
    </dgm:pt>
    <dgm:pt modelId="{596B9301-05B5-483E-8E85-118EB6B2F2C4}" type="pres">
      <dgm:prSet presAssocID="{364F9675-4C0F-4C91-A1C7-C355864D9C18}" presName="text_2" presStyleLbl="node1" presStyleIdx="1" presStyleCnt="4">
        <dgm:presLayoutVars>
          <dgm:bulletEnabled val="1"/>
        </dgm:presLayoutVars>
      </dgm:prSet>
      <dgm:spPr/>
      <dgm:t>
        <a:bodyPr/>
        <a:lstStyle/>
        <a:p>
          <a:endParaRPr lang="vi-VN"/>
        </a:p>
      </dgm:t>
    </dgm:pt>
    <dgm:pt modelId="{63857591-CA37-4E0A-90D7-D479313B36F5}" type="pres">
      <dgm:prSet presAssocID="{364F9675-4C0F-4C91-A1C7-C355864D9C18}" presName="accent_2" presStyleCnt="0"/>
      <dgm:spPr/>
    </dgm:pt>
    <dgm:pt modelId="{CA6C309B-11EC-4C9F-BAF5-9C9EE7FBA95C}" type="pres">
      <dgm:prSet presAssocID="{364F9675-4C0F-4C91-A1C7-C355864D9C18}" presName="accentRepeatNode" presStyleLbl="solidFgAcc1" presStyleIdx="1" presStyleCnt="4"/>
      <dgm:spPr>
        <a:solidFill>
          <a:srgbClr val="00B050"/>
        </a:solidFill>
      </dgm:spPr>
    </dgm:pt>
    <dgm:pt modelId="{273E7E2E-164A-4180-B59B-B0427AA20493}" type="pres">
      <dgm:prSet presAssocID="{D485A0C4-B679-4AA4-89E4-5CF56C0437AD}" presName="text_3" presStyleLbl="node1" presStyleIdx="2" presStyleCnt="4">
        <dgm:presLayoutVars>
          <dgm:bulletEnabled val="1"/>
        </dgm:presLayoutVars>
      </dgm:prSet>
      <dgm:spPr/>
      <dgm:t>
        <a:bodyPr/>
        <a:lstStyle/>
        <a:p>
          <a:endParaRPr lang="vi-VN"/>
        </a:p>
      </dgm:t>
    </dgm:pt>
    <dgm:pt modelId="{79E74C19-E67C-408E-AC25-D789A3560714}" type="pres">
      <dgm:prSet presAssocID="{D485A0C4-B679-4AA4-89E4-5CF56C0437AD}" presName="accent_3" presStyleCnt="0"/>
      <dgm:spPr/>
    </dgm:pt>
    <dgm:pt modelId="{8A19267E-2991-4A90-A2E4-05BA9AA77A5B}" type="pres">
      <dgm:prSet presAssocID="{D485A0C4-B679-4AA4-89E4-5CF56C0437AD}" presName="accentRepeatNode" presStyleLbl="solidFgAcc1" presStyleIdx="2" presStyleCnt="4"/>
      <dgm:spPr>
        <a:solidFill>
          <a:schemeClr val="bg2">
            <a:lumMod val="50000"/>
          </a:schemeClr>
        </a:solidFill>
      </dgm:spPr>
    </dgm:pt>
    <dgm:pt modelId="{7697257D-67B8-4C0D-B800-5C4AD2C1DBD8}" type="pres">
      <dgm:prSet presAssocID="{3F46F0A7-6D40-4CED-8A8E-2D04922FCC73}" presName="text_4" presStyleLbl="node1" presStyleIdx="3" presStyleCnt="4">
        <dgm:presLayoutVars>
          <dgm:bulletEnabled val="1"/>
        </dgm:presLayoutVars>
      </dgm:prSet>
      <dgm:spPr/>
      <dgm:t>
        <a:bodyPr/>
        <a:lstStyle/>
        <a:p>
          <a:endParaRPr lang="vi-VN"/>
        </a:p>
      </dgm:t>
    </dgm:pt>
    <dgm:pt modelId="{A9FEA727-68FE-492A-B526-7B6EFB065710}" type="pres">
      <dgm:prSet presAssocID="{3F46F0A7-6D40-4CED-8A8E-2D04922FCC73}" presName="accent_4" presStyleCnt="0"/>
      <dgm:spPr/>
    </dgm:pt>
    <dgm:pt modelId="{425738C9-5024-4661-9D0B-769C4D6F7F26}" type="pres">
      <dgm:prSet presAssocID="{3F46F0A7-6D40-4CED-8A8E-2D04922FCC73}" presName="accentRepeatNode" presStyleLbl="solidFgAcc1" presStyleIdx="3" presStyleCnt="4"/>
      <dgm:spPr>
        <a:solidFill>
          <a:srgbClr val="FFFF00"/>
        </a:solidFill>
      </dgm:spPr>
    </dgm:pt>
  </dgm:ptLst>
  <dgm:cxnLst>
    <dgm:cxn modelId="{ED0DF188-80EB-4207-B0D7-70AEE1101B17}" type="presOf" srcId="{84CD7C57-20B7-4C98-9927-4414511BD6AD}" destId="{6E190F32-A1A0-42D8-8621-98414DCE4BDF}" srcOrd="0" destOrd="0" presId="urn:microsoft.com/office/officeart/2008/layout/VerticalCurvedList"/>
    <dgm:cxn modelId="{838707E4-EEBA-46AD-940B-D94E63EF4C6A}" type="presOf" srcId="{10E32675-6B92-4BFF-A2AE-9020E88286A3}" destId="{B09C97BC-385A-4AAF-A306-772D45A5AA67}" srcOrd="0" destOrd="0" presId="urn:microsoft.com/office/officeart/2008/layout/VerticalCurvedList"/>
    <dgm:cxn modelId="{CA1BC30E-B3A4-4252-A807-5B150683992D}" type="presOf" srcId="{364F9675-4C0F-4C91-A1C7-C355864D9C18}" destId="{596B9301-05B5-483E-8E85-118EB6B2F2C4}" srcOrd="0" destOrd="0" presId="urn:microsoft.com/office/officeart/2008/layout/VerticalCurvedList"/>
    <dgm:cxn modelId="{0E3E2223-E9D3-461D-AC67-05BF5A15FE7C}" type="presOf" srcId="{D485A0C4-B679-4AA4-89E4-5CF56C0437AD}" destId="{273E7E2E-164A-4180-B59B-B0427AA20493}" srcOrd="0" destOrd="0" presId="urn:microsoft.com/office/officeart/2008/layout/VerticalCurvedList"/>
    <dgm:cxn modelId="{703341C3-296E-4515-AA44-4AC4AD10CA1C}" srcId="{6F14A992-292E-4C31-9600-05712B249648}" destId="{364F9675-4C0F-4C91-A1C7-C355864D9C18}" srcOrd="1" destOrd="0" parTransId="{B4FA34E0-236E-4B84-8055-CE1BC0730825}" sibTransId="{CB35D44D-BA8E-4743-B08D-1C8E260A04DB}"/>
    <dgm:cxn modelId="{4FB4133B-BACE-4FD8-8E56-1E0BEF4D5985}" type="presOf" srcId="{3F46F0A7-6D40-4CED-8A8E-2D04922FCC73}" destId="{7697257D-67B8-4C0D-B800-5C4AD2C1DBD8}" srcOrd="0" destOrd="0" presId="urn:microsoft.com/office/officeart/2008/layout/VerticalCurvedList"/>
    <dgm:cxn modelId="{9FED0942-4874-44F1-911A-C7C14AA78690}" srcId="{6F14A992-292E-4C31-9600-05712B249648}" destId="{D485A0C4-B679-4AA4-89E4-5CF56C0437AD}" srcOrd="2" destOrd="0" parTransId="{18EEAB52-888A-4DA8-A046-84BB1253D47E}" sibTransId="{DD9D175C-B810-4E64-B1F3-5CDC30FF5139}"/>
    <dgm:cxn modelId="{67B859AD-3550-48D6-97D7-6A6C98D89A98}" srcId="{6F14A992-292E-4C31-9600-05712B249648}" destId="{10E32675-6B92-4BFF-A2AE-9020E88286A3}" srcOrd="0" destOrd="0" parTransId="{87DE1A75-CFE8-4FAB-8063-D59F5BCE9242}" sibTransId="{84CD7C57-20B7-4C98-9927-4414511BD6AD}"/>
    <dgm:cxn modelId="{DF4177FA-419B-44FF-86B5-04ECD970D0F2}" type="presOf" srcId="{6F14A992-292E-4C31-9600-05712B249648}" destId="{239D47F6-BD80-4E87-9548-35AE40C73E1B}" srcOrd="0" destOrd="0" presId="urn:microsoft.com/office/officeart/2008/layout/VerticalCurvedList"/>
    <dgm:cxn modelId="{26239419-7B4A-4D21-B8B9-0C0A958F9E34}" srcId="{6F14A992-292E-4C31-9600-05712B249648}" destId="{3F46F0A7-6D40-4CED-8A8E-2D04922FCC73}" srcOrd="3" destOrd="0" parTransId="{8BEE14ED-3238-4C67-90E1-0C1AF1F64FBC}" sibTransId="{402ADAE0-1E25-459B-AE36-7AE215079670}"/>
    <dgm:cxn modelId="{952C0EDD-7C0E-4679-AD88-DAC16CB716B1}" type="presParOf" srcId="{239D47F6-BD80-4E87-9548-35AE40C73E1B}" destId="{3DC71AB0-D7DE-48D6-A804-6992F01EA038}" srcOrd="0" destOrd="0" presId="urn:microsoft.com/office/officeart/2008/layout/VerticalCurvedList"/>
    <dgm:cxn modelId="{CD443602-3009-432C-98A3-F032E13B04BC}" type="presParOf" srcId="{3DC71AB0-D7DE-48D6-A804-6992F01EA038}" destId="{26732FB9-E5D1-46C5-8F2F-4C3C6ACD2D5F}" srcOrd="0" destOrd="0" presId="urn:microsoft.com/office/officeart/2008/layout/VerticalCurvedList"/>
    <dgm:cxn modelId="{2D2D6C14-2614-4B1E-85EF-C1C291BE9D03}" type="presParOf" srcId="{26732FB9-E5D1-46C5-8F2F-4C3C6ACD2D5F}" destId="{9D70DEAF-D4A2-4499-96F1-8CF6E9AB7B43}" srcOrd="0" destOrd="0" presId="urn:microsoft.com/office/officeart/2008/layout/VerticalCurvedList"/>
    <dgm:cxn modelId="{AE68408D-9B6C-41EC-BE5D-33F1AD356965}" type="presParOf" srcId="{26732FB9-E5D1-46C5-8F2F-4C3C6ACD2D5F}" destId="{6E190F32-A1A0-42D8-8621-98414DCE4BDF}" srcOrd="1" destOrd="0" presId="urn:microsoft.com/office/officeart/2008/layout/VerticalCurvedList"/>
    <dgm:cxn modelId="{97869824-5F65-47CA-A0C6-DB583B698FEB}" type="presParOf" srcId="{26732FB9-E5D1-46C5-8F2F-4C3C6ACD2D5F}" destId="{E442BE7D-C6CC-4305-AC70-00ED90EB79E4}" srcOrd="2" destOrd="0" presId="urn:microsoft.com/office/officeart/2008/layout/VerticalCurvedList"/>
    <dgm:cxn modelId="{47524323-1A73-4E0B-8F6F-E07F6504C74F}" type="presParOf" srcId="{26732FB9-E5D1-46C5-8F2F-4C3C6ACD2D5F}" destId="{E8088230-7458-47BA-952B-579D6928B98F}" srcOrd="3" destOrd="0" presId="urn:microsoft.com/office/officeart/2008/layout/VerticalCurvedList"/>
    <dgm:cxn modelId="{0052DB71-FE16-45E5-A12C-470B56AED7F1}" type="presParOf" srcId="{3DC71AB0-D7DE-48D6-A804-6992F01EA038}" destId="{B09C97BC-385A-4AAF-A306-772D45A5AA67}" srcOrd="1" destOrd="0" presId="urn:microsoft.com/office/officeart/2008/layout/VerticalCurvedList"/>
    <dgm:cxn modelId="{15DD96C2-BD69-4094-A1B5-8E32FD121723}" type="presParOf" srcId="{3DC71AB0-D7DE-48D6-A804-6992F01EA038}" destId="{4E061637-6F9D-4B71-8051-FB70665FBF9B}" srcOrd="2" destOrd="0" presId="urn:microsoft.com/office/officeart/2008/layout/VerticalCurvedList"/>
    <dgm:cxn modelId="{EA5B0402-BECC-48FC-834F-A929B3AD1EBB}" type="presParOf" srcId="{4E061637-6F9D-4B71-8051-FB70665FBF9B}" destId="{C37BD0C4-B4D6-48AA-AB57-00DB609EF343}" srcOrd="0" destOrd="0" presId="urn:microsoft.com/office/officeart/2008/layout/VerticalCurvedList"/>
    <dgm:cxn modelId="{C1922D7B-CDBF-4104-9805-1AC25062931F}" type="presParOf" srcId="{3DC71AB0-D7DE-48D6-A804-6992F01EA038}" destId="{596B9301-05B5-483E-8E85-118EB6B2F2C4}" srcOrd="3" destOrd="0" presId="urn:microsoft.com/office/officeart/2008/layout/VerticalCurvedList"/>
    <dgm:cxn modelId="{142583FE-3184-4C23-8505-5398C577B07D}" type="presParOf" srcId="{3DC71AB0-D7DE-48D6-A804-6992F01EA038}" destId="{63857591-CA37-4E0A-90D7-D479313B36F5}" srcOrd="4" destOrd="0" presId="urn:microsoft.com/office/officeart/2008/layout/VerticalCurvedList"/>
    <dgm:cxn modelId="{829C9F0F-7769-46E1-88B4-0DC82CAAC6C3}" type="presParOf" srcId="{63857591-CA37-4E0A-90D7-D479313B36F5}" destId="{CA6C309B-11EC-4C9F-BAF5-9C9EE7FBA95C}" srcOrd="0" destOrd="0" presId="urn:microsoft.com/office/officeart/2008/layout/VerticalCurvedList"/>
    <dgm:cxn modelId="{B42E09FF-15FA-4BE6-ADE8-55276700F6EA}" type="presParOf" srcId="{3DC71AB0-D7DE-48D6-A804-6992F01EA038}" destId="{273E7E2E-164A-4180-B59B-B0427AA20493}" srcOrd="5" destOrd="0" presId="urn:microsoft.com/office/officeart/2008/layout/VerticalCurvedList"/>
    <dgm:cxn modelId="{C8EC9E22-E830-4560-B298-C5D596BEC83F}" type="presParOf" srcId="{3DC71AB0-D7DE-48D6-A804-6992F01EA038}" destId="{79E74C19-E67C-408E-AC25-D789A3560714}" srcOrd="6" destOrd="0" presId="urn:microsoft.com/office/officeart/2008/layout/VerticalCurvedList"/>
    <dgm:cxn modelId="{4B743BA4-038C-403A-ADF3-6BE52D5E90DF}" type="presParOf" srcId="{79E74C19-E67C-408E-AC25-D789A3560714}" destId="{8A19267E-2991-4A90-A2E4-05BA9AA77A5B}" srcOrd="0" destOrd="0" presId="urn:microsoft.com/office/officeart/2008/layout/VerticalCurvedList"/>
    <dgm:cxn modelId="{BAFC526A-7CE9-4F7E-B1A8-1C0A1E0915DF}" type="presParOf" srcId="{3DC71AB0-D7DE-48D6-A804-6992F01EA038}" destId="{7697257D-67B8-4C0D-B800-5C4AD2C1DBD8}" srcOrd="7" destOrd="0" presId="urn:microsoft.com/office/officeart/2008/layout/VerticalCurvedList"/>
    <dgm:cxn modelId="{5E246953-963E-4788-AC65-085D69A4EE78}" type="presParOf" srcId="{3DC71AB0-D7DE-48D6-A804-6992F01EA038}" destId="{A9FEA727-68FE-492A-B526-7B6EFB065710}" srcOrd="8" destOrd="0" presId="urn:microsoft.com/office/officeart/2008/layout/VerticalCurvedList"/>
    <dgm:cxn modelId="{C8994E18-63B4-44F1-AD1C-3C8CC82A4DA1}" type="presParOf" srcId="{A9FEA727-68FE-492A-B526-7B6EFB065710}" destId="{425738C9-5024-4661-9D0B-769C4D6F7F26}"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B01BEF-F1ED-445D-973D-94CE330C311A}">
      <dsp:nvSpPr>
        <dsp:cNvPr id="0" name=""/>
        <dsp:cNvSpPr/>
      </dsp:nvSpPr>
      <dsp:spPr>
        <a:xfrm>
          <a:off x="6096000" y="2454098"/>
          <a:ext cx="4312964" cy="748531"/>
        </a:xfrm>
        <a:custGeom>
          <a:avLst/>
          <a:gdLst/>
          <a:ahLst/>
          <a:cxnLst/>
          <a:rect l="0" t="0" r="0" b="0"/>
          <a:pathLst>
            <a:path>
              <a:moveTo>
                <a:pt x="0" y="0"/>
              </a:moveTo>
              <a:lnTo>
                <a:pt x="0" y="374265"/>
              </a:lnTo>
              <a:lnTo>
                <a:pt x="4312964" y="374265"/>
              </a:lnTo>
              <a:lnTo>
                <a:pt x="4312964" y="74853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E6B3DAE-8EC4-467A-9EB6-626C97675A6F}">
      <dsp:nvSpPr>
        <dsp:cNvPr id="0" name=""/>
        <dsp:cNvSpPr/>
      </dsp:nvSpPr>
      <dsp:spPr>
        <a:xfrm>
          <a:off x="6050280" y="2454098"/>
          <a:ext cx="91440" cy="748531"/>
        </a:xfrm>
        <a:custGeom>
          <a:avLst/>
          <a:gdLst/>
          <a:ahLst/>
          <a:cxnLst/>
          <a:rect l="0" t="0" r="0" b="0"/>
          <a:pathLst>
            <a:path>
              <a:moveTo>
                <a:pt x="45720" y="0"/>
              </a:moveTo>
              <a:lnTo>
                <a:pt x="45720" y="74853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22FF4E3-1CB4-49CB-A54D-701D0944D81D}">
      <dsp:nvSpPr>
        <dsp:cNvPr id="0" name=""/>
        <dsp:cNvSpPr/>
      </dsp:nvSpPr>
      <dsp:spPr>
        <a:xfrm>
          <a:off x="1783035" y="2454098"/>
          <a:ext cx="4312964" cy="748531"/>
        </a:xfrm>
        <a:custGeom>
          <a:avLst/>
          <a:gdLst/>
          <a:ahLst/>
          <a:cxnLst/>
          <a:rect l="0" t="0" r="0" b="0"/>
          <a:pathLst>
            <a:path>
              <a:moveTo>
                <a:pt x="4312964" y="0"/>
              </a:moveTo>
              <a:lnTo>
                <a:pt x="4312964" y="374265"/>
              </a:lnTo>
              <a:lnTo>
                <a:pt x="0" y="374265"/>
              </a:lnTo>
              <a:lnTo>
                <a:pt x="0" y="74853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E28B29B-412A-4757-8918-EF6D556D9A6F}">
      <dsp:nvSpPr>
        <dsp:cNvPr id="0" name=""/>
        <dsp:cNvSpPr/>
      </dsp:nvSpPr>
      <dsp:spPr>
        <a:xfrm>
          <a:off x="4313783" y="671882"/>
          <a:ext cx="3564433" cy="178221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305" tIns="27305" rIns="27305" bIns="27305" numCol="1" spcCol="1270" anchor="ctr" anchorCtr="0">
          <a:noAutofit/>
        </a:bodyPr>
        <a:lstStyle/>
        <a:p>
          <a:pPr lvl="0" algn="ctr" defTabSz="1911350">
            <a:lnSpc>
              <a:spcPct val="90000"/>
            </a:lnSpc>
            <a:spcBef>
              <a:spcPct val="0"/>
            </a:spcBef>
            <a:spcAft>
              <a:spcPct val="35000"/>
            </a:spcAft>
          </a:pPr>
          <a:r>
            <a:rPr lang="en-US" sz="4300" kern="1200" err="1" smtClean="0"/>
            <a:t>Phân</a:t>
          </a:r>
          <a:r>
            <a:rPr lang="en-US" sz="4300" kern="1200" smtClean="0"/>
            <a:t> </a:t>
          </a:r>
          <a:r>
            <a:rPr lang="en-US" sz="4300" kern="1200" err="1" smtClean="0"/>
            <a:t>loại</a:t>
          </a:r>
          <a:r>
            <a:rPr lang="en-US" sz="4300" kern="1200" smtClean="0"/>
            <a:t> </a:t>
          </a:r>
          <a:r>
            <a:rPr lang="en-US" sz="4300" kern="1200" err="1" smtClean="0"/>
            <a:t>nguyên</a:t>
          </a:r>
          <a:r>
            <a:rPr lang="en-US" sz="4300" kern="1200" smtClean="0"/>
            <a:t> </a:t>
          </a:r>
          <a:r>
            <a:rPr lang="en-US" sz="4300" kern="1200" err="1" smtClean="0"/>
            <a:t>nhân</a:t>
          </a:r>
          <a:r>
            <a:rPr lang="en-US" sz="4300" kern="1200" smtClean="0"/>
            <a:t> </a:t>
          </a:r>
          <a:r>
            <a:rPr lang="en-US" sz="4300" kern="1200" err="1" smtClean="0"/>
            <a:t>nôn</a:t>
          </a:r>
          <a:endParaRPr lang="vi-VN" sz="4300" kern="1200"/>
        </a:p>
      </dsp:txBody>
      <dsp:txXfrm>
        <a:off x="4313783" y="671882"/>
        <a:ext cx="3564433" cy="1782216"/>
      </dsp:txXfrm>
    </dsp:sp>
    <dsp:sp modelId="{39A04E9D-AFB1-45F2-B2E2-824DE3569C6F}">
      <dsp:nvSpPr>
        <dsp:cNvPr id="0" name=""/>
        <dsp:cNvSpPr/>
      </dsp:nvSpPr>
      <dsp:spPr>
        <a:xfrm>
          <a:off x="818" y="3202630"/>
          <a:ext cx="3564433" cy="178221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305" tIns="27305" rIns="27305" bIns="27305" numCol="1" spcCol="1270" anchor="ctr" anchorCtr="0">
          <a:noAutofit/>
        </a:bodyPr>
        <a:lstStyle/>
        <a:p>
          <a:pPr lvl="0" algn="ctr" defTabSz="1911350">
            <a:lnSpc>
              <a:spcPct val="90000"/>
            </a:lnSpc>
            <a:spcBef>
              <a:spcPct val="0"/>
            </a:spcBef>
            <a:spcAft>
              <a:spcPct val="35000"/>
            </a:spcAft>
          </a:pPr>
          <a:r>
            <a:rPr lang="en-US" sz="4300" kern="1200" err="1" smtClean="0"/>
            <a:t>Nội</a:t>
          </a:r>
          <a:r>
            <a:rPr lang="en-US" sz="4300" kern="1200" smtClean="0"/>
            <a:t> </a:t>
          </a:r>
          <a:r>
            <a:rPr lang="en-US" sz="4300" kern="1200" err="1" smtClean="0"/>
            <a:t>khoa</a:t>
          </a:r>
          <a:r>
            <a:rPr lang="en-US" sz="4300" kern="1200" smtClean="0"/>
            <a:t> </a:t>
          </a:r>
          <a:r>
            <a:rPr lang="en-US" sz="4300" kern="1200" err="1" smtClean="0"/>
            <a:t>và</a:t>
          </a:r>
          <a:r>
            <a:rPr lang="en-US" sz="4300" kern="1200" smtClean="0"/>
            <a:t> </a:t>
          </a:r>
          <a:r>
            <a:rPr lang="en-US" sz="4300" kern="1200" err="1" smtClean="0"/>
            <a:t>ngoại</a:t>
          </a:r>
          <a:r>
            <a:rPr lang="en-US" sz="4300" kern="1200" smtClean="0"/>
            <a:t> </a:t>
          </a:r>
          <a:r>
            <a:rPr lang="en-US" sz="4300" kern="1200" err="1" smtClean="0"/>
            <a:t>khoa</a:t>
          </a:r>
          <a:endParaRPr lang="vi-VN" sz="4300" kern="1200"/>
        </a:p>
      </dsp:txBody>
      <dsp:txXfrm>
        <a:off x="818" y="3202630"/>
        <a:ext cx="3564433" cy="1782216"/>
      </dsp:txXfrm>
    </dsp:sp>
    <dsp:sp modelId="{B21689EE-4302-4D98-9691-6485D4F38B60}">
      <dsp:nvSpPr>
        <dsp:cNvPr id="0" name=""/>
        <dsp:cNvSpPr/>
      </dsp:nvSpPr>
      <dsp:spPr>
        <a:xfrm>
          <a:off x="4313783" y="3202630"/>
          <a:ext cx="3564433" cy="178221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305" tIns="27305" rIns="27305" bIns="27305" numCol="1" spcCol="1270" anchor="ctr" anchorCtr="0">
          <a:noAutofit/>
        </a:bodyPr>
        <a:lstStyle/>
        <a:p>
          <a:pPr lvl="0" algn="ctr" defTabSz="1911350">
            <a:lnSpc>
              <a:spcPct val="90000"/>
            </a:lnSpc>
            <a:spcBef>
              <a:spcPct val="0"/>
            </a:spcBef>
            <a:spcAft>
              <a:spcPct val="35000"/>
            </a:spcAft>
          </a:pPr>
          <a:r>
            <a:rPr lang="en-US" sz="4300" kern="1200" dirty="0" err="1" smtClean="0"/>
            <a:t>Tuổi</a:t>
          </a:r>
          <a:endParaRPr lang="vi-VN" sz="4300" kern="1200" dirty="0"/>
        </a:p>
      </dsp:txBody>
      <dsp:txXfrm>
        <a:off x="4313783" y="3202630"/>
        <a:ext cx="3564433" cy="1782216"/>
      </dsp:txXfrm>
    </dsp:sp>
    <dsp:sp modelId="{C2AB1585-11FB-423B-8E2D-1F4690D5D5DC}">
      <dsp:nvSpPr>
        <dsp:cNvPr id="0" name=""/>
        <dsp:cNvSpPr/>
      </dsp:nvSpPr>
      <dsp:spPr>
        <a:xfrm>
          <a:off x="8626747" y="3202630"/>
          <a:ext cx="3564433" cy="178221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305" tIns="27305" rIns="27305" bIns="27305" numCol="1" spcCol="1270" anchor="ctr" anchorCtr="0">
          <a:noAutofit/>
        </a:bodyPr>
        <a:lstStyle/>
        <a:p>
          <a:pPr lvl="0" algn="ctr" defTabSz="1911350">
            <a:lnSpc>
              <a:spcPct val="90000"/>
            </a:lnSpc>
            <a:spcBef>
              <a:spcPct val="0"/>
            </a:spcBef>
            <a:spcAft>
              <a:spcPct val="35000"/>
            </a:spcAft>
          </a:pPr>
          <a:r>
            <a:rPr lang="en-US" sz="4300" kern="1200" dirty="0" err="1" smtClean="0"/>
            <a:t>Tiêu</a:t>
          </a:r>
          <a:r>
            <a:rPr lang="en-US" sz="4300" kern="1200" dirty="0" smtClean="0"/>
            <a:t> </a:t>
          </a:r>
          <a:r>
            <a:rPr lang="en-US" sz="4300" kern="1200" dirty="0" err="1" smtClean="0"/>
            <a:t>hóa</a:t>
          </a:r>
          <a:r>
            <a:rPr lang="en-US" sz="4300" kern="1200" dirty="0" smtClean="0"/>
            <a:t> </a:t>
          </a:r>
          <a:r>
            <a:rPr lang="en-US" sz="4300" kern="1200" dirty="0" err="1" smtClean="0"/>
            <a:t>và</a:t>
          </a:r>
          <a:r>
            <a:rPr lang="en-US" sz="4300" kern="1200" dirty="0" smtClean="0"/>
            <a:t> </a:t>
          </a:r>
          <a:r>
            <a:rPr lang="en-US" sz="4300" kern="1200" dirty="0" err="1" smtClean="0"/>
            <a:t>ngoài</a:t>
          </a:r>
          <a:r>
            <a:rPr lang="en-US" sz="4300" kern="1200" dirty="0" smtClean="0"/>
            <a:t> </a:t>
          </a:r>
          <a:r>
            <a:rPr lang="en-US" sz="4300" kern="1200" dirty="0" err="1" smtClean="0"/>
            <a:t>tiêu</a:t>
          </a:r>
          <a:r>
            <a:rPr lang="en-US" sz="4300" kern="1200" dirty="0" smtClean="0"/>
            <a:t> </a:t>
          </a:r>
          <a:r>
            <a:rPr lang="en-US" sz="4300" kern="1200" dirty="0" err="1" smtClean="0"/>
            <a:t>hóa</a:t>
          </a:r>
          <a:endParaRPr lang="vi-VN" sz="4300" kern="1200" dirty="0"/>
        </a:p>
      </dsp:txBody>
      <dsp:txXfrm>
        <a:off x="8626747" y="3202630"/>
        <a:ext cx="3564433" cy="17822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2A84B1-90C4-4993-8E3C-63289D6094C2}">
      <dsp:nvSpPr>
        <dsp:cNvPr id="0" name=""/>
        <dsp:cNvSpPr/>
      </dsp:nvSpPr>
      <dsp:spPr>
        <a:xfrm rot="5400000">
          <a:off x="-197633" y="199329"/>
          <a:ext cx="1317558" cy="922290"/>
        </a:xfrm>
        <a:prstGeom prst="chevron">
          <a:avLst/>
        </a:prstGeom>
        <a:solidFill>
          <a:srgbClr val="FF0000"/>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lvl="0" algn="ctr" defTabSz="1200150">
            <a:lnSpc>
              <a:spcPct val="90000"/>
            </a:lnSpc>
            <a:spcBef>
              <a:spcPct val="0"/>
            </a:spcBef>
            <a:spcAft>
              <a:spcPct val="35000"/>
            </a:spcAft>
          </a:pPr>
          <a:r>
            <a:rPr lang="vi-VN" sz="2700" kern="1200" smtClean="0"/>
            <a:t>1</a:t>
          </a:r>
          <a:endParaRPr lang="vi-VN" sz="2700" kern="1200"/>
        </a:p>
      </dsp:txBody>
      <dsp:txXfrm rot="-5400000">
        <a:off x="1" y="462840"/>
        <a:ext cx="922290" cy="395268"/>
      </dsp:txXfrm>
    </dsp:sp>
    <dsp:sp modelId="{DC4F71F8-426D-43A7-B75F-3CD1924C0384}">
      <dsp:nvSpPr>
        <dsp:cNvPr id="0" name=""/>
        <dsp:cNvSpPr/>
      </dsp:nvSpPr>
      <dsp:spPr>
        <a:xfrm rot="5400000">
          <a:off x="5539854" y="-4615867"/>
          <a:ext cx="856412" cy="10091540"/>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vi-VN" sz="2800" kern="1200" smtClean="0"/>
            <a:t>Xác định nôn là cấp,mạn hay từng đợt tái diễn</a:t>
          </a:r>
          <a:endParaRPr lang="vi-VN" sz="2800" kern="1200"/>
        </a:p>
      </dsp:txBody>
      <dsp:txXfrm rot="-5400000">
        <a:off x="922291" y="43503"/>
        <a:ext cx="10049733" cy="772798"/>
      </dsp:txXfrm>
    </dsp:sp>
    <dsp:sp modelId="{E10C4EFD-B867-4DF4-8864-2D45CD581C97}">
      <dsp:nvSpPr>
        <dsp:cNvPr id="0" name=""/>
        <dsp:cNvSpPr/>
      </dsp:nvSpPr>
      <dsp:spPr>
        <a:xfrm rot="5400000">
          <a:off x="-197633" y="1370936"/>
          <a:ext cx="1317558" cy="922290"/>
        </a:xfrm>
        <a:prstGeom prst="chevron">
          <a:avLst/>
        </a:prstGeom>
        <a:solidFill>
          <a:srgbClr val="00B050"/>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lvl="0" algn="ctr" defTabSz="1200150">
            <a:lnSpc>
              <a:spcPct val="90000"/>
            </a:lnSpc>
            <a:spcBef>
              <a:spcPct val="0"/>
            </a:spcBef>
            <a:spcAft>
              <a:spcPct val="35000"/>
            </a:spcAft>
          </a:pPr>
          <a:r>
            <a:rPr lang="vi-VN" sz="2700" kern="1200" smtClean="0"/>
            <a:t>2</a:t>
          </a:r>
          <a:endParaRPr lang="vi-VN" sz="2700" kern="1200"/>
        </a:p>
      </dsp:txBody>
      <dsp:txXfrm rot="-5400000">
        <a:off x="1" y="1634447"/>
        <a:ext cx="922290" cy="395268"/>
      </dsp:txXfrm>
    </dsp:sp>
    <dsp:sp modelId="{7F088FF7-C4D5-4990-9A44-18438E029A61}">
      <dsp:nvSpPr>
        <dsp:cNvPr id="0" name=""/>
        <dsp:cNvSpPr/>
      </dsp:nvSpPr>
      <dsp:spPr>
        <a:xfrm rot="5400000">
          <a:off x="5539854" y="-3444261"/>
          <a:ext cx="856412" cy="10091540"/>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vi-VN" sz="2800" kern="1200" smtClean="0"/>
            <a:t>Đánh giá hậu quả và biến chứng của nôn</a:t>
          </a:r>
          <a:endParaRPr lang="vi-VN" sz="2800" kern="1200"/>
        </a:p>
      </dsp:txBody>
      <dsp:txXfrm rot="-5400000">
        <a:off x="922291" y="1215109"/>
        <a:ext cx="10049733" cy="772798"/>
      </dsp:txXfrm>
    </dsp:sp>
    <dsp:sp modelId="{813865CD-9D6C-4C18-A1C3-378461C2BFF6}">
      <dsp:nvSpPr>
        <dsp:cNvPr id="0" name=""/>
        <dsp:cNvSpPr/>
      </dsp:nvSpPr>
      <dsp:spPr>
        <a:xfrm rot="5400000">
          <a:off x="-197633" y="2542542"/>
          <a:ext cx="1317558" cy="922290"/>
        </a:xfrm>
        <a:prstGeom prst="chevron">
          <a:avLst/>
        </a:prstGeom>
        <a:solidFill>
          <a:srgbClr val="0070C0"/>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lvl="0" algn="ctr" defTabSz="1200150">
            <a:lnSpc>
              <a:spcPct val="90000"/>
            </a:lnSpc>
            <a:spcBef>
              <a:spcPct val="0"/>
            </a:spcBef>
            <a:spcAft>
              <a:spcPct val="35000"/>
            </a:spcAft>
          </a:pPr>
          <a:r>
            <a:rPr lang="vi-VN" sz="2700" kern="1200" smtClean="0"/>
            <a:t>3</a:t>
          </a:r>
          <a:endParaRPr lang="vi-VN" sz="2700" kern="1200"/>
        </a:p>
      </dsp:txBody>
      <dsp:txXfrm rot="-5400000">
        <a:off x="1" y="2806053"/>
        <a:ext cx="922290" cy="395268"/>
      </dsp:txXfrm>
    </dsp:sp>
    <dsp:sp modelId="{AFEA88B4-82A8-40BF-9749-A4AFF9E41A8B}">
      <dsp:nvSpPr>
        <dsp:cNvPr id="0" name=""/>
        <dsp:cNvSpPr/>
      </dsp:nvSpPr>
      <dsp:spPr>
        <a:xfrm rot="5400000">
          <a:off x="5539854" y="-2272654"/>
          <a:ext cx="856412" cy="10091540"/>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vi-VN" sz="2800" kern="1200" smtClean="0"/>
            <a:t>Tìm nguyên nhân nôn ( ưu tiên loại trừ các nguyên nhân ngoại khoa và thần kinh  )</a:t>
          </a:r>
          <a:endParaRPr lang="vi-VN" sz="2800" kern="1200"/>
        </a:p>
      </dsp:txBody>
      <dsp:txXfrm rot="-5400000">
        <a:off x="922291" y="2386716"/>
        <a:ext cx="10049733" cy="772798"/>
      </dsp:txXfrm>
    </dsp:sp>
    <dsp:sp modelId="{8730DF4C-F5DD-499F-AC6B-DF04835A41A1}">
      <dsp:nvSpPr>
        <dsp:cNvPr id="0" name=""/>
        <dsp:cNvSpPr/>
      </dsp:nvSpPr>
      <dsp:spPr>
        <a:xfrm rot="5400000">
          <a:off x="-197633" y="3714149"/>
          <a:ext cx="1317558" cy="922290"/>
        </a:xfrm>
        <a:prstGeom prst="chevron">
          <a:avLst/>
        </a:prstGeom>
        <a:solidFill>
          <a:srgbClr val="C00000"/>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lvl="0" algn="ctr" defTabSz="1200150">
            <a:lnSpc>
              <a:spcPct val="90000"/>
            </a:lnSpc>
            <a:spcBef>
              <a:spcPct val="0"/>
            </a:spcBef>
            <a:spcAft>
              <a:spcPct val="35000"/>
            </a:spcAft>
          </a:pPr>
          <a:r>
            <a:rPr lang="vi-VN" sz="2700" kern="1200" smtClean="0"/>
            <a:t>4</a:t>
          </a:r>
          <a:endParaRPr lang="vi-VN" sz="2700" kern="1200"/>
        </a:p>
      </dsp:txBody>
      <dsp:txXfrm rot="-5400000">
        <a:off x="1" y="3977660"/>
        <a:ext cx="922290" cy="395268"/>
      </dsp:txXfrm>
    </dsp:sp>
    <dsp:sp modelId="{36E43D09-5C59-472D-9F12-97555FAB8DF7}">
      <dsp:nvSpPr>
        <dsp:cNvPr id="0" name=""/>
        <dsp:cNvSpPr/>
      </dsp:nvSpPr>
      <dsp:spPr>
        <a:xfrm rot="5400000">
          <a:off x="5539854" y="-1101047"/>
          <a:ext cx="856412" cy="10091540"/>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vi-VN" sz="2800" kern="1200" smtClean="0"/>
            <a:t>Điều trị ngay trong các trường hợp cụ thể</a:t>
          </a:r>
          <a:endParaRPr lang="vi-VN" sz="2800" kern="1200"/>
        </a:p>
      </dsp:txBody>
      <dsp:txXfrm rot="-5400000">
        <a:off x="922291" y="3558323"/>
        <a:ext cx="10049733" cy="77279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41665A-518F-4DF9-BFB4-6798610A5C4B}">
      <dsp:nvSpPr>
        <dsp:cNvPr id="0" name=""/>
        <dsp:cNvSpPr/>
      </dsp:nvSpPr>
      <dsp:spPr>
        <a:xfrm>
          <a:off x="-6408568" y="-980219"/>
          <a:ext cx="7627993" cy="7627993"/>
        </a:xfrm>
        <a:prstGeom prst="blockArc">
          <a:avLst>
            <a:gd name="adj1" fmla="val 18900000"/>
            <a:gd name="adj2" fmla="val 2700000"/>
            <a:gd name="adj3" fmla="val 283"/>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FA1F4A8-A823-4AC1-A2CB-857CDB80E173}">
      <dsp:nvSpPr>
        <dsp:cNvPr id="0" name=""/>
        <dsp:cNvSpPr/>
      </dsp:nvSpPr>
      <dsp:spPr>
        <a:xfrm>
          <a:off x="776127" y="487486"/>
          <a:ext cx="11415872" cy="87189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2068" tIns="68580" rIns="68580" bIns="68580" numCol="1" spcCol="1270" anchor="ctr" anchorCtr="0">
          <a:noAutofit/>
        </a:bodyPr>
        <a:lstStyle/>
        <a:p>
          <a:pPr lvl="0" algn="l" defTabSz="1200150">
            <a:lnSpc>
              <a:spcPct val="90000"/>
            </a:lnSpc>
            <a:spcBef>
              <a:spcPct val="0"/>
            </a:spcBef>
            <a:spcAft>
              <a:spcPct val="35000"/>
            </a:spcAft>
          </a:pPr>
          <a:r>
            <a:rPr lang="vi-VN" sz="2700" kern="1200" smtClean="0"/>
            <a:t>Điều trị theo nguyên nhân</a:t>
          </a:r>
          <a:endParaRPr lang="vi-VN" sz="2700" kern="1200"/>
        </a:p>
      </dsp:txBody>
      <dsp:txXfrm>
        <a:off x="776127" y="487486"/>
        <a:ext cx="11415872" cy="871896"/>
      </dsp:txXfrm>
    </dsp:sp>
    <dsp:sp modelId="{E687BDA7-D754-4E66-AB72-DB62107824F4}">
      <dsp:nvSpPr>
        <dsp:cNvPr id="0" name=""/>
        <dsp:cNvSpPr/>
      </dsp:nvSpPr>
      <dsp:spPr>
        <a:xfrm>
          <a:off x="93197" y="326734"/>
          <a:ext cx="1089870" cy="1089870"/>
        </a:xfrm>
        <a:prstGeom prst="ellipse">
          <a:avLst/>
        </a:prstGeom>
        <a:solidFill>
          <a:srgbClr val="FFFF00"/>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B3F16F9-8995-4524-BFD7-37000FBE4107}">
      <dsp:nvSpPr>
        <dsp:cNvPr id="0" name=""/>
        <dsp:cNvSpPr/>
      </dsp:nvSpPr>
      <dsp:spPr>
        <a:xfrm>
          <a:off x="1138011" y="1743793"/>
          <a:ext cx="10973475" cy="87189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2068" tIns="68580" rIns="68580" bIns="68580" numCol="1" spcCol="1270" anchor="ctr" anchorCtr="0">
          <a:noAutofit/>
        </a:bodyPr>
        <a:lstStyle/>
        <a:p>
          <a:pPr lvl="0" algn="l" defTabSz="1200150">
            <a:lnSpc>
              <a:spcPct val="90000"/>
            </a:lnSpc>
            <a:spcBef>
              <a:spcPct val="0"/>
            </a:spcBef>
            <a:spcAft>
              <a:spcPct val="35000"/>
            </a:spcAft>
          </a:pPr>
          <a:r>
            <a:rPr lang="vi-VN" sz="2700" kern="1200" smtClean="0"/>
            <a:t>Xử trí kịp thời và ngăn chặn các biến chứng của nôn</a:t>
          </a:r>
          <a:endParaRPr lang="vi-VN" sz="2700" kern="1200"/>
        </a:p>
      </dsp:txBody>
      <dsp:txXfrm>
        <a:off x="1138011" y="1743793"/>
        <a:ext cx="10973475" cy="871896"/>
      </dsp:txXfrm>
    </dsp:sp>
    <dsp:sp modelId="{473419F6-9163-4F46-9D2D-58D32A4AC121}">
      <dsp:nvSpPr>
        <dsp:cNvPr id="0" name=""/>
        <dsp:cNvSpPr/>
      </dsp:nvSpPr>
      <dsp:spPr>
        <a:xfrm>
          <a:off x="593075" y="1634806"/>
          <a:ext cx="1089870" cy="1089870"/>
        </a:xfrm>
        <a:prstGeom prst="ellipse">
          <a:avLst/>
        </a:prstGeom>
        <a:solidFill>
          <a:srgbClr val="00B0F0"/>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C1EF8B4-63FD-400D-BD96-81FBA7A8426D}">
      <dsp:nvSpPr>
        <dsp:cNvPr id="0" name=""/>
        <dsp:cNvSpPr/>
      </dsp:nvSpPr>
      <dsp:spPr>
        <a:xfrm>
          <a:off x="1138011" y="3051865"/>
          <a:ext cx="10973475" cy="87189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2068" tIns="68580" rIns="68580" bIns="68580" numCol="1" spcCol="1270" anchor="ctr" anchorCtr="0">
          <a:noAutofit/>
        </a:bodyPr>
        <a:lstStyle/>
        <a:p>
          <a:pPr lvl="0" algn="l" defTabSz="1200150">
            <a:lnSpc>
              <a:spcPct val="90000"/>
            </a:lnSpc>
            <a:spcBef>
              <a:spcPct val="0"/>
            </a:spcBef>
            <a:spcAft>
              <a:spcPct val="35000"/>
            </a:spcAft>
          </a:pPr>
          <a:r>
            <a:rPr lang="vi-VN" sz="2700" kern="1200" smtClean="0"/>
            <a:t>Điều trị triệu chứng bằng thuốc giảm nôn một cách hợp lý</a:t>
          </a:r>
        </a:p>
      </dsp:txBody>
      <dsp:txXfrm>
        <a:off x="1138011" y="3051865"/>
        <a:ext cx="10973475" cy="871896"/>
      </dsp:txXfrm>
    </dsp:sp>
    <dsp:sp modelId="{2279735E-C951-47B2-A493-13F7AB14DEF2}">
      <dsp:nvSpPr>
        <dsp:cNvPr id="0" name=""/>
        <dsp:cNvSpPr/>
      </dsp:nvSpPr>
      <dsp:spPr>
        <a:xfrm>
          <a:off x="593075" y="2942877"/>
          <a:ext cx="1089870" cy="1089870"/>
        </a:xfrm>
        <a:prstGeom prst="ellipse">
          <a:avLst/>
        </a:prstGeom>
        <a:solidFill>
          <a:srgbClr val="FF0000"/>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4947EA2-64AC-49D7-A3D7-DD833B081356}">
      <dsp:nvSpPr>
        <dsp:cNvPr id="0" name=""/>
        <dsp:cNvSpPr/>
      </dsp:nvSpPr>
      <dsp:spPr>
        <a:xfrm>
          <a:off x="638132" y="4359936"/>
          <a:ext cx="11473354" cy="87189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2068" tIns="68580" rIns="68580" bIns="68580" numCol="1" spcCol="1270" anchor="ctr" anchorCtr="0">
          <a:noAutofit/>
        </a:bodyPr>
        <a:lstStyle/>
        <a:p>
          <a:pPr lvl="0" algn="l" defTabSz="1200150">
            <a:lnSpc>
              <a:spcPct val="90000"/>
            </a:lnSpc>
            <a:spcBef>
              <a:spcPct val="0"/>
            </a:spcBef>
            <a:spcAft>
              <a:spcPct val="35000"/>
            </a:spcAft>
          </a:pPr>
          <a:r>
            <a:rPr lang="vi-VN" sz="2700" kern="1200" smtClean="0"/>
            <a:t>Các can thiệp về nhận thức và hành vi đối với nôn tâm thần,khó tiêu chức năng,chứng cuồng ăn,hội chứng nhai lại</a:t>
          </a:r>
        </a:p>
      </dsp:txBody>
      <dsp:txXfrm>
        <a:off x="638132" y="4359936"/>
        <a:ext cx="11473354" cy="871896"/>
      </dsp:txXfrm>
    </dsp:sp>
    <dsp:sp modelId="{811E3F33-C529-469D-82CB-AFDF2B62C3AA}">
      <dsp:nvSpPr>
        <dsp:cNvPr id="0" name=""/>
        <dsp:cNvSpPr/>
      </dsp:nvSpPr>
      <dsp:spPr>
        <a:xfrm>
          <a:off x="93197" y="4250949"/>
          <a:ext cx="1089870" cy="1089870"/>
        </a:xfrm>
        <a:prstGeom prst="ellipse">
          <a:avLst/>
        </a:prstGeom>
        <a:solidFill>
          <a:srgbClr val="7030A0"/>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190F32-A1A0-42D8-8621-98414DCE4BDF}">
      <dsp:nvSpPr>
        <dsp:cNvPr id="0" name=""/>
        <dsp:cNvSpPr/>
      </dsp:nvSpPr>
      <dsp:spPr>
        <a:xfrm>
          <a:off x="-6369529" y="-974284"/>
          <a:ext cx="7581617" cy="7581617"/>
        </a:xfrm>
        <a:prstGeom prst="blockArc">
          <a:avLst>
            <a:gd name="adj1" fmla="val 18900000"/>
            <a:gd name="adj2" fmla="val 2700000"/>
            <a:gd name="adj3" fmla="val 285"/>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09C97BC-385A-4AAF-A306-772D45A5AA67}">
      <dsp:nvSpPr>
        <dsp:cNvPr id="0" name=""/>
        <dsp:cNvSpPr/>
      </dsp:nvSpPr>
      <dsp:spPr>
        <a:xfrm>
          <a:off x="634302" y="433068"/>
          <a:ext cx="11477729" cy="86658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7854" tIns="68580" rIns="68580" bIns="68580" numCol="1" spcCol="1270" anchor="ctr" anchorCtr="0">
          <a:noAutofit/>
        </a:bodyPr>
        <a:lstStyle/>
        <a:p>
          <a:pPr lvl="0" algn="l" defTabSz="1200150">
            <a:lnSpc>
              <a:spcPct val="90000"/>
            </a:lnSpc>
            <a:spcBef>
              <a:spcPct val="0"/>
            </a:spcBef>
            <a:spcAft>
              <a:spcPct val="35000"/>
            </a:spcAft>
          </a:pPr>
          <a:r>
            <a:rPr lang="en-US" sz="2700" kern="1200" err="1" smtClean="0"/>
            <a:t>Nôn</a:t>
          </a:r>
          <a:r>
            <a:rPr lang="en-US" sz="2700" kern="1200" smtClean="0"/>
            <a:t> </a:t>
          </a:r>
          <a:r>
            <a:rPr lang="en-US" sz="2700" kern="1200" err="1" smtClean="0"/>
            <a:t>kéo</a:t>
          </a:r>
          <a:r>
            <a:rPr lang="en-US" sz="2700" kern="1200" smtClean="0"/>
            <a:t> </a:t>
          </a:r>
          <a:r>
            <a:rPr lang="en-US" sz="2700" kern="1200" err="1" smtClean="0"/>
            <a:t>dài</a:t>
          </a:r>
          <a:r>
            <a:rPr lang="en-US" sz="2700" kern="1200" smtClean="0"/>
            <a:t> </a:t>
          </a:r>
          <a:r>
            <a:rPr lang="en-US" sz="2700" kern="1200" err="1" smtClean="0"/>
            <a:t>gây</a:t>
          </a:r>
          <a:r>
            <a:rPr lang="en-US" sz="2700" kern="1200" smtClean="0"/>
            <a:t> </a:t>
          </a:r>
          <a:r>
            <a:rPr lang="en-US" sz="2700" kern="1200" err="1" smtClean="0"/>
            <a:t>rối</a:t>
          </a:r>
          <a:r>
            <a:rPr lang="en-US" sz="2700" kern="1200" smtClean="0"/>
            <a:t> </a:t>
          </a:r>
          <a:r>
            <a:rPr lang="en-US" sz="2700" kern="1200" err="1" smtClean="0"/>
            <a:t>loạn</a:t>
          </a:r>
          <a:r>
            <a:rPr lang="en-US" sz="2700" kern="1200" smtClean="0"/>
            <a:t> </a:t>
          </a:r>
          <a:r>
            <a:rPr lang="en-US" sz="2700" kern="1200" err="1" smtClean="0"/>
            <a:t>điện</a:t>
          </a:r>
          <a:r>
            <a:rPr lang="en-US" sz="2700" kern="1200" smtClean="0"/>
            <a:t> </a:t>
          </a:r>
          <a:r>
            <a:rPr lang="en-US" sz="2700" kern="1200" err="1" smtClean="0"/>
            <a:t>giải</a:t>
          </a:r>
          <a:r>
            <a:rPr lang="en-US" sz="2700" kern="1200" smtClean="0"/>
            <a:t> </a:t>
          </a:r>
          <a:r>
            <a:rPr lang="en-US" sz="2700" kern="1200" err="1" smtClean="0"/>
            <a:t>và</a:t>
          </a:r>
          <a:r>
            <a:rPr lang="en-US" sz="2700" kern="1200" smtClean="0"/>
            <a:t> </a:t>
          </a:r>
          <a:r>
            <a:rPr lang="en-US" sz="2700" kern="1200" err="1" smtClean="0"/>
            <a:t>không</a:t>
          </a:r>
          <a:r>
            <a:rPr lang="en-US" sz="2700" kern="1200" smtClean="0"/>
            <a:t> </a:t>
          </a:r>
          <a:r>
            <a:rPr lang="en-US" sz="2700" kern="1200" err="1" smtClean="0"/>
            <a:t>ăn</a:t>
          </a:r>
          <a:r>
            <a:rPr lang="en-US" sz="2700" kern="1200" smtClean="0"/>
            <a:t> </a:t>
          </a:r>
          <a:r>
            <a:rPr lang="en-US" sz="2700" kern="1200" err="1" smtClean="0"/>
            <a:t>được</a:t>
          </a:r>
          <a:r>
            <a:rPr lang="en-US" sz="2700" kern="1200" smtClean="0"/>
            <a:t> do </a:t>
          </a:r>
          <a:r>
            <a:rPr lang="en-US" sz="2700" kern="1200" err="1" smtClean="0"/>
            <a:t>nôn</a:t>
          </a:r>
          <a:endParaRPr lang="vi-VN" sz="2700" kern="1200"/>
        </a:p>
      </dsp:txBody>
      <dsp:txXfrm>
        <a:off x="634302" y="433068"/>
        <a:ext cx="11477729" cy="866588"/>
      </dsp:txXfrm>
    </dsp:sp>
    <dsp:sp modelId="{C37BD0C4-B4D6-48AA-AB57-00DB609EF343}">
      <dsp:nvSpPr>
        <dsp:cNvPr id="0" name=""/>
        <dsp:cNvSpPr/>
      </dsp:nvSpPr>
      <dsp:spPr>
        <a:xfrm>
          <a:off x="92684" y="324745"/>
          <a:ext cx="1083235" cy="1083235"/>
        </a:xfrm>
        <a:prstGeom prst="ellipse">
          <a:avLst/>
        </a:prstGeom>
        <a:solidFill>
          <a:srgbClr val="FF0000"/>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96B9301-05B5-483E-8E85-118EB6B2F2C4}">
      <dsp:nvSpPr>
        <dsp:cNvPr id="0" name=""/>
        <dsp:cNvSpPr/>
      </dsp:nvSpPr>
      <dsp:spPr>
        <a:xfrm>
          <a:off x="1131137" y="1733176"/>
          <a:ext cx="10980894" cy="86658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7854" tIns="68580" rIns="68580" bIns="68580" numCol="1" spcCol="1270" anchor="ctr" anchorCtr="0">
          <a:noAutofit/>
        </a:bodyPr>
        <a:lstStyle/>
        <a:p>
          <a:pPr lvl="0" algn="l" defTabSz="1200150">
            <a:lnSpc>
              <a:spcPct val="90000"/>
            </a:lnSpc>
            <a:spcBef>
              <a:spcPct val="0"/>
            </a:spcBef>
            <a:spcAft>
              <a:spcPct val="35000"/>
            </a:spcAft>
          </a:pPr>
          <a:r>
            <a:rPr lang="en-US" sz="2700" kern="1200" err="1" smtClean="0"/>
            <a:t>Không</a:t>
          </a:r>
          <a:r>
            <a:rPr lang="en-US" sz="2700" kern="1200" smtClean="0"/>
            <a:t> </a:t>
          </a:r>
          <a:r>
            <a:rPr lang="en-US" sz="2700" kern="1200" err="1" smtClean="0"/>
            <a:t>sử</a:t>
          </a:r>
          <a:r>
            <a:rPr lang="en-US" sz="2700" kern="1200" smtClean="0"/>
            <a:t> </a:t>
          </a:r>
          <a:r>
            <a:rPr lang="en-US" sz="2700" kern="1200" err="1" smtClean="0"/>
            <a:t>dụng</a:t>
          </a:r>
          <a:r>
            <a:rPr lang="en-US" sz="2700" kern="1200" smtClean="0"/>
            <a:t> </a:t>
          </a:r>
          <a:r>
            <a:rPr lang="en-US" sz="2700" kern="1200" err="1" smtClean="0"/>
            <a:t>cho</a:t>
          </a:r>
          <a:r>
            <a:rPr lang="en-US" sz="2700" kern="1200" smtClean="0"/>
            <a:t> </a:t>
          </a:r>
          <a:r>
            <a:rPr lang="en-US" sz="2700" kern="1200" err="1" smtClean="0"/>
            <a:t>nôn</a:t>
          </a:r>
          <a:r>
            <a:rPr lang="en-US" sz="2700" kern="1200" smtClean="0"/>
            <a:t> </a:t>
          </a:r>
          <a:r>
            <a:rPr lang="en-US" sz="2700" kern="1200" err="1" smtClean="0"/>
            <a:t>không</a:t>
          </a:r>
          <a:r>
            <a:rPr lang="en-US" sz="2700" kern="1200" smtClean="0"/>
            <a:t> </a:t>
          </a:r>
          <a:r>
            <a:rPr lang="en-US" sz="2700" kern="1200" err="1" smtClean="0"/>
            <a:t>rõ</a:t>
          </a:r>
          <a:r>
            <a:rPr lang="en-US" sz="2700" kern="1200" smtClean="0"/>
            <a:t> </a:t>
          </a:r>
          <a:r>
            <a:rPr lang="en-US" sz="2700" kern="1200" err="1" smtClean="0"/>
            <a:t>nguyên</a:t>
          </a:r>
          <a:r>
            <a:rPr lang="en-US" sz="2700" kern="1200" smtClean="0"/>
            <a:t> </a:t>
          </a:r>
          <a:r>
            <a:rPr lang="en-US" sz="2700" kern="1200" err="1" smtClean="0"/>
            <a:t>nhân</a:t>
          </a:r>
          <a:r>
            <a:rPr lang="en-US" sz="2700" kern="1200" smtClean="0"/>
            <a:t> </a:t>
          </a:r>
          <a:endParaRPr lang="vi-VN" sz="2700" kern="1200"/>
        </a:p>
      </dsp:txBody>
      <dsp:txXfrm>
        <a:off x="1131137" y="1733176"/>
        <a:ext cx="10980894" cy="866588"/>
      </dsp:txXfrm>
    </dsp:sp>
    <dsp:sp modelId="{CA6C309B-11EC-4C9F-BAF5-9C9EE7FBA95C}">
      <dsp:nvSpPr>
        <dsp:cNvPr id="0" name=""/>
        <dsp:cNvSpPr/>
      </dsp:nvSpPr>
      <dsp:spPr>
        <a:xfrm>
          <a:off x="589519" y="1624852"/>
          <a:ext cx="1083235" cy="1083235"/>
        </a:xfrm>
        <a:prstGeom prst="ellipse">
          <a:avLst/>
        </a:prstGeom>
        <a:solidFill>
          <a:srgbClr val="00B050"/>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73E7E2E-164A-4180-B59B-B0427AA20493}">
      <dsp:nvSpPr>
        <dsp:cNvPr id="0" name=""/>
        <dsp:cNvSpPr/>
      </dsp:nvSpPr>
      <dsp:spPr>
        <a:xfrm>
          <a:off x="1131137" y="3033284"/>
          <a:ext cx="10980894" cy="86658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7854" tIns="68580" rIns="68580" bIns="68580" numCol="1" spcCol="1270" anchor="ctr" anchorCtr="0">
          <a:noAutofit/>
        </a:bodyPr>
        <a:lstStyle/>
        <a:p>
          <a:pPr lvl="0" algn="l" defTabSz="1200150">
            <a:lnSpc>
              <a:spcPct val="90000"/>
            </a:lnSpc>
            <a:spcBef>
              <a:spcPct val="0"/>
            </a:spcBef>
            <a:spcAft>
              <a:spcPct val="35000"/>
            </a:spcAft>
          </a:pPr>
          <a:r>
            <a:rPr lang="en-US" sz="2700" kern="1200" err="1" smtClean="0"/>
            <a:t>Không</a:t>
          </a:r>
          <a:r>
            <a:rPr lang="en-US" sz="2700" kern="1200" smtClean="0"/>
            <a:t> </a:t>
          </a:r>
          <a:r>
            <a:rPr lang="en-US" sz="2700" kern="1200" err="1" smtClean="0"/>
            <a:t>sử</a:t>
          </a:r>
          <a:r>
            <a:rPr lang="en-US" sz="2700" kern="1200" smtClean="0"/>
            <a:t> </a:t>
          </a:r>
          <a:r>
            <a:rPr lang="en-US" sz="2700" kern="1200" err="1" smtClean="0"/>
            <a:t>dụng</a:t>
          </a:r>
          <a:r>
            <a:rPr lang="en-US" sz="2700" kern="1200" smtClean="0"/>
            <a:t> </a:t>
          </a:r>
          <a:r>
            <a:rPr lang="en-US" sz="2700" kern="1200" err="1" smtClean="0"/>
            <a:t>cho</a:t>
          </a:r>
          <a:r>
            <a:rPr lang="en-US" sz="2700" kern="1200" smtClean="0"/>
            <a:t> </a:t>
          </a:r>
          <a:r>
            <a:rPr lang="en-US" sz="2700" kern="1200" err="1" smtClean="0"/>
            <a:t>nôn</a:t>
          </a:r>
          <a:r>
            <a:rPr lang="en-US" sz="2700" kern="1200" smtClean="0"/>
            <a:t> do </a:t>
          </a:r>
          <a:r>
            <a:rPr lang="en-US" sz="2700" kern="1200" err="1" smtClean="0"/>
            <a:t>nguyên</a:t>
          </a:r>
          <a:r>
            <a:rPr lang="en-US" sz="2700" kern="1200" smtClean="0"/>
            <a:t> </a:t>
          </a:r>
          <a:r>
            <a:rPr lang="en-US" sz="2700" kern="1200" err="1" smtClean="0"/>
            <a:t>nhân</a:t>
          </a:r>
          <a:r>
            <a:rPr lang="en-US" sz="2700" kern="1200" smtClean="0"/>
            <a:t> </a:t>
          </a:r>
          <a:r>
            <a:rPr lang="en-US" sz="2700" kern="1200" err="1" smtClean="0"/>
            <a:t>bất</a:t>
          </a:r>
          <a:r>
            <a:rPr lang="en-US" sz="2700" kern="1200" smtClean="0"/>
            <a:t> </a:t>
          </a:r>
          <a:r>
            <a:rPr lang="en-US" sz="2700" kern="1200" err="1" smtClean="0"/>
            <a:t>thường</a:t>
          </a:r>
          <a:r>
            <a:rPr lang="en-US" sz="2700" kern="1200" smtClean="0"/>
            <a:t> </a:t>
          </a:r>
          <a:r>
            <a:rPr lang="en-US" sz="2700" kern="1200" err="1" smtClean="0"/>
            <a:t>giải</a:t>
          </a:r>
          <a:r>
            <a:rPr lang="en-US" sz="2700" kern="1200" smtClean="0"/>
            <a:t> </a:t>
          </a:r>
          <a:r>
            <a:rPr lang="en-US" sz="2700" kern="1200" err="1" smtClean="0"/>
            <a:t>phẫu</a:t>
          </a:r>
          <a:r>
            <a:rPr lang="en-US" sz="2700" kern="1200" smtClean="0"/>
            <a:t> </a:t>
          </a:r>
          <a:r>
            <a:rPr lang="en-US" sz="2700" kern="1200" err="1" smtClean="0"/>
            <a:t>hệ</a:t>
          </a:r>
          <a:r>
            <a:rPr lang="en-US" sz="2700" kern="1200" smtClean="0"/>
            <a:t> </a:t>
          </a:r>
          <a:r>
            <a:rPr lang="en-US" sz="2700" kern="1200" err="1" smtClean="0"/>
            <a:t>tiêu</a:t>
          </a:r>
          <a:r>
            <a:rPr lang="en-US" sz="2700" kern="1200" smtClean="0"/>
            <a:t> </a:t>
          </a:r>
          <a:r>
            <a:rPr lang="en-US" sz="2700" kern="1200" err="1" smtClean="0"/>
            <a:t>hóa</a:t>
          </a:r>
          <a:r>
            <a:rPr lang="en-US" sz="2700" kern="1200" smtClean="0"/>
            <a:t> </a:t>
          </a:r>
          <a:r>
            <a:rPr lang="en-US" sz="2700" kern="1200" err="1" smtClean="0"/>
            <a:t>hoặc</a:t>
          </a:r>
          <a:r>
            <a:rPr lang="en-US" sz="2700" kern="1200" smtClean="0"/>
            <a:t> </a:t>
          </a:r>
          <a:r>
            <a:rPr lang="en-US" sz="2700" kern="1200" err="1" smtClean="0"/>
            <a:t>sau</a:t>
          </a:r>
          <a:r>
            <a:rPr lang="en-US" sz="2700" kern="1200" smtClean="0"/>
            <a:t> </a:t>
          </a:r>
          <a:r>
            <a:rPr lang="en-US" sz="2700" kern="1200" err="1" smtClean="0"/>
            <a:t>phẫu</a:t>
          </a:r>
          <a:r>
            <a:rPr lang="en-US" sz="2700" kern="1200" smtClean="0"/>
            <a:t> </a:t>
          </a:r>
          <a:r>
            <a:rPr lang="en-US" sz="2700" kern="1200" err="1" smtClean="0"/>
            <a:t>thuật</a:t>
          </a:r>
          <a:r>
            <a:rPr lang="en-US" sz="2700" kern="1200" smtClean="0"/>
            <a:t> ổ </a:t>
          </a:r>
          <a:r>
            <a:rPr lang="en-US" sz="2700" kern="1200" err="1" smtClean="0"/>
            <a:t>bụng</a:t>
          </a:r>
          <a:endParaRPr lang="vi-VN" sz="2700" kern="1200"/>
        </a:p>
      </dsp:txBody>
      <dsp:txXfrm>
        <a:off x="1131137" y="3033284"/>
        <a:ext cx="10980894" cy="866588"/>
      </dsp:txXfrm>
    </dsp:sp>
    <dsp:sp modelId="{8A19267E-2991-4A90-A2E4-05BA9AA77A5B}">
      <dsp:nvSpPr>
        <dsp:cNvPr id="0" name=""/>
        <dsp:cNvSpPr/>
      </dsp:nvSpPr>
      <dsp:spPr>
        <a:xfrm>
          <a:off x="589519" y="2924960"/>
          <a:ext cx="1083235" cy="1083235"/>
        </a:xfrm>
        <a:prstGeom prst="ellipse">
          <a:avLst/>
        </a:prstGeom>
        <a:solidFill>
          <a:schemeClr val="bg2">
            <a:lumMod val="5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697257D-67B8-4C0D-B800-5C4AD2C1DBD8}">
      <dsp:nvSpPr>
        <dsp:cNvPr id="0" name=""/>
        <dsp:cNvSpPr/>
      </dsp:nvSpPr>
      <dsp:spPr>
        <a:xfrm>
          <a:off x="634302" y="4333391"/>
          <a:ext cx="11477729" cy="86658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7854" tIns="68580" rIns="68580" bIns="68580" numCol="1" spcCol="1270" anchor="ctr" anchorCtr="0">
          <a:noAutofit/>
        </a:bodyPr>
        <a:lstStyle/>
        <a:p>
          <a:pPr lvl="0" algn="l" defTabSz="1200150">
            <a:lnSpc>
              <a:spcPct val="90000"/>
            </a:lnSpc>
            <a:spcBef>
              <a:spcPct val="0"/>
            </a:spcBef>
            <a:spcAft>
              <a:spcPct val="35000"/>
            </a:spcAft>
          </a:pPr>
          <a:r>
            <a:rPr lang="en-US" sz="2700" kern="1200" err="1" smtClean="0"/>
            <a:t>Cân</a:t>
          </a:r>
          <a:r>
            <a:rPr lang="en-US" sz="2700" kern="1200" smtClean="0"/>
            <a:t> </a:t>
          </a:r>
          <a:r>
            <a:rPr lang="en-US" sz="2700" kern="1200" err="1" smtClean="0"/>
            <a:t>nhắc</a:t>
          </a:r>
          <a:r>
            <a:rPr lang="en-US" sz="2700" kern="1200" smtClean="0"/>
            <a:t> </a:t>
          </a:r>
          <a:r>
            <a:rPr lang="en-US" sz="2700" kern="1200" err="1" smtClean="0"/>
            <a:t>giữa</a:t>
          </a:r>
          <a:r>
            <a:rPr lang="en-US" sz="2700" kern="1200" smtClean="0"/>
            <a:t> </a:t>
          </a:r>
          <a:r>
            <a:rPr lang="en-US" sz="2700" kern="1200" err="1" smtClean="0"/>
            <a:t>lợi</a:t>
          </a:r>
          <a:r>
            <a:rPr lang="en-US" sz="2700" kern="1200" smtClean="0"/>
            <a:t> </a:t>
          </a:r>
          <a:r>
            <a:rPr lang="en-US" sz="2700" kern="1200" err="1" smtClean="0"/>
            <a:t>ích</a:t>
          </a:r>
          <a:r>
            <a:rPr lang="en-US" sz="2700" kern="1200" smtClean="0"/>
            <a:t> </a:t>
          </a:r>
          <a:r>
            <a:rPr lang="en-US" sz="2700" kern="1200" err="1" smtClean="0"/>
            <a:t>và</a:t>
          </a:r>
          <a:r>
            <a:rPr lang="en-US" sz="2700" kern="1200" smtClean="0"/>
            <a:t> </a:t>
          </a:r>
          <a:r>
            <a:rPr lang="en-US" sz="2700" kern="1200" err="1" smtClean="0"/>
            <a:t>nguy</a:t>
          </a:r>
          <a:r>
            <a:rPr lang="en-US" sz="2700" kern="1200" smtClean="0"/>
            <a:t> </a:t>
          </a:r>
          <a:r>
            <a:rPr lang="en-US" sz="2700" kern="1200" err="1" smtClean="0"/>
            <a:t>cơ</a:t>
          </a:r>
          <a:r>
            <a:rPr lang="en-US" sz="2700" kern="1200" smtClean="0"/>
            <a:t> </a:t>
          </a:r>
          <a:r>
            <a:rPr lang="en-US" sz="2700" kern="1200" err="1" smtClean="0"/>
            <a:t>khi</a:t>
          </a:r>
          <a:r>
            <a:rPr lang="en-US" sz="2700" kern="1200" smtClean="0"/>
            <a:t> </a:t>
          </a:r>
          <a:r>
            <a:rPr lang="en-US" sz="2700" kern="1200" err="1" smtClean="0"/>
            <a:t>sd</a:t>
          </a:r>
          <a:r>
            <a:rPr lang="en-US" sz="2700" kern="1200" smtClean="0"/>
            <a:t> </a:t>
          </a:r>
          <a:r>
            <a:rPr lang="en-US" sz="2700" kern="1200" err="1" smtClean="0"/>
            <a:t>thuốc</a:t>
          </a:r>
          <a:r>
            <a:rPr lang="en-US" sz="2700" kern="1200" smtClean="0"/>
            <a:t> </a:t>
          </a:r>
          <a:r>
            <a:rPr lang="en-US" sz="2700" kern="1200" err="1" smtClean="0"/>
            <a:t>chống</a:t>
          </a:r>
          <a:r>
            <a:rPr lang="en-US" sz="2700" kern="1200" smtClean="0"/>
            <a:t> </a:t>
          </a:r>
          <a:r>
            <a:rPr lang="en-US" sz="2700" kern="1200" err="1" smtClean="0"/>
            <a:t>nôn</a:t>
          </a:r>
          <a:endParaRPr lang="vi-VN" sz="2700" kern="1200"/>
        </a:p>
      </dsp:txBody>
      <dsp:txXfrm>
        <a:off x="634302" y="4333391"/>
        <a:ext cx="11477729" cy="866588"/>
      </dsp:txXfrm>
    </dsp:sp>
    <dsp:sp modelId="{425738C9-5024-4661-9D0B-769C4D6F7F26}">
      <dsp:nvSpPr>
        <dsp:cNvPr id="0" name=""/>
        <dsp:cNvSpPr/>
      </dsp:nvSpPr>
      <dsp:spPr>
        <a:xfrm>
          <a:off x="92684" y="4225068"/>
          <a:ext cx="1083235" cy="1083235"/>
        </a:xfrm>
        <a:prstGeom prst="ellipse">
          <a:avLst/>
        </a:prstGeom>
        <a:solidFill>
          <a:srgbClr val="FFFF00"/>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1F5362-76ED-4107-A827-EB3B30F50747}" type="datetimeFigureOut">
              <a:rPr lang="vi-VN" smtClean="0"/>
              <a:t>30/09/18</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48B98B-2C64-47BC-9791-568138DC8804}" type="slidenum">
              <a:rPr lang="vi-VN" smtClean="0"/>
              <a:t>‹#›</a:t>
            </a:fld>
            <a:endParaRPr lang="vi-VN"/>
          </a:p>
        </p:txBody>
      </p:sp>
    </p:spTree>
    <p:extLst>
      <p:ext uri="{BB962C8B-B14F-4D97-AF65-F5344CB8AC3E}">
        <p14:creationId xmlns:p14="http://schemas.microsoft.com/office/powerpoint/2010/main" val="1887562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D148B98B-2C64-47BC-9791-568138DC8804}" type="slidenum">
              <a:rPr lang="vi-VN" smtClean="0"/>
              <a:t>1</a:t>
            </a:fld>
            <a:endParaRPr lang="vi-VN"/>
          </a:p>
        </p:txBody>
      </p:sp>
    </p:spTree>
    <p:extLst>
      <p:ext uri="{BB962C8B-B14F-4D97-AF65-F5344CB8AC3E}">
        <p14:creationId xmlns:p14="http://schemas.microsoft.com/office/powerpoint/2010/main" val="3216861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Nôn</a:t>
            </a:r>
            <a:r>
              <a:rPr lang="vi-VN" baseline="0" smtClean="0"/>
              <a:t> cấp tính</a:t>
            </a:r>
          </a:p>
          <a:p>
            <a:r>
              <a:rPr lang="vi-VN" baseline="0" smtClean="0"/>
              <a:t>Nôn mạn tính</a:t>
            </a:r>
          </a:p>
          <a:p>
            <a:r>
              <a:rPr lang="vi-VN" baseline="0" smtClean="0"/>
              <a:t>Nôn chu kì</a:t>
            </a:r>
          </a:p>
          <a:p>
            <a:r>
              <a:rPr lang="vi-VN" baseline="0" smtClean="0"/>
              <a:t>Buồn nôn mạn tính</a:t>
            </a:r>
          </a:p>
          <a:p>
            <a:r>
              <a:rPr lang="vi-VN" baseline="0" smtClean="0"/>
              <a:t>Buồn nôn chức năng</a:t>
            </a:r>
          </a:p>
          <a:p>
            <a:endParaRPr lang="vi-VN"/>
          </a:p>
        </p:txBody>
      </p:sp>
      <p:sp>
        <p:nvSpPr>
          <p:cNvPr id="4" name="Slide Number Placeholder 3"/>
          <p:cNvSpPr>
            <a:spLocks noGrp="1"/>
          </p:cNvSpPr>
          <p:nvPr>
            <p:ph type="sldNum" sz="quarter" idx="10"/>
          </p:nvPr>
        </p:nvSpPr>
        <p:spPr/>
        <p:txBody>
          <a:bodyPr/>
          <a:lstStyle/>
          <a:p>
            <a:fld id="{D148B98B-2C64-47BC-9791-568138DC8804}" type="slidenum">
              <a:rPr lang="vi-VN" smtClean="0"/>
              <a:t>9</a:t>
            </a:fld>
            <a:endParaRPr lang="vi-VN"/>
          </a:p>
        </p:txBody>
      </p:sp>
    </p:spTree>
    <p:extLst>
      <p:ext uri="{BB962C8B-B14F-4D97-AF65-F5344CB8AC3E}">
        <p14:creationId xmlns:p14="http://schemas.microsoft.com/office/powerpoint/2010/main" val="40564712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Sau khi đã</a:t>
            </a:r>
            <a:r>
              <a:rPr lang="vi-VN" baseline="0" smtClean="0"/>
              <a:t> rõ lộ trình tiếp cận bệnh nhân nôn thì h là lúc các bạn cần lưu tâm trong đầu những dấu hiệu cờ đỏ của bệnh nhân nôn. Dấu hiệu cờ đỏ là như thế nào</a:t>
            </a:r>
            <a:endParaRPr lang="vi-VN"/>
          </a:p>
        </p:txBody>
      </p:sp>
      <p:sp>
        <p:nvSpPr>
          <p:cNvPr id="4" name="Slide Number Placeholder 3"/>
          <p:cNvSpPr>
            <a:spLocks noGrp="1"/>
          </p:cNvSpPr>
          <p:nvPr>
            <p:ph type="sldNum" sz="quarter" idx="10"/>
          </p:nvPr>
        </p:nvSpPr>
        <p:spPr/>
        <p:txBody>
          <a:bodyPr/>
          <a:lstStyle/>
          <a:p>
            <a:fld id="{D148B98B-2C64-47BC-9791-568138DC8804}" type="slidenum">
              <a:rPr lang="vi-VN" smtClean="0"/>
              <a:t>19</a:t>
            </a:fld>
            <a:endParaRPr lang="vi-VN"/>
          </a:p>
        </p:txBody>
      </p:sp>
    </p:spTree>
    <p:extLst>
      <p:ext uri="{BB962C8B-B14F-4D97-AF65-F5344CB8AC3E}">
        <p14:creationId xmlns:p14="http://schemas.microsoft.com/office/powerpoint/2010/main" val="18001062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6.jpeg"/><Relationship Id="rId7"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7.jpe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vi-V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vi-VN"/>
          </a:p>
        </p:txBody>
      </p:sp>
      <p:sp>
        <p:nvSpPr>
          <p:cNvPr id="4" name="Date Placeholder 3"/>
          <p:cNvSpPr>
            <a:spLocks noGrp="1"/>
          </p:cNvSpPr>
          <p:nvPr>
            <p:ph type="dt" sz="half" idx="10"/>
          </p:nvPr>
        </p:nvSpPr>
        <p:spPr/>
        <p:txBody>
          <a:bodyPr/>
          <a:lstStyle/>
          <a:p>
            <a:fld id="{B17DF24C-A714-494C-B2E7-4DA32B8D4A7B}" type="datetimeFigureOut">
              <a:rPr lang="vi-VN" smtClean="0"/>
              <a:t>30/09/18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F3E76A7-06F5-4EE3-AADC-3880CAAF3491}" type="slidenum">
              <a:rPr lang="vi-VN" smtClean="0"/>
              <a:t>‹#›</a:t>
            </a:fld>
            <a:endParaRPr lang="vi-VN"/>
          </a:p>
        </p:txBody>
      </p:sp>
    </p:spTree>
    <p:extLst>
      <p:ext uri="{BB962C8B-B14F-4D97-AF65-F5344CB8AC3E}">
        <p14:creationId xmlns:p14="http://schemas.microsoft.com/office/powerpoint/2010/main" val="1199642578"/>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10"/>
          </p:nvPr>
        </p:nvSpPr>
        <p:spPr/>
        <p:txBody>
          <a:bodyPr/>
          <a:lstStyle/>
          <a:p>
            <a:fld id="{B17DF24C-A714-494C-B2E7-4DA32B8D4A7B}" type="datetimeFigureOut">
              <a:rPr lang="vi-VN" smtClean="0"/>
              <a:t>30/09/18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F3E76A7-06F5-4EE3-AADC-3880CAAF3491}" type="slidenum">
              <a:rPr lang="vi-VN" smtClean="0"/>
              <a:t>‹#›</a:t>
            </a:fld>
            <a:endParaRPr lang="vi-VN"/>
          </a:p>
        </p:txBody>
      </p:sp>
    </p:spTree>
    <p:extLst>
      <p:ext uri="{BB962C8B-B14F-4D97-AF65-F5344CB8AC3E}">
        <p14:creationId xmlns:p14="http://schemas.microsoft.com/office/powerpoint/2010/main" val="145154988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vi-V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17DF24C-A714-494C-B2E7-4DA32B8D4A7B}" type="datetimeFigureOut">
              <a:rPr lang="vi-VN" smtClean="0"/>
              <a:t>30/09/18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F3E76A7-06F5-4EE3-AADC-3880CAAF3491}" type="slidenum">
              <a:rPr lang="vi-VN" smtClean="0"/>
              <a:t>‹#›</a:t>
            </a:fld>
            <a:endParaRPr lang="vi-VN"/>
          </a:p>
        </p:txBody>
      </p:sp>
    </p:spTree>
    <p:extLst>
      <p:ext uri="{BB962C8B-B14F-4D97-AF65-F5344CB8AC3E}">
        <p14:creationId xmlns:p14="http://schemas.microsoft.com/office/powerpoint/2010/main" val="9257596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5" name="Date Placeholder 4"/>
          <p:cNvSpPr>
            <a:spLocks noGrp="1"/>
          </p:cNvSpPr>
          <p:nvPr>
            <p:ph type="dt" sz="half" idx="10"/>
          </p:nvPr>
        </p:nvSpPr>
        <p:spPr/>
        <p:txBody>
          <a:bodyPr/>
          <a:lstStyle/>
          <a:p>
            <a:fld id="{B17DF24C-A714-494C-B2E7-4DA32B8D4A7B}" type="datetimeFigureOut">
              <a:rPr lang="vi-VN" smtClean="0"/>
              <a:t>30/09/18</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6F3E76A7-06F5-4EE3-AADC-3880CAAF3491}" type="slidenum">
              <a:rPr lang="vi-VN" smtClean="0"/>
              <a:t>‹#›</a:t>
            </a:fld>
            <a:endParaRPr lang="vi-VN"/>
          </a:p>
        </p:txBody>
      </p:sp>
    </p:spTree>
    <p:extLst>
      <p:ext uri="{BB962C8B-B14F-4D97-AF65-F5344CB8AC3E}">
        <p14:creationId xmlns:p14="http://schemas.microsoft.com/office/powerpoint/2010/main" val="20684907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vi-V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7" name="Date Placeholder 6"/>
          <p:cNvSpPr>
            <a:spLocks noGrp="1"/>
          </p:cNvSpPr>
          <p:nvPr>
            <p:ph type="dt" sz="half" idx="10"/>
          </p:nvPr>
        </p:nvSpPr>
        <p:spPr/>
        <p:txBody>
          <a:bodyPr/>
          <a:lstStyle/>
          <a:p>
            <a:fld id="{B17DF24C-A714-494C-B2E7-4DA32B8D4A7B}" type="datetimeFigureOut">
              <a:rPr lang="vi-VN" smtClean="0"/>
              <a:t>30/09/18</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6F3E76A7-06F5-4EE3-AADC-3880CAAF3491}" type="slidenum">
              <a:rPr lang="vi-VN" smtClean="0"/>
              <a:t>‹#›</a:t>
            </a:fld>
            <a:endParaRPr lang="vi-VN"/>
          </a:p>
        </p:txBody>
      </p:sp>
    </p:spTree>
    <p:extLst>
      <p:ext uri="{BB962C8B-B14F-4D97-AF65-F5344CB8AC3E}">
        <p14:creationId xmlns:p14="http://schemas.microsoft.com/office/powerpoint/2010/main" val="134797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Date Placeholder 2"/>
          <p:cNvSpPr>
            <a:spLocks noGrp="1"/>
          </p:cNvSpPr>
          <p:nvPr>
            <p:ph type="dt" sz="half" idx="10"/>
          </p:nvPr>
        </p:nvSpPr>
        <p:spPr/>
        <p:txBody>
          <a:bodyPr/>
          <a:lstStyle/>
          <a:p>
            <a:fld id="{B17DF24C-A714-494C-B2E7-4DA32B8D4A7B}" type="datetimeFigureOut">
              <a:rPr lang="vi-VN" smtClean="0"/>
              <a:t>30/09/18</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6F3E76A7-06F5-4EE3-AADC-3880CAAF3491}" type="slidenum">
              <a:rPr lang="vi-VN" smtClean="0"/>
              <a:t>‹#›</a:t>
            </a:fld>
            <a:endParaRPr lang="vi-VN"/>
          </a:p>
        </p:txBody>
      </p:sp>
    </p:spTree>
    <p:extLst>
      <p:ext uri="{BB962C8B-B14F-4D97-AF65-F5344CB8AC3E}">
        <p14:creationId xmlns:p14="http://schemas.microsoft.com/office/powerpoint/2010/main" val="4244349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7DF24C-A714-494C-B2E7-4DA32B8D4A7B}" type="datetimeFigureOut">
              <a:rPr lang="vi-VN" smtClean="0"/>
              <a:t>30/09/18</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6F3E76A7-06F5-4EE3-AADC-3880CAAF3491}" type="slidenum">
              <a:rPr lang="vi-VN" smtClean="0"/>
              <a:t>‹#›</a:t>
            </a:fld>
            <a:endParaRPr lang="vi-VN"/>
          </a:p>
        </p:txBody>
      </p:sp>
    </p:spTree>
    <p:extLst>
      <p:ext uri="{BB962C8B-B14F-4D97-AF65-F5344CB8AC3E}">
        <p14:creationId xmlns:p14="http://schemas.microsoft.com/office/powerpoint/2010/main" val="882188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vi-V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17DF24C-A714-494C-B2E7-4DA32B8D4A7B}" type="datetimeFigureOut">
              <a:rPr lang="vi-VN" smtClean="0"/>
              <a:t>30/09/18</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6F3E76A7-06F5-4EE3-AADC-3880CAAF3491}" type="slidenum">
              <a:rPr lang="vi-VN" smtClean="0"/>
              <a:t>‹#›</a:t>
            </a:fld>
            <a:endParaRPr lang="vi-VN"/>
          </a:p>
        </p:txBody>
      </p:sp>
    </p:spTree>
    <p:extLst>
      <p:ext uri="{BB962C8B-B14F-4D97-AF65-F5344CB8AC3E}">
        <p14:creationId xmlns:p14="http://schemas.microsoft.com/office/powerpoint/2010/main" val="8240755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vi-V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17DF24C-A714-494C-B2E7-4DA32B8D4A7B}" type="datetimeFigureOut">
              <a:rPr lang="vi-VN" smtClean="0"/>
              <a:t>30/09/18</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6F3E76A7-06F5-4EE3-AADC-3880CAAF3491}" type="slidenum">
              <a:rPr lang="vi-VN" smtClean="0"/>
              <a:t>‹#›</a:t>
            </a:fld>
            <a:endParaRPr lang="vi-VN"/>
          </a:p>
        </p:txBody>
      </p:sp>
    </p:spTree>
    <p:extLst>
      <p:ext uri="{BB962C8B-B14F-4D97-AF65-F5344CB8AC3E}">
        <p14:creationId xmlns:p14="http://schemas.microsoft.com/office/powerpoint/2010/main" val="32109244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10"/>
          </p:nvPr>
        </p:nvSpPr>
        <p:spPr/>
        <p:txBody>
          <a:bodyPr/>
          <a:lstStyle/>
          <a:p>
            <a:fld id="{B17DF24C-A714-494C-B2E7-4DA32B8D4A7B}" type="datetimeFigureOut">
              <a:rPr lang="vi-VN" smtClean="0"/>
              <a:t>30/09/18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F3E76A7-06F5-4EE3-AADC-3880CAAF3491}" type="slidenum">
              <a:rPr lang="vi-VN" smtClean="0"/>
              <a:t>‹#›</a:t>
            </a:fld>
            <a:endParaRPr lang="vi-VN"/>
          </a:p>
        </p:txBody>
      </p:sp>
    </p:spTree>
    <p:extLst>
      <p:ext uri="{BB962C8B-B14F-4D97-AF65-F5344CB8AC3E}">
        <p14:creationId xmlns:p14="http://schemas.microsoft.com/office/powerpoint/2010/main" val="39111499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vi-V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10"/>
          </p:nvPr>
        </p:nvSpPr>
        <p:spPr/>
        <p:txBody>
          <a:bodyPr/>
          <a:lstStyle/>
          <a:p>
            <a:fld id="{B17DF24C-A714-494C-B2E7-4DA32B8D4A7B}" type="datetimeFigureOut">
              <a:rPr lang="vi-VN" smtClean="0"/>
              <a:t>30/09/18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F3E76A7-06F5-4EE3-AADC-3880CAAF3491}" type="slidenum">
              <a:rPr lang="vi-VN" smtClean="0"/>
              <a:t>‹#›</a:t>
            </a:fld>
            <a:endParaRPr lang="vi-VN"/>
          </a:p>
        </p:txBody>
      </p:sp>
    </p:spTree>
    <p:extLst>
      <p:ext uri="{BB962C8B-B14F-4D97-AF65-F5344CB8AC3E}">
        <p14:creationId xmlns:p14="http://schemas.microsoft.com/office/powerpoint/2010/main" val="30427626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bg bwMode="gray">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101" name="Rectangle 29"/>
          <p:cNvSpPr>
            <a:spLocks noChangeArrowheads="1"/>
          </p:cNvSpPr>
          <p:nvPr/>
        </p:nvSpPr>
        <p:spPr bwMode="hidden">
          <a:xfrm rot="-21600000">
            <a:off x="0" y="4830763"/>
            <a:ext cx="12227984" cy="1809750"/>
          </a:xfrm>
          <a:prstGeom prst="rect">
            <a:avLst/>
          </a:prstGeom>
          <a:gradFill rotWithShape="1">
            <a:gsLst>
              <a:gs pos="0">
                <a:srgbClr val="000066">
                  <a:gamma/>
                  <a:tint val="0"/>
                  <a:invGamma/>
                  <a:alpha val="0"/>
                </a:srgbClr>
              </a:gs>
              <a:gs pos="50000">
                <a:srgbClr val="000066">
                  <a:alpha val="50000"/>
                </a:srgbClr>
              </a:gs>
              <a:gs pos="100000">
                <a:srgbClr val="000066">
                  <a:gamma/>
                  <a:tint val="0"/>
                  <a:invGamma/>
                  <a:alpha val="0"/>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1800">
              <a:solidFill>
                <a:srgbClr val="0052A4"/>
              </a:solidFill>
            </a:endParaRPr>
          </a:p>
        </p:txBody>
      </p:sp>
      <p:sp>
        <p:nvSpPr>
          <p:cNvPr id="3102" name="Rectangle 30"/>
          <p:cNvSpPr>
            <a:spLocks noChangeArrowheads="1"/>
          </p:cNvSpPr>
          <p:nvPr/>
        </p:nvSpPr>
        <p:spPr bwMode="gray">
          <a:xfrm>
            <a:off x="0" y="5291138"/>
            <a:ext cx="12192000" cy="876300"/>
          </a:xfrm>
          <a:prstGeom prst="rect">
            <a:avLst/>
          </a:prstGeom>
          <a:gradFill rotWithShape="1">
            <a:gsLst>
              <a:gs pos="0">
                <a:schemeClr val="tx1">
                  <a:alpha val="27000"/>
                </a:schemeClr>
              </a:gs>
              <a:gs pos="100000">
                <a:schemeClr val="tx1">
                  <a:gamma/>
                  <a:shade val="72941"/>
                  <a:invGamma/>
                  <a:alpha val="89999"/>
                </a:scheme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1800">
              <a:solidFill>
                <a:srgbClr val="0052A4"/>
              </a:solidFill>
            </a:endParaRPr>
          </a:p>
        </p:txBody>
      </p:sp>
      <p:sp>
        <p:nvSpPr>
          <p:cNvPr id="3104" name="Oval 32"/>
          <p:cNvSpPr>
            <a:spLocks noChangeArrowheads="1"/>
          </p:cNvSpPr>
          <p:nvPr/>
        </p:nvSpPr>
        <p:spPr bwMode="gray">
          <a:xfrm>
            <a:off x="268818" y="4481514"/>
            <a:ext cx="1511300" cy="1157287"/>
          </a:xfrm>
          <a:prstGeom prst="ellipse">
            <a:avLst/>
          </a:prstGeom>
          <a:blipFill dpi="0" rotWithShape="1">
            <a:blip r:embed="rId3"/>
            <a:srcRect/>
            <a:stretch>
              <a:fillRect/>
            </a:stretch>
          </a:blipFill>
          <a:ln w="38100">
            <a:solidFill>
              <a:srgbClr val="FFFFFF"/>
            </a:solidFill>
            <a:round/>
            <a:headEnd/>
            <a:tailEnd/>
          </a:ln>
          <a:effectLst>
            <a:outerShdw dist="71842" dir="2700000" algn="ctr" rotWithShape="0">
              <a:srgbClr val="000000">
                <a:alpha val="50000"/>
              </a:srgbClr>
            </a:outerShdw>
          </a:effectLst>
        </p:spPr>
        <p:txBody>
          <a:bodyPr wrap="none" anchor="ctr"/>
          <a:lstStyle/>
          <a:p>
            <a:pPr fontAlgn="base">
              <a:spcBef>
                <a:spcPct val="0"/>
              </a:spcBef>
              <a:spcAft>
                <a:spcPct val="0"/>
              </a:spcAft>
            </a:pPr>
            <a:endParaRPr lang="vi-VN" sz="1800">
              <a:solidFill>
                <a:srgbClr val="0052A4"/>
              </a:solidFill>
            </a:endParaRPr>
          </a:p>
        </p:txBody>
      </p:sp>
      <p:sp>
        <p:nvSpPr>
          <p:cNvPr id="3105" name="Oval 33"/>
          <p:cNvSpPr>
            <a:spLocks noChangeArrowheads="1"/>
          </p:cNvSpPr>
          <p:nvPr/>
        </p:nvSpPr>
        <p:spPr bwMode="gray">
          <a:xfrm>
            <a:off x="2082801" y="4481514"/>
            <a:ext cx="1511300" cy="1157287"/>
          </a:xfrm>
          <a:prstGeom prst="ellipse">
            <a:avLst/>
          </a:prstGeom>
          <a:blipFill dpi="0" rotWithShape="1">
            <a:blip r:embed="rId4"/>
            <a:srcRect/>
            <a:stretch>
              <a:fillRect/>
            </a:stretch>
          </a:blipFill>
          <a:ln w="38100">
            <a:solidFill>
              <a:srgbClr val="FFFFFF"/>
            </a:solidFill>
            <a:round/>
            <a:headEnd/>
            <a:tailEnd/>
          </a:ln>
          <a:effectLst>
            <a:outerShdw dist="71842" dir="2700000" algn="ctr" rotWithShape="0">
              <a:srgbClr val="000000">
                <a:alpha val="50000"/>
              </a:srgbClr>
            </a:outerShdw>
          </a:effectLst>
        </p:spPr>
        <p:txBody>
          <a:bodyPr wrap="none" anchor="ctr"/>
          <a:lstStyle/>
          <a:p>
            <a:pPr fontAlgn="base">
              <a:spcBef>
                <a:spcPct val="0"/>
              </a:spcBef>
              <a:spcAft>
                <a:spcPct val="0"/>
              </a:spcAft>
            </a:pPr>
            <a:endParaRPr lang="vi-VN" sz="1800">
              <a:solidFill>
                <a:srgbClr val="0052A4"/>
              </a:solidFill>
            </a:endParaRPr>
          </a:p>
        </p:txBody>
      </p:sp>
      <p:pic>
        <p:nvPicPr>
          <p:cNvPr id="3106" name="Picture 34" descr="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gray">
          <a:xfrm>
            <a:off x="-2912533" y="2366964"/>
            <a:ext cx="15083367" cy="1189037"/>
          </a:xfrm>
          <a:prstGeom prst="rect">
            <a:avLst/>
          </a:prstGeom>
          <a:noFill/>
          <a:extLst>
            <a:ext uri="{909E8E84-426E-40DD-AFC4-6F175D3DCCD1}">
              <a14:hiddenFill xmlns:a14="http://schemas.microsoft.com/office/drawing/2010/main">
                <a:solidFill>
                  <a:srgbClr val="FFFFFF"/>
                </a:solidFill>
              </a14:hiddenFill>
            </a:ext>
          </a:extLst>
        </p:spPr>
      </p:pic>
      <p:pic>
        <p:nvPicPr>
          <p:cNvPr id="3107" name="Picture 35" descr="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gray">
          <a:xfrm>
            <a:off x="-2546350" y="2227263"/>
            <a:ext cx="16611601" cy="1727200"/>
          </a:xfrm>
          <a:prstGeom prst="rect">
            <a:avLst/>
          </a:prstGeom>
          <a:noFill/>
          <a:extLst>
            <a:ext uri="{909E8E84-426E-40DD-AFC4-6F175D3DCCD1}">
              <a14:hiddenFill xmlns:a14="http://schemas.microsoft.com/office/drawing/2010/main">
                <a:solidFill>
                  <a:srgbClr val="FFFFFF"/>
                </a:solidFill>
              </a14:hiddenFill>
            </a:ext>
          </a:extLst>
        </p:spPr>
      </p:pic>
      <p:pic>
        <p:nvPicPr>
          <p:cNvPr id="3108" name="Picture 36" descr="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gray">
          <a:xfrm>
            <a:off x="-2641599" y="2257425"/>
            <a:ext cx="17473084" cy="1727200"/>
          </a:xfrm>
          <a:prstGeom prst="rect">
            <a:avLst/>
          </a:prstGeom>
          <a:noFill/>
          <a:extLst>
            <a:ext uri="{909E8E84-426E-40DD-AFC4-6F175D3DCCD1}">
              <a14:hiddenFill xmlns:a14="http://schemas.microsoft.com/office/drawing/2010/main">
                <a:solidFill>
                  <a:srgbClr val="FFFFFF"/>
                </a:solidFill>
              </a14:hiddenFill>
            </a:ext>
          </a:extLst>
        </p:spPr>
      </p:pic>
      <p:sp>
        <p:nvSpPr>
          <p:cNvPr id="3074" name="Rectangle 2"/>
          <p:cNvSpPr>
            <a:spLocks noGrp="1" noChangeArrowheads="1"/>
          </p:cNvSpPr>
          <p:nvPr>
            <p:ph type="ctrTitle"/>
          </p:nvPr>
        </p:nvSpPr>
        <p:spPr bwMode="gray">
          <a:xfrm>
            <a:off x="268818" y="5181600"/>
            <a:ext cx="11584516" cy="1066800"/>
          </a:xfrm>
        </p:spPr>
        <p:txBody>
          <a:bodyPr/>
          <a:lstStyle>
            <a:lvl1pPr algn="r">
              <a:defRPr sz="4600"/>
            </a:lvl1pPr>
          </a:lstStyle>
          <a:p>
            <a:pPr lvl="0"/>
            <a:r>
              <a:rPr lang="en-US" altLang="vi-VN" noProof="0" smtClean="0"/>
              <a:t>Click to edit Master title style</a:t>
            </a:r>
          </a:p>
        </p:txBody>
      </p:sp>
      <p:sp>
        <p:nvSpPr>
          <p:cNvPr id="3075" name="Rectangle 3"/>
          <p:cNvSpPr>
            <a:spLocks noGrp="1" noChangeArrowheads="1"/>
          </p:cNvSpPr>
          <p:nvPr>
            <p:ph type="subTitle" idx="1"/>
          </p:nvPr>
        </p:nvSpPr>
        <p:spPr>
          <a:xfrm>
            <a:off x="5181600" y="6210300"/>
            <a:ext cx="6671733" cy="533400"/>
          </a:xfrm>
        </p:spPr>
        <p:txBody>
          <a:bodyPr/>
          <a:lstStyle>
            <a:lvl1pPr marL="0" indent="0" algn="r">
              <a:buFontTx/>
              <a:buNone/>
              <a:defRPr sz="1600" i="1">
                <a:latin typeface="Times New Roman" panose="02020603050405020304" pitchFamily="18" charset="0"/>
              </a:defRPr>
            </a:lvl1pPr>
          </a:lstStyle>
          <a:p>
            <a:pPr lvl="0"/>
            <a:r>
              <a:rPr lang="en-US" altLang="vi-VN" noProof="0" smtClean="0"/>
              <a:t>Click to edit Master subtitle style</a:t>
            </a:r>
          </a:p>
        </p:txBody>
      </p:sp>
      <p:sp>
        <p:nvSpPr>
          <p:cNvPr id="3076" name="Rectangle 4"/>
          <p:cNvSpPr>
            <a:spLocks noGrp="1" noChangeArrowheads="1"/>
          </p:cNvSpPr>
          <p:nvPr>
            <p:ph type="dt" sz="half" idx="2"/>
          </p:nvPr>
        </p:nvSpPr>
        <p:spPr>
          <a:xfrm>
            <a:off x="609600" y="6389689"/>
            <a:ext cx="2133600" cy="331787"/>
          </a:xfrm>
        </p:spPr>
        <p:txBody>
          <a:bodyPr/>
          <a:lstStyle>
            <a:lvl1pPr>
              <a:defRPr>
                <a:solidFill>
                  <a:schemeClr val="tx1"/>
                </a:solidFill>
              </a:defRPr>
            </a:lvl1pPr>
          </a:lstStyle>
          <a:p>
            <a:endParaRPr lang="en-US" altLang="vi-VN">
              <a:solidFill>
                <a:srgbClr val="0052A4"/>
              </a:solidFill>
            </a:endParaRPr>
          </a:p>
        </p:txBody>
      </p:sp>
      <p:sp>
        <p:nvSpPr>
          <p:cNvPr id="3077" name="Rectangle 5"/>
          <p:cNvSpPr>
            <a:spLocks noGrp="1" noChangeArrowheads="1"/>
          </p:cNvSpPr>
          <p:nvPr>
            <p:ph type="ftr" sz="quarter" idx="3"/>
          </p:nvPr>
        </p:nvSpPr>
        <p:spPr>
          <a:xfrm>
            <a:off x="3016251" y="6389689"/>
            <a:ext cx="2438400" cy="331787"/>
          </a:xfrm>
        </p:spPr>
        <p:txBody>
          <a:bodyPr/>
          <a:lstStyle>
            <a:lvl1pPr>
              <a:defRPr>
                <a:solidFill>
                  <a:schemeClr val="tx1"/>
                </a:solidFill>
              </a:defRPr>
            </a:lvl1pPr>
          </a:lstStyle>
          <a:p>
            <a:endParaRPr lang="en-US" altLang="vi-VN">
              <a:solidFill>
                <a:srgbClr val="0052A4"/>
              </a:solidFill>
            </a:endParaRPr>
          </a:p>
        </p:txBody>
      </p:sp>
      <p:sp>
        <p:nvSpPr>
          <p:cNvPr id="3078" name="Rectangle 6"/>
          <p:cNvSpPr>
            <a:spLocks noGrp="1" noChangeArrowheads="1"/>
          </p:cNvSpPr>
          <p:nvPr>
            <p:ph type="sldNum" sz="quarter" idx="4"/>
          </p:nvPr>
        </p:nvSpPr>
        <p:spPr>
          <a:xfrm>
            <a:off x="5791200" y="6389689"/>
            <a:ext cx="1930400" cy="331787"/>
          </a:xfrm>
        </p:spPr>
        <p:txBody>
          <a:bodyPr/>
          <a:lstStyle>
            <a:lvl1pPr>
              <a:defRPr>
                <a:solidFill>
                  <a:schemeClr val="tx1"/>
                </a:solidFill>
              </a:defRPr>
            </a:lvl1pPr>
          </a:lstStyle>
          <a:p>
            <a:fld id="{DCFCC84B-8238-4064-BD90-972BF2DA8E58}" type="slidenum">
              <a:rPr lang="en-US" altLang="vi-VN">
                <a:solidFill>
                  <a:srgbClr val="0052A4"/>
                </a:solidFill>
              </a:rPr>
              <a:pPr/>
              <a:t>‹#›</a:t>
            </a:fld>
            <a:endParaRPr lang="en-US" altLang="vi-VN">
              <a:solidFill>
                <a:srgbClr val="0052A4"/>
              </a:solidFill>
            </a:endParaRPr>
          </a:p>
        </p:txBody>
      </p:sp>
      <p:pic>
        <p:nvPicPr>
          <p:cNvPr id="3110" name="Picture 38" descr="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gray">
          <a:xfrm>
            <a:off x="1828800" y="381000"/>
            <a:ext cx="8026400" cy="4565650"/>
          </a:xfrm>
          <a:prstGeom prst="rect">
            <a:avLst/>
          </a:prstGeom>
          <a:noFill/>
          <a:extLst>
            <a:ext uri="{909E8E84-426E-40DD-AFC4-6F175D3DCCD1}">
              <a14:hiddenFill xmlns:a14="http://schemas.microsoft.com/office/drawing/2010/main">
                <a:solidFill>
                  <a:srgbClr val="FFFFFF"/>
                </a:solidFill>
              </a14:hiddenFill>
            </a:ext>
          </a:extLst>
        </p:spPr>
      </p:pic>
      <p:sp>
        <p:nvSpPr>
          <p:cNvPr id="3113" name="Text Box 41"/>
          <p:cNvSpPr txBox="1">
            <a:spLocks noChangeArrowheads="1"/>
          </p:cNvSpPr>
          <p:nvPr/>
        </p:nvSpPr>
        <p:spPr bwMode="black">
          <a:xfrm>
            <a:off x="101600" y="95250"/>
            <a:ext cx="1314784" cy="430887"/>
          </a:xfrm>
          <a:prstGeom prst="rect">
            <a:avLst/>
          </a:prstGeom>
          <a:noFill/>
          <a:ln>
            <a:noFill/>
          </a:ln>
          <a:effectLst>
            <a:outerShdw dist="1796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fontAlgn="base">
              <a:spcBef>
                <a:spcPct val="0"/>
              </a:spcBef>
              <a:spcAft>
                <a:spcPct val="0"/>
              </a:spcAft>
            </a:pPr>
            <a:r>
              <a:rPr lang="en-US" altLang="vi-VN" sz="2200">
                <a:solidFill>
                  <a:srgbClr val="FFFFFF"/>
                </a:solidFill>
                <a:latin typeface="Arial Black" panose="020B0A04020102020204" pitchFamily="34" charset="0"/>
              </a:rPr>
              <a:t>L/O/G/O</a:t>
            </a:r>
          </a:p>
        </p:txBody>
      </p:sp>
    </p:spTree>
    <p:extLst>
      <p:ext uri="{BB962C8B-B14F-4D97-AF65-F5344CB8AC3E}">
        <p14:creationId xmlns:p14="http://schemas.microsoft.com/office/powerpoint/2010/main" val="8353990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3110"/>
                                        </p:tgtEl>
                                        <p:attrNameLst>
                                          <p:attrName>style.visibility</p:attrName>
                                        </p:attrNameLst>
                                      </p:cBhvr>
                                      <p:to>
                                        <p:strVal val="visible"/>
                                      </p:to>
                                    </p:set>
                                    <p:animEffect transition="in" filter="fade">
                                      <p:cBhvr>
                                        <p:cTn id="7" dur="1000"/>
                                        <p:tgtEl>
                                          <p:spTgt spid="3110"/>
                                        </p:tgtEl>
                                      </p:cBhvr>
                                    </p:animEffect>
                                  </p:childTnLst>
                                </p:cTn>
                              </p:par>
                              <p:par>
                                <p:cTn id="8" presetID="31" presetClass="path" presetSubtype="0" repeatCount="indefinite" accel="50000" decel="50000" fill="hold" nodeType="withEffect">
                                  <p:stCondLst>
                                    <p:cond delay="300"/>
                                  </p:stCondLst>
                                  <p:childTnLst>
                                    <p:animMotion origin="layout" path="M 5E-6 -0.01389 C 0.00209 -0.01713 0.01198 -0.05301 0.03698 -0.05069 C 0.07501 -0.04722 0.08994 -0.02176 0.12501 -0.04722 C 0.14705 -0.06204 0.17292 -0.1 0.19202 -0.09907 C 0.23507 -0.09792 0.24393 -0.0588 0.24393 -0.02292 C 0.24497 0.02778 0.18907 0.07037 0.12101 0.075 C 0.05209 0.07847 -0.00503 0.02431 5E-6 -0.01389 Z " pathEditMode="relative" rAng="0" ptsTypes="fffffff">
                                      <p:cBhvr>
                                        <p:cTn id="9" dur="5000" fill="hold"/>
                                        <p:tgtEl>
                                          <p:spTgt spid="3106"/>
                                        </p:tgtEl>
                                        <p:attrNameLst>
                                          <p:attrName>ppt_x</p:attrName>
                                          <p:attrName>ppt_y</p:attrName>
                                        </p:attrNameLst>
                                      </p:cBhvr>
                                      <p:rCtr x="11997" y="301"/>
                                    </p:animMotion>
                                  </p:childTnLst>
                                </p:cTn>
                              </p:par>
                              <p:par>
                                <p:cTn id="10" presetID="9" presetClass="path" presetSubtype="0" repeatCount="indefinite" accel="50000" decel="50000" fill="hold" nodeType="withEffect">
                                  <p:stCondLst>
                                    <p:cond delay="800"/>
                                  </p:stCondLst>
                                  <p:childTnLst>
                                    <p:animMotion origin="layout" path="M 3.61111E-6 -4.81481E-6 C -0.01198 0.01413 -0.03299 0.03426 -0.05799 0.03426 C -0.09497 0.03426 -0.125 0.01343 -0.125 -0.01319 C -0.125 -0.02199 -0.12205 -0.02986 -0.11598 -0.0368 C -0.11702 -0.0368 3.61111E-6 -0.14259 3.61111E-6 -0.14375 C 3.61111E-6 -0.14259 0.11701 -0.0368 0.11597 -0.0368 C 0.12205 -0.02986 0.125 -0.02199 0.125 -0.01319 C 0.125 0.01343 0.09496 0.03426 0.05694 0.03426 C 0.03298 0.03426 0.01198 0.01413 3.61111E-6 -4.81481E-6 Z " pathEditMode="relative" rAng="10800000" ptsTypes="fffffffff">
                                      <p:cBhvr>
                                        <p:cTn id="11" dur="5000" fill="hold"/>
                                        <p:tgtEl>
                                          <p:spTgt spid="3107"/>
                                        </p:tgtEl>
                                        <p:attrNameLst>
                                          <p:attrName>ppt_x</p:attrName>
                                          <p:attrName>ppt_y</p:attrName>
                                        </p:attrNameLst>
                                      </p:cBhvr>
                                      <p:rCtr x="0" y="-5463"/>
                                    </p:animMotion>
                                  </p:childTnLst>
                                </p:cTn>
                              </p:par>
                              <p:par>
                                <p:cTn id="12" presetID="12" presetClass="path" presetSubtype="0" repeatCount="indefinite" accel="50000" decel="50000" fill="hold" nodeType="withEffect">
                                  <p:stCondLst>
                                    <p:cond delay="1300"/>
                                  </p:stCondLst>
                                  <p:childTnLst>
                                    <p:animMotion origin="layout" path="M 0.18923 -0.00463 C 0.16666 0.04329 0.13246 0.07338 0.09461 0.07338 C 0.05677 0.07338 0.02274 0.04329 3.61111E-6 -0.00463 C 0.02274 -0.05254 0.05677 -0.08287 0.09461 -0.08287 C 0.13246 -0.08287 0.16666 -0.05254 0.18923 -0.00463 Z " pathEditMode="relative" rAng="10800000" ptsTypes="fffff">
                                      <p:cBhvr>
                                        <p:cTn id="13" dur="5000" fill="hold"/>
                                        <p:tgtEl>
                                          <p:spTgt spid="3108"/>
                                        </p:tgtEl>
                                        <p:attrNameLst>
                                          <p:attrName>ppt_x</p:attrName>
                                          <p:attrName>ppt_y</p:attrName>
                                        </p:attrNameLst>
                                      </p:cBhvr>
                                      <p:rCtr x="-9462" y="0"/>
                                    </p:animMotion>
                                  </p:childTnLst>
                                </p:cTn>
                              </p:par>
                              <p:par>
                                <p:cTn id="14" presetID="10" presetClass="entr" presetSubtype="0" fill="hold" grpId="0" nodeType="withEffect">
                                  <p:stCondLst>
                                    <p:cond delay="1700"/>
                                  </p:stCondLst>
                                  <p:childTnLst>
                                    <p:set>
                                      <p:cBhvr>
                                        <p:cTn id="15" dur="1" fill="hold">
                                          <p:stCondLst>
                                            <p:cond delay="0"/>
                                          </p:stCondLst>
                                        </p:cTn>
                                        <p:tgtEl>
                                          <p:spTgt spid="3101"/>
                                        </p:tgtEl>
                                        <p:attrNameLst>
                                          <p:attrName>style.visibility</p:attrName>
                                        </p:attrNameLst>
                                      </p:cBhvr>
                                      <p:to>
                                        <p:strVal val="visible"/>
                                      </p:to>
                                    </p:set>
                                    <p:animEffect transition="in" filter="fade">
                                      <p:cBhvr>
                                        <p:cTn id="16" dur="2000"/>
                                        <p:tgtEl>
                                          <p:spTgt spid="3101"/>
                                        </p:tgtEl>
                                      </p:cBhvr>
                                    </p:animEffect>
                                  </p:childTnLst>
                                </p:cTn>
                              </p:par>
                              <p:par>
                                <p:cTn id="17" presetID="22" presetClass="entr" presetSubtype="8" fill="hold" grpId="0" nodeType="withEffect">
                                  <p:stCondLst>
                                    <p:cond delay="2000"/>
                                  </p:stCondLst>
                                  <p:childTnLst>
                                    <p:set>
                                      <p:cBhvr>
                                        <p:cTn id="18" dur="1" fill="hold">
                                          <p:stCondLst>
                                            <p:cond delay="0"/>
                                          </p:stCondLst>
                                        </p:cTn>
                                        <p:tgtEl>
                                          <p:spTgt spid="3102"/>
                                        </p:tgtEl>
                                        <p:attrNameLst>
                                          <p:attrName>style.visibility</p:attrName>
                                        </p:attrNameLst>
                                      </p:cBhvr>
                                      <p:to>
                                        <p:strVal val="visible"/>
                                      </p:to>
                                    </p:set>
                                    <p:animEffect transition="in" filter="wipe(left)">
                                      <p:cBhvr>
                                        <p:cTn id="19" dur="2700"/>
                                        <p:tgtEl>
                                          <p:spTgt spid="3102"/>
                                        </p:tgtEl>
                                      </p:cBhvr>
                                    </p:animEffect>
                                  </p:childTnLst>
                                </p:cTn>
                              </p:par>
                              <p:par>
                                <p:cTn id="20" presetID="29" presetClass="entr" presetSubtype="0" fill="hold" nodeType="withEffect">
                                  <p:stCondLst>
                                    <p:cond delay="2600"/>
                                  </p:stCondLst>
                                  <p:childTnLst>
                                    <p:set>
                                      <p:cBhvr>
                                        <p:cTn id="21" dur="1" fill="hold">
                                          <p:stCondLst>
                                            <p:cond delay="0"/>
                                          </p:stCondLst>
                                        </p:cTn>
                                        <p:tgtEl>
                                          <p:spTgt spid="3074"/>
                                        </p:tgtEl>
                                        <p:attrNameLst>
                                          <p:attrName>style.visibility</p:attrName>
                                        </p:attrNameLst>
                                      </p:cBhvr>
                                      <p:to>
                                        <p:strVal val="visible"/>
                                      </p:to>
                                    </p:set>
                                    <p:anim calcmode="lin" valueType="num">
                                      <p:cBhvr>
                                        <p:cTn id="22" dur="1800" fill="hold"/>
                                        <p:tgtEl>
                                          <p:spTgt spid="3074"/>
                                        </p:tgtEl>
                                        <p:attrNameLst>
                                          <p:attrName>ppt_x</p:attrName>
                                        </p:attrNameLst>
                                      </p:cBhvr>
                                      <p:tavLst>
                                        <p:tav tm="0">
                                          <p:val>
                                            <p:strVal val="#ppt_x-.2"/>
                                          </p:val>
                                        </p:tav>
                                        <p:tav tm="100000">
                                          <p:val>
                                            <p:strVal val="#ppt_x"/>
                                          </p:val>
                                        </p:tav>
                                      </p:tavLst>
                                    </p:anim>
                                    <p:anim calcmode="lin" valueType="num">
                                      <p:cBhvr>
                                        <p:cTn id="23" dur="1800" fill="hold"/>
                                        <p:tgtEl>
                                          <p:spTgt spid="3074"/>
                                        </p:tgtEl>
                                        <p:attrNameLst>
                                          <p:attrName>ppt_y</p:attrName>
                                        </p:attrNameLst>
                                      </p:cBhvr>
                                      <p:tavLst>
                                        <p:tav tm="0">
                                          <p:val>
                                            <p:strVal val="#ppt_y"/>
                                          </p:val>
                                        </p:tav>
                                        <p:tav tm="100000">
                                          <p:val>
                                            <p:strVal val="#ppt_y"/>
                                          </p:val>
                                        </p:tav>
                                      </p:tavLst>
                                    </p:anim>
                                    <p:animEffect transition="in" filter="wipe(right)" prLst="gradientSize: 0.1">
                                      <p:cBhvr>
                                        <p:cTn id="24" dur="1800"/>
                                        <p:tgtEl>
                                          <p:spTgt spid="3074"/>
                                        </p:tgtEl>
                                      </p:cBhvr>
                                    </p:animEffect>
                                  </p:childTnLst>
                                </p:cTn>
                              </p:par>
                              <p:par>
                                <p:cTn id="25" presetID="10" presetClass="entr" presetSubtype="0" fill="hold" grpId="0" nodeType="withEffect">
                                  <p:stCondLst>
                                    <p:cond delay="3700"/>
                                  </p:stCondLst>
                                  <p:childTnLst>
                                    <p:set>
                                      <p:cBhvr>
                                        <p:cTn id="26" dur="1" fill="hold">
                                          <p:stCondLst>
                                            <p:cond delay="0"/>
                                          </p:stCondLst>
                                        </p:cTn>
                                        <p:tgtEl>
                                          <p:spTgt spid="3105"/>
                                        </p:tgtEl>
                                        <p:attrNameLst>
                                          <p:attrName>style.visibility</p:attrName>
                                        </p:attrNameLst>
                                      </p:cBhvr>
                                      <p:to>
                                        <p:strVal val="visible"/>
                                      </p:to>
                                    </p:set>
                                    <p:animEffect transition="in" filter="fade">
                                      <p:cBhvr>
                                        <p:cTn id="27" dur="1800"/>
                                        <p:tgtEl>
                                          <p:spTgt spid="3105"/>
                                        </p:tgtEl>
                                      </p:cBhvr>
                                    </p:animEffect>
                                  </p:childTnLst>
                                </p:cTn>
                              </p:par>
                              <p:par>
                                <p:cTn id="28" presetID="10" presetClass="entr" presetSubtype="0" fill="hold" grpId="0" nodeType="withEffect">
                                  <p:stCondLst>
                                    <p:cond delay="5500"/>
                                  </p:stCondLst>
                                  <p:childTnLst>
                                    <p:set>
                                      <p:cBhvr>
                                        <p:cTn id="29" dur="1" fill="hold">
                                          <p:stCondLst>
                                            <p:cond delay="0"/>
                                          </p:stCondLst>
                                        </p:cTn>
                                        <p:tgtEl>
                                          <p:spTgt spid="3104"/>
                                        </p:tgtEl>
                                        <p:attrNameLst>
                                          <p:attrName>style.visibility</p:attrName>
                                        </p:attrNameLst>
                                      </p:cBhvr>
                                      <p:to>
                                        <p:strVal val="visible"/>
                                      </p:to>
                                    </p:set>
                                    <p:animEffect transition="in" filter="fade">
                                      <p:cBhvr>
                                        <p:cTn id="30" dur="1800"/>
                                        <p:tgtEl>
                                          <p:spTgt spid="3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01" grpId="0" animBg="1"/>
      <p:bldP spid="3102" grpId="0" animBg="1"/>
      <p:bldP spid="3104" grpId="0" animBg="1"/>
      <p:bldP spid="3105" grpId="0" animBg="1"/>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vi-VN"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10"/>
          </p:nvPr>
        </p:nvSpPr>
        <p:spPr/>
        <p:txBody>
          <a:bodyPr/>
          <a:lstStyle>
            <a:lvl1pPr>
              <a:defRPr/>
            </a:lvl1pPr>
          </a:lstStyle>
          <a:p>
            <a:endParaRPr lang="en-US" altLang="vi-VN"/>
          </a:p>
        </p:txBody>
      </p:sp>
      <p:sp>
        <p:nvSpPr>
          <p:cNvPr id="5" name="Footer Placeholder 4"/>
          <p:cNvSpPr>
            <a:spLocks noGrp="1"/>
          </p:cNvSpPr>
          <p:nvPr>
            <p:ph type="ftr" sz="quarter" idx="11"/>
          </p:nvPr>
        </p:nvSpPr>
        <p:spPr/>
        <p:txBody>
          <a:bodyPr/>
          <a:lstStyle>
            <a:lvl1pPr>
              <a:defRPr/>
            </a:lvl1pPr>
          </a:lstStyle>
          <a:p>
            <a:endParaRPr lang="en-US" altLang="vi-VN"/>
          </a:p>
        </p:txBody>
      </p:sp>
      <p:sp>
        <p:nvSpPr>
          <p:cNvPr id="6" name="Slide Number Placeholder 5"/>
          <p:cNvSpPr>
            <a:spLocks noGrp="1"/>
          </p:cNvSpPr>
          <p:nvPr>
            <p:ph type="sldNum" sz="quarter" idx="12"/>
          </p:nvPr>
        </p:nvSpPr>
        <p:spPr/>
        <p:txBody>
          <a:bodyPr/>
          <a:lstStyle>
            <a:lvl1pPr>
              <a:defRPr/>
            </a:lvl1pPr>
          </a:lstStyle>
          <a:p>
            <a:fld id="{606409EA-47B7-436A-98E1-D927D2B8A053}" type="slidenum">
              <a:rPr lang="en-US" altLang="vi-VN"/>
              <a:pPr/>
              <a:t>‹#›</a:t>
            </a:fld>
            <a:endParaRPr lang="en-US" altLang="vi-VN"/>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11097" y="0"/>
            <a:ext cx="1780903" cy="1481140"/>
          </a:xfrm>
          <a:prstGeom prst="rect">
            <a:avLst/>
          </a:prstGeom>
        </p:spPr>
      </p:pic>
    </p:spTree>
    <p:extLst>
      <p:ext uri="{BB962C8B-B14F-4D97-AF65-F5344CB8AC3E}">
        <p14:creationId xmlns:p14="http://schemas.microsoft.com/office/powerpoint/2010/main" val="2904245281"/>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smtClean="0"/>
              <a:t>Click to edit Master title style</a:t>
            </a:r>
            <a:endParaRPr lang="vi-VN"/>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ltLang="vi-VN"/>
          </a:p>
        </p:txBody>
      </p:sp>
      <p:sp>
        <p:nvSpPr>
          <p:cNvPr id="5" name="Footer Placeholder 4"/>
          <p:cNvSpPr>
            <a:spLocks noGrp="1"/>
          </p:cNvSpPr>
          <p:nvPr>
            <p:ph type="ftr" sz="quarter" idx="11"/>
          </p:nvPr>
        </p:nvSpPr>
        <p:spPr/>
        <p:txBody>
          <a:bodyPr/>
          <a:lstStyle>
            <a:lvl1pPr>
              <a:defRPr/>
            </a:lvl1pPr>
          </a:lstStyle>
          <a:p>
            <a:endParaRPr lang="en-US" altLang="vi-VN"/>
          </a:p>
        </p:txBody>
      </p:sp>
      <p:sp>
        <p:nvSpPr>
          <p:cNvPr id="6" name="Slide Number Placeholder 5"/>
          <p:cNvSpPr>
            <a:spLocks noGrp="1"/>
          </p:cNvSpPr>
          <p:nvPr>
            <p:ph type="sldNum" sz="quarter" idx="12"/>
          </p:nvPr>
        </p:nvSpPr>
        <p:spPr/>
        <p:txBody>
          <a:bodyPr/>
          <a:lstStyle>
            <a:lvl1pPr>
              <a:defRPr/>
            </a:lvl1pPr>
          </a:lstStyle>
          <a:p>
            <a:fld id="{4A0A4F7E-E640-434C-A832-82D32F3069FB}" type="slidenum">
              <a:rPr lang="en-US" altLang="vi-VN"/>
              <a:pPr/>
              <a:t>‹#›</a:t>
            </a:fld>
            <a:endParaRPr lang="en-US" altLang="vi-VN"/>
          </a:p>
        </p:txBody>
      </p:sp>
    </p:spTree>
    <p:extLst>
      <p:ext uri="{BB962C8B-B14F-4D97-AF65-F5344CB8AC3E}">
        <p14:creationId xmlns:p14="http://schemas.microsoft.com/office/powerpoint/2010/main" val="4076290943"/>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Content Placeholder 2"/>
          <p:cNvSpPr>
            <a:spLocks noGrp="1"/>
          </p:cNvSpPr>
          <p:nvPr>
            <p:ph sz="half" idx="1"/>
          </p:nvPr>
        </p:nvSpPr>
        <p:spPr>
          <a:xfrm>
            <a:off x="609600" y="1600201"/>
            <a:ext cx="53848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Content Placeholder 3"/>
          <p:cNvSpPr>
            <a:spLocks noGrp="1"/>
          </p:cNvSpPr>
          <p:nvPr>
            <p:ph sz="half" idx="2"/>
          </p:nvPr>
        </p:nvSpPr>
        <p:spPr>
          <a:xfrm>
            <a:off x="6197600" y="1600201"/>
            <a:ext cx="53848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5" name="Date Placeholder 4"/>
          <p:cNvSpPr>
            <a:spLocks noGrp="1"/>
          </p:cNvSpPr>
          <p:nvPr>
            <p:ph type="dt" sz="half" idx="10"/>
          </p:nvPr>
        </p:nvSpPr>
        <p:spPr/>
        <p:txBody>
          <a:bodyPr/>
          <a:lstStyle>
            <a:lvl1pPr>
              <a:defRPr/>
            </a:lvl1pPr>
          </a:lstStyle>
          <a:p>
            <a:endParaRPr lang="en-US" altLang="vi-VN"/>
          </a:p>
        </p:txBody>
      </p:sp>
      <p:sp>
        <p:nvSpPr>
          <p:cNvPr id="6" name="Footer Placeholder 5"/>
          <p:cNvSpPr>
            <a:spLocks noGrp="1"/>
          </p:cNvSpPr>
          <p:nvPr>
            <p:ph type="ftr" sz="quarter" idx="11"/>
          </p:nvPr>
        </p:nvSpPr>
        <p:spPr/>
        <p:txBody>
          <a:bodyPr/>
          <a:lstStyle>
            <a:lvl1pPr>
              <a:defRPr/>
            </a:lvl1pPr>
          </a:lstStyle>
          <a:p>
            <a:endParaRPr lang="en-US" altLang="vi-VN"/>
          </a:p>
        </p:txBody>
      </p:sp>
      <p:sp>
        <p:nvSpPr>
          <p:cNvPr id="7" name="Slide Number Placeholder 6"/>
          <p:cNvSpPr>
            <a:spLocks noGrp="1"/>
          </p:cNvSpPr>
          <p:nvPr>
            <p:ph type="sldNum" sz="quarter" idx="12"/>
          </p:nvPr>
        </p:nvSpPr>
        <p:spPr/>
        <p:txBody>
          <a:bodyPr/>
          <a:lstStyle>
            <a:lvl1pPr>
              <a:defRPr/>
            </a:lvl1pPr>
          </a:lstStyle>
          <a:p>
            <a:fld id="{6082752B-ECDD-4DCA-A35E-CB0F25D82D13}" type="slidenum">
              <a:rPr lang="en-US" altLang="vi-VN"/>
              <a:pPr/>
              <a:t>‹#›</a:t>
            </a:fld>
            <a:endParaRPr lang="en-US" altLang="vi-VN"/>
          </a:p>
        </p:txBody>
      </p:sp>
    </p:spTree>
    <p:extLst>
      <p:ext uri="{BB962C8B-B14F-4D97-AF65-F5344CB8AC3E}">
        <p14:creationId xmlns:p14="http://schemas.microsoft.com/office/powerpoint/2010/main" val="6926965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smtClean="0"/>
              <a:t>Click to edit Master title style</a:t>
            </a:r>
            <a:endParaRPr lang="vi-VN"/>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7" name="Date Placeholder 6"/>
          <p:cNvSpPr>
            <a:spLocks noGrp="1"/>
          </p:cNvSpPr>
          <p:nvPr>
            <p:ph type="dt" sz="half" idx="10"/>
          </p:nvPr>
        </p:nvSpPr>
        <p:spPr/>
        <p:txBody>
          <a:bodyPr/>
          <a:lstStyle>
            <a:lvl1pPr>
              <a:defRPr/>
            </a:lvl1pPr>
          </a:lstStyle>
          <a:p>
            <a:endParaRPr lang="en-US" altLang="vi-VN"/>
          </a:p>
        </p:txBody>
      </p:sp>
      <p:sp>
        <p:nvSpPr>
          <p:cNvPr id="8" name="Footer Placeholder 7"/>
          <p:cNvSpPr>
            <a:spLocks noGrp="1"/>
          </p:cNvSpPr>
          <p:nvPr>
            <p:ph type="ftr" sz="quarter" idx="11"/>
          </p:nvPr>
        </p:nvSpPr>
        <p:spPr/>
        <p:txBody>
          <a:bodyPr/>
          <a:lstStyle>
            <a:lvl1pPr>
              <a:defRPr/>
            </a:lvl1pPr>
          </a:lstStyle>
          <a:p>
            <a:endParaRPr lang="en-US" altLang="vi-VN"/>
          </a:p>
        </p:txBody>
      </p:sp>
      <p:sp>
        <p:nvSpPr>
          <p:cNvPr id="9" name="Slide Number Placeholder 8"/>
          <p:cNvSpPr>
            <a:spLocks noGrp="1"/>
          </p:cNvSpPr>
          <p:nvPr>
            <p:ph type="sldNum" sz="quarter" idx="12"/>
          </p:nvPr>
        </p:nvSpPr>
        <p:spPr/>
        <p:txBody>
          <a:bodyPr/>
          <a:lstStyle>
            <a:lvl1pPr>
              <a:defRPr/>
            </a:lvl1pPr>
          </a:lstStyle>
          <a:p>
            <a:fld id="{03B545BF-5B1A-492A-ACD5-043C84345263}" type="slidenum">
              <a:rPr lang="en-US" altLang="vi-VN"/>
              <a:pPr/>
              <a:t>‹#›</a:t>
            </a:fld>
            <a:endParaRPr lang="en-US" altLang="vi-VN"/>
          </a:p>
        </p:txBody>
      </p:sp>
    </p:spTree>
    <p:extLst>
      <p:ext uri="{BB962C8B-B14F-4D97-AF65-F5344CB8AC3E}">
        <p14:creationId xmlns:p14="http://schemas.microsoft.com/office/powerpoint/2010/main" val="8013899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Date Placeholder 2"/>
          <p:cNvSpPr>
            <a:spLocks noGrp="1"/>
          </p:cNvSpPr>
          <p:nvPr>
            <p:ph type="dt" sz="half" idx="10"/>
          </p:nvPr>
        </p:nvSpPr>
        <p:spPr/>
        <p:txBody>
          <a:bodyPr/>
          <a:lstStyle>
            <a:lvl1pPr>
              <a:defRPr/>
            </a:lvl1pPr>
          </a:lstStyle>
          <a:p>
            <a:endParaRPr lang="en-US" altLang="vi-VN"/>
          </a:p>
        </p:txBody>
      </p:sp>
      <p:sp>
        <p:nvSpPr>
          <p:cNvPr id="4" name="Footer Placeholder 3"/>
          <p:cNvSpPr>
            <a:spLocks noGrp="1"/>
          </p:cNvSpPr>
          <p:nvPr>
            <p:ph type="ftr" sz="quarter" idx="11"/>
          </p:nvPr>
        </p:nvSpPr>
        <p:spPr/>
        <p:txBody>
          <a:bodyPr/>
          <a:lstStyle>
            <a:lvl1pPr>
              <a:defRPr/>
            </a:lvl1pPr>
          </a:lstStyle>
          <a:p>
            <a:endParaRPr lang="en-US" altLang="vi-VN"/>
          </a:p>
        </p:txBody>
      </p:sp>
      <p:sp>
        <p:nvSpPr>
          <p:cNvPr id="5" name="Slide Number Placeholder 4"/>
          <p:cNvSpPr>
            <a:spLocks noGrp="1"/>
          </p:cNvSpPr>
          <p:nvPr>
            <p:ph type="sldNum" sz="quarter" idx="12"/>
          </p:nvPr>
        </p:nvSpPr>
        <p:spPr/>
        <p:txBody>
          <a:bodyPr/>
          <a:lstStyle>
            <a:lvl1pPr>
              <a:defRPr/>
            </a:lvl1pPr>
          </a:lstStyle>
          <a:p>
            <a:fld id="{15C41F5E-2065-4967-A8CB-52B73E0436D8}" type="slidenum">
              <a:rPr lang="en-US" altLang="vi-VN"/>
              <a:pPr/>
              <a:t>‹#›</a:t>
            </a:fld>
            <a:endParaRPr lang="en-US" altLang="vi-VN"/>
          </a:p>
        </p:txBody>
      </p:sp>
    </p:spTree>
    <p:extLst>
      <p:ext uri="{BB962C8B-B14F-4D97-AF65-F5344CB8AC3E}">
        <p14:creationId xmlns:p14="http://schemas.microsoft.com/office/powerpoint/2010/main" val="30275427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ltLang="vi-VN"/>
          </a:p>
        </p:txBody>
      </p:sp>
      <p:sp>
        <p:nvSpPr>
          <p:cNvPr id="3" name="Footer Placeholder 2"/>
          <p:cNvSpPr>
            <a:spLocks noGrp="1"/>
          </p:cNvSpPr>
          <p:nvPr>
            <p:ph type="ftr" sz="quarter" idx="11"/>
          </p:nvPr>
        </p:nvSpPr>
        <p:spPr/>
        <p:txBody>
          <a:bodyPr/>
          <a:lstStyle>
            <a:lvl1pPr>
              <a:defRPr/>
            </a:lvl1pPr>
          </a:lstStyle>
          <a:p>
            <a:endParaRPr lang="en-US" altLang="vi-VN"/>
          </a:p>
        </p:txBody>
      </p:sp>
      <p:sp>
        <p:nvSpPr>
          <p:cNvPr id="4" name="Slide Number Placeholder 3"/>
          <p:cNvSpPr>
            <a:spLocks noGrp="1"/>
          </p:cNvSpPr>
          <p:nvPr>
            <p:ph type="sldNum" sz="quarter" idx="12"/>
          </p:nvPr>
        </p:nvSpPr>
        <p:spPr/>
        <p:txBody>
          <a:bodyPr/>
          <a:lstStyle>
            <a:lvl1pPr>
              <a:defRPr/>
            </a:lvl1pPr>
          </a:lstStyle>
          <a:p>
            <a:fld id="{6ACE3CD2-9BF7-4C13-B1DA-06846FBB99B9}" type="slidenum">
              <a:rPr lang="en-US" altLang="vi-VN"/>
              <a:pPr/>
              <a:t>‹#›</a:t>
            </a:fld>
            <a:endParaRPr lang="en-US" altLang="vi-VN"/>
          </a:p>
        </p:txBody>
      </p:sp>
    </p:spTree>
    <p:extLst>
      <p:ext uri="{BB962C8B-B14F-4D97-AF65-F5344CB8AC3E}">
        <p14:creationId xmlns:p14="http://schemas.microsoft.com/office/powerpoint/2010/main" val="13268383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smtClean="0"/>
              <a:t>Click to edit Master title style</a:t>
            </a:r>
            <a:endParaRPr lang="vi-VN"/>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ltLang="vi-VN"/>
          </a:p>
        </p:txBody>
      </p:sp>
      <p:sp>
        <p:nvSpPr>
          <p:cNvPr id="6" name="Footer Placeholder 5"/>
          <p:cNvSpPr>
            <a:spLocks noGrp="1"/>
          </p:cNvSpPr>
          <p:nvPr>
            <p:ph type="ftr" sz="quarter" idx="11"/>
          </p:nvPr>
        </p:nvSpPr>
        <p:spPr/>
        <p:txBody>
          <a:bodyPr/>
          <a:lstStyle>
            <a:lvl1pPr>
              <a:defRPr/>
            </a:lvl1pPr>
          </a:lstStyle>
          <a:p>
            <a:endParaRPr lang="en-US" altLang="vi-VN"/>
          </a:p>
        </p:txBody>
      </p:sp>
      <p:sp>
        <p:nvSpPr>
          <p:cNvPr id="7" name="Slide Number Placeholder 6"/>
          <p:cNvSpPr>
            <a:spLocks noGrp="1"/>
          </p:cNvSpPr>
          <p:nvPr>
            <p:ph type="sldNum" sz="quarter" idx="12"/>
          </p:nvPr>
        </p:nvSpPr>
        <p:spPr/>
        <p:txBody>
          <a:bodyPr/>
          <a:lstStyle>
            <a:lvl1pPr>
              <a:defRPr/>
            </a:lvl1pPr>
          </a:lstStyle>
          <a:p>
            <a:fld id="{C796640E-686A-4672-B36D-AAF933EBDDF2}" type="slidenum">
              <a:rPr lang="en-US" altLang="vi-VN"/>
              <a:pPr/>
              <a:t>‹#›</a:t>
            </a:fld>
            <a:endParaRPr lang="en-US" altLang="vi-VN"/>
          </a:p>
        </p:txBody>
      </p:sp>
    </p:spTree>
    <p:extLst>
      <p:ext uri="{BB962C8B-B14F-4D97-AF65-F5344CB8AC3E}">
        <p14:creationId xmlns:p14="http://schemas.microsoft.com/office/powerpoint/2010/main" val="35455382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smtClean="0"/>
              <a:t>Click to edit Master title style</a:t>
            </a:r>
            <a:endParaRPr lang="vi-VN"/>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vi-V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ltLang="vi-VN"/>
          </a:p>
        </p:txBody>
      </p:sp>
      <p:sp>
        <p:nvSpPr>
          <p:cNvPr id="6" name="Footer Placeholder 5"/>
          <p:cNvSpPr>
            <a:spLocks noGrp="1"/>
          </p:cNvSpPr>
          <p:nvPr>
            <p:ph type="ftr" sz="quarter" idx="11"/>
          </p:nvPr>
        </p:nvSpPr>
        <p:spPr/>
        <p:txBody>
          <a:bodyPr/>
          <a:lstStyle>
            <a:lvl1pPr>
              <a:defRPr/>
            </a:lvl1pPr>
          </a:lstStyle>
          <a:p>
            <a:endParaRPr lang="en-US" altLang="vi-VN"/>
          </a:p>
        </p:txBody>
      </p:sp>
      <p:sp>
        <p:nvSpPr>
          <p:cNvPr id="7" name="Slide Number Placeholder 6"/>
          <p:cNvSpPr>
            <a:spLocks noGrp="1"/>
          </p:cNvSpPr>
          <p:nvPr>
            <p:ph type="sldNum" sz="quarter" idx="12"/>
          </p:nvPr>
        </p:nvSpPr>
        <p:spPr/>
        <p:txBody>
          <a:bodyPr/>
          <a:lstStyle>
            <a:lvl1pPr>
              <a:defRPr/>
            </a:lvl1pPr>
          </a:lstStyle>
          <a:p>
            <a:fld id="{FB314FC5-70C3-4DBC-9864-9608F1E0E5E0}" type="slidenum">
              <a:rPr lang="en-US" altLang="vi-VN"/>
              <a:pPr/>
              <a:t>‹#›</a:t>
            </a:fld>
            <a:endParaRPr lang="en-US" altLang="vi-VN"/>
          </a:p>
        </p:txBody>
      </p:sp>
    </p:spTree>
    <p:extLst>
      <p:ext uri="{BB962C8B-B14F-4D97-AF65-F5344CB8AC3E}">
        <p14:creationId xmlns:p14="http://schemas.microsoft.com/office/powerpoint/2010/main" val="18256684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10"/>
          </p:nvPr>
        </p:nvSpPr>
        <p:spPr/>
        <p:txBody>
          <a:bodyPr/>
          <a:lstStyle>
            <a:lvl1pPr>
              <a:defRPr/>
            </a:lvl1pPr>
          </a:lstStyle>
          <a:p>
            <a:endParaRPr lang="en-US" altLang="vi-VN"/>
          </a:p>
        </p:txBody>
      </p:sp>
      <p:sp>
        <p:nvSpPr>
          <p:cNvPr id="5" name="Footer Placeholder 4"/>
          <p:cNvSpPr>
            <a:spLocks noGrp="1"/>
          </p:cNvSpPr>
          <p:nvPr>
            <p:ph type="ftr" sz="quarter" idx="11"/>
          </p:nvPr>
        </p:nvSpPr>
        <p:spPr/>
        <p:txBody>
          <a:bodyPr/>
          <a:lstStyle>
            <a:lvl1pPr>
              <a:defRPr/>
            </a:lvl1pPr>
          </a:lstStyle>
          <a:p>
            <a:endParaRPr lang="en-US" altLang="vi-VN"/>
          </a:p>
        </p:txBody>
      </p:sp>
      <p:sp>
        <p:nvSpPr>
          <p:cNvPr id="6" name="Slide Number Placeholder 5"/>
          <p:cNvSpPr>
            <a:spLocks noGrp="1"/>
          </p:cNvSpPr>
          <p:nvPr>
            <p:ph type="sldNum" sz="quarter" idx="12"/>
          </p:nvPr>
        </p:nvSpPr>
        <p:spPr/>
        <p:txBody>
          <a:bodyPr/>
          <a:lstStyle>
            <a:lvl1pPr>
              <a:defRPr/>
            </a:lvl1pPr>
          </a:lstStyle>
          <a:p>
            <a:fld id="{FD8A6DE2-09A6-43BC-8E8A-3EB3F14DCBA3}" type="slidenum">
              <a:rPr lang="en-US" altLang="vi-VN"/>
              <a:pPr/>
              <a:t>‹#›</a:t>
            </a:fld>
            <a:endParaRPr lang="en-US" altLang="vi-VN"/>
          </a:p>
        </p:txBody>
      </p:sp>
    </p:spTree>
    <p:extLst>
      <p:ext uri="{BB962C8B-B14F-4D97-AF65-F5344CB8AC3E}">
        <p14:creationId xmlns:p14="http://schemas.microsoft.com/office/powerpoint/2010/main" val="18017738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47651"/>
            <a:ext cx="2743200" cy="5878513"/>
          </a:xfrm>
        </p:spPr>
        <p:txBody>
          <a:bodyPr vert="eaVert"/>
          <a:lstStyle/>
          <a:p>
            <a:r>
              <a:rPr lang="en-US" smtClean="0"/>
              <a:t>Click to edit Master title style</a:t>
            </a:r>
            <a:endParaRPr lang="vi-VN"/>
          </a:p>
        </p:txBody>
      </p:sp>
      <p:sp>
        <p:nvSpPr>
          <p:cNvPr id="3" name="Vertical Text Placeholder 2"/>
          <p:cNvSpPr>
            <a:spLocks noGrp="1"/>
          </p:cNvSpPr>
          <p:nvPr>
            <p:ph type="body" orient="vert" idx="1"/>
          </p:nvPr>
        </p:nvSpPr>
        <p:spPr>
          <a:xfrm>
            <a:off x="609600" y="247651"/>
            <a:ext cx="8026400" cy="587851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10"/>
          </p:nvPr>
        </p:nvSpPr>
        <p:spPr/>
        <p:txBody>
          <a:bodyPr/>
          <a:lstStyle>
            <a:lvl1pPr>
              <a:defRPr/>
            </a:lvl1pPr>
          </a:lstStyle>
          <a:p>
            <a:endParaRPr lang="en-US" altLang="vi-VN"/>
          </a:p>
        </p:txBody>
      </p:sp>
      <p:sp>
        <p:nvSpPr>
          <p:cNvPr id="5" name="Footer Placeholder 4"/>
          <p:cNvSpPr>
            <a:spLocks noGrp="1"/>
          </p:cNvSpPr>
          <p:nvPr>
            <p:ph type="ftr" sz="quarter" idx="11"/>
          </p:nvPr>
        </p:nvSpPr>
        <p:spPr/>
        <p:txBody>
          <a:bodyPr/>
          <a:lstStyle>
            <a:lvl1pPr>
              <a:defRPr/>
            </a:lvl1pPr>
          </a:lstStyle>
          <a:p>
            <a:endParaRPr lang="en-US" altLang="vi-VN"/>
          </a:p>
        </p:txBody>
      </p:sp>
      <p:sp>
        <p:nvSpPr>
          <p:cNvPr id="6" name="Slide Number Placeholder 5"/>
          <p:cNvSpPr>
            <a:spLocks noGrp="1"/>
          </p:cNvSpPr>
          <p:nvPr>
            <p:ph type="sldNum" sz="quarter" idx="12"/>
          </p:nvPr>
        </p:nvSpPr>
        <p:spPr/>
        <p:txBody>
          <a:bodyPr/>
          <a:lstStyle>
            <a:lvl1pPr>
              <a:defRPr/>
            </a:lvl1pPr>
          </a:lstStyle>
          <a:p>
            <a:fld id="{978164A4-FB76-444F-9D1E-9C02B8CC6097}" type="slidenum">
              <a:rPr lang="en-US" altLang="vi-VN"/>
              <a:pPr/>
              <a:t>‹#›</a:t>
            </a:fld>
            <a:endParaRPr lang="en-US" altLang="vi-VN"/>
          </a:p>
        </p:txBody>
      </p:sp>
    </p:spTree>
    <p:extLst>
      <p:ext uri="{BB962C8B-B14F-4D97-AF65-F5344CB8AC3E}">
        <p14:creationId xmlns:p14="http://schemas.microsoft.com/office/powerpoint/2010/main" val="29591498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47650"/>
            <a:ext cx="7924800" cy="1143000"/>
          </a:xfrm>
        </p:spPr>
        <p:txBody>
          <a:bodyPr/>
          <a:lstStyle/>
          <a:p>
            <a:r>
              <a:rPr lang="en-US" smtClean="0"/>
              <a:t>Click to edit Master title style</a:t>
            </a:r>
            <a:endParaRPr lang="vi-VN"/>
          </a:p>
        </p:txBody>
      </p:sp>
      <p:sp>
        <p:nvSpPr>
          <p:cNvPr id="3" name="Text Placeholder 2"/>
          <p:cNvSpPr>
            <a:spLocks noGrp="1"/>
          </p:cNvSpPr>
          <p:nvPr>
            <p:ph type="body" sz="half" idx="1"/>
          </p:nvPr>
        </p:nvSpPr>
        <p:spPr>
          <a:xfrm>
            <a:off x="609600" y="1600201"/>
            <a:ext cx="53848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Content Placeholder 3"/>
          <p:cNvSpPr>
            <a:spLocks noGrp="1"/>
          </p:cNvSpPr>
          <p:nvPr>
            <p:ph sz="half" idx="2"/>
          </p:nvPr>
        </p:nvSpPr>
        <p:spPr>
          <a:xfrm>
            <a:off x="6197600" y="1600201"/>
            <a:ext cx="53848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5" name="Date Placeholder 4"/>
          <p:cNvSpPr>
            <a:spLocks noGrp="1"/>
          </p:cNvSpPr>
          <p:nvPr>
            <p:ph type="dt" sz="half" idx="10"/>
          </p:nvPr>
        </p:nvSpPr>
        <p:spPr>
          <a:xfrm>
            <a:off x="609600" y="6245225"/>
            <a:ext cx="2844800" cy="476250"/>
          </a:xfrm>
        </p:spPr>
        <p:txBody>
          <a:bodyPr/>
          <a:lstStyle>
            <a:lvl1pPr>
              <a:defRPr/>
            </a:lvl1pPr>
          </a:lstStyle>
          <a:p>
            <a:endParaRPr lang="en-US" altLang="vi-VN"/>
          </a:p>
        </p:txBody>
      </p:sp>
      <p:sp>
        <p:nvSpPr>
          <p:cNvPr id="6" name="Footer Placeholder 5"/>
          <p:cNvSpPr>
            <a:spLocks noGrp="1"/>
          </p:cNvSpPr>
          <p:nvPr>
            <p:ph type="ftr" sz="quarter" idx="11"/>
          </p:nvPr>
        </p:nvSpPr>
        <p:spPr>
          <a:xfrm>
            <a:off x="4165600" y="6245225"/>
            <a:ext cx="3860800" cy="476250"/>
          </a:xfrm>
        </p:spPr>
        <p:txBody>
          <a:bodyPr/>
          <a:lstStyle>
            <a:lvl1pPr>
              <a:defRPr/>
            </a:lvl1pPr>
          </a:lstStyle>
          <a:p>
            <a:endParaRPr lang="en-US" altLang="vi-VN"/>
          </a:p>
        </p:txBody>
      </p:sp>
      <p:sp>
        <p:nvSpPr>
          <p:cNvPr id="7" name="Slide Number Placeholder 6"/>
          <p:cNvSpPr>
            <a:spLocks noGrp="1"/>
          </p:cNvSpPr>
          <p:nvPr>
            <p:ph type="sldNum" sz="quarter" idx="12"/>
          </p:nvPr>
        </p:nvSpPr>
        <p:spPr>
          <a:xfrm>
            <a:off x="8737600" y="6245225"/>
            <a:ext cx="2844800" cy="476250"/>
          </a:xfrm>
        </p:spPr>
        <p:txBody>
          <a:bodyPr/>
          <a:lstStyle>
            <a:lvl1pPr>
              <a:defRPr/>
            </a:lvl1pPr>
          </a:lstStyle>
          <a:p>
            <a:fld id="{5516A95D-E14A-42DE-BC6B-F698016002E8}" type="slidenum">
              <a:rPr lang="en-US" altLang="vi-VN"/>
              <a:pPr/>
              <a:t>‹#›</a:t>
            </a:fld>
            <a:endParaRPr lang="en-US" altLang="vi-VN"/>
          </a:p>
        </p:txBody>
      </p:sp>
    </p:spTree>
    <p:extLst>
      <p:ext uri="{BB962C8B-B14F-4D97-AF65-F5344CB8AC3E}">
        <p14:creationId xmlns:p14="http://schemas.microsoft.com/office/powerpoint/2010/main" val="12620758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47650"/>
            <a:ext cx="7924800" cy="1143000"/>
          </a:xfrm>
        </p:spPr>
        <p:txBody>
          <a:bodyPr/>
          <a:lstStyle/>
          <a:p>
            <a:r>
              <a:rPr lang="en-US" smtClean="0"/>
              <a:t>Click to edit Master title style</a:t>
            </a:r>
            <a:endParaRPr lang="vi-VN"/>
          </a:p>
        </p:txBody>
      </p:sp>
      <p:sp>
        <p:nvSpPr>
          <p:cNvPr id="3" name="Table Placeholder 2"/>
          <p:cNvSpPr>
            <a:spLocks noGrp="1"/>
          </p:cNvSpPr>
          <p:nvPr>
            <p:ph type="tbl" idx="1"/>
          </p:nvPr>
        </p:nvSpPr>
        <p:spPr>
          <a:xfrm>
            <a:off x="609600" y="1600201"/>
            <a:ext cx="10972800" cy="4525963"/>
          </a:xfrm>
        </p:spPr>
        <p:txBody>
          <a:bodyPr/>
          <a:lstStyle/>
          <a:p>
            <a:r>
              <a:rPr lang="en-US" smtClean="0"/>
              <a:t>Click icon to add table</a:t>
            </a:r>
            <a:endParaRPr lang="vi-VN"/>
          </a:p>
        </p:txBody>
      </p:sp>
      <p:sp>
        <p:nvSpPr>
          <p:cNvPr id="4" name="Date Placeholder 3"/>
          <p:cNvSpPr>
            <a:spLocks noGrp="1"/>
          </p:cNvSpPr>
          <p:nvPr>
            <p:ph type="dt" sz="half" idx="10"/>
          </p:nvPr>
        </p:nvSpPr>
        <p:spPr>
          <a:xfrm>
            <a:off x="609600" y="6245225"/>
            <a:ext cx="2844800" cy="476250"/>
          </a:xfrm>
        </p:spPr>
        <p:txBody>
          <a:bodyPr/>
          <a:lstStyle>
            <a:lvl1pPr>
              <a:defRPr/>
            </a:lvl1pPr>
          </a:lstStyle>
          <a:p>
            <a:endParaRPr lang="en-US" altLang="vi-VN"/>
          </a:p>
        </p:txBody>
      </p:sp>
      <p:sp>
        <p:nvSpPr>
          <p:cNvPr id="5" name="Footer Placeholder 4"/>
          <p:cNvSpPr>
            <a:spLocks noGrp="1"/>
          </p:cNvSpPr>
          <p:nvPr>
            <p:ph type="ftr" sz="quarter" idx="11"/>
          </p:nvPr>
        </p:nvSpPr>
        <p:spPr>
          <a:xfrm>
            <a:off x="4165600" y="6245225"/>
            <a:ext cx="3860800" cy="476250"/>
          </a:xfrm>
        </p:spPr>
        <p:txBody>
          <a:bodyPr/>
          <a:lstStyle>
            <a:lvl1pPr>
              <a:defRPr/>
            </a:lvl1pPr>
          </a:lstStyle>
          <a:p>
            <a:endParaRPr lang="en-US" altLang="vi-VN"/>
          </a:p>
        </p:txBody>
      </p:sp>
      <p:sp>
        <p:nvSpPr>
          <p:cNvPr id="6" name="Slide Number Placeholder 5"/>
          <p:cNvSpPr>
            <a:spLocks noGrp="1"/>
          </p:cNvSpPr>
          <p:nvPr>
            <p:ph type="sldNum" sz="quarter" idx="12"/>
          </p:nvPr>
        </p:nvSpPr>
        <p:spPr>
          <a:xfrm>
            <a:off x="8737600" y="6245225"/>
            <a:ext cx="2844800" cy="476250"/>
          </a:xfrm>
        </p:spPr>
        <p:txBody>
          <a:bodyPr/>
          <a:lstStyle>
            <a:lvl1pPr>
              <a:defRPr/>
            </a:lvl1pPr>
          </a:lstStyle>
          <a:p>
            <a:fld id="{6E4ED46E-F19D-4ECD-BBC5-2E6CE79B776F}" type="slidenum">
              <a:rPr lang="en-US" altLang="vi-VN"/>
              <a:pPr/>
              <a:t>‹#›</a:t>
            </a:fld>
            <a:endParaRPr lang="en-US" altLang="vi-VN"/>
          </a:p>
        </p:txBody>
      </p:sp>
    </p:spTree>
    <p:extLst>
      <p:ext uri="{BB962C8B-B14F-4D97-AF65-F5344CB8AC3E}">
        <p14:creationId xmlns:p14="http://schemas.microsoft.com/office/powerpoint/2010/main" val="80718594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609600" y="247650"/>
            <a:ext cx="7924800" cy="1143000"/>
          </a:xfrm>
        </p:spPr>
        <p:txBody>
          <a:bodyPr/>
          <a:lstStyle/>
          <a:p>
            <a:r>
              <a:rPr lang="en-US" dirty="0" smtClean="0"/>
              <a:t>Click to edit Master title style</a:t>
            </a:r>
            <a:endParaRPr lang="vi-VN" dirty="0"/>
          </a:p>
        </p:txBody>
      </p:sp>
      <p:sp>
        <p:nvSpPr>
          <p:cNvPr id="3" name="Chart Placeholder 2"/>
          <p:cNvSpPr>
            <a:spLocks noGrp="1"/>
          </p:cNvSpPr>
          <p:nvPr>
            <p:ph type="chart" idx="1"/>
          </p:nvPr>
        </p:nvSpPr>
        <p:spPr>
          <a:xfrm>
            <a:off x="609600" y="1600201"/>
            <a:ext cx="10972800" cy="4525963"/>
          </a:xfrm>
        </p:spPr>
        <p:txBody>
          <a:bodyPr/>
          <a:lstStyle/>
          <a:p>
            <a:r>
              <a:rPr lang="en-US" smtClean="0"/>
              <a:t>Click icon to add chart</a:t>
            </a:r>
            <a:endParaRPr lang="vi-VN"/>
          </a:p>
        </p:txBody>
      </p:sp>
      <p:sp>
        <p:nvSpPr>
          <p:cNvPr id="4" name="Date Placeholder 3"/>
          <p:cNvSpPr>
            <a:spLocks noGrp="1"/>
          </p:cNvSpPr>
          <p:nvPr>
            <p:ph type="dt" sz="half" idx="10"/>
          </p:nvPr>
        </p:nvSpPr>
        <p:spPr>
          <a:xfrm>
            <a:off x="609600" y="6245225"/>
            <a:ext cx="2844800" cy="476250"/>
          </a:xfrm>
        </p:spPr>
        <p:txBody>
          <a:bodyPr/>
          <a:lstStyle>
            <a:lvl1pPr>
              <a:defRPr/>
            </a:lvl1pPr>
          </a:lstStyle>
          <a:p>
            <a:endParaRPr lang="en-US" altLang="vi-VN"/>
          </a:p>
        </p:txBody>
      </p:sp>
      <p:sp>
        <p:nvSpPr>
          <p:cNvPr id="5" name="Footer Placeholder 4"/>
          <p:cNvSpPr>
            <a:spLocks noGrp="1"/>
          </p:cNvSpPr>
          <p:nvPr>
            <p:ph type="ftr" sz="quarter" idx="11"/>
          </p:nvPr>
        </p:nvSpPr>
        <p:spPr>
          <a:xfrm>
            <a:off x="4165600" y="6245225"/>
            <a:ext cx="3860800" cy="476250"/>
          </a:xfrm>
        </p:spPr>
        <p:txBody>
          <a:bodyPr/>
          <a:lstStyle>
            <a:lvl1pPr>
              <a:defRPr/>
            </a:lvl1pPr>
          </a:lstStyle>
          <a:p>
            <a:endParaRPr lang="en-US" altLang="vi-VN"/>
          </a:p>
        </p:txBody>
      </p:sp>
      <p:sp>
        <p:nvSpPr>
          <p:cNvPr id="6" name="Slide Number Placeholder 5"/>
          <p:cNvSpPr>
            <a:spLocks noGrp="1"/>
          </p:cNvSpPr>
          <p:nvPr>
            <p:ph type="sldNum" sz="quarter" idx="12"/>
          </p:nvPr>
        </p:nvSpPr>
        <p:spPr>
          <a:xfrm>
            <a:off x="8737600" y="6245225"/>
            <a:ext cx="2844800" cy="476250"/>
          </a:xfrm>
        </p:spPr>
        <p:txBody>
          <a:bodyPr/>
          <a:lstStyle>
            <a:lvl1pPr>
              <a:defRPr/>
            </a:lvl1pPr>
          </a:lstStyle>
          <a:p>
            <a:fld id="{CCCF65AD-5C5D-4159-AE02-3B90164E529A}" type="slidenum">
              <a:rPr lang="en-US" altLang="vi-VN"/>
              <a:pPr/>
              <a:t>‹#›</a:t>
            </a:fld>
            <a:endParaRPr lang="en-US" altLang="vi-VN"/>
          </a:p>
        </p:txBody>
      </p:sp>
    </p:spTree>
    <p:extLst>
      <p:ext uri="{BB962C8B-B14F-4D97-AF65-F5344CB8AC3E}">
        <p14:creationId xmlns:p14="http://schemas.microsoft.com/office/powerpoint/2010/main" val="390792163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image" Target="../media/image3.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image" Target="../media/image2.png"/><Relationship Id="rId2" Type="http://schemas.openxmlformats.org/officeDocument/2006/relationships/slideLayout" Target="../slideLayouts/slideLayout13.xml"/><Relationship Id="rId16" Type="http://schemas.openxmlformats.org/officeDocument/2006/relationships/image" Target="../media/image1.jpe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19" Type="http://schemas.openxmlformats.org/officeDocument/2006/relationships/image" Target="../media/image4.pn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vi-V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vi-VN"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7DF24C-A714-494C-B2E7-4DA32B8D4A7B}" type="datetimeFigureOut">
              <a:rPr lang="vi-VN" smtClean="0"/>
              <a:t>30/09/18</a:t>
            </a:fld>
            <a:endParaRPr lang="vi-V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3E76A7-06F5-4EE3-AADC-3880CAAF3491}" type="slidenum">
              <a:rPr lang="vi-VN" smtClean="0"/>
              <a:t>‹#›</a:t>
            </a:fld>
            <a:endParaRPr lang="vi-VN"/>
          </a:p>
        </p:txBody>
      </p:sp>
    </p:spTree>
    <p:extLst>
      <p:ext uri="{BB962C8B-B14F-4D97-AF65-F5344CB8AC3E}">
        <p14:creationId xmlns:p14="http://schemas.microsoft.com/office/powerpoint/2010/main" val="6884447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ltGray">
      <p:bgPr>
        <a:blipFill dpi="0" rotWithShape="0">
          <a:blip r:embed="rId16"/>
          <a:srcRect/>
          <a:stretch>
            <a:fillRect/>
          </a:stretch>
        </a:blipFill>
        <a:effectLst/>
      </p:bgPr>
    </p:bg>
    <p:spTree>
      <p:nvGrpSpPr>
        <p:cNvPr id="1" name=""/>
        <p:cNvGrpSpPr/>
        <p:nvPr/>
      </p:nvGrpSpPr>
      <p:grpSpPr>
        <a:xfrm>
          <a:off x="0" y="0"/>
          <a:ext cx="0" cy="0"/>
          <a:chOff x="0" y="0"/>
          <a:chExt cx="0" cy="0"/>
        </a:xfrm>
      </p:grpSpPr>
      <p:sp>
        <p:nvSpPr>
          <p:cNvPr id="1041" name="Rectangle 17"/>
          <p:cNvSpPr>
            <a:spLocks noChangeArrowheads="1"/>
          </p:cNvSpPr>
          <p:nvPr/>
        </p:nvSpPr>
        <p:spPr bwMode="ltGray">
          <a:xfrm>
            <a:off x="0" y="487364"/>
            <a:ext cx="12192000" cy="727075"/>
          </a:xfrm>
          <a:prstGeom prst="rect">
            <a:avLst/>
          </a:prstGeom>
          <a:gradFill rotWithShape="1">
            <a:gsLst>
              <a:gs pos="0">
                <a:schemeClr val="tx1">
                  <a:gamma/>
                  <a:shade val="72941"/>
                  <a:invGamma/>
                  <a:alpha val="67999"/>
                </a:schemeClr>
              </a:gs>
              <a:gs pos="100000">
                <a:schemeClr val="tx1">
                  <a:alpha val="27000"/>
                </a:scheme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vi-VN" sz="1800">
              <a:solidFill>
                <a:srgbClr val="0052A4"/>
              </a:solidFill>
            </a:endParaRPr>
          </a:p>
        </p:txBody>
      </p:sp>
      <p:sp>
        <p:nvSpPr>
          <p:cNvPr id="1026" name="Rectangle 2"/>
          <p:cNvSpPr>
            <a:spLocks noGrp="1" noChangeArrowheads="1"/>
          </p:cNvSpPr>
          <p:nvPr>
            <p:ph type="title"/>
          </p:nvPr>
        </p:nvSpPr>
        <p:spPr bwMode="black">
          <a:xfrm>
            <a:off x="609600" y="247650"/>
            <a:ext cx="7924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vi-VN" dirty="0" smtClean="0"/>
              <a:t>Click to edit Master title style</a:t>
            </a:r>
          </a:p>
        </p:txBody>
      </p:sp>
      <p:sp>
        <p:nvSpPr>
          <p:cNvPr id="1027" name="Rectangle 3"/>
          <p:cNvSpPr>
            <a:spLocks noGrp="1" noChangeArrowheads="1"/>
          </p:cNvSpPr>
          <p:nvPr>
            <p:ph type="body" idx="1"/>
          </p:nvPr>
        </p:nvSpPr>
        <p:spPr bwMode="gray">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vi-VN" smtClean="0"/>
              <a:t>Click to edit Master text styles</a:t>
            </a:r>
          </a:p>
          <a:p>
            <a:pPr lvl="1"/>
            <a:r>
              <a:rPr lang="en-US" altLang="vi-VN" smtClean="0"/>
              <a:t>Second level</a:t>
            </a:r>
          </a:p>
          <a:p>
            <a:pPr lvl="2"/>
            <a:r>
              <a:rPr lang="en-US" altLang="vi-VN" smtClean="0"/>
              <a:t>Third level</a:t>
            </a:r>
          </a:p>
          <a:p>
            <a:pPr lvl="3"/>
            <a:r>
              <a:rPr lang="en-US" altLang="vi-VN" smtClean="0"/>
              <a:t>Fourth level</a:t>
            </a:r>
          </a:p>
          <a:p>
            <a:pPr lvl="4"/>
            <a:r>
              <a:rPr lang="en-US" altLang="vi-VN" smtClean="0"/>
              <a:t>Fifth level</a:t>
            </a:r>
          </a:p>
        </p:txBody>
      </p:sp>
      <p:sp>
        <p:nvSpPr>
          <p:cNvPr id="1028" name="Rectangle 4"/>
          <p:cNvSpPr>
            <a:spLocks noGrp="1" noChangeArrowheads="1"/>
          </p:cNvSpPr>
          <p:nvPr>
            <p:ph type="dt" sz="half" idx="2"/>
          </p:nvPr>
        </p:nvSpPr>
        <p:spPr bwMode="gray">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solidFill>
                  <a:srgbClr val="000000"/>
                </a:solidFill>
              </a:defRPr>
            </a:lvl1pPr>
          </a:lstStyle>
          <a:p>
            <a:pPr fontAlgn="base">
              <a:spcBef>
                <a:spcPct val="0"/>
              </a:spcBef>
              <a:spcAft>
                <a:spcPct val="0"/>
              </a:spcAft>
            </a:pPr>
            <a:endParaRPr lang="en-US" altLang="vi-VN"/>
          </a:p>
        </p:txBody>
      </p:sp>
      <p:sp>
        <p:nvSpPr>
          <p:cNvPr id="1029" name="Rectangle 5"/>
          <p:cNvSpPr>
            <a:spLocks noGrp="1" noChangeArrowheads="1"/>
          </p:cNvSpPr>
          <p:nvPr>
            <p:ph type="ftr" sz="quarter" idx="3"/>
          </p:nvPr>
        </p:nvSpPr>
        <p:spPr bwMode="gray">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solidFill>
                  <a:srgbClr val="000000"/>
                </a:solidFill>
              </a:defRPr>
            </a:lvl1pPr>
          </a:lstStyle>
          <a:p>
            <a:pPr fontAlgn="base">
              <a:spcBef>
                <a:spcPct val="0"/>
              </a:spcBef>
              <a:spcAft>
                <a:spcPct val="0"/>
              </a:spcAft>
            </a:pPr>
            <a:endParaRPr lang="en-US" altLang="vi-VN"/>
          </a:p>
        </p:txBody>
      </p:sp>
      <p:sp>
        <p:nvSpPr>
          <p:cNvPr id="1030" name="Rectangle 6"/>
          <p:cNvSpPr>
            <a:spLocks noGrp="1" noChangeArrowheads="1"/>
          </p:cNvSpPr>
          <p:nvPr>
            <p:ph type="sldNum" sz="quarter" idx="4"/>
          </p:nvPr>
        </p:nvSpPr>
        <p:spPr bwMode="gray">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solidFill>
                  <a:srgbClr val="000000"/>
                </a:solidFill>
              </a:defRPr>
            </a:lvl1pPr>
          </a:lstStyle>
          <a:p>
            <a:pPr fontAlgn="base">
              <a:spcBef>
                <a:spcPct val="0"/>
              </a:spcBef>
              <a:spcAft>
                <a:spcPct val="0"/>
              </a:spcAft>
            </a:pPr>
            <a:fld id="{D50ECD5E-C849-4739-AF38-915F51B78D17}" type="slidenum">
              <a:rPr lang="en-US" altLang="vi-VN"/>
              <a:pPr fontAlgn="base">
                <a:spcBef>
                  <a:spcPct val="0"/>
                </a:spcBef>
                <a:spcAft>
                  <a:spcPct val="0"/>
                </a:spcAft>
              </a:pPr>
              <a:t>‹#›</a:t>
            </a:fld>
            <a:endParaRPr lang="en-US" altLang="vi-VN"/>
          </a:p>
        </p:txBody>
      </p:sp>
      <p:pic>
        <p:nvPicPr>
          <p:cNvPr id="1046" name="Picture 22" descr="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gray">
          <a:xfrm>
            <a:off x="-2931583" y="5727700"/>
            <a:ext cx="15121468" cy="979488"/>
          </a:xfrm>
          <a:prstGeom prst="rect">
            <a:avLst/>
          </a:prstGeom>
          <a:noFill/>
          <a:extLst>
            <a:ext uri="{909E8E84-426E-40DD-AFC4-6F175D3DCCD1}">
              <a14:hiddenFill xmlns:a14="http://schemas.microsoft.com/office/drawing/2010/main">
                <a:solidFill>
                  <a:srgbClr val="FFFFFF"/>
                </a:solidFill>
              </a14:hiddenFill>
            </a:ext>
          </a:extLst>
        </p:spPr>
      </p:pic>
      <p:pic>
        <p:nvPicPr>
          <p:cNvPr id="1047" name="Picture 23" descr="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gray">
          <a:xfrm>
            <a:off x="-2546350" y="5588000"/>
            <a:ext cx="16611601" cy="1422400"/>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descr="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gray">
          <a:xfrm>
            <a:off x="-2641599" y="5418138"/>
            <a:ext cx="17473084" cy="1422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03241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iming>
    <p:tnLst>
      <p:par>
        <p:cTn id="1" dur="indefinite" restart="never" nodeType="tmRoot"/>
      </p:par>
    </p:tnLst>
  </p:timing>
  <p:txStyles>
    <p:titleStyle>
      <a:lvl1pPr algn="l" rtl="0" eaLnBrk="1" fontAlgn="base" hangingPunct="1">
        <a:spcBef>
          <a:spcPct val="0"/>
        </a:spcBef>
        <a:spcAft>
          <a:spcPct val="0"/>
        </a:spcAft>
        <a:defRPr sz="4400" b="1" kern="1200">
          <a:solidFill>
            <a:srgbClr val="FFFFFF"/>
          </a:solidFill>
          <a:latin typeface="+mj-lt"/>
          <a:ea typeface="+mj-ea"/>
          <a:cs typeface="+mj-cs"/>
        </a:defRPr>
      </a:lvl1pPr>
      <a:lvl2pPr algn="l" rtl="0" eaLnBrk="1" fontAlgn="base" hangingPunct="1">
        <a:spcBef>
          <a:spcPct val="0"/>
        </a:spcBef>
        <a:spcAft>
          <a:spcPct val="0"/>
        </a:spcAft>
        <a:defRPr sz="4400" b="1">
          <a:solidFill>
            <a:srgbClr val="FFFFFF"/>
          </a:solidFill>
          <a:latin typeface="Arial" panose="020B0604020202020204" pitchFamily="34" charset="0"/>
        </a:defRPr>
      </a:lvl2pPr>
      <a:lvl3pPr algn="l" rtl="0" eaLnBrk="1" fontAlgn="base" hangingPunct="1">
        <a:spcBef>
          <a:spcPct val="0"/>
        </a:spcBef>
        <a:spcAft>
          <a:spcPct val="0"/>
        </a:spcAft>
        <a:defRPr sz="4400" b="1">
          <a:solidFill>
            <a:srgbClr val="FFFFFF"/>
          </a:solidFill>
          <a:latin typeface="Arial" panose="020B0604020202020204" pitchFamily="34" charset="0"/>
        </a:defRPr>
      </a:lvl3pPr>
      <a:lvl4pPr algn="l" rtl="0" eaLnBrk="1" fontAlgn="base" hangingPunct="1">
        <a:spcBef>
          <a:spcPct val="0"/>
        </a:spcBef>
        <a:spcAft>
          <a:spcPct val="0"/>
        </a:spcAft>
        <a:defRPr sz="4400" b="1">
          <a:solidFill>
            <a:srgbClr val="FFFFFF"/>
          </a:solidFill>
          <a:latin typeface="Arial" panose="020B0604020202020204" pitchFamily="34" charset="0"/>
        </a:defRPr>
      </a:lvl4pPr>
      <a:lvl5pPr algn="l" rtl="0" eaLnBrk="1" fontAlgn="base" hangingPunct="1">
        <a:spcBef>
          <a:spcPct val="0"/>
        </a:spcBef>
        <a:spcAft>
          <a:spcPct val="0"/>
        </a:spcAft>
        <a:defRPr sz="4400" b="1">
          <a:solidFill>
            <a:srgbClr val="FFFFFF"/>
          </a:solidFill>
          <a:latin typeface="Arial" panose="020B0604020202020204" pitchFamily="34" charset="0"/>
        </a:defRPr>
      </a:lvl5pPr>
      <a:lvl6pPr marL="457200" algn="l" rtl="0" eaLnBrk="1" fontAlgn="base" hangingPunct="1">
        <a:spcBef>
          <a:spcPct val="0"/>
        </a:spcBef>
        <a:spcAft>
          <a:spcPct val="0"/>
        </a:spcAft>
        <a:defRPr sz="4400" b="1">
          <a:solidFill>
            <a:srgbClr val="FFFFFF"/>
          </a:solidFill>
          <a:latin typeface="Arial" panose="020B0604020202020204" pitchFamily="34" charset="0"/>
        </a:defRPr>
      </a:lvl6pPr>
      <a:lvl7pPr marL="914400" algn="l" rtl="0" eaLnBrk="1" fontAlgn="base" hangingPunct="1">
        <a:spcBef>
          <a:spcPct val="0"/>
        </a:spcBef>
        <a:spcAft>
          <a:spcPct val="0"/>
        </a:spcAft>
        <a:defRPr sz="4400" b="1">
          <a:solidFill>
            <a:srgbClr val="FFFFFF"/>
          </a:solidFill>
          <a:latin typeface="Arial" panose="020B0604020202020204" pitchFamily="34" charset="0"/>
        </a:defRPr>
      </a:lvl7pPr>
      <a:lvl8pPr marL="1371600" algn="l" rtl="0" eaLnBrk="1" fontAlgn="base" hangingPunct="1">
        <a:spcBef>
          <a:spcPct val="0"/>
        </a:spcBef>
        <a:spcAft>
          <a:spcPct val="0"/>
        </a:spcAft>
        <a:defRPr sz="4400" b="1">
          <a:solidFill>
            <a:srgbClr val="FFFFFF"/>
          </a:solidFill>
          <a:latin typeface="Arial" panose="020B0604020202020204" pitchFamily="34" charset="0"/>
        </a:defRPr>
      </a:lvl8pPr>
      <a:lvl9pPr marL="1828800" algn="l" rtl="0" eaLnBrk="1" fontAlgn="base" hangingPunct="1">
        <a:spcBef>
          <a:spcPct val="0"/>
        </a:spcBef>
        <a:spcAft>
          <a:spcPct val="0"/>
        </a:spcAft>
        <a:defRPr sz="4400" b="1">
          <a:solidFill>
            <a:srgbClr val="FFFFFF"/>
          </a:solidFill>
          <a:latin typeface="Arial" panose="020B0604020202020204" pitchFamily="34" charset="0"/>
        </a:defRPr>
      </a:lvl9pPr>
    </p:titleStyle>
    <p:bodyStyle>
      <a:lvl1pPr marL="342900" indent="-342900" algn="l" rtl="0" eaLnBrk="1" fontAlgn="base" hangingPunct="1">
        <a:spcBef>
          <a:spcPct val="20000"/>
        </a:spcBef>
        <a:spcAft>
          <a:spcPct val="0"/>
        </a:spcAft>
        <a:buChar char="•"/>
        <a:defRPr sz="3200" kern="1200">
          <a:solidFill>
            <a:srgbClr val="000000"/>
          </a:solidFill>
          <a:latin typeface="+mn-lt"/>
          <a:ea typeface="+mn-ea"/>
          <a:cs typeface="+mn-cs"/>
        </a:defRPr>
      </a:lvl1pPr>
      <a:lvl2pPr marL="742950" indent="-285750" algn="l" rtl="0" eaLnBrk="1" fontAlgn="base" hangingPunct="1">
        <a:spcBef>
          <a:spcPct val="20000"/>
        </a:spcBef>
        <a:spcAft>
          <a:spcPct val="0"/>
        </a:spcAft>
        <a:buChar char="–"/>
        <a:defRPr sz="2800" kern="1200">
          <a:solidFill>
            <a:srgbClr val="000000"/>
          </a:solidFill>
          <a:latin typeface="+mn-lt"/>
          <a:ea typeface="+mn-ea"/>
          <a:cs typeface="+mn-cs"/>
        </a:defRPr>
      </a:lvl2pPr>
      <a:lvl3pPr marL="1143000" indent="-228600" algn="l" rtl="0" eaLnBrk="1" fontAlgn="base" hangingPunct="1">
        <a:spcBef>
          <a:spcPct val="20000"/>
        </a:spcBef>
        <a:spcAft>
          <a:spcPct val="0"/>
        </a:spcAft>
        <a:buChar char="•"/>
        <a:defRPr sz="2400" kern="1200">
          <a:solidFill>
            <a:srgbClr val="000000"/>
          </a:solidFill>
          <a:latin typeface="+mn-lt"/>
          <a:ea typeface="+mn-ea"/>
          <a:cs typeface="+mn-cs"/>
        </a:defRPr>
      </a:lvl3pPr>
      <a:lvl4pPr marL="1600200" indent="-228600" algn="l" rtl="0" eaLnBrk="1" fontAlgn="base" hangingPunct="1">
        <a:spcBef>
          <a:spcPct val="20000"/>
        </a:spcBef>
        <a:spcAft>
          <a:spcPct val="0"/>
        </a:spcAft>
        <a:buChar char="–"/>
        <a:defRPr sz="2000" kern="1200">
          <a:solidFill>
            <a:srgbClr val="000000"/>
          </a:solidFill>
          <a:latin typeface="+mn-lt"/>
          <a:ea typeface="+mn-ea"/>
          <a:cs typeface="+mn-cs"/>
        </a:defRPr>
      </a:lvl4pPr>
      <a:lvl5pPr marL="2057400" indent="-228600" algn="l" rtl="0" eaLnBrk="1" fontAlgn="base" hangingPunct="1">
        <a:spcBef>
          <a:spcPct val="20000"/>
        </a:spcBef>
        <a:spcAft>
          <a:spcPct val="0"/>
        </a:spcAft>
        <a:buChar char="»"/>
        <a:defRPr sz="20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1.jpeg"/><Relationship Id="rId4" Type="http://schemas.openxmlformats.org/officeDocument/2006/relationships/image" Target="../media/image10.jpg"/></Relationships>
</file>

<file path=ppt/slides/_rels/slide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13.jpg"/></Relationships>
</file>

<file path=ppt/slides/_rels/slide10.xml.rels><?xml version="1.0" encoding="UTF-8" standalone="yes"?>
<Relationships xmlns="http://schemas.openxmlformats.org/package/2006/relationships"><Relationship Id="rId8" Type="http://schemas.openxmlformats.org/officeDocument/2006/relationships/audio" Target="../media/audio1.wav"/><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audio" Target="../media/audio1.wav"/><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8" Type="http://schemas.openxmlformats.org/officeDocument/2006/relationships/audio" Target="../media/audio1.wav"/><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audio" Target="../media/audio1.wav"/><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audio" Target="../media/audio1.wav"/><Relationship Id="rId1" Type="http://schemas.openxmlformats.org/officeDocument/2006/relationships/slideLayout" Target="../slideLayouts/slideLayout13.xml"/><Relationship Id="rId4" Type="http://schemas.openxmlformats.org/officeDocument/2006/relationships/image" Target="../media/image18.jpg"/></Relationships>
</file>

<file path=ppt/slides/_rels/slide35.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audio" Target="../media/audio1.wav"/><Relationship Id="rId1" Type="http://schemas.openxmlformats.org/officeDocument/2006/relationships/slideLayout" Target="../slideLayouts/slideLayout13.xml"/><Relationship Id="rId4" Type="http://schemas.openxmlformats.org/officeDocument/2006/relationships/image" Target="../media/image20.jpg"/></Relationships>
</file>

<file path=ppt/slides/_rels/slide3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audio" Target="../media/audio1.wav"/><Relationship Id="rId1" Type="http://schemas.openxmlformats.org/officeDocument/2006/relationships/slideLayout" Target="../slideLayouts/slideLayout13.xml"/><Relationship Id="rId4" Type="http://schemas.openxmlformats.org/officeDocument/2006/relationships/image" Target="../media/image23.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8" Type="http://schemas.openxmlformats.org/officeDocument/2006/relationships/audio" Target="../media/audio1.wav"/><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audio" Target="../media/audio1.wav"/><Relationship Id="rId1" Type="http://schemas.openxmlformats.org/officeDocument/2006/relationships/slideLayout" Target="../slideLayouts/slideLayout1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2.xml.rels><?xml version="1.0" encoding="UTF-8" standalone="yes"?>
<Relationships xmlns="http://schemas.openxmlformats.org/package/2006/relationships"><Relationship Id="rId8" Type="http://schemas.openxmlformats.org/officeDocument/2006/relationships/audio" Target="../media/audio1.wav"/><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audio" Target="../media/audio1.wav"/><Relationship Id="rId1" Type="http://schemas.openxmlformats.org/officeDocument/2006/relationships/slideLayout" Target="../slideLayouts/slideLayout1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audio" Target="../media/audio1.wav"/><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839730"/>
            <a:ext cx="9144000" cy="2387600"/>
          </a:xfrm>
        </p:spPr>
        <p:txBody>
          <a:bodyPr>
            <a:noAutofit/>
          </a:bodyPr>
          <a:lstStyle/>
          <a:p>
            <a:r>
              <a:rPr lang="en-US" sz="8800" dirty="0" err="1" smtClean="0">
                <a:solidFill>
                  <a:schemeClr val="accent2"/>
                </a:solidFill>
              </a:rPr>
              <a:t>Tiếp</a:t>
            </a:r>
            <a:r>
              <a:rPr lang="en-US" sz="8800" dirty="0" smtClean="0">
                <a:solidFill>
                  <a:schemeClr val="accent2"/>
                </a:solidFill>
              </a:rPr>
              <a:t> </a:t>
            </a:r>
            <a:r>
              <a:rPr lang="en-US" sz="8800" dirty="0" err="1" smtClean="0">
                <a:solidFill>
                  <a:schemeClr val="accent2"/>
                </a:solidFill>
              </a:rPr>
              <a:t>cận</a:t>
            </a:r>
            <a:r>
              <a:rPr lang="en-US" sz="8800" dirty="0" smtClean="0">
                <a:solidFill>
                  <a:schemeClr val="accent2"/>
                </a:solidFill>
              </a:rPr>
              <a:t> </a:t>
            </a:r>
            <a:r>
              <a:rPr lang="en-US" sz="8800" dirty="0" err="1" smtClean="0">
                <a:solidFill>
                  <a:schemeClr val="accent2"/>
                </a:solidFill>
              </a:rPr>
              <a:t>nôn</a:t>
            </a:r>
            <a:r>
              <a:rPr lang="en-US" sz="8800" dirty="0" smtClean="0">
                <a:solidFill>
                  <a:schemeClr val="accent2"/>
                </a:solidFill>
              </a:rPr>
              <a:t> </a:t>
            </a:r>
            <a:r>
              <a:rPr lang="en-US" sz="8800" dirty="0" err="1" smtClean="0">
                <a:solidFill>
                  <a:schemeClr val="accent2"/>
                </a:solidFill>
              </a:rPr>
              <a:t>trớ</a:t>
            </a:r>
            <a:r>
              <a:rPr lang="en-US" sz="8800" dirty="0" smtClean="0">
                <a:solidFill>
                  <a:schemeClr val="accent2"/>
                </a:solidFill>
              </a:rPr>
              <a:t> ở </a:t>
            </a:r>
            <a:r>
              <a:rPr lang="en-US" sz="8800" dirty="0" err="1" smtClean="0">
                <a:solidFill>
                  <a:schemeClr val="accent2"/>
                </a:solidFill>
              </a:rPr>
              <a:t>trẻ</a:t>
            </a:r>
            <a:r>
              <a:rPr lang="en-US" sz="8800" dirty="0" smtClean="0">
                <a:solidFill>
                  <a:schemeClr val="accent2"/>
                </a:solidFill>
              </a:rPr>
              <a:t> </a:t>
            </a:r>
            <a:r>
              <a:rPr lang="en-US" sz="8800" dirty="0" err="1" smtClean="0">
                <a:solidFill>
                  <a:schemeClr val="accent2"/>
                </a:solidFill>
              </a:rPr>
              <a:t>em</a:t>
            </a:r>
            <a:endParaRPr lang="vi-VN" sz="8800" dirty="0">
              <a:solidFill>
                <a:schemeClr val="accent2"/>
              </a:solidFill>
            </a:endParaRPr>
          </a:p>
        </p:txBody>
      </p:sp>
      <p:sp>
        <p:nvSpPr>
          <p:cNvPr id="3" name="Subtitle 2"/>
          <p:cNvSpPr>
            <a:spLocks noGrp="1"/>
          </p:cNvSpPr>
          <p:nvPr>
            <p:ph type="subTitle" idx="1"/>
          </p:nvPr>
        </p:nvSpPr>
        <p:spPr/>
        <p:txBody>
          <a:bodyPr>
            <a:normAutofit/>
          </a:bodyPr>
          <a:lstStyle/>
          <a:p>
            <a:pPr algn="r"/>
            <a:r>
              <a:rPr lang="vi-VN" sz="3200" dirty="0" smtClean="0">
                <a:solidFill>
                  <a:schemeClr val="accent3">
                    <a:lumMod val="75000"/>
                  </a:schemeClr>
                </a:solidFill>
              </a:rPr>
              <a:t>Trình bày: </a:t>
            </a:r>
            <a:r>
              <a:rPr lang="vi-VN" sz="3200" dirty="0" smtClean="0">
                <a:solidFill>
                  <a:schemeClr val="accent3">
                    <a:lumMod val="75000"/>
                  </a:schemeClr>
                </a:solidFill>
              </a:rPr>
              <a:t>Nhóm Tiêu Hóa</a:t>
            </a:r>
            <a:endParaRPr lang="vi-VN" sz="3200" dirty="0">
              <a:solidFill>
                <a:schemeClr val="accent3">
                  <a:lumMod val="75000"/>
                </a:schemeClr>
              </a:solidFill>
            </a:endParaRPr>
          </a:p>
        </p:txBody>
      </p:sp>
      <p:pic>
        <p:nvPicPr>
          <p:cNvPr id="4" name="Picture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668000" y="0"/>
            <a:ext cx="1524000" cy="1296785"/>
          </a:xfrm>
          <a:prstGeom prst="rect">
            <a:avLst/>
          </a:prstGeom>
        </p:spPr>
      </p:pic>
    </p:spTree>
    <p:extLst>
      <p:ext uri="{BB962C8B-B14F-4D97-AF65-F5344CB8AC3E}">
        <p14:creationId xmlns:p14="http://schemas.microsoft.com/office/powerpoint/2010/main" val="3923194933"/>
      </p:ext>
    </p:extLst>
  </p:cSld>
  <p:clrMapOvr>
    <a:masterClrMapping/>
  </p:clrMapOvr>
  <p:transition spd="slow">
    <p:push dir="u"/>
    <p:sndAc>
      <p:stSnd>
        <p:snd r:embed="rId3" name="camera.wav"/>
      </p:stSnd>
    </p:sndAc>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vi-VN"/>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 y="0"/>
            <a:ext cx="12192000" cy="6858000"/>
          </a:xfrm>
        </p:spPr>
      </p:pic>
    </p:spTree>
    <p:extLst>
      <p:ext uri="{BB962C8B-B14F-4D97-AF65-F5344CB8AC3E}">
        <p14:creationId xmlns:p14="http://schemas.microsoft.com/office/powerpoint/2010/main" val="3150429906"/>
      </p:ext>
    </p:extLst>
  </p:cSld>
  <p:clrMapOvr>
    <a:masterClrMapping/>
  </p:clrMapOvr>
  <p:transition spd="slow">
    <p:push dir="u"/>
    <p:sndAc>
      <p:stSnd>
        <p:snd r:embed="rId2" name="camera.wav"/>
      </p:stSnd>
    </p:sndAc>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smtClean="0"/>
              <a:t>Mục</a:t>
            </a:r>
            <a:r>
              <a:rPr lang="en-US" smtClean="0"/>
              <a:t> </a:t>
            </a:r>
            <a:r>
              <a:rPr lang="en-US" err="1" smtClean="0"/>
              <a:t>tiêu</a:t>
            </a:r>
            <a:endParaRPr lang="vi-VN"/>
          </a:p>
        </p:txBody>
      </p:sp>
      <p:sp>
        <p:nvSpPr>
          <p:cNvPr id="3" name="Content Placeholder 2"/>
          <p:cNvSpPr>
            <a:spLocks noGrp="1"/>
          </p:cNvSpPr>
          <p:nvPr>
            <p:ph idx="1"/>
          </p:nvPr>
        </p:nvSpPr>
        <p:spPr/>
        <p:txBody>
          <a:bodyPr/>
          <a:lstStyle/>
          <a:p>
            <a:r>
              <a:rPr lang="en-US" sz="3600" dirty="0" err="1" smtClean="0"/>
              <a:t>Phân</a:t>
            </a:r>
            <a:r>
              <a:rPr lang="en-US" sz="3600" dirty="0" smtClean="0"/>
              <a:t> </a:t>
            </a:r>
            <a:r>
              <a:rPr lang="en-US" sz="3600" dirty="0" err="1" smtClean="0"/>
              <a:t>biệt</a:t>
            </a:r>
            <a:r>
              <a:rPr lang="en-US" sz="3600" dirty="0" smtClean="0"/>
              <a:t> </a:t>
            </a:r>
            <a:r>
              <a:rPr lang="en-US" sz="3600" dirty="0" err="1" smtClean="0"/>
              <a:t>các</a:t>
            </a:r>
            <a:r>
              <a:rPr lang="en-US" sz="3600" dirty="0" smtClean="0"/>
              <a:t> </a:t>
            </a:r>
            <a:r>
              <a:rPr lang="en-US" sz="3600" dirty="0" err="1" smtClean="0"/>
              <a:t>thuật</a:t>
            </a:r>
            <a:r>
              <a:rPr lang="en-US" sz="3600" dirty="0" smtClean="0"/>
              <a:t> </a:t>
            </a:r>
            <a:r>
              <a:rPr lang="en-US" sz="3600" dirty="0" err="1" smtClean="0"/>
              <a:t>ngữ</a:t>
            </a:r>
            <a:r>
              <a:rPr lang="en-US" sz="3600" dirty="0" smtClean="0"/>
              <a:t> </a:t>
            </a:r>
            <a:r>
              <a:rPr lang="en-US" sz="3600" dirty="0" err="1" smtClean="0"/>
              <a:t>nôn</a:t>
            </a:r>
            <a:r>
              <a:rPr lang="en-US" sz="3600" dirty="0" smtClean="0"/>
              <a:t>, </a:t>
            </a:r>
            <a:r>
              <a:rPr lang="en-US" sz="3600" dirty="0" err="1" smtClean="0"/>
              <a:t>trớ,buồn</a:t>
            </a:r>
            <a:r>
              <a:rPr lang="en-US" sz="3600" dirty="0" smtClean="0"/>
              <a:t> </a:t>
            </a:r>
            <a:r>
              <a:rPr lang="en-US" sz="3600" dirty="0" err="1" smtClean="0"/>
              <a:t>nôn</a:t>
            </a:r>
            <a:r>
              <a:rPr lang="en-US" sz="3600" dirty="0" smtClean="0"/>
              <a:t> </a:t>
            </a:r>
            <a:r>
              <a:rPr lang="en-US" sz="3600" dirty="0" err="1" smtClean="0"/>
              <a:t>và</a:t>
            </a:r>
            <a:r>
              <a:rPr lang="en-US" sz="3600" dirty="0" smtClean="0"/>
              <a:t> </a:t>
            </a:r>
            <a:r>
              <a:rPr lang="en-US" sz="3600" dirty="0" err="1" smtClean="0"/>
              <a:t>các</a:t>
            </a:r>
            <a:r>
              <a:rPr lang="en-US" sz="3600" dirty="0" smtClean="0"/>
              <a:t> </a:t>
            </a:r>
            <a:r>
              <a:rPr lang="en-US" sz="3600" dirty="0" err="1" smtClean="0"/>
              <a:t>thuật</a:t>
            </a:r>
            <a:r>
              <a:rPr lang="en-US" sz="3600" dirty="0" smtClean="0"/>
              <a:t> </a:t>
            </a:r>
            <a:r>
              <a:rPr lang="en-US" sz="3600" dirty="0" err="1" smtClean="0"/>
              <a:t>ngữ</a:t>
            </a:r>
            <a:r>
              <a:rPr lang="en-US" sz="3600" dirty="0" smtClean="0"/>
              <a:t> </a:t>
            </a:r>
            <a:r>
              <a:rPr lang="en-US" sz="3600" dirty="0" err="1" smtClean="0"/>
              <a:t>liên</a:t>
            </a:r>
            <a:r>
              <a:rPr lang="en-US" sz="3600" dirty="0" smtClean="0"/>
              <a:t> </a:t>
            </a:r>
            <a:r>
              <a:rPr lang="en-US" sz="3600" dirty="0" err="1" smtClean="0"/>
              <a:t>quan</a:t>
            </a:r>
            <a:r>
              <a:rPr lang="en-US" sz="3600" dirty="0" smtClean="0"/>
              <a:t> </a:t>
            </a:r>
            <a:r>
              <a:rPr lang="en-US" sz="3600" dirty="0" err="1" smtClean="0"/>
              <a:t>khác</a:t>
            </a:r>
            <a:r>
              <a:rPr lang="en-US" sz="3600" dirty="0" smtClean="0"/>
              <a:t>.</a:t>
            </a:r>
          </a:p>
          <a:p>
            <a:r>
              <a:rPr lang="en-US" sz="3600" dirty="0" err="1" smtClean="0"/>
              <a:t>Trình</a:t>
            </a:r>
            <a:r>
              <a:rPr lang="en-US" sz="3600" dirty="0" smtClean="0"/>
              <a:t> </a:t>
            </a:r>
            <a:r>
              <a:rPr lang="en-US" sz="3600" dirty="0" err="1" smtClean="0"/>
              <a:t>bày</a:t>
            </a:r>
            <a:r>
              <a:rPr lang="en-US" sz="3600" dirty="0" smtClean="0"/>
              <a:t> </a:t>
            </a:r>
            <a:r>
              <a:rPr lang="en-US" sz="3600" dirty="0" err="1" smtClean="0"/>
              <a:t>các</a:t>
            </a:r>
            <a:r>
              <a:rPr lang="en-US" sz="3600" dirty="0" smtClean="0"/>
              <a:t> </a:t>
            </a:r>
            <a:r>
              <a:rPr lang="en-US" sz="3600" dirty="0" err="1" smtClean="0"/>
              <a:t>cơ</a:t>
            </a:r>
            <a:r>
              <a:rPr lang="en-US" sz="3600" dirty="0" smtClean="0"/>
              <a:t> </a:t>
            </a:r>
            <a:r>
              <a:rPr lang="en-US" sz="3600" dirty="0" err="1" smtClean="0"/>
              <a:t>chế</a:t>
            </a:r>
            <a:r>
              <a:rPr lang="en-US" sz="3600" dirty="0" smtClean="0"/>
              <a:t> </a:t>
            </a:r>
            <a:r>
              <a:rPr lang="en-US" sz="3600" dirty="0" err="1" smtClean="0"/>
              <a:t>gây</a:t>
            </a:r>
            <a:r>
              <a:rPr lang="en-US" sz="3600" dirty="0" smtClean="0"/>
              <a:t> </a:t>
            </a:r>
            <a:r>
              <a:rPr lang="en-US" sz="3600" dirty="0" err="1" smtClean="0"/>
              <a:t>nôn</a:t>
            </a:r>
            <a:endParaRPr lang="en-US" sz="3600" dirty="0" smtClean="0"/>
          </a:p>
          <a:p>
            <a:r>
              <a:rPr lang="en-US" sz="3600" dirty="0" err="1" smtClean="0"/>
              <a:t>Trình</a:t>
            </a:r>
            <a:r>
              <a:rPr lang="en-US" sz="3600" dirty="0" smtClean="0"/>
              <a:t> </a:t>
            </a:r>
            <a:r>
              <a:rPr lang="en-US" sz="3600" dirty="0" err="1" smtClean="0"/>
              <a:t>bày</a:t>
            </a:r>
            <a:r>
              <a:rPr lang="en-US" sz="3600" dirty="0" smtClean="0"/>
              <a:t> </a:t>
            </a:r>
            <a:r>
              <a:rPr lang="en-US" sz="3600" dirty="0" err="1" smtClean="0"/>
              <a:t>các</a:t>
            </a:r>
            <a:r>
              <a:rPr lang="en-US" sz="3600" dirty="0" smtClean="0"/>
              <a:t> </a:t>
            </a:r>
            <a:r>
              <a:rPr lang="en-US" sz="3600" dirty="0" err="1" smtClean="0"/>
              <a:t>nguyên</a:t>
            </a:r>
            <a:r>
              <a:rPr lang="en-US" sz="3600" dirty="0" smtClean="0"/>
              <a:t> </a:t>
            </a:r>
            <a:r>
              <a:rPr lang="en-US" sz="3600" dirty="0" err="1" smtClean="0"/>
              <a:t>nhân</a:t>
            </a:r>
            <a:r>
              <a:rPr lang="en-US" sz="3600" dirty="0" smtClean="0"/>
              <a:t> </a:t>
            </a:r>
            <a:r>
              <a:rPr lang="en-US" sz="3600" dirty="0" err="1" smtClean="0"/>
              <a:t>gây</a:t>
            </a:r>
            <a:r>
              <a:rPr lang="en-US" sz="3600" dirty="0" smtClean="0"/>
              <a:t> </a:t>
            </a:r>
            <a:r>
              <a:rPr lang="en-US" sz="3600" dirty="0" err="1" smtClean="0"/>
              <a:t>nôn</a:t>
            </a:r>
            <a:r>
              <a:rPr lang="en-US" sz="3600" dirty="0" smtClean="0"/>
              <a:t> </a:t>
            </a:r>
            <a:r>
              <a:rPr lang="en-US" sz="3600" dirty="0" err="1" smtClean="0"/>
              <a:t>trớ</a:t>
            </a:r>
            <a:r>
              <a:rPr lang="en-US" sz="3600" dirty="0" smtClean="0"/>
              <a:t> ở </a:t>
            </a:r>
            <a:r>
              <a:rPr lang="en-US" sz="3600" dirty="0" err="1" smtClean="0"/>
              <a:t>trẻ</a:t>
            </a:r>
            <a:r>
              <a:rPr lang="en-US" sz="3600" dirty="0" smtClean="0"/>
              <a:t> </a:t>
            </a:r>
            <a:r>
              <a:rPr lang="en-US" sz="3600" dirty="0" err="1" smtClean="0"/>
              <a:t>em</a:t>
            </a:r>
            <a:endParaRPr lang="en-US" sz="3600" dirty="0" smtClean="0"/>
          </a:p>
          <a:p>
            <a:r>
              <a:rPr lang="en-US" sz="3600" dirty="0" err="1" smtClean="0"/>
              <a:t>Khai</a:t>
            </a:r>
            <a:r>
              <a:rPr lang="en-US" sz="3600" dirty="0" smtClean="0"/>
              <a:t> </a:t>
            </a:r>
            <a:r>
              <a:rPr lang="en-US" sz="3600" dirty="0" err="1" smtClean="0"/>
              <a:t>thác</a:t>
            </a:r>
            <a:r>
              <a:rPr lang="en-US" sz="3600" dirty="0" smtClean="0"/>
              <a:t> </a:t>
            </a:r>
            <a:r>
              <a:rPr lang="en-US" sz="3600" dirty="0" err="1" smtClean="0"/>
              <a:t>được</a:t>
            </a:r>
            <a:r>
              <a:rPr lang="en-US" sz="3600" dirty="0" smtClean="0"/>
              <a:t> </a:t>
            </a:r>
            <a:r>
              <a:rPr lang="en-US" sz="3600" dirty="0" err="1" smtClean="0"/>
              <a:t>bệnh</a:t>
            </a:r>
            <a:r>
              <a:rPr lang="en-US" sz="3600" dirty="0" smtClean="0"/>
              <a:t> </a:t>
            </a:r>
            <a:r>
              <a:rPr lang="en-US" sz="3600" dirty="0" err="1" smtClean="0"/>
              <a:t>sử,khám</a:t>
            </a:r>
            <a:r>
              <a:rPr lang="en-US" sz="3600" dirty="0" smtClean="0"/>
              <a:t> </a:t>
            </a:r>
            <a:r>
              <a:rPr lang="en-US" sz="3600" dirty="0" err="1" smtClean="0"/>
              <a:t>lâm</a:t>
            </a:r>
            <a:r>
              <a:rPr lang="en-US" sz="3600" dirty="0" smtClean="0"/>
              <a:t> </a:t>
            </a:r>
            <a:r>
              <a:rPr lang="en-US" sz="3600" dirty="0" err="1" smtClean="0"/>
              <a:t>sàng</a:t>
            </a:r>
            <a:r>
              <a:rPr lang="en-US" sz="3600" dirty="0" smtClean="0"/>
              <a:t> </a:t>
            </a:r>
            <a:r>
              <a:rPr lang="en-US" sz="3600" dirty="0" err="1" smtClean="0"/>
              <a:t>và</a:t>
            </a:r>
            <a:r>
              <a:rPr lang="en-US" sz="3600" dirty="0" smtClean="0"/>
              <a:t> </a:t>
            </a:r>
            <a:r>
              <a:rPr lang="en-US" sz="3600" dirty="0" err="1" smtClean="0"/>
              <a:t>chỉ</a:t>
            </a:r>
            <a:r>
              <a:rPr lang="en-US" sz="3600" dirty="0" smtClean="0"/>
              <a:t> </a:t>
            </a:r>
            <a:r>
              <a:rPr lang="en-US" sz="3600" dirty="0" err="1" smtClean="0"/>
              <a:t>định</a:t>
            </a:r>
            <a:r>
              <a:rPr lang="en-US" sz="3600" dirty="0" smtClean="0"/>
              <a:t> </a:t>
            </a:r>
            <a:r>
              <a:rPr lang="en-US" sz="3600" dirty="0" err="1" smtClean="0"/>
              <a:t>được</a:t>
            </a:r>
            <a:r>
              <a:rPr lang="en-US" sz="3600" dirty="0" smtClean="0"/>
              <a:t> </a:t>
            </a:r>
            <a:r>
              <a:rPr lang="en-US" sz="3600" dirty="0" err="1" smtClean="0"/>
              <a:t>các</a:t>
            </a:r>
            <a:r>
              <a:rPr lang="en-US" sz="3600" dirty="0" smtClean="0"/>
              <a:t> </a:t>
            </a:r>
            <a:r>
              <a:rPr lang="en-US" sz="3600" dirty="0" err="1" smtClean="0"/>
              <a:t>xét</a:t>
            </a:r>
            <a:r>
              <a:rPr lang="en-US" sz="3600" dirty="0" smtClean="0"/>
              <a:t> </a:t>
            </a:r>
            <a:r>
              <a:rPr lang="en-US" sz="3600" dirty="0" err="1" smtClean="0"/>
              <a:t>nghiệm</a:t>
            </a:r>
            <a:r>
              <a:rPr lang="en-US" sz="3600" dirty="0" smtClean="0"/>
              <a:t> </a:t>
            </a:r>
            <a:r>
              <a:rPr lang="en-US" sz="3600" dirty="0" err="1" smtClean="0"/>
              <a:t>chẩn</a:t>
            </a:r>
            <a:r>
              <a:rPr lang="en-US" sz="3600" dirty="0" smtClean="0"/>
              <a:t> </a:t>
            </a:r>
            <a:r>
              <a:rPr lang="en-US" sz="3600" dirty="0" err="1" smtClean="0"/>
              <a:t>đoán</a:t>
            </a:r>
            <a:r>
              <a:rPr lang="en-US" sz="3600" dirty="0" smtClean="0"/>
              <a:t> </a:t>
            </a:r>
            <a:r>
              <a:rPr lang="en-US" sz="3600" dirty="0" err="1" smtClean="0"/>
              <a:t>nôn</a:t>
            </a:r>
            <a:r>
              <a:rPr lang="en-US" sz="3600" dirty="0" smtClean="0"/>
              <a:t> </a:t>
            </a:r>
            <a:r>
              <a:rPr lang="en-US" sz="3600" dirty="0" err="1" smtClean="0"/>
              <a:t>trớ</a:t>
            </a:r>
            <a:r>
              <a:rPr lang="en-US" sz="3600" dirty="0" smtClean="0"/>
              <a:t> ở </a:t>
            </a:r>
            <a:r>
              <a:rPr lang="en-US" sz="3600" dirty="0" err="1" smtClean="0"/>
              <a:t>trẻ</a:t>
            </a:r>
            <a:r>
              <a:rPr lang="en-US" sz="3600" dirty="0" smtClean="0"/>
              <a:t> </a:t>
            </a:r>
            <a:r>
              <a:rPr lang="en-US" sz="3600" dirty="0" err="1" smtClean="0"/>
              <a:t>em</a:t>
            </a:r>
            <a:endParaRPr lang="en-US" sz="3600" dirty="0" smtClean="0"/>
          </a:p>
          <a:p>
            <a:r>
              <a:rPr lang="en-US" sz="3600" dirty="0" err="1" smtClean="0"/>
              <a:t>Quản</a:t>
            </a:r>
            <a:r>
              <a:rPr lang="en-US" sz="3600" dirty="0" smtClean="0"/>
              <a:t> </a:t>
            </a:r>
            <a:r>
              <a:rPr lang="en-US" sz="3600" dirty="0" err="1" smtClean="0"/>
              <a:t>lý</a:t>
            </a:r>
            <a:r>
              <a:rPr lang="en-US" sz="3600" dirty="0" smtClean="0"/>
              <a:t> </a:t>
            </a:r>
            <a:r>
              <a:rPr lang="en-US" sz="3600" dirty="0" err="1" smtClean="0"/>
              <a:t>nôn</a:t>
            </a:r>
            <a:r>
              <a:rPr lang="en-US" sz="3600" dirty="0" smtClean="0"/>
              <a:t> </a:t>
            </a:r>
            <a:r>
              <a:rPr lang="en-US" sz="3600" dirty="0" err="1" smtClean="0"/>
              <a:t>trớ</a:t>
            </a:r>
            <a:r>
              <a:rPr lang="en-US" sz="3600" dirty="0" smtClean="0"/>
              <a:t> ở </a:t>
            </a:r>
            <a:r>
              <a:rPr lang="en-US" sz="3600" dirty="0" err="1" smtClean="0"/>
              <a:t>trẻ</a:t>
            </a:r>
            <a:r>
              <a:rPr lang="en-US" sz="3600" dirty="0" smtClean="0"/>
              <a:t> </a:t>
            </a:r>
            <a:r>
              <a:rPr lang="en-US" sz="3600" dirty="0" err="1" smtClean="0"/>
              <a:t>em</a:t>
            </a:r>
            <a:endParaRPr lang="vi-VN" sz="3600" dirty="0"/>
          </a:p>
        </p:txBody>
      </p:sp>
    </p:spTree>
    <p:extLst>
      <p:ext uri="{BB962C8B-B14F-4D97-AF65-F5344CB8AC3E}">
        <p14:creationId xmlns:p14="http://schemas.microsoft.com/office/powerpoint/2010/main" val="610245460"/>
      </p:ext>
    </p:extLst>
  </p:cSld>
  <p:clrMapOvr>
    <a:masterClrMapping/>
  </p:clrMapOvr>
  <p:transition spd="slow">
    <p:push dir="u"/>
    <p:sndAc>
      <p:stSnd>
        <p:snd r:embed="rId2" name="camera.wav"/>
      </p:stSnd>
    </p:sndAc>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smtClean="0"/>
              <a:t>Thuật</a:t>
            </a:r>
            <a:r>
              <a:rPr lang="en-US" smtClean="0"/>
              <a:t> </a:t>
            </a:r>
            <a:r>
              <a:rPr lang="en-US" err="1" smtClean="0"/>
              <a:t>ngữ</a:t>
            </a:r>
            <a:endParaRPr lang="vi-VN"/>
          </a:p>
        </p:txBody>
      </p:sp>
      <p:sp>
        <p:nvSpPr>
          <p:cNvPr id="3" name="Content Placeholder 2"/>
          <p:cNvSpPr>
            <a:spLocks noGrp="1"/>
          </p:cNvSpPr>
          <p:nvPr>
            <p:ph idx="1"/>
          </p:nvPr>
        </p:nvSpPr>
        <p:spPr>
          <a:xfrm>
            <a:off x="1" y="1600201"/>
            <a:ext cx="11979964" cy="4525963"/>
          </a:xfrm>
        </p:spPr>
        <p:txBody>
          <a:bodyPr/>
          <a:lstStyle/>
          <a:p>
            <a:r>
              <a:rPr lang="vi-VN" sz="3600" smtClean="0">
                <a:solidFill>
                  <a:srgbClr val="FF0000"/>
                </a:solidFill>
              </a:rPr>
              <a:t>Nôn(vomiting)</a:t>
            </a:r>
            <a:r>
              <a:rPr lang="vi-VN" sz="3600" smtClean="0"/>
              <a:t> là sự tống xuất thức ăn chứa trong dạ dày,ruột qua miệng do sự co bóp dữ dội của các cơ thành bụng,cơ hoành và các cơ trơn của thành dạ dày,ruột và thường phối hợp với buồn nôn và nôn khan</a:t>
            </a:r>
          </a:p>
          <a:p>
            <a:r>
              <a:rPr lang="vi-VN" sz="3600" smtClean="0">
                <a:solidFill>
                  <a:srgbClr val="FF0000"/>
                </a:solidFill>
              </a:rPr>
              <a:t>Buồn nôn(nausea) </a:t>
            </a:r>
            <a:r>
              <a:rPr lang="vi-VN" sz="3600" smtClean="0"/>
              <a:t>là cảm giác khó chịu vùng bụng,thượng vị kèm theo các rối loạn thần kinh thực vật như giảm co bóp, tưới máu dạ dày,tăng tiết nước bọt, thay đổi nhịp tim,nhịp thở,vã mồ hôi, nhu động ruột đi từ phía ruột non về phía môn vị</a:t>
            </a:r>
            <a:endParaRPr lang="vi-VN" sz="3600"/>
          </a:p>
        </p:txBody>
      </p:sp>
    </p:spTree>
    <p:extLst>
      <p:ext uri="{BB962C8B-B14F-4D97-AF65-F5344CB8AC3E}">
        <p14:creationId xmlns:p14="http://schemas.microsoft.com/office/powerpoint/2010/main" val="3784024122"/>
      </p:ext>
    </p:extLst>
  </p:cSld>
  <p:clrMapOvr>
    <a:masterClrMapping/>
  </p:clrMapOvr>
  <p:transition spd="slow">
    <p:push dir="u"/>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Thuật ngữ</a:t>
            </a:r>
            <a:endParaRPr lang="vi-VN"/>
          </a:p>
        </p:txBody>
      </p:sp>
      <p:sp>
        <p:nvSpPr>
          <p:cNvPr id="3" name="Content Placeholder 2"/>
          <p:cNvSpPr>
            <a:spLocks noGrp="1"/>
          </p:cNvSpPr>
          <p:nvPr>
            <p:ph idx="1"/>
          </p:nvPr>
        </p:nvSpPr>
        <p:spPr>
          <a:xfrm>
            <a:off x="0" y="1600201"/>
            <a:ext cx="11582400" cy="5257799"/>
          </a:xfrm>
        </p:spPr>
        <p:txBody>
          <a:bodyPr/>
          <a:lstStyle/>
          <a:p>
            <a:r>
              <a:rPr lang="vi-VN" smtClean="0">
                <a:solidFill>
                  <a:srgbClr val="FF0000"/>
                </a:solidFill>
              </a:rPr>
              <a:t>Trớ (regurgitation)</a:t>
            </a:r>
            <a:r>
              <a:rPr lang="vi-VN" smtClean="0"/>
              <a:t> là sự trào ngược thức ăn từ thực quản qua miệng,dễ dàng không gắng sức,do cơ thắt dưới thực quản dãn,thường xảy ra sau bữa ăn</a:t>
            </a:r>
          </a:p>
          <a:p>
            <a:r>
              <a:rPr lang="vi-VN" smtClean="0">
                <a:solidFill>
                  <a:srgbClr val="FF0000"/>
                </a:solidFill>
              </a:rPr>
              <a:t>Nôn khan(retching) </a:t>
            </a:r>
            <a:r>
              <a:rPr lang="vi-VN" smtClean="0"/>
              <a:t>là sự gắng sức mạnh không tự chủ(sự co bóp của cơ hoành,cơ thành bụng) làm tăng áp lực trong ổ bụng và giảm áp lực trong lồng ngực,cơ thắt thực quản dưới dãn ra cùng với co thắt các cơ dọc thực quản trên nhằm tống các chất trong dạ dày lên trên thực quản mà không có sự tống xuất các chất ra ngoài đường miệng</a:t>
            </a:r>
            <a:endParaRPr lang="vi-VN"/>
          </a:p>
        </p:txBody>
      </p:sp>
    </p:spTree>
    <p:extLst>
      <p:ext uri="{BB962C8B-B14F-4D97-AF65-F5344CB8AC3E}">
        <p14:creationId xmlns:p14="http://schemas.microsoft.com/office/powerpoint/2010/main" val="4067777594"/>
      </p:ext>
    </p:extLst>
  </p:cSld>
  <p:clrMapOvr>
    <a:masterClrMapping/>
  </p:clrMapOvr>
  <p:transition spd="slow">
    <p:push dir="u"/>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smtClean="0"/>
              <a:t>Phân</a:t>
            </a:r>
            <a:r>
              <a:rPr lang="en-US" smtClean="0"/>
              <a:t> </a:t>
            </a:r>
            <a:r>
              <a:rPr lang="en-US" err="1" smtClean="0"/>
              <a:t>loại</a:t>
            </a:r>
            <a:r>
              <a:rPr lang="en-US" smtClean="0"/>
              <a:t> </a:t>
            </a:r>
            <a:r>
              <a:rPr lang="en-US" err="1" smtClean="0"/>
              <a:t>nôn</a:t>
            </a:r>
            <a:endParaRPr lang="vi-VN"/>
          </a:p>
        </p:txBody>
      </p:sp>
      <p:sp>
        <p:nvSpPr>
          <p:cNvPr id="3" name="Content Placeholder 2"/>
          <p:cNvSpPr>
            <a:spLocks noGrp="1"/>
          </p:cNvSpPr>
          <p:nvPr>
            <p:ph idx="1"/>
          </p:nvPr>
        </p:nvSpPr>
        <p:spPr>
          <a:xfrm>
            <a:off x="0" y="1195755"/>
            <a:ext cx="11582400" cy="612180"/>
          </a:xfrm>
        </p:spPr>
        <p:txBody>
          <a:bodyPr/>
          <a:lstStyle/>
          <a:p>
            <a:pPr marL="0" indent="0">
              <a:buNone/>
            </a:pPr>
            <a:endParaRPr lang="vi-VN"/>
          </a:p>
        </p:txBody>
      </p:sp>
      <p:cxnSp>
        <p:nvCxnSpPr>
          <p:cNvPr id="39" name="Straight Connector 38"/>
          <p:cNvCxnSpPr/>
          <p:nvPr/>
        </p:nvCxnSpPr>
        <p:spPr>
          <a:xfrm flipH="1">
            <a:off x="1565031" y="2039815"/>
            <a:ext cx="17584" cy="3780693"/>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V="1">
            <a:off x="1565031" y="5820508"/>
            <a:ext cx="9091246" cy="35169"/>
          </a:xfrm>
          <a:prstGeom prst="line">
            <a:avLst/>
          </a:prstGeom>
        </p:spPr>
        <p:style>
          <a:lnRef idx="1">
            <a:schemeClr val="accent1"/>
          </a:lnRef>
          <a:fillRef idx="0">
            <a:schemeClr val="accent1"/>
          </a:fillRef>
          <a:effectRef idx="0">
            <a:schemeClr val="accent1"/>
          </a:effectRef>
          <a:fontRef idx="minor">
            <a:schemeClr val="tx1"/>
          </a:fontRef>
        </p:style>
      </p:cxnSp>
      <p:sp>
        <p:nvSpPr>
          <p:cNvPr id="49" name="Freeform 48"/>
          <p:cNvSpPr/>
          <p:nvPr/>
        </p:nvSpPr>
        <p:spPr>
          <a:xfrm>
            <a:off x="3481754" y="3727938"/>
            <a:ext cx="386861" cy="2145324"/>
          </a:xfrm>
          <a:custGeom>
            <a:avLst/>
            <a:gdLst>
              <a:gd name="connsiteX0" fmla="*/ 0 w 193437"/>
              <a:gd name="connsiteY0" fmla="*/ 509954 h 545124"/>
              <a:gd name="connsiteX1" fmla="*/ 87923 w 193437"/>
              <a:gd name="connsiteY1" fmla="*/ 369277 h 545124"/>
              <a:gd name="connsiteX2" fmla="*/ 123092 w 193437"/>
              <a:gd name="connsiteY2" fmla="*/ 228600 h 545124"/>
              <a:gd name="connsiteX3" fmla="*/ 140677 w 193437"/>
              <a:gd name="connsiteY3" fmla="*/ 175847 h 545124"/>
              <a:gd name="connsiteX4" fmla="*/ 175846 w 193437"/>
              <a:gd name="connsiteY4" fmla="*/ 0 h 545124"/>
              <a:gd name="connsiteX5" fmla="*/ 193431 w 193437"/>
              <a:gd name="connsiteY5" fmla="*/ 545124 h 545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3437" h="545124">
                <a:moveTo>
                  <a:pt x="0" y="509954"/>
                </a:moveTo>
                <a:cubicBezTo>
                  <a:pt x="29308" y="463062"/>
                  <a:pt x="70436" y="421737"/>
                  <a:pt x="87923" y="369277"/>
                </a:cubicBezTo>
                <a:cubicBezTo>
                  <a:pt x="128120" y="248691"/>
                  <a:pt x="80653" y="398358"/>
                  <a:pt x="123092" y="228600"/>
                </a:cubicBezTo>
                <a:cubicBezTo>
                  <a:pt x="127588" y="210618"/>
                  <a:pt x="136509" y="193908"/>
                  <a:pt x="140677" y="175847"/>
                </a:cubicBezTo>
                <a:cubicBezTo>
                  <a:pt x="154118" y="117601"/>
                  <a:pt x="175846" y="0"/>
                  <a:pt x="175846" y="0"/>
                </a:cubicBezTo>
                <a:cubicBezTo>
                  <a:pt x="194299" y="498215"/>
                  <a:pt x="193431" y="316415"/>
                  <a:pt x="193431" y="545124"/>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0" name="Freeform 49"/>
          <p:cNvSpPr/>
          <p:nvPr/>
        </p:nvSpPr>
        <p:spPr>
          <a:xfrm>
            <a:off x="5345723" y="2955683"/>
            <a:ext cx="175864" cy="2882410"/>
          </a:xfrm>
          <a:custGeom>
            <a:avLst/>
            <a:gdLst>
              <a:gd name="connsiteX0" fmla="*/ 0 w 211033"/>
              <a:gd name="connsiteY0" fmla="*/ 694917 h 694917"/>
              <a:gd name="connsiteX1" fmla="*/ 17584 w 211033"/>
              <a:gd name="connsiteY1" fmla="*/ 395979 h 694917"/>
              <a:gd name="connsiteX2" fmla="*/ 52754 w 211033"/>
              <a:gd name="connsiteY2" fmla="*/ 202548 h 694917"/>
              <a:gd name="connsiteX3" fmla="*/ 87923 w 211033"/>
              <a:gd name="connsiteY3" fmla="*/ 149794 h 694917"/>
              <a:gd name="connsiteX4" fmla="*/ 123092 w 211033"/>
              <a:gd name="connsiteY4" fmla="*/ 9117 h 694917"/>
              <a:gd name="connsiteX5" fmla="*/ 158261 w 211033"/>
              <a:gd name="connsiteY5" fmla="*/ 114625 h 694917"/>
              <a:gd name="connsiteX6" fmla="*/ 175846 w 211033"/>
              <a:gd name="connsiteY6" fmla="*/ 167379 h 694917"/>
              <a:gd name="connsiteX7" fmla="*/ 193431 w 211033"/>
              <a:gd name="connsiteY7" fmla="*/ 483902 h 694917"/>
              <a:gd name="connsiteX8" fmla="*/ 211015 w 211033"/>
              <a:gd name="connsiteY8" fmla="*/ 677333 h 694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033" h="694917">
                <a:moveTo>
                  <a:pt x="0" y="694917"/>
                </a:moveTo>
                <a:cubicBezTo>
                  <a:pt x="5861" y="595271"/>
                  <a:pt x="9624" y="495479"/>
                  <a:pt x="17584" y="395979"/>
                </a:cubicBezTo>
                <a:cubicBezTo>
                  <a:pt x="21048" y="352678"/>
                  <a:pt x="26665" y="254726"/>
                  <a:pt x="52754" y="202548"/>
                </a:cubicBezTo>
                <a:cubicBezTo>
                  <a:pt x="62205" y="183645"/>
                  <a:pt x="76200" y="167379"/>
                  <a:pt x="87923" y="149794"/>
                </a:cubicBezTo>
                <a:cubicBezTo>
                  <a:pt x="99646" y="102902"/>
                  <a:pt x="107807" y="-36738"/>
                  <a:pt x="123092" y="9117"/>
                </a:cubicBezTo>
                <a:lnTo>
                  <a:pt x="158261" y="114625"/>
                </a:lnTo>
                <a:lnTo>
                  <a:pt x="175846" y="167379"/>
                </a:lnTo>
                <a:cubicBezTo>
                  <a:pt x="181708" y="272887"/>
                  <a:pt x="185625" y="378520"/>
                  <a:pt x="193431" y="483902"/>
                </a:cubicBezTo>
                <a:cubicBezTo>
                  <a:pt x="212310" y="738764"/>
                  <a:pt x="211015" y="570322"/>
                  <a:pt x="211015" y="677333"/>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1" name="Freeform 50"/>
          <p:cNvSpPr/>
          <p:nvPr/>
        </p:nvSpPr>
        <p:spPr>
          <a:xfrm>
            <a:off x="7192107" y="3112477"/>
            <a:ext cx="545123" cy="2760785"/>
          </a:xfrm>
          <a:custGeom>
            <a:avLst/>
            <a:gdLst>
              <a:gd name="connsiteX0" fmla="*/ 0 w 342096"/>
              <a:gd name="connsiteY0" fmla="*/ 756139 h 773724"/>
              <a:gd name="connsiteX1" fmla="*/ 35169 w 342096"/>
              <a:gd name="connsiteY1" fmla="*/ 668216 h 773724"/>
              <a:gd name="connsiteX2" fmla="*/ 70338 w 342096"/>
              <a:gd name="connsiteY2" fmla="*/ 615462 h 773724"/>
              <a:gd name="connsiteX3" fmla="*/ 87923 w 342096"/>
              <a:gd name="connsiteY3" fmla="*/ 474785 h 773724"/>
              <a:gd name="connsiteX4" fmla="*/ 158261 w 342096"/>
              <a:gd name="connsiteY4" fmla="*/ 369277 h 773724"/>
              <a:gd name="connsiteX5" fmla="*/ 193430 w 342096"/>
              <a:gd name="connsiteY5" fmla="*/ 316524 h 773724"/>
              <a:gd name="connsiteX6" fmla="*/ 211015 w 342096"/>
              <a:gd name="connsiteY6" fmla="*/ 246185 h 773724"/>
              <a:gd name="connsiteX7" fmla="*/ 228600 w 342096"/>
              <a:gd name="connsiteY7" fmla="*/ 193431 h 773724"/>
              <a:gd name="connsiteX8" fmla="*/ 246184 w 342096"/>
              <a:gd name="connsiteY8" fmla="*/ 0 h 773724"/>
              <a:gd name="connsiteX9" fmla="*/ 298938 w 342096"/>
              <a:gd name="connsiteY9" fmla="*/ 650631 h 773724"/>
              <a:gd name="connsiteX10" fmla="*/ 281354 w 342096"/>
              <a:gd name="connsiteY10" fmla="*/ 773724 h 773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2096" h="773724">
                <a:moveTo>
                  <a:pt x="0" y="756139"/>
                </a:moveTo>
                <a:cubicBezTo>
                  <a:pt x="11723" y="726831"/>
                  <a:pt x="21053" y="696449"/>
                  <a:pt x="35169" y="668216"/>
                </a:cubicBezTo>
                <a:cubicBezTo>
                  <a:pt x="44620" y="649313"/>
                  <a:pt x="64777" y="635851"/>
                  <a:pt x="70338" y="615462"/>
                </a:cubicBezTo>
                <a:cubicBezTo>
                  <a:pt x="82772" y="569870"/>
                  <a:pt x="72029" y="519289"/>
                  <a:pt x="87923" y="474785"/>
                </a:cubicBezTo>
                <a:cubicBezTo>
                  <a:pt x="102139" y="434979"/>
                  <a:pt x="134815" y="404446"/>
                  <a:pt x="158261" y="369277"/>
                </a:cubicBezTo>
                <a:lnTo>
                  <a:pt x="193430" y="316524"/>
                </a:lnTo>
                <a:cubicBezTo>
                  <a:pt x="199292" y="293078"/>
                  <a:pt x="204375" y="269423"/>
                  <a:pt x="211015" y="246185"/>
                </a:cubicBezTo>
                <a:cubicBezTo>
                  <a:pt x="216107" y="228362"/>
                  <a:pt x="225979" y="211781"/>
                  <a:pt x="228600" y="193431"/>
                </a:cubicBezTo>
                <a:cubicBezTo>
                  <a:pt x="237756" y="129339"/>
                  <a:pt x="240323" y="64477"/>
                  <a:pt x="246184" y="0"/>
                </a:cubicBezTo>
                <a:cubicBezTo>
                  <a:pt x="425020" y="178836"/>
                  <a:pt x="298938" y="36655"/>
                  <a:pt x="298938" y="650631"/>
                </a:cubicBezTo>
                <a:cubicBezTo>
                  <a:pt x="298938" y="692079"/>
                  <a:pt x="281354" y="773724"/>
                  <a:pt x="281354" y="773724"/>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2" name="Freeform 51"/>
          <p:cNvSpPr/>
          <p:nvPr/>
        </p:nvSpPr>
        <p:spPr>
          <a:xfrm>
            <a:off x="2584938" y="4870938"/>
            <a:ext cx="914400" cy="1055077"/>
          </a:xfrm>
          <a:custGeom>
            <a:avLst/>
            <a:gdLst>
              <a:gd name="connsiteX0" fmla="*/ 0 w 914400"/>
              <a:gd name="connsiteY0" fmla="*/ 1019908 h 1055077"/>
              <a:gd name="connsiteX1" fmla="*/ 52754 w 914400"/>
              <a:gd name="connsiteY1" fmla="*/ 931985 h 1055077"/>
              <a:gd name="connsiteX2" fmla="*/ 87924 w 914400"/>
              <a:gd name="connsiteY2" fmla="*/ 826477 h 1055077"/>
              <a:gd name="connsiteX3" fmla="*/ 123093 w 914400"/>
              <a:gd name="connsiteY3" fmla="*/ 703385 h 1055077"/>
              <a:gd name="connsiteX4" fmla="*/ 175847 w 914400"/>
              <a:gd name="connsiteY4" fmla="*/ 474785 h 1055077"/>
              <a:gd name="connsiteX5" fmla="*/ 211016 w 914400"/>
              <a:gd name="connsiteY5" fmla="*/ 369277 h 1055077"/>
              <a:gd name="connsiteX6" fmla="*/ 246185 w 914400"/>
              <a:gd name="connsiteY6" fmla="*/ 316524 h 1055077"/>
              <a:gd name="connsiteX7" fmla="*/ 281354 w 914400"/>
              <a:gd name="connsiteY7" fmla="*/ 211016 h 1055077"/>
              <a:gd name="connsiteX8" fmla="*/ 316524 w 914400"/>
              <a:gd name="connsiteY8" fmla="*/ 105508 h 1055077"/>
              <a:gd name="connsiteX9" fmla="*/ 334108 w 914400"/>
              <a:gd name="connsiteY9" fmla="*/ 52754 h 1055077"/>
              <a:gd name="connsiteX10" fmla="*/ 351693 w 914400"/>
              <a:gd name="connsiteY10" fmla="*/ 0 h 1055077"/>
              <a:gd name="connsiteX11" fmla="*/ 404447 w 914400"/>
              <a:gd name="connsiteY11" fmla="*/ 17585 h 1055077"/>
              <a:gd name="connsiteX12" fmla="*/ 474785 w 914400"/>
              <a:gd name="connsiteY12" fmla="*/ 123093 h 1055077"/>
              <a:gd name="connsiteX13" fmla="*/ 509954 w 914400"/>
              <a:gd name="connsiteY13" fmla="*/ 175847 h 1055077"/>
              <a:gd name="connsiteX14" fmla="*/ 615462 w 914400"/>
              <a:gd name="connsiteY14" fmla="*/ 316524 h 1055077"/>
              <a:gd name="connsiteX15" fmla="*/ 633047 w 914400"/>
              <a:gd name="connsiteY15" fmla="*/ 369277 h 1055077"/>
              <a:gd name="connsiteX16" fmla="*/ 703385 w 914400"/>
              <a:gd name="connsiteY16" fmla="*/ 474785 h 1055077"/>
              <a:gd name="connsiteX17" fmla="*/ 773724 w 914400"/>
              <a:gd name="connsiteY17" fmla="*/ 562708 h 1055077"/>
              <a:gd name="connsiteX18" fmla="*/ 826477 w 914400"/>
              <a:gd name="connsiteY18" fmla="*/ 668216 h 1055077"/>
              <a:gd name="connsiteX19" fmla="*/ 896816 w 914400"/>
              <a:gd name="connsiteY19" fmla="*/ 949570 h 1055077"/>
              <a:gd name="connsiteX20" fmla="*/ 914400 w 914400"/>
              <a:gd name="connsiteY20" fmla="*/ 1055077 h 1055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14400" h="1055077">
                <a:moveTo>
                  <a:pt x="0" y="1019908"/>
                </a:moveTo>
                <a:cubicBezTo>
                  <a:pt x="17585" y="990600"/>
                  <a:pt x="38611" y="963100"/>
                  <a:pt x="52754" y="931985"/>
                </a:cubicBezTo>
                <a:cubicBezTo>
                  <a:pt x="68095" y="898236"/>
                  <a:pt x="76201" y="861646"/>
                  <a:pt x="87924" y="826477"/>
                </a:cubicBezTo>
                <a:cubicBezTo>
                  <a:pt x="102989" y="781284"/>
                  <a:pt x="114262" y="751954"/>
                  <a:pt x="123093" y="703385"/>
                </a:cubicBezTo>
                <a:cubicBezTo>
                  <a:pt x="159618" y="502495"/>
                  <a:pt x="115317" y="656374"/>
                  <a:pt x="175847" y="474785"/>
                </a:cubicBezTo>
                <a:cubicBezTo>
                  <a:pt x="175849" y="474780"/>
                  <a:pt x="211013" y="369281"/>
                  <a:pt x="211016" y="369277"/>
                </a:cubicBezTo>
                <a:cubicBezTo>
                  <a:pt x="222739" y="351693"/>
                  <a:pt x="237602" y="335836"/>
                  <a:pt x="246185" y="316524"/>
                </a:cubicBezTo>
                <a:cubicBezTo>
                  <a:pt x="261241" y="282647"/>
                  <a:pt x="269631" y="246185"/>
                  <a:pt x="281354" y="211016"/>
                </a:cubicBezTo>
                <a:lnTo>
                  <a:pt x="316524" y="105508"/>
                </a:lnTo>
                <a:lnTo>
                  <a:pt x="334108" y="52754"/>
                </a:lnTo>
                <a:lnTo>
                  <a:pt x="351693" y="0"/>
                </a:lnTo>
                <a:cubicBezTo>
                  <a:pt x="369278" y="5862"/>
                  <a:pt x="391340" y="4478"/>
                  <a:pt x="404447" y="17585"/>
                </a:cubicBezTo>
                <a:cubicBezTo>
                  <a:pt x="434335" y="47473"/>
                  <a:pt x="451339" y="87924"/>
                  <a:pt x="474785" y="123093"/>
                </a:cubicBezTo>
                <a:cubicBezTo>
                  <a:pt x="486508" y="140678"/>
                  <a:pt x="495010" y="160903"/>
                  <a:pt x="509954" y="175847"/>
                </a:cubicBezTo>
                <a:cubicBezTo>
                  <a:pt x="551616" y="217508"/>
                  <a:pt x="595576" y="256868"/>
                  <a:pt x="615462" y="316524"/>
                </a:cubicBezTo>
                <a:cubicBezTo>
                  <a:pt x="621324" y="334108"/>
                  <a:pt x="624045" y="353074"/>
                  <a:pt x="633047" y="369277"/>
                </a:cubicBezTo>
                <a:cubicBezTo>
                  <a:pt x="653574" y="406226"/>
                  <a:pt x="679939" y="439616"/>
                  <a:pt x="703385" y="474785"/>
                </a:cubicBezTo>
                <a:cubicBezTo>
                  <a:pt x="747750" y="541334"/>
                  <a:pt x="723610" y="512595"/>
                  <a:pt x="773724" y="562708"/>
                </a:cubicBezTo>
                <a:cubicBezTo>
                  <a:pt x="837846" y="755081"/>
                  <a:pt x="735585" y="463709"/>
                  <a:pt x="826477" y="668216"/>
                </a:cubicBezTo>
                <a:cubicBezTo>
                  <a:pt x="862717" y="749757"/>
                  <a:pt x="883131" y="867457"/>
                  <a:pt x="896816" y="949570"/>
                </a:cubicBezTo>
                <a:lnTo>
                  <a:pt x="914400" y="1055077"/>
                </a:ln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4" name="TextBox 53"/>
          <p:cNvSpPr txBox="1"/>
          <p:nvPr/>
        </p:nvSpPr>
        <p:spPr>
          <a:xfrm>
            <a:off x="1505116" y="5921533"/>
            <a:ext cx="412292" cy="584775"/>
          </a:xfrm>
          <a:prstGeom prst="rect">
            <a:avLst/>
          </a:prstGeom>
          <a:noFill/>
        </p:spPr>
        <p:txBody>
          <a:bodyPr wrap="none" rtlCol="0">
            <a:spAutoFit/>
          </a:bodyPr>
          <a:lstStyle/>
          <a:p>
            <a:r>
              <a:rPr lang="en-US" sz="3200" smtClean="0"/>
              <a:t>0</a:t>
            </a:r>
            <a:endParaRPr lang="vi-VN" sz="3200"/>
          </a:p>
        </p:txBody>
      </p:sp>
      <p:sp>
        <p:nvSpPr>
          <p:cNvPr id="55" name="TextBox 54"/>
          <p:cNvSpPr txBox="1"/>
          <p:nvPr/>
        </p:nvSpPr>
        <p:spPr>
          <a:xfrm>
            <a:off x="5201627" y="5873262"/>
            <a:ext cx="639919" cy="584775"/>
          </a:xfrm>
          <a:prstGeom prst="rect">
            <a:avLst/>
          </a:prstGeom>
          <a:noFill/>
        </p:spPr>
        <p:txBody>
          <a:bodyPr wrap="none" rtlCol="0">
            <a:spAutoFit/>
          </a:bodyPr>
          <a:lstStyle/>
          <a:p>
            <a:r>
              <a:rPr lang="en-US" sz="3200" smtClean="0"/>
              <a:t>30</a:t>
            </a:r>
            <a:endParaRPr lang="vi-VN" sz="3200"/>
          </a:p>
        </p:txBody>
      </p:sp>
      <p:sp>
        <p:nvSpPr>
          <p:cNvPr id="56" name="TextBox 55"/>
          <p:cNvSpPr txBox="1"/>
          <p:nvPr/>
        </p:nvSpPr>
        <p:spPr>
          <a:xfrm>
            <a:off x="3479189" y="5973968"/>
            <a:ext cx="585417" cy="523220"/>
          </a:xfrm>
          <a:prstGeom prst="rect">
            <a:avLst/>
          </a:prstGeom>
          <a:noFill/>
        </p:spPr>
        <p:txBody>
          <a:bodyPr wrap="none" rtlCol="0">
            <a:spAutoFit/>
          </a:bodyPr>
          <a:lstStyle/>
          <a:p>
            <a:r>
              <a:rPr lang="en-US" sz="2800" smtClean="0"/>
              <a:t>15</a:t>
            </a:r>
            <a:endParaRPr lang="vi-VN" sz="2800"/>
          </a:p>
        </p:txBody>
      </p:sp>
      <p:sp>
        <p:nvSpPr>
          <p:cNvPr id="57" name="TextBox 56"/>
          <p:cNvSpPr txBox="1"/>
          <p:nvPr/>
        </p:nvSpPr>
        <p:spPr>
          <a:xfrm>
            <a:off x="929919" y="2725615"/>
            <a:ext cx="639919" cy="584775"/>
          </a:xfrm>
          <a:prstGeom prst="rect">
            <a:avLst/>
          </a:prstGeom>
          <a:noFill/>
        </p:spPr>
        <p:txBody>
          <a:bodyPr wrap="none" rtlCol="0">
            <a:spAutoFit/>
          </a:bodyPr>
          <a:lstStyle/>
          <a:p>
            <a:r>
              <a:rPr lang="en-US" sz="3200" smtClean="0"/>
              <a:t>20</a:t>
            </a:r>
            <a:endParaRPr lang="vi-VN" sz="3200"/>
          </a:p>
        </p:txBody>
      </p:sp>
      <p:sp>
        <p:nvSpPr>
          <p:cNvPr id="58" name="TextBox 57"/>
          <p:cNvSpPr txBox="1"/>
          <p:nvPr/>
        </p:nvSpPr>
        <p:spPr>
          <a:xfrm>
            <a:off x="895444" y="4396888"/>
            <a:ext cx="639919" cy="584775"/>
          </a:xfrm>
          <a:prstGeom prst="rect">
            <a:avLst/>
          </a:prstGeom>
          <a:noFill/>
        </p:spPr>
        <p:txBody>
          <a:bodyPr wrap="none" rtlCol="0">
            <a:spAutoFit/>
          </a:bodyPr>
          <a:lstStyle/>
          <a:p>
            <a:r>
              <a:rPr lang="en-US" sz="3200" smtClean="0"/>
              <a:t>10</a:t>
            </a:r>
            <a:endParaRPr lang="vi-VN" sz="3200"/>
          </a:p>
        </p:txBody>
      </p:sp>
      <p:sp>
        <p:nvSpPr>
          <p:cNvPr id="59" name="TextBox 58"/>
          <p:cNvSpPr txBox="1"/>
          <p:nvPr/>
        </p:nvSpPr>
        <p:spPr>
          <a:xfrm>
            <a:off x="7348825" y="5925698"/>
            <a:ext cx="986283" cy="584775"/>
          </a:xfrm>
          <a:prstGeom prst="rect">
            <a:avLst/>
          </a:prstGeom>
          <a:noFill/>
        </p:spPr>
        <p:txBody>
          <a:bodyPr wrap="square" rtlCol="0">
            <a:spAutoFit/>
          </a:bodyPr>
          <a:lstStyle/>
          <a:p>
            <a:r>
              <a:rPr lang="en-US" sz="3200" smtClean="0"/>
              <a:t>45</a:t>
            </a:r>
            <a:endParaRPr lang="vi-VN" sz="3200"/>
          </a:p>
        </p:txBody>
      </p:sp>
      <p:cxnSp>
        <p:nvCxnSpPr>
          <p:cNvPr id="63" name="Straight Connector 62"/>
          <p:cNvCxnSpPr/>
          <p:nvPr/>
        </p:nvCxnSpPr>
        <p:spPr>
          <a:xfrm>
            <a:off x="8458200" y="2274835"/>
            <a:ext cx="1547446" cy="18317"/>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8534400" y="2950935"/>
            <a:ext cx="15064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a:off x="8534400" y="3727938"/>
            <a:ext cx="1506415"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8" name="TextBox 67"/>
          <p:cNvSpPr txBox="1"/>
          <p:nvPr/>
        </p:nvSpPr>
        <p:spPr>
          <a:xfrm>
            <a:off x="10496573" y="2039815"/>
            <a:ext cx="1492716" cy="369332"/>
          </a:xfrm>
          <a:prstGeom prst="rect">
            <a:avLst/>
          </a:prstGeom>
          <a:noFill/>
        </p:spPr>
        <p:txBody>
          <a:bodyPr wrap="none" rtlCol="0">
            <a:spAutoFit/>
          </a:bodyPr>
          <a:lstStyle/>
          <a:p>
            <a:r>
              <a:rPr lang="en-US" err="1" smtClean="0"/>
              <a:t>Nôn</a:t>
            </a:r>
            <a:r>
              <a:rPr lang="en-US" smtClean="0"/>
              <a:t> </a:t>
            </a:r>
            <a:r>
              <a:rPr lang="en-US" err="1" smtClean="0"/>
              <a:t>cấp</a:t>
            </a:r>
            <a:r>
              <a:rPr lang="en-US" smtClean="0"/>
              <a:t> </a:t>
            </a:r>
            <a:r>
              <a:rPr lang="en-US" err="1" smtClean="0"/>
              <a:t>tính</a:t>
            </a:r>
            <a:endParaRPr lang="vi-VN"/>
          </a:p>
        </p:txBody>
      </p:sp>
      <p:sp>
        <p:nvSpPr>
          <p:cNvPr id="69" name="TextBox 68"/>
          <p:cNvSpPr txBox="1"/>
          <p:nvPr/>
        </p:nvSpPr>
        <p:spPr>
          <a:xfrm>
            <a:off x="10656277" y="2659668"/>
            <a:ext cx="1182740" cy="646331"/>
          </a:xfrm>
          <a:prstGeom prst="rect">
            <a:avLst/>
          </a:prstGeom>
          <a:noFill/>
        </p:spPr>
        <p:txBody>
          <a:bodyPr wrap="square" rtlCol="0">
            <a:spAutoFit/>
          </a:bodyPr>
          <a:lstStyle/>
          <a:p>
            <a:r>
              <a:rPr lang="en-US" err="1" smtClean="0"/>
              <a:t>Nôn</a:t>
            </a:r>
            <a:r>
              <a:rPr lang="en-US" smtClean="0"/>
              <a:t> </a:t>
            </a:r>
            <a:r>
              <a:rPr lang="en-US" err="1" smtClean="0"/>
              <a:t>mạn</a:t>
            </a:r>
            <a:r>
              <a:rPr lang="en-US" smtClean="0"/>
              <a:t> </a:t>
            </a:r>
            <a:r>
              <a:rPr lang="en-US" err="1" smtClean="0"/>
              <a:t>tính</a:t>
            </a:r>
            <a:endParaRPr lang="vi-VN"/>
          </a:p>
        </p:txBody>
      </p:sp>
      <p:sp>
        <p:nvSpPr>
          <p:cNvPr id="70" name="TextBox 69"/>
          <p:cNvSpPr txBox="1"/>
          <p:nvPr/>
        </p:nvSpPr>
        <p:spPr>
          <a:xfrm flipH="1">
            <a:off x="10656277" y="3429000"/>
            <a:ext cx="1164201" cy="646331"/>
          </a:xfrm>
          <a:prstGeom prst="rect">
            <a:avLst/>
          </a:prstGeom>
          <a:noFill/>
        </p:spPr>
        <p:txBody>
          <a:bodyPr wrap="square" rtlCol="0">
            <a:spAutoFit/>
          </a:bodyPr>
          <a:lstStyle/>
          <a:p>
            <a:r>
              <a:rPr lang="en-US" err="1" smtClean="0"/>
              <a:t>Nôn</a:t>
            </a:r>
            <a:r>
              <a:rPr lang="en-US" smtClean="0"/>
              <a:t> </a:t>
            </a:r>
            <a:r>
              <a:rPr lang="en-US" err="1" smtClean="0"/>
              <a:t>chu</a:t>
            </a:r>
            <a:r>
              <a:rPr lang="en-US" smtClean="0"/>
              <a:t> </a:t>
            </a:r>
            <a:r>
              <a:rPr lang="en-US" err="1" smtClean="0"/>
              <a:t>kì</a:t>
            </a:r>
            <a:endParaRPr lang="vi-VN"/>
          </a:p>
        </p:txBody>
      </p:sp>
      <p:sp>
        <p:nvSpPr>
          <p:cNvPr id="7" name="Arc 6"/>
          <p:cNvSpPr/>
          <p:nvPr/>
        </p:nvSpPr>
        <p:spPr>
          <a:xfrm>
            <a:off x="1871689" y="5809958"/>
            <a:ext cx="45719" cy="45719"/>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sp>
        <p:nvSpPr>
          <p:cNvPr id="8" name="Freeform 7"/>
          <p:cNvSpPr/>
          <p:nvPr/>
        </p:nvSpPr>
        <p:spPr>
          <a:xfrm>
            <a:off x="1910054" y="3305999"/>
            <a:ext cx="585678" cy="2528018"/>
          </a:xfrm>
          <a:custGeom>
            <a:avLst/>
            <a:gdLst>
              <a:gd name="connsiteX0" fmla="*/ 0 w 585678"/>
              <a:gd name="connsiteY0" fmla="*/ 2444016 h 2528018"/>
              <a:gd name="connsiteX1" fmla="*/ 266007 w 585678"/>
              <a:gd name="connsiteY1" fmla="*/ 74 h 2528018"/>
              <a:gd name="connsiteX2" fmla="*/ 581891 w 585678"/>
              <a:gd name="connsiteY2" fmla="*/ 2510517 h 2528018"/>
              <a:gd name="connsiteX3" fmla="*/ 448887 w 585678"/>
              <a:gd name="connsiteY3" fmla="*/ 1180481 h 2528018"/>
              <a:gd name="connsiteX4" fmla="*/ 448887 w 585678"/>
              <a:gd name="connsiteY4" fmla="*/ 1180481 h 2528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5678" h="2528018">
                <a:moveTo>
                  <a:pt x="0" y="2444016"/>
                </a:moveTo>
                <a:cubicBezTo>
                  <a:pt x="84512" y="1216503"/>
                  <a:pt x="169025" y="-11010"/>
                  <a:pt x="266007" y="74"/>
                </a:cubicBezTo>
                <a:cubicBezTo>
                  <a:pt x="362989" y="11157"/>
                  <a:pt x="551411" y="2313782"/>
                  <a:pt x="581891" y="2510517"/>
                </a:cubicBezTo>
                <a:cubicBezTo>
                  <a:pt x="612371" y="2707252"/>
                  <a:pt x="448887" y="1180481"/>
                  <a:pt x="448887" y="1180481"/>
                </a:cubicBezTo>
                <a:lnTo>
                  <a:pt x="448887" y="1180481"/>
                </a:lnTo>
              </a:path>
            </a:pathLst>
          </a:cu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vi-VN"/>
          </a:p>
        </p:txBody>
      </p:sp>
      <p:sp>
        <p:nvSpPr>
          <p:cNvPr id="9" name="Freeform 8"/>
          <p:cNvSpPr/>
          <p:nvPr/>
        </p:nvSpPr>
        <p:spPr>
          <a:xfrm>
            <a:off x="1612283" y="5488081"/>
            <a:ext cx="8196735" cy="319722"/>
          </a:xfrm>
          <a:custGeom>
            <a:avLst/>
            <a:gdLst>
              <a:gd name="connsiteX0" fmla="*/ 0 w 8196349"/>
              <a:gd name="connsiteY0" fmla="*/ 415637 h 432915"/>
              <a:gd name="connsiteX1" fmla="*/ 232756 w 8196349"/>
              <a:gd name="connsiteY1" fmla="*/ 0 h 432915"/>
              <a:gd name="connsiteX2" fmla="*/ 515389 w 8196349"/>
              <a:gd name="connsiteY2" fmla="*/ 415637 h 432915"/>
              <a:gd name="connsiteX3" fmla="*/ 781396 w 8196349"/>
              <a:gd name="connsiteY3" fmla="*/ 83127 h 432915"/>
              <a:gd name="connsiteX4" fmla="*/ 1413164 w 8196349"/>
              <a:gd name="connsiteY4" fmla="*/ 399011 h 432915"/>
              <a:gd name="connsiteX5" fmla="*/ 1546167 w 8196349"/>
              <a:gd name="connsiteY5" fmla="*/ 116378 h 432915"/>
              <a:gd name="connsiteX6" fmla="*/ 2011680 w 8196349"/>
              <a:gd name="connsiteY6" fmla="*/ 349135 h 432915"/>
              <a:gd name="connsiteX7" fmla="*/ 2327564 w 8196349"/>
              <a:gd name="connsiteY7" fmla="*/ 199506 h 432915"/>
              <a:gd name="connsiteX8" fmla="*/ 2643447 w 8196349"/>
              <a:gd name="connsiteY8" fmla="*/ 432262 h 432915"/>
              <a:gd name="connsiteX9" fmla="*/ 2876204 w 8196349"/>
              <a:gd name="connsiteY9" fmla="*/ 133004 h 432915"/>
              <a:gd name="connsiteX10" fmla="*/ 3524596 w 8196349"/>
              <a:gd name="connsiteY10" fmla="*/ 216131 h 432915"/>
              <a:gd name="connsiteX11" fmla="*/ 3591098 w 8196349"/>
              <a:gd name="connsiteY11" fmla="*/ 365760 h 432915"/>
              <a:gd name="connsiteX12" fmla="*/ 4156364 w 8196349"/>
              <a:gd name="connsiteY12" fmla="*/ 216131 h 432915"/>
              <a:gd name="connsiteX13" fmla="*/ 4438996 w 8196349"/>
              <a:gd name="connsiteY13" fmla="*/ 399011 h 432915"/>
              <a:gd name="connsiteX14" fmla="*/ 4838007 w 8196349"/>
              <a:gd name="connsiteY14" fmla="*/ 149629 h 432915"/>
              <a:gd name="connsiteX15" fmla="*/ 5004262 w 8196349"/>
              <a:gd name="connsiteY15" fmla="*/ 299258 h 432915"/>
              <a:gd name="connsiteX16" fmla="*/ 5054138 w 8196349"/>
              <a:gd name="connsiteY16" fmla="*/ 415637 h 432915"/>
              <a:gd name="connsiteX17" fmla="*/ 5436524 w 8196349"/>
              <a:gd name="connsiteY17" fmla="*/ 399011 h 432915"/>
              <a:gd name="connsiteX18" fmla="*/ 5752407 w 8196349"/>
              <a:gd name="connsiteY18" fmla="*/ 133004 h 432915"/>
              <a:gd name="connsiteX19" fmla="*/ 6051666 w 8196349"/>
              <a:gd name="connsiteY19" fmla="*/ 315884 h 432915"/>
              <a:gd name="connsiteX20" fmla="*/ 6217920 w 8196349"/>
              <a:gd name="connsiteY20" fmla="*/ 415637 h 432915"/>
              <a:gd name="connsiteX21" fmla="*/ 6666807 w 8196349"/>
              <a:gd name="connsiteY21" fmla="*/ 232757 h 432915"/>
              <a:gd name="connsiteX22" fmla="*/ 6866313 w 8196349"/>
              <a:gd name="connsiteY22" fmla="*/ 166255 h 432915"/>
              <a:gd name="connsiteX23" fmla="*/ 7148946 w 8196349"/>
              <a:gd name="connsiteY23" fmla="*/ 266007 h 432915"/>
              <a:gd name="connsiteX24" fmla="*/ 7331826 w 8196349"/>
              <a:gd name="connsiteY24" fmla="*/ 432262 h 432915"/>
              <a:gd name="connsiteX25" fmla="*/ 7780713 w 8196349"/>
              <a:gd name="connsiteY25" fmla="*/ 199506 h 432915"/>
              <a:gd name="connsiteX26" fmla="*/ 8113222 w 8196349"/>
              <a:gd name="connsiteY26" fmla="*/ 382386 h 432915"/>
              <a:gd name="connsiteX27" fmla="*/ 8196349 w 8196349"/>
              <a:gd name="connsiteY27" fmla="*/ 382386 h 43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196349" h="432915">
                <a:moveTo>
                  <a:pt x="0" y="415637"/>
                </a:moveTo>
                <a:cubicBezTo>
                  <a:pt x="73429" y="207818"/>
                  <a:pt x="146858" y="0"/>
                  <a:pt x="232756" y="0"/>
                </a:cubicBezTo>
                <a:cubicBezTo>
                  <a:pt x="318654" y="0"/>
                  <a:pt x="423949" y="401783"/>
                  <a:pt x="515389" y="415637"/>
                </a:cubicBezTo>
                <a:cubicBezTo>
                  <a:pt x="606829" y="429491"/>
                  <a:pt x="631767" y="85898"/>
                  <a:pt x="781396" y="83127"/>
                </a:cubicBezTo>
                <a:cubicBezTo>
                  <a:pt x="931025" y="80356"/>
                  <a:pt x="1285702" y="393469"/>
                  <a:pt x="1413164" y="399011"/>
                </a:cubicBezTo>
                <a:cubicBezTo>
                  <a:pt x="1540626" y="404553"/>
                  <a:pt x="1446414" y="124691"/>
                  <a:pt x="1546167" y="116378"/>
                </a:cubicBezTo>
                <a:cubicBezTo>
                  <a:pt x="1645920" y="108065"/>
                  <a:pt x="1881447" y="335280"/>
                  <a:pt x="2011680" y="349135"/>
                </a:cubicBezTo>
                <a:cubicBezTo>
                  <a:pt x="2141913" y="362990"/>
                  <a:pt x="2222270" y="185651"/>
                  <a:pt x="2327564" y="199506"/>
                </a:cubicBezTo>
                <a:cubicBezTo>
                  <a:pt x="2432859" y="213360"/>
                  <a:pt x="2552007" y="443346"/>
                  <a:pt x="2643447" y="432262"/>
                </a:cubicBezTo>
                <a:cubicBezTo>
                  <a:pt x="2734887" y="421178"/>
                  <a:pt x="2729346" y="169026"/>
                  <a:pt x="2876204" y="133004"/>
                </a:cubicBezTo>
                <a:cubicBezTo>
                  <a:pt x="3023062" y="96982"/>
                  <a:pt x="3405447" y="177338"/>
                  <a:pt x="3524596" y="216131"/>
                </a:cubicBezTo>
                <a:cubicBezTo>
                  <a:pt x="3643745" y="254924"/>
                  <a:pt x="3485803" y="365760"/>
                  <a:pt x="3591098" y="365760"/>
                </a:cubicBezTo>
                <a:cubicBezTo>
                  <a:pt x="3696393" y="365760"/>
                  <a:pt x="4015048" y="210589"/>
                  <a:pt x="4156364" y="216131"/>
                </a:cubicBezTo>
                <a:cubicBezTo>
                  <a:pt x="4297680" y="221673"/>
                  <a:pt x="4325389" y="410095"/>
                  <a:pt x="4438996" y="399011"/>
                </a:cubicBezTo>
                <a:cubicBezTo>
                  <a:pt x="4552603" y="387927"/>
                  <a:pt x="4743796" y="166255"/>
                  <a:pt x="4838007" y="149629"/>
                </a:cubicBezTo>
                <a:cubicBezTo>
                  <a:pt x="4932218" y="133003"/>
                  <a:pt x="4968240" y="254923"/>
                  <a:pt x="5004262" y="299258"/>
                </a:cubicBezTo>
                <a:cubicBezTo>
                  <a:pt x="5040284" y="343593"/>
                  <a:pt x="4982094" y="399012"/>
                  <a:pt x="5054138" y="415637"/>
                </a:cubicBezTo>
                <a:cubicBezTo>
                  <a:pt x="5126182" y="432262"/>
                  <a:pt x="5320146" y="446117"/>
                  <a:pt x="5436524" y="399011"/>
                </a:cubicBezTo>
                <a:cubicBezTo>
                  <a:pt x="5552902" y="351905"/>
                  <a:pt x="5649883" y="146859"/>
                  <a:pt x="5752407" y="133004"/>
                </a:cubicBezTo>
                <a:cubicBezTo>
                  <a:pt x="5854931" y="119149"/>
                  <a:pt x="6051666" y="315884"/>
                  <a:pt x="6051666" y="315884"/>
                </a:cubicBezTo>
                <a:cubicBezTo>
                  <a:pt x="6129251" y="362989"/>
                  <a:pt x="6115396" y="429492"/>
                  <a:pt x="6217920" y="415637"/>
                </a:cubicBezTo>
                <a:cubicBezTo>
                  <a:pt x="6320444" y="401782"/>
                  <a:pt x="6558742" y="274321"/>
                  <a:pt x="6666807" y="232757"/>
                </a:cubicBezTo>
                <a:cubicBezTo>
                  <a:pt x="6774872" y="191193"/>
                  <a:pt x="6785956" y="160713"/>
                  <a:pt x="6866313" y="166255"/>
                </a:cubicBezTo>
                <a:cubicBezTo>
                  <a:pt x="6946670" y="171797"/>
                  <a:pt x="7071361" y="221673"/>
                  <a:pt x="7148946" y="266007"/>
                </a:cubicBezTo>
                <a:cubicBezTo>
                  <a:pt x="7226531" y="310341"/>
                  <a:pt x="7226532" y="443345"/>
                  <a:pt x="7331826" y="432262"/>
                </a:cubicBezTo>
                <a:cubicBezTo>
                  <a:pt x="7437120" y="421179"/>
                  <a:pt x="7650480" y="207819"/>
                  <a:pt x="7780713" y="199506"/>
                </a:cubicBezTo>
                <a:cubicBezTo>
                  <a:pt x="7910946" y="191193"/>
                  <a:pt x="8043949" y="351906"/>
                  <a:pt x="8113222" y="382386"/>
                </a:cubicBezTo>
                <a:cubicBezTo>
                  <a:pt x="8182495" y="412866"/>
                  <a:pt x="8189422" y="397626"/>
                  <a:pt x="8196349" y="382386"/>
                </a:cubicBezTo>
              </a:path>
            </a:pathLst>
          </a:custGeom>
        </p:spPr>
        <p:style>
          <a:lnRef idx="3">
            <a:schemeClr val="accent4"/>
          </a:lnRef>
          <a:fillRef idx="0">
            <a:schemeClr val="accent4"/>
          </a:fillRef>
          <a:effectRef idx="2">
            <a:schemeClr val="accent4"/>
          </a:effectRef>
          <a:fontRef idx="minor">
            <a:schemeClr val="tx1"/>
          </a:fontRef>
        </p:style>
        <p:txBody>
          <a:bodyPr rtlCol="0" anchor="ctr"/>
          <a:lstStyle/>
          <a:p>
            <a:pPr algn="ctr"/>
            <a:endParaRPr lang="vi-VN"/>
          </a:p>
        </p:txBody>
      </p:sp>
      <p:sp>
        <p:nvSpPr>
          <p:cNvPr id="10" name="TextBox 9"/>
          <p:cNvSpPr txBox="1"/>
          <p:nvPr/>
        </p:nvSpPr>
        <p:spPr>
          <a:xfrm>
            <a:off x="9583547" y="5855677"/>
            <a:ext cx="1072730" cy="584775"/>
          </a:xfrm>
          <a:prstGeom prst="rect">
            <a:avLst/>
          </a:prstGeom>
          <a:noFill/>
        </p:spPr>
        <p:txBody>
          <a:bodyPr wrap="none" rtlCol="0">
            <a:spAutoFit/>
          </a:bodyPr>
          <a:lstStyle/>
          <a:p>
            <a:r>
              <a:rPr lang="en-US" sz="3200" err="1" smtClean="0"/>
              <a:t>ngày</a:t>
            </a:r>
            <a:endParaRPr lang="vi-VN" sz="3200"/>
          </a:p>
        </p:txBody>
      </p:sp>
      <p:sp>
        <p:nvSpPr>
          <p:cNvPr id="12" name="TextBox 11"/>
          <p:cNvSpPr txBox="1"/>
          <p:nvPr/>
        </p:nvSpPr>
        <p:spPr>
          <a:xfrm>
            <a:off x="-56901" y="1643918"/>
            <a:ext cx="1904689" cy="523220"/>
          </a:xfrm>
          <a:prstGeom prst="rect">
            <a:avLst/>
          </a:prstGeom>
          <a:noFill/>
        </p:spPr>
        <p:txBody>
          <a:bodyPr wrap="none" rtlCol="0">
            <a:spAutoFit/>
          </a:bodyPr>
          <a:lstStyle/>
          <a:p>
            <a:r>
              <a:rPr lang="en-US" sz="2800" err="1" smtClean="0"/>
              <a:t>Số</a:t>
            </a:r>
            <a:r>
              <a:rPr lang="en-US" sz="2800" smtClean="0"/>
              <a:t> </a:t>
            </a:r>
            <a:r>
              <a:rPr lang="en-US" sz="2800" err="1" smtClean="0"/>
              <a:t>lần</a:t>
            </a:r>
            <a:r>
              <a:rPr lang="en-US" sz="2800" smtClean="0"/>
              <a:t> </a:t>
            </a:r>
            <a:r>
              <a:rPr lang="en-US" sz="2800" err="1" smtClean="0"/>
              <a:t>nôn</a:t>
            </a:r>
            <a:endParaRPr lang="vi-VN" sz="2800"/>
          </a:p>
        </p:txBody>
      </p:sp>
    </p:spTree>
    <p:extLst>
      <p:ext uri="{BB962C8B-B14F-4D97-AF65-F5344CB8AC3E}">
        <p14:creationId xmlns:p14="http://schemas.microsoft.com/office/powerpoint/2010/main" val="1772163215"/>
      </p:ext>
    </p:extLst>
  </p:cSld>
  <p:clrMapOvr>
    <a:masterClrMapping/>
  </p:clrMapOvr>
  <p:transition spd="slow">
    <p:push dir="u"/>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500"/>
                                        <p:tgtEl>
                                          <p:spTgt spid="5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fade">
                                      <p:cBhvr>
                                        <p:cTn id="12" dur="500"/>
                                        <p:tgtEl>
                                          <p:spTgt spid="4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0"/>
                                        </p:tgtEl>
                                        <p:attrNameLst>
                                          <p:attrName>style.visibility</p:attrName>
                                        </p:attrNameLst>
                                      </p:cBhvr>
                                      <p:to>
                                        <p:strVal val="visible"/>
                                      </p:to>
                                    </p:set>
                                    <p:animEffect transition="in" filter="fade">
                                      <p:cBhvr>
                                        <p:cTn id="15" dur="500"/>
                                        <p:tgtEl>
                                          <p:spTgt spid="5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1"/>
                                        </p:tgtEl>
                                        <p:attrNameLst>
                                          <p:attrName>style.visibility</p:attrName>
                                        </p:attrNameLst>
                                      </p:cBhvr>
                                      <p:to>
                                        <p:strVal val="visible"/>
                                      </p:to>
                                    </p:set>
                                    <p:animEffect transition="in" filter="fade">
                                      <p:cBhvr>
                                        <p:cTn id="18" dur="500"/>
                                        <p:tgtEl>
                                          <p:spTgt spid="5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0" grpId="0" animBg="1"/>
      <p:bldP spid="51" grpId="0" animBg="1"/>
      <p:bldP spid="52" grpId="0" animBg="1"/>
      <p:bldP spid="8" grpId="0" animBg="1"/>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Phân loại nôn,buồn nôn</a:t>
            </a:r>
            <a:endParaRPr lang="vi-VN"/>
          </a:p>
        </p:txBody>
      </p:sp>
      <p:sp>
        <p:nvSpPr>
          <p:cNvPr id="3" name="Content Placeholder 2"/>
          <p:cNvSpPr>
            <a:spLocks noGrp="1"/>
          </p:cNvSpPr>
          <p:nvPr>
            <p:ph idx="1"/>
          </p:nvPr>
        </p:nvSpPr>
        <p:spPr>
          <a:xfrm>
            <a:off x="0" y="1390650"/>
            <a:ext cx="12192000" cy="5467349"/>
          </a:xfrm>
        </p:spPr>
        <p:txBody>
          <a:bodyPr/>
          <a:lstStyle/>
          <a:p>
            <a:r>
              <a:rPr lang="en-US" smtClean="0">
                <a:solidFill>
                  <a:srgbClr val="FF0000"/>
                </a:solidFill>
              </a:rPr>
              <a:t>Acute </a:t>
            </a:r>
            <a:r>
              <a:rPr lang="en-US">
                <a:solidFill>
                  <a:srgbClr val="FF0000"/>
                </a:solidFill>
              </a:rPr>
              <a:t>Vomiting </a:t>
            </a:r>
            <a:r>
              <a:rPr lang="en-US"/>
              <a:t>: Occurs ( &lt; or = 1 Week ) , Usually associated with : obstruction , ischemic , toxic , metabolic , infectious , neurological and post-operative reasons </a:t>
            </a:r>
            <a:r>
              <a:rPr lang="en-US" smtClean="0"/>
              <a:t>.</a:t>
            </a:r>
          </a:p>
          <a:p>
            <a:r>
              <a:rPr lang="en-US" smtClean="0">
                <a:solidFill>
                  <a:srgbClr val="FF0000"/>
                </a:solidFill>
              </a:rPr>
              <a:t>  </a:t>
            </a:r>
            <a:r>
              <a:rPr lang="en-US">
                <a:solidFill>
                  <a:srgbClr val="FF0000"/>
                </a:solidFill>
              </a:rPr>
              <a:t>Chronic </a:t>
            </a:r>
            <a:r>
              <a:rPr lang="en-US"/>
              <a:t>: Occurring for more than 1 </a:t>
            </a:r>
            <a:r>
              <a:rPr lang="en-US" smtClean="0"/>
              <a:t>Month, </a:t>
            </a:r>
            <a:r>
              <a:rPr lang="en-US"/>
              <a:t>Usually due to partial obstruction , motility disorder , neurological chronic condition , pregnancy or functional reasons </a:t>
            </a:r>
            <a:r>
              <a:rPr lang="en-US" smtClean="0"/>
              <a:t>.</a:t>
            </a:r>
          </a:p>
          <a:p>
            <a:r>
              <a:rPr lang="en-US" smtClean="0">
                <a:solidFill>
                  <a:srgbClr val="FF0000"/>
                </a:solidFill>
              </a:rPr>
              <a:t>  </a:t>
            </a:r>
            <a:r>
              <a:rPr lang="en-US">
                <a:solidFill>
                  <a:srgbClr val="FF0000"/>
                </a:solidFill>
              </a:rPr>
              <a:t>Cyclic </a:t>
            </a:r>
            <a:r>
              <a:rPr lang="en-US"/>
              <a:t>: Which has an onset of repetitive but interrupted cycles of high frequency vomiting , followed by an asymptomatic phase usually due to Viral Causes .</a:t>
            </a:r>
            <a:endParaRPr lang="vi-VN"/>
          </a:p>
        </p:txBody>
      </p:sp>
    </p:spTree>
    <p:extLst>
      <p:ext uri="{BB962C8B-B14F-4D97-AF65-F5344CB8AC3E}">
        <p14:creationId xmlns:p14="http://schemas.microsoft.com/office/powerpoint/2010/main" val="1070280140"/>
      </p:ext>
    </p:extLst>
  </p:cSld>
  <p:clrMapOvr>
    <a:masterClrMapping/>
  </p:clrMapOvr>
  <p:transition spd="slow">
    <p:push dir="u"/>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Cơ chế gây nôn</a:t>
            </a:r>
            <a:endParaRPr lang="vi-VN"/>
          </a:p>
        </p:txBody>
      </p:sp>
      <p:sp>
        <p:nvSpPr>
          <p:cNvPr id="3" name="Content Placeholder 2"/>
          <p:cNvSpPr>
            <a:spLocks noGrp="1"/>
          </p:cNvSpPr>
          <p:nvPr>
            <p:ph idx="1"/>
          </p:nvPr>
        </p:nvSpPr>
        <p:spPr/>
        <p:txBody>
          <a:bodyPr/>
          <a:lstStyle/>
          <a:p>
            <a:r>
              <a:rPr lang="vi-VN" smtClean="0"/>
              <a:t>ty</a:t>
            </a:r>
            <a:endParaRPr lang="vi-VN"/>
          </a:p>
        </p:txBody>
      </p:sp>
      <p:sp>
        <p:nvSpPr>
          <p:cNvPr id="4" name="Rectangle 3"/>
          <p:cNvSpPr/>
          <p:nvPr/>
        </p:nvSpPr>
        <p:spPr>
          <a:xfrm>
            <a:off x="2743200" y="4970853"/>
            <a:ext cx="1596043" cy="81464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vi-VN" sz="2400" smtClean="0"/>
              <a:t>Dạ dày</a:t>
            </a:r>
          </a:p>
          <a:p>
            <a:pPr algn="ctr"/>
            <a:r>
              <a:rPr lang="vi-VN" sz="2400" smtClean="0"/>
              <a:t>Ruột non</a:t>
            </a:r>
            <a:endParaRPr lang="vi-VN" sz="2400"/>
          </a:p>
        </p:txBody>
      </p:sp>
      <p:sp>
        <p:nvSpPr>
          <p:cNvPr id="5" name="Rectangle 4"/>
          <p:cNvSpPr/>
          <p:nvPr/>
        </p:nvSpPr>
        <p:spPr>
          <a:xfrm>
            <a:off x="3008513" y="3174988"/>
            <a:ext cx="2660073" cy="1064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400" smtClean="0"/>
              <a:t>Vùng cảm thụ hóa học</a:t>
            </a:r>
          </a:p>
          <a:p>
            <a:pPr algn="ctr"/>
            <a:r>
              <a:rPr lang="vi-VN" sz="2400" smtClean="0"/>
              <a:t>(CTZ)</a:t>
            </a:r>
            <a:endParaRPr lang="vi-VN" sz="2400"/>
          </a:p>
        </p:txBody>
      </p:sp>
      <p:sp>
        <p:nvSpPr>
          <p:cNvPr id="6" name="Rectangle 5"/>
          <p:cNvSpPr/>
          <p:nvPr/>
        </p:nvSpPr>
        <p:spPr>
          <a:xfrm>
            <a:off x="6928655" y="3050769"/>
            <a:ext cx="2277687" cy="1280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400" smtClean="0"/>
              <a:t>Trung tâm nôn</a:t>
            </a:r>
          </a:p>
          <a:p>
            <a:pPr algn="ctr"/>
            <a:r>
              <a:rPr lang="vi-VN" sz="2400" smtClean="0"/>
              <a:t>(thân não)</a:t>
            </a:r>
            <a:endParaRPr lang="vi-VN" sz="2400"/>
          </a:p>
        </p:txBody>
      </p:sp>
      <p:sp>
        <p:nvSpPr>
          <p:cNvPr id="7" name="Rectangle 6"/>
          <p:cNvSpPr/>
          <p:nvPr/>
        </p:nvSpPr>
        <p:spPr>
          <a:xfrm>
            <a:off x="6749934" y="1365600"/>
            <a:ext cx="2394066"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400" smtClean="0"/>
              <a:t>Trung tâm cao hơn ở não</a:t>
            </a:r>
            <a:endParaRPr lang="vi-VN" sz="2400"/>
          </a:p>
        </p:txBody>
      </p:sp>
      <p:sp>
        <p:nvSpPr>
          <p:cNvPr id="8" name="Rectangle 7"/>
          <p:cNvSpPr/>
          <p:nvPr/>
        </p:nvSpPr>
        <p:spPr>
          <a:xfrm>
            <a:off x="6974378" y="5302089"/>
            <a:ext cx="2277687" cy="9230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400" smtClean="0"/>
              <a:t>Vùng hầu họng</a:t>
            </a:r>
            <a:endParaRPr lang="vi-VN" sz="2400"/>
          </a:p>
        </p:txBody>
      </p:sp>
      <p:sp>
        <p:nvSpPr>
          <p:cNvPr id="9" name="Rectangle 8"/>
          <p:cNvSpPr/>
          <p:nvPr/>
        </p:nvSpPr>
        <p:spPr>
          <a:xfrm>
            <a:off x="-42258" y="4821067"/>
            <a:ext cx="1685751" cy="172936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2400" smtClean="0"/>
              <a:t>Hóa trị</a:t>
            </a:r>
          </a:p>
          <a:p>
            <a:pPr algn="ctr"/>
            <a:r>
              <a:rPr lang="vi-VN" sz="2400" smtClean="0"/>
              <a:t>Xạ trị</a:t>
            </a:r>
          </a:p>
          <a:p>
            <a:pPr algn="ctr"/>
            <a:r>
              <a:rPr lang="vi-VN" sz="2400" smtClean="0"/>
              <a:t>Phẫu thuật</a:t>
            </a:r>
            <a:endParaRPr lang="vi-VN" sz="2400"/>
          </a:p>
        </p:txBody>
      </p:sp>
      <p:sp>
        <p:nvSpPr>
          <p:cNvPr id="11" name="Rectangle 10"/>
          <p:cNvSpPr/>
          <p:nvPr/>
        </p:nvSpPr>
        <p:spPr>
          <a:xfrm>
            <a:off x="-42257" y="3124282"/>
            <a:ext cx="1983971" cy="98090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2400" smtClean="0"/>
              <a:t>Hóa trị</a:t>
            </a:r>
          </a:p>
          <a:p>
            <a:pPr algn="ctr"/>
            <a:r>
              <a:rPr lang="vi-VN" sz="2400" smtClean="0"/>
              <a:t>Gây mê</a:t>
            </a:r>
          </a:p>
          <a:p>
            <a:pPr algn="ctr"/>
            <a:r>
              <a:rPr lang="vi-VN" sz="2400" smtClean="0"/>
              <a:t>opioids</a:t>
            </a:r>
            <a:endParaRPr lang="vi-VN" sz="2400"/>
          </a:p>
        </p:txBody>
      </p:sp>
      <p:sp>
        <p:nvSpPr>
          <p:cNvPr id="12" name="Rectangle 11"/>
          <p:cNvSpPr/>
          <p:nvPr/>
        </p:nvSpPr>
        <p:spPr>
          <a:xfrm>
            <a:off x="0" y="1304019"/>
            <a:ext cx="2194560" cy="118040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2400" smtClean="0"/>
              <a:t>Cảm giác (đau,mùi,hình ảnh)</a:t>
            </a:r>
            <a:endParaRPr lang="vi-VN" sz="2400"/>
          </a:p>
        </p:txBody>
      </p:sp>
      <p:sp>
        <p:nvSpPr>
          <p:cNvPr id="13" name="Rectangle 12"/>
          <p:cNvSpPr/>
          <p:nvPr/>
        </p:nvSpPr>
        <p:spPr>
          <a:xfrm>
            <a:off x="10324408" y="1412083"/>
            <a:ext cx="1784465" cy="104740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2400" smtClean="0"/>
              <a:t>Tâm lý,trí nhớ, sợ hãi</a:t>
            </a:r>
            <a:endParaRPr lang="vi-VN" sz="2400"/>
          </a:p>
        </p:txBody>
      </p:sp>
      <p:sp>
        <p:nvSpPr>
          <p:cNvPr id="14" name="Right Arrow 13"/>
          <p:cNvSpPr/>
          <p:nvPr/>
        </p:nvSpPr>
        <p:spPr>
          <a:xfrm>
            <a:off x="2213262" y="1726554"/>
            <a:ext cx="4490260" cy="40713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5" name="Down Arrow 14"/>
          <p:cNvSpPr/>
          <p:nvPr/>
        </p:nvSpPr>
        <p:spPr>
          <a:xfrm>
            <a:off x="7930342" y="2280000"/>
            <a:ext cx="382385" cy="77076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6" name="Right Arrow 15"/>
          <p:cNvSpPr/>
          <p:nvPr/>
        </p:nvSpPr>
        <p:spPr>
          <a:xfrm>
            <a:off x="1643494" y="5261718"/>
            <a:ext cx="1139537" cy="3157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7" name="Right Arrow 16"/>
          <p:cNvSpPr/>
          <p:nvPr/>
        </p:nvSpPr>
        <p:spPr>
          <a:xfrm>
            <a:off x="1960416" y="3540795"/>
            <a:ext cx="1048097" cy="38875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9" name="Down Arrow 18"/>
          <p:cNvSpPr/>
          <p:nvPr/>
        </p:nvSpPr>
        <p:spPr>
          <a:xfrm rot="10800000">
            <a:off x="3657599" y="4239017"/>
            <a:ext cx="448887" cy="73183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1" name="Right Arrow 20"/>
          <p:cNvSpPr/>
          <p:nvPr/>
        </p:nvSpPr>
        <p:spPr>
          <a:xfrm rot="20151307">
            <a:off x="4197089" y="4732785"/>
            <a:ext cx="2872755" cy="44065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2" name="Right Arrow 21"/>
          <p:cNvSpPr/>
          <p:nvPr/>
        </p:nvSpPr>
        <p:spPr>
          <a:xfrm>
            <a:off x="5668586" y="3540795"/>
            <a:ext cx="1260069" cy="38875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3" name="Down Arrow 22"/>
          <p:cNvSpPr/>
          <p:nvPr/>
        </p:nvSpPr>
        <p:spPr>
          <a:xfrm rot="10800000">
            <a:off x="7792906" y="4330929"/>
            <a:ext cx="465513" cy="95349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4" name="Curved Down Arrow 23"/>
          <p:cNvSpPr/>
          <p:nvPr/>
        </p:nvSpPr>
        <p:spPr>
          <a:xfrm>
            <a:off x="9121136" y="3006521"/>
            <a:ext cx="1816334" cy="88935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solidFill>
                <a:schemeClr val="tx1"/>
              </a:solidFill>
            </a:endParaRPr>
          </a:p>
        </p:txBody>
      </p:sp>
      <p:sp>
        <p:nvSpPr>
          <p:cNvPr id="25" name="TextBox 24"/>
          <p:cNvSpPr txBox="1"/>
          <p:nvPr/>
        </p:nvSpPr>
        <p:spPr>
          <a:xfrm>
            <a:off x="9888335" y="3895871"/>
            <a:ext cx="2098270" cy="1323439"/>
          </a:xfrm>
          <a:prstGeom prst="rect">
            <a:avLst/>
          </a:prstGeom>
          <a:noFill/>
        </p:spPr>
        <p:txBody>
          <a:bodyPr wrap="square" rtlCol="0">
            <a:spAutoFit/>
          </a:bodyPr>
          <a:lstStyle/>
          <a:p>
            <a:r>
              <a:rPr lang="vi-VN" sz="4000" smtClean="0">
                <a:solidFill>
                  <a:srgbClr val="FF0000"/>
                </a:solidFill>
              </a:rPr>
              <a:t>Phản xạ nôn </a:t>
            </a:r>
            <a:endParaRPr lang="vi-VN" sz="4000">
              <a:solidFill>
                <a:srgbClr val="FF0000"/>
              </a:solidFill>
            </a:endParaRPr>
          </a:p>
        </p:txBody>
      </p:sp>
      <p:sp>
        <p:nvSpPr>
          <p:cNvPr id="26" name="Left Arrow 25"/>
          <p:cNvSpPr/>
          <p:nvPr/>
        </p:nvSpPr>
        <p:spPr>
          <a:xfrm>
            <a:off x="9165821" y="1688869"/>
            <a:ext cx="1138151" cy="41070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2895837814"/>
      </p:ext>
    </p:extLst>
  </p:cSld>
  <p:clrMapOvr>
    <a:masterClrMapping/>
  </p:clrMapOvr>
  <p:transition spd="slow">
    <p:push dir="u"/>
    <p:sndAc>
      <p:stSnd>
        <p:snd r:embed="rId2" name="camera.wav"/>
      </p:stSnd>
    </p:sndAc>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Act of vomiting</a:t>
            </a:r>
            <a:endParaRPr lang="vi-VN"/>
          </a:p>
        </p:txBody>
      </p:sp>
      <p:sp>
        <p:nvSpPr>
          <p:cNvPr id="3" name="Content Placeholder 2"/>
          <p:cNvSpPr>
            <a:spLocks noGrp="1"/>
          </p:cNvSpPr>
          <p:nvPr>
            <p:ph idx="1"/>
          </p:nvPr>
        </p:nvSpPr>
        <p:spPr>
          <a:xfrm>
            <a:off x="0" y="1197033"/>
            <a:ext cx="6096000" cy="5660967"/>
          </a:xfrm>
        </p:spPr>
        <p:txBody>
          <a:bodyPr/>
          <a:lstStyle/>
          <a:p>
            <a:r>
              <a:rPr lang="en-US" sz="2600" err="1" smtClean="0"/>
              <a:t>Cơ</a:t>
            </a:r>
            <a:r>
              <a:rPr lang="en-US" sz="2600" smtClean="0"/>
              <a:t> </a:t>
            </a:r>
            <a:r>
              <a:rPr lang="en-US" sz="2600" err="1" smtClean="0"/>
              <a:t>hoành</a:t>
            </a:r>
            <a:r>
              <a:rPr lang="en-US" sz="2600" smtClean="0"/>
              <a:t> </a:t>
            </a:r>
            <a:r>
              <a:rPr lang="en-US" sz="2600" err="1" smtClean="0"/>
              <a:t>hạ</a:t>
            </a:r>
            <a:r>
              <a:rPr lang="en-US" sz="2600" smtClean="0"/>
              <a:t> </a:t>
            </a:r>
            <a:r>
              <a:rPr lang="en-US" sz="2600" err="1" smtClean="0"/>
              <a:t>xuống</a:t>
            </a:r>
            <a:r>
              <a:rPr lang="en-US" sz="2600" smtClean="0"/>
              <a:t>, </a:t>
            </a:r>
            <a:r>
              <a:rPr lang="en-US" sz="2600" err="1" smtClean="0"/>
              <a:t>các</a:t>
            </a:r>
            <a:r>
              <a:rPr lang="en-US" sz="2600" smtClean="0"/>
              <a:t> </a:t>
            </a:r>
            <a:r>
              <a:rPr lang="en-US" sz="2600" err="1" smtClean="0"/>
              <a:t>cơ</a:t>
            </a:r>
            <a:r>
              <a:rPr lang="en-US" sz="2600" smtClean="0"/>
              <a:t> </a:t>
            </a:r>
            <a:r>
              <a:rPr lang="en-US" sz="2600" err="1" smtClean="0"/>
              <a:t>liên</a:t>
            </a:r>
            <a:r>
              <a:rPr lang="en-US" sz="2600" smtClean="0"/>
              <a:t> </a:t>
            </a:r>
            <a:r>
              <a:rPr lang="en-US" sz="2600" err="1" smtClean="0"/>
              <a:t>sường</a:t>
            </a:r>
            <a:r>
              <a:rPr lang="en-US" sz="2600" smtClean="0"/>
              <a:t> co </a:t>
            </a:r>
            <a:r>
              <a:rPr lang="en-US" sz="2600" err="1" smtClean="0"/>
              <a:t>lại,nắp</a:t>
            </a:r>
            <a:r>
              <a:rPr lang="en-US" sz="2600" smtClean="0"/>
              <a:t> </a:t>
            </a:r>
            <a:r>
              <a:rPr lang="en-US" sz="2600" err="1" smtClean="0"/>
              <a:t>thanh</a:t>
            </a:r>
            <a:r>
              <a:rPr lang="en-US" sz="2600" smtClean="0"/>
              <a:t> </a:t>
            </a:r>
            <a:r>
              <a:rPr lang="en-US" sz="2600" err="1" smtClean="0"/>
              <a:t>môn</a:t>
            </a:r>
            <a:r>
              <a:rPr lang="en-US" sz="2600" smtClean="0"/>
              <a:t> </a:t>
            </a:r>
            <a:r>
              <a:rPr lang="en-US" sz="2600" err="1" smtClean="0"/>
              <a:t>được</a:t>
            </a:r>
            <a:r>
              <a:rPr lang="en-US" sz="2600" smtClean="0"/>
              <a:t> </a:t>
            </a:r>
            <a:r>
              <a:rPr lang="en-US" sz="2600" err="1" smtClean="0"/>
              <a:t>đóng</a:t>
            </a:r>
            <a:r>
              <a:rPr lang="en-US" sz="2600" smtClean="0"/>
              <a:t> </a:t>
            </a:r>
            <a:r>
              <a:rPr lang="en-US" sz="2600" err="1" smtClean="0"/>
              <a:t>kín</a:t>
            </a:r>
            <a:endParaRPr lang="en-US" sz="2600" smtClean="0"/>
          </a:p>
          <a:p>
            <a:r>
              <a:rPr lang="en-US" sz="2600" err="1" smtClean="0"/>
              <a:t>Cơ</a:t>
            </a:r>
            <a:r>
              <a:rPr lang="en-US" sz="2600" smtClean="0"/>
              <a:t> </a:t>
            </a:r>
            <a:r>
              <a:rPr lang="en-US" sz="2600" err="1" smtClean="0"/>
              <a:t>thành</a:t>
            </a:r>
            <a:r>
              <a:rPr lang="en-US" sz="2600" smtClean="0"/>
              <a:t> </a:t>
            </a:r>
            <a:r>
              <a:rPr lang="en-US" sz="2600" err="1" smtClean="0"/>
              <a:t>bụng</a:t>
            </a:r>
            <a:r>
              <a:rPr lang="en-US" sz="2600" smtClean="0"/>
              <a:t> co </a:t>
            </a:r>
            <a:r>
              <a:rPr lang="en-US" sz="2600" err="1" smtClean="0"/>
              <a:t>thắt</a:t>
            </a:r>
            <a:r>
              <a:rPr lang="en-US" sz="2600" smtClean="0"/>
              <a:t> </a:t>
            </a:r>
            <a:r>
              <a:rPr lang="en-US" sz="2600" err="1" smtClean="0"/>
              <a:t>tống</a:t>
            </a:r>
            <a:r>
              <a:rPr lang="en-US" sz="2600" smtClean="0"/>
              <a:t> </a:t>
            </a:r>
            <a:r>
              <a:rPr lang="en-US" sz="2600" err="1" smtClean="0"/>
              <a:t>xuất</a:t>
            </a:r>
            <a:r>
              <a:rPr lang="en-US" sz="2600" smtClean="0"/>
              <a:t> </a:t>
            </a:r>
            <a:r>
              <a:rPr lang="en-US" sz="2600" err="1" smtClean="0"/>
              <a:t>các</a:t>
            </a:r>
            <a:r>
              <a:rPr lang="en-US" sz="2600" smtClean="0"/>
              <a:t> </a:t>
            </a:r>
            <a:r>
              <a:rPr lang="en-US" sz="2600" err="1" smtClean="0"/>
              <a:t>chất</a:t>
            </a:r>
            <a:r>
              <a:rPr lang="en-US" sz="2600" smtClean="0"/>
              <a:t> </a:t>
            </a:r>
            <a:r>
              <a:rPr lang="en-US" sz="2600" err="1" smtClean="0"/>
              <a:t>lên</a:t>
            </a:r>
            <a:r>
              <a:rPr lang="en-US" sz="2600" smtClean="0"/>
              <a:t> </a:t>
            </a:r>
            <a:r>
              <a:rPr lang="en-US" sz="2600" err="1" smtClean="0"/>
              <a:t>đáy</a:t>
            </a:r>
            <a:r>
              <a:rPr lang="en-US" sz="2600" smtClean="0"/>
              <a:t> </a:t>
            </a:r>
            <a:r>
              <a:rPr lang="en-US" sz="2600" err="1" smtClean="0"/>
              <a:t>vị</a:t>
            </a:r>
            <a:r>
              <a:rPr lang="en-US" sz="2600" smtClean="0"/>
              <a:t> </a:t>
            </a:r>
            <a:r>
              <a:rPr lang="en-US" sz="2600" err="1" smtClean="0"/>
              <a:t>và</a:t>
            </a:r>
            <a:r>
              <a:rPr lang="en-US" sz="2600" smtClean="0"/>
              <a:t> </a:t>
            </a:r>
            <a:r>
              <a:rPr lang="en-US" sz="2600" err="1" smtClean="0"/>
              <a:t>thực</a:t>
            </a:r>
            <a:r>
              <a:rPr lang="en-US" sz="2600" smtClean="0"/>
              <a:t> </a:t>
            </a:r>
            <a:r>
              <a:rPr lang="en-US" sz="2600" err="1" smtClean="0"/>
              <a:t>quản</a:t>
            </a:r>
            <a:endParaRPr lang="en-US" sz="2600" smtClean="0"/>
          </a:p>
          <a:p>
            <a:r>
              <a:rPr lang="en-US" sz="2600" err="1" smtClean="0"/>
              <a:t>Cơ</a:t>
            </a:r>
            <a:r>
              <a:rPr lang="en-US" sz="2600" smtClean="0"/>
              <a:t> </a:t>
            </a:r>
            <a:r>
              <a:rPr lang="en-US" sz="2600" err="1" smtClean="0"/>
              <a:t>thành</a:t>
            </a:r>
            <a:r>
              <a:rPr lang="en-US" sz="2600" smtClean="0"/>
              <a:t> </a:t>
            </a:r>
            <a:r>
              <a:rPr lang="en-US" sz="2600" err="1" smtClean="0"/>
              <a:t>bụng</a:t>
            </a:r>
            <a:r>
              <a:rPr lang="en-US" sz="2600" smtClean="0"/>
              <a:t> </a:t>
            </a:r>
            <a:r>
              <a:rPr lang="en-US" sz="2600" err="1" smtClean="0"/>
              <a:t>giãn</a:t>
            </a:r>
            <a:r>
              <a:rPr lang="en-US" sz="2600" smtClean="0"/>
              <a:t> </a:t>
            </a:r>
            <a:r>
              <a:rPr lang="en-US" sz="2600" err="1" smtClean="0"/>
              <a:t>ra</a:t>
            </a:r>
            <a:r>
              <a:rPr lang="en-US" sz="2600" smtClean="0"/>
              <a:t> </a:t>
            </a:r>
            <a:r>
              <a:rPr lang="en-US" sz="2600" err="1" smtClean="0"/>
              <a:t>và</a:t>
            </a:r>
            <a:r>
              <a:rPr lang="en-US" sz="2600" smtClean="0"/>
              <a:t> </a:t>
            </a:r>
            <a:r>
              <a:rPr lang="en-US" sz="2600" err="1" smtClean="0"/>
              <a:t>các</a:t>
            </a:r>
            <a:r>
              <a:rPr lang="en-US" sz="2600" smtClean="0"/>
              <a:t> </a:t>
            </a:r>
            <a:r>
              <a:rPr lang="en-US" sz="2600" err="1" smtClean="0"/>
              <a:t>chất</a:t>
            </a:r>
            <a:r>
              <a:rPr lang="en-US" sz="2600" smtClean="0"/>
              <a:t> </a:t>
            </a:r>
            <a:r>
              <a:rPr lang="en-US" sz="2600" err="1" smtClean="0"/>
              <a:t>trong</a:t>
            </a:r>
            <a:r>
              <a:rPr lang="en-US" sz="2600" smtClean="0"/>
              <a:t> </a:t>
            </a:r>
            <a:r>
              <a:rPr lang="en-US" sz="2600" err="1" smtClean="0"/>
              <a:t>thực</a:t>
            </a:r>
            <a:r>
              <a:rPr lang="en-US" sz="2600" smtClean="0"/>
              <a:t> </a:t>
            </a:r>
            <a:r>
              <a:rPr lang="en-US" sz="2600" err="1" smtClean="0"/>
              <a:t>quản</a:t>
            </a:r>
            <a:r>
              <a:rPr lang="en-US" sz="2600" smtClean="0"/>
              <a:t> quay </a:t>
            </a:r>
            <a:r>
              <a:rPr lang="en-US" sz="2600" err="1" smtClean="0"/>
              <a:t>lại</a:t>
            </a:r>
            <a:r>
              <a:rPr lang="en-US" sz="2600" smtClean="0"/>
              <a:t> </a:t>
            </a:r>
            <a:r>
              <a:rPr lang="en-US" sz="2600" err="1" smtClean="0"/>
              <a:t>đáy</a:t>
            </a:r>
            <a:r>
              <a:rPr lang="en-US" sz="2600" smtClean="0"/>
              <a:t> </a:t>
            </a:r>
            <a:r>
              <a:rPr lang="en-US" sz="2600" err="1" smtClean="0"/>
              <a:t>vị</a:t>
            </a:r>
            <a:r>
              <a:rPr lang="en-US" sz="2600" smtClean="0"/>
              <a:t>.</a:t>
            </a:r>
          </a:p>
          <a:p>
            <a:r>
              <a:rPr lang="en-US" sz="2600" err="1" smtClean="0"/>
              <a:t>Các</a:t>
            </a:r>
            <a:r>
              <a:rPr lang="en-US" sz="2600" smtClean="0"/>
              <a:t> </a:t>
            </a:r>
            <a:r>
              <a:rPr lang="en-US" sz="2600" err="1" smtClean="0"/>
              <a:t>vòng</a:t>
            </a:r>
            <a:r>
              <a:rPr lang="en-US" sz="2600" smtClean="0"/>
              <a:t> </a:t>
            </a:r>
            <a:r>
              <a:rPr lang="en-US" sz="2600" err="1" smtClean="0"/>
              <a:t>lặp</a:t>
            </a:r>
            <a:r>
              <a:rPr lang="en-US" sz="2600" smtClean="0"/>
              <a:t> </a:t>
            </a:r>
            <a:r>
              <a:rPr lang="en-US" sz="2600" err="1" smtClean="0"/>
              <a:t>nôn</a:t>
            </a:r>
            <a:r>
              <a:rPr lang="en-US" sz="2600" smtClean="0"/>
              <a:t> khan </a:t>
            </a:r>
            <a:r>
              <a:rPr lang="en-US" sz="2600" err="1" smtClean="0"/>
              <a:t>lại</a:t>
            </a:r>
            <a:r>
              <a:rPr lang="en-US" sz="2600" smtClean="0"/>
              <a:t> </a:t>
            </a:r>
            <a:r>
              <a:rPr lang="en-US" sz="2600" err="1" smtClean="0"/>
              <a:t>lặp</a:t>
            </a:r>
            <a:r>
              <a:rPr lang="en-US" sz="2600" smtClean="0"/>
              <a:t> </a:t>
            </a:r>
            <a:r>
              <a:rPr lang="en-US" sz="2600" err="1" smtClean="0"/>
              <a:t>lại</a:t>
            </a:r>
            <a:r>
              <a:rPr lang="en-US" sz="2600" smtClean="0"/>
              <a:t> </a:t>
            </a:r>
            <a:r>
              <a:rPr lang="en-US" sz="2600" err="1" smtClean="0"/>
              <a:t>nhiều</a:t>
            </a:r>
            <a:r>
              <a:rPr lang="en-US" sz="2600" smtClean="0"/>
              <a:t> </a:t>
            </a:r>
            <a:r>
              <a:rPr lang="en-US" sz="2600" err="1" smtClean="0"/>
              <a:t>hơn</a:t>
            </a:r>
            <a:endParaRPr lang="en-US" sz="2600" smtClean="0"/>
          </a:p>
          <a:p>
            <a:r>
              <a:rPr lang="en-US" sz="2600" err="1" smtClean="0"/>
              <a:t>Cơ</a:t>
            </a:r>
            <a:r>
              <a:rPr lang="en-US" sz="2600" smtClean="0"/>
              <a:t> </a:t>
            </a:r>
            <a:r>
              <a:rPr lang="en-US" sz="2600" err="1" smtClean="0"/>
              <a:t>thành</a:t>
            </a:r>
            <a:r>
              <a:rPr lang="en-US" sz="2600" smtClean="0"/>
              <a:t> </a:t>
            </a:r>
            <a:r>
              <a:rPr lang="en-US" sz="2600" err="1" smtClean="0"/>
              <a:t>bụng</a:t>
            </a:r>
            <a:r>
              <a:rPr lang="en-US" sz="2600" smtClean="0"/>
              <a:t> co </a:t>
            </a:r>
            <a:r>
              <a:rPr lang="en-US" sz="2600" err="1" smtClean="0"/>
              <a:t>bóp</a:t>
            </a:r>
            <a:r>
              <a:rPr lang="en-US" sz="2600" smtClean="0"/>
              <a:t> </a:t>
            </a:r>
            <a:r>
              <a:rPr lang="en-US" sz="2600" err="1" smtClean="0"/>
              <a:t>kèm</a:t>
            </a:r>
            <a:r>
              <a:rPr lang="en-US" sz="2600" smtClean="0"/>
              <a:t> </a:t>
            </a:r>
            <a:r>
              <a:rPr lang="en-US" sz="2600" err="1" smtClean="0"/>
              <a:t>theo</a:t>
            </a:r>
            <a:r>
              <a:rPr lang="en-US" sz="2600" smtClean="0"/>
              <a:t> </a:t>
            </a:r>
            <a:r>
              <a:rPr lang="en-US" sz="2600" err="1" smtClean="0"/>
              <a:t>sự</a:t>
            </a:r>
            <a:r>
              <a:rPr lang="en-US" sz="2600" smtClean="0"/>
              <a:t> </a:t>
            </a:r>
            <a:r>
              <a:rPr lang="en-US" sz="2600" err="1" smtClean="0"/>
              <a:t>nâng</a:t>
            </a:r>
            <a:r>
              <a:rPr lang="en-US" sz="2600" smtClean="0"/>
              <a:t> </a:t>
            </a:r>
            <a:r>
              <a:rPr lang="en-US" sz="2600" err="1" smtClean="0"/>
              <a:t>lên</a:t>
            </a:r>
            <a:r>
              <a:rPr lang="en-US" sz="2600" smtClean="0"/>
              <a:t> </a:t>
            </a:r>
            <a:r>
              <a:rPr lang="en-US" sz="2600" err="1" smtClean="0"/>
              <a:t>của</a:t>
            </a:r>
            <a:r>
              <a:rPr lang="en-US" sz="2600" smtClean="0"/>
              <a:t> </a:t>
            </a:r>
            <a:r>
              <a:rPr lang="en-US" sz="2600" err="1" smtClean="0"/>
              <a:t>cơ</a:t>
            </a:r>
            <a:r>
              <a:rPr lang="en-US" sz="2600" smtClean="0"/>
              <a:t> </a:t>
            </a:r>
            <a:r>
              <a:rPr lang="en-US" sz="2600" err="1" smtClean="0"/>
              <a:t>hoành</a:t>
            </a:r>
            <a:r>
              <a:rPr lang="en-US" sz="2600" smtClean="0"/>
              <a:t> </a:t>
            </a:r>
            <a:r>
              <a:rPr lang="en-US" sz="2600" err="1" smtClean="0"/>
              <a:t>gây</a:t>
            </a:r>
            <a:r>
              <a:rPr lang="en-US" sz="2600" smtClean="0"/>
              <a:t> ta </a:t>
            </a:r>
            <a:r>
              <a:rPr lang="en-US" sz="2600" err="1" smtClean="0"/>
              <a:t>lực</a:t>
            </a:r>
            <a:r>
              <a:rPr lang="en-US" sz="2600" smtClean="0"/>
              <a:t> </a:t>
            </a:r>
            <a:r>
              <a:rPr lang="en-US" sz="2600" err="1" smtClean="0"/>
              <a:t>tống</a:t>
            </a:r>
            <a:r>
              <a:rPr lang="en-US" sz="2600" smtClean="0"/>
              <a:t> </a:t>
            </a:r>
            <a:r>
              <a:rPr lang="en-US" sz="2600" err="1" smtClean="0"/>
              <a:t>xuất</a:t>
            </a:r>
            <a:r>
              <a:rPr lang="en-US" sz="2600" smtClean="0"/>
              <a:t> </a:t>
            </a:r>
            <a:r>
              <a:rPr lang="en-US" sz="2600" err="1" smtClean="0"/>
              <a:t>các</a:t>
            </a:r>
            <a:r>
              <a:rPr lang="en-US" sz="2600" smtClean="0"/>
              <a:t> </a:t>
            </a:r>
            <a:r>
              <a:rPr lang="en-US" sz="2600" err="1" smtClean="0"/>
              <a:t>chất</a:t>
            </a:r>
            <a:r>
              <a:rPr lang="en-US" sz="2600" smtClean="0"/>
              <a:t> </a:t>
            </a:r>
            <a:r>
              <a:rPr lang="en-US" sz="2600" err="1" smtClean="0"/>
              <a:t>trong</a:t>
            </a:r>
            <a:r>
              <a:rPr lang="en-US" sz="2600" smtClean="0"/>
              <a:t> </a:t>
            </a:r>
            <a:r>
              <a:rPr lang="en-US" sz="2600" err="1" smtClean="0"/>
              <a:t>dạ</a:t>
            </a:r>
            <a:r>
              <a:rPr lang="en-US" sz="2600" smtClean="0"/>
              <a:t> </a:t>
            </a:r>
            <a:r>
              <a:rPr lang="en-US" sz="2600" err="1" smtClean="0"/>
              <a:t>dày</a:t>
            </a:r>
            <a:r>
              <a:rPr lang="en-US" sz="2600" smtClean="0"/>
              <a:t> </a:t>
            </a:r>
            <a:r>
              <a:rPr lang="en-US" sz="2600" err="1" smtClean="0"/>
              <a:t>ra</a:t>
            </a:r>
            <a:r>
              <a:rPr lang="en-US" sz="2600" smtClean="0"/>
              <a:t> </a:t>
            </a:r>
            <a:r>
              <a:rPr lang="en-US" sz="2600" err="1" smtClean="0"/>
              <a:t>khỏi</a:t>
            </a:r>
            <a:r>
              <a:rPr lang="en-US" sz="2600" smtClean="0"/>
              <a:t> </a:t>
            </a:r>
            <a:r>
              <a:rPr lang="en-US" sz="2600" err="1" smtClean="0"/>
              <a:t>miệng</a:t>
            </a:r>
            <a:r>
              <a:rPr lang="en-US" sz="2600" smtClean="0"/>
              <a:t> </a:t>
            </a:r>
            <a:r>
              <a:rPr lang="en-US" sz="2600" err="1" smtClean="0"/>
              <a:t>gây</a:t>
            </a:r>
            <a:r>
              <a:rPr lang="en-US" sz="2600" smtClean="0"/>
              <a:t> </a:t>
            </a:r>
            <a:r>
              <a:rPr lang="en-US" sz="2600" err="1" smtClean="0"/>
              <a:t>ra</a:t>
            </a:r>
            <a:r>
              <a:rPr lang="en-US" sz="2600" smtClean="0"/>
              <a:t> </a:t>
            </a:r>
            <a:r>
              <a:rPr lang="en-US" sz="2600" err="1" smtClean="0"/>
              <a:t>nôn</a:t>
            </a:r>
            <a:r>
              <a:rPr lang="en-US" sz="2600" smtClean="0"/>
              <a:t> </a:t>
            </a:r>
            <a:r>
              <a:rPr lang="en-US" sz="2600" err="1" smtClean="0"/>
              <a:t>thực</a:t>
            </a:r>
            <a:r>
              <a:rPr lang="en-US" sz="2600" smtClean="0"/>
              <a:t> </a:t>
            </a:r>
            <a:r>
              <a:rPr lang="en-US" sz="2600" err="1" smtClean="0"/>
              <a:t>sự</a:t>
            </a:r>
            <a:endParaRPr lang="vi-VN" sz="2600"/>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0"/>
            <a:ext cx="6096000" cy="6858000"/>
          </a:xfrm>
          <a:prstGeom prst="rect">
            <a:avLst/>
          </a:prstGeom>
        </p:spPr>
      </p:pic>
    </p:spTree>
    <p:extLst>
      <p:ext uri="{BB962C8B-B14F-4D97-AF65-F5344CB8AC3E}">
        <p14:creationId xmlns:p14="http://schemas.microsoft.com/office/powerpoint/2010/main" val="1662292673"/>
      </p:ext>
    </p:extLst>
  </p:cSld>
  <p:clrMapOvr>
    <a:masterClrMapping/>
  </p:clrMapOvr>
  <p:transition spd="slow">
    <p:push dir="u"/>
    <p:sndAc>
      <p:stSnd>
        <p:snd r:embed="rId3" name="camera.wav"/>
      </p:stSnd>
    </p:sndAc>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435" y="247650"/>
            <a:ext cx="8390965" cy="1143000"/>
          </a:xfrm>
        </p:spPr>
        <p:txBody>
          <a:bodyPr/>
          <a:lstStyle/>
          <a:p>
            <a:r>
              <a:rPr lang="en-US" err="1" smtClean="0"/>
              <a:t>Nguyên</a:t>
            </a:r>
            <a:r>
              <a:rPr lang="en-US" smtClean="0"/>
              <a:t> </a:t>
            </a:r>
            <a:r>
              <a:rPr lang="en-US" err="1" smtClean="0"/>
              <a:t>nhân</a:t>
            </a:r>
            <a:r>
              <a:rPr lang="en-US" smtClean="0"/>
              <a:t> </a:t>
            </a:r>
            <a:r>
              <a:rPr lang="en-US" err="1" smtClean="0"/>
              <a:t>nôn</a:t>
            </a:r>
            <a:endParaRPr lang="vi-VN"/>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67015899"/>
              </p:ext>
            </p:extLst>
          </p:nvPr>
        </p:nvGraphicFramePr>
        <p:xfrm>
          <a:off x="0" y="1201271"/>
          <a:ext cx="12192000" cy="56567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20242715"/>
      </p:ext>
    </p:extLst>
  </p:cSld>
  <p:clrMapOvr>
    <a:masterClrMapping/>
  </p:clrMapOvr>
  <mc:AlternateContent xmlns:mc="http://schemas.openxmlformats.org/markup-compatibility/2006" xmlns:p14="http://schemas.microsoft.com/office/powerpoint/2010/main">
    <mc:Choice Requires="p14">
      <p:transition spd="slow" p14:dur="2000">
        <p:sndAc>
          <p:stSnd>
            <p:snd r:embed="rId2" name="camera.wav"/>
          </p:stSnd>
        </p:sndAc>
      </p:transition>
    </mc:Choice>
    <mc:Fallback xmlns="">
      <p:transition spd="slow">
        <p:sndAc>
          <p:stSnd>
            <p:snd r:embed="rId8" name="camera.wav"/>
          </p:stSnd>
        </p:sndAc>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smtClean="0"/>
              <a:t>Nguyên</a:t>
            </a:r>
            <a:r>
              <a:rPr lang="en-US" smtClean="0"/>
              <a:t> </a:t>
            </a:r>
            <a:r>
              <a:rPr lang="en-US" err="1" smtClean="0"/>
              <a:t>nhân</a:t>
            </a:r>
            <a:r>
              <a:rPr lang="en-US" smtClean="0"/>
              <a:t> </a:t>
            </a:r>
            <a:r>
              <a:rPr lang="en-US" err="1" smtClean="0"/>
              <a:t>ngoại</a:t>
            </a:r>
            <a:r>
              <a:rPr lang="en-US" smtClean="0"/>
              <a:t> </a:t>
            </a:r>
            <a:r>
              <a:rPr lang="en-US" err="1" smtClean="0"/>
              <a:t>khoa</a:t>
            </a:r>
            <a:endParaRPr lang="vi-VN"/>
          </a:p>
        </p:txBody>
      </p:sp>
      <p:sp>
        <p:nvSpPr>
          <p:cNvPr id="3" name="Content Placeholder 2"/>
          <p:cNvSpPr>
            <a:spLocks noGrp="1"/>
          </p:cNvSpPr>
          <p:nvPr>
            <p:ph idx="1"/>
          </p:nvPr>
        </p:nvSpPr>
        <p:spPr>
          <a:xfrm>
            <a:off x="0" y="1390651"/>
            <a:ext cx="12192000" cy="5467350"/>
          </a:xfrm>
        </p:spPr>
        <p:txBody>
          <a:bodyPr/>
          <a:lstStyle/>
          <a:p>
            <a:r>
              <a:rPr lang="vi-VN" sz="2800"/>
              <a:t>Dị tật thực quản bẩm sinh: TQ hẹp, ngắn, giãn to</a:t>
            </a:r>
          </a:p>
          <a:p>
            <a:r>
              <a:rPr lang="vi-VN" sz="2800" smtClean="0"/>
              <a:t> </a:t>
            </a:r>
            <a:r>
              <a:rPr lang="vi-VN" sz="2800"/>
              <a:t>Hẹp phì đại môn vị</a:t>
            </a:r>
          </a:p>
          <a:p>
            <a:r>
              <a:rPr lang="vi-VN" sz="2800" smtClean="0"/>
              <a:t>Lồng </a:t>
            </a:r>
            <a:r>
              <a:rPr lang="vi-VN" sz="2800"/>
              <a:t>ruột cấp</a:t>
            </a:r>
          </a:p>
          <a:p>
            <a:r>
              <a:rPr lang="vi-VN" sz="2800" smtClean="0"/>
              <a:t>Thoát </a:t>
            </a:r>
            <a:r>
              <a:rPr lang="vi-VN" sz="2800"/>
              <a:t>vị bẹn nghẹt</a:t>
            </a:r>
          </a:p>
          <a:p>
            <a:r>
              <a:rPr lang="vi-VN" sz="2800" smtClean="0"/>
              <a:t> </a:t>
            </a:r>
            <a:r>
              <a:rPr lang="vi-VN" sz="2800"/>
              <a:t>Xoắn ruột, tắc ruột, bán tắc ruột</a:t>
            </a:r>
          </a:p>
          <a:p>
            <a:r>
              <a:rPr lang="vi-VN" sz="2800" smtClean="0"/>
              <a:t> </a:t>
            </a:r>
            <a:r>
              <a:rPr lang="vi-VN" sz="2800"/>
              <a:t>Tắc tá tràng, hẹp tá tràng do tụy nhẫn, màng ngăn</a:t>
            </a:r>
          </a:p>
          <a:p>
            <a:r>
              <a:rPr lang="vi-VN" sz="2800" smtClean="0"/>
              <a:t> </a:t>
            </a:r>
            <a:r>
              <a:rPr lang="vi-VN" sz="2800"/>
              <a:t>Nôn do các cấp cứu ngoại khoa: VRT, VFM, tắc </a:t>
            </a:r>
            <a:r>
              <a:rPr lang="vi-VN" sz="2800" smtClean="0"/>
              <a:t>ruột do </a:t>
            </a:r>
            <a:r>
              <a:rPr lang="vi-VN" sz="2800"/>
              <a:t>giun, bã thức ăn</a:t>
            </a:r>
          </a:p>
          <a:p>
            <a:r>
              <a:rPr lang="vi-VN" sz="2800" smtClean="0"/>
              <a:t> </a:t>
            </a:r>
            <a:r>
              <a:rPr lang="vi-VN" sz="2800"/>
              <a:t>Thoát vị cơ hoành</a:t>
            </a:r>
          </a:p>
          <a:p>
            <a:r>
              <a:rPr lang="vi-VN" sz="2800" smtClean="0"/>
              <a:t> </a:t>
            </a:r>
            <a:r>
              <a:rPr lang="vi-VN" sz="2800"/>
              <a:t>Phình đại tràng bẩm sinh</a:t>
            </a:r>
          </a:p>
        </p:txBody>
      </p:sp>
    </p:spTree>
    <p:extLst>
      <p:ext uri="{BB962C8B-B14F-4D97-AF65-F5344CB8AC3E}">
        <p14:creationId xmlns:p14="http://schemas.microsoft.com/office/powerpoint/2010/main" val="3100788440"/>
      </p:ext>
    </p:extLst>
  </p:cSld>
  <p:clrMapOvr>
    <a:masterClrMapping/>
  </p:clrMapOvr>
  <p:transition spd="slow">
    <p:push dir="u"/>
    <p:sndAc>
      <p:stSnd>
        <p:snd r:embed="rId2" name="camera.wav"/>
      </p:stSnd>
    </p:sndAc>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smtClean="0"/>
              <a:t>Nguyên</a:t>
            </a:r>
            <a:r>
              <a:rPr lang="en-US" smtClean="0"/>
              <a:t> </a:t>
            </a:r>
            <a:r>
              <a:rPr lang="en-US" err="1" smtClean="0"/>
              <a:t>nhân</a:t>
            </a:r>
            <a:r>
              <a:rPr lang="en-US" smtClean="0"/>
              <a:t> </a:t>
            </a:r>
            <a:r>
              <a:rPr lang="en-US" err="1" smtClean="0"/>
              <a:t>nội</a:t>
            </a:r>
            <a:r>
              <a:rPr lang="en-US" smtClean="0"/>
              <a:t> </a:t>
            </a:r>
            <a:r>
              <a:rPr lang="en-US" err="1" smtClean="0"/>
              <a:t>khoa</a:t>
            </a:r>
            <a:endParaRPr lang="vi-VN"/>
          </a:p>
        </p:txBody>
      </p:sp>
      <p:sp>
        <p:nvSpPr>
          <p:cNvPr id="3" name="Content Placeholder 2"/>
          <p:cNvSpPr>
            <a:spLocks noGrp="1"/>
          </p:cNvSpPr>
          <p:nvPr>
            <p:ph idx="1"/>
          </p:nvPr>
        </p:nvSpPr>
        <p:spPr/>
        <p:txBody>
          <a:bodyPr/>
          <a:lstStyle/>
          <a:p>
            <a:r>
              <a:rPr lang="vi-VN"/>
              <a:t>Sai lầm ăn uống</a:t>
            </a:r>
          </a:p>
          <a:p>
            <a:r>
              <a:rPr lang="vi-VN" smtClean="0"/>
              <a:t> </a:t>
            </a:r>
            <a:r>
              <a:rPr lang="vi-VN"/>
              <a:t>Nhiễm khuẩn đường tiêu hóa: Rotavirus, tụ cầu</a:t>
            </a:r>
          </a:p>
          <a:p>
            <a:r>
              <a:rPr lang="vi-VN" smtClean="0"/>
              <a:t> </a:t>
            </a:r>
            <a:r>
              <a:rPr lang="vi-VN"/>
              <a:t>Luồng trào ngược dạ dày thực quản</a:t>
            </a:r>
          </a:p>
          <a:p>
            <a:r>
              <a:rPr lang="vi-VN" smtClean="0"/>
              <a:t> </a:t>
            </a:r>
            <a:r>
              <a:rPr lang="vi-VN"/>
              <a:t>Viêm loét dạ dày tá tràng</a:t>
            </a:r>
          </a:p>
          <a:p>
            <a:r>
              <a:rPr lang="vi-VN" smtClean="0"/>
              <a:t> </a:t>
            </a:r>
            <a:r>
              <a:rPr lang="vi-VN"/>
              <a:t>Không dung nạp thức ăn: dị ứng protein sữa </a:t>
            </a:r>
            <a:r>
              <a:rPr lang="vi-VN" smtClean="0"/>
              <a:t>bò,trứng</a:t>
            </a:r>
            <a:r>
              <a:rPr lang="vi-VN"/>
              <a:t>, Celiac</a:t>
            </a:r>
          </a:p>
          <a:p>
            <a:r>
              <a:rPr lang="vi-VN" smtClean="0"/>
              <a:t> </a:t>
            </a:r>
            <a:r>
              <a:rPr lang="vi-VN"/>
              <a:t>Táo bón</a:t>
            </a:r>
          </a:p>
        </p:txBody>
      </p:sp>
    </p:spTree>
    <p:extLst>
      <p:ext uri="{BB962C8B-B14F-4D97-AF65-F5344CB8AC3E}">
        <p14:creationId xmlns:p14="http://schemas.microsoft.com/office/powerpoint/2010/main" val="46572643"/>
      </p:ext>
    </p:extLst>
  </p:cSld>
  <p:clrMapOvr>
    <a:masterClrMapping/>
  </p:clrMapOvr>
  <p:transition spd="slow">
    <p:push dir="u"/>
    <p:sndAc>
      <p:stSnd>
        <p:snd r:embed="rId2" name="camera.wav"/>
      </p:stSnd>
    </p:sndAc>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smtClean="0"/>
              <a:t>Nguyên</a:t>
            </a:r>
            <a:r>
              <a:rPr lang="en-US" smtClean="0"/>
              <a:t> </a:t>
            </a:r>
            <a:r>
              <a:rPr lang="en-US" err="1" smtClean="0"/>
              <a:t>nhân</a:t>
            </a:r>
            <a:r>
              <a:rPr lang="en-US" smtClean="0"/>
              <a:t> </a:t>
            </a:r>
            <a:r>
              <a:rPr lang="en-US" err="1" smtClean="0"/>
              <a:t>nội</a:t>
            </a:r>
            <a:r>
              <a:rPr lang="en-US" smtClean="0"/>
              <a:t> </a:t>
            </a:r>
            <a:r>
              <a:rPr lang="en-US" err="1" smtClean="0"/>
              <a:t>khoa</a:t>
            </a:r>
            <a:r>
              <a:rPr lang="en-US" smtClean="0"/>
              <a:t> </a:t>
            </a:r>
            <a:endParaRPr lang="vi-VN"/>
          </a:p>
        </p:txBody>
      </p:sp>
      <p:sp>
        <p:nvSpPr>
          <p:cNvPr id="3" name="Content Placeholder 2"/>
          <p:cNvSpPr>
            <a:spLocks noGrp="1"/>
          </p:cNvSpPr>
          <p:nvPr>
            <p:ph idx="1"/>
          </p:nvPr>
        </p:nvSpPr>
        <p:spPr>
          <a:xfrm>
            <a:off x="0" y="1230284"/>
            <a:ext cx="12192000" cy="5627716"/>
          </a:xfrm>
        </p:spPr>
        <p:txBody>
          <a:bodyPr/>
          <a:lstStyle/>
          <a:p>
            <a:r>
              <a:rPr lang="vi-VN" sz="2800"/>
              <a:t>Nôn trong các bệnh nhiễm khuẩn cấp tính</a:t>
            </a:r>
          </a:p>
          <a:p>
            <a:r>
              <a:rPr lang="vi-VN" sz="2800" smtClean="0"/>
              <a:t> </a:t>
            </a:r>
            <a:r>
              <a:rPr lang="vi-VN" sz="2800"/>
              <a:t>Nôn trong bệnh lý thần kinh: u não, CTSN, </a:t>
            </a:r>
            <a:r>
              <a:rPr lang="vi-VN" sz="2800" smtClean="0"/>
              <a:t>xuất huyết </a:t>
            </a:r>
            <a:r>
              <a:rPr lang="vi-VN" sz="2800"/>
              <a:t>não – MN, viêm màng não</a:t>
            </a:r>
          </a:p>
          <a:p>
            <a:r>
              <a:rPr lang="vi-VN" sz="2800" smtClean="0"/>
              <a:t> </a:t>
            </a:r>
            <a:r>
              <a:rPr lang="vi-VN" sz="2800"/>
              <a:t>Nôn trong bệnh lý nội tiết chuyển hóa:</a:t>
            </a:r>
          </a:p>
          <a:p>
            <a:pPr lvl="1">
              <a:buFont typeface="Wingdings" panose="05000000000000000000" pitchFamily="2" charset="2"/>
              <a:buChar char="Ø"/>
            </a:pPr>
            <a:r>
              <a:rPr lang="vi-VN" sz="2400" i="1" smtClean="0"/>
              <a:t>         </a:t>
            </a:r>
            <a:r>
              <a:rPr lang="vi-VN" sz="2400" i="1"/>
              <a:t>Nôn chu kỳ</a:t>
            </a:r>
          </a:p>
          <a:p>
            <a:pPr lvl="1">
              <a:buFont typeface="Wingdings" panose="05000000000000000000" pitchFamily="2" charset="2"/>
              <a:buChar char="Ø"/>
            </a:pPr>
            <a:r>
              <a:rPr lang="vi-VN" sz="2400" i="1" smtClean="0"/>
              <a:t>        Tăng </a:t>
            </a:r>
            <a:r>
              <a:rPr lang="vi-VN" sz="2400" i="1"/>
              <a:t>aceton, amoniac, </a:t>
            </a:r>
            <a:r>
              <a:rPr lang="vi-VN" sz="2400" i="1" smtClean="0"/>
              <a:t>canxi </a:t>
            </a:r>
            <a:r>
              <a:rPr lang="vi-VN" sz="2400" i="1"/>
              <a:t>máu</a:t>
            </a:r>
          </a:p>
          <a:p>
            <a:pPr lvl="1">
              <a:buFont typeface="Wingdings" panose="05000000000000000000" pitchFamily="2" charset="2"/>
              <a:buChar char="Ø"/>
            </a:pPr>
            <a:r>
              <a:rPr lang="vi-VN" sz="2400" i="1" smtClean="0"/>
              <a:t>         Suy </a:t>
            </a:r>
            <a:r>
              <a:rPr lang="vi-VN" sz="2400" i="1"/>
              <a:t>thận</a:t>
            </a:r>
          </a:p>
          <a:p>
            <a:pPr lvl="1">
              <a:buFont typeface="Wingdings" panose="05000000000000000000" pitchFamily="2" charset="2"/>
              <a:buChar char="Ø"/>
            </a:pPr>
            <a:r>
              <a:rPr lang="vi-VN" sz="2400" i="1" smtClean="0"/>
              <a:t>         Rối </a:t>
            </a:r>
            <a:r>
              <a:rPr lang="vi-VN" sz="2400" i="1"/>
              <a:t>loạn chuyển hóa acid amin, tyrosin, đường</a:t>
            </a:r>
          </a:p>
          <a:p>
            <a:pPr lvl="1">
              <a:buFont typeface="Wingdings" panose="05000000000000000000" pitchFamily="2" charset="2"/>
              <a:buChar char="Ø"/>
            </a:pPr>
            <a:r>
              <a:rPr lang="vi-VN" sz="2400" i="1" smtClean="0"/>
              <a:t>          Hội </a:t>
            </a:r>
            <a:r>
              <a:rPr lang="vi-VN" sz="2400" i="1"/>
              <a:t>chứng sinh dục thượng thận</a:t>
            </a:r>
          </a:p>
          <a:p>
            <a:r>
              <a:rPr lang="vi-VN" sz="2800" smtClean="0"/>
              <a:t>Nôn </a:t>
            </a:r>
            <a:r>
              <a:rPr lang="vi-VN" sz="2800"/>
              <a:t>do ngộ độc: vitamin A, chì, acid salicylic</a:t>
            </a:r>
          </a:p>
          <a:p>
            <a:r>
              <a:rPr lang="vi-VN" sz="2800" smtClean="0"/>
              <a:t> </a:t>
            </a:r>
            <a:r>
              <a:rPr lang="vi-VN" sz="2800"/>
              <a:t>Nôn do nguyên nhân tâm thần</a:t>
            </a:r>
          </a:p>
        </p:txBody>
      </p:sp>
    </p:spTree>
    <p:extLst>
      <p:ext uri="{BB962C8B-B14F-4D97-AF65-F5344CB8AC3E}">
        <p14:creationId xmlns:p14="http://schemas.microsoft.com/office/powerpoint/2010/main" val="2444288199"/>
      </p:ext>
    </p:extLst>
  </p:cSld>
  <p:clrMapOvr>
    <a:masterClrMapping/>
  </p:clrMapOvr>
  <p:transition spd="slow">
    <p:push dir="u"/>
    <p:sndAc>
      <p:stSnd>
        <p:snd r:embed="rId2" name="camera.wav"/>
      </p:stSnd>
    </p:sndAc>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Tiếp cận nôn tại phòng khám</a:t>
            </a:r>
            <a:endParaRPr lang="vi-VN"/>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4267650354"/>
              </p:ext>
            </p:extLst>
          </p:nvPr>
        </p:nvGraphicFramePr>
        <p:xfrm>
          <a:off x="609599" y="1582616"/>
          <a:ext cx="11013831" cy="48357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51479942"/>
      </p:ext>
    </p:extLst>
  </p:cSld>
  <p:clrMapOvr>
    <a:masterClrMapping/>
  </p:clrMapOvr>
  <mc:AlternateContent xmlns:mc="http://schemas.openxmlformats.org/markup-compatibility/2006" xmlns:p14="http://schemas.microsoft.com/office/powerpoint/2010/main">
    <mc:Choice Requires="p14">
      <p:transition spd="slow" p14:dur="2000">
        <p:sndAc>
          <p:stSnd>
            <p:snd r:embed="rId2" name="camera.wav"/>
          </p:stSnd>
        </p:sndAc>
      </p:transition>
    </mc:Choice>
    <mc:Fallback xmlns="">
      <p:transition spd="slow">
        <p:sndAc>
          <p:stSnd>
            <p:snd r:embed="rId8" name="camera.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247650"/>
            <a:ext cx="10403457" cy="1143000"/>
          </a:xfrm>
        </p:spPr>
        <p:txBody>
          <a:bodyPr/>
          <a:lstStyle/>
          <a:p>
            <a:r>
              <a:rPr lang="en-US" smtClean="0"/>
              <a:t>Tip for approach vomiting in children</a:t>
            </a:r>
            <a:endParaRPr lang="vi-VN"/>
          </a:p>
        </p:txBody>
      </p:sp>
      <p:sp>
        <p:nvSpPr>
          <p:cNvPr id="3" name="Content Placeholder 2"/>
          <p:cNvSpPr>
            <a:spLocks noGrp="1"/>
          </p:cNvSpPr>
          <p:nvPr>
            <p:ph idx="1"/>
          </p:nvPr>
        </p:nvSpPr>
        <p:spPr>
          <a:xfrm>
            <a:off x="0" y="1230284"/>
            <a:ext cx="12192000" cy="5627715"/>
          </a:xfrm>
        </p:spPr>
        <p:txBody>
          <a:bodyPr/>
          <a:lstStyle/>
          <a:p>
            <a:pPr marL="889000"/>
            <a:endParaRPr lang="en-US" altLang="vi-VN" dirty="0" smtClean="0">
              <a:solidFill>
                <a:srgbClr val="808080"/>
              </a:solidFill>
            </a:endParaRPr>
          </a:p>
          <a:p>
            <a:pPr marL="889000"/>
            <a:r>
              <a:rPr lang="en-US" altLang="vi-VN" dirty="0" smtClean="0">
                <a:solidFill>
                  <a:srgbClr val="808080"/>
                </a:solidFill>
              </a:rPr>
              <a:t>A </a:t>
            </a:r>
            <a:r>
              <a:rPr lang="en-US" altLang="vi-VN" dirty="0">
                <a:solidFill>
                  <a:srgbClr val="808080"/>
                </a:solidFill>
              </a:rPr>
              <a:t>detailed history and astute clinical acumen are necessary to narrow down the diagnostic possibilities. </a:t>
            </a:r>
          </a:p>
          <a:p>
            <a:pPr marL="889000"/>
            <a:endParaRPr lang="en-US" altLang="vi-VN" dirty="0">
              <a:solidFill>
                <a:srgbClr val="808080"/>
              </a:solidFill>
            </a:endParaRPr>
          </a:p>
          <a:p>
            <a:pPr marL="889000"/>
            <a:r>
              <a:rPr lang="en-US" altLang="vi-VN" dirty="0">
                <a:solidFill>
                  <a:srgbClr val="808080"/>
                </a:solidFill>
              </a:rPr>
              <a:t>The appropriate urgency depends on</a:t>
            </a:r>
            <a:r>
              <a:rPr lang="en-US" altLang="vi-VN" b="1" i="1" dirty="0">
                <a:solidFill>
                  <a:srgbClr val="808080"/>
                </a:solidFill>
              </a:rPr>
              <a:t> duration of illness, overall clinical status of the patient </a:t>
            </a:r>
            <a:r>
              <a:rPr lang="en-US" altLang="vi-VN" dirty="0">
                <a:solidFill>
                  <a:srgbClr val="808080"/>
                </a:solidFill>
              </a:rPr>
              <a:t>(especially hydration, circulatory, and neurologic status) </a:t>
            </a:r>
            <a:r>
              <a:rPr lang="en-US" altLang="vi-VN" b="1" i="1" dirty="0">
                <a:solidFill>
                  <a:srgbClr val="808080"/>
                </a:solidFill>
              </a:rPr>
              <a:t>and associated findings on the physical examination and history.</a:t>
            </a:r>
            <a:endParaRPr lang="en-US" altLang="vi-VN" b="1" i="1" dirty="0">
              <a:solidFill>
                <a:srgbClr val="808080"/>
              </a:solidFill>
              <a:ea typeface="ヒラギノ明朝 ProN W6" pitchFamily="-109" charset="-128"/>
            </a:endParaRPr>
          </a:p>
        </p:txBody>
      </p:sp>
    </p:spTree>
    <p:extLst>
      <p:ext uri="{BB962C8B-B14F-4D97-AF65-F5344CB8AC3E}">
        <p14:creationId xmlns:p14="http://schemas.microsoft.com/office/powerpoint/2010/main" val="2925761700"/>
      </p:ext>
    </p:extLst>
  </p:cSld>
  <p:clrMapOvr>
    <a:masterClrMapping/>
  </p:clrMapOvr>
  <p:transition spd="slow">
    <p:push dir="u"/>
    <p:sndAc>
      <p:stSnd>
        <p:snd r:embed="rId2" name="camera.wav"/>
      </p:stSnd>
    </p:sndAc>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vi-VN"/>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545671396"/>
      </p:ext>
    </p:extLst>
  </p:cSld>
  <p:clrMapOvr>
    <a:masterClrMapping/>
  </p:clrMapOvr>
  <p:transition spd="slow">
    <p:push dir="u"/>
    <p:sndAc>
      <p:stSnd>
        <p:snd r:embed="rId2" name="camera.wav"/>
      </p:stSnd>
    </p:sndAc>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vi-VN"/>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 y="0"/>
            <a:ext cx="12192000" cy="6858000"/>
          </a:xfrm>
        </p:spPr>
      </p:pic>
    </p:spTree>
    <p:extLst>
      <p:ext uri="{BB962C8B-B14F-4D97-AF65-F5344CB8AC3E}">
        <p14:creationId xmlns:p14="http://schemas.microsoft.com/office/powerpoint/2010/main" val="2928387562"/>
      </p:ext>
    </p:extLst>
  </p:cSld>
  <p:clrMapOvr>
    <a:masterClrMapping/>
  </p:clrMapOvr>
  <p:transition spd="slow">
    <p:push dir="u"/>
    <p:sndAc>
      <p:stSnd>
        <p:snd r:embed="rId2" name="camera.wav"/>
      </p:stSnd>
    </p:sndAc>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vi-VN"/>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307032577"/>
      </p:ext>
    </p:extLst>
  </p:cSld>
  <p:clrMapOvr>
    <a:masterClrMapping/>
  </p:clrMapOvr>
  <p:transition spd="slow">
    <p:push dir="u"/>
    <p:sndAc>
      <p:stSnd>
        <p:snd r:embed="rId2" name="camera.wav"/>
      </p:stSnd>
    </p:sndAc>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smtClean="0"/>
              <a:t>Các</a:t>
            </a:r>
            <a:r>
              <a:rPr lang="en-US" smtClean="0"/>
              <a:t> </a:t>
            </a:r>
            <a:r>
              <a:rPr lang="en-US" err="1" smtClean="0"/>
              <a:t>dấu</a:t>
            </a:r>
            <a:r>
              <a:rPr lang="en-US" smtClean="0"/>
              <a:t> </a:t>
            </a:r>
            <a:r>
              <a:rPr lang="en-US" err="1" smtClean="0"/>
              <a:t>hiệu</a:t>
            </a:r>
            <a:r>
              <a:rPr lang="en-US" smtClean="0"/>
              <a:t> </a:t>
            </a:r>
            <a:r>
              <a:rPr lang="en-US" err="1" smtClean="0"/>
              <a:t>cờ</a:t>
            </a:r>
            <a:r>
              <a:rPr lang="en-US" smtClean="0"/>
              <a:t> </a:t>
            </a:r>
            <a:r>
              <a:rPr lang="en-US" err="1" smtClean="0"/>
              <a:t>đỏ</a:t>
            </a:r>
            <a:endParaRPr lang="vi-VN"/>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095956983"/>
              </p:ext>
            </p:extLst>
          </p:nvPr>
        </p:nvGraphicFramePr>
        <p:xfrm>
          <a:off x="-16625" y="1196975"/>
          <a:ext cx="12208625" cy="6198226"/>
        </p:xfrm>
        <a:graphic>
          <a:graphicData uri="http://schemas.openxmlformats.org/drawingml/2006/table">
            <a:tbl>
              <a:tblPr firstRow="1" bandRow="1">
                <a:tableStyleId>{5C22544A-7EE6-4342-B048-85BDC9FD1C3A}</a:tableStyleId>
              </a:tblPr>
              <a:tblGrid>
                <a:gridCol w="3391592"/>
                <a:gridCol w="3474720"/>
                <a:gridCol w="5342313"/>
              </a:tblGrid>
              <a:tr h="1261119">
                <a:tc>
                  <a:txBody>
                    <a:bodyPr/>
                    <a:lstStyle/>
                    <a:p>
                      <a:r>
                        <a:rPr lang="en-US" sz="2800" err="1" smtClean="0"/>
                        <a:t>Các</a:t>
                      </a:r>
                      <a:r>
                        <a:rPr lang="en-US" sz="2800" baseline="0" smtClean="0"/>
                        <a:t> </a:t>
                      </a:r>
                      <a:r>
                        <a:rPr lang="en-US" sz="2800" baseline="0" err="1" smtClean="0"/>
                        <a:t>triệu</a:t>
                      </a:r>
                      <a:r>
                        <a:rPr lang="en-US" sz="2800" baseline="0" smtClean="0"/>
                        <a:t> </a:t>
                      </a:r>
                      <a:r>
                        <a:rPr lang="en-US" sz="2800" baseline="0" err="1" smtClean="0"/>
                        <a:t>chứng</a:t>
                      </a:r>
                      <a:r>
                        <a:rPr lang="en-US" sz="2800" baseline="0" smtClean="0"/>
                        <a:t> </a:t>
                      </a:r>
                      <a:r>
                        <a:rPr lang="en-US" sz="2800" baseline="0" err="1" smtClean="0"/>
                        <a:t>không</a:t>
                      </a:r>
                      <a:r>
                        <a:rPr lang="en-US" sz="2800" baseline="0" smtClean="0"/>
                        <a:t> </a:t>
                      </a:r>
                      <a:r>
                        <a:rPr lang="en-US" sz="2800" baseline="0" err="1" smtClean="0"/>
                        <a:t>đặc</a:t>
                      </a:r>
                      <a:r>
                        <a:rPr lang="en-US" sz="2800" baseline="0" smtClean="0"/>
                        <a:t> </a:t>
                      </a:r>
                      <a:r>
                        <a:rPr lang="en-US" sz="2800" baseline="0" err="1" smtClean="0"/>
                        <a:t>hiệu</a:t>
                      </a:r>
                      <a:endParaRPr lang="vi-VN" sz="2800"/>
                    </a:p>
                  </a:txBody>
                  <a:tcPr>
                    <a:solidFill>
                      <a:srgbClr val="FF0000"/>
                    </a:solidFill>
                  </a:tcPr>
                </a:tc>
                <a:tc>
                  <a:txBody>
                    <a:bodyPr/>
                    <a:lstStyle/>
                    <a:p>
                      <a:r>
                        <a:rPr lang="en-US" sz="2800" err="1" smtClean="0"/>
                        <a:t>Các</a:t>
                      </a:r>
                      <a:r>
                        <a:rPr lang="en-US" sz="2800" baseline="0" smtClean="0"/>
                        <a:t> </a:t>
                      </a:r>
                      <a:r>
                        <a:rPr lang="en-US" sz="2800" baseline="0" err="1" smtClean="0"/>
                        <a:t>triệu</a:t>
                      </a:r>
                      <a:r>
                        <a:rPr lang="en-US" sz="2800" baseline="0" smtClean="0"/>
                        <a:t> </a:t>
                      </a:r>
                      <a:r>
                        <a:rPr lang="en-US" sz="2800" baseline="0" err="1" smtClean="0"/>
                        <a:t>chứng</a:t>
                      </a:r>
                      <a:r>
                        <a:rPr lang="en-US" sz="2800" baseline="0" smtClean="0"/>
                        <a:t> </a:t>
                      </a:r>
                      <a:r>
                        <a:rPr lang="en-US" sz="2800" baseline="0" err="1" smtClean="0"/>
                        <a:t>gợi</a:t>
                      </a:r>
                      <a:r>
                        <a:rPr lang="en-US" sz="2800" baseline="0" smtClean="0"/>
                        <a:t> ý </a:t>
                      </a:r>
                      <a:r>
                        <a:rPr lang="en-US" sz="2800" baseline="0" err="1" smtClean="0"/>
                        <a:t>tới</a:t>
                      </a:r>
                      <a:r>
                        <a:rPr lang="en-US" sz="2800" baseline="0" smtClean="0"/>
                        <a:t> </a:t>
                      </a:r>
                      <a:r>
                        <a:rPr lang="en-US" sz="2800" baseline="0" err="1" smtClean="0"/>
                        <a:t>nguyên</a:t>
                      </a:r>
                      <a:r>
                        <a:rPr lang="en-US" sz="2800" baseline="0" smtClean="0"/>
                        <a:t> </a:t>
                      </a:r>
                      <a:r>
                        <a:rPr lang="en-US" sz="2800" baseline="0" err="1" smtClean="0"/>
                        <a:t>nhân</a:t>
                      </a:r>
                      <a:r>
                        <a:rPr lang="en-US" sz="2800" baseline="0" smtClean="0"/>
                        <a:t> </a:t>
                      </a:r>
                      <a:r>
                        <a:rPr lang="en-US" sz="2800" baseline="0" err="1" smtClean="0"/>
                        <a:t>đường</a:t>
                      </a:r>
                      <a:r>
                        <a:rPr lang="en-US" sz="2800" baseline="0" smtClean="0"/>
                        <a:t> </a:t>
                      </a:r>
                      <a:r>
                        <a:rPr lang="en-US" sz="2800" baseline="0" err="1" smtClean="0"/>
                        <a:t>tiêu</a:t>
                      </a:r>
                      <a:r>
                        <a:rPr lang="en-US" sz="2800" baseline="0" smtClean="0"/>
                        <a:t> </a:t>
                      </a:r>
                      <a:r>
                        <a:rPr lang="en-US" sz="2800" baseline="0" err="1" smtClean="0"/>
                        <a:t>hóa</a:t>
                      </a:r>
                      <a:endParaRPr lang="vi-VN" sz="2800"/>
                    </a:p>
                  </a:txBody>
                  <a:tcPr>
                    <a:solidFill>
                      <a:srgbClr val="FF0000"/>
                    </a:solidFill>
                  </a:tcPr>
                </a:tc>
                <a:tc>
                  <a:txBody>
                    <a:bodyPr/>
                    <a:lstStyle/>
                    <a:p>
                      <a:r>
                        <a:rPr lang="en-US" sz="2800" err="1" smtClean="0"/>
                        <a:t>Các</a:t>
                      </a:r>
                      <a:r>
                        <a:rPr lang="en-US" sz="2800" baseline="0" smtClean="0"/>
                        <a:t> </a:t>
                      </a:r>
                      <a:r>
                        <a:rPr lang="en-US" sz="2800" baseline="0" err="1" smtClean="0"/>
                        <a:t>triệu</a:t>
                      </a:r>
                      <a:r>
                        <a:rPr lang="en-US" sz="2800" baseline="0" smtClean="0"/>
                        <a:t> </a:t>
                      </a:r>
                      <a:r>
                        <a:rPr lang="en-US" sz="2800" baseline="0" err="1" smtClean="0"/>
                        <a:t>chứng</a:t>
                      </a:r>
                      <a:r>
                        <a:rPr lang="en-US" sz="2800" baseline="0" smtClean="0"/>
                        <a:t> </a:t>
                      </a:r>
                      <a:r>
                        <a:rPr lang="en-US" sz="2800" baseline="0" err="1" smtClean="0"/>
                        <a:t>gợi</a:t>
                      </a:r>
                      <a:r>
                        <a:rPr lang="en-US" sz="2800" baseline="0" smtClean="0"/>
                        <a:t> ý </a:t>
                      </a:r>
                      <a:r>
                        <a:rPr lang="en-US" sz="2800" baseline="0" err="1" smtClean="0"/>
                        <a:t>tới</a:t>
                      </a:r>
                      <a:r>
                        <a:rPr lang="en-US" sz="2800" baseline="0" smtClean="0"/>
                        <a:t> </a:t>
                      </a:r>
                      <a:r>
                        <a:rPr lang="en-US" sz="2800" baseline="0" err="1" smtClean="0"/>
                        <a:t>nguyên</a:t>
                      </a:r>
                      <a:r>
                        <a:rPr lang="en-US" sz="2800" baseline="0" smtClean="0"/>
                        <a:t> </a:t>
                      </a:r>
                      <a:r>
                        <a:rPr lang="en-US" sz="2800" baseline="0" err="1" smtClean="0"/>
                        <a:t>nhân</a:t>
                      </a:r>
                      <a:r>
                        <a:rPr lang="en-US" sz="2800" baseline="0" smtClean="0"/>
                        <a:t> </a:t>
                      </a:r>
                      <a:r>
                        <a:rPr lang="en-US" sz="2800" baseline="0" err="1" smtClean="0"/>
                        <a:t>thần</a:t>
                      </a:r>
                      <a:r>
                        <a:rPr lang="en-US" sz="2800" baseline="0" smtClean="0"/>
                        <a:t> </a:t>
                      </a:r>
                      <a:r>
                        <a:rPr lang="en-US" sz="2800" baseline="0" err="1" smtClean="0"/>
                        <a:t>kinh</a:t>
                      </a:r>
                      <a:r>
                        <a:rPr lang="en-US" sz="2800" baseline="0" smtClean="0"/>
                        <a:t> </a:t>
                      </a:r>
                      <a:r>
                        <a:rPr lang="en-US" sz="2800" baseline="0" err="1" smtClean="0"/>
                        <a:t>và</a:t>
                      </a:r>
                      <a:r>
                        <a:rPr lang="en-US" sz="2800" baseline="0" smtClean="0"/>
                        <a:t> </a:t>
                      </a:r>
                      <a:r>
                        <a:rPr lang="en-US" sz="2800" baseline="0" err="1" smtClean="0"/>
                        <a:t>bệnh</a:t>
                      </a:r>
                      <a:r>
                        <a:rPr lang="en-US" sz="2800" baseline="0" smtClean="0"/>
                        <a:t> </a:t>
                      </a:r>
                      <a:r>
                        <a:rPr lang="en-US" sz="2800" baseline="0" err="1" smtClean="0"/>
                        <a:t>hệ</a:t>
                      </a:r>
                      <a:r>
                        <a:rPr lang="en-US" sz="2800" baseline="0" smtClean="0"/>
                        <a:t> </a:t>
                      </a:r>
                      <a:r>
                        <a:rPr lang="en-US" sz="2800" baseline="0" err="1" smtClean="0"/>
                        <a:t>thống</a:t>
                      </a:r>
                      <a:endParaRPr lang="vi-VN" sz="2800"/>
                    </a:p>
                  </a:txBody>
                  <a:tcPr>
                    <a:solidFill>
                      <a:srgbClr val="FF0000"/>
                    </a:solidFill>
                  </a:tcPr>
                </a:tc>
              </a:tr>
              <a:tr h="4399906">
                <a:tc>
                  <a:txBody>
                    <a:bodyPr/>
                    <a:lstStyle/>
                    <a:p>
                      <a:pPr marL="285750" indent="-285750">
                        <a:buFontTx/>
                        <a:buChar char="-"/>
                      </a:pPr>
                      <a:r>
                        <a:rPr lang="en-US" sz="2400" err="1" smtClean="0"/>
                        <a:t>Nôn</a:t>
                      </a:r>
                      <a:r>
                        <a:rPr lang="en-US" sz="2400" baseline="0" smtClean="0"/>
                        <a:t> </a:t>
                      </a:r>
                      <a:r>
                        <a:rPr lang="en-US" sz="2400" baseline="0" err="1" smtClean="0"/>
                        <a:t>kéo</a:t>
                      </a:r>
                      <a:r>
                        <a:rPr lang="en-US" sz="2400" baseline="0" smtClean="0"/>
                        <a:t> </a:t>
                      </a:r>
                      <a:r>
                        <a:rPr lang="en-US" sz="2400" baseline="0" err="1" smtClean="0"/>
                        <a:t>dài</a:t>
                      </a:r>
                      <a:endParaRPr lang="en-US" sz="2400" baseline="0" smtClean="0"/>
                    </a:p>
                    <a:p>
                      <a:pPr marL="457200" indent="-457200">
                        <a:buFont typeface="Courier New" panose="02070309020205020404" pitchFamily="49" charset="0"/>
                        <a:buChar char="o"/>
                      </a:pPr>
                      <a:r>
                        <a:rPr lang="en-US" sz="2800" baseline="0" smtClean="0"/>
                        <a:t> </a:t>
                      </a:r>
                      <a:r>
                        <a:rPr lang="en-US" sz="2400" baseline="0" smtClean="0">
                          <a:solidFill>
                            <a:srgbClr val="FF0000"/>
                          </a:solidFill>
                        </a:rPr>
                        <a:t>&gt;12h ở </a:t>
                      </a:r>
                      <a:r>
                        <a:rPr lang="en-US" sz="2400" baseline="0" err="1" smtClean="0">
                          <a:solidFill>
                            <a:srgbClr val="FF0000"/>
                          </a:solidFill>
                        </a:rPr>
                        <a:t>trẻ</a:t>
                      </a:r>
                      <a:r>
                        <a:rPr lang="en-US" sz="2400" baseline="0" smtClean="0">
                          <a:solidFill>
                            <a:srgbClr val="FF0000"/>
                          </a:solidFill>
                        </a:rPr>
                        <a:t> </a:t>
                      </a:r>
                      <a:r>
                        <a:rPr lang="en-US" sz="2400" baseline="0" err="1" smtClean="0">
                          <a:solidFill>
                            <a:srgbClr val="FF0000"/>
                          </a:solidFill>
                        </a:rPr>
                        <a:t>sơ</a:t>
                      </a:r>
                      <a:r>
                        <a:rPr lang="en-US" sz="2400" baseline="0" smtClean="0">
                          <a:solidFill>
                            <a:srgbClr val="FF0000"/>
                          </a:solidFill>
                        </a:rPr>
                        <a:t> </a:t>
                      </a:r>
                      <a:r>
                        <a:rPr lang="en-US" sz="2400" baseline="0" err="1" smtClean="0">
                          <a:solidFill>
                            <a:srgbClr val="FF0000"/>
                          </a:solidFill>
                        </a:rPr>
                        <a:t>sinh</a:t>
                      </a:r>
                      <a:endParaRPr lang="en-US" sz="2400" baseline="0" smtClean="0">
                        <a:solidFill>
                          <a:srgbClr val="FF0000"/>
                        </a:solidFill>
                      </a:endParaRPr>
                    </a:p>
                    <a:p>
                      <a:pPr marL="342900" indent="-342900">
                        <a:buFont typeface="Courier New" panose="02070309020205020404" pitchFamily="49" charset="0"/>
                        <a:buChar char="o"/>
                      </a:pPr>
                      <a:r>
                        <a:rPr lang="en-US" sz="2400" baseline="0" smtClean="0">
                          <a:solidFill>
                            <a:srgbClr val="FF0000"/>
                          </a:solidFill>
                        </a:rPr>
                        <a:t>   &gt;24h ở </a:t>
                      </a:r>
                      <a:r>
                        <a:rPr lang="en-US" sz="2400" baseline="0" err="1" smtClean="0">
                          <a:solidFill>
                            <a:srgbClr val="FF0000"/>
                          </a:solidFill>
                        </a:rPr>
                        <a:t>trẻ</a:t>
                      </a:r>
                      <a:r>
                        <a:rPr lang="en-US" sz="2400" baseline="0" smtClean="0">
                          <a:solidFill>
                            <a:srgbClr val="FF0000"/>
                          </a:solidFill>
                        </a:rPr>
                        <a:t> &gt; 2 </a:t>
                      </a:r>
                      <a:r>
                        <a:rPr lang="en-US" sz="2400" baseline="0" err="1" smtClean="0">
                          <a:solidFill>
                            <a:srgbClr val="FF0000"/>
                          </a:solidFill>
                        </a:rPr>
                        <a:t>tuổi</a:t>
                      </a:r>
                      <a:endParaRPr lang="en-US" sz="2400" baseline="0" smtClean="0">
                        <a:solidFill>
                          <a:srgbClr val="FF0000"/>
                        </a:solidFill>
                      </a:endParaRPr>
                    </a:p>
                    <a:p>
                      <a:pPr marL="342900" indent="-342900">
                        <a:buFont typeface="Courier New" panose="02070309020205020404" pitchFamily="49" charset="0"/>
                        <a:buChar char="o"/>
                      </a:pPr>
                      <a:r>
                        <a:rPr lang="en-US" sz="2400" baseline="0" smtClean="0">
                          <a:solidFill>
                            <a:srgbClr val="FF0000"/>
                          </a:solidFill>
                        </a:rPr>
                        <a:t>   &gt;48h ở </a:t>
                      </a:r>
                      <a:r>
                        <a:rPr lang="en-US" sz="2400" baseline="0" err="1" smtClean="0">
                          <a:solidFill>
                            <a:srgbClr val="FF0000"/>
                          </a:solidFill>
                        </a:rPr>
                        <a:t>trẻ</a:t>
                      </a:r>
                      <a:r>
                        <a:rPr lang="en-US" sz="2400" baseline="0" smtClean="0">
                          <a:solidFill>
                            <a:srgbClr val="FF0000"/>
                          </a:solidFill>
                        </a:rPr>
                        <a:t> </a:t>
                      </a:r>
                      <a:r>
                        <a:rPr lang="en-US" sz="2400" baseline="0" err="1" smtClean="0">
                          <a:solidFill>
                            <a:srgbClr val="FF0000"/>
                          </a:solidFill>
                        </a:rPr>
                        <a:t>lớn</a:t>
                      </a:r>
                      <a:endParaRPr lang="en-US" sz="2400" baseline="0" smtClean="0">
                        <a:solidFill>
                          <a:srgbClr val="FF0000"/>
                        </a:solidFill>
                      </a:endParaRPr>
                    </a:p>
                    <a:p>
                      <a:pPr marL="0" indent="0">
                        <a:buFontTx/>
                        <a:buNone/>
                      </a:pPr>
                      <a:endParaRPr lang="en-US" sz="2400" baseline="0" smtClean="0">
                        <a:solidFill>
                          <a:srgbClr val="FF0000"/>
                        </a:solidFill>
                      </a:endParaRPr>
                    </a:p>
                    <a:p>
                      <a:pPr marL="285750" indent="-285750">
                        <a:buFontTx/>
                        <a:buChar char="-"/>
                      </a:pPr>
                      <a:r>
                        <a:rPr lang="en-US" sz="2400" baseline="0" smtClean="0"/>
                        <a:t>Li </a:t>
                      </a:r>
                      <a:r>
                        <a:rPr lang="en-US" sz="2400" baseline="0" err="1" smtClean="0"/>
                        <a:t>bì</a:t>
                      </a:r>
                      <a:endParaRPr lang="en-US" sz="2400" baseline="0" smtClean="0"/>
                    </a:p>
                    <a:p>
                      <a:pPr marL="285750" indent="-285750">
                        <a:buFontTx/>
                        <a:buChar char="-"/>
                      </a:pPr>
                      <a:endParaRPr lang="en-US" sz="2400" baseline="0" smtClean="0"/>
                    </a:p>
                    <a:p>
                      <a:pPr marL="285750" indent="-285750">
                        <a:buFontTx/>
                        <a:buChar char="-"/>
                      </a:pPr>
                      <a:r>
                        <a:rPr lang="en-US" sz="2400" baseline="0" err="1" smtClean="0"/>
                        <a:t>Sụt</a:t>
                      </a:r>
                      <a:r>
                        <a:rPr lang="en-US" sz="2400" baseline="0" smtClean="0"/>
                        <a:t> </a:t>
                      </a:r>
                      <a:r>
                        <a:rPr lang="en-US" sz="2400" baseline="0" err="1" smtClean="0"/>
                        <a:t>cân</a:t>
                      </a:r>
                      <a:r>
                        <a:rPr lang="en-US" sz="2400" baseline="0" smtClean="0"/>
                        <a:t> </a:t>
                      </a:r>
                      <a:r>
                        <a:rPr lang="en-US" sz="2400" baseline="0" err="1" smtClean="0"/>
                        <a:t>nhiều</a:t>
                      </a:r>
                      <a:endParaRPr lang="vi-VN" sz="2400"/>
                    </a:p>
                  </a:txBody>
                  <a:tcPr/>
                </a:tc>
                <a:tc>
                  <a:txBody>
                    <a:bodyPr/>
                    <a:lstStyle/>
                    <a:p>
                      <a:pPr marL="285750" indent="-285750">
                        <a:buFontTx/>
                        <a:buChar char="-"/>
                      </a:pPr>
                      <a:r>
                        <a:rPr lang="en-US" sz="2400" err="1" smtClean="0"/>
                        <a:t>Nôn</a:t>
                      </a:r>
                      <a:r>
                        <a:rPr lang="en-US" sz="2400" baseline="0" smtClean="0"/>
                        <a:t> </a:t>
                      </a:r>
                      <a:r>
                        <a:rPr lang="en-US" sz="2400" baseline="0" err="1" smtClean="0"/>
                        <a:t>ra</a:t>
                      </a:r>
                      <a:r>
                        <a:rPr lang="en-US" sz="2400" baseline="0" smtClean="0"/>
                        <a:t> </a:t>
                      </a:r>
                      <a:r>
                        <a:rPr lang="en-US" sz="2400" baseline="0" err="1" smtClean="0"/>
                        <a:t>dịch</a:t>
                      </a:r>
                      <a:r>
                        <a:rPr lang="en-US" sz="2400" baseline="0" smtClean="0"/>
                        <a:t> </a:t>
                      </a:r>
                      <a:r>
                        <a:rPr lang="en-US" sz="2400" baseline="0" err="1" smtClean="0"/>
                        <a:t>mật</a:t>
                      </a:r>
                      <a:endParaRPr lang="en-US" sz="2400" baseline="0" smtClean="0"/>
                    </a:p>
                    <a:p>
                      <a:pPr marL="285750" indent="-285750">
                        <a:buFontTx/>
                        <a:buChar char="-"/>
                      </a:pPr>
                      <a:r>
                        <a:rPr lang="en-US" sz="2400" baseline="0" err="1" smtClean="0"/>
                        <a:t>Nôn</a:t>
                      </a:r>
                      <a:r>
                        <a:rPr lang="en-US" sz="2400" baseline="0" smtClean="0"/>
                        <a:t> </a:t>
                      </a:r>
                      <a:r>
                        <a:rPr lang="en-US" sz="2400" baseline="0" err="1" smtClean="0"/>
                        <a:t>vọt</a:t>
                      </a:r>
                      <a:r>
                        <a:rPr lang="en-US" sz="2400" baseline="0" smtClean="0"/>
                        <a:t> ở </a:t>
                      </a:r>
                      <a:r>
                        <a:rPr lang="en-US" sz="2400" baseline="0" err="1" smtClean="0"/>
                        <a:t>trẻ</a:t>
                      </a:r>
                      <a:r>
                        <a:rPr lang="en-US" sz="2400" baseline="0" smtClean="0"/>
                        <a:t> </a:t>
                      </a:r>
                      <a:r>
                        <a:rPr lang="en-US" sz="2400" baseline="0" err="1" smtClean="0"/>
                        <a:t>từ</a:t>
                      </a:r>
                      <a:r>
                        <a:rPr lang="en-US" sz="2400" baseline="0" smtClean="0"/>
                        <a:t> 3-6 </a:t>
                      </a:r>
                      <a:r>
                        <a:rPr lang="en-US" sz="2400" baseline="0" err="1" smtClean="0"/>
                        <a:t>tuần</a:t>
                      </a:r>
                      <a:r>
                        <a:rPr lang="en-US" sz="2400" baseline="0" smtClean="0"/>
                        <a:t> </a:t>
                      </a:r>
                      <a:r>
                        <a:rPr lang="en-US" sz="2400" baseline="0" err="1" smtClean="0"/>
                        <a:t>tuổi</a:t>
                      </a:r>
                      <a:endParaRPr lang="en-US" sz="2400" baseline="0" smtClean="0"/>
                    </a:p>
                    <a:p>
                      <a:pPr marL="285750" indent="-285750">
                        <a:buFontTx/>
                        <a:buChar char="-"/>
                      </a:pPr>
                      <a:r>
                        <a:rPr lang="en-US" sz="2400" baseline="0" err="1" smtClean="0"/>
                        <a:t>Nôn</a:t>
                      </a:r>
                      <a:r>
                        <a:rPr lang="en-US" sz="2400" baseline="0" smtClean="0"/>
                        <a:t> </a:t>
                      </a:r>
                      <a:r>
                        <a:rPr lang="en-US" sz="2400" baseline="0" err="1" smtClean="0"/>
                        <a:t>máu</a:t>
                      </a:r>
                      <a:endParaRPr lang="en-US" sz="2400" baseline="0" smtClean="0"/>
                    </a:p>
                    <a:p>
                      <a:pPr marL="285750" indent="-285750">
                        <a:buFontTx/>
                        <a:buChar char="-"/>
                      </a:pPr>
                      <a:r>
                        <a:rPr lang="en-US" sz="2400" baseline="0" err="1" smtClean="0"/>
                        <a:t>Đi</a:t>
                      </a:r>
                      <a:r>
                        <a:rPr lang="en-US" sz="2400" baseline="0" smtClean="0"/>
                        <a:t> </a:t>
                      </a:r>
                      <a:r>
                        <a:rPr lang="en-US" sz="2400" baseline="0" err="1" smtClean="0"/>
                        <a:t>ngoài</a:t>
                      </a:r>
                      <a:r>
                        <a:rPr lang="en-US" sz="2400" baseline="0" smtClean="0"/>
                        <a:t> </a:t>
                      </a:r>
                      <a:r>
                        <a:rPr lang="en-US" sz="2400" baseline="0" err="1" smtClean="0"/>
                        <a:t>phân</a:t>
                      </a:r>
                      <a:r>
                        <a:rPr lang="en-US" sz="2400" baseline="0" smtClean="0"/>
                        <a:t> </a:t>
                      </a:r>
                      <a:r>
                        <a:rPr lang="en-US" sz="2400" baseline="0" err="1" smtClean="0"/>
                        <a:t>máu</a:t>
                      </a:r>
                      <a:endParaRPr lang="en-US" sz="2400" baseline="0" smtClean="0"/>
                    </a:p>
                    <a:p>
                      <a:pPr marL="285750" indent="-285750">
                        <a:buFontTx/>
                        <a:buChar char="-"/>
                      </a:pPr>
                      <a:r>
                        <a:rPr lang="en-US" sz="2400" baseline="0" err="1" smtClean="0"/>
                        <a:t>Bụng</a:t>
                      </a:r>
                      <a:r>
                        <a:rPr lang="en-US" sz="2400" baseline="0" smtClean="0"/>
                        <a:t> </a:t>
                      </a:r>
                      <a:r>
                        <a:rPr lang="en-US" sz="2400" baseline="0" err="1" smtClean="0"/>
                        <a:t>chướng</a:t>
                      </a:r>
                      <a:r>
                        <a:rPr lang="en-US" sz="2400" baseline="0" smtClean="0"/>
                        <a:t> </a:t>
                      </a:r>
                      <a:r>
                        <a:rPr lang="en-US" sz="2400" baseline="0" err="1" smtClean="0"/>
                        <a:t>căng</a:t>
                      </a:r>
                      <a:r>
                        <a:rPr lang="en-US" sz="2400" baseline="0" smtClean="0"/>
                        <a:t> </a:t>
                      </a:r>
                      <a:r>
                        <a:rPr lang="en-US" sz="2400" baseline="0" err="1" smtClean="0"/>
                        <a:t>rõ</a:t>
                      </a:r>
                      <a:r>
                        <a:rPr lang="en-US" sz="2400" baseline="0" smtClean="0"/>
                        <a:t> </a:t>
                      </a:r>
                      <a:r>
                        <a:rPr lang="en-US" sz="2400" baseline="0" err="1" smtClean="0"/>
                        <a:t>và</a:t>
                      </a:r>
                      <a:r>
                        <a:rPr lang="en-US" sz="2400" baseline="0" smtClean="0"/>
                        <a:t> </a:t>
                      </a:r>
                      <a:r>
                        <a:rPr lang="en-US" sz="2400" baseline="0" err="1" smtClean="0"/>
                        <a:t>có</a:t>
                      </a:r>
                      <a:r>
                        <a:rPr lang="en-US" sz="2400" baseline="0" smtClean="0"/>
                        <a:t> </a:t>
                      </a:r>
                      <a:r>
                        <a:rPr lang="en-US" sz="2400" baseline="0" err="1" smtClean="0"/>
                        <a:t>dấu</a:t>
                      </a:r>
                      <a:r>
                        <a:rPr lang="en-US" sz="2400" baseline="0" smtClean="0"/>
                        <a:t> </a:t>
                      </a:r>
                      <a:r>
                        <a:rPr lang="en-US" sz="2400" baseline="0" err="1" smtClean="0"/>
                        <a:t>hiệu</a:t>
                      </a:r>
                      <a:r>
                        <a:rPr lang="en-US" sz="2400" baseline="0" smtClean="0"/>
                        <a:t> </a:t>
                      </a:r>
                      <a:r>
                        <a:rPr lang="en-US" sz="2400" baseline="0" err="1" smtClean="0"/>
                        <a:t>phúc</a:t>
                      </a:r>
                      <a:r>
                        <a:rPr lang="en-US" sz="2400" baseline="0" smtClean="0"/>
                        <a:t> </a:t>
                      </a:r>
                      <a:r>
                        <a:rPr lang="en-US" sz="2400" baseline="0" err="1" smtClean="0"/>
                        <a:t>mạc</a:t>
                      </a:r>
                      <a:endParaRPr lang="vi-VN" sz="2400"/>
                    </a:p>
                  </a:txBody>
                  <a:tcPr/>
                </a:tc>
                <a:tc>
                  <a:txBody>
                    <a:bodyPr/>
                    <a:lstStyle/>
                    <a:p>
                      <a:pPr marL="285750" indent="-285750">
                        <a:buFontTx/>
                        <a:buChar char="-"/>
                      </a:pPr>
                      <a:r>
                        <a:rPr lang="en-US" sz="2400" err="1" smtClean="0"/>
                        <a:t>Thóp</a:t>
                      </a:r>
                      <a:r>
                        <a:rPr lang="en-US" sz="2400" baseline="0" smtClean="0"/>
                        <a:t> </a:t>
                      </a:r>
                      <a:r>
                        <a:rPr lang="en-US" sz="2400" baseline="0" err="1" smtClean="0"/>
                        <a:t>phồng</a:t>
                      </a:r>
                      <a:endParaRPr lang="en-US" sz="2400" baseline="0" smtClean="0"/>
                    </a:p>
                    <a:p>
                      <a:pPr marL="285750" indent="-285750">
                        <a:buFontTx/>
                        <a:buChar char="-"/>
                      </a:pPr>
                      <a:r>
                        <a:rPr lang="en-US" sz="2400" baseline="0" err="1" smtClean="0"/>
                        <a:t>Đau</a:t>
                      </a:r>
                      <a:r>
                        <a:rPr lang="en-US" sz="2400" baseline="0" smtClean="0"/>
                        <a:t> </a:t>
                      </a:r>
                      <a:r>
                        <a:rPr lang="en-US" sz="2400" baseline="0" err="1" smtClean="0"/>
                        <a:t>đầu,nôn</a:t>
                      </a:r>
                      <a:r>
                        <a:rPr lang="en-US" sz="2400" baseline="0" smtClean="0"/>
                        <a:t> </a:t>
                      </a:r>
                      <a:r>
                        <a:rPr lang="en-US" sz="2400" baseline="0" err="1" smtClean="0"/>
                        <a:t>khi</a:t>
                      </a:r>
                      <a:r>
                        <a:rPr lang="en-US" sz="2400" baseline="0" smtClean="0"/>
                        <a:t> </a:t>
                      </a:r>
                      <a:r>
                        <a:rPr lang="en-US" sz="2400" baseline="0" err="1" smtClean="0"/>
                        <a:t>thay</a:t>
                      </a:r>
                      <a:r>
                        <a:rPr lang="en-US" sz="2400" baseline="0" smtClean="0"/>
                        <a:t> </a:t>
                      </a:r>
                      <a:r>
                        <a:rPr lang="en-US" sz="2400" baseline="0" err="1" smtClean="0"/>
                        <a:t>đổi</a:t>
                      </a:r>
                      <a:r>
                        <a:rPr lang="en-US" sz="2400" baseline="0" smtClean="0"/>
                        <a:t> </a:t>
                      </a:r>
                      <a:r>
                        <a:rPr lang="en-US" sz="2400" baseline="0" err="1" smtClean="0"/>
                        <a:t>tư</a:t>
                      </a:r>
                      <a:r>
                        <a:rPr lang="en-US" sz="2400" baseline="0" smtClean="0"/>
                        <a:t> </a:t>
                      </a:r>
                      <a:r>
                        <a:rPr lang="en-US" sz="2400" baseline="0" err="1" smtClean="0"/>
                        <a:t>thế</a:t>
                      </a:r>
                      <a:r>
                        <a:rPr lang="en-US" sz="2400" baseline="0" smtClean="0"/>
                        <a:t> </a:t>
                      </a:r>
                      <a:r>
                        <a:rPr lang="en-US" sz="2400" baseline="0" err="1" smtClean="0"/>
                        <a:t>hoặc</a:t>
                      </a:r>
                      <a:r>
                        <a:rPr lang="en-US" sz="2400" baseline="0" smtClean="0"/>
                        <a:t> </a:t>
                      </a:r>
                      <a:r>
                        <a:rPr lang="en-US" sz="2400" baseline="0" err="1" smtClean="0"/>
                        <a:t>khi</a:t>
                      </a:r>
                      <a:r>
                        <a:rPr lang="en-US" sz="2400" baseline="0" smtClean="0"/>
                        <a:t> </a:t>
                      </a:r>
                      <a:r>
                        <a:rPr lang="en-US" sz="2400" baseline="0" err="1" smtClean="0"/>
                        <a:t>thức</a:t>
                      </a:r>
                      <a:r>
                        <a:rPr lang="en-US" sz="2400" baseline="0" smtClean="0"/>
                        <a:t> </a:t>
                      </a:r>
                      <a:r>
                        <a:rPr lang="en-US" sz="2400" baseline="0" err="1" smtClean="0"/>
                        <a:t>dậy</a:t>
                      </a:r>
                      <a:r>
                        <a:rPr lang="en-US" sz="2400" baseline="0" smtClean="0"/>
                        <a:t> </a:t>
                      </a:r>
                      <a:r>
                        <a:rPr lang="en-US" sz="2400" baseline="0" err="1" smtClean="0"/>
                        <a:t>và</a:t>
                      </a:r>
                      <a:r>
                        <a:rPr lang="en-US" sz="2400" baseline="0" smtClean="0"/>
                        <a:t> </a:t>
                      </a:r>
                      <a:r>
                        <a:rPr lang="en-US" sz="2400" baseline="0" err="1" smtClean="0"/>
                        <a:t>hoặc</a:t>
                      </a:r>
                      <a:r>
                        <a:rPr lang="en-US" sz="2400" baseline="0" smtClean="0"/>
                        <a:t> </a:t>
                      </a:r>
                      <a:r>
                        <a:rPr lang="en-US" sz="2400" baseline="0" err="1" smtClean="0"/>
                        <a:t>không</a:t>
                      </a:r>
                      <a:r>
                        <a:rPr lang="en-US" sz="2400" baseline="0" smtClean="0"/>
                        <a:t> </a:t>
                      </a:r>
                      <a:r>
                        <a:rPr lang="en-US" sz="2400" baseline="0" err="1" smtClean="0"/>
                        <a:t>có</a:t>
                      </a:r>
                      <a:r>
                        <a:rPr lang="en-US" sz="2400" baseline="0" smtClean="0"/>
                        <a:t> </a:t>
                      </a:r>
                      <a:r>
                        <a:rPr lang="en-US" sz="2400" baseline="0" err="1" smtClean="0"/>
                        <a:t>buồn</a:t>
                      </a:r>
                      <a:r>
                        <a:rPr lang="en-US" sz="2400" baseline="0" smtClean="0"/>
                        <a:t> </a:t>
                      </a:r>
                      <a:r>
                        <a:rPr lang="en-US" sz="2400" baseline="0" err="1" smtClean="0"/>
                        <a:t>nôn</a:t>
                      </a:r>
                      <a:endParaRPr lang="en-US" sz="2400" baseline="0" smtClean="0"/>
                    </a:p>
                    <a:p>
                      <a:pPr marL="285750" indent="-285750">
                        <a:buFontTx/>
                        <a:buChar char="-"/>
                      </a:pPr>
                      <a:r>
                        <a:rPr lang="en-US" sz="2400" baseline="0" err="1" smtClean="0"/>
                        <a:t>Thay</a:t>
                      </a:r>
                      <a:r>
                        <a:rPr lang="en-US" sz="2400" baseline="0" smtClean="0"/>
                        <a:t> </a:t>
                      </a:r>
                      <a:r>
                        <a:rPr lang="en-US" sz="2400" baseline="0" err="1" smtClean="0"/>
                        <a:t>đổi</a:t>
                      </a:r>
                      <a:r>
                        <a:rPr lang="en-US" sz="2400" baseline="0" smtClean="0"/>
                        <a:t> tri </a:t>
                      </a:r>
                      <a:r>
                        <a:rPr lang="en-US" sz="2400" baseline="0" err="1" smtClean="0"/>
                        <a:t>giác,co</a:t>
                      </a:r>
                      <a:r>
                        <a:rPr lang="en-US" sz="2400" baseline="0" smtClean="0"/>
                        <a:t> </a:t>
                      </a:r>
                      <a:r>
                        <a:rPr lang="en-US" sz="2400" baseline="0" err="1" smtClean="0"/>
                        <a:t>giật,các</a:t>
                      </a:r>
                      <a:r>
                        <a:rPr lang="en-US" sz="2400" baseline="0" smtClean="0"/>
                        <a:t> </a:t>
                      </a:r>
                      <a:r>
                        <a:rPr lang="en-US" sz="2400" baseline="0" err="1" smtClean="0"/>
                        <a:t>dấu</a:t>
                      </a:r>
                      <a:r>
                        <a:rPr lang="en-US" sz="2400" baseline="0" smtClean="0"/>
                        <a:t> </a:t>
                      </a:r>
                      <a:r>
                        <a:rPr lang="en-US" sz="2400" baseline="0" err="1" smtClean="0"/>
                        <a:t>hiệu</a:t>
                      </a:r>
                      <a:r>
                        <a:rPr lang="en-US" sz="2400" baseline="0" smtClean="0"/>
                        <a:t> </a:t>
                      </a:r>
                      <a:r>
                        <a:rPr lang="en-US" sz="2400" baseline="0" err="1" smtClean="0"/>
                        <a:t>thần</a:t>
                      </a:r>
                      <a:r>
                        <a:rPr lang="en-US" sz="2400" baseline="0" smtClean="0"/>
                        <a:t> </a:t>
                      </a:r>
                      <a:r>
                        <a:rPr lang="en-US" sz="2400" baseline="0" err="1" smtClean="0"/>
                        <a:t>kinh</a:t>
                      </a:r>
                      <a:r>
                        <a:rPr lang="en-US" sz="2400" baseline="0" smtClean="0"/>
                        <a:t> </a:t>
                      </a:r>
                      <a:r>
                        <a:rPr lang="en-US" sz="2400" baseline="0" err="1" smtClean="0"/>
                        <a:t>khu</a:t>
                      </a:r>
                      <a:r>
                        <a:rPr lang="en-US" sz="2400" baseline="0" smtClean="0"/>
                        <a:t> </a:t>
                      </a:r>
                      <a:r>
                        <a:rPr lang="en-US" sz="2400" baseline="0" err="1" smtClean="0"/>
                        <a:t>trú</a:t>
                      </a:r>
                      <a:endParaRPr lang="en-US" sz="2400" baseline="0" smtClean="0"/>
                    </a:p>
                    <a:p>
                      <a:pPr marL="285750" indent="-285750">
                        <a:buFontTx/>
                        <a:buChar char="-"/>
                      </a:pPr>
                      <a:r>
                        <a:rPr lang="en-US" sz="2400" baseline="0" err="1" smtClean="0"/>
                        <a:t>Tiền</a:t>
                      </a:r>
                      <a:r>
                        <a:rPr lang="en-US" sz="2400" baseline="0" smtClean="0"/>
                        <a:t> </a:t>
                      </a:r>
                      <a:r>
                        <a:rPr lang="en-US" sz="2400" baseline="0" err="1" smtClean="0"/>
                        <a:t>sử</a:t>
                      </a:r>
                      <a:r>
                        <a:rPr lang="en-US" sz="2400" baseline="0" smtClean="0"/>
                        <a:t> </a:t>
                      </a:r>
                      <a:r>
                        <a:rPr lang="en-US" sz="2400" baseline="0" err="1" smtClean="0"/>
                        <a:t>có</a:t>
                      </a:r>
                      <a:r>
                        <a:rPr lang="en-US" sz="2400" baseline="0" smtClean="0"/>
                        <a:t> </a:t>
                      </a:r>
                      <a:r>
                        <a:rPr lang="en-US" sz="2400" baseline="0" err="1" smtClean="0"/>
                        <a:t>chấn</a:t>
                      </a:r>
                      <a:r>
                        <a:rPr lang="en-US" sz="2400" baseline="0" smtClean="0"/>
                        <a:t> </a:t>
                      </a:r>
                      <a:r>
                        <a:rPr lang="en-US" sz="2400" baseline="0" err="1" smtClean="0"/>
                        <a:t>thường</a:t>
                      </a:r>
                      <a:r>
                        <a:rPr lang="en-US" sz="2400" baseline="0" smtClean="0"/>
                        <a:t> </a:t>
                      </a:r>
                      <a:r>
                        <a:rPr lang="en-US" sz="2400" baseline="0" err="1" smtClean="0"/>
                        <a:t>đầu</a:t>
                      </a:r>
                      <a:endParaRPr lang="en-US" sz="2400" baseline="0" smtClean="0"/>
                    </a:p>
                    <a:p>
                      <a:pPr marL="285750" indent="-285750">
                        <a:buFontTx/>
                        <a:buChar char="-"/>
                      </a:pPr>
                      <a:r>
                        <a:rPr lang="en-US" sz="2400" baseline="0" err="1" smtClean="0"/>
                        <a:t>Hạ</a:t>
                      </a:r>
                      <a:r>
                        <a:rPr lang="en-US" sz="2400" baseline="0" smtClean="0"/>
                        <a:t> </a:t>
                      </a:r>
                      <a:r>
                        <a:rPr lang="en-US" sz="2400" baseline="0" err="1" smtClean="0"/>
                        <a:t>huyết</a:t>
                      </a:r>
                      <a:r>
                        <a:rPr lang="en-US" sz="2400" baseline="0" smtClean="0"/>
                        <a:t> </a:t>
                      </a:r>
                      <a:r>
                        <a:rPr lang="en-US" sz="2400" baseline="0" err="1" smtClean="0"/>
                        <a:t>áp</a:t>
                      </a:r>
                      <a:r>
                        <a:rPr lang="en-US" sz="2400" baseline="0" smtClean="0"/>
                        <a:t> </a:t>
                      </a:r>
                      <a:r>
                        <a:rPr lang="en-US" sz="2400" baseline="0" err="1" smtClean="0"/>
                        <a:t>không</a:t>
                      </a:r>
                      <a:r>
                        <a:rPr lang="en-US" sz="2400" baseline="0" smtClean="0"/>
                        <a:t> </a:t>
                      </a:r>
                      <a:r>
                        <a:rPr lang="en-US" sz="2400" baseline="0" err="1" smtClean="0"/>
                        <a:t>tương</a:t>
                      </a:r>
                      <a:r>
                        <a:rPr lang="en-US" sz="2400" baseline="0" smtClean="0"/>
                        <a:t> </a:t>
                      </a:r>
                      <a:r>
                        <a:rPr lang="en-US" sz="2400" baseline="0" err="1" smtClean="0"/>
                        <a:t>xứng</a:t>
                      </a:r>
                      <a:r>
                        <a:rPr lang="en-US" sz="2400" baseline="0" smtClean="0"/>
                        <a:t> </a:t>
                      </a:r>
                      <a:r>
                        <a:rPr lang="en-US" sz="2400" baseline="0" err="1" smtClean="0"/>
                        <a:t>với</a:t>
                      </a:r>
                      <a:r>
                        <a:rPr lang="en-US" sz="2400" baseline="0" smtClean="0"/>
                        <a:t> </a:t>
                      </a:r>
                      <a:r>
                        <a:rPr lang="en-US" sz="2400" baseline="0" err="1" smtClean="0"/>
                        <a:t>bệnh</a:t>
                      </a:r>
                      <a:r>
                        <a:rPr lang="en-US" sz="2400" baseline="0" smtClean="0"/>
                        <a:t> </a:t>
                      </a:r>
                      <a:r>
                        <a:rPr lang="en-US" sz="2400" baseline="0" err="1" smtClean="0"/>
                        <a:t>cảnh</a:t>
                      </a:r>
                      <a:r>
                        <a:rPr lang="en-US" sz="2400" baseline="0" smtClean="0"/>
                        <a:t> </a:t>
                      </a:r>
                      <a:r>
                        <a:rPr lang="en-US" sz="2400" baseline="0" err="1" smtClean="0"/>
                        <a:t>lâm</a:t>
                      </a:r>
                      <a:r>
                        <a:rPr lang="en-US" sz="2400" baseline="0" smtClean="0"/>
                        <a:t> </a:t>
                      </a:r>
                      <a:r>
                        <a:rPr lang="en-US" sz="2400" baseline="0" err="1" smtClean="0"/>
                        <a:t>sàng,và</a:t>
                      </a:r>
                      <a:r>
                        <a:rPr lang="en-US" sz="2400" baseline="0" smtClean="0"/>
                        <a:t> </a:t>
                      </a:r>
                      <a:r>
                        <a:rPr lang="en-US" sz="2400" baseline="0" err="1" smtClean="0"/>
                        <a:t>hoặc</a:t>
                      </a:r>
                      <a:r>
                        <a:rPr lang="en-US" sz="2400" baseline="0" smtClean="0"/>
                        <a:t> </a:t>
                      </a:r>
                      <a:r>
                        <a:rPr lang="en-US" sz="2400" baseline="0" err="1" smtClean="0"/>
                        <a:t>hạ</a:t>
                      </a:r>
                      <a:r>
                        <a:rPr lang="en-US" sz="2400" baseline="0" smtClean="0"/>
                        <a:t> </a:t>
                      </a:r>
                      <a:r>
                        <a:rPr lang="en-US" sz="2400" baseline="0" err="1" smtClean="0"/>
                        <a:t>natri</a:t>
                      </a:r>
                      <a:r>
                        <a:rPr lang="en-US" sz="2400" baseline="0" smtClean="0"/>
                        <a:t> </a:t>
                      </a:r>
                      <a:r>
                        <a:rPr lang="en-US" sz="2400" baseline="0" err="1" smtClean="0"/>
                        <a:t>máu</a:t>
                      </a:r>
                      <a:r>
                        <a:rPr lang="en-US" sz="2400" baseline="0" smtClean="0"/>
                        <a:t> </a:t>
                      </a:r>
                      <a:r>
                        <a:rPr lang="en-US" sz="2400" baseline="0" err="1" smtClean="0"/>
                        <a:t>và</a:t>
                      </a:r>
                      <a:r>
                        <a:rPr lang="en-US" sz="2400" baseline="0" smtClean="0"/>
                        <a:t> </a:t>
                      </a:r>
                      <a:r>
                        <a:rPr lang="en-US" sz="2400" baseline="0" err="1" smtClean="0"/>
                        <a:t>tăng</a:t>
                      </a:r>
                      <a:r>
                        <a:rPr lang="en-US" sz="2400" baseline="0" smtClean="0"/>
                        <a:t> kali </a:t>
                      </a:r>
                      <a:r>
                        <a:rPr lang="en-US" sz="2400" baseline="0" err="1" smtClean="0"/>
                        <a:t>máu</a:t>
                      </a:r>
                      <a:endParaRPr lang="vi-VN" sz="2400"/>
                    </a:p>
                  </a:txBody>
                  <a:tcPr/>
                </a:tc>
              </a:tr>
            </a:tbl>
          </a:graphicData>
        </a:graphic>
      </p:graphicFrame>
    </p:spTree>
    <p:extLst>
      <p:ext uri="{BB962C8B-B14F-4D97-AF65-F5344CB8AC3E}">
        <p14:creationId xmlns:p14="http://schemas.microsoft.com/office/powerpoint/2010/main" val="999442161"/>
      </p:ext>
    </p:extLst>
  </p:cSld>
  <p:clrMapOvr>
    <a:masterClrMapping/>
  </p:clrMapOvr>
  <p:transition spd="slow">
    <p:push dir="u"/>
    <p:sndAc>
      <p:stSnd>
        <p:snd r:embed="rId3" name="camera.wav"/>
      </p:stSnd>
    </p:sndAc>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vi-VN"/>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903389"/>
              </p:ext>
            </p:extLst>
          </p:nvPr>
        </p:nvGraphicFramePr>
        <p:xfrm>
          <a:off x="-70338" y="0"/>
          <a:ext cx="12262338" cy="6836846"/>
        </p:xfrm>
        <a:graphic>
          <a:graphicData uri="http://schemas.openxmlformats.org/drawingml/2006/table">
            <a:tbl>
              <a:tblPr firstRow="1" bandRow="1">
                <a:tableStyleId>{5C22544A-7EE6-4342-B048-85BDC9FD1C3A}</a:tableStyleId>
              </a:tblPr>
              <a:tblGrid>
                <a:gridCol w="6166338"/>
                <a:gridCol w="6096000"/>
              </a:tblGrid>
              <a:tr h="1359691">
                <a:tc>
                  <a:txBody>
                    <a:bodyPr/>
                    <a:lstStyle/>
                    <a:p>
                      <a:pPr algn="ctr">
                        <a:lnSpc>
                          <a:spcPct val="150000"/>
                        </a:lnSpc>
                        <a:spcAft>
                          <a:spcPts val="0"/>
                        </a:spcAft>
                      </a:pPr>
                      <a:r>
                        <a:rPr lang="vi-VN" sz="2400" b="1" dirty="0" smtClean="0">
                          <a:solidFill>
                            <a:schemeClr val="bg1"/>
                          </a:solidFill>
                          <a:effectLst/>
                          <a:latin typeface="Arial" panose="020B0604020202020204" pitchFamily="34" charset="0"/>
                          <a:ea typeface="Arial" panose="020B0604020202020204" pitchFamily="34" charset="0"/>
                          <a:cs typeface="Arial" panose="020B0604020202020204" pitchFamily="34" charset="0"/>
                        </a:rPr>
                        <a:t> Các </a:t>
                      </a:r>
                      <a:r>
                        <a:rPr lang="vi-VN" sz="2400" b="1" dirty="0">
                          <a:solidFill>
                            <a:schemeClr val="bg1"/>
                          </a:solidFill>
                          <a:effectLst/>
                          <a:latin typeface="Arial" panose="020B0604020202020204" pitchFamily="34" charset="0"/>
                          <a:ea typeface="Arial" panose="020B0604020202020204" pitchFamily="34" charset="0"/>
                          <a:cs typeface="Arial" panose="020B0604020202020204" pitchFamily="34" charset="0"/>
                        </a:rPr>
                        <a:t>dấu hiệu cảnh báo</a:t>
                      </a:r>
                      <a:endParaRPr lang="vi-VN" sz="24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T="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nSpc>
                          <a:spcPct val="150000"/>
                        </a:lnSpc>
                        <a:spcAft>
                          <a:spcPts val="800"/>
                        </a:spcAft>
                      </a:pPr>
                      <a:r>
                        <a:rPr lang="vi-VN" sz="2400" dirty="0">
                          <a:solidFill>
                            <a:schemeClr val="bg1"/>
                          </a:solidFill>
                          <a:effectLst/>
                          <a:latin typeface="Arial" panose="020B0604020202020204" pitchFamily="34" charset="0"/>
                          <a:ea typeface="Arial" panose="020B0604020202020204" pitchFamily="34" charset="0"/>
                          <a:cs typeface="Times New Roman" panose="02020603050405020304" pitchFamily="18" charset="0"/>
                        </a:rPr>
                        <a:t> </a:t>
                      </a:r>
                      <a:r>
                        <a:rPr lang="vi-VN" sz="2400" b="1" dirty="0" smtClean="0">
                          <a:solidFill>
                            <a:schemeClr val="bg1"/>
                          </a:solidFill>
                          <a:effectLst/>
                          <a:latin typeface="Arial" panose="020B0604020202020204" pitchFamily="34" charset="0"/>
                          <a:ea typeface="Arial" panose="020B0604020202020204" pitchFamily="34" charset="0"/>
                        </a:rPr>
                        <a:t>Hướng chẩn đoán,chẩn đoán cần quan tâm </a:t>
                      </a:r>
                      <a:endParaRPr lang="vi-VN" sz="24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r>
              <a:tr h="796202">
                <a:tc gridSpan="2">
                  <a:txBody>
                    <a:bodyPr/>
                    <a:lstStyle/>
                    <a:p>
                      <a:pPr algn="l">
                        <a:lnSpc>
                          <a:spcPct val="150000"/>
                        </a:lnSpc>
                        <a:spcAft>
                          <a:spcPts val="0"/>
                        </a:spcAft>
                      </a:pPr>
                      <a:r>
                        <a:rPr lang="vi-VN" sz="1800" b="1" dirty="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Các triệu chứng không đặc hiệu</a:t>
                      </a:r>
                      <a:endParaRPr lang="vi-VN" sz="1800" dirty="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marT="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vi-VN" dirty="0"/>
                    </a:p>
                  </a:txBody>
                  <a:tcPr/>
                </a:tc>
              </a:tr>
              <a:tr h="2240906">
                <a:tc>
                  <a:txBody>
                    <a:bodyPr/>
                    <a:lstStyle/>
                    <a:p>
                      <a:pPr>
                        <a:lnSpc>
                          <a:spcPct val="150000"/>
                        </a:lnSpc>
                        <a:spcAft>
                          <a:spcPts val="0"/>
                        </a:spcAft>
                      </a:pPr>
                      <a:r>
                        <a:rPr lang="vi-VN" sz="18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Nôn kéo dài</a:t>
                      </a:r>
                      <a:endParaRPr lang="vi-VN" sz="18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p>
                      <a:pPr marL="342900" lvl="0" indent="-342900">
                        <a:lnSpc>
                          <a:spcPct val="150000"/>
                        </a:lnSpc>
                        <a:spcBef>
                          <a:spcPts val="240"/>
                        </a:spcBef>
                        <a:spcAft>
                          <a:spcPts val="240"/>
                        </a:spcAft>
                        <a:buSzPts val="1000"/>
                        <a:buFont typeface="Wingdings" panose="05000000000000000000" pitchFamily="2" charset="2"/>
                        <a:buChar char=""/>
                        <a:tabLst>
                          <a:tab pos="457200" algn="l"/>
                        </a:tabLst>
                      </a:pPr>
                      <a:r>
                        <a:rPr lang="vi-VN" sz="18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&gt;12 h ở trẻ sơ sinh</a:t>
                      </a:r>
                      <a:endParaRPr lang="vi-VN" sz="18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p>
                      <a:pPr marL="342900" lvl="0" indent="-342900">
                        <a:lnSpc>
                          <a:spcPct val="150000"/>
                        </a:lnSpc>
                        <a:spcBef>
                          <a:spcPts val="240"/>
                        </a:spcBef>
                        <a:spcAft>
                          <a:spcPts val="240"/>
                        </a:spcAft>
                        <a:buSzPts val="1000"/>
                        <a:buFont typeface="Wingdings" panose="05000000000000000000" pitchFamily="2" charset="2"/>
                        <a:buChar char=""/>
                        <a:tabLst>
                          <a:tab pos="457200" algn="l"/>
                        </a:tabLst>
                      </a:pPr>
                      <a:r>
                        <a:rPr lang="vi-VN" sz="18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&gt;24H ở trẻ em &lt;2 tuổi</a:t>
                      </a:r>
                      <a:endParaRPr lang="vi-VN" sz="18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p>
                      <a:pPr marL="342900" lvl="0" indent="-342900">
                        <a:lnSpc>
                          <a:spcPct val="150000"/>
                        </a:lnSpc>
                        <a:spcBef>
                          <a:spcPts val="240"/>
                        </a:spcBef>
                        <a:spcAft>
                          <a:spcPts val="240"/>
                        </a:spcAft>
                        <a:buSzPts val="1000"/>
                        <a:buFont typeface="Wingdings" panose="05000000000000000000" pitchFamily="2" charset="2"/>
                        <a:buChar char=""/>
                        <a:tabLst>
                          <a:tab pos="457200" algn="l"/>
                        </a:tabLst>
                      </a:pPr>
                      <a:r>
                        <a:rPr lang="vi-VN" sz="18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&gt;48 h ở trẻ lớn</a:t>
                      </a:r>
                      <a:endParaRPr lang="vi-VN" sz="18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marL="304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42900" lvl="0" indent="-342900">
                        <a:lnSpc>
                          <a:spcPct val="150000"/>
                        </a:lnSpc>
                        <a:spcBef>
                          <a:spcPts val="240"/>
                        </a:spcBef>
                        <a:spcAft>
                          <a:spcPts val="240"/>
                        </a:spcAft>
                        <a:buSzPts val="1000"/>
                        <a:buFont typeface="Wingdings" panose="05000000000000000000" pitchFamily="2" charset="2"/>
                        <a:buChar char=""/>
                        <a:tabLst>
                          <a:tab pos="457200" algn="l"/>
                        </a:tabLst>
                      </a:pPr>
                      <a:r>
                        <a:rPr lang="vi-VN" sz="18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Mất nước và rối loạn điện giải</a:t>
                      </a:r>
                      <a:endParaRPr lang="vi-VN" sz="18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p>
                      <a:pPr marL="342900" lvl="0" indent="-342900">
                        <a:lnSpc>
                          <a:spcPct val="150000"/>
                        </a:lnSpc>
                        <a:spcBef>
                          <a:spcPts val="240"/>
                        </a:spcBef>
                        <a:spcAft>
                          <a:spcPts val="240"/>
                        </a:spcAft>
                        <a:buSzPts val="1000"/>
                        <a:buFont typeface="Wingdings" panose="05000000000000000000" pitchFamily="2" charset="2"/>
                        <a:buChar char=""/>
                        <a:tabLst>
                          <a:tab pos="457200" algn="l"/>
                        </a:tabLst>
                      </a:pPr>
                      <a:r>
                        <a:rPr lang="vi-VN" sz="18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Tăng khả năng nghĩ tới các bệnh nền ở các cơ quan hoặc rối loạn chuyển hóa</a:t>
                      </a:r>
                      <a:endParaRPr lang="vi-VN" sz="18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359691">
                <a:tc>
                  <a:txBody>
                    <a:bodyPr/>
                    <a:lstStyle/>
                    <a:p>
                      <a:pPr>
                        <a:lnSpc>
                          <a:spcPct val="150000"/>
                        </a:lnSpc>
                        <a:spcAft>
                          <a:spcPts val="0"/>
                        </a:spcAft>
                      </a:pPr>
                      <a:r>
                        <a:rPr lang="vi-VN" sz="18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Li bì</a:t>
                      </a:r>
                      <a:endParaRPr lang="vi-VN" sz="18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marL="304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42900" lvl="0" indent="-342900">
                        <a:lnSpc>
                          <a:spcPct val="150000"/>
                        </a:lnSpc>
                        <a:spcBef>
                          <a:spcPts val="240"/>
                        </a:spcBef>
                        <a:spcAft>
                          <a:spcPts val="240"/>
                        </a:spcAft>
                        <a:buSzPts val="1000"/>
                        <a:buFont typeface="Wingdings" panose="05000000000000000000" pitchFamily="2" charset="2"/>
                        <a:buChar char=""/>
                        <a:tabLst>
                          <a:tab pos="457200" algn="l"/>
                        </a:tabLst>
                      </a:pPr>
                      <a:r>
                        <a:rPr lang="vi-VN" sz="18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Tăng khả năng nghĩ tới các bệnh nền ở các cơ quan hoặc rối loạn chuyển hóa </a:t>
                      </a:r>
                      <a:endParaRPr lang="vi-VN" sz="18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080356">
                <a:tc>
                  <a:txBody>
                    <a:bodyPr/>
                    <a:lstStyle/>
                    <a:p>
                      <a:pPr>
                        <a:lnSpc>
                          <a:spcPct val="150000"/>
                        </a:lnSpc>
                        <a:spcAft>
                          <a:spcPts val="0"/>
                        </a:spcAft>
                      </a:pPr>
                      <a:r>
                        <a:rPr lang="vi-VN" sz="18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Sụt cân đáng kể</a:t>
                      </a:r>
                      <a:endParaRPr lang="vi-VN" sz="18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marL="304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42900" lvl="0" indent="-342900">
                        <a:lnSpc>
                          <a:spcPct val="150000"/>
                        </a:lnSpc>
                        <a:spcBef>
                          <a:spcPts val="240"/>
                        </a:spcBef>
                        <a:spcAft>
                          <a:spcPts val="240"/>
                        </a:spcAft>
                        <a:buSzPts val="1000"/>
                        <a:buFont typeface="Wingdings" panose="05000000000000000000" pitchFamily="2" charset="2"/>
                        <a:buChar char=""/>
                        <a:tabLst>
                          <a:tab pos="457200" algn="l"/>
                        </a:tabLst>
                      </a:pPr>
                      <a:r>
                        <a:rPr lang="vi-VN" sz="1800" dirty="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Tăng khả năng nghĩ tới các bệnh nền ở các cơ quan hoặc rối loạn chuyển hóa</a:t>
                      </a:r>
                      <a:endParaRPr lang="vi-VN" sz="1800" dirty="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Tree>
    <p:extLst>
      <p:ext uri="{BB962C8B-B14F-4D97-AF65-F5344CB8AC3E}">
        <p14:creationId xmlns:p14="http://schemas.microsoft.com/office/powerpoint/2010/main" val="1942430162"/>
      </p:ext>
    </p:extLst>
  </p:cSld>
  <p:clrMapOvr>
    <a:masterClrMapping/>
  </p:clrMapOvr>
  <p:transition spd="slow">
    <p:push dir="u"/>
    <p:sndAc>
      <p:stSnd>
        <p:snd r:embed="rId2" name="camera.wav"/>
      </p:stSnd>
    </p:sndAc>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vi-VN"/>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042075654"/>
              </p:ext>
            </p:extLst>
          </p:nvPr>
        </p:nvGraphicFramePr>
        <p:xfrm>
          <a:off x="0" y="-2"/>
          <a:ext cx="12192000" cy="7208327"/>
        </p:xfrm>
        <a:graphic>
          <a:graphicData uri="http://schemas.openxmlformats.org/drawingml/2006/table">
            <a:tbl>
              <a:tblPr firstRow="1" bandRow="1">
                <a:tableStyleId>{5C22544A-7EE6-4342-B048-85BDC9FD1C3A}</a:tableStyleId>
              </a:tblPr>
              <a:tblGrid>
                <a:gridCol w="6096000"/>
                <a:gridCol w="6096000"/>
              </a:tblGrid>
              <a:tr h="1130769">
                <a:tc gridSpan="2">
                  <a:txBody>
                    <a:bodyPr/>
                    <a:lstStyle/>
                    <a:p>
                      <a:pPr algn="ctr"/>
                      <a:r>
                        <a:rPr lang="vi-VN" sz="2400" b="1" kern="1200" dirty="0" smtClean="0">
                          <a:solidFill>
                            <a:schemeClr val="lt1"/>
                          </a:solidFill>
                          <a:effectLst/>
                          <a:latin typeface="+mn-lt"/>
                          <a:ea typeface="+mn-ea"/>
                          <a:cs typeface="+mn-cs"/>
                        </a:rPr>
                        <a:t>Các triệu chứng của tắc nghẽn đường tiêu hóa hoặc bệnh đường tiêu hóa</a:t>
                      </a:r>
                      <a:endParaRPr lang="vi-VN"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hMerge="1">
                  <a:txBody>
                    <a:bodyPr/>
                    <a:lstStyle/>
                    <a:p>
                      <a:endParaRPr lang="vi-VN" dirty="0"/>
                    </a:p>
                  </a:txBody>
                  <a:tcPr/>
                </a:tc>
              </a:tr>
              <a:tr h="1130769">
                <a:tc>
                  <a:txBody>
                    <a:bodyPr/>
                    <a:lstStyle/>
                    <a:p>
                      <a:pPr>
                        <a:lnSpc>
                          <a:spcPts val="1800"/>
                        </a:lnSpc>
                        <a:spcAft>
                          <a:spcPts val="0"/>
                        </a:spcAft>
                      </a:pPr>
                      <a:r>
                        <a:rPr lang="vi-VN" sz="18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Nôn ra dịch mật</a:t>
                      </a:r>
                      <a:endParaRPr lang="vi-VN" sz="18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marL="304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ts val="1800"/>
                        </a:lnSpc>
                        <a:spcAft>
                          <a:spcPts val="0"/>
                        </a:spcAft>
                      </a:pPr>
                      <a:r>
                        <a:rPr lang="vi-VN" sz="18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Tắc ruột non ,đặc biệt ở trẻ sơ sinh</a:t>
                      </a:r>
                      <a:endParaRPr lang="vi-VN" sz="18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130769">
                <a:tc>
                  <a:txBody>
                    <a:bodyPr/>
                    <a:lstStyle/>
                    <a:p>
                      <a:pPr>
                        <a:lnSpc>
                          <a:spcPts val="1800"/>
                        </a:lnSpc>
                        <a:spcAft>
                          <a:spcPts val="0"/>
                        </a:spcAft>
                      </a:pPr>
                      <a:r>
                        <a:rPr lang="vi-VN" sz="18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Nôn vọt</a:t>
                      </a:r>
                      <a:endParaRPr lang="vi-VN" sz="18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marL="304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42900" lvl="0" indent="-342900">
                        <a:lnSpc>
                          <a:spcPts val="1800"/>
                        </a:lnSpc>
                        <a:spcBef>
                          <a:spcPts val="240"/>
                        </a:spcBef>
                        <a:spcAft>
                          <a:spcPts val="240"/>
                        </a:spcAft>
                        <a:buSzPts val="1000"/>
                        <a:buFont typeface="Wingdings" panose="05000000000000000000" pitchFamily="2" charset="2"/>
                        <a:buChar char=""/>
                        <a:tabLst>
                          <a:tab pos="457200" algn="l"/>
                        </a:tabLst>
                      </a:pPr>
                      <a:r>
                        <a:rPr lang="vi-VN" sz="18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Hẹp môn vị ở trẻ nhũ nhi nhỏ (3 - 6 tuần tuổi)</a:t>
                      </a:r>
                      <a:endParaRPr lang="vi-VN" sz="18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p>
                      <a:pPr marL="342900" lvl="0" indent="-342900">
                        <a:lnSpc>
                          <a:spcPts val="1800"/>
                        </a:lnSpc>
                        <a:spcBef>
                          <a:spcPts val="240"/>
                        </a:spcBef>
                        <a:spcAft>
                          <a:spcPts val="240"/>
                        </a:spcAft>
                        <a:buSzPts val="1000"/>
                        <a:buFont typeface="Wingdings" panose="05000000000000000000" pitchFamily="2" charset="2"/>
                        <a:buChar char=""/>
                        <a:tabLst>
                          <a:tab pos="457200" algn="l"/>
                        </a:tabLst>
                      </a:pPr>
                      <a:r>
                        <a:rPr lang="vi-VN" sz="18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Tắc ruột , hội chứng nôn chu kì</a:t>
                      </a:r>
                      <a:endParaRPr lang="vi-VN" sz="18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554482">
                <a:tc>
                  <a:txBody>
                    <a:bodyPr/>
                    <a:lstStyle/>
                    <a:p>
                      <a:pPr>
                        <a:lnSpc>
                          <a:spcPts val="1800"/>
                        </a:lnSpc>
                        <a:spcAft>
                          <a:spcPts val="0"/>
                        </a:spcAft>
                      </a:pPr>
                      <a:r>
                        <a:rPr lang="vi-VN" sz="18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Nôn máu ( hematemesis)</a:t>
                      </a:r>
                      <a:endParaRPr lang="vi-VN" sz="18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marL="304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42900" lvl="0" indent="-342900">
                        <a:lnSpc>
                          <a:spcPts val="1800"/>
                        </a:lnSpc>
                        <a:spcBef>
                          <a:spcPts val="240"/>
                        </a:spcBef>
                        <a:spcAft>
                          <a:spcPts val="240"/>
                        </a:spcAft>
                        <a:buSzPts val="1000"/>
                        <a:buFont typeface="Wingdings" panose="05000000000000000000" pitchFamily="2" charset="2"/>
                        <a:buChar char=""/>
                        <a:tabLst>
                          <a:tab pos="457200" algn="l"/>
                        </a:tabLst>
                      </a:pPr>
                      <a:r>
                        <a:rPr lang="vi-VN" sz="18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Nôn máu mức độ nặng gợi ý tới nguyên nhân do giãn tĩnh mạch thực quản </a:t>
                      </a:r>
                      <a:endParaRPr lang="vi-VN" sz="18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p>
                      <a:pPr marL="342900" lvl="0" indent="-342900">
                        <a:lnSpc>
                          <a:spcPts val="1800"/>
                        </a:lnSpc>
                        <a:spcBef>
                          <a:spcPts val="240"/>
                        </a:spcBef>
                        <a:spcAft>
                          <a:spcPts val="240"/>
                        </a:spcAft>
                        <a:buSzPts val="1000"/>
                        <a:buFont typeface="Wingdings" panose="05000000000000000000" pitchFamily="2" charset="2"/>
                        <a:buChar char=""/>
                        <a:tabLst>
                          <a:tab pos="457200" algn="l"/>
                        </a:tabLst>
                      </a:pPr>
                      <a:r>
                        <a:rPr lang="vi-VN" sz="18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Nôn máu mức độ nhẹ hơn có thể do nôn tái diễn nhiều lần làm tổn thương thực quản ( vết rách Mallory-Weiss) hoặc tổn thương dạ dày ( bệnh lý sa dạ dày) </a:t>
                      </a:r>
                      <a:endParaRPr lang="vi-VN" sz="18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130769">
                <a:tc>
                  <a:txBody>
                    <a:bodyPr/>
                    <a:lstStyle/>
                    <a:p>
                      <a:pPr>
                        <a:lnSpc>
                          <a:spcPts val="1800"/>
                        </a:lnSpc>
                        <a:spcAft>
                          <a:spcPts val="0"/>
                        </a:spcAft>
                      </a:pPr>
                      <a:r>
                        <a:rPr lang="vi-VN" sz="18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Đi ngoài phân máu ( hematochzia)</a:t>
                      </a:r>
                      <a:endParaRPr lang="vi-VN" sz="18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marL="304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ts val="1800"/>
                        </a:lnSpc>
                        <a:spcAft>
                          <a:spcPts val="0"/>
                        </a:spcAft>
                      </a:pPr>
                      <a:r>
                        <a:rPr lang="vi-VN" sz="18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Lồng ruột ( đặc biệt là trẻ nhũ nhi và trẻ bắt đầu tập đi), viêm đại tràng nhiễm trùng hoặc IBD.</a:t>
                      </a:r>
                      <a:endParaRPr lang="vi-VN" sz="18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130769">
                <a:tc>
                  <a:txBody>
                    <a:bodyPr/>
                    <a:lstStyle/>
                    <a:p>
                      <a:pPr>
                        <a:lnSpc>
                          <a:spcPts val="1800"/>
                        </a:lnSpc>
                        <a:spcAft>
                          <a:spcPts val="0"/>
                        </a:spcAft>
                      </a:pPr>
                      <a:r>
                        <a:rPr lang="vi-VN" sz="18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Bụng chứng căng rõ và có dấu hiệu phúc mạc</a:t>
                      </a:r>
                      <a:endParaRPr lang="vi-VN" sz="18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marL="304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ts val="1800"/>
                        </a:lnSpc>
                        <a:spcAft>
                          <a:spcPts val="0"/>
                        </a:spcAft>
                      </a:pPr>
                      <a:r>
                        <a:rPr lang="vi-VN" sz="18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Tắc ruột hoặc 1 bệnh lý nào đó trong ổ bụng ( vd viêm ruột thừa, tắc nghẽn đường tiêu hóa)</a:t>
                      </a:r>
                      <a:endParaRPr lang="vi-VN" sz="18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Tree>
    <p:extLst>
      <p:ext uri="{BB962C8B-B14F-4D97-AF65-F5344CB8AC3E}">
        <p14:creationId xmlns:p14="http://schemas.microsoft.com/office/powerpoint/2010/main" val="3528705818"/>
      </p:ext>
    </p:extLst>
  </p:cSld>
  <p:clrMapOvr>
    <a:masterClrMapping/>
  </p:clrMapOvr>
  <mc:AlternateContent xmlns:mc="http://schemas.openxmlformats.org/markup-compatibility/2006" xmlns:p14="http://schemas.microsoft.com/office/powerpoint/2010/main">
    <mc:Choice Requires="p14">
      <p:transition spd="slow" p14:dur="2000">
        <p:sndAc>
          <p:stSnd>
            <p:snd r:embed="rId2" name="camera.wav"/>
          </p:stSnd>
        </p:sndAc>
      </p:transition>
    </mc:Choice>
    <mc:Fallback xmlns="">
      <p:transition spd="slow">
        <p:sndAc>
          <p:stSnd>
            <p:snd r:embed="rId3" name="camera.wav"/>
          </p:stSnd>
        </p:sndAc>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vi-VN"/>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878995325"/>
              </p:ext>
            </p:extLst>
          </p:nvPr>
        </p:nvGraphicFramePr>
        <p:xfrm>
          <a:off x="0" y="0"/>
          <a:ext cx="12192000" cy="6858000"/>
        </p:xfrm>
        <a:graphic>
          <a:graphicData uri="http://schemas.openxmlformats.org/drawingml/2006/table">
            <a:tbl>
              <a:tblPr firstRow="1" bandRow="1">
                <a:tableStyleId>{5C22544A-7EE6-4342-B048-85BDC9FD1C3A}</a:tableStyleId>
              </a:tblPr>
              <a:tblGrid>
                <a:gridCol w="5099538"/>
                <a:gridCol w="7092462"/>
              </a:tblGrid>
              <a:tr h="1143000">
                <a:tc gridSpan="2">
                  <a:txBody>
                    <a:bodyPr/>
                    <a:lstStyle/>
                    <a:p>
                      <a:pPr algn="ctr">
                        <a:lnSpc>
                          <a:spcPct val="150000"/>
                        </a:lnSpc>
                      </a:pPr>
                      <a:r>
                        <a:rPr lang="vi-VN" sz="2400" b="1" kern="1200" dirty="0" smtClean="0">
                          <a:solidFill>
                            <a:schemeClr val="lt1"/>
                          </a:solidFill>
                          <a:effectLst/>
                          <a:latin typeface="+mn-lt"/>
                          <a:ea typeface="+mn-ea"/>
                          <a:cs typeface="+mn-cs"/>
                        </a:rPr>
                        <a:t>Các dấu hiệu và triệu chứng gợi ý tới bệnh thần kinh hoặc bệnh hệ thống</a:t>
                      </a:r>
                      <a:endParaRPr lang="vi-VN"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hMerge="1">
                  <a:txBody>
                    <a:bodyPr/>
                    <a:lstStyle/>
                    <a:p>
                      <a:endParaRPr lang="vi-VN" dirty="0"/>
                    </a:p>
                  </a:txBody>
                  <a:tcPr/>
                </a:tc>
              </a:tr>
              <a:tr h="1143000">
                <a:tc>
                  <a:txBody>
                    <a:bodyPr/>
                    <a:lstStyle/>
                    <a:p>
                      <a:pPr>
                        <a:lnSpc>
                          <a:spcPct val="150000"/>
                        </a:lnSpc>
                        <a:spcAft>
                          <a:spcPts val="0"/>
                        </a:spcAft>
                      </a:pPr>
                      <a:r>
                        <a:rPr lang="vi-VN" sz="18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Thóp phồng </a:t>
                      </a:r>
                      <a:endParaRPr lang="vi-VN" sz="18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marL="304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50000"/>
                        </a:lnSpc>
                        <a:spcAft>
                          <a:spcPts val="0"/>
                        </a:spcAft>
                      </a:pPr>
                      <a:r>
                        <a:rPr lang="vi-VN" sz="1800" dirty="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Não úng thủy hoặc viêm màng não</a:t>
                      </a:r>
                      <a:endParaRPr lang="vi-VN" sz="1800" dirty="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143000">
                <a:tc>
                  <a:txBody>
                    <a:bodyPr/>
                    <a:lstStyle/>
                    <a:p>
                      <a:pPr>
                        <a:lnSpc>
                          <a:spcPct val="150000"/>
                        </a:lnSpc>
                        <a:spcAft>
                          <a:spcPts val="0"/>
                        </a:spcAft>
                      </a:pPr>
                      <a:r>
                        <a:rPr lang="vi-VN" sz="18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Đau đầu, nôn khi ngủ dậy hoặc thay đổi tư </a:t>
                      </a:r>
                      <a:r>
                        <a:rPr lang="vi-VN" sz="1800" smtClean="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thế, </a:t>
                      </a:r>
                      <a:r>
                        <a:rPr lang="vi-VN" sz="18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không có buồn nôn.</a:t>
                      </a:r>
                      <a:endParaRPr lang="vi-VN" sz="18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marL="304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50000"/>
                        </a:lnSpc>
                        <a:spcAft>
                          <a:spcPts val="0"/>
                        </a:spcAft>
                      </a:pPr>
                      <a:r>
                        <a:rPr lang="vi-VN" sz="18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Tăng  áp lực nội sọ ( vd khối nội sọ , não úng thủy,hoặc giả u não)</a:t>
                      </a:r>
                      <a:endParaRPr lang="vi-VN" sz="18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143000">
                <a:tc>
                  <a:txBody>
                    <a:bodyPr/>
                    <a:lstStyle/>
                    <a:p>
                      <a:pPr>
                        <a:lnSpc>
                          <a:spcPct val="150000"/>
                        </a:lnSpc>
                        <a:spcAft>
                          <a:spcPts val="0"/>
                        </a:spcAft>
                      </a:pPr>
                      <a:r>
                        <a:rPr lang="vi-VN" sz="1800" dirty="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Thay đổi tri giác,tinh thần, co giật, hoặc các dấu hiệu thần kinh cục bộ</a:t>
                      </a:r>
                      <a:endParaRPr lang="vi-VN" sz="1800" dirty="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marL="304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50000"/>
                        </a:lnSpc>
                        <a:spcAft>
                          <a:spcPts val="0"/>
                        </a:spcAft>
                      </a:pPr>
                      <a:r>
                        <a:rPr lang="vi-VN" sz="18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Ngộ độc thức ăn ,toan xeton đái tháo đường, khối chèn ép hệ thần kinh trung ương, hoặc rối loạn chuyển hóa bẩm sinh</a:t>
                      </a:r>
                      <a:endParaRPr lang="vi-VN" sz="18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143000">
                <a:tc>
                  <a:txBody>
                    <a:bodyPr/>
                    <a:lstStyle/>
                    <a:p>
                      <a:pPr>
                        <a:lnSpc>
                          <a:spcPct val="150000"/>
                        </a:lnSpc>
                        <a:spcAft>
                          <a:spcPts val="0"/>
                        </a:spcAft>
                      </a:pPr>
                      <a:r>
                        <a:rPr lang="vi-VN" sz="18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Tiền sử hoặc thăm khám lâm sàng có dấu hiệu của chấn thương</a:t>
                      </a:r>
                      <a:endParaRPr lang="vi-VN" sz="18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marL="304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50000"/>
                        </a:lnSpc>
                        <a:spcAft>
                          <a:spcPts val="0"/>
                        </a:spcAft>
                      </a:pPr>
                      <a:r>
                        <a:rPr lang="vi-VN" sz="18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Tổn thương nội sọ hoặc trong ổ bụng ( vd máu tụ tá tràng)</a:t>
                      </a:r>
                      <a:endParaRPr lang="vi-VN" sz="18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143000">
                <a:tc>
                  <a:txBody>
                    <a:bodyPr/>
                    <a:lstStyle/>
                    <a:p>
                      <a:pPr>
                        <a:lnSpc>
                          <a:spcPct val="150000"/>
                        </a:lnSpc>
                        <a:spcAft>
                          <a:spcPts val="0"/>
                        </a:spcAft>
                      </a:pPr>
                      <a:r>
                        <a:rPr lang="vi-VN" sz="18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Hạ huyết áp không tương xứng với mức độ bệnh và /hoặc hạ natri máu ,tăng kali máu.</a:t>
                      </a:r>
                      <a:endParaRPr lang="vi-VN" sz="18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marL="304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50000"/>
                        </a:lnSpc>
                        <a:spcAft>
                          <a:spcPts val="0"/>
                        </a:spcAft>
                      </a:pPr>
                      <a:r>
                        <a:rPr lang="vi-VN" sz="18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Cơn suy vỏ thượng thận</a:t>
                      </a:r>
                      <a:endParaRPr lang="vi-VN" sz="18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Tree>
    <p:extLst>
      <p:ext uri="{BB962C8B-B14F-4D97-AF65-F5344CB8AC3E}">
        <p14:creationId xmlns:p14="http://schemas.microsoft.com/office/powerpoint/2010/main" val="3963492525"/>
      </p:ext>
    </p:extLst>
  </p:cSld>
  <p:clrMapOvr>
    <a:masterClrMapping/>
  </p:clrMapOvr>
  <mc:AlternateContent xmlns:mc="http://schemas.openxmlformats.org/markup-compatibility/2006" xmlns:p14="http://schemas.microsoft.com/office/powerpoint/2010/main">
    <mc:Choice Requires="p14">
      <p:transition spd="slow" p14:dur="2000">
        <p:sndAc>
          <p:stSnd>
            <p:snd r:embed="rId2" name="camera.wav"/>
          </p:stSnd>
        </p:sndAc>
      </p:transition>
    </mc:Choice>
    <mc:Fallback xmlns="">
      <p:transition spd="slow">
        <p:sndAc>
          <p:stSnd>
            <p:snd r:embed="rId3" name="camera.wav"/>
          </p:stSnd>
        </p:sndAc>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smtClean="0"/>
              <a:t>Khai</a:t>
            </a:r>
            <a:r>
              <a:rPr lang="en-US" smtClean="0"/>
              <a:t> </a:t>
            </a:r>
            <a:r>
              <a:rPr lang="en-US" err="1" smtClean="0"/>
              <a:t>thác</a:t>
            </a:r>
            <a:r>
              <a:rPr lang="en-US" smtClean="0"/>
              <a:t> </a:t>
            </a:r>
            <a:r>
              <a:rPr lang="en-US" err="1" smtClean="0"/>
              <a:t>tiền</a:t>
            </a:r>
            <a:r>
              <a:rPr lang="en-US" smtClean="0"/>
              <a:t> </a:t>
            </a:r>
            <a:r>
              <a:rPr lang="en-US" err="1" smtClean="0"/>
              <a:t>sử</a:t>
            </a:r>
            <a:endParaRPr lang="vi-VN"/>
          </a:p>
        </p:txBody>
      </p:sp>
      <p:sp>
        <p:nvSpPr>
          <p:cNvPr id="3" name="Content Placeholder 2"/>
          <p:cNvSpPr>
            <a:spLocks noGrp="1"/>
          </p:cNvSpPr>
          <p:nvPr>
            <p:ph idx="1"/>
          </p:nvPr>
        </p:nvSpPr>
        <p:spPr/>
        <p:txBody>
          <a:bodyPr/>
          <a:lstStyle/>
          <a:p>
            <a:r>
              <a:rPr lang="en-US" err="1" smtClean="0"/>
              <a:t>Tiền</a:t>
            </a:r>
            <a:r>
              <a:rPr lang="en-US" smtClean="0"/>
              <a:t> </a:t>
            </a:r>
            <a:r>
              <a:rPr lang="en-US" err="1" smtClean="0"/>
              <a:t>sử</a:t>
            </a:r>
            <a:r>
              <a:rPr lang="en-US" smtClean="0"/>
              <a:t> </a:t>
            </a:r>
            <a:r>
              <a:rPr lang="en-US" err="1" smtClean="0"/>
              <a:t>sản</a:t>
            </a:r>
            <a:r>
              <a:rPr lang="en-US" smtClean="0"/>
              <a:t> </a:t>
            </a:r>
            <a:r>
              <a:rPr lang="en-US" err="1" smtClean="0"/>
              <a:t>khoa</a:t>
            </a:r>
            <a:r>
              <a:rPr lang="en-US" smtClean="0"/>
              <a:t>( </a:t>
            </a:r>
            <a:r>
              <a:rPr lang="en-US" err="1" smtClean="0"/>
              <a:t>nôn</a:t>
            </a:r>
            <a:r>
              <a:rPr lang="en-US" smtClean="0"/>
              <a:t> </a:t>
            </a:r>
            <a:r>
              <a:rPr lang="en-US" err="1" smtClean="0"/>
              <a:t>trong</a:t>
            </a:r>
            <a:r>
              <a:rPr lang="en-US" smtClean="0"/>
              <a:t> </a:t>
            </a:r>
            <a:r>
              <a:rPr lang="en-US" err="1" smtClean="0"/>
              <a:t>giai</a:t>
            </a:r>
            <a:r>
              <a:rPr lang="en-US" smtClean="0"/>
              <a:t> </a:t>
            </a:r>
            <a:r>
              <a:rPr lang="en-US" err="1" smtClean="0"/>
              <a:t>đoạn</a:t>
            </a:r>
            <a:r>
              <a:rPr lang="en-US" smtClean="0"/>
              <a:t> </a:t>
            </a:r>
            <a:r>
              <a:rPr lang="en-US" err="1" smtClean="0"/>
              <a:t>sơ</a:t>
            </a:r>
            <a:r>
              <a:rPr lang="en-US" smtClean="0"/>
              <a:t> </a:t>
            </a:r>
            <a:r>
              <a:rPr lang="en-US" err="1" smtClean="0"/>
              <a:t>sinh</a:t>
            </a:r>
            <a:r>
              <a:rPr lang="en-US" smtClean="0"/>
              <a:t>)</a:t>
            </a:r>
          </a:p>
          <a:p>
            <a:pPr marL="0" indent="0">
              <a:buNone/>
            </a:pPr>
            <a:endParaRPr lang="en-US" smtClean="0"/>
          </a:p>
          <a:p>
            <a:r>
              <a:rPr lang="en-US" err="1" smtClean="0"/>
              <a:t>Tiền</a:t>
            </a:r>
            <a:r>
              <a:rPr lang="en-US" smtClean="0"/>
              <a:t> </a:t>
            </a:r>
            <a:r>
              <a:rPr lang="en-US" err="1" smtClean="0"/>
              <a:t>sử</a:t>
            </a:r>
            <a:r>
              <a:rPr lang="en-US" smtClean="0"/>
              <a:t> </a:t>
            </a:r>
            <a:r>
              <a:rPr lang="en-US" err="1" smtClean="0"/>
              <a:t>tiếp</a:t>
            </a:r>
            <a:r>
              <a:rPr lang="en-US" smtClean="0"/>
              <a:t> </a:t>
            </a:r>
            <a:r>
              <a:rPr lang="en-US" err="1" smtClean="0"/>
              <a:t>xúc</a:t>
            </a:r>
            <a:r>
              <a:rPr lang="en-US" smtClean="0"/>
              <a:t> </a:t>
            </a:r>
            <a:r>
              <a:rPr lang="en-US" err="1" smtClean="0"/>
              <a:t>với</a:t>
            </a:r>
            <a:r>
              <a:rPr lang="en-US" smtClean="0"/>
              <a:t> </a:t>
            </a:r>
            <a:r>
              <a:rPr lang="en-US" err="1" smtClean="0"/>
              <a:t>người</a:t>
            </a:r>
            <a:r>
              <a:rPr lang="en-US" smtClean="0"/>
              <a:t> </a:t>
            </a:r>
            <a:r>
              <a:rPr lang="en-US" err="1" smtClean="0"/>
              <a:t>bị</a:t>
            </a:r>
            <a:r>
              <a:rPr lang="en-US" smtClean="0"/>
              <a:t> </a:t>
            </a:r>
            <a:r>
              <a:rPr lang="en-US" err="1" smtClean="0"/>
              <a:t>bệnh</a:t>
            </a:r>
            <a:r>
              <a:rPr lang="en-US" smtClean="0"/>
              <a:t>( </a:t>
            </a:r>
            <a:r>
              <a:rPr lang="en-US" err="1" smtClean="0"/>
              <a:t>nôn</a:t>
            </a:r>
            <a:r>
              <a:rPr lang="en-US" smtClean="0"/>
              <a:t>, </a:t>
            </a:r>
            <a:r>
              <a:rPr lang="en-US" err="1" smtClean="0"/>
              <a:t>đi</a:t>
            </a:r>
            <a:r>
              <a:rPr lang="en-US" smtClean="0"/>
              <a:t> </a:t>
            </a:r>
            <a:r>
              <a:rPr lang="en-US" err="1" smtClean="0"/>
              <a:t>ngoài,sốt</a:t>
            </a:r>
            <a:r>
              <a:rPr lang="en-US" smtClean="0"/>
              <a:t>)</a:t>
            </a:r>
          </a:p>
          <a:p>
            <a:pPr marL="0" indent="0">
              <a:buNone/>
            </a:pPr>
            <a:endParaRPr lang="en-US" smtClean="0"/>
          </a:p>
          <a:p>
            <a:r>
              <a:rPr lang="en-US" err="1" smtClean="0"/>
              <a:t>Tiền</a:t>
            </a:r>
            <a:r>
              <a:rPr lang="en-US" smtClean="0"/>
              <a:t> </a:t>
            </a:r>
            <a:r>
              <a:rPr lang="en-US" err="1" smtClean="0"/>
              <a:t>sử</a:t>
            </a:r>
            <a:r>
              <a:rPr lang="en-US" smtClean="0"/>
              <a:t> </a:t>
            </a:r>
            <a:r>
              <a:rPr lang="en-US" err="1" smtClean="0"/>
              <a:t>sử</a:t>
            </a:r>
            <a:r>
              <a:rPr lang="en-US" smtClean="0"/>
              <a:t> </a:t>
            </a:r>
            <a:r>
              <a:rPr lang="en-US" err="1" smtClean="0"/>
              <a:t>dụng</a:t>
            </a:r>
            <a:r>
              <a:rPr lang="en-US" smtClean="0"/>
              <a:t> </a:t>
            </a:r>
            <a:r>
              <a:rPr lang="en-US" err="1" smtClean="0"/>
              <a:t>thuốc</a:t>
            </a:r>
            <a:r>
              <a:rPr lang="en-US" smtClean="0"/>
              <a:t> </a:t>
            </a:r>
            <a:r>
              <a:rPr lang="en-US" err="1" smtClean="0"/>
              <a:t>và</a:t>
            </a:r>
            <a:r>
              <a:rPr lang="en-US" smtClean="0"/>
              <a:t> </a:t>
            </a:r>
            <a:r>
              <a:rPr lang="en-US" err="1" smtClean="0"/>
              <a:t>uống</a:t>
            </a:r>
            <a:r>
              <a:rPr lang="en-US" smtClean="0"/>
              <a:t> </a:t>
            </a:r>
            <a:r>
              <a:rPr lang="en-US" err="1" smtClean="0"/>
              <a:t>nhầm</a:t>
            </a:r>
            <a:r>
              <a:rPr lang="en-US" smtClean="0"/>
              <a:t> </a:t>
            </a:r>
            <a:r>
              <a:rPr lang="en-US" err="1" smtClean="0"/>
              <a:t>thuốc</a:t>
            </a:r>
            <a:endParaRPr lang="en-US" smtClean="0"/>
          </a:p>
          <a:p>
            <a:pPr marL="0" indent="0">
              <a:buNone/>
            </a:pPr>
            <a:endParaRPr lang="en-US" smtClean="0"/>
          </a:p>
          <a:p>
            <a:r>
              <a:rPr lang="en-US" err="1" smtClean="0"/>
              <a:t>Tiền</a:t>
            </a:r>
            <a:r>
              <a:rPr lang="en-US" smtClean="0"/>
              <a:t> </a:t>
            </a:r>
            <a:r>
              <a:rPr lang="en-US" err="1" smtClean="0"/>
              <a:t>sử</a:t>
            </a:r>
            <a:r>
              <a:rPr lang="en-US" smtClean="0"/>
              <a:t> </a:t>
            </a:r>
            <a:r>
              <a:rPr lang="en-US" err="1" smtClean="0"/>
              <a:t>phát</a:t>
            </a:r>
            <a:r>
              <a:rPr lang="en-US" smtClean="0"/>
              <a:t> </a:t>
            </a:r>
            <a:r>
              <a:rPr lang="en-US" err="1" smtClean="0"/>
              <a:t>triển</a:t>
            </a:r>
            <a:r>
              <a:rPr lang="en-US" smtClean="0"/>
              <a:t> ,</a:t>
            </a:r>
            <a:r>
              <a:rPr lang="en-US" err="1" smtClean="0"/>
              <a:t>dị</a:t>
            </a:r>
            <a:r>
              <a:rPr lang="en-US" smtClean="0"/>
              <a:t> </a:t>
            </a:r>
            <a:r>
              <a:rPr lang="en-US" err="1" smtClean="0"/>
              <a:t>tật</a:t>
            </a:r>
            <a:r>
              <a:rPr lang="en-US" smtClean="0"/>
              <a:t> </a:t>
            </a:r>
            <a:r>
              <a:rPr lang="en-US" err="1" smtClean="0"/>
              <a:t>bẩm</a:t>
            </a:r>
            <a:r>
              <a:rPr lang="en-US" smtClean="0"/>
              <a:t> </a:t>
            </a:r>
            <a:r>
              <a:rPr lang="en-US" err="1" smtClean="0"/>
              <a:t>sinh</a:t>
            </a:r>
            <a:r>
              <a:rPr lang="en-US" smtClean="0"/>
              <a:t> </a:t>
            </a:r>
            <a:r>
              <a:rPr lang="en-US" err="1" smtClean="0"/>
              <a:t>và</a:t>
            </a:r>
            <a:r>
              <a:rPr lang="en-US" smtClean="0"/>
              <a:t> </a:t>
            </a:r>
            <a:r>
              <a:rPr lang="en-US" err="1" smtClean="0"/>
              <a:t>các</a:t>
            </a:r>
            <a:r>
              <a:rPr lang="en-US" smtClean="0"/>
              <a:t> </a:t>
            </a:r>
            <a:r>
              <a:rPr lang="en-US" err="1" smtClean="0"/>
              <a:t>khuyến</a:t>
            </a:r>
            <a:r>
              <a:rPr lang="en-US" smtClean="0"/>
              <a:t> </a:t>
            </a:r>
            <a:r>
              <a:rPr lang="en-US" err="1" smtClean="0"/>
              <a:t>khuyết</a:t>
            </a:r>
            <a:r>
              <a:rPr lang="en-US" smtClean="0"/>
              <a:t> </a:t>
            </a:r>
            <a:r>
              <a:rPr lang="en-US" err="1" smtClean="0"/>
              <a:t>thần</a:t>
            </a:r>
            <a:r>
              <a:rPr lang="en-US" smtClean="0"/>
              <a:t> </a:t>
            </a:r>
            <a:r>
              <a:rPr lang="en-US" err="1" smtClean="0"/>
              <a:t>kinh</a:t>
            </a:r>
            <a:endParaRPr lang="vi-VN"/>
          </a:p>
        </p:txBody>
      </p:sp>
    </p:spTree>
    <p:extLst>
      <p:ext uri="{BB962C8B-B14F-4D97-AF65-F5344CB8AC3E}">
        <p14:creationId xmlns:p14="http://schemas.microsoft.com/office/powerpoint/2010/main" val="2692560359"/>
      </p:ext>
    </p:extLst>
  </p:cSld>
  <p:clrMapOvr>
    <a:masterClrMapping/>
  </p:clrMapOvr>
  <p:transition spd="slow">
    <p:push dir="u"/>
    <p:sndAc>
      <p:stSnd>
        <p:snd r:embed="rId2" name="camera.wav"/>
      </p:stSnd>
    </p:sndAc>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smtClean="0"/>
              <a:t>Hỏi</a:t>
            </a:r>
            <a:r>
              <a:rPr lang="en-US" smtClean="0"/>
              <a:t> </a:t>
            </a:r>
            <a:r>
              <a:rPr lang="en-US" err="1" smtClean="0"/>
              <a:t>bệnh</a:t>
            </a:r>
            <a:endParaRPr lang="vi-VN"/>
          </a:p>
        </p:txBody>
      </p:sp>
      <p:sp>
        <p:nvSpPr>
          <p:cNvPr id="3" name="Content Placeholder 2"/>
          <p:cNvSpPr>
            <a:spLocks noGrp="1"/>
          </p:cNvSpPr>
          <p:nvPr>
            <p:ph idx="1"/>
          </p:nvPr>
        </p:nvSpPr>
        <p:spPr>
          <a:xfrm>
            <a:off x="609600" y="1390650"/>
            <a:ext cx="12192000" cy="5594465"/>
          </a:xfrm>
        </p:spPr>
        <p:txBody>
          <a:bodyPr/>
          <a:lstStyle/>
          <a:p>
            <a:r>
              <a:rPr lang="en-US" err="1" smtClean="0"/>
              <a:t>Thời</a:t>
            </a:r>
            <a:r>
              <a:rPr lang="en-US" smtClean="0"/>
              <a:t> </a:t>
            </a:r>
            <a:r>
              <a:rPr lang="en-US" err="1" smtClean="0"/>
              <a:t>gian</a:t>
            </a:r>
            <a:r>
              <a:rPr lang="en-US" smtClean="0"/>
              <a:t> </a:t>
            </a:r>
            <a:r>
              <a:rPr lang="en-US" err="1" smtClean="0"/>
              <a:t>xuất</a:t>
            </a:r>
            <a:r>
              <a:rPr lang="en-US" smtClean="0"/>
              <a:t> </a:t>
            </a:r>
            <a:r>
              <a:rPr lang="en-US" err="1" smtClean="0"/>
              <a:t>hiện</a:t>
            </a:r>
            <a:r>
              <a:rPr lang="en-US" smtClean="0"/>
              <a:t> </a:t>
            </a:r>
            <a:r>
              <a:rPr lang="en-US" err="1" smtClean="0"/>
              <a:t>nôn</a:t>
            </a:r>
            <a:endParaRPr lang="en-US" smtClean="0"/>
          </a:p>
          <a:p>
            <a:r>
              <a:rPr lang="en-US" err="1" smtClean="0"/>
              <a:t>Tính</a:t>
            </a:r>
            <a:r>
              <a:rPr lang="en-US" smtClean="0"/>
              <a:t> </a:t>
            </a:r>
            <a:r>
              <a:rPr lang="en-US" err="1" smtClean="0"/>
              <a:t>chất</a:t>
            </a:r>
            <a:r>
              <a:rPr lang="en-US" smtClean="0"/>
              <a:t> </a:t>
            </a:r>
            <a:r>
              <a:rPr lang="en-US" err="1" smtClean="0"/>
              <a:t>nôn</a:t>
            </a:r>
            <a:endParaRPr lang="en-US" smtClean="0"/>
          </a:p>
          <a:p>
            <a:pPr lvl="2">
              <a:buFont typeface="Wingdings" panose="05000000000000000000" pitchFamily="2" charset="2"/>
              <a:buChar char="Ø"/>
            </a:pPr>
            <a:r>
              <a:rPr lang="en-US" sz="2800" smtClean="0"/>
              <a:t>  </a:t>
            </a:r>
            <a:r>
              <a:rPr lang="en-US" sz="2800" err="1" smtClean="0"/>
              <a:t>Nôn</a:t>
            </a:r>
            <a:r>
              <a:rPr lang="en-US" sz="2800" smtClean="0"/>
              <a:t> </a:t>
            </a:r>
            <a:r>
              <a:rPr lang="en-US" sz="2800" err="1" smtClean="0"/>
              <a:t>máu</a:t>
            </a:r>
            <a:r>
              <a:rPr lang="en-US" sz="2800" smtClean="0"/>
              <a:t>, </a:t>
            </a:r>
            <a:r>
              <a:rPr lang="en-US" sz="2800" err="1" smtClean="0"/>
              <a:t>nôn</a:t>
            </a:r>
            <a:r>
              <a:rPr lang="en-US" sz="2800" smtClean="0"/>
              <a:t> </a:t>
            </a:r>
            <a:r>
              <a:rPr lang="en-US" sz="2800" err="1" smtClean="0"/>
              <a:t>dịch</a:t>
            </a:r>
            <a:r>
              <a:rPr lang="en-US" sz="2800" smtClean="0"/>
              <a:t> </a:t>
            </a:r>
            <a:r>
              <a:rPr lang="en-US" sz="2800" err="1" smtClean="0"/>
              <a:t>mật</a:t>
            </a:r>
            <a:endParaRPr lang="en-US" sz="2800" smtClean="0"/>
          </a:p>
          <a:p>
            <a:pPr lvl="2">
              <a:buFont typeface="Wingdings" panose="05000000000000000000" pitchFamily="2" charset="2"/>
              <a:buChar char="Ø"/>
            </a:pPr>
            <a:r>
              <a:rPr lang="en-US" sz="2800" smtClean="0"/>
              <a:t>  </a:t>
            </a:r>
            <a:r>
              <a:rPr lang="en-US" sz="2800" err="1"/>
              <a:t>L</a:t>
            </a:r>
            <a:r>
              <a:rPr lang="en-US" sz="2800" err="1" smtClean="0"/>
              <a:t>iên</a:t>
            </a:r>
            <a:r>
              <a:rPr lang="en-US" sz="2800" smtClean="0"/>
              <a:t> </a:t>
            </a:r>
            <a:r>
              <a:rPr lang="en-US" sz="2800" err="1" smtClean="0"/>
              <a:t>quan</a:t>
            </a:r>
            <a:r>
              <a:rPr lang="en-US" sz="2800" smtClean="0"/>
              <a:t> </a:t>
            </a:r>
            <a:r>
              <a:rPr lang="en-US" sz="2800" err="1" smtClean="0"/>
              <a:t>đến</a:t>
            </a:r>
            <a:r>
              <a:rPr lang="en-US" sz="2800" smtClean="0"/>
              <a:t> </a:t>
            </a:r>
            <a:r>
              <a:rPr lang="en-US" sz="2800" err="1" smtClean="0"/>
              <a:t>bữa</a:t>
            </a:r>
            <a:r>
              <a:rPr lang="en-US" sz="2800" smtClean="0"/>
              <a:t> </a:t>
            </a:r>
            <a:r>
              <a:rPr lang="en-US" sz="2800" err="1" smtClean="0"/>
              <a:t>ăn</a:t>
            </a:r>
            <a:endParaRPr lang="en-US" sz="2800" smtClean="0"/>
          </a:p>
          <a:p>
            <a:pPr lvl="2">
              <a:buFont typeface="Wingdings" panose="05000000000000000000" pitchFamily="2" charset="2"/>
              <a:buChar char="Ø"/>
            </a:pPr>
            <a:r>
              <a:rPr lang="en-US" sz="2800" smtClean="0"/>
              <a:t>  </a:t>
            </a:r>
            <a:r>
              <a:rPr lang="en-US" sz="2800" err="1"/>
              <a:t>M</a:t>
            </a:r>
            <a:r>
              <a:rPr lang="en-US" sz="2800" err="1" smtClean="0"/>
              <a:t>ức</a:t>
            </a:r>
            <a:r>
              <a:rPr lang="en-US" sz="2800" smtClean="0"/>
              <a:t> </a:t>
            </a:r>
            <a:r>
              <a:rPr lang="en-US" sz="2800" err="1" smtClean="0"/>
              <a:t>độ</a:t>
            </a:r>
            <a:r>
              <a:rPr lang="en-US" sz="2800" smtClean="0"/>
              <a:t> </a:t>
            </a:r>
            <a:r>
              <a:rPr lang="en-US" sz="2800" err="1" smtClean="0"/>
              <a:t>nôn</a:t>
            </a:r>
            <a:endParaRPr lang="en-US" sz="2800" smtClean="0"/>
          </a:p>
          <a:p>
            <a:r>
              <a:rPr lang="en-US" err="1" smtClean="0"/>
              <a:t>Các</a:t>
            </a:r>
            <a:r>
              <a:rPr lang="en-US" smtClean="0"/>
              <a:t> </a:t>
            </a:r>
            <a:r>
              <a:rPr lang="en-US" err="1" smtClean="0"/>
              <a:t>triệu</a:t>
            </a:r>
            <a:r>
              <a:rPr lang="en-US" smtClean="0"/>
              <a:t> </a:t>
            </a:r>
            <a:r>
              <a:rPr lang="en-US" err="1" smtClean="0"/>
              <a:t>chứng</a:t>
            </a:r>
            <a:r>
              <a:rPr lang="en-US" smtClean="0"/>
              <a:t> </a:t>
            </a:r>
            <a:r>
              <a:rPr lang="en-US" err="1" smtClean="0"/>
              <a:t>liên</a:t>
            </a:r>
            <a:r>
              <a:rPr lang="en-US" smtClean="0"/>
              <a:t> </a:t>
            </a:r>
            <a:r>
              <a:rPr lang="en-US" err="1" smtClean="0"/>
              <a:t>quan</a:t>
            </a:r>
            <a:endParaRPr lang="en-US" smtClean="0"/>
          </a:p>
          <a:p>
            <a:pPr lvl="2">
              <a:buFont typeface="Wingdings" panose="05000000000000000000" pitchFamily="2" charset="2"/>
              <a:buChar char="Ø"/>
            </a:pPr>
            <a:r>
              <a:rPr lang="en-US" sz="2800" err="1" smtClean="0"/>
              <a:t>sốt</a:t>
            </a:r>
            <a:endParaRPr lang="en-US" sz="2800" smtClean="0"/>
          </a:p>
          <a:p>
            <a:pPr lvl="2">
              <a:buFont typeface="Wingdings" panose="05000000000000000000" pitchFamily="2" charset="2"/>
              <a:buChar char="Ø"/>
            </a:pPr>
            <a:r>
              <a:rPr lang="en-US" sz="2800" err="1" smtClean="0"/>
              <a:t>đi</a:t>
            </a:r>
            <a:r>
              <a:rPr lang="en-US" sz="2800" smtClean="0"/>
              <a:t> </a:t>
            </a:r>
            <a:r>
              <a:rPr lang="en-US" sz="2800" err="1" smtClean="0"/>
              <a:t>ngoài</a:t>
            </a:r>
            <a:endParaRPr lang="en-US" sz="2800" smtClean="0"/>
          </a:p>
          <a:p>
            <a:pPr lvl="2">
              <a:buFont typeface="Wingdings" panose="05000000000000000000" pitchFamily="2" charset="2"/>
              <a:buChar char="Ø"/>
            </a:pPr>
            <a:r>
              <a:rPr lang="en-US" sz="2800" err="1" smtClean="0"/>
              <a:t>đau</a:t>
            </a:r>
            <a:r>
              <a:rPr lang="en-US" sz="2800" smtClean="0"/>
              <a:t> </a:t>
            </a:r>
            <a:r>
              <a:rPr lang="en-US" sz="2800" err="1" smtClean="0"/>
              <a:t>bụng</a:t>
            </a:r>
            <a:endParaRPr lang="en-US" sz="2800" smtClean="0"/>
          </a:p>
          <a:p>
            <a:pPr lvl="2">
              <a:buFont typeface="Wingdings" panose="05000000000000000000" pitchFamily="2" charset="2"/>
              <a:buChar char="Ø"/>
            </a:pPr>
            <a:r>
              <a:rPr lang="en-US" sz="2800" err="1" smtClean="0"/>
              <a:t>đau</a:t>
            </a:r>
            <a:r>
              <a:rPr lang="en-US" sz="2800" smtClean="0"/>
              <a:t> </a:t>
            </a:r>
            <a:r>
              <a:rPr lang="en-US" sz="2800" err="1" smtClean="0"/>
              <a:t>đầu</a:t>
            </a:r>
            <a:endParaRPr lang="en-US" sz="2800" smtClean="0"/>
          </a:p>
          <a:p>
            <a:pPr marL="0" indent="0">
              <a:buNone/>
            </a:pPr>
            <a:endParaRPr lang="en-US" smtClean="0"/>
          </a:p>
          <a:p>
            <a:pPr marL="0" indent="0">
              <a:buNone/>
            </a:pPr>
            <a:endParaRPr lang="en-US" smtClean="0"/>
          </a:p>
          <a:p>
            <a:pPr marL="0" indent="0">
              <a:buNone/>
            </a:pPr>
            <a:endParaRPr lang="vi-VN"/>
          </a:p>
        </p:txBody>
      </p:sp>
    </p:spTree>
    <p:extLst>
      <p:ext uri="{BB962C8B-B14F-4D97-AF65-F5344CB8AC3E}">
        <p14:creationId xmlns:p14="http://schemas.microsoft.com/office/powerpoint/2010/main" val="2771406667"/>
      </p:ext>
    </p:extLst>
  </p:cSld>
  <p:clrMapOvr>
    <a:masterClrMapping/>
  </p:clrMapOvr>
  <p:transition spd="slow">
    <p:push dir="u"/>
    <p:sndAc>
      <p:stSnd>
        <p:snd r:embed="rId2" name="camera.wav"/>
      </p:stSnd>
    </p:sndAc>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vi-VN"/>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439317121"/>
              </p:ext>
            </p:extLst>
          </p:nvPr>
        </p:nvGraphicFramePr>
        <p:xfrm>
          <a:off x="0" y="-1"/>
          <a:ext cx="12192000" cy="6894868"/>
        </p:xfrm>
        <a:graphic>
          <a:graphicData uri="http://schemas.openxmlformats.org/drawingml/2006/table">
            <a:tbl>
              <a:tblPr firstRow="1" bandRow="1">
                <a:tableStyleId>{5C22544A-7EE6-4342-B048-85BDC9FD1C3A}</a:tableStyleId>
              </a:tblPr>
              <a:tblGrid>
                <a:gridCol w="4227566"/>
                <a:gridCol w="7964434"/>
              </a:tblGrid>
              <a:tr h="448617">
                <a:tc>
                  <a:txBody>
                    <a:bodyPr/>
                    <a:lstStyle/>
                    <a:p>
                      <a:pPr algn="l">
                        <a:lnSpc>
                          <a:spcPts val="1800"/>
                        </a:lnSpc>
                        <a:spcAft>
                          <a:spcPts val="0"/>
                        </a:spcAft>
                      </a:pPr>
                      <a:r>
                        <a:rPr lang="vi-VN" sz="2000" b="1" dirty="0">
                          <a:solidFill>
                            <a:schemeClr val="bg1"/>
                          </a:solidFill>
                          <a:effectLst/>
                          <a:latin typeface="Arial" panose="020B0604020202020204" pitchFamily="34" charset="0"/>
                          <a:ea typeface="Arial" panose="020B0604020202020204" pitchFamily="34" charset="0"/>
                          <a:cs typeface="Arial" panose="020B0604020202020204" pitchFamily="34" charset="0"/>
                        </a:rPr>
                        <a:t>Các triệu chứng </a:t>
                      </a:r>
                      <a:endParaRPr lang="vi-VN" sz="20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T="76200" anchor="ctr">
                    <a:solidFill>
                      <a:srgbClr val="0070C0"/>
                    </a:solidFill>
                  </a:tcPr>
                </a:tc>
                <a:tc>
                  <a:txBody>
                    <a:bodyPr/>
                    <a:lstStyle/>
                    <a:p>
                      <a:pPr algn="l">
                        <a:lnSpc>
                          <a:spcPts val="1800"/>
                        </a:lnSpc>
                        <a:spcAft>
                          <a:spcPts val="0"/>
                        </a:spcAft>
                      </a:pPr>
                      <a:r>
                        <a:rPr lang="vi-VN" sz="2000" b="1" dirty="0" smtClean="0">
                          <a:solidFill>
                            <a:schemeClr val="bg1"/>
                          </a:solidFill>
                          <a:effectLst/>
                          <a:latin typeface="Arial" panose="020B0604020202020204" pitchFamily="34" charset="0"/>
                          <a:ea typeface="Arial" panose="020B0604020202020204" pitchFamily="34" charset="0"/>
                          <a:cs typeface="Arial" panose="020B0604020202020204" pitchFamily="34" charset="0"/>
                        </a:rPr>
                        <a:t>Hướng chẩn đoán,chẩn đoán cần quan tâm </a:t>
                      </a:r>
                      <a:endParaRPr lang="vi-VN" sz="20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T="76200" anchor="ctr">
                    <a:solidFill>
                      <a:srgbClr val="0070C0"/>
                    </a:solidFill>
                  </a:tcPr>
                </a:tc>
              </a:tr>
              <a:tr h="448617">
                <a:tc gridSpan="2">
                  <a:txBody>
                    <a:bodyPr/>
                    <a:lstStyle/>
                    <a:p>
                      <a:pPr algn="l">
                        <a:lnSpc>
                          <a:spcPts val="1800"/>
                        </a:lnSpc>
                        <a:spcAft>
                          <a:spcPts val="0"/>
                        </a:spcAft>
                      </a:pPr>
                      <a:r>
                        <a:rPr lang="vi-VN" sz="2000" b="1" dirty="0">
                          <a:solidFill>
                            <a:schemeClr val="bg1"/>
                          </a:solidFill>
                          <a:effectLst/>
                          <a:latin typeface="Arial" panose="020B0604020202020204" pitchFamily="34" charset="0"/>
                          <a:ea typeface="Arial" panose="020B0604020202020204" pitchFamily="34" charset="0"/>
                          <a:cs typeface="Arial" panose="020B0604020202020204" pitchFamily="34" charset="0"/>
                        </a:rPr>
                        <a:t>Bệnh sử</a:t>
                      </a:r>
                      <a:endParaRPr lang="vi-VN" sz="20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T="60960" anchor="ctr">
                    <a:solidFill>
                      <a:srgbClr val="0070C0"/>
                    </a:solidFill>
                  </a:tcPr>
                </a:tc>
                <a:tc hMerge="1">
                  <a:txBody>
                    <a:bodyPr/>
                    <a:lstStyle/>
                    <a:p>
                      <a:endParaRPr lang="vi-VN"/>
                    </a:p>
                  </a:txBody>
                  <a:tcPr/>
                </a:tc>
              </a:tr>
              <a:tr h="1204198">
                <a:tc>
                  <a:txBody>
                    <a:bodyPr/>
                    <a:lstStyle/>
                    <a:p>
                      <a:pPr algn="l">
                        <a:lnSpc>
                          <a:spcPts val="1800"/>
                        </a:lnSpc>
                        <a:spcAft>
                          <a:spcPts val="0"/>
                        </a:spcAft>
                      </a:pPr>
                      <a:r>
                        <a:rPr lang="vi-VN" sz="2000" dirty="0">
                          <a:solidFill>
                            <a:schemeClr val="bg1"/>
                          </a:solidFill>
                          <a:effectLst/>
                          <a:latin typeface="Arial" panose="020B0604020202020204" pitchFamily="34" charset="0"/>
                          <a:ea typeface="Arial" panose="020B0604020202020204" pitchFamily="34" charset="0"/>
                          <a:cs typeface="Arial" panose="020B0604020202020204" pitchFamily="34" charset="0"/>
                        </a:rPr>
                        <a:t>Sốt và đi ngoài khởi phát đột ngột, cấp tính</a:t>
                      </a:r>
                      <a:endParaRPr lang="vi-VN" sz="20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L="304800" anchor="ctr">
                    <a:solidFill>
                      <a:srgbClr val="0070C0"/>
                    </a:solidFill>
                  </a:tcPr>
                </a:tc>
                <a:tc>
                  <a:txBody>
                    <a:bodyPr/>
                    <a:lstStyle/>
                    <a:p>
                      <a:pPr marL="342900" lvl="0" indent="-342900" algn="l">
                        <a:lnSpc>
                          <a:spcPts val="1800"/>
                        </a:lnSpc>
                        <a:spcBef>
                          <a:spcPts val="240"/>
                        </a:spcBef>
                        <a:spcAft>
                          <a:spcPts val="240"/>
                        </a:spcAft>
                        <a:buSzPts val="1000"/>
                        <a:buFont typeface="Symbol" panose="05050102010706020507" pitchFamily="18" charset="2"/>
                        <a:buChar char=""/>
                        <a:tabLst>
                          <a:tab pos="457200" algn="l"/>
                        </a:tabLst>
                      </a:pPr>
                      <a:r>
                        <a:rPr lang="vi-VN" sz="2000" dirty="0">
                          <a:solidFill>
                            <a:schemeClr val="bg1"/>
                          </a:solidFill>
                          <a:effectLst/>
                          <a:latin typeface="Arial" panose="020B0604020202020204" pitchFamily="34" charset="0"/>
                          <a:ea typeface="Arial" panose="020B0604020202020204" pitchFamily="34" charset="0"/>
                          <a:cs typeface="Arial" panose="020B0604020202020204" pitchFamily="34" charset="0"/>
                        </a:rPr>
                        <a:t>Viêm dạ dày ruột do virus ( nếu các triệu chứng là điển hình)</a:t>
                      </a:r>
                      <a:endParaRPr lang="vi-VN" sz="20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p>
                      <a:pPr marL="342900" lvl="0" indent="-342900" algn="l">
                        <a:lnSpc>
                          <a:spcPts val="1800"/>
                        </a:lnSpc>
                        <a:spcBef>
                          <a:spcPts val="240"/>
                        </a:spcBef>
                        <a:spcAft>
                          <a:spcPts val="240"/>
                        </a:spcAft>
                        <a:buSzPts val="1000"/>
                        <a:buFont typeface="Symbol" panose="05050102010706020507" pitchFamily="18" charset="2"/>
                        <a:buChar char=""/>
                        <a:tabLst>
                          <a:tab pos="457200" algn="l"/>
                        </a:tabLst>
                      </a:pPr>
                      <a:r>
                        <a:rPr lang="vi-VN" sz="2000" dirty="0">
                          <a:solidFill>
                            <a:schemeClr val="bg1"/>
                          </a:solidFill>
                          <a:effectLst/>
                          <a:latin typeface="Arial" panose="020B0604020202020204" pitchFamily="34" charset="0"/>
                          <a:ea typeface="Arial" panose="020B0604020202020204" pitchFamily="34" charset="0"/>
                          <a:cs typeface="Arial" panose="020B0604020202020204" pitchFamily="34" charset="0"/>
                        </a:rPr>
                        <a:t>Nhiễm trùng ( nhiễm khuẩn huyết, viêm ruột non / đại tràng nhiễm trùng,viêm ruột thừa, IBD)</a:t>
                      </a:r>
                      <a:endParaRPr lang="vi-VN" sz="20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p>
                      <a:pPr marL="342900" lvl="0" indent="-342900" algn="l">
                        <a:lnSpc>
                          <a:spcPts val="1800"/>
                        </a:lnSpc>
                        <a:spcBef>
                          <a:spcPts val="240"/>
                        </a:spcBef>
                        <a:spcAft>
                          <a:spcPts val="240"/>
                        </a:spcAft>
                        <a:buSzPts val="1000"/>
                        <a:buFont typeface="Symbol" panose="05050102010706020507" pitchFamily="18" charset="2"/>
                        <a:buChar char=""/>
                        <a:tabLst>
                          <a:tab pos="457200" algn="l"/>
                        </a:tabLst>
                      </a:pPr>
                      <a:r>
                        <a:rPr lang="vi-VN" sz="2000" dirty="0">
                          <a:solidFill>
                            <a:schemeClr val="bg1"/>
                          </a:solidFill>
                          <a:effectLst/>
                          <a:latin typeface="Arial" panose="020B0604020202020204" pitchFamily="34" charset="0"/>
                          <a:ea typeface="Arial" panose="020B0604020202020204" pitchFamily="34" charset="0"/>
                          <a:cs typeface="Arial" panose="020B0604020202020204" pitchFamily="34" charset="0"/>
                        </a:rPr>
                        <a:t>Viêm ruột non đại tràng liên quan đến bệnh hirschsprung</a:t>
                      </a:r>
                      <a:endParaRPr lang="vi-VN" sz="20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anchor="ctr">
                    <a:solidFill>
                      <a:srgbClr val="0070C0"/>
                    </a:solidFill>
                  </a:tcPr>
                </a:tc>
              </a:tr>
              <a:tr h="663706">
                <a:tc>
                  <a:txBody>
                    <a:bodyPr/>
                    <a:lstStyle/>
                    <a:p>
                      <a:pPr algn="l">
                        <a:lnSpc>
                          <a:spcPts val="1800"/>
                        </a:lnSpc>
                        <a:spcAft>
                          <a:spcPts val="0"/>
                        </a:spcAft>
                      </a:pPr>
                      <a:r>
                        <a:rPr lang="vi-VN" sz="2000" dirty="0">
                          <a:solidFill>
                            <a:schemeClr val="bg1"/>
                          </a:solidFill>
                          <a:effectLst/>
                          <a:latin typeface="Arial" panose="020B0604020202020204" pitchFamily="34" charset="0"/>
                          <a:ea typeface="Arial" panose="020B0604020202020204" pitchFamily="34" charset="0"/>
                          <a:cs typeface="Arial" panose="020B0604020202020204" pitchFamily="34" charset="0"/>
                        </a:rPr>
                        <a:t>Nôn vào sáng sớm</a:t>
                      </a:r>
                      <a:endParaRPr lang="vi-VN" sz="20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L="304800" anchor="ctr">
                    <a:solidFill>
                      <a:srgbClr val="0070C0"/>
                    </a:solidFill>
                  </a:tcPr>
                </a:tc>
                <a:tc>
                  <a:txBody>
                    <a:bodyPr/>
                    <a:lstStyle/>
                    <a:p>
                      <a:pPr marL="342900" lvl="0" indent="-342900" algn="l">
                        <a:lnSpc>
                          <a:spcPts val="1800"/>
                        </a:lnSpc>
                        <a:spcBef>
                          <a:spcPts val="240"/>
                        </a:spcBef>
                        <a:spcAft>
                          <a:spcPts val="240"/>
                        </a:spcAft>
                        <a:buSzPts val="1000"/>
                        <a:buFont typeface="Wingdings" panose="05000000000000000000" pitchFamily="2" charset="2"/>
                        <a:buChar char=""/>
                        <a:tabLst>
                          <a:tab pos="457200" algn="l"/>
                        </a:tabLst>
                      </a:pPr>
                      <a:r>
                        <a:rPr lang="vi-VN" sz="2000" dirty="0">
                          <a:solidFill>
                            <a:schemeClr val="bg1"/>
                          </a:solidFill>
                          <a:effectLst/>
                          <a:latin typeface="Arial" panose="020B0604020202020204" pitchFamily="34" charset="0"/>
                          <a:ea typeface="Arial" panose="020B0604020202020204" pitchFamily="34" charset="0"/>
                          <a:cs typeface="Arial" panose="020B0604020202020204" pitchFamily="34" charset="0"/>
                        </a:rPr>
                        <a:t>Mang thai ( trẻ nữ ở tuổi vị thanh thiếu niên) , tăng áp lực nội sọ, hoặc nôn chu kì. </a:t>
                      </a:r>
                      <a:endParaRPr lang="vi-VN" sz="20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anchor="ctr">
                    <a:solidFill>
                      <a:srgbClr val="0070C0"/>
                    </a:solidFill>
                  </a:tcPr>
                </a:tc>
              </a:tr>
              <a:tr h="448617">
                <a:tc>
                  <a:txBody>
                    <a:bodyPr/>
                    <a:lstStyle/>
                    <a:p>
                      <a:pPr algn="l">
                        <a:lnSpc>
                          <a:spcPts val="1800"/>
                        </a:lnSpc>
                        <a:spcAft>
                          <a:spcPts val="0"/>
                        </a:spcAft>
                      </a:pPr>
                      <a:r>
                        <a:rPr lang="vi-VN" sz="2000">
                          <a:solidFill>
                            <a:schemeClr val="bg1"/>
                          </a:solidFill>
                          <a:effectLst/>
                          <a:latin typeface="Arial" panose="020B0604020202020204" pitchFamily="34" charset="0"/>
                          <a:ea typeface="Arial" panose="020B0604020202020204" pitchFamily="34" charset="0"/>
                          <a:cs typeface="Arial" panose="020B0604020202020204" pitchFamily="34" charset="0"/>
                        </a:rPr>
                        <a:t>Nôn không có buồn nôn</a:t>
                      </a:r>
                      <a:endParaRPr lang="vi-VN" sz="200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L="304800" anchor="ctr">
                    <a:solidFill>
                      <a:srgbClr val="0070C0"/>
                    </a:solidFill>
                  </a:tcPr>
                </a:tc>
                <a:tc>
                  <a:txBody>
                    <a:bodyPr/>
                    <a:lstStyle/>
                    <a:p>
                      <a:pPr marL="342900" lvl="0" indent="-342900" algn="l">
                        <a:lnSpc>
                          <a:spcPts val="1800"/>
                        </a:lnSpc>
                        <a:spcBef>
                          <a:spcPts val="240"/>
                        </a:spcBef>
                        <a:spcAft>
                          <a:spcPts val="240"/>
                        </a:spcAft>
                        <a:buSzPts val="1000"/>
                        <a:buFont typeface="Wingdings" panose="05000000000000000000" pitchFamily="2" charset="2"/>
                        <a:buChar char=""/>
                        <a:tabLst>
                          <a:tab pos="457200" algn="l"/>
                        </a:tabLst>
                      </a:pPr>
                      <a:r>
                        <a:rPr lang="vi-VN" sz="2000" dirty="0">
                          <a:solidFill>
                            <a:schemeClr val="bg1"/>
                          </a:solidFill>
                          <a:effectLst/>
                          <a:latin typeface="Arial" panose="020B0604020202020204" pitchFamily="34" charset="0"/>
                          <a:ea typeface="Arial" panose="020B0604020202020204" pitchFamily="34" charset="0"/>
                          <a:cs typeface="Arial" panose="020B0604020202020204" pitchFamily="34" charset="0"/>
                        </a:rPr>
                        <a:t>Tăng áp lực nội sọ</a:t>
                      </a:r>
                      <a:endParaRPr lang="vi-VN" sz="20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anchor="ctr">
                    <a:solidFill>
                      <a:srgbClr val="0070C0"/>
                    </a:solidFill>
                  </a:tcPr>
                </a:tc>
              </a:tr>
              <a:tr h="725161">
                <a:tc>
                  <a:txBody>
                    <a:bodyPr/>
                    <a:lstStyle/>
                    <a:p>
                      <a:pPr algn="l">
                        <a:lnSpc>
                          <a:spcPts val="1800"/>
                        </a:lnSpc>
                        <a:spcAft>
                          <a:spcPts val="0"/>
                        </a:spcAft>
                      </a:pPr>
                      <a:r>
                        <a:rPr lang="vi-VN" sz="2000">
                          <a:solidFill>
                            <a:schemeClr val="bg1"/>
                          </a:solidFill>
                          <a:effectLst/>
                          <a:latin typeface="Arial" panose="020B0604020202020204" pitchFamily="34" charset="0"/>
                          <a:ea typeface="Arial" panose="020B0604020202020204" pitchFamily="34" charset="0"/>
                          <a:cs typeface="Arial" panose="020B0604020202020204" pitchFamily="34" charset="0"/>
                        </a:rPr>
                        <a:t>Nôn nhiều lần, số lượng nhiều</a:t>
                      </a:r>
                      <a:endParaRPr lang="vi-VN" sz="200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L="304800" anchor="ctr">
                    <a:solidFill>
                      <a:srgbClr val="0070C0"/>
                    </a:solidFill>
                  </a:tcPr>
                </a:tc>
                <a:tc>
                  <a:txBody>
                    <a:bodyPr/>
                    <a:lstStyle/>
                    <a:p>
                      <a:pPr marL="342900" lvl="0" indent="-342900" algn="l">
                        <a:lnSpc>
                          <a:spcPts val="1800"/>
                        </a:lnSpc>
                        <a:spcBef>
                          <a:spcPts val="240"/>
                        </a:spcBef>
                        <a:spcAft>
                          <a:spcPts val="240"/>
                        </a:spcAft>
                        <a:buSzPts val="1000"/>
                        <a:buFont typeface="Symbol" panose="05050102010706020507" pitchFamily="18" charset="2"/>
                        <a:buChar char=""/>
                        <a:tabLst>
                          <a:tab pos="457200" algn="l"/>
                        </a:tabLst>
                      </a:pPr>
                      <a:r>
                        <a:rPr lang="vi-VN" sz="2000" dirty="0">
                          <a:solidFill>
                            <a:schemeClr val="bg1"/>
                          </a:solidFill>
                          <a:effectLst/>
                          <a:latin typeface="Arial" panose="020B0604020202020204" pitchFamily="34" charset="0"/>
                          <a:ea typeface="Arial" panose="020B0604020202020204" pitchFamily="34" charset="0"/>
                          <a:cs typeface="Arial" panose="020B0604020202020204" pitchFamily="34" charset="0"/>
                        </a:rPr>
                        <a:t>Trào ngược dạ dày thực quản</a:t>
                      </a:r>
                      <a:endParaRPr lang="vi-VN" sz="20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p>
                      <a:pPr marL="342900" lvl="0" indent="-342900" algn="l">
                        <a:lnSpc>
                          <a:spcPts val="1800"/>
                        </a:lnSpc>
                        <a:spcBef>
                          <a:spcPts val="240"/>
                        </a:spcBef>
                        <a:spcAft>
                          <a:spcPts val="240"/>
                        </a:spcAft>
                        <a:buSzPts val="1000"/>
                        <a:buFont typeface="Symbol" panose="05050102010706020507" pitchFamily="18" charset="2"/>
                        <a:buChar char=""/>
                        <a:tabLst>
                          <a:tab pos="457200" algn="l"/>
                        </a:tabLst>
                      </a:pPr>
                      <a:r>
                        <a:rPr lang="vi-VN" sz="2000" dirty="0">
                          <a:solidFill>
                            <a:schemeClr val="bg1"/>
                          </a:solidFill>
                          <a:effectLst/>
                          <a:latin typeface="Arial" panose="020B0604020202020204" pitchFamily="34" charset="0"/>
                          <a:ea typeface="Arial" panose="020B0604020202020204" pitchFamily="34" charset="0"/>
                          <a:cs typeface="Arial" panose="020B0604020202020204" pitchFamily="34" charset="0"/>
                        </a:rPr>
                        <a:t>Hội hội chứng nhai lại</a:t>
                      </a:r>
                      <a:endParaRPr lang="vi-VN" sz="20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anchor="ctr">
                    <a:solidFill>
                      <a:srgbClr val="0070C0"/>
                    </a:solidFill>
                  </a:tcPr>
                </a:tc>
              </a:tr>
              <a:tr h="725161">
                <a:tc>
                  <a:txBody>
                    <a:bodyPr/>
                    <a:lstStyle/>
                    <a:p>
                      <a:pPr algn="l">
                        <a:lnSpc>
                          <a:spcPts val="1800"/>
                        </a:lnSpc>
                        <a:spcAft>
                          <a:spcPts val="0"/>
                        </a:spcAft>
                      </a:pPr>
                      <a:r>
                        <a:rPr lang="vi-VN" sz="2000" dirty="0">
                          <a:solidFill>
                            <a:schemeClr val="bg1"/>
                          </a:solidFill>
                          <a:effectLst/>
                          <a:latin typeface="Arial" panose="020B0604020202020204" pitchFamily="34" charset="0"/>
                          <a:ea typeface="Arial" panose="020B0604020202020204" pitchFamily="34" charset="0"/>
                          <a:cs typeface="Arial" panose="020B0604020202020204" pitchFamily="34" charset="0"/>
                        </a:rPr>
                        <a:t>Nhiễm trùng mạn tính hoặc tái phát nhiều lần</a:t>
                      </a:r>
                      <a:endParaRPr lang="vi-VN" sz="20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L="304800" anchor="ctr">
                    <a:solidFill>
                      <a:srgbClr val="0070C0"/>
                    </a:solidFill>
                  </a:tcPr>
                </a:tc>
                <a:tc>
                  <a:txBody>
                    <a:bodyPr/>
                    <a:lstStyle/>
                    <a:p>
                      <a:pPr marL="342900" lvl="0" indent="-342900" algn="l">
                        <a:lnSpc>
                          <a:spcPts val="1800"/>
                        </a:lnSpc>
                        <a:spcBef>
                          <a:spcPts val="240"/>
                        </a:spcBef>
                        <a:spcAft>
                          <a:spcPts val="240"/>
                        </a:spcAft>
                        <a:buSzPts val="1000"/>
                        <a:buFont typeface="Symbol" panose="05050102010706020507" pitchFamily="18" charset="2"/>
                        <a:buChar char=""/>
                        <a:tabLst>
                          <a:tab pos="457200" algn="l"/>
                        </a:tabLst>
                      </a:pPr>
                      <a:r>
                        <a:rPr lang="vi-VN" sz="2000" dirty="0">
                          <a:solidFill>
                            <a:schemeClr val="bg1"/>
                          </a:solidFill>
                          <a:effectLst/>
                          <a:latin typeface="Arial" panose="020B0604020202020204" pitchFamily="34" charset="0"/>
                          <a:ea typeface="Arial" panose="020B0604020202020204" pitchFamily="34" charset="0"/>
                          <a:cs typeface="Arial" panose="020B0604020202020204" pitchFamily="34" charset="0"/>
                        </a:rPr>
                        <a:t>Suy giảm miễn dịch </a:t>
                      </a:r>
                      <a:endParaRPr lang="vi-VN" sz="20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p>
                      <a:pPr marL="342900" lvl="0" indent="-342900" algn="l">
                        <a:lnSpc>
                          <a:spcPts val="1800"/>
                        </a:lnSpc>
                        <a:spcBef>
                          <a:spcPts val="240"/>
                        </a:spcBef>
                        <a:spcAft>
                          <a:spcPts val="240"/>
                        </a:spcAft>
                        <a:buSzPts val="1000"/>
                        <a:buFont typeface="Symbol" panose="05050102010706020507" pitchFamily="18" charset="2"/>
                        <a:buChar char=""/>
                        <a:tabLst>
                          <a:tab pos="457200" algn="l"/>
                        </a:tabLst>
                      </a:pPr>
                      <a:r>
                        <a:rPr lang="vi-VN" sz="2000" dirty="0">
                          <a:solidFill>
                            <a:schemeClr val="bg1"/>
                          </a:solidFill>
                          <a:effectLst/>
                          <a:latin typeface="Arial" panose="020B0604020202020204" pitchFamily="34" charset="0"/>
                          <a:ea typeface="Arial" panose="020B0604020202020204" pitchFamily="34" charset="0"/>
                          <a:cs typeface="Arial" panose="020B0604020202020204" pitchFamily="34" charset="0"/>
                        </a:rPr>
                        <a:t>Dò khí quản- thực quản ( ở trẻ hay viêm phổi tái phát)</a:t>
                      </a:r>
                      <a:endParaRPr lang="vi-VN" sz="20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anchor="ctr">
                    <a:solidFill>
                      <a:srgbClr val="0070C0"/>
                    </a:solidFill>
                  </a:tcPr>
                </a:tc>
              </a:tr>
              <a:tr h="2230791">
                <a:tc>
                  <a:txBody>
                    <a:bodyPr/>
                    <a:lstStyle/>
                    <a:p>
                      <a:pPr algn="l">
                        <a:lnSpc>
                          <a:spcPts val="1800"/>
                        </a:lnSpc>
                        <a:spcAft>
                          <a:spcPts val="0"/>
                        </a:spcAft>
                      </a:pPr>
                      <a:r>
                        <a:rPr lang="vi-VN" sz="2000">
                          <a:solidFill>
                            <a:schemeClr val="bg1"/>
                          </a:solidFill>
                          <a:effectLst/>
                          <a:latin typeface="Arial" panose="020B0604020202020204" pitchFamily="34" charset="0"/>
                          <a:ea typeface="Arial" panose="020B0604020202020204" pitchFamily="34" charset="0"/>
                          <a:cs typeface="Arial" panose="020B0604020202020204" pitchFamily="34" charset="0"/>
                        </a:rPr>
                        <a:t>Nôn từng đợt định kì</a:t>
                      </a:r>
                      <a:endParaRPr lang="vi-VN" sz="200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L="304800" anchor="ctr">
                    <a:solidFill>
                      <a:srgbClr val="0070C0"/>
                    </a:solidFill>
                  </a:tcPr>
                </a:tc>
                <a:tc>
                  <a:txBody>
                    <a:bodyPr/>
                    <a:lstStyle/>
                    <a:p>
                      <a:pPr marL="342900" lvl="0" indent="-342900" algn="l">
                        <a:lnSpc>
                          <a:spcPts val="1800"/>
                        </a:lnSpc>
                        <a:spcBef>
                          <a:spcPts val="240"/>
                        </a:spcBef>
                        <a:spcAft>
                          <a:spcPts val="240"/>
                        </a:spcAft>
                        <a:buSzPts val="1000"/>
                        <a:buFont typeface="Symbol" panose="05050102010706020507" pitchFamily="18" charset="2"/>
                        <a:buChar char=""/>
                        <a:tabLst>
                          <a:tab pos="457200" algn="l"/>
                        </a:tabLst>
                      </a:pPr>
                      <a:r>
                        <a:rPr lang="vi-VN" sz="2000" dirty="0">
                          <a:solidFill>
                            <a:schemeClr val="bg1"/>
                          </a:solidFill>
                          <a:effectLst/>
                          <a:latin typeface="Arial" panose="020B0604020202020204" pitchFamily="34" charset="0"/>
                          <a:ea typeface="Arial" panose="020B0604020202020204" pitchFamily="34" charset="0"/>
                          <a:cs typeface="Arial" panose="020B0604020202020204" pitchFamily="34" charset="0"/>
                        </a:rPr>
                        <a:t>Hội chứng nôn chu kì</a:t>
                      </a:r>
                      <a:endParaRPr lang="vi-VN" sz="20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p>
                      <a:pPr marL="342900" lvl="0" indent="-342900" algn="l">
                        <a:lnSpc>
                          <a:spcPts val="1800"/>
                        </a:lnSpc>
                        <a:spcBef>
                          <a:spcPts val="240"/>
                        </a:spcBef>
                        <a:spcAft>
                          <a:spcPts val="240"/>
                        </a:spcAft>
                        <a:buSzPts val="1000"/>
                        <a:buFont typeface="Symbol" panose="05050102010706020507" pitchFamily="18" charset="2"/>
                        <a:buChar char=""/>
                        <a:tabLst>
                          <a:tab pos="457200" algn="l"/>
                        </a:tabLst>
                      </a:pPr>
                      <a:r>
                        <a:rPr lang="vi-VN" sz="2000" dirty="0">
                          <a:solidFill>
                            <a:schemeClr val="bg1"/>
                          </a:solidFill>
                          <a:effectLst/>
                          <a:latin typeface="Arial" panose="020B0604020202020204" pitchFamily="34" charset="0"/>
                          <a:ea typeface="Arial" panose="020B0604020202020204" pitchFamily="34" charset="0"/>
                          <a:cs typeface="Arial" panose="020B0604020202020204" pitchFamily="34" charset="0"/>
                        </a:rPr>
                        <a:t>Rối loạn chuyển hóa bẩm sinh</a:t>
                      </a:r>
                      <a:endParaRPr lang="vi-VN" sz="20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p>
                      <a:pPr marL="342900" lvl="0" indent="-342900" algn="l">
                        <a:lnSpc>
                          <a:spcPts val="1800"/>
                        </a:lnSpc>
                        <a:spcBef>
                          <a:spcPts val="240"/>
                        </a:spcBef>
                        <a:spcAft>
                          <a:spcPts val="240"/>
                        </a:spcAft>
                        <a:buSzPts val="1000"/>
                        <a:buFont typeface="Symbol" panose="05050102010706020507" pitchFamily="18" charset="2"/>
                        <a:buChar char=""/>
                        <a:tabLst>
                          <a:tab pos="457200" algn="l"/>
                        </a:tabLst>
                      </a:pPr>
                      <a:r>
                        <a:rPr lang="vi-VN" sz="2000" dirty="0" smtClean="0">
                          <a:solidFill>
                            <a:schemeClr val="bg1"/>
                          </a:solidFill>
                          <a:effectLst/>
                          <a:latin typeface="Arial" panose="020B0604020202020204" pitchFamily="34" charset="0"/>
                          <a:ea typeface="Arial" panose="020B0604020202020204" pitchFamily="34" charset="0"/>
                          <a:cs typeface="Arial" panose="020B0604020202020204" pitchFamily="34" charset="0"/>
                        </a:rPr>
                        <a:t>đau </a:t>
                      </a:r>
                      <a:r>
                        <a:rPr lang="vi-VN" sz="2000" dirty="0">
                          <a:solidFill>
                            <a:schemeClr val="bg1"/>
                          </a:solidFill>
                          <a:effectLst/>
                          <a:latin typeface="Arial" panose="020B0604020202020204" pitchFamily="34" charset="0"/>
                          <a:ea typeface="Arial" panose="020B0604020202020204" pitchFamily="34" charset="0"/>
                          <a:cs typeface="Arial" panose="020B0604020202020204" pitchFamily="34" charset="0"/>
                        </a:rPr>
                        <a:t>đầu migraine ( thường có nôn và buồn nôn đi kèm đau đầu và tiền sử gia đình bị migrane)</a:t>
                      </a:r>
                      <a:endParaRPr lang="vi-VN" sz="20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p>
                      <a:pPr marL="342900" lvl="0" indent="-342900" algn="l">
                        <a:lnSpc>
                          <a:spcPts val="1800"/>
                        </a:lnSpc>
                        <a:spcBef>
                          <a:spcPts val="240"/>
                        </a:spcBef>
                        <a:spcAft>
                          <a:spcPts val="240"/>
                        </a:spcAft>
                        <a:buSzPts val="1000"/>
                        <a:buFont typeface="Symbol" panose="05050102010706020507" pitchFamily="18" charset="2"/>
                        <a:buChar char=""/>
                        <a:tabLst>
                          <a:tab pos="457200" algn="l"/>
                        </a:tabLst>
                      </a:pPr>
                      <a:r>
                        <a:rPr lang="vi-VN" sz="2000" dirty="0">
                          <a:solidFill>
                            <a:schemeClr val="bg1"/>
                          </a:solidFill>
                          <a:effectLst/>
                          <a:latin typeface="Arial" panose="020B0604020202020204" pitchFamily="34" charset="0"/>
                          <a:ea typeface="Arial" panose="020B0604020202020204" pitchFamily="34" charset="0"/>
                          <a:cs typeface="Arial" panose="020B0604020202020204" pitchFamily="34" charset="0"/>
                        </a:rPr>
                        <a:t>Bệnh rối  loạn chuyển hóa porphyrin, carcinoid, u tủy thượng thận (pheochromocytoma), rối loạn thần kinh thực vật có yếu tố gia đình (familial dysautonomia)</a:t>
                      </a:r>
                      <a:endParaRPr lang="vi-VN" sz="20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anchor="ctr">
                    <a:solidFill>
                      <a:srgbClr val="0070C0"/>
                    </a:solidFill>
                  </a:tcPr>
                </a:tc>
              </a:tr>
            </a:tbl>
          </a:graphicData>
        </a:graphic>
      </p:graphicFrame>
    </p:spTree>
    <p:extLst>
      <p:ext uri="{BB962C8B-B14F-4D97-AF65-F5344CB8AC3E}">
        <p14:creationId xmlns:p14="http://schemas.microsoft.com/office/powerpoint/2010/main" val="1389218158"/>
      </p:ext>
    </p:extLst>
  </p:cSld>
  <p:clrMapOvr>
    <a:masterClrMapping/>
  </p:clrMapOvr>
  <mc:AlternateContent xmlns:mc="http://schemas.openxmlformats.org/markup-compatibility/2006" xmlns:p14="http://schemas.microsoft.com/office/powerpoint/2010/main">
    <mc:Choice Requires="p14">
      <p:transition spd="slow" p14:dur="2000">
        <p:sndAc>
          <p:stSnd>
            <p:snd r:embed="rId2" name="camera.wav"/>
          </p:stSnd>
        </p:sndAc>
      </p:transition>
    </mc:Choice>
    <mc:Fallback xmlns="">
      <p:transition spd="slow">
        <p:sndAc>
          <p:stSnd>
            <p:snd r:embed="rId3" name="camera.wav"/>
          </p:stSnd>
        </p:sndAc>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vi-VN"/>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924947907"/>
              </p:ext>
            </p:extLst>
          </p:nvPr>
        </p:nvGraphicFramePr>
        <p:xfrm>
          <a:off x="0" y="2"/>
          <a:ext cx="12192000" cy="6858000"/>
        </p:xfrm>
        <a:graphic>
          <a:graphicData uri="http://schemas.openxmlformats.org/drawingml/2006/table">
            <a:tbl>
              <a:tblPr firstRow="1" bandRow="1">
                <a:tableStyleId>{5C22544A-7EE6-4342-B048-85BDC9FD1C3A}</a:tableStyleId>
              </a:tblPr>
              <a:tblGrid>
                <a:gridCol w="6096000"/>
                <a:gridCol w="6096000"/>
              </a:tblGrid>
              <a:tr h="916912">
                <a:tc gridSpan="2">
                  <a:txBody>
                    <a:bodyPr/>
                    <a:lstStyle/>
                    <a:p>
                      <a:pPr>
                        <a:lnSpc>
                          <a:spcPct val="100000"/>
                        </a:lnSpc>
                      </a:pPr>
                      <a:r>
                        <a:rPr lang="vi-VN" sz="2400" dirty="0" smtClean="0">
                          <a:solidFill>
                            <a:schemeClr val="bg1"/>
                          </a:solidFill>
                        </a:rPr>
                        <a:t>Nôn</a:t>
                      </a:r>
                      <a:r>
                        <a:rPr lang="vi-VN" sz="2400" baseline="0" dirty="0" smtClean="0">
                          <a:solidFill>
                            <a:schemeClr val="bg1"/>
                          </a:solidFill>
                        </a:rPr>
                        <a:t> liên quan tới thức ăn</a:t>
                      </a:r>
                      <a:endParaRPr lang="vi-VN" sz="2400" dirty="0">
                        <a:solidFill>
                          <a:schemeClr val="bg1"/>
                        </a:solidFill>
                      </a:endParaRPr>
                    </a:p>
                  </a:txBody>
                  <a:tcPr anchor="ctr">
                    <a:solidFill>
                      <a:srgbClr val="0070C0"/>
                    </a:solidFill>
                  </a:tcPr>
                </a:tc>
                <a:tc hMerge="1">
                  <a:txBody>
                    <a:bodyPr/>
                    <a:lstStyle/>
                    <a:p>
                      <a:endParaRPr lang="vi-VN" dirty="0"/>
                    </a:p>
                  </a:txBody>
                  <a:tcPr/>
                </a:tc>
              </a:tr>
              <a:tr h="1356528">
                <a:tc>
                  <a:txBody>
                    <a:bodyPr/>
                    <a:lstStyle/>
                    <a:p>
                      <a:pPr>
                        <a:lnSpc>
                          <a:spcPct val="100000"/>
                        </a:lnSpc>
                        <a:spcAft>
                          <a:spcPts val="0"/>
                        </a:spcAft>
                      </a:pPr>
                      <a:r>
                        <a:rPr lang="vi-VN" sz="2400" dirty="0">
                          <a:solidFill>
                            <a:schemeClr val="bg1"/>
                          </a:solidFill>
                          <a:effectLst/>
                          <a:latin typeface="Arial" panose="020B0604020202020204" pitchFamily="34" charset="0"/>
                          <a:ea typeface="Arial" panose="020B0604020202020204" pitchFamily="34" charset="0"/>
                          <a:cs typeface="Arial" panose="020B0604020202020204" pitchFamily="34" charset="0"/>
                        </a:rPr>
                        <a:t>Nôn bắt đầu vài phút hoặc vài giờ sau khi ăn , thường có triệu chứng hô hấp và niêm mạc.</a:t>
                      </a:r>
                      <a:endParaRPr lang="vi-VN" sz="24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L="601980" anchor="ctr">
                    <a:solidFill>
                      <a:srgbClr val="0070C0"/>
                    </a:solidFill>
                  </a:tcPr>
                </a:tc>
                <a:tc>
                  <a:txBody>
                    <a:bodyPr/>
                    <a:lstStyle/>
                    <a:p>
                      <a:pPr marL="342900" lvl="0" indent="-342900">
                        <a:lnSpc>
                          <a:spcPct val="100000"/>
                        </a:lnSpc>
                        <a:spcBef>
                          <a:spcPts val="240"/>
                        </a:spcBef>
                        <a:spcAft>
                          <a:spcPts val="240"/>
                        </a:spcAft>
                        <a:buSzPts val="1000"/>
                        <a:buFont typeface="Wingdings" panose="05000000000000000000" pitchFamily="2" charset="2"/>
                        <a:buChar char=""/>
                        <a:tabLst>
                          <a:tab pos="457200" algn="l"/>
                        </a:tabLst>
                      </a:pPr>
                      <a:r>
                        <a:rPr lang="vi-VN" sz="2400" dirty="0">
                          <a:solidFill>
                            <a:schemeClr val="bg1"/>
                          </a:solidFill>
                          <a:effectLst/>
                          <a:latin typeface="Arial" panose="020B0604020202020204" pitchFamily="34" charset="0"/>
                          <a:ea typeface="Arial" panose="020B0604020202020204" pitchFamily="34" charset="0"/>
                          <a:cs typeface="Arial" panose="020B0604020202020204" pitchFamily="34" charset="0"/>
                        </a:rPr>
                        <a:t>Dị ứng thức ăn ( vd phản ứng quá </a:t>
                      </a:r>
                      <a:r>
                        <a:rPr lang="vi-VN" sz="2400" dirty="0" smtClean="0">
                          <a:solidFill>
                            <a:schemeClr val="bg1"/>
                          </a:solidFill>
                          <a:effectLst/>
                          <a:latin typeface="Arial" panose="020B0604020202020204" pitchFamily="34" charset="0"/>
                          <a:ea typeface="Arial" panose="020B0604020202020204" pitchFamily="34" charset="0"/>
                          <a:cs typeface="Arial" panose="020B0604020202020204" pitchFamily="34" charset="0"/>
                        </a:rPr>
                        <a:t>mẫn),</a:t>
                      </a:r>
                      <a:r>
                        <a:rPr lang="vi-VN" sz="2400" dirty="0">
                          <a:solidFill>
                            <a:schemeClr val="bg1"/>
                          </a:solidFill>
                          <a:effectLst/>
                          <a:latin typeface="Arial" panose="020B0604020202020204" pitchFamily="34" charset="0"/>
                          <a:ea typeface="Arial" panose="020B0604020202020204" pitchFamily="34" charset="0"/>
                          <a:cs typeface="Arial" panose="020B0604020202020204" pitchFamily="34" charset="0"/>
                        </a:rPr>
                        <a:t>ngộ độc thức ăn</a:t>
                      </a:r>
                      <a:endParaRPr lang="vi-VN" sz="24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L="102235" anchor="ctr">
                    <a:solidFill>
                      <a:srgbClr val="0070C0"/>
                    </a:solidFill>
                  </a:tcPr>
                </a:tc>
              </a:tr>
              <a:tr h="916912">
                <a:tc>
                  <a:txBody>
                    <a:bodyPr/>
                    <a:lstStyle/>
                    <a:p>
                      <a:pPr>
                        <a:lnSpc>
                          <a:spcPct val="100000"/>
                        </a:lnSpc>
                        <a:spcAft>
                          <a:spcPts val="0"/>
                        </a:spcAft>
                      </a:pPr>
                      <a:r>
                        <a:rPr lang="vi-VN" sz="2400" dirty="0">
                          <a:solidFill>
                            <a:schemeClr val="bg1"/>
                          </a:solidFill>
                          <a:effectLst/>
                          <a:latin typeface="Arial" panose="020B0604020202020204" pitchFamily="34" charset="0"/>
                          <a:ea typeface="Arial" panose="020B0604020202020204" pitchFamily="34" charset="0"/>
                          <a:cs typeface="Arial" panose="020B0604020202020204" pitchFamily="34" charset="0"/>
                        </a:rPr>
                        <a:t>Nôn bán cấp, hoặc mạn tính kèm theo đi ngoài</a:t>
                      </a:r>
                      <a:endParaRPr lang="vi-VN" sz="24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L="601980" anchor="ctr">
                    <a:solidFill>
                      <a:srgbClr val="0070C0"/>
                    </a:solidFill>
                  </a:tcPr>
                </a:tc>
                <a:tc>
                  <a:txBody>
                    <a:bodyPr/>
                    <a:lstStyle/>
                    <a:p>
                      <a:pPr marL="342900" lvl="0" indent="-342900">
                        <a:lnSpc>
                          <a:spcPct val="100000"/>
                        </a:lnSpc>
                        <a:spcBef>
                          <a:spcPts val="240"/>
                        </a:spcBef>
                        <a:spcAft>
                          <a:spcPts val="240"/>
                        </a:spcAft>
                        <a:buSzPts val="1000"/>
                        <a:buFont typeface="Wingdings" panose="05000000000000000000" pitchFamily="2" charset="2"/>
                        <a:buChar char=""/>
                        <a:tabLst>
                          <a:tab pos="457200" algn="l"/>
                        </a:tabLst>
                      </a:pPr>
                      <a:r>
                        <a:rPr lang="vi-VN" sz="2400" dirty="0">
                          <a:solidFill>
                            <a:schemeClr val="bg1"/>
                          </a:solidFill>
                          <a:effectLst/>
                          <a:latin typeface="Arial" panose="020B0604020202020204" pitchFamily="34" charset="0"/>
                          <a:ea typeface="Arial" panose="020B0604020202020204" pitchFamily="34" charset="0"/>
                          <a:cs typeface="Arial" panose="020B0604020202020204" pitchFamily="34" charset="0"/>
                        </a:rPr>
                        <a:t>Bệnh lý đường ruột do protein thực phẩm</a:t>
                      </a:r>
                      <a:endParaRPr lang="vi-VN" sz="24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L="102235" anchor="ctr">
                    <a:solidFill>
                      <a:srgbClr val="0070C0"/>
                    </a:solidFill>
                  </a:tcPr>
                </a:tc>
              </a:tr>
              <a:tr h="916912">
                <a:tc>
                  <a:txBody>
                    <a:bodyPr/>
                    <a:lstStyle/>
                    <a:p>
                      <a:pPr>
                        <a:lnSpc>
                          <a:spcPct val="100000"/>
                        </a:lnSpc>
                        <a:spcAft>
                          <a:spcPts val="0"/>
                        </a:spcAft>
                      </a:pPr>
                      <a:r>
                        <a:rPr lang="vi-VN" sz="2400" dirty="0">
                          <a:solidFill>
                            <a:schemeClr val="bg1"/>
                          </a:solidFill>
                          <a:effectLst/>
                          <a:latin typeface="Arial" panose="020B0604020202020204" pitchFamily="34" charset="0"/>
                          <a:ea typeface="Arial" panose="020B0604020202020204" pitchFamily="34" charset="0"/>
                          <a:cs typeface="Arial" panose="020B0604020202020204" pitchFamily="34" charset="0"/>
                        </a:rPr>
                        <a:t>Gây ra bởi lactoluse</a:t>
                      </a:r>
                      <a:endParaRPr lang="vi-VN" sz="24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L="601980" anchor="ctr">
                    <a:solidFill>
                      <a:srgbClr val="0070C0"/>
                    </a:solidFill>
                  </a:tcPr>
                </a:tc>
                <a:tc>
                  <a:txBody>
                    <a:bodyPr/>
                    <a:lstStyle/>
                    <a:p>
                      <a:pPr marL="342900" lvl="0" indent="-342900">
                        <a:lnSpc>
                          <a:spcPct val="100000"/>
                        </a:lnSpc>
                        <a:spcBef>
                          <a:spcPts val="240"/>
                        </a:spcBef>
                        <a:spcAft>
                          <a:spcPts val="240"/>
                        </a:spcAft>
                        <a:buSzPts val="1000"/>
                        <a:buFont typeface="Wingdings" panose="05000000000000000000" pitchFamily="2" charset="2"/>
                        <a:buChar char=""/>
                        <a:tabLst>
                          <a:tab pos="457200" algn="l"/>
                        </a:tabLst>
                      </a:pPr>
                      <a:r>
                        <a:rPr lang="vi-VN" sz="2400" dirty="0">
                          <a:solidFill>
                            <a:schemeClr val="bg1"/>
                          </a:solidFill>
                          <a:effectLst/>
                          <a:latin typeface="Arial" panose="020B0604020202020204" pitchFamily="34" charset="0"/>
                          <a:ea typeface="Arial" panose="020B0604020202020204" pitchFamily="34" charset="0"/>
                          <a:cs typeface="Arial" panose="020B0604020202020204" pitchFamily="34" charset="0"/>
                        </a:rPr>
                        <a:t>Bệnh Galactosemia</a:t>
                      </a:r>
                      <a:endParaRPr lang="vi-VN" sz="24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L="102235" anchor="ctr">
                    <a:solidFill>
                      <a:srgbClr val="0070C0"/>
                    </a:solidFill>
                  </a:tcPr>
                </a:tc>
              </a:tr>
              <a:tr h="916912">
                <a:tc>
                  <a:txBody>
                    <a:bodyPr/>
                    <a:lstStyle/>
                    <a:p>
                      <a:pPr>
                        <a:lnSpc>
                          <a:spcPct val="100000"/>
                        </a:lnSpc>
                        <a:spcAft>
                          <a:spcPts val="0"/>
                        </a:spcAft>
                      </a:pPr>
                      <a:r>
                        <a:rPr lang="vi-VN" sz="2400">
                          <a:solidFill>
                            <a:schemeClr val="bg1"/>
                          </a:solidFill>
                          <a:effectLst/>
                          <a:latin typeface="Arial" panose="020B0604020202020204" pitchFamily="34" charset="0"/>
                          <a:ea typeface="Arial" panose="020B0604020202020204" pitchFamily="34" charset="0"/>
                          <a:cs typeface="Arial" panose="020B0604020202020204" pitchFamily="34" charset="0"/>
                        </a:rPr>
                        <a:t>Nôn khi bắt đầu sử dụng fructose hoặc sucrose</a:t>
                      </a:r>
                      <a:endParaRPr lang="vi-VN" sz="240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L="601980" anchor="ctr">
                    <a:solidFill>
                      <a:srgbClr val="0070C0"/>
                    </a:solidFill>
                  </a:tcPr>
                </a:tc>
                <a:tc>
                  <a:txBody>
                    <a:bodyPr/>
                    <a:lstStyle/>
                    <a:p>
                      <a:pPr marL="342900" lvl="0" indent="-342900">
                        <a:lnSpc>
                          <a:spcPct val="100000"/>
                        </a:lnSpc>
                        <a:spcBef>
                          <a:spcPts val="240"/>
                        </a:spcBef>
                        <a:spcAft>
                          <a:spcPts val="240"/>
                        </a:spcAft>
                        <a:buSzPts val="1000"/>
                        <a:buFont typeface="Wingdings" panose="05000000000000000000" pitchFamily="2" charset="2"/>
                        <a:buChar char=""/>
                        <a:tabLst>
                          <a:tab pos="457200" algn="l"/>
                        </a:tabLst>
                      </a:pPr>
                      <a:r>
                        <a:rPr lang="vi-VN" sz="2400" dirty="0">
                          <a:solidFill>
                            <a:schemeClr val="bg1"/>
                          </a:solidFill>
                          <a:effectLst/>
                          <a:latin typeface="Arial" panose="020B0604020202020204" pitchFamily="34" charset="0"/>
                          <a:ea typeface="Arial" panose="020B0604020202020204" pitchFamily="34" charset="0"/>
                          <a:cs typeface="Arial" panose="020B0604020202020204" pitchFamily="34" charset="0"/>
                        </a:rPr>
                        <a:t>Bất dung nạp fructose di truyền</a:t>
                      </a:r>
                      <a:endParaRPr lang="vi-VN" sz="24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L="102235" anchor="ctr">
                    <a:solidFill>
                      <a:srgbClr val="0070C0"/>
                    </a:solidFill>
                  </a:tcPr>
                </a:tc>
              </a:tr>
              <a:tr h="916912">
                <a:tc>
                  <a:txBody>
                    <a:bodyPr/>
                    <a:lstStyle/>
                    <a:p>
                      <a:pPr>
                        <a:lnSpc>
                          <a:spcPct val="100000"/>
                        </a:lnSpc>
                        <a:spcAft>
                          <a:spcPts val="0"/>
                        </a:spcAft>
                      </a:pPr>
                      <a:r>
                        <a:rPr lang="vi-VN" sz="2400">
                          <a:solidFill>
                            <a:schemeClr val="bg1"/>
                          </a:solidFill>
                          <a:effectLst/>
                          <a:latin typeface="Arial" panose="020B0604020202020204" pitchFamily="34" charset="0"/>
                          <a:ea typeface="Arial" panose="020B0604020202020204" pitchFamily="34" charset="0"/>
                          <a:cs typeface="Arial" panose="020B0604020202020204" pitchFamily="34" charset="0"/>
                        </a:rPr>
                        <a:t>Chất nôn là thức ăn chưa được tiêu hóa</a:t>
                      </a:r>
                      <a:endParaRPr lang="vi-VN" sz="240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L="304800" anchor="ctr">
                    <a:solidFill>
                      <a:srgbClr val="0070C0"/>
                    </a:solidFill>
                  </a:tcPr>
                </a:tc>
                <a:tc>
                  <a:txBody>
                    <a:bodyPr/>
                    <a:lstStyle/>
                    <a:p>
                      <a:pPr marL="342900" lvl="0" indent="-342900">
                        <a:lnSpc>
                          <a:spcPct val="100000"/>
                        </a:lnSpc>
                        <a:spcBef>
                          <a:spcPts val="240"/>
                        </a:spcBef>
                        <a:spcAft>
                          <a:spcPts val="240"/>
                        </a:spcAft>
                        <a:buSzPts val="1000"/>
                        <a:buFont typeface="Wingdings" panose="05000000000000000000" pitchFamily="2" charset="2"/>
                        <a:buChar char=""/>
                        <a:tabLst>
                          <a:tab pos="457200" algn="l"/>
                        </a:tabLst>
                      </a:pPr>
                      <a:r>
                        <a:rPr lang="vi-VN" sz="2400" dirty="0">
                          <a:solidFill>
                            <a:schemeClr val="bg1"/>
                          </a:solidFill>
                          <a:effectLst/>
                          <a:latin typeface="Arial" panose="020B0604020202020204" pitchFamily="34" charset="0"/>
                          <a:ea typeface="Arial" panose="020B0604020202020204" pitchFamily="34" charset="0"/>
                          <a:cs typeface="Arial" panose="020B0604020202020204" pitchFamily="34" charset="0"/>
                        </a:rPr>
                        <a:t>Co thắt tâm vị (Achalasia)</a:t>
                      </a:r>
                      <a:endParaRPr lang="vi-VN" sz="24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anchor="ctr">
                    <a:solidFill>
                      <a:srgbClr val="0070C0"/>
                    </a:solidFill>
                  </a:tcPr>
                </a:tc>
              </a:tr>
              <a:tr h="916912">
                <a:tc>
                  <a:txBody>
                    <a:bodyPr/>
                    <a:lstStyle/>
                    <a:p>
                      <a:pPr>
                        <a:lnSpc>
                          <a:spcPct val="100000"/>
                        </a:lnSpc>
                        <a:spcAft>
                          <a:spcPts val="0"/>
                        </a:spcAft>
                      </a:pPr>
                      <a:r>
                        <a:rPr lang="vi-VN" sz="2400" dirty="0">
                          <a:solidFill>
                            <a:schemeClr val="bg1"/>
                          </a:solidFill>
                          <a:effectLst/>
                          <a:latin typeface="Arial" panose="020B0604020202020204" pitchFamily="34" charset="0"/>
                          <a:ea typeface="Arial" panose="020B0604020202020204" pitchFamily="34" charset="0"/>
                          <a:cs typeface="Arial" panose="020B0604020202020204" pitchFamily="34" charset="0"/>
                        </a:rPr>
                        <a:t>Ợ nóng </a:t>
                      </a:r>
                      <a:endParaRPr lang="vi-VN" sz="24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L="304800" anchor="ctr">
                    <a:solidFill>
                      <a:srgbClr val="0070C0"/>
                    </a:solidFill>
                  </a:tcPr>
                </a:tc>
                <a:tc>
                  <a:txBody>
                    <a:bodyPr/>
                    <a:lstStyle/>
                    <a:p>
                      <a:pPr marL="342900" lvl="0" indent="-342900">
                        <a:lnSpc>
                          <a:spcPct val="100000"/>
                        </a:lnSpc>
                        <a:spcBef>
                          <a:spcPts val="240"/>
                        </a:spcBef>
                        <a:spcAft>
                          <a:spcPts val="240"/>
                        </a:spcAft>
                        <a:buSzPts val="1000"/>
                        <a:buFont typeface="Wingdings" panose="05000000000000000000" pitchFamily="2" charset="2"/>
                        <a:buChar char=""/>
                        <a:tabLst>
                          <a:tab pos="457200" algn="l"/>
                        </a:tabLst>
                      </a:pPr>
                      <a:r>
                        <a:rPr lang="vi-VN" sz="2400" dirty="0">
                          <a:solidFill>
                            <a:schemeClr val="bg1"/>
                          </a:solidFill>
                          <a:effectLst/>
                          <a:latin typeface="Arial" panose="020B0604020202020204" pitchFamily="34" charset="0"/>
                          <a:ea typeface="Arial" panose="020B0604020202020204" pitchFamily="34" charset="0"/>
                          <a:cs typeface="Arial" panose="020B0604020202020204" pitchFamily="34" charset="0"/>
                        </a:rPr>
                        <a:t>Viêm thực quản ( peptic or eosinophilic )</a:t>
                      </a:r>
                      <a:endParaRPr lang="vi-VN" sz="24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anchor="ctr">
                    <a:solidFill>
                      <a:srgbClr val="0070C0"/>
                    </a:solidFill>
                  </a:tcPr>
                </a:tc>
              </a:tr>
            </a:tbl>
          </a:graphicData>
        </a:graphic>
      </p:graphicFrame>
    </p:spTree>
    <p:extLst>
      <p:ext uri="{BB962C8B-B14F-4D97-AF65-F5344CB8AC3E}">
        <p14:creationId xmlns:p14="http://schemas.microsoft.com/office/powerpoint/2010/main" val="3385367678"/>
      </p:ext>
    </p:extLst>
  </p:cSld>
  <p:clrMapOvr>
    <a:masterClrMapping/>
  </p:clrMapOvr>
  <mc:AlternateContent xmlns:mc="http://schemas.openxmlformats.org/markup-compatibility/2006" xmlns:p14="http://schemas.microsoft.com/office/powerpoint/2010/main">
    <mc:Choice Requires="p14">
      <p:transition spd="slow" p14:dur="2000">
        <p:sndAc>
          <p:stSnd>
            <p:snd r:embed="rId2" name="camera.wav"/>
          </p:stSnd>
        </p:sndAc>
      </p:transition>
    </mc:Choice>
    <mc:Fallback xmlns="">
      <p:transition spd="slow">
        <p:sndAc>
          <p:stSnd>
            <p:snd r:embed="rId3" name="camera.wav"/>
          </p:stSnd>
        </p:sndAc>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smtClean="0"/>
              <a:t>Khám</a:t>
            </a:r>
            <a:r>
              <a:rPr lang="en-US" smtClean="0"/>
              <a:t> </a:t>
            </a:r>
            <a:r>
              <a:rPr lang="en-US" err="1" smtClean="0"/>
              <a:t>bệnh</a:t>
            </a:r>
            <a:endParaRPr lang="vi-VN"/>
          </a:p>
        </p:txBody>
      </p:sp>
      <p:sp>
        <p:nvSpPr>
          <p:cNvPr id="3" name="Content Placeholder 2"/>
          <p:cNvSpPr>
            <a:spLocks noGrp="1"/>
          </p:cNvSpPr>
          <p:nvPr>
            <p:ph idx="1"/>
          </p:nvPr>
        </p:nvSpPr>
        <p:spPr>
          <a:xfrm>
            <a:off x="609600" y="1600201"/>
            <a:ext cx="10972800" cy="4958861"/>
          </a:xfrm>
        </p:spPr>
        <p:txBody>
          <a:bodyPr/>
          <a:lstStyle/>
          <a:p>
            <a:r>
              <a:rPr lang="en-US" dirty="0" err="1" smtClean="0"/>
              <a:t>Khám</a:t>
            </a:r>
            <a:r>
              <a:rPr lang="en-US" dirty="0" smtClean="0"/>
              <a:t> </a:t>
            </a:r>
            <a:r>
              <a:rPr lang="en-US" dirty="0" err="1" smtClean="0"/>
              <a:t>bụng</a:t>
            </a:r>
            <a:endParaRPr lang="en-US" dirty="0" smtClean="0"/>
          </a:p>
          <a:p>
            <a:pPr lvl="2">
              <a:buFont typeface="Wingdings" panose="05000000000000000000" pitchFamily="2" charset="2"/>
              <a:buChar char="Ø"/>
            </a:pPr>
            <a:r>
              <a:rPr lang="en-US" sz="2800" dirty="0" err="1" smtClean="0"/>
              <a:t>Dấu</a:t>
            </a:r>
            <a:r>
              <a:rPr lang="en-US" sz="2800" dirty="0" smtClean="0"/>
              <a:t> </a:t>
            </a:r>
            <a:r>
              <a:rPr lang="en-US" sz="2800" dirty="0" err="1" smtClean="0"/>
              <a:t>hiệu</a:t>
            </a:r>
            <a:r>
              <a:rPr lang="en-US" sz="2800" dirty="0" smtClean="0"/>
              <a:t> </a:t>
            </a:r>
            <a:r>
              <a:rPr lang="en-US" sz="2800" dirty="0" err="1" smtClean="0"/>
              <a:t>gợi</a:t>
            </a:r>
            <a:r>
              <a:rPr lang="en-US" sz="2800" dirty="0" smtClean="0"/>
              <a:t> ý </a:t>
            </a:r>
            <a:r>
              <a:rPr lang="en-US" sz="2800" dirty="0" err="1" smtClean="0"/>
              <a:t>tắc</a:t>
            </a:r>
            <a:r>
              <a:rPr lang="en-US" sz="2800" dirty="0" smtClean="0"/>
              <a:t> </a:t>
            </a:r>
            <a:r>
              <a:rPr lang="en-US" sz="2800" dirty="0" err="1" smtClean="0"/>
              <a:t>ruột</a:t>
            </a:r>
            <a:endParaRPr lang="en-US" sz="2800" dirty="0" smtClean="0"/>
          </a:p>
          <a:p>
            <a:pPr lvl="2">
              <a:buFont typeface="Wingdings" panose="05000000000000000000" pitchFamily="2" charset="2"/>
              <a:buChar char="Ø"/>
            </a:pPr>
            <a:r>
              <a:rPr lang="en-US" sz="2800" dirty="0" err="1" smtClean="0"/>
              <a:t>Điểm</a:t>
            </a:r>
            <a:r>
              <a:rPr lang="en-US" sz="2800" dirty="0" smtClean="0"/>
              <a:t> </a:t>
            </a:r>
            <a:r>
              <a:rPr lang="en-US" sz="2800" dirty="0" err="1" smtClean="0"/>
              <a:t>đau</a:t>
            </a:r>
            <a:r>
              <a:rPr lang="en-US" sz="2800" dirty="0" smtClean="0"/>
              <a:t> </a:t>
            </a:r>
            <a:r>
              <a:rPr lang="en-US" sz="2800" dirty="0" err="1" smtClean="0"/>
              <a:t>khu</a:t>
            </a:r>
            <a:r>
              <a:rPr lang="en-US" sz="2800" dirty="0" smtClean="0"/>
              <a:t> </a:t>
            </a:r>
            <a:r>
              <a:rPr lang="en-US" sz="2800" dirty="0" err="1" smtClean="0"/>
              <a:t>trú</a:t>
            </a:r>
            <a:endParaRPr lang="en-US" sz="2800" dirty="0" smtClean="0"/>
          </a:p>
          <a:p>
            <a:pPr lvl="2">
              <a:buFont typeface="Wingdings" panose="05000000000000000000" pitchFamily="2" charset="2"/>
              <a:buChar char="Ø"/>
            </a:pPr>
            <a:r>
              <a:rPr lang="en-US" sz="2800" dirty="0" err="1" smtClean="0"/>
              <a:t>Gan</a:t>
            </a:r>
            <a:r>
              <a:rPr lang="en-US" sz="2800" dirty="0" smtClean="0"/>
              <a:t> to ,</a:t>
            </a:r>
            <a:r>
              <a:rPr lang="en-US" sz="2800" dirty="0" err="1" smtClean="0"/>
              <a:t>lách</a:t>
            </a:r>
            <a:r>
              <a:rPr lang="en-US" sz="2800" dirty="0" smtClean="0"/>
              <a:t> to, </a:t>
            </a:r>
            <a:r>
              <a:rPr lang="en-US" sz="2800" dirty="0" err="1" smtClean="0"/>
              <a:t>vàng</a:t>
            </a:r>
            <a:r>
              <a:rPr lang="en-US" sz="2800" dirty="0" smtClean="0"/>
              <a:t> da</a:t>
            </a:r>
          </a:p>
          <a:p>
            <a:r>
              <a:rPr lang="en-US" dirty="0" err="1" smtClean="0"/>
              <a:t>Khám</a:t>
            </a:r>
            <a:r>
              <a:rPr lang="en-US" dirty="0" smtClean="0"/>
              <a:t> </a:t>
            </a:r>
            <a:r>
              <a:rPr lang="en-US" dirty="0" err="1" smtClean="0"/>
              <a:t>thần</a:t>
            </a:r>
            <a:r>
              <a:rPr lang="en-US" dirty="0" smtClean="0"/>
              <a:t> </a:t>
            </a:r>
            <a:r>
              <a:rPr lang="en-US" dirty="0" err="1" smtClean="0"/>
              <a:t>kinh</a:t>
            </a:r>
            <a:endParaRPr lang="en-US" dirty="0" smtClean="0"/>
          </a:p>
          <a:p>
            <a:pPr lvl="2">
              <a:buFont typeface="Wingdings" panose="05000000000000000000" pitchFamily="2" charset="2"/>
              <a:buChar char="Ø"/>
            </a:pPr>
            <a:r>
              <a:rPr lang="en-US" sz="2800" dirty="0" err="1" smtClean="0"/>
              <a:t>Thay</a:t>
            </a:r>
            <a:r>
              <a:rPr lang="en-US" sz="2800" dirty="0" smtClean="0"/>
              <a:t> </a:t>
            </a:r>
            <a:r>
              <a:rPr lang="en-US" sz="2800" dirty="0" err="1" smtClean="0"/>
              <a:t>đổi</a:t>
            </a:r>
            <a:r>
              <a:rPr lang="en-US" sz="2800" dirty="0" smtClean="0"/>
              <a:t> ý </a:t>
            </a:r>
            <a:r>
              <a:rPr lang="en-US" sz="2800" dirty="0" err="1" smtClean="0"/>
              <a:t>thức,co</a:t>
            </a:r>
            <a:r>
              <a:rPr lang="en-US" sz="2800" dirty="0" smtClean="0"/>
              <a:t> </a:t>
            </a:r>
            <a:r>
              <a:rPr lang="en-US" sz="2800" dirty="0" err="1" smtClean="0"/>
              <a:t>giật</a:t>
            </a:r>
            <a:r>
              <a:rPr lang="en-US" sz="2800" dirty="0" smtClean="0"/>
              <a:t> </a:t>
            </a:r>
            <a:r>
              <a:rPr lang="en-US" sz="2800" dirty="0" err="1" smtClean="0"/>
              <a:t>hoặc</a:t>
            </a:r>
            <a:r>
              <a:rPr lang="en-US" sz="2800" dirty="0" smtClean="0"/>
              <a:t> </a:t>
            </a:r>
            <a:r>
              <a:rPr lang="en-US" sz="2800" dirty="0" err="1" smtClean="0"/>
              <a:t>các</a:t>
            </a:r>
            <a:r>
              <a:rPr lang="en-US" sz="2800" dirty="0" smtClean="0"/>
              <a:t> </a:t>
            </a:r>
            <a:r>
              <a:rPr lang="en-US" sz="2800" dirty="0" err="1" smtClean="0"/>
              <a:t>dấu</a:t>
            </a:r>
            <a:r>
              <a:rPr lang="en-US" sz="2800" dirty="0" smtClean="0"/>
              <a:t> </a:t>
            </a:r>
            <a:r>
              <a:rPr lang="en-US" sz="2800" dirty="0" err="1" smtClean="0"/>
              <a:t>thần</a:t>
            </a:r>
            <a:r>
              <a:rPr lang="en-US" sz="2800" dirty="0" smtClean="0"/>
              <a:t> </a:t>
            </a:r>
            <a:r>
              <a:rPr lang="en-US" sz="2800" dirty="0" err="1" smtClean="0"/>
              <a:t>kinh</a:t>
            </a:r>
            <a:r>
              <a:rPr lang="en-US" sz="2800" dirty="0" smtClean="0"/>
              <a:t> </a:t>
            </a:r>
            <a:r>
              <a:rPr lang="en-US" sz="2800" dirty="0" err="1" smtClean="0"/>
              <a:t>khu</a:t>
            </a:r>
            <a:r>
              <a:rPr lang="en-US" sz="2800" dirty="0" smtClean="0"/>
              <a:t> </a:t>
            </a:r>
            <a:r>
              <a:rPr lang="en-US" sz="2800" dirty="0" err="1" smtClean="0"/>
              <a:t>trú</a:t>
            </a:r>
            <a:endParaRPr lang="en-US" sz="2800" dirty="0" smtClean="0"/>
          </a:p>
          <a:p>
            <a:pPr lvl="2">
              <a:buFont typeface="Wingdings" panose="05000000000000000000" pitchFamily="2" charset="2"/>
              <a:buChar char="Ø"/>
            </a:pPr>
            <a:r>
              <a:rPr lang="en-US" sz="2800" dirty="0" err="1" smtClean="0"/>
              <a:t>Thóp</a:t>
            </a:r>
            <a:r>
              <a:rPr lang="en-US" sz="2800" dirty="0" smtClean="0"/>
              <a:t> </a:t>
            </a:r>
            <a:r>
              <a:rPr lang="en-US" sz="2800" dirty="0" err="1" smtClean="0"/>
              <a:t>phồng</a:t>
            </a:r>
            <a:endParaRPr lang="en-US" sz="2800" dirty="0" smtClean="0"/>
          </a:p>
          <a:p>
            <a:pPr lvl="2">
              <a:buFont typeface="Wingdings" panose="05000000000000000000" pitchFamily="2" charset="2"/>
              <a:buChar char="Ø"/>
            </a:pPr>
            <a:r>
              <a:rPr lang="en-US" sz="2800" dirty="0" err="1" smtClean="0"/>
              <a:t>Thất</a:t>
            </a:r>
            <a:r>
              <a:rPr lang="en-US" sz="2800" dirty="0" smtClean="0"/>
              <a:t> </a:t>
            </a:r>
            <a:r>
              <a:rPr lang="en-US" sz="2800" dirty="0" err="1" smtClean="0"/>
              <a:t>điều,chóng</a:t>
            </a:r>
            <a:r>
              <a:rPr lang="en-US" sz="2800" dirty="0" smtClean="0"/>
              <a:t> </a:t>
            </a:r>
            <a:r>
              <a:rPr lang="en-US" sz="2800" dirty="0" err="1" smtClean="0"/>
              <a:t>mặt,rung</a:t>
            </a:r>
            <a:r>
              <a:rPr lang="en-US" sz="2800" dirty="0" smtClean="0"/>
              <a:t> </a:t>
            </a:r>
            <a:r>
              <a:rPr lang="en-US" sz="2800" dirty="0" err="1" smtClean="0"/>
              <a:t>giật</a:t>
            </a:r>
            <a:r>
              <a:rPr lang="en-US" sz="2800" dirty="0" smtClean="0"/>
              <a:t> </a:t>
            </a:r>
            <a:r>
              <a:rPr lang="en-US" sz="2800" dirty="0" err="1" smtClean="0"/>
              <a:t>nhãn</a:t>
            </a:r>
            <a:r>
              <a:rPr lang="en-US" sz="2800" dirty="0" smtClean="0"/>
              <a:t> </a:t>
            </a:r>
            <a:r>
              <a:rPr lang="en-US" sz="2800" dirty="0" err="1" smtClean="0"/>
              <a:t>cầu</a:t>
            </a:r>
            <a:r>
              <a:rPr lang="en-US" sz="2800" dirty="0" smtClean="0"/>
              <a:t> </a:t>
            </a:r>
            <a:endParaRPr lang="vi-VN" sz="2800" dirty="0"/>
          </a:p>
        </p:txBody>
      </p:sp>
    </p:spTree>
    <p:extLst>
      <p:ext uri="{BB962C8B-B14F-4D97-AF65-F5344CB8AC3E}">
        <p14:creationId xmlns:p14="http://schemas.microsoft.com/office/powerpoint/2010/main" val="1744529753"/>
      </p:ext>
    </p:extLst>
  </p:cSld>
  <p:clrMapOvr>
    <a:masterClrMapping/>
  </p:clrMapOvr>
  <p:transition spd="slow">
    <p:push dir="u"/>
    <p:sndAc>
      <p:stSnd>
        <p:snd r:embed="rId2" name="camera.wav"/>
      </p:stSnd>
    </p:sndAc>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smtClean="0"/>
              <a:t>Khám</a:t>
            </a:r>
            <a:r>
              <a:rPr lang="en-US" smtClean="0"/>
              <a:t> </a:t>
            </a:r>
            <a:r>
              <a:rPr lang="en-US" err="1" smtClean="0"/>
              <a:t>bệnh</a:t>
            </a:r>
            <a:endParaRPr lang="vi-VN"/>
          </a:p>
        </p:txBody>
      </p:sp>
      <p:sp>
        <p:nvSpPr>
          <p:cNvPr id="3" name="Content Placeholder 2"/>
          <p:cNvSpPr>
            <a:spLocks noGrp="1"/>
          </p:cNvSpPr>
          <p:nvPr>
            <p:ph idx="1"/>
          </p:nvPr>
        </p:nvSpPr>
        <p:spPr>
          <a:xfrm>
            <a:off x="826476" y="1600201"/>
            <a:ext cx="10755923" cy="4525963"/>
          </a:xfrm>
        </p:spPr>
        <p:txBody>
          <a:bodyPr/>
          <a:lstStyle/>
          <a:p>
            <a:r>
              <a:rPr lang="en-US" dirty="0" err="1" smtClean="0"/>
              <a:t>Khám</a:t>
            </a:r>
            <a:r>
              <a:rPr lang="en-US" dirty="0" smtClean="0"/>
              <a:t> </a:t>
            </a:r>
            <a:r>
              <a:rPr lang="en-US" dirty="0" err="1" smtClean="0"/>
              <a:t>toàn</a:t>
            </a:r>
            <a:r>
              <a:rPr lang="en-US" dirty="0" smtClean="0"/>
              <a:t> </a:t>
            </a:r>
            <a:r>
              <a:rPr lang="en-US" dirty="0" err="1" smtClean="0"/>
              <a:t>thân</a:t>
            </a:r>
            <a:endParaRPr lang="en-US" dirty="0" smtClean="0"/>
          </a:p>
          <a:p>
            <a:pPr lvl="2">
              <a:buFont typeface="Wingdings" panose="05000000000000000000" pitchFamily="2" charset="2"/>
              <a:buChar char="Ø"/>
            </a:pPr>
            <a:r>
              <a:rPr lang="en-US" sz="2800" dirty="0" err="1" smtClean="0"/>
              <a:t>Dấu</a:t>
            </a:r>
            <a:r>
              <a:rPr lang="en-US" sz="2800" dirty="0" smtClean="0"/>
              <a:t> </a:t>
            </a:r>
            <a:r>
              <a:rPr lang="en-US" sz="2800" dirty="0" err="1" smtClean="0"/>
              <a:t>hiệu</a:t>
            </a:r>
            <a:r>
              <a:rPr lang="en-US" sz="2800" dirty="0" smtClean="0"/>
              <a:t> </a:t>
            </a:r>
            <a:r>
              <a:rPr lang="en-US" sz="2800" dirty="0" err="1" smtClean="0"/>
              <a:t>mất</a:t>
            </a:r>
            <a:r>
              <a:rPr lang="en-US" sz="2800" dirty="0" smtClean="0"/>
              <a:t> </a:t>
            </a:r>
            <a:r>
              <a:rPr lang="en-US" sz="2800" dirty="0" err="1" smtClean="0"/>
              <a:t>nước</a:t>
            </a:r>
            <a:endParaRPr lang="en-US" sz="2800" dirty="0" smtClean="0"/>
          </a:p>
          <a:p>
            <a:pPr lvl="2">
              <a:buFont typeface="Wingdings" panose="05000000000000000000" pitchFamily="2" charset="2"/>
              <a:buChar char="Ø"/>
            </a:pPr>
            <a:r>
              <a:rPr lang="en-US" sz="2800" dirty="0" err="1" smtClean="0"/>
              <a:t>Dấu</a:t>
            </a:r>
            <a:r>
              <a:rPr lang="en-US" sz="2800" dirty="0" smtClean="0"/>
              <a:t> </a:t>
            </a:r>
            <a:r>
              <a:rPr lang="en-US" sz="2800" dirty="0" err="1" smtClean="0"/>
              <a:t>hiệu</a:t>
            </a:r>
            <a:r>
              <a:rPr lang="en-US" sz="2800" dirty="0" smtClean="0"/>
              <a:t> </a:t>
            </a:r>
            <a:r>
              <a:rPr lang="en-US" sz="2800" dirty="0" err="1" smtClean="0"/>
              <a:t>nhiễm</a:t>
            </a:r>
            <a:r>
              <a:rPr lang="en-US" sz="2800" dirty="0" smtClean="0"/>
              <a:t> </a:t>
            </a:r>
            <a:r>
              <a:rPr lang="en-US" sz="2800" dirty="0" err="1" smtClean="0"/>
              <a:t>khuẩn</a:t>
            </a:r>
            <a:endParaRPr lang="en-US" sz="2800" dirty="0" smtClean="0"/>
          </a:p>
          <a:p>
            <a:pPr lvl="2">
              <a:buFont typeface="Wingdings" panose="05000000000000000000" pitchFamily="2" charset="2"/>
              <a:buChar char="Ø"/>
            </a:pPr>
            <a:r>
              <a:rPr lang="en-US" sz="2800" dirty="0" err="1" smtClean="0"/>
              <a:t>Tình</a:t>
            </a:r>
            <a:r>
              <a:rPr lang="en-US" sz="2800" dirty="0" smtClean="0"/>
              <a:t> </a:t>
            </a:r>
            <a:r>
              <a:rPr lang="en-US" sz="2800" dirty="0" err="1" smtClean="0"/>
              <a:t>trạng</a:t>
            </a:r>
            <a:r>
              <a:rPr lang="en-US" sz="2800" dirty="0" smtClean="0"/>
              <a:t> </a:t>
            </a:r>
            <a:r>
              <a:rPr lang="en-US" sz="2800" dirty="0" err="1" smtClean="0"/>
              <a:t>dinh</a:t>
            </a:r>
            <a:r>
              <a:rPr lang="en-US" sz="2800" dirty="0" smtClean="0"/>
              <a:t> </a:t>
            </a:r>
            <a:r>
              <a:rPr lang="en-US" sz="2800" dirty="0" err="1" smtClean="0"/>
              <a:t>dưỡng</a:t>
            </a:r>
            <a:endParaRPr lang="en-US" sz="2800" dirty="0" smtClean="0"/>
          </a:p>
          <a:p>
            <a:r>
              <a:rPr lang="en-US" dirty="0" err="1"/>
              <a:t>C</a:t>
            </a:r>
            <a:r>
              <a:rPr lang="en-US" dirty="0" err="1" smtClean="0"/>
              <a:t>ác</a:t>
            </a:r>
            <a:r>
              <a:rPr lang="en-US" dirty="0" smtClean="0"/>
              <a:t> </a:t>
            </a:r>
            <a:r>
              <a:rPr lang="en-US" dirty="0" err="1" smtClean="0"/>
              <a:t>triệu</a:t>
            </a:r>
            <a:r>
              <a:rPr lang="en-US" dirty="0" smtClean="0"/>
              <a:t> </a:t>
            </a:r>
            <a:r>
              <a:rPr lang="en-US" dirty="0" err="1" smtClean="0"/>
              <a:t>chứng</a:t>
            </a:r>
            <a:r>
              <a:rPr lang="en-US" dirty="0" smtClean="0"/>
              <a:t> </a:t>
            </a:r>
            <a:r>
              <a:rPr lang="en-US" dirty="0" err="1" smtClean="0"/>
              <a:t>khác</a:t>
            </a:r>
            <a:endParaRPr lang="en-US" dirty="0" smtClean="0"/>
          </a:p>
          <a:p>
            <a:pPr lvl="2">
              <a:buFont typeface="Wingdings" panose="05000000000000000000" pitchFamily="2" charset="2"/>
              <a:buChar char="Ø"/>
            </a:pPr>
            <a:r>
              <a:rPr lang="en-US" sz="2800" dirty="0" err="1" smtClean="0"/>
              <a:t>Cơ</a:t>
            </a:r>
            <a:r>
              <a:rPr lang="en-US" sz="2800" dirty="0" smtClean="0"/>
              <a:t> </a:t>
            </a:r>
            <a:r>
              <a:rPr lang="en-US" sz="2800" dirty="0" err="1" smtClean="0"/>
              <a:t>quan</a:t>
            </a:r>
            <a:r>
              <a:rPr lang="en-US" sz="2800" dirty="0" smtClean="0"/>
              <a:t> </a:t>
            </a:r>
            <a:r>
              <a:rPr lang="en-US" sz="2800" dirty="0" err="1" smtClean="0"/>
              <a:t>sinh</a:t>
            </a:r>
            <a:r>
              <a:rPr lang="en-US" sz="2800" dirty="0" smtClean="0"/>
              <a:t> </a:t>
            </a:r>
            <a:r>
              <a:rPr lang="en-US" sz="2800" dirty="0" err="1" smtClean="0"/>
              <a:t>dục</a:t>
            </a:r>
            <a:r>
              <a:rPr lang="en-US" sz="2800" dirty="0" smtClean="0"/>
              <a:t> </a:t>
            </a:r>
            <a:r>
              <a:rPr lang="en-US" sz="2800" dirty="0" err="1" smtClean="0"/>
              <a:t>bất</a:t>
            </a:r>
            <a:r>
              <a:rPr lang="en-US" sz="2800" dirty="0" smtClean="0"/>
              <a:t> </a:t>
            </a:r>
            <a:r>
              <a:rPr lang="en-US" sz="2800" dirty="0" err="1" smtClean="0"/>
              <a:t>thường</a:t>
            </a:r>
            <a:endParaRPr lang="en-US" sz="2800" dirty="0" smtClean="0"/>
          </a:p>
          <a:p>
            <a:pPr lvl="2">
              <a:buFont typeface="Wingdings" panose="05000000000000000000" pitchFamily="2" charset="2"/>
              <a:buChar char="Ø"/>
            </a:pPr>
            <a:r>
              <a:rPr lang="en-US" sz="2800" dirty="0" err="1" smtClean="0"/>
              <a:t>Cơ</a:t>
            </a:r>
            <a:r>
              <a:rPr lang="en-US" sz="2800" dirty="0" smtClean="0"/>
              <a:t> </a:t>
            </a:r>
            <a:r>
              <a:rPr lang="en-US" sz="2800" dirty="0" err="1" smtClean="0"/>
              <a:t>thể</a:t>
            </a:r>
            <a:r>
              <a:rPr lang="en-US" sz="2800" dirty="0" smtClean="0"/>
              <a:t> </a:t>
            </a:r>
            <a:r>
              <a:rPr lang="en-US" sz="2800" dirty="0" err="1" smtClean="0"/>
              <a:t>có</a:t>
            </a:r>
            <a:r>
              <a:rPr lang="en-US" sz="2800" dirty="0" smtClean="0"/>
              <a:t> </a:t>
            </a:r>
            <a:r>
              <a:rPr lang="en-US" sz="2800" dirty="0" err="1" smtClean="0"/>
              <a:t>mùi</a:t>
            </a:r>
            <a:r>
              <a:rPr lang="en-US" sz="2800" dirty="0" smtClean="0"/>
              <a:t> </a:t>
            </a:r>
            <a:r>
              <a:rPr lang="en-US" sz="2800" dirty="0" err="1" smtClean="0"/>
              <a:t>khác</a:t>
            </a:r>
            <a:r>
              <a:rPr lang="en-US" sz="2800" dirty="0" smtClean="0"/>
              <a:t> </a:t>
            </a:r>
            <a:r>
              <a:rPr lang="en-US" sz="2800" dirty="0" err="1" smtClean="0"/>
              <a:t>thường</a:t>
            </a:r>
            <a:endParaRPr lang="en-US" sz="2800" dirty="0" smtClean="0"/>
          </a:p>
          <a:p>
            <a:pPr lvl="2">
              <a:buFont typeface="Wingdings" panose="05000000000000000000" pitchFamily="2" charset="2"/>
              <a:buChar char="Ø"/>
            </a:pPr>
            <a:r>
              <a:rPr lang="en-US" sz="2800" dirty="0" err="1" smtClean="0"/>
              <a:t>Yếu</a:t>
            </a:r>
            <a:r>
              <a:rPr lang="en-US" sz="2800" dirty="0" smtClean="0"/>
              <a:t> </a:t>
            </a:r>
            <a:r>
              <a:rPr lang="en-US" sz="2800" dirty="0" err="1" smtClean="0"/>
              <a:t>tố</a:t>
            </a:r>
            <a:r>
              <a:rPr lang="en-US" sz="2800" dirty="0" smtClean="0"/>
              <a:t> </a:t>
            </a:r>
            <a:r>
              <a:rPr lang="en-US" sz="2800" dirty="0" err="1" smtClean="0"/>
              <a:t>tâm</a:t>
            </a:r>
            <a:r>
              <a:rPr lang="en-US" sz="2800" dirty="0" smtClean="0"/>
              <a:t> </a:t>
            </a:r>
            <a:r>
              <a:rPr lang="en-US" sz="2800" dirty="0" err="1" smtClean="0"/>
              <a:t>lý</a:t>
            </a:r>
            <a:r>
              <a:rPr lang="en-US" sz="2800" dirty="0" smtClean="0"/>
              <a:t> </a:t>
            </a:r>
            <a:r>
              <a:rPr lang="en-US" sz="2800" dirty="0" err="1" smtClean="0"/>
              <a:t>ăn</a:t>
            </a:r>
            <a:r>
              <a:rPr lang="en-US" sz="2800" dirty="0" smtClean="0"/>
              <a:t> </a:t>
            </a:r>
            <a:r>
              <a:rPr lang="en-US" sz="2800" dirty="0" err="1" smtClean="0"/>
              <a:t>uống</a:t>
            </a:r>
            <a:r>
              <a:rPr lang="en-US" sz="2800" dirty="0" smtClean="0"/>
              <a:t> ở </a:t>
            </a:r>
            <a:r>
              <a:rPr lang="en-US" sz="2800" dirty="0" err="1" smtClean="0"/>
              <a:t>bệnh</a:t>
            </a:r>
            <a:r>
              <a:rPr lang="en-US" sz="2800" dirty="0" smtClean="0"/>
              <a:t> </a:t>
            </a:r>
            <a:r>
              <a:rPr lang="en-US" sz="2800" dirty="0" err="1" smtClean="0"/>
              <a:t>nhân</a:t>
            </a:r>
            <a:endParaRPr lang="vi-VN" sz="2800" dirty="0"/>
          </a:p>
        </p:txBody>
      </p:sp>
    </p:spTree>
    <p:extLst>
      <p:ext uri="{BB962C8B-B14F-4D97-AF65-F5344CB8AC3E}">
        <p14:creationId xmlns:p14="http://schemas.microsoft.com/office/powerpoint/2010/main" val="929442853"/>
      </p:ext>
    </p:extLst>
  </p:cSld>
  <p:clrMapOvr>
    <a:masterClrMapping/>
  </p:clrMapOvr>
  <p:transition spd="slow">
    <p:push dir="u"/>
    <p:sndAc>
      <p:stSnd>
        <p:snd r:embed="rId2" name="camera.wav"/>
      </p:stSnd>
    </p:sndAc>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vi-VN"/>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313232923"/>
              </p:ext>
            </p:extLst>
          </p:nvPr>
        </p:nvGraphicFramePr>
        <p:xfrm>
          <a:off x="0" y="-3"/>
          <a:ext cx="12192000" cy="6858005"/>
        </p:xfrm>
        <a:graphic>
          <a:graphicData uri="http://schemas.openxmlformats.org/drawingml/2006/table">
            <a:tbl>
              <a:tblPr firstRow="1" bandRow="1">
                <a:tableStyleId>{5C22544A-7EE6-4342-B048-85BDC9FD1C3A}</a:tableStyleId>
              </a:tblPr>
              <a:tblGrid>
                <a:gridCol w="6096000"/>
                <a:gridCol w="6096000"/>
              </a:tblGrid>
              <a:tr h="540059">
                <a:tc gridSpan="2">
                  <a:txBody>
                    <a:bodyPr/>
                    <a:lstStyle/>
                    <a:p>
                      <a:pPr>
                        <a:lnSpc>
                          <a:spcPts val="1800"/>
                        </a:lnSpc>
                        <a:spcAft>
                          <a:spcPts val="0"/>
                        </a:spcAft>
                      </a:pPr>
                      <a:r>
                        <a:rPr lang="vi-VN" sz="1800" b="1" dirty="0">
                          <a:solidFill>
                            <a:schemeClr val="tx2">
                              <a:lumMod val="10000"/>
                            </a:schemeClr>
                          </a:solidFill>
                          <a:effectLst/>
                          <a:latin typeface="Arial" panose="020B0604020202020204" pitchFamily="34" charset="0"/>
                          <a:ea typeface="Arial" panose="020B0604020202020204" pitchFamily="34" charset="0"/>
                          <a:cs typeface="Arial" panose="020B0604020202020204" pitchFamily="34" charset="0"/>
                        </a:rPr>
                        <a:t>Khám thực thể</a:t>
                      </a:r>
                      <a:endParaRPr lang="vi-VN" sz="1800" dirty="0">
                        <a:solidFill>
                          <a:schemeClr val="tx2">
                            <a:lumMod val="1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marT="60960" anchor="ctr">
                    <a:noFill/>
                  </a:tcPr>
                </a:tc>
                <a:tc hMerge="1">
                  <a:txBody>
                    <a:bodyPr/>
                    <a:lstStyle/>
                    <a:p>
                      <a:endParaRPr lang="vi-VN"/>
                    </a:p>
                  </a:txBody>
                  <a:tcPr/>
                </a:tc>
              </a:tr>
              <a:tr h="1131903">
                <a:tc>
                  <a:txBody>
                    <a:bodyPr/>
                    <a:lstStyle/>
                    <a:p>
                      <a:pPr>
                        <a:lnSpc>
                          <a:spcPts val="1800"/>
                        </a:lnSpc>
                        <a:spcAft>
                          <a:spcPts val="0"/>
                        </a:spcAft>
                      </a:pPr>
                      <a:r>
                        <a:rPr lang="vi-VN" sz="1800" dirty="0">
                          <a:solidFill>
                            <a:schemeClr val="bg1"/>
                          </a:solidFill>
                          <a:effectLst/>
                          <a:latin typeface="Arial" panose="020B0604020202020204" pitchFamily="34" charset="0"/>
                          <a:ea typeface="Arial" panose="020B0604020202020204" pitchFamily="34" charset="0"/>
                          <a:cs typeface="Arial" panose="020B0604020202020204" pitchFamily="34" charset="0"/>
                        </a:rPr>
                        <a:t>Bụng chướng căng rõ, nhìn thấy quai ruột nổi, nôn ra dịch mật,mất âm ruột, hoặc âm ruột tăng  ( borborygmi) hoặc chất nôn hôi thối ( như mùi phân)</a:t>
                      </a:r>
                      <a:endParaRPr lang="vi-VN" sz="18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L="304800" anchor="ctr">
                    <a:solidFill>
                      <a:srgbClr val="0070C0"/>
                    </a:solidFill>
                  </a:tcPr>
                </a:tc>
                <a:tc>
                  <a:txBody>
                    <a:bodyPr/>
                    <a:lstStyle/>
                    <a:p>
                      <a:pPr marL="342900" lvl="0" indent="-342900">
                        <a:lnSpc>
                          <a:spcPts val="1800"/>
                        </a:lnSpc>
                        <a:spcBef>
                          <a:spcPts val="240"/>
                        </a:spcBef>
                        <a:spcAft>
                          <a:spcPts val="240"/>
                        </a:spcAft>
                        <a:buSzPts val="1000"/>
                        <a:buFont typeface="Wingdings" panose="05000000000000000000" pitchFamily="2" charset="2"/>
                        <a:buChar char=""/>
                        <a:tabLst>
                          <a:tab pos="457200" algn="l"/>
                        </a:tabLst>
                      </a:pPr>
                      <a:r>
                        <a:rPr lang="vi-VN" sz="1800" dirty="0">
                          <a:solidFill>
                            <a:schemeClr val="bg1"/>
                          </a:solidFill>
                          <a:effectLst/>
                          <a:latin typeface="Arial" panose="020B0604020202020204" pitchFamily="34" charset="0"/>
                          <a:ea typeface="Arial" panose="020B0604020202020204" pitchFamily="34" charset="0"/>
                          <a:cs typeface="Arial" panose="020B0604020202020204" pitchFamily="34" charset="0"/>
                        </a:rPr>
                        <a:t>Tắc ruột</a:t>
                      </a:r>
                      <a:endParaRPr lang="vi-VN" sz="18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anchor="ctr">
                    <a:solidFill>
                      <a:srgbClr val="0070C0"/>
                    </a:solidFill>
                  </a:tcPr>
                </a:tc>
              </a:tr>
              <a:tr h="1686758">
                <a:tc>
                  <a:txBody>
                    <a:bodyPr/>
                    <a:lstStyle/>
                    <a:p>
                      <a:pPr>
                        <a:lnSpc>
                          <a:spcPts val="1800"/>
                        </a:lnSpc>
                        <a:spcAft>
                          <a:spcPts val="0"/>
                        </a:spcAft>
                      </a:pPr>
                      <a:r>
                        <a:rPr lang="vi-VN" sz="1800" dirty="0">
                          <a:solidFill>
                            <a:schemeClr val="bg1"/>
                          </a:solidFill>
                          <a:effectLst/>
                          <a:latin typeface="Arial" panose="020B0604020202020204" pitchFamily="34" charset="0"/>
                          <a:ea typeface="Arial" panose="020B0604020202020204" pitchFamily="34" charset="0"/>
                          <a:cs typeface="Arial" panose="020B0604020202020204" pitchFamily="34" charset="0"/>
                        </a:rPr>
                        <a:t>Nắn có điểm đau cục bộ</a:t>
                      </a:r>
                      <a:endParaRPr lang="vi-VN" sz="18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L="304800" anchor="ctr">
                    <a:solidFill>
                      <a:srgbClr val="0070C0"/>
                    </a:solidFill>
                  </a:tcPr>
                </a:tc>
                <a:tc>
                  <a:txBody>
                    <a:bodyPr/>
                    <a:lstStyle/>
                    <a:p>
                      <a:pPr marL="342900" lvl="0" indent="-342900">
                        <a:lnSpc>
                          <a:spcPts val="1800"/>
                        </a:lnSpc>
                        <a:spcBef>
                          <a:spcPts val="240"/>
                        </a:spcBef>
                        <a:spcAft>
                          <a:spcPts val="240"/>
                        </a:spcAft>
                        <a:buSzPts val="1000"/>
                        <a:buFont typeface="Symbol" panose="05050102010706020507" pitchFamily="18" charset="2"/>
                        <a:buChar char=""/>
                        <a:tabLst>
                          <a:tab pos="457200" algn="l"/>
                        </a:tabLst>
                      </a:pPr>
                      <a:r>
                        <a:rPr lang="vi-VN" sz="1800" dirty="0">
                          <a:solidFill>
                            <a:schemeClr val="bg1"/>
                          </a:solidFill>
                          <a:effectLst/>
                          <a:latin typeface="Arial" panose="020B0604020202020204" pitchFamily="34" charset="0"/>
                          <a:ea typeface="Arial" panose="020B0604020202020204" pitchFamily="34" charset="0"/>
                          <a:cs typeface="Arial" panose="020B0604020202020204" pitchFamily="34" charset="0"/>
                        </a:rPr>
                        <a:t>1/4 dưới bên phải ổ bụng: Viêm ruột thừa hoặc bệnh Crohn</a:t>
                      </a:r>
                      <a:endParaRPr lang="vi-VN" sz="18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p>
                      <a:pPr marL="342900" lvl="0" indent="-342900">
                        <a:lnSpc>
                          <a:spcPts val="1800"/>
                        </a:lnSpc>
                        <a:spcBef>
                          <a:spcPts val="240"/>
                        </a:spcBef>
                        <a:spcAft>
                          <a:spcPts val="240"/>
                        </a:spcAft>
                        <a:buSzPts val="1000"/>
                        <a:buFont typeface="Symbol" panose="05050102010706020507" pitchFamily="18" charset="2"/>
                        <a:buChar char=""/>
                        <a:tabLst>
                          <a:tab pos="457200" algn="l"/>
                        </a:tabLst>
                      </a:pPr>
                      <a:r>
                        <a:rPr lang="vi-VN" sz="1800" dirty="0">
                          <a:solidFill>
                            <a:schemeClr val="bg1"/>
                          </a:solidFill>
                          <a:effectLst/>
                          <a:latin typeface="Arial" panose="020B0604020202020204" pitchFamily="34" charset="0"/>
                          <a:ea typeface="Arial" panose="020B0604020202020204" pitchFamily="34" charset="0"/>
                          <a:cs typeface="Arial" panose="020B0604020202020204" pitchFamily="34" charset="0"/>
                        </a:rPr>
                        <a:t>1/4 trên bên phải ổ bụng: Viêm tụy hoặc bệnh của túi mật</a:t>
                      </a:r>
                      <a:endParaRPr lang="vi-VN" sz="18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p>
                      <a:pPr marL="342900" lvl="0" indent="-342900">
                        <a:lnSpc>
                          <a:spcPts val="1800"/>
                        </a:lnSpc>
                        <a:spcBef>
                          <a:spcPts val="240"/>
                        </a:spcBef>
                        <a:spcAft>
                          <a:spcPts val="240"/>
                        </a:spcAft>
                        <a:buSzPts val="1000"/>
                        <a:buFont typeface="Symbol" panose="05050102010706020507" pitchFamily="18" charset="2"/>
                        <a:buChar char=""/>
                        <a:tabLst>
                          <a:tab pos="457200" algn="l"/>
                        </a:tabLst>
                      </a:pPr>
                      <a:r>
                        <a:rPr lang="vi-VN" sz="1800" dirty="0">
                          <a:solidFill>
                            <a:schemeClr val="bg1"/>
                          </a:solidFill>
                          <a:effectLst/>
                          <a:latin typeface="Arial" panose="020B0604020202020204" pitchFamily="34" charset="0"/>
                          <a:ea typeface="Arial" panose="020B0604020202020204" pitchFamily="34" charset="0"/>
                          <a:cs typeface="Arial" panose="020B0604020202020204" pitchFamily="34" charset="0"/>
                        </a:rPr>
                        <a:t>Góc sườn sống: Viêm bể thận </a:t>
                      </a:r>
                      <a:endParaRPr lang="vi-VN" sz="18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p>
                      <a:pPr marL="342900" lvl="0" indent="-342900">
                        <a:lnSpc>
                          <a:spcPts val="1800"/>
                        </a:lnSpc>
                        <a:spcBef>
                          <a:spcPts val="240"/>
                        </a:spcBef>
                        <a:spcAft>
                          <a:spcPts val="240"/>
                        </a:spcAft>
                        <a:buSzPts val="1000"/>
                        <a:buFont typeface="Symbol" panose="05050102010706020507" pitchFamily="18" charset="2"/>
                        <a:buChar char=""/>
                        <a:tabLst>
                          <a:tab pos="457200" algn="l"/>
                        </a:tabLst>
                      </a:pPr>
                      <a:r>
                        <a:rPr lang="vi-VN" sz="1800" dirty="0">
                          <a:solidFill>
                            <a:schemeClr val="bg1"/>
                          </a:solidFill>
                          <a:effectLst/>
                          <a:latin typeface="Arial" panose="020B0604020202020204" pitchFamily="34" charset="0"/>
                          <a:ea typeface="Arial" panose="020B0604020202020204" pitchFamily="34" charset="0"/>
                          <a:cs typeface="Arial" panose="020B0604020202020204" pitchFamily="34" charset="0"/>
                        </a:rPr>
                        <a:t>Thượng vị : Viêm tụy, loét đường tiêu hóa/viêm dạ dày</a:t>
                      </a:r>
                      <a:endParaRPr lang="vi-VN" sz="18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anchor="ctr">
                    <a:solidFill>
                      <a:srgbClr val="0070C0"/>
                    </a:solidFill>
                  </a:tcPr>
                </a:tc>
              </a:tr>
              <a:tr h="540059">
                <a:tc>
                  <a:txBody>
                    <a:bodyPr/>
                    <a:lstStyle/>
                    <a:p>
                      <a:pPr>
                        <a:lnSpc>
                          <a:spcPts val="1800"/>
                        </a:lnSpc>
                        <a:spcAft>
                          <a:spcPts val="0"/>
                        </a:spcAft>
                      </a:pPr>
                      <a:r>
                        <a:rPr lang="vi-VN" sz="1800" dirty="0">
                          <a:solidFill>
                            <a:schemeClr val="bg1"/>
                          </a:solidFill>
                          <a:effectLst/>
                          <a:latin typeface="Arial" panose="020B0604020202020204" pitchFamily="34" charset="0"/>
                          <a:ea typeface="Arial" panose="020B0604020202020204" pitchFamily="34" charset="0"/>
                          <a:cs typeface="Arial" panose="020B0604020202020204" pitchFamily="34" charset="0"/>
                        </a:rPr>
                        <a:t>Vàng da, gan to, lách to</a:t>
                      </a:r>
                      <a:endParaRPr lang="vi-VN" sz="18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L="304800" anchor="ctr">
                    <a:solidFill>
                      <a:srgbClr val="0070C0"/>
                    </a:solidFill>
                  </a:tcPr>
                </a:tc>
                <a:tc>
                  <a:txBody>
                    <a:bodyPr/>
                    <a:lstStyle/>
                    <a:p>
                      <a:pPr marL="342900" lvl="0" indent="-342900">
                        <a:lnSpc>
                          <a:spcPts val="1800"/>
                        </a:lnSpc>
                        <a:spcBef>
                          <a:spcPts val="240"/>
                        </a:spcBef>
                        <a:spcAft>
                          <a:spcPts val="240"/>
                        </a:spcAft>
                        <a:buSzPts val="1000"/>
                        <a:buFont typeface="Wingdings" panose="05000000000000000000" pitchFamily="2" charset="2"/>
                        <a:buChar char=""/>
                        <a:tabLst>
                          <a:tab pos="457200" algn="l"/>
                        </a:tabLst>
                      </a:pPr>
                      <a:r>
                        <a:rPr lang="vi-VN" sz="1800" dirty="0">
                          <a:solidFill>
                            <a:schemeClr val="bg1"/>
                          </a:solidFill>
                          <a:effectLst/>
                          <a:latin typeface="Arial" panose="020B0604020202020204" pitchFamily="34" charset="0"/>
                          <a:ea typeface="Arial" panose="020B0604020202020204" pitchFamily="34" charset="0"/>
                          <a:cs typeface="Arial" panose="020B0604020202020204" pitchFamily="34" charset="0"/>
                        </a:rPr>
                        <a:t>Viêm gan, nhiễm virus ( vd EBV) , rối loạn chuyển hoá</a:t>
                      </a:r>
                      <a:endParaRPr lang="vi-VN" sz="18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anchor="ctr">
                    <a:solidFill>
                      <a:srgbClr val="0070C0"/>
                    </a:solidFill>
                  </a:tcPr>
                </a:tc>
              </a:tr>
              <a:tr h="540059">
                <a:tc>
                  <a:txBody>
                    <a:bodyPr/>
                    <a:lstStyle/>
                    <a:p>
                      <a:pPr>
                        <a:lnSpc>
                          <a:spcPts val="1800"/>
                        </a:lnSpc>
                        <a:spcAft>
                          <a:spcPts val="0"/>
                        </a:spcAft>
                      </a:pPr>
                      <a:r>
                        <a:rPr lang="vi-VN" sz="1800">
                          <a:solidFill>
                            <a:schemeClr val="bg1"/>
                          </a:solidFill>
                          <a:effectLst/>
                          <a:latin typeface="Arial" panose="020B0604020202020204" pitchFamily="34" charset="0"/>
                          <a:ea typeface="Arial" panose="020B0604020202020204" pitchFamily="34" charset="0"/>
                          <a:cs typeface="Arial" panose="020B0604020202020204" pitchFamily="34" charset="0"/>
                        </a:rPr>
                        <a:t>Thất điều, chóng mặt, rung giật nhãn cầu</a:t>
                      </a:r>
                      <a:endParaRPr lang="vi-VN" sz="180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L="304800" anchor="ctr">
                    <a:solidFill>
                      <a:srgbClr val="0070C0"/>
                    </a:solidFill>
                  </a:tcPr>
                </a:tc>
                <a:tc>
                  <a:txBody>
                    <a:bodyPr/>
                    <a:lstStyle/>
                    <a:p>
                      <a:pPr marL="342900" lvl="0" indent="-342900">
                        <a:lnSpc>
                          <a:spcPts val="1800"/>
                        </a:lnSpc>
                        <a:spcBef>
                          <a:spcPts val="240"/>
                        </a:spcBef>
                        <a:spcAft>
                          <a:spcPts val="240"/>
                        </a:spcAft>
                        <a:buSzPts val="1000"/>
                        <a:buFont typeface="Wingdings" panose="05000000000000000000" pitchFamily="2" charset="2"/>
                        <a:buChar char=""/>
                        <a:tabLst>
                          <a:tab pos="457200" algn="l"/>
                        </a:tabLst>
                      </a:pPr>
                      <a:r>
                        <a:rPr lang="vi-VN" sz="1800" dirty="0">
                          <a:solidFill>
                            <a:schemeClr val="bg1"/>
                          </a:solidFill>
                          <a:effectLst/>
                          <a:latin typeface="Arial" panose="020B0604020202020204" pitchFamily="34" charset="0"/>
                          <a:ea typeface="Arial" panose="020B0604020202020204" pitchFamily="34" charset="0"/>
                          <a:cs typeface="Arial" panose="020B0604020202020204" pitchFamily="34" charset="0"/>
                        </a:rPr>
                        <a:t>Viêm thần kinh tiền đình hoặc thất điều tiểu não</a:t>
                      </a:r>
                      <a:endParaRPr lang="vi-VN" sz="18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anchor="ctr">
                    <a:solidFill>
                      <a:srgbClr val="0070C0"/>
                    </a:solidFill>
                  </a:tcPr>
                </a:tc>
              </a:tr>
              <a:tr h="540059">
                <a:tc>
                  <a:txBody>
                    <a:bodyPr/>
                    <a:lstStyle/>
                    <a:p>
                      <a:pPr>
                        <a:lnSpc>
                          <a:spcPts val="1800"/>
                        </a:lnSpc>
                        <a:spcAft>
                          <a:spcPts val="0"/>
                        </a:spcAft>
                      </a:pPr>
                      <a:r>
                        <a:rPr lang="vi-VN" sz="1800">
                          <a:solidFill>
                            <a:schemeClr val="bg1"/>
                          </a:solidFill>
                          <a:effectLst/>
                          <a:latin typeface="Arial" panose="020B0604020202020204" pitchFamily="34" charset="0"/>
                          <a:ea typeface="Arial" panose="020B0604020202020204" pitchFamily="34" charset="0"/>
                          <a:cs typeface="Arial" panose="020B0604020202020204" pitchFamily="34" charset="0"/>
                        </a:rPr>
                        <a:t>Phù gai thị</a:t>
                      </a:r>
                      <a:endParaRPr lang="vi-VN" sz="180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L="304800" anchor="ctr">
                    <a:solidFill>
                      <a:srgbClr val="0070C0"/>
                    </a:solidFill>
                  </a:tcPr>
                </a:tc>
                <a:tc>
                  <a:txBody>
                    <a:bodyPr/>
                    <a:lstStyle/>
                    <a:p>
                      <a:pPr marL="342900" lvl="0" indent="-342900">
                        <a:lnSpc>
                          <a:spcPts val="1800"/>
                        </a:lnSpc>
                        <a:spcBef>
                          <a:spcPts val="240"/>
                        </a:spcBef>
                        <a:spcAft>
                          <a:spcPts val="240"/>
                        </a:spcAft>
                        <a:buSzPts val="1000"/>
                        <a:buFont typeface="Wingdings" panose="05000000000000000000" pitchFamily="2" charset="2"/>
                        <a:buChar char=""/>
                        <a:tabLst>
                          <a:tab pos="457200" algn="l"/>
                        </a:tabLst>
                      </a:pPr>
                      <a:r>
                        <a:rPr lang="vi-VN" sz="1800" dirty="0">
                          <a:solidFill>
                            <a:schemeClr val="bg1"/>
                          </a:solidFill>
                          <a:effectLst/>
                          <a:latin typeface="Arial" panose="020B0604020202020204" pitchFamily="34" charset="0"/>
                          <a:ea typeface="Arial" panose="020B0604020202020204" pitchFamily="34" charset="0"/>
                          <a:cs typeface="Arial" panose="020B0604020202020204" pitchFamily="34" charset="0"/>
                        </a:rPr>
                        <a:t>Tăng áp lực nội sọ</a:t>
                      </a:r>
                      <a:endParaRPr lang="vi-VN" sz="18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anchor="ctr">
                    <a:solidFill>
                      <a:srgbClr val="0070C0"/>
                    </a:solidFill>
                  </a:tcPr>
                </a:tc>
              </a:tr>
              <a:tr h="798990">
                <a:tc>
                  <a:txBody>
                    <a:bodyPr/>
                    <a:lstStyle/>
                    <a:p>
                      <a:pPr>
                        <a:lnSpc>
                          <a:spcPts val="1800"/>
                        </a:lnSpc>
                        <a:spcAft>
                          <a:spcPts val="0"/>
                        </a:spcAft>
                      </a:pPr>
                      <a:r>
                        <a:rPr lang="vi-VN" sz="1800">
                          <a:solidFill>
                            <a:schemeClr val="bg1"/>
                          </a:solidFill>
                          <a:effectLst/>
                          <a:latin typeface="Arial" panose="020B0604020202020204" pitchFamily="34" charset="0"/>
                          <a:ea typeface="Arial" panose="020B0604020202020204" pitchFamily="34" charset="0"/>
                          <a:cs typeface="Arial" panose="020B0604020202020204" pitchFamily="34" charset="0"/>
                        </a:rPr>
                        <a:t>Cơ quan sinh dục ngoài không rõ ràng</a:t>
                      </a:r>
                      <a:endParaRPr lang="vi-VN" sz="180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L="304800" anchor="ctr">
                    <a:solidFill>
                      <a:srgbClr val="0070C0"/>
                    </a:solidFill>
                  </a:tcPr>
                </a:tc>
                <a:tc>
                  <a:txBody>
                    <a:bodyPr/>
                    <a:lstStyle/>
                    <a:p>
                      <a:pPr marL="342900" lvl="0" indent="-342900">
                        <a:lnSpc>
                          <a:spcPts val="1800"/>
                        </a:lnSpc>
                        <a:spcBef>
                          <a:spcPts val="240"/>
                        </a:spcBef>
                        <a:spcAft>
                          <a:spcPts val="240"/>
                        </a:spcAft>
                        <a:buSzPts val="1000"/>
                        <a:buFont typeface="Wingdings" panose="05000000000000000000" pitchFamily="2" charset="2"/>
                        <a:buChar char=""/>
                        <a:tabLst>
                          <a:tab pos="457200" algn="l"/>
                        </a:tabLst>
                      </a:pPr>
                      <a:r>
                        <a:rPr lang="vi-VN" sz="1800" dirty="0">
                          <a:solidFill>
                            <a:schemeClr val="bg1"/>
                          </a:solidFill>
                          <a:effectLst/>
                          <a:latin typeface="Arial" panose="020B0604020202020204" pitchFamily="34" charset="0"/>
                          <a:ea typeface="Arial" panose="020B0604020202020204" pitchFamily="34" charset="0"/>
                          <a:cs typeface="Arial" panose="020B0604020202020204" pitchFamily="34" charset="0"/>
                        </a:rPr>
                        <a:t>Tăng sinh thượng thận bẩm sinh kèm theo nôn do cơn suy vỏ thượng thận</a:t>
                      </a:r>
                      <a:endParaRPr lang="vi-VN" sz="18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anchor="ctr">
                    <a:solidFill>
                      <a:srgbClr val="0070C0"/>
                    </a:solidFill>
                  </a:tcPr>
                </a:tc>
              </a:tr>
              <a:tr h="540059">
                <a:tc>
                  <a:txBody>
                    <a:bodyPr/>
                    <a:lstStyle/>
                    <a:p>
                      <a:pPr>
                        <a:lnSpc>
                          <a:spcPts val="1800"/>
                        </a:lnSpc>
                        <a:spcAft>
                          <a:spcPts val="0"/>
                        </a:spcAft>
                      </a:pPr>
                      <a:r>
                        <a:rPr lang="vi-VN" sz="1800">
                          <a:solidFill>
                            <a:schemeClr val="bg1"/>
                          </a:solidFill>
                          <a:effectLst/>
                          <a:latin typeface="Arial" panose="020B0604020202020204" pitchFamily="34" charset="0"/>
                          <a:ea typeface="Arial" panose="020B0604020202020204" pitchFamily="34" charset="0"/>
                          <a:cs typeface="Arial" panose="020B0604020202020204" pitchFamily="34" charset="0"/>
                        </a:rPr>
                        <a:t>Cơ thể có mùi bất thường</a:t>
                      </a:r>
                      <a:endParaRPr lang="vi-VN" sz="180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L="304800" anchor="ctr">
                    <a:solidFill>
                      <a:srgbClr val="0070C0"/>
                    </a:solidFill>
                  </a:tcPr>
                </a:tc>
                <a:tc>
                  <a:txBody>
                    <a:bodyPr/>
                    <a:lstStyle/>
                    <a:p>
                      <a:pPr marL="342900" lvl="0" indent="-342900">
                        <a:lnSpc>
                          <a:spcPts val="1800"/>
                        </a:lnSpc>
                        <a:spcBef>
                          <a:spcPts val="240"/>
                        </a:spcBef>
                        <a:spcAft>
                          <a:spcPts val="240"/>
                        </a:spcAft>
                        <a:buSzPts val="1000"/>
                        <a:buFont typeface="Wingdings" panose="05000000000000000000" pitchFamily="2" charset="2"/>
                        <a:buChar char=""/>
                        <a:tabLst>
                          <a:tab pos="457200" algn="l"/>
                        </a:tabLst>
                      </a:pPr>
                      <a:r>
                        <a:rPr lang="vi-VN" sz="1800" dirty="0">
                          <a:solidFill>
                            <a:schemeClr val="bg1"/>
                          </a:solidFill>
                          <a:effectLst/>
                          <a:latin typeface="Arial" panose="020B0604020202020204" pitchFamily="34" charset="0"/>
                          <a:ea typeface="Arial" panose="020B0604020202020204" pitchFamily="34" charset="0"/>
                          <a:cs typeface="Arial" panose="020B0604020202020204" pitchFamily="34" charset="0"/>
                        </a:rPr>
                        <a:t>Rối loạn chuyển hóa bẩm sinh</a:t>
                      </a:r>
                      <a:endParaRPr lang="vi-VN" sz="18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anchor="ctr">
                    <a:solidFill>
                      <a:srgbClr val="0070C0"/>
                    </a:solidFill>
                  </a:tcPr>
                </a:tc>
              </a:tr>
              <a:tr h="540059">
                <a:tc>
                  <a:txBody>
                    <a:bodyPr/>
                    <a:lstStyle/>
                    <a:p>
                      <a:pPr>
                        <a:lnSpc>
                          <a:spcPts val="1800"/>
                        </a:lnSpc>
                        <a:spcAft>
                          <a:spcPts val="0"/>
                        </a:spcAft>
                      </a:pPr>
                      <a:r>
                        <a:rPr lang="vi-VN" sz="1800">
                          <a:solidFill>
                            <a:schemeClr val="bg1"/>
                          </a:solidFill>
                          <a:effectLst/>
                          <a:latin typeface="Arial" panose="020B0604020202020204" pitchFamily="34" charset="0"/>
                          <a:ea typeface="Arial" panose="020B0604020202020204" pitchFamily="34" charset="0"/>
                          <a:cs typeface="Arial" panose="020B0604020202020204" pitchFamily="34" charset="0"/>
                        </a:rPr>
                        <a:t>Phì đại tuyến nước bọt mang tai</a:t>
                      </a:r>
                      <a:endParaRPr lang="vi-VN" sz="180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L="304800" anchor="ctr">
                    <a:solidFill>
                      <a:srgbClr val="0070C0"/>
                    </a:solidFill>
                  </a:tcPr>
                </a:tc>
                <a:tc>
                  <a:txBody>
                    <a:bodyPr/>
                    <a:lstStyle/>
                    <a:p>
                      <a:pPr marL="342900" lvl="0" indent="-342900">
                        <a:lnSpc>
                          <a:spcPts val="1800"/>
                        </a:lnSpc>
                        <a:spcBef>
                          <a:spcPts val="240"/>
                        </a:spcBef>
                        <a:spcAft>
                          <a:spcPts val="240"/>
                        </a:spcAft>
                        <a:buSzPts val="1000"/>
                        <a:buFont typeface="Wingdings" panose="05000000000000000000" pitchFamily="2" charset="2"/>
                        <a:buChar char=""/>
                        <a:tabLst>
                          <a:tab pos="457200" algn="l"/>
                        </a:tabLst>
                      </a:pPr>
                      <a:r>
                        <a:rPr lang="vi-VN" sz="1800" dirty="0">
                          <a:solidFill>
                            <a:schemeClr val="bg1"/>
                          </a:solidFill>
                          <a:effectLst/>
                          <a:latin typeface="Arial" panose="020B0604020202020204" pitchFamily="34" charset="0"/>
                          <a:ea typeface="Arial" panose="020B0604020202020204" pitchFamily="34" charset="0"/>
                          <a:cs typeface="Arial" panose="020B0604020202020204" pitchFamily="34" charset="0"/>
                        </a:rPr>
                        <a:t>Bulimia( chứng ăn-ói)</a:t>
                      </a:r>
                      <a:endParaRPr lang="vi-VN" sz="18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anchor="ctr">
                    <a:solidFill>
                      <a:srgbClr val="0070C0"/>
                    </a:solidFill>
                  </a:tcPr>
                </a:tc>
              </a:tr>
            </a:tbl>
          </a:graphicData>
        </a:graphic>
      </p:graphicFrame>
    </p:spTree>
    <p:extLst>
      <p:ext uri="{BB962C8B-B14F-4D97-AF65-F5344CB8AC3E}">
        <p14:creationId xmlns:p14="http://schemas.microsoft.com/office/powerpoint/2010/main" val="4282473123"/>
      </p:ext>
    </p:extLst>
  </p:cSld>
  <p:clrMapOvr>
    <a:masterClrMapping/>
  </p:clrMapOvr>
  <mc:AlternateContent xmlns:mc="http://schemas.openxmlformats.org/markup-compatibility/2006" xmlns:p14="http://schemas.microsoft.com/office/powerpoint/2010/main">
    <mc:Choice Requires="p14">
      <p:transition spd="slow" p14:dur="2000">
        <p:sndAc>
          <p:stSnd>
            <p:snd r:embed="rId2" name="camera.wav"/>
          </p:stSnd>
        </p:sndAc>
      </p:transition>
    </mc:Choice>
    <mc:Fallback xmlns="">
      <p:transition spd="slow">
        <p:sndAc>
          <p:stSnd>
            <p:snd r:embed="rId3" name="camera.wav"/>
          </p:stSnd>
        </p:sndAc>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smtClean="0"/>
              <a:t>Các</a:t>
            </a:r>
            <a:r>
              <a:rPr lang="en-US" smtClean="0"/>
              <a:t> </a:t>
            </a:r>
            <a:r>
              <a:rPr lang="en-US" err="1" smtClean="0"/>
              <a:t>hậu</a:t>
            </a:r>
            <a:r>
              <a:rPr lang="en-US" smtClean="0"/>
              <a:t> </a:t>
            </a:r>
            <a:r>
              <a:rPr lang="en-US" err="1" smtClean="0"/>
              <a:t>quả</a:t>
            </a:r>
            <a:r>
              <a:rPr lang="en-US" smtClean="0"/>
              <a:t> </a:t>
            </a:r>
            <a:r>
              <a:rPr lang="en-US" err="1" smtClean="0"/>
              <a:t>của</a:t>
            </a:r>
            <a:r>
              <a:rPr lang="en-US" smtClean="0"/>
              <a:t> </a:t>
            </a:r>
            <a:r>
              <a:rPr lang="en-US" err="1" smtClean="0"/>
              <a:t>nôn</a:t>
            </a:r>
            <a:endParaRPr lang="vi-VN"/>
          </a:p>
        </p:txBody>
      </p:sp>
      <p:sp>
        <p:nvSpPr>
          <p:cNvPr id="3" name="Content Placeholder 2"/>
          <p:cNvSpPr>
            <a:spLocks noGrp="1"/>
          </p:cNvSpPr>
          <p:nvPr>
            <p:ph idx="1"/>
          </p:nvPr>
        </p:nvSpPr>
        <p:spPr>
          <a:xfrm>
            <a:off x="609600" y="1600201"/>
            <a:ext cx="10972800" cy="5257799"/>
          </a:xfrm>
        </p:spPr>
        <p:txBody>
          <a:bodyPr/>
          <a:lstStyle/>
          <a:p>
            <a:r>
              <a:rPr lang="en-US" sz="4000" dirty="0" err="1" smtClean="0"/>
              <a:t>Hội</a:t>
            </a:r>
            <a:r>
              <a:rPr lang="en-US" sz="4000" dirty="0" smtClean="0"/>
              <a:t> </a:t>
            </a:r>
            <a:r>
              <a:rPr lang="en-US" sz="4000" dirty="0" err="1" smtClean="0"/>
              <a:t>chứng</a:t>
            </a:r>
            <a:r>
              <a:rPr lang="en-US" sz="4000" dirty="0" smtClean="0"/>
              <a:t> </a:t>
            </a:r>
            <a:r>
              <a:rPr lang="en-US" sz="4000" dirty="0" err="1" smtClean="0"/>
              <a:t>hít</a:t>
            </a:r>
            <a:r>
              <a:rPr lang="en-US" sz="4000" dirty="0" smtClean="0"/>
              <a:t> </a:t>
            </a:r>
          </a:p>
          <a:p>
            <a:r>
              <a:rPr lang="en-US" sz="4000" dirty="0" err="1" smtClean="0"/>
              <a:t>Hội</a:t>
            </a:r>
            <a:r>
              <a:rPr lang="en-US" sz="4000" dirty="0" smtClean="0"/>
              <a:t> </a:t>
            </a:r>
            <a:r>
              <a:rPr lang="en-US" sz="4000" dirty="0" err="1" smtClean="0"/>
              <a:t>chứng</a:t>
            </a:r>
            <a:r>
              <a:rPr lang="en-US" sz="4000" dirty="0" smtClean="0"/>
              <a:t> Mallory Weiss</a:t>
            </a:r>
          </a:p>
          <a:p>
            <a:r>
              <a:rPr lang="vi-VN" sz="4000" dirty="0" smtClean="0"/>
              <a:t>Hội chứng Boerhaave</a:t>
            </a:r>
            <a:endParaRPr lang="en-US" sz="4000" dirty="0" smtClean="0"/>
          </a:p>
          <a:p>
            <a:r>
              <a:rPr lang="en-US" sz="4000" dirty="0" err="1" smtClean="0"/>
              <a:t>Giảm</a:t>
            </a:r>
            <a:r>
              <a:rPr lang="en-US" sz="4000" dirty="0" smtClean="0"/>
              <a:t> </a:t>
            </a:r>
            <a:r>
              <a:rPr lang="en-US" sz="4000" dirty="0" err="1" smtClean="0"/>
              <a:t>thể</a:t>
            </a:r>
            <a:r>
              <a:rPr lang="en-US" sz="4000" dirty="0" smtClean="0"/>
              <a:t> </a:t>
            </a:r>
            <a:r>
              <a:rPr lang="en-US" sz="4000" dirty="0" err="1" smtClean="0"/>
              <a:t>tích</a:t>
            </a:r>
            <a:r>
              <a:rPr lang="en-US" sz="4000" dirty="0" smtClean="0"/>
              <a:t> </a:t>
            </a:r>
            <a:r>
              <a:rPr lang="en-US" sz="4000" dirty="0" err="1" smtClean="0"/>
              <a:t>tuần</a:t>
            </a:r>
            <a:r>
              <a:rPr lang="en-US" sz="4000" dirty="0" smtClean="0"/>
              <a:t> </a:t>
            </a:r>
            <a:r>
              <a:rPr lang="en-US" sz="4000" dirty="0" err="1" smtClean="0"/>
              <a:t>hoàn</a:t>
            </a:r>
            <a:endParaRPr lang="en-US" sz="4000" dirty="0" smtClean="0"/>
          </a:p>
          <a:p>
            <a:r>
              <a:rPr lang="en-US" sz="4000" dirty="0" err="1" smtClean="0"/>
              <a:t>Rối</a:t>
            </a:r>
            <a:r>
              <a:rPr lang="en-US" sz="4000" dirty="0" smtClean="0"/>
              <a:t> </a:t>
            </a:r>
            <a:r>
              <a:rPr lang="en-US" sz="4000" dirty="0" err="1" smtClean="0"/>
              <a:t>loạn</a:t>
            </a:r>
            <a:r>
              <a:rPr lang="en-US" sz="4000" dirty="0" smtClean="0"/>
              <a:t> </a:t>
            </a:r>
            <a:r>
              <a:rPr lang="en-US" sz="4000" dirty="0" err="1" smtClean="0"/>
              <a:t>điện</a:t>
            </a:r>
            <a:r>
              <a:rPr lang="en-US" sz="4000" dirty="0" smtClean="0"/>
              <a:t> </a:t>
            </a:r>
            <a:r>
              <a:rPr lang="en-US" sz="4000" dirty="0" err="1" smtClean="0"/>
              <a:t>giải</a:t>
            </a:r>
            <a:endParaRPr lang="en-US" sz="4000" dirty="0" smtClean="0"/>
          </a:p>
          <a:p>
            <a:r>
              <a:rPr lang="en-US" sz="4000" dirty="0" err="1" smtClean="0"/>
              <a:t>Kiềm</a:t>
            </a:r>
            <a:r>
              <a:rPr lang="en-US" sz="4000" dirty="0" smtClean="0"/>
              <a:t> </a:t>
            </a:r>
            <a:r>
              <a:rPr lang="en-US" sz="4000" dirty="0" err="1" smtClean="0"/>
              <a:t>chuyển</a:t>
            </a:r>
            <a:r>
              <a:rPr lang="en-US" sz="4000" dirty="0" smtClean="0"/>
              <a:t> </a:t>
            </a:r>
            <a:r>
              <a:rPr lang="en-US" sz="4000" dirty="0" err="1" smtClean="0"/>
              <a:t>hóa</a:t>
            </a:r>
            <a:r>
              <a:rPr lang="en-US" sz="4000" dirty="0" smtClean="0"/>
              <a:t> </a:t>
            </a:r>
            <a:r>
              <a:rPr lang="en-US" sz="4000" dirty="0" err="1" smtClean="0"/>
              <a:t>có</a:t>
            </a:r>
            <a:r>
              <a:rPr lang="en-US" sz="4000" dirty="0" smtClean="0"/>
              <a:t> </a:t>
            </a:r>
            <a:r>
              <a:rPr lang="en-US" sz="4000" dirty="0" err="1" smtClean="0"/>
              <a:t>hạ</a:t>
            </a:r>
            <a:r>
              <a:rPr lang="en-US" sz="4000" dirty="0" smtClean="0"/>
              <a:t> </a:t>
            </a:r>
            <a:r>
              <a:rPr lang="en-US" sz="4000" dirty="0" err="1" smtClean="0"/>
              <a:t>clo</a:t>
            </a:r>
            <a:r>
              <a:rPr lang="en-US" sz="4000" dirty="0" smtClean="0"/>
              <a:t> </a:t>
            </a:r>
            <a:r>
              <a:rPr lang="en-US" sz="4000" dirty="0" err="1" smtClean="0"/>
              <a:t>máu</a:t>
            </a:r>
            <a:endParaRPr lang="vi-VN" sz="4000" dirty="0"/>
          </a:p>
        </p:txBody>
      </p:sp>
    </p:spTree>
    <p:extLst>
      <p:ext uri="{BB962C8B-B14F-4D97-AF65-F5344CB8AC3E}">
        <p14:creationId xmlns:p14="http://schemas.microsoft.com/office/powerpoint/2010/main" val="3671542339"/>
      </p:ext>
    </p:extLst>
  </p:cSld>
  <p:clrMapOvr>
    <a:masterClrMapping/>
  </p:clrMapOvr>
  <p:transition spd="slow">
    <p:push dir="u"/>
    <p:sndAc>
      <p:stSnd>
        <p:snd r:embed="rId2" name="camera.wav"/>
      </p:stSnd>
    </p:sndAc>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Các</a:t>
            </a:r>
            <a:r>
              <a:rPr lang="en-US" dirty="0" smtClean="0"/>
              <a:t> </a:t>
            </a:r>
            <a:r>
              <a:rPr lang="en-US" dirty="0" err="1" smtClean="0"/>
              <a:t>xét</a:t>
            </a:r>
            <a:r>
              <a:rPr lang="en-US" dirty="0" smtClean="0"/>
              <a:t> </a:t>
            </a:r>
            <a:r>
              <a:rPr lang="en-US" dirty="0" err="1" smtClean="0"/>
              <a:t>nghiệm</a:t>
            </a:r>
            <a:r>
              <a:rPr lang="en-US" dirty="0" smtClean="0"/>
              <a:t> </a:t>
            </a:r>
            <a:endParaRPr lang="vi-VN" dirty="0"/>
          </a:p>
        </p:txBody>
      </p:sp>
      <p:sp>
        <p:nvSpPr>
          <p:cNvPr id="3" name="Content Placeholder 2"/>
          <p:cNvSpPr>
            <a:spLocks noGrp="1"/>
          </p:cNvSpPr>
          <p:nvPr>
            <p:ph idx="1"/>
          </p:nvPr>
        </p:nvSpPr>
        <p:spPr>
          <a:xfrm>
            <a:off x="0" y="1255059"/>
            <a:ext cx="12192000" cy="5602941"/>
          </a:xfrm>
        </p:spPr>
        <p:txBody>
          <a:bodyPr/>
          <a:lstStyle/>
          <a:p>
            <a:pPr>
              <a:lnSpc>
                <a:spcPct val="150000"/>
              </a:lnSpc>
            </a:pPr>
            <a:r>
              <a:rPr lang="en-US" dirty="0" err="1" smtClean="0"/>
              <a:t>Tổng</a:t>
            </a:r>
            <a:r>
              <a:rPr lang="en-US" dirty="0" smtClean="0"/>
              <a:t> </a:t>
            </a:r>
            <a:r>
              <a:rPr lang="en-US" dirty="0" err="1" smtClean="0"/>
              <a:t>phân</a:t>
            </a:r>
            <a:r>
              <a:rPr lang="en-US" dirty="0" smtClean="0"/>
              <a:t> </a:t>
            </a:r>
            <a:r>
              <a:rPr lang="en-US" dirty="0" err="1" smtClean="0"/>
              <a:t>tích</a:t>
            </a:r>
            <a:r>
              <a:rPr lang="en-US" dirty="0" smtClean="0"/>
              <a:t> </a:t>
            </a:r>
            <a:r>
              <a:rPr lang="en-US" dirty="0" err="1" smtClean="0"/>
              <a:t>tế</a:t>
            </a:r>
            <a:r>
              <a:rPr lang="en-US" dirty="0" smtClean="0"/>
              <a:t> </a:t>
            </a:r>
            <a:r>
              <a:rPr lang="en-US" dirty="0" err="1" smtClean="0"/>
              <a:t>bào</a:t>
            </a:r>
            <a:r>
              <a:rPr lang="en-US" dirty="0" smtClean="0"/>
              <a:t> </a:t>
            </a:r>
            <a:r>
              <a:rPr lang="en-US" dirty="0" err="1" smtClean="0"/>
              <a:t>máu</a:t>
            </a:r>
            <a:endParaRPr lang="en-US" dirty="0" smtClean="0"/>
          </a:p>
          <a:p>
            <a:pPr>
              <a:lnSpc>
                <a:spcPct val="150000"/>
              </a:lnSpc>
            </a:pPr>
            <a:r>
              <a:rPr lang="en-US" dirty="0" err="1" smtClean="0"/>
              <a:t>Điện</a:t>
            </a:r>
            <a:r>
              <a:rPr lang="en-US" dirty="0" smtClean="0"/>
              <a:t> </a:t>
            </a:r>
            <a:r>
              <a:rPr lang="en-US" dirty="0" err="1" smtClean="0"/>
              <a:t>giải</a:t>
            </a:r>
            <a:r>
              <a:rPr lang="en-US" dirty="0" smtClean="0"/>
              <a:t> </a:t>
            </a:r>
            <a:r>
              <a:rPr lang="en-US" dirty="0" err="1" smtClean="0"/>
              <a:t>đồ</a:t>
            </a:r>
            <a:endParaRPr lang="en-US" dirty="0" smtClean="0"/>
          </a:p>
          <a:p>
            <a:pPr>
              <a:lnSpc>
                <a:spcPct val="150000"/>
              </a:lnSpc>
            </a:pPr>
            <a:r>
              <a:rPr lang="en-US" dirty="0" smtClean="0"/>
              <a:t>Glucose </a:t>
            </a:r>
            <a:r>
              <a:rPr lang="en-US" dirty="0" err="1" smtClean="0"/>
              <a:t>máu</a:t>
            </a:r>
            <a:endParaRPr lang="en-US" dirty="0" smtClean="0"/>
          </a:p>
          <a:p>
            <a:pPr>
              <a:lnSpc>
                <a:spcPct val="150000"/>
              </a:lnSpc>
            </a:pPr>
            <a:r>
              <a:rPr lang="en-US" dirty="0" err="1" smtClean="0"/>
              <a:t>Chức</a:t>
            </a:r>
            <a:r>
              <a:rPr lang="en-US" dirty="0" smtClean="0"/>
              <a:t> </a:t>
            </a:r>
            <a:r>
              <a:rPr lang="en-US" dirty="0" err="1" smtClean="0"/>
              <a:t>năng</a:t>
            </a:r>
            <a:r>
              <a:rPr lang="en-US" dirty="0" smtClean="0"/>
              <a:t> </a:t>
            </a:r>
            <a:r>
              <a:rPr lang="en-US" dirty="0" err="1" smtClean="0"/>
              <a:t>gan</a:t>
            </a:r>
            <a:r>
              <a:rPr lang="en-US" dirty="0" smtClean="0"/>
              <a:t> </a:t>
            </a:r>
            <a:r>
              <a:rPr lang="en-US" dirty="0" err="1" smtClean="0"/>
              <a:t>thận</a:t>
            </a:r>
            <a:endParaRPr lang="en-US" dirty="0"/>
          </a:p>
          <a:p>
            <a:pPr>
              <a:lnSpc>
                <a:spcPct val="150000"/>
              </a:lnSpc>
            </a:pPr>
            <a:r>
              <a:rPr lang="en-US" dirty="0" err="1" smtClean="0"/>
              <a:t>Amylase,lipase</a:t>
            </a:r>
            <a:endParaRPr lang="en-US" dirty="0" smtClean="0"/>
          </a:p>
          <a:p>
            <a:pPr>
              <a:lnSpc>
                <a:spcPct val="150000"/>
              </a:lnSpc>
            </a:pPr>
            <a:r>
              <a:rPr lang="en-US" dirty="0" err="1" smtClean="0"/>
              <a:t>Nước</a:t>
            </a:r>
            <a:r>
              <a:rPr lang="en-US" dirty="0" smtClean="0"/>
              <a:t> </a:t>
            </a:r>
            <a:r>
              <a:rPr lang="en-US" dirty="0" err="1" smtClean="0"/>
              <a:t>tiểu</a:t>
            </a:r>
            <a:r>
              <a:rPr lang="en-US" dirty="0" smtClean="0"/>
              <a:t> </a:t>
            </a:r>
            <a:r>
              <a:rPr lang="en-US" dirty="0" err="1" smtClean="0"/>
              <a:t>thường</a:t>
            </a:r>
            <a:r>
              <a:rPr lang="en-US" dirty="0" smtClean="0"/>
              <a:t> </a:t>
            </a:r>
            <a:r>
              <a:rPr lang="en-US" dirty="0" err="1" smtClean="0"/>
              <a:t>quy</a:t>
            </a:r>
            <a:r>
              <a:rPr lang="en-US" dirty="0" smtClean="0"/>
              <a:t> (</a:t>
            </a:r>
            <a:r>
              <a:rPr lang="en-US" dirty="0" err="1" smtClean="0"/>
              <a:t>nếu</a:t>
            </a:r>
            <a:r>
              <a:rPr lang="en-US" dirty="0" smtClean="0"/>
              <a:t> </a:t>
            </a:r>
            <a:r>
              <a:rPr lang="en-US" dirty="0" err="1" smtClean="0"/>
              <a:t>bệnh</a:t>
            </a:r>
            <a:r>
              <a:rPr lang="en-US" dirty="0" smtClean="0"/>
              <a:t> </a:t>
            </a:r>
            <a:r>
              <a:rPr lang="en-US" dirty="0" err="1" smtClean="0"/>
              <a:t>nhân</a:t>
            </a:r>
            <a:r>
              <a:rPr lang="en-US" dirty="0" smtClean="0"/>
              <a:t> </a:t>
            </a:r>
            <a:r>
              <a:rPr lang="en-US" dirty="0" err="1" smtClean="0"/>
              <a:t>có</a:t>
            </a:r>
            <a:r>
              <a:rPr lang="en-US" dirty="0" smtClean="0"/>
              <a:t> </a:t>
            </a:r>
            <a:r>
              <a:rPr lang="en-US" dirty="0" err="1" smtClean="0"/>
              <a:t>sốt,triệu</a:t>
            </a:r>
            <a:r>
              <a:rPr lang="en-US" dirty="0" smtClean="0"/>
              <a:t> </a:t>
            </a:r>
            <a:r>
              <a:rPr lang="en-US" dirty="0" err="1" smtClean="0"/>
              <a:t>chứng</a:t>
            </a:r>
            <a:endParaRPr lang="en-US" dirty="0" smtClean="0"/>
          </a:p>
          <a:p>
            <a:pPr marL="0" indent="0">
              <a:lnSpc>
                <a:spcPct val="150000"/>
              </a:lnSpc>
              <a:buNone/>
            </a:pPr>
            <a:r>
              <a:rPr lang="en-US" dirty="0"/>
              <a:t> </a:t>
            </a:r>
            <a:r>
              <a:rPr lang="en-US" dirty="0" smtClean="0"/>
              <a:t>  </a:t>
            </a:r>
            <a:r>
              <a:rPr lang="en-US" dirty="0" err="1" smtClean="0"/>
              <a:t>nhiễm</a:t>
            </a:r>
            <a:r>
              <a:rPr lang="en-US" dirty="0" smtClean="0"/>
              <a:t> </a:t>
            </a:r>
            <a:r>
              <a:rPr lang="en-US" dirty="0" err="1" smtClean="0"/>
              <a:t>trùng</a:t>
            </a:r>
            <a:r>
              <a:rPr lang="en-US" dirty="0" smtClean="0"/>
              <a:t> </a:t>
            </a:r>
            <a:r>
              <a:rPr lang="en-US" dirty="0" err="1" smtClean="0"/>
              <a:t>tiết</a:t>
            </a:r>
            <a:r>
              <a:rPr lang="en-US" dirty="0" smtClean="0"/>
              <a:t> </a:t>
            </a:r>
            <a:r>
              <a:rPr lang="en-US" dirty="0" err="1" smtClean="0"/>
              <a:t>niêu,đi</a:t>
            </a:r>
            <a:r>
              <a:rPr lang="en-US" dirty="0" smtClean="0"/>
              <a:t> </a:t>
            </a:r>
            <a:r>
              <a:rPr lang="en-US" dirty="0" err="1" smtClean="0"/>
              <a:t>ngoài</a:t>
            </a:r>
            <a:r>
              <a:rPr lang="en-US" dirty="0" smtClean="0"/>
              <a:t> </a:t>
            </a:r>
            <a:r>
              <a:rPr lang="en-US" dirty="0" err="1" smtClean="0"/>
              <a:t>thì</a:t>
            </a:r>
            <a:r>
              <a:rPr lang="en-US" dirty="0" smtClean="0"/>
              <a:t> </a:t>
            </a:r>
            <a:r>
              <a:rPr lang="en-US" dirty="0" err="1" smtClean="0"/>
              <a:t>nên</a:t>
            </a:r>
            <a:r>
              <a:rPr lang="en-US" dirty="0" smtClean="0"/>
              <a:t> </a:t>
            </a:r>
            <a:r>
              <a:rPr lang="en-US" dirty="0" err="1" smtClean="0"/>
              <a:t>cấy</a:t>
            </a:r>
            <a:r>
              <a:rPr lang="en-US" dirty="0" smtClean="0"/>
              <a:t> </a:t>
            </a:r>
            <a:r>
              <a:rPr lang="en-US" dirty="0" err="1" smtClean="0"/>
              <a:t>phân</a:t>
            </a:r>
            <a:r>
              <a:rPr lang="en-US" dirty="0" smtClean="0"/>
              <a:t>, </a:t>
            </a:r>
            <a:r>
              <a:rPr lang="en-US" dirty="0" err="1" smtClean="0"/>
              <a:t>nước</a:t>
            </a:r>
            <a:r>
              <a:rPr lang="en-US" dirty="0" smtClean="0"/>
              <a:t> </a:t>
            </a:r>
            <a:r>
              <a:rPr lang="en-US" dirty="0" err="1" smtClean="0"/>
              <a:t>tiểu</a:t>
            </a:r>
            <a:r>
              <a:rPr lang="en-US" dirty="0"/>
              <a:t>)</a:t>
            </a:r>
            <a:endParaRPr lang="en-US" dirty="0" smtClean="0"/>
          </a:p>
        </p:txBody>
      </p:sp>
    </p:spTree>
    <p:extLst>
      <p:ext uri="{BB962C8B-B14F-4D97-AF65-F5344CB8AC3E}">
        <p14:creationId xmlns:p14="http://schemas.microsoft.com/office/powerpoint/2010/main" val="379651741"/>
      </p:ext>
    </p:extLst>
  </p:cSld>
  <p:clrMapOvr>
    <a:masterClrMapping/>
  </p:clrMapOvr>
  <p:transition spd="slow">
    <p:push dir="u"/>
    <p:sndAc>
      <p:stSnd>
        <p:snd r:embed="rId2" name="camera.wav"/>
      </p:stSnd>
    </p:sndAc>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Chẩn</a:t>
            </a:r>
            <a:r>
              <a:rPr lang="en-US" dirty="0" smtClean="0"/>
              <a:t> </a:t>
            </a:r>
            <a:r>
              <a:rPr lang="en-US" dirty="0" err="1" smtClean="0"/>
              <a:t>đoán</a:t>
            </a:r>
            <a:r>
              <a:rPr lang="en-US" dirty="0" smtClean="0"/>
              <a:t> </a:t>
            </a:r>
            <a:r>
              <a:rPr lang="en-US" dirty="0" err="1" smtClean="0"/>
              <a:t>hình</a:t>
            </a:r>
            <a:r>
              <a:rPr lang="en-US" dirty="0" smtClean="0"/>
              <a:t> </a:t>
            </a:r>
            <a:r>
              <a:rPr lang="en-US" dirty="0" err="1" smtClean="0"/>
              <a:t>ảnh</a:t>
            </a:r>
            <a:endParaRPr lang="vi-VN" dirty="0"/>
          </a:p>
        </p:txBody>
      </p:sp>
      <p:sp>
        <p:nvSpPr>
          <p:cNvPr id="3" name="Content Placeholder 2"/>
          <p:cNvSpPr>
            <a:spLocks noGrp="1"/>
          </p:cNvSpPr>
          <p:nvPr>
            <p:ph idx="1"/>
          </p:nvPr>
        </p:nvSpPr>
        <p:spPr/>
        <p:txBody>
          <a:bodyPr/>
          <a:lstStyle/>
          <a:p>
            <a:r>
              <a:rPr lang="en-US" dirty="0" err="1" smtClean="0"/>
              <a:t>Chụp</a:t>
            </a:r>
            <a:r>
              <a:rPr lang="en-US" dirty="0" smtClean="0"/>
              <a:t> </a:t>
            </a:r>
            <a:r>
              <a:rPr lang="en-US" dirty="0" err="1" smtClean="0"/>
              <a:t>bụng</a:t>
            </a:r>
            <a:r>
              <a:rPr lang="en-US" dirty="0" smtClean="0"/>
              <a:t> </a:t>
            </a:r>
            <a:r>
              <a:rPr lang="en-US" dirty="0" err="1" smtClean="0"/>
              <a:t>không</a:t>
            </a:r>
            <a:r>
              <a:rPr lang="en-US" dirty="0" smtClean="0"/>
              <a:t> </a:t>
            </a:r>
            <a:r>
              <a:rPr lang="en-US" dirty="0" err="1" smtClean="0"/>
              <a:t>chuẩn</a:t>
            </a:r>
            <a:r>
              <a:rPr lang="en-US" dirty="0" smtClean="0"/>
              <a:t> </a:t>
            </a:r>
            <a:r>
              <a:rPr lang="en-US" dirty="0" err="1" smtClean="0"/>
              <a:t>bị</a:t>
            </a:r>
            <a:r>
              <a:rPr lang="en-US" dirty="0" smtClean="0"/>
              <a:t> </a:t>
            </a:r>
            <a:r>
              <a:rPr lang="en-US" dirty="0" err="1" smtClean="0"/>
              <a:t>và</a:t>
            </a:r>
            <a:r>
              <a:rPr lang="en-US" dirty="0" smtClean="0"/>
              <a:t> </a:t>
            </a:r>
            <a:r>
              <a:rPr lang="en-US" dirty="0" err="1" smtClean="0"/>
              <a:t>có</a:t>
            </a:r>
            <a:r>
              <a:rPr lang="en-US" dirty="0" smtClean="0"/>
              <a:t> </a:t>
            </a:r>
            <a:r>
              <a:rPr lang="en-US" dirty="0" err="1" smtClean="0"/>
              <a:t>chuẩn</a:t>
            </a:r>
            <a:r>
              <a:rPr lang="en-US" dirty="0" smtClean="0"/>
              <a:t> </a:t>
            </a:r>
            <a:r>
              <a:rPr lang="en-US" dirty="0" err="1" smtClean="0"/>
              <a:t>bị</a:t>
            </a:r>
            <a:endParaRPr lang="en-US" dirty="0" smtClean="0"/>
          </a:p>
          <a:p>
            <a:endParaRPr lang="en-US" dirty="0" smtClean="0"/>
          </a:p>
          <a:p>
            <a:r>
              <a:rPr lang="en-US" dirty="0" err="1" smtClean="0"/>
              <a:t>Siêu</a:t>
            </a:r>
            <a:r>
              <a:rPr lang="en-US" dirty="0" smtClean="0"/>
              <a:t> </a:t>
            </a:r>
            <a:r>
              <a:rPr lang="en-US" dirty="0" err="1" smtClean="0"/>
              <a:t>âm</a:t>
            </a:r>
            <a:endParaRPr lang="en-US" dirty="0" smtClean="0"/>
          </a:p>
          <a:p>
            <a:endParaRPr lang="en-US" dirty="0" smtClean="0"/>
          </a:p>
          <a:p>
            <a:r>
              <a:rPr lang="en-US" dirty="0" err="1" smtClean="0"/>
              <a:t>Nội</a:t>
            </a:r>
            <a:r>
              <a:rPr lang="en-US" dirty="0" smtClean="0"/>
              <a:t> </a:t>
            </a:r>
            <a:r>
              <a:rPr lang="en-US" dirty="0" err="1" smtClean="0"/>
              <a:t>soi</a:t>
            </a:r>
            <a:r>
              <a:rPr lang="en-US" dirty="0" smtClean="0"/>
              <a:t> </a:t>
            </a:r>
            <a:r>
              <a:rPr lang="en-US" dirty="0" err="1" smtClean="0"/>
              <a:t>tiêu</a:t>
            </a:r>
            <a:r>
              <a:rPr lang="en-US" dirty="0" smtClean="0"/>
              <a:t> </a:t>
            </a:r>
            <a:r>
              <a:rPr lang="en-US" dirty="0" err="1" smtClean="0"/>
              <a:t>hóa</a:t>
            </a:r>
            <a:endParaRPr lang="en-US" dirty="0" smtClean="0"/>
          </a:p>
          <a:p>
            <a:endParaRPr lang="en-US" dirty="0" smtClean="0"/>
          </a:p>
          <a:p>
            <a:r>
              <a:rPr lang="en-US" dirty="0" smtClean="0"/>
              <a:t>CT</a:t>
            </a:r>
            <a:endParaRPr lang="vi-VN" dirty="0"/>
          </a:p>
        </p:txBody>
      </p:sp>
    </p:spTree>
    <p:extLst>
      <p:ext uri="{BB962C8B-B14F-4D97-AF65-F5344CB8AC3E}">
        <p14:creationId xmlns:p14="http://schemas.microsoft.com/office/powerpoint/2010/main" val="180311163"/>
      </p:ext>
    </p:extLst>
  </p:cSld>
  <p:clrMapOvr>
    <a:masterClrMapping/>
  </p:clrMapOvr>
  <p:transition spd="slow">
    <p:push dir="u"/>
    <p:sndAc>
      <p:stSnd>
        <p:snd r:embed="rId2" name="camera.wav"/>
      </p:stSnd>
    </p:sndAc>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vi-VN"/>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87771409"/>
              </p:ext>
            </p:extLst>
          </p:nvPr>
        </p:nvGraphicFramePr>
        <p:xfrm>
          <a:off x="17584" y="1"/>
          <a:ext cx="12174415" cy="6781800"/>
        </p:xfrm>
        <a:graphic>
          <a:graphicData uri="http://schemas.openxmlformats.org/drawingml/2006/table">
            <a:tbl>
              <a:tblPr firstRow="1" bandRow="1">
                <a:tableStyleId>{5C22544A-7EE6-4342-B048-85BDC9FD1C3A}</a:tableStyleId>
              </a:tblPr>
              <a:tblGrid>
                <a:gridCol w="3552093"/>
                <a:gridCol w="8622322"/>
              </a:tblGrid>
              <a:tr h="476859">
                <a:tc gridSpan="2">
                  <a:txBody>
                    <a:bodyPr/>
                    <a:lstStyle/>
                    <a:p>
                      <a:pPr algn="ctr"/>
                      <a:r>
                        <a:rPr lang="vi-VN" sz="3000" smtClean="0"/>
                        <a:t>Giá</a:t>
                      </a:r>
                      <a:r>
                        <a:rPr lang="vi-VN" sz="3000" baseline="0" smtClean="0"/>
                        <a:t> trị các xét nghiệm thường làm ở bệnh nhân nôn trớ</a:t>
                      </a:r>
                      <a:endParaRPr lang="vi-VN" sz="3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vi-VN" dirty="0"/>
                    </a:p>
                  </a:txBody>
                  <a:tcPr/>
                </a:tc>
              </a:tr>
              <a:tr h="291414">
                <a:tc>
                  <a:txBody>
                    <a:bodyPr/>
                    <a:lstStyle/>
                    <a:p>
                      <a:r>
                        <a:rPr lang="vi-VN" sz="1600" b="1" kern="1200" smtClean="0">
                          <a:solidFill>
                            <a:schemeClr val="bg2">
                              <a:lumMod val="50000"/>
                            </a:schemeClr>
                          </a:solidFill>
                          <a:effectLst/>
                          <a:latin typeface="+mn-lt"/>
                          <a:ea typeface="+mn-ea"/>
                          <a:cs typeface="+mn-cs"/>
                        </a:rPr>
                        <a:t>Tên xét nghiệm</a:t>
                      </a:r>
                      <a:endParaRPr lang="vi-VN" sz="1600">
                        <a:solidFill>
                          <a:schemeClr val="bg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600" err="1" smtClean="0">
                          <a:solidFill>
                            <a:schemeClr val="tx1">
                              <a:lumMod val="50000"/>
                            </a:schemeClr>
                          </a:solidFill>
                        </a:rPr>
                        <a:t>Giá</a:t>
                      </a:r>
                      <a:r>
                        <a:rPr lang="en-US" sz="1600" baseline="0" smtClean="0">
                          <a:solidFill>
                            <a:schemeClr val="tx1">
                              <a:lumMod val="50000"/>
                            </a:schemeClr>
                          </a:solidFill>
                        </a:rPr>
                        <a:t> </a:t>
                      </a:r>
                      <a:r>
                        <a:rPr lang="en-US" sz="1600" baseline="0" err="1" smtClean="0">
                          <a:solidFill>
                            <a:schemeClr val="tx1">
                              <a:lumMod val="50000"/>
                            </a:schemeClr>
                          </a:solidFill>
                        </a:rPr>
                        <a:t>trị</a:t>
                      </a:r>
                      <a:endParaRPr lang="vi-VN" sz="1600">
                        <a:solidFill>
                          <a:schemeClr val="tx1">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07027">
                <a:tc rowSpan="2">
                  <a:txBody>
                    <a:bodyPr/>
                    <a:lstStyle/>
                    <a:p>
                      <a:r>
                        <a:rPr lang="vi-VN" sz="1600" kern="1200" smtClean="0">
                          <a:solidFill>
                            <a:schemeClr val="bg2">
                              <a:lumMod val="50000"/>
                            </a:schemeClr>
                          </a:solidFill>
                          <a:effectLst/>
                          <a:latin typeface="+mn-lt"/>
                          <a:ea typeface="+mn-ea"/>
                          <a:cs typeface="+mn-cs"/>
                        </a:rPr>
                        <a:t>Tổng phân tích tế bào máu ngoại vi</a:t>
                      </a:r>
                      <a:endParaRPr lang="vi-VN" sz="1600">
                        <a:solidFill>
                          <a:schemeClr val="bg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nSpc>
                          <a:spcPts val="1800"/>
                        </a:lnSpc>
                        <a:spcAft>
                          <a:spcPts val="0"/>
                        </a:spcAft>
                      </a:pPr>
                      <a:r>
                        <a:rPr lang="vi-VN" sz="16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Thiếu máu và thiếu sắt có thể gặp trong đến tắc ruột,IBD,viêm dạ dày, loét dạ dày tá tràng.</a:t>
                      </a:r>
                      <a:endParaRPr lang="vi-VN" sz="16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78168">
                <a:tc vMerge="1">
                  <a:txBody>
                    <a:bodyPr/>
                    <a:lstStyle/>
                    <a:p>
                      <a:endParaRPr lang="vi-VN"/>
                    </a:p>
                  </a:txBody>
                  <a:tcPr/>
                </a:tc>
                <a:tc>
                  <a:txBody>
                    <a:bodyPr/>
                    <a:lstStyle/>
                    <a:p>
                      <a:pPr>
                        <a:lnSpc>
                          <a:spcPts val="1800"/>
                        </a:lnSpc>
                        <a:spcAft>
                          <a:spcPts val="0"/>
                        </a:spcAft>
                      </a:pPr>
                      <a:r>
                        <a:rPr lang="vi-VN" sz="16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Tăng bạch cầu gặp trong các bệnh nhiễm khuẩn và sepsis</a:t>
                      </a:r>
                      <a:endParaRPr lang="vi-VN" sz="16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07027">
                <a:tc rowSpan="2">
                  <a:txBody>
                    <a:bodyPr/>
                    <a:lstStyle/>
                    <a:p>
                      <a:pPr>
                        <a:lnSpc>
                          <a:spcPts val="1800"/>
                        </a:lnSpc>
                        <a:spcAft>
                          <a:spcPts val="0"/>
                        </a:spcAft>
                      </a:pPr>
                      <a:r>
                        <a:rPr lang="vi-VN" sz="1600">
                          <a:solidFill>
                            <a:schemeClr val="bg2">
                              <a:lumMod val="50000"/>
                            </a:schemeClr>
                          </a:solidFill>
                          <a:effectLst/>
                          <a:latin typeface="Arial" panose="020B0604020202020204" pitchFamily="34" charset="0"/>
                          <a:ea typeface="Arial" panose="020B0604020202020204" pitchFamily="34" charset="0"/>
                          <a:cs typeface="Arial" panose="020B0604020202020204" pitchFamily="34" charset="0"/>
                        </a:rPr>
                        <a:t>Điện giải,BUN/creatinine</a:t>
                      </a:r>
                      <a:endParaRPr lang="vi-VN" sz="1600">
                        <a:solidFill>
                          <a:schemeClr val="bg2">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nSpc>
                          <a:spcPts val="1800"/>
                        </a:lnSpc>
                        <a:spcAft>
                          <a:spcPts val="0"/>
                        </a:spcAft>
                      </a:pPr>
                      <a:r>
                        <a:rPr lang="vi-VN" sz="16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Rối loạn điện giải thường gặp trong bệnh hẹp môn vị, suy thượng thận, và bệnh chuyển hóa</a:t>
                      </a:r>
                      <a:endParaRPr lang="vi-VN" sz="16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78168">
                <a:tc vMerge="1">
                  <a:txBody>
                    <a:bodyPr/>
                    <a:lstStyle/>
                    <a:p>
                      <a:endParaRPr lang="vi-VN"/>
                    </a:p>
                  </a:txBody>
                  <a:tcPr/>
                </a:tc>
                <a:tc>
                  <a:txBody>
                    <a:bodyPr/>
                    <a:lstStyle/>
                    <a:p>
                      <a:pPr>
                        <a:lnSpc>
                          <a:spcPts val="1800"/>
                        </a:lnSpc>
                        <a:spcAft>
                          <a:spcPts val="0"/>
                        </a:spcAft>
                      </a:pPr>
                      <a:r>
                        <a:rPr lang="vi-VN" sz="16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Tăng BUN/creatinine thường gặp trong bệnh thận</a:t>
                      </a:r>
                      <a:endParaRPr lang="vi-VN" sz="16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91414">
                <a:tc>
                  <a:txBody>
                    <a:bodyPr/>
                    <a:lstStyle/>
                    <a:p>
                      <a:r>
                        <a:rPr lang="vi-VN" sz="1600" kern="1200" smtClean="0">
                          <a:solidFill>
                            <a:schemeClr val="bg2">
                              <a:lumMod val="50000"/>
                            </a:schemeClr>
                          </a:solidFill>
                          <a:effectLst/>
                          <a:latin typeface="+mn-lt"/>
                          <a:ea typeface="+mn-ea"/>
                          <a:cs typeface="+mn-cs"/>
                        </a:rPr>
                        <a:t>Chức năng gan</a:t>
                      </a:r>
                      <a:endParaRPr lang="vi-VN" sz="1600">
                        <a:solidFill>
                          <a:schemeClr val="bg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nSpc>
                          <a:spcPts val="1800"/>
                        </a:lnSpc>
                        <a:spcAft>
                          <a:spcPts val="0"/>
                        </a:spcAft>
                      </a:pPr>
                      <a:r>
                        <a:rPr lang="vi-VN" sz="16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Tăng AST,ALT,bil toàn phần,và GGT thường gặp trong bệnh lý gan mật.</a:t>
                      </a:r>
                      <a:endParaRPr lang="vi-VN" sz="16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91414">
                <a:tc>
                  <a:txBody>
                    <a:bodyPr/>
                    <a:lstStyle/>
                    <a:p>
                      <a:r>
                        <a:rPr lang="vi-VN" sz="1600" kern="1200" smtClean="0">
                          <a:solidFill>
                            <a:schemeClr val="bg2">
                              <a:lumMod val="50000"/>
                            </a:schemeClr>
                          </a:solidFill>
                          <a:effectLst/>
                          <a:latin typeface="+mn-lt"/>
                          <a:ea typeface="+mn-ea"/>
                          <a:cs typeface="+mn-cs"/>
                        </a:rPr>
                        <a:t>Amylase, lipase</a:t>
                      </a:r>
                      <a:endParaRPr lang="vi-VN" sz="1600">
                        <a:solidFill>
                          <a:schemeClr val="bg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nSpc>
                          <a:spcPts val="1800"/>
                        </a:lnSpc>
                        <a:spcAft>
                          <a:spcPts val="0"/>
                        </a:spcAft>
                      </a:pPr>
                      <a:r>
                        <a:rPr lang="vi-VN" sz="16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Tăng trong viêm tụy</a:t>
                      </a:r>
                      <a:endParaRPr lang="vi-VN" sz="16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675550">
                <a:tc>
                  <a:txBody>
                    <a:bodyPr/>
                    <a:lstStyle/>
                    <a:p>
                      <a:r>
                        <a:rPr lang="vi-VN" sz="1600" kern="1200" smtClean="0">
                          <a:solidFill>
                            <a:schemeClr val="bg2">
                              <a:lumMod val="50000"/>
                            </a:schemeClr>
                          </a:solidFill>
                          <a:effectLst/>
                          <a:latin typeface="+mn-lt"/>
                          <a:ea typeface="+mn-ea"/>
                          <a:cs typeface="+mn-cs"/>
                        </a:rPr>
                        <a:t>NH3 máu, các chất giáng hóa trong nước tiểu </a:t>
                      </a:r>
                      <a:endParaRPr lang="vi-VN" sz="1600">
                        <a:solidFill>
                          <a:schemeClr val="bg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nSpc>
                          <a:spcPts val="1800"/>
                        </a:lnSpc>
                        <a:spcAft>
                          <a:spcPts val="0"/>
                        </a:spcAft>
                      </a:pPr>
                      <a:r>
                        <a:rPr lang="vi-VN" sz="16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Nếu có nghi ngờ rối loạn chuyển hóa bẩm sinh NH3 tăng trong rối loạn chu trình ure, và bệnh toan do acid hữu cơ .Các chất giáng hóa không phải glucose trong nước tiểu thường gặp trong bệnh galactosemia hoặc bất dung nạp fructose di truyền.  </a:t>
                      </a:r>
                      <a:endParaRPr lang="vi-VN" sz="16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91414">
                <a:tc>
                  <a:txBody>
                    <a:bodyPr/>
                    <a:lstStyle/>
                    <a:p>
                      <a:r>
                        <a:rPr lang="vi-VN" sz="1600" kern="1200" smtClean="0">
                          <a:solidFill>
                            <a:schemeClr val="bg2">
                              <a:lumMod val="50000"/>
                            </a:schemeClr>
                          </a:solidFill>
                          <a:effectLst/>
                          <a:latin typeface="+mn-lt"/>
                          <a:ea typeface="+mn-ea"/>
                          <a:cs typeface="+mn-cs"/>
                        </a:rPr>
                        <a:t>Xquang bụng </a:t>
                      </a:r>
                      <a:endParaRPr lang="vi-VN" sz="1600">
                        <a:solidFill>
                          <a:schemeClr val="bg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nSpc>
                          <a:spcPts val="1800"/>
                        </a:lnSpc>
                        <a:spcAft>
                          <a:spcPts val="0"/>
                        </a:spcAft>
                      </a:pPr>
                      <a:r>
                        <a:rPr lang="vi-VN" sz="16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Nếu nghi ngờ tắc ruột</a:t>
                      </a:r>
                      <a:endParaRPr lang="vi-VN" sz="16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03351">
                <a:tc>
                  <a:txBody>
                    <a:bodyPr/>
                    <a:lstStyle/>
                    <a:p>
                      <a:r>
                        <a:rPr lang="vi-VN" sz="1600" kern="1200" smtClean="0">
                          <a:solidFill>
                            <a:schemeClr val="bg2">
                              <a:lumMod val="50000"/>
                            </a:schemeClr>
                          </a:solidFill>
                          <a:effectLst/>
                          <a:latin typeface="+mn-lt"/>
                          <a:ea typeface="+mn-ea"/>
                          <a:cs typeface="+mn-cs"/>
                        </a:rPr>
                        <a:t>Chụp series phim đường tiêu hóa trên(thực quản-dạ dày-tá tràng)</a:t>
                      </a:r>
                      <a:endParaRPr lang="vi-VN" sz="1600">
                        <a:solidFill>
                          <a:schemeClr val="bg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nSpc>
                          <a:spcPts val="1800"/>
                        </a:lnSpc>
                        <a:spcAft>
                          <a:spcPts val="0"/>
                        </a:spcAft>
                      </a:pPr>
                      <a:r>
                        <a:rPr lang="vi-VN" sz="16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Nếu có nghi ngờ dị dạng cấu trúc giải phẫu đường tiêu hóa trên (vd trẻ sơ sinh nôn ra dịch mật)</a:t>
                      </a:r>
                      <a:endParaRPr lang="vi-VN" sz="16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91414">
                <a:tc>
                  <a:txBody>
                    <a:bodyPr/>
                    <a:lstStyle/>
                    <a:p>
                      <a:r>
                        <a:rPr lang="vi-VN" sz="1600" kern="1200" smtClean="0">
                          <a:solidFill>
                            <a:schemeClr val="bg2">
                              <a:lumMod val="50000"/>
                            </a:schemeClr>
                          </a:solidFill>
                          <a:effectLst/>
                          <a:latin typeface="+mn-lt"/>
                          <a:ea typeface="+mn-ea"/>
                          <a:cs typeface="+mn-cs"/>
                        </a:rPr>
                        <a:t>CT sọ não</a:t>
                      </a:r>
                      <a:endParaRPr lang="vi-VN" sz="1600">
                        <a:solidFill>
                          <a:schemeClr val="bg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nSpc>
                          <a:spcPts val="1800"/>
                        </a:lnSpc>
                        <a:spcAft>
                          <a:spcPts val="0"/>
                        </a:spcAft>
                      </a:pPr>
                      <a:r>
                        <a:rPr lang="vi-VN" sz="16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Nếu có nghi ngờ tăng áp lực nội sọ ( để loại trừ khối nội sọ)</a:t>
                      </a:r>
                      <a:endParaRPr lang="vi-VN" sz="16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76859">
                <a:tc>
                  <a:txBody>
                    <a:bodyPr/>
                    <a:lstStyle/>
                    <a:p>
                      <a:r>
                        <a:rPr lang="vi-VN" sz="1600" kern="1200" smtClean="0">
                          <a:solidFill>
                            <a:schemeClr val="bg2">
                              <a:lumMod val="50000"/>
                            </a:schemeClr>
                          </a:solidFill>
                          <a:effectLst/>
                          <a:latin typeface="+mn-lt"/>
                          <a:ea typeface="+mn-ea"/>
                          <a:cs typeface="+mn-cs"/>
                        </a:rPr>
                        <a:t>Siêu âm ổ bụng</a:t>
                      </a:r>
                      <a:endParaRPr lang="vi-VN" sz="1600">
                        <a:solidFill>
                          <a:schemeClr val="bg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nSpc>
                          <a:spcPts val="1800"/>
                        </a:lnSpc>
                        <a:spcAft>
                          <a:spcPts val="0"/>
                        </a:spcAft>
                      </a:pPr>
                      <a:r>
                        <a:rPr lang="vi-VN" sz="16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Nếu có nghi ngờ hẹp môn vị hoặc lồng ruột đồng thời cũng hữu ích trong đánh giá gan, túi mật, thận, và tụy</a:t>
                      </a:r>
                      <a:endParaRPr lang="vi-VN" sz="16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715289">
                <a:tc>
                  <a:txBody>
                    <a:bodyPr/>
                    <a:lstStyle/>
                    <a:p>
                      <a:r>
                        <a:rPr lang="vi-VN" sz="1600" kern="1200" smtClean="0">
                          <a:solidFill>
                            <a:schemeClr val="bg2">
                              <a:lumMod val="50000"/>
                            </a:schemeClr>
                          </a:solidFill>
                          <a:effectLst/>
                          <a:latin typeface="+mn-lt"/>
                          <a:ea typeface="+mn-ea"/>
                          <a:cs typeface="+mn-cs"/>
                        </a:rPr>
                        <a:t>Chụp đồng vị phóng xạ đánh giá độ rỗng dạ dày (Radionucleotide gastric emptying study)</a:t>
                      </a:r>
                      <a:endParaRPr lang="vi-VN" sz="1600">
                        <a:solidFill>
                          <a:schemeClr val="bg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nSpc>
                          <a:spcPts val="1800"/>
                        </a:lnSpc>
                        <a:spcAft>
                          <a:spcPts val="0"/>
                        </a:spcAft>
                      </a:pPr>
                      <a:r>
                        <a:rPr lang="vi-VN" sz="16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Nếu có nghi ngờ liệt dạ dày</a:t>
                      </a:r>
                      <a:endParaRPr lang="vi-VN" sz="16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76859">
                <a:tc>
                  <a:txBody>
                    <a:bodyPr/>
                    <a:lstStyle/>
                    <a:p>
                      <a:r>
                        <a:rPr lang="vi-VN" sz="1600" kern="1200" smtClean="0">
                          <a:solidFill>
                            <a:schemeClr val="bg2">
                              <a:lumMod val="50000"/>
                            </a:schemeClr>
                          </a:solidFill>
                          <a:effectLst/>
                          <a:latin typeface="+mn-lt"/>
                          <a:ea typeface="+mn-ea"/>
                          <a:cs typeface="+mn-cs"/>
                        </a:rPr>
                        <a:t>Nội soi</a:t>
                      </a:r>
                      <a:endParaRPr lang="vi-VN" sz="1600">
                        <a:solidFill>
                          <a:schemeClr val="bg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nSpc>
                          <a:spcPts val="1800"/>
                        </a:lnSpc>
                        <a:spcAft>
                          <a:spcPts val="0"/>
                        </a:spcAft>
                      </a:pPr>
                      <a:r>
                        <a:rPr lang="vi-VN" sz="1600">
                          <a:solidFill>
                            <a:schemeClr val="tx1">
                              <a:lumMod val="50000"/>
                            </a:schemeClr>
                          </a:solidFill>
                          <a:effectLst/>
                          <a:latin typeface="Arial" panose="020B0604020202020204" pitchFamily="34" charset="0"/>
                          <a:ea typeface="Arial" panose="020B0604020202020204" pitchFamily="34" charset="0"/>
                          <a:cs typeface="Arial" panose="020B0604020202020204" pitchFamily="34" charset="0"/>
                        </a:rPr>
                        <a:t>Nếu nghi ngờ viêm loét dạ dày tá tràng, viêm thực quản tăng bạch cầu ái toan,IBD, hoặc các nguyên nhân gây viêm ruột khác.</a:t>
                      </a:r>
                      <a:endParaRPr lang="vi-VN" sz="1600">
                        <a:solidFill>
                          <a:schemeClr val="tx1">
                            <a:lumMod val="50000"/>
                          </a:schemeClr>
                        </a:solidFill>
                        <a:effectLst/>
                        <a:latin typeface="Arial" panose="020B0604020202020204" pitchFamily="34" charset="0"/>
                        <a:ea typeface="Arial" panose="020B0604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Tree>
    <p:extLst>
      <p:ext uri="{BB962C8B-B14F-4D97-AF65-F5344CB8AC3E}">
        <p14:creationId xmlns:p14="http://schemas.microsoft.com/office/powerpoint/2010/main" val="2480988402"/>
      </p:ext>
    </p:extLst>
  </p:cSld>
  <p:clrMapOvr>
    <a:masterClrMapping/>
  </p:clrMapOvr>
  <mc:AlternateContent xmlns:mc="http://schemas.openxmlformats.org/markup-compatibility/2006" xmlns:p14="http://schemas.microsoft.com/office/powerpoint/2010/main">
    <mc:Choice Requires="p14">
      <p:transition spd="slow" p14:dur="2000">
        <p:sndAc>
          <p:stSnd>
            <p:snd r:embed="rId2" name="camera.wav"/>
          </p:stSnd>
        </p:sndAc>
      </p:transition>
    </mc:Choice>
    <mc:Fallback xmlns="">
      <p:transition spd="slow">
        <p:sndAc>
          <p:stSnd>
            <p:snd r:embed="rId3" name="camera.wav"/>
          </p:stSnd>
        </p:sndAc>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smtClean="0"/>
              <a:t>Chẩn</a:t>
            </a:r>
            <a:r>
              <a:rPr lang="en-US" smtClean="0"/>
              <a:t> </a:t>
            </a:r>
            <a:r>
              <a:rPr lang="en-US" err="1" smtClean="0"/>
              <a:t>đoán</a:t>
            </a:r>
            <a:r>
              <a:rPr lang="en-US" smtClean="0"/>
              <a:t> </a:t>
            </a:r>
            <a:r>
              <a:rPr lang="en-US" err="1" smtClean="0"/>
              <a:t>hình</a:t>
            </a:r>
            <a:r>
              <a:rPr lang="en-US" smtClean="0"/>
              <a:t> </a:t>
            </a:r>
            <a:r>
              <a:rPr lang="en-US" err="1" smtClean="0"/>
              <a:t>ảnh</a:t>
            </a:r>
            <a:endParaRPr lang="vi-VN"/>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 y="0"/>
            <a:ext cx="6096000" cy="5702531"/>
          </a:xfr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1"/>
            <a:ext cx="6096000" cy="5702531"/>
          </a:xfrm>
          <a:prstGeom prst="rect">
            <a:avLst/>
          </a:prstGeom>
        </p:spPr>
      </p:pic>
      <p:sp>
        <p:nvSpPr>
          <p:cNvPr id="5" name="TextBox 4"/>
          <p:cNvSpPr txBox="1"/>
          <p:nvPr/>
        </p:nvSpPr>
        <p:spPr>
          <a:xfrm>
            <a:off x="298938" y="5950181"/>
            <a:ext cx="5416062" cy="707886"/>
          </a:xfrm>
          <a:prstGeom prst="rect">
            <a:avLst/>
          </a:prstGeom>
          <a:noFill/>
        </p:spPr>
        <p:txBody>
          <a:bodyPr wrap="square" rtlCol="0">
            <a:spAutoFit/>
          </a:bodyPr>
          <a:lstStyle/>
          <a:p>
            <a:r>
              <a:rPr lang="vi-VN" sz="4000" dirty="0" smtClean="0"/>
              <a:t>Dấu hiệu bóng đôi</a:t>
            </a:r>
            <a:endParaRPr lang="vi-VN" sz="4000" dirty="0"/>
          </a:p>
        </p:txBody>
      </p:sp>
      <p:sp>
        <p:nvSpPr>
          <p:cNvPr id="6" name="TextBox 5"/>
          <p:cNvSpPr txBox="1"/>
          <p:nvPr/>
        </p:nvSpPr>
        <p:spPr>
          <a:xfrm>
            <a:off x="7965831" y="5950181"/>
            <a:ext cx="4765431" cy="707886"/>
          </a:xfrm>
          <a:prstGeom prst="rect">
            <a:avLst/>
          </a:prstGeom>
          <a:noFill/>
        </p:spPr>
        <p:txBody>
          <a:bodyPr wrap="square" rtlCol="0">
            <a:spAutoFit/>
          </a:bodyPr>
          <a:lstStyle/>
          <a:p>
            <a:r>
              <a:rPr lang="vi-VN" sz="4000" smtClean="0"/>
              <a:t>Tắc ruột </a:t>
            </a:r>
            <a:endParaRPr lang="vi-VN" sz="4000"/>
          </a:p>
        </p:txBody>
      </p:sp>
    </p:spTree>
    <p:extLst>
      <p:ext uri="{BB962C8B-B14F-4D97-AF65-F5344CB8AC3E}">
        <p14:creationId xmlns:p14="http://schemas.microsoft.com/office/powerpoint/2010/main" val="3350983192"/>
      </p:ext>
    </p:extLst>
  </p:cSld>
  <p:clrMapOvr>
    <a:masterClrMapping/>
  </p:clrMapOvr>
  <p:transition spd="slow">
    <p:push dir="u"/>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vi-VN"/>
          </a:p>
        </p:txBody>
      </p:sp>
      <p:pic>
        <p:nvPicPr>
          <p:cNvPr id="8" name="Content Placeholder 7"/>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109553" y="0"/>
            <a:ext cx="6082447" cy="5602778"/>
          </a:xfr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6096000" cy="5602778"/>
          </a:xfrm>
          <a:prstGeom prst="rect">
            <a:avLst/>
          </a:prstGeom>
        </p:spPr>
      </p:pic>
      <p:sp>
        <p:nvSpPr>
          <p:cNvPr id="6" name="TextBox 5"/>
          <p:cNvSpPr txBox="1"/>
          <p:nvPr/>
        </p:nvSpPr>
        <p:spPr>
          <a:xfrm>
            <a:off x="596046" y="5846663"/>
            <a:ext cx="4903907" cy="646331"/>
          </a:xfrm>
          <a:prstGeom prst="rect">
            <a:avLst/>
          </a:prstGeom>
          <a:noFill/>
        </p:spPr>
        <p:txBody>
          <a:bodyPr wrap="none" rtlCol="0">
            <a:spAutoFit/>
          </a:bodyPr>
          <a:lstStyle/>
          <a:p>
            <a:r>
              <a:rPr lang="vi-VN" sz="3600" smtClean="0"/>
              <a:t>Xoắn đại tràng sigmoid</a:t>
            </a:r>
            <a:endParaRPr lang="vi-VN" sz="3600"/>
          </a:p>
        </p:txBody>
      </p:sp>
      <p:sp>
        <p:nvSpPr>
          <p:cNvPr id="7" name="TextBox 6"/>
          <p:cNvSpPr txBox="1"/>
          <p:nvPr/>
        </p:nvSpPr>
        <p:spPr>
          <a:xfrm>
            <a:off x="6799270" y="5846664"/>
            <a:ext cx="4237057" cy="646331"/>
          </a:xfrm>
          <a:prstGeom prst="rect">
            <a:avLst/>
          </a:prstGeom>
          <a:noFill/>
        </p:spPr>
        <p:txBody>
          <a:bodyPr wrap="none" rtlCol="0">
            <a:spAutoFit/>
          </a:bodyPr>
          <a:lstStyle/>
          <a:p>
            <a:r>
              <a:rPr lang="vi-VN" sz="3600" dirty="0" smtClean="0"/>
              <a:t>Bệnh Hirschsprung </a:t>
            </a:r>
            <a:endParaRPr lang="vi-VN" sz="3600" dirty="0"/>
          </a:p>
        </p:txBody>
      </p:sp>
    </p:spTree>
    <p:extLst>
      <p:ext uri="{BB962C8B-B14F-4D97-AF65-F5344CB8AC3E}">
        <p14:creationId xmlns:p14="http://schemas.microsoft.com/office/powerpoint/2010/main" val="2773105253"/>
      </p:ext>
    </p:extLst>
  </p:cSld>
  <p:clrMapOvr>
    <a:masterClrMapping/>
  </p:clrMapOvr>
  <p:transition spd="slow">
    <p:push dir="u"/>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vi-VN"/>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247649"/>
            <a:ext cx="12192000" cy="5902465"/>
          </a:xfrm>
        </p:spPr>
      </p:pic>
      <p:sp>
        <p:nvSpPr>
          <p:cNvPr id="5" name="TextBox 4"/>
          <p:cNvSpPr txBox="1"/>
          <p:nvPr/>
        </p:nvSpPr>
        <p:spPr>
          <a:xfrm>
            <a:off x="3793374" y="6150114"/>
            <a:ext cx="4605251" cy="707886"/>
          </a:xfrm>
          <a:prstGeom prst="rect">
            <a:avLst/>
          </a:prstGeom>
          <a:noFill/>
        </p:spPr>
        <p:txBody>
          <a:bodyPr wrap="square" rtlCol="0">
            <a:spAutoFit/>
          </a:bodyPr>
          <a:lstStyle/>
          <a:p>
            <a:r>
              <a:rPr lang="vi-VN" sz="4000" dirty="0" smtClean="0"/>
              <a:t>Viêm ruột hoại tử </a:t>
            </a:r>
            <a:endParaRPr lang="vi-VN" sz="4000" dirty="0"/>
          </a:p>
        </p:txBody>
      </p:sp>
    </p:spTree>
    <p:extLst>
      <p:ext uri="{BB962C8B-B14F-4D97-AF65-F5344CB8AC3E}">
        <p14:creationId xmlns:p14="http://schemas.microsoft.com/office/powerpoint/2010/main" val="1777862738"/>
      </p:ext>
    </p:extLst>
  </p:cSld>
  <p:clrMapOvr>
    <a:masterClrMapping/>
  </p:clrMapOvr>
  <p:transition spd="slow">
    <p:push dir="u"/>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vi-VN"/>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 y="0"/>
            <a:ext cx="6453555" cy="5574323"/>
          </a:xfr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53554" y="-1"/>
            <a:ext cx="5738446" cy="5574323"/>
          </a:xfrm>
          <a:prstGeom prst="rect">
            <a:avLst/>
          </a:prstGeom>
        </p:spPr>
      </p:pic>
      <p:sp>
        <p:nvSpPr>
          <p:cNvPr id="7" name="TextBox 6"/>
          <p:cNvSpPr txBox="1"/>
          <p:nvPr/>
        </p:nvSpPr>
        <p:spPr>
          <a:xfrm>
            <a:off x="1160585" y="5983143"/>
            <a:ext cx="3672800" cy="646331"/>
          </a:xfrm>
          <a:prstGeom prst="rect">
            <a:avLst/>
          </a:prstGeom>
          <a:noFill/>
        </p:spPr>
        <p:txBody>
          <a:bodyPr wrap="none" rtlCol="0">
            <a:spAutoFit/>
          </a:bodyPr>
          <a:lstStyle/>
          <a:p>
            <a:r>
              <a:rPr lang="vi-VN" sz="3600" smtClean="0"/>
              <a:t>Dấu hiệu bia bắn</a:t>
            </a:r>
            <a:endParaRPr lang="vi-VN" sz="3600"/>
          </a:p>
        </p:txBody>
      </p:sp>
      <p:sp>
        <p:nvSpPr>
          <p:cNvPr id="8" name="TextBox 7"/>
          <p:cNvSpPr txBox="1"/>
          <p:nvPr/>
        </p:nvSpPr>
        <p:spPr>
          <a:xfrm>
            <a:off x="7259551" y="5983143"/>
            <a:ext cx="4671472" cy="584775"/>
          </a:xfrm>
          <a:prstGeom prst="rect">
            <a:avLst/>
          </a:prstGeom>
          <a:noFill/>
        </p:spPr>
        <p:txBody>
          <a:bodyPr wrap="none" rtlCol="0">
            <a:spAutoFit/>
          </a:bodyPr>
          <a:lstStyle/>
          <a:p>
            <a:r>
              <a:rPr lang="vi-VN" sz="3200" smtClean="0"/>
              <a:t>Dấu hiệu bánh sandwich</a:t>
            </a:r>
            <a:endParaRPr lang="vi-VN" sz="3200"/>
          </a:p>
        </p:txBody>
      </p:sp>
    </p:spTree>
    <p:extLst>
      <p:ext uri="{BB962C8B-B14F-4D97-AF65-F5344CB8AC3E}">
        <p14:creationId xmlns:p14="http://schemas.microsoft.com/office/powerpoint/2010/main" val="3920030485"/>
      </p:ext>
    </p:extLst>
  </p:cSld>
  <p:clrMapOvr>
    <a:masterClrMapping/>
  </p:clrMapOvr>
  <p:transition spd="slow">
    <p:push dir="u"/>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01439"/>
            <a:ext cx="8731624" cy="1143000"/>
          </a:xfrm>
        </p:spPr>
        <p:txBody>
          <a:bodyPr/>
          <a:lstStyle/>
          <a:p>
            <a:r>
              <a:rPr lang="vi-VN" dirty="0" smtClean="0"/>
              <a:t>Chẩn đoán phân biệt</a:t>
            </a:r>
            <a:endParaRPr lang="vi-VN" dirty="0"/>
          </a:p>
        </p:txBody>
      </p:sp>
      <p:sp>
        <p:nvSpPr>
          <p:cNvPr id="3" name="Content Placeholder 2"/>
          <p:cNvSpPr>
            <a:spLocks noGrp="1"/>
          </p:cNvSpPr>
          <p:nvPr>
            <p:ph idx="1"/>
          </p:nvPr>
        </p:nvSpPr>
        <p:spPr>
          <a:xfrm>
            <a:off x="0" y="1237129"/>
            <a:ext cx="11582400" cy="5620871"/>
          </a:xfrm>
        </p:spPr>
        <p:txBody>
          <a:bodyPr/>
          <a:lstStyle/>
          <a:p>
            <a:pPr marL="0" indent="0" algn="ctr">
              <a:buNone/>
            </a:pPr>
            <a:r>
              <a:rPr lang="vi-VN" sz="3600" dirty="0" smtClean="0"/>
              <a:t>Sơ sinh và trẻ nhũ nhi nhỏ</a:t>
            </a:r>
          </a:p>
          <a:p>
            <a:pPr lvl="1">
              <a:buFont typeface="Wingdings" panose="05000000000000000000" pitchFamily="2" charset="2"/>
              <a:buChar char="Ø"/>
            </a:pPr>
            <a:r>
              <a:rPr lang="vi-VN" sz="3600" dirty="0" smtClean="0"/>
              <a:t>Trào ngược dạ dày thực quản</a:t>
            </a:r>
          </a:p>
          <a:p>
            <a:pPr lvl="1">
              <a:buFont typeface="Wingdings" panose="05000000000000000000" pitchFamily="2" charset="2"/>
              <a:buChar char="Ø"/>
            </a:pPr>
            <a:r>
              <a:rPr lang="vi-VN" sz="3600" dirty="0" smtClean="0"/>
              <a:t>Hẹp môn vị </a:t>
            </a:r>
          </a:p>
          <a:p>
            <a:pPr lvl="1">
              <a:buFont typeface="Wingdings" panose="05000000000000000000" pitchFamily="2" charset="2"/>
              <a:buChar char="Ø"/>
            </a:pPr>
            <a:r>
              <a:rPr lang="vi-VN" sz="3600" dirty="0" smtClean="0"/>
              <a:t>Suy thượng thận bẩm sinh</a:t>
            </a:r>
          </a:p>
          <a:p>
            <a:pPr lvl="1">
              <a:buFont typeface="Wingdings" panose="05000000000000000000" pitchFamily="2" charset="2"/>
              <a:buChar char="Ø"/>
            </a:pPr>
            <a:r>
              <a:rPr lang="vi-VN" sz="3600" dirty="0" smtClean="0"/>
              <a:t>Tắc ruột nôn</a:t>
            </a:r>
          </a:p>
          <a:p>
            <a:pPr lvl="1">
              <a:buFont typeface="Wingdings" panose="05000000000000000000" pitchFamily="2" charset="2"/>
              <a:buChar char="Ø"/>
            </a:pPr>
            <a:r>
              <a:rPr lang="vi-VN" sz="3600" dirty="0" smtClean="0"/>
              <a:t>Dị ứng đạm sữa bò</a:t>
            </a:r>
          </a:p>
          <a:p>
            <a:pPr lvl="1">
              <a:buFont typeface="Wingdings" panose="05000000000000000000" pitchFamily="2" charset="2"/>
              <a:buChar char="Ø"/>
            </a:pPr>
            <a:r>
              <a:rPr lang="vi-VN" sz="3600" dirty="0" smtClean="0"/>
              <a:t>Rối loạn chuyển hóa bẩm sinh</a:t>
            </a:r>
            <a:endParaRPr lang="vi-VN" sz="3600" dirty="0"/>
          </a:p>
        </p:txBody>
      </p:sp>
    </p:spTree>
    <p:extLst>
      <p:ext uri="{BB962C8B-B14F-4D97-AF65-F5344CB8AC3E}">
        <p14:creationId xmlns:p14="http://schemas.microsoft.com/office/powerpoint/2010/main" val="154906669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7650"/>
            <a:ext cx="8534400" cy="1143000"/>
          </a:xfrm>
        </p:spPr>
        <p:txBody>
          <a:bodyPr/>
          <a:lstStyle/>
          <a:p>
            <a:r>
              <a:rPr lang="vi-VN" dirty="0" smtClean="0"/>
              <a:t>Chẩn đoán phân biệt</a:t>
            </a:r>
            <a:endParaRPr lang="vi-VN" dirty="0"/>
          </a:p>
        </p:txBody>
      </p:sp>
      <p:sp>
        <p:nvSpPr>
          <p:cNvPr id="3" name="Content Placeholder 2"/>
          <p:cNvSpPr>
            <a:spLocks noGrp="1"/>
          </p:cNvSpPr>
          <p:nvPr>
            <p:ph idx="1"/>
          </p:nvPr>
        </p:nvSpPr>
        <p:spPr>
          <a:xfrm>
            <a:off x="0" y="1237129"/>
            <a:ext cx="12192000" cy="5620871"/>
          </a:xfrm>
        </p:spPr>
        <p:txBody>
          <a:bodyPr/>
          <a:lstStyle/>
          <a:p>
            <a:pPr marL="0" indent="0" algn="ctr">
              <a:buNone/>
            </a:pPr>
            <a:r>
              <a:rPr lang="vi-VN" sz="3600" dirty="0" smtClean="0"/>
              <a:t>Trẻ nhũ nhi lớn và trẻ nhỏ</a:t>
            </a:r>
          </a:p>
          <a:p>
            <a:pPr lvl="1">
              <a:buFont typeface="Wingdings" panose="05000000000000000000" pitchFamily="2" charset="2"/>
              <a:buChar char="Ø"/>
            </a:pPr>
            <a:r>
              <a:rPr lang="vi-VN" sz="3600" dirty="0" smtClean="0"/>
              <a:t>Viêm dạ dày ruột</a:t>
            </a:r>
          </a:p>
          <a:p>
            <a:pPr lvl="1">
              <a:buFont typeface="Wingdings" panose="05000000000000000000" pitchFamily="2" charset="2"/>
              <a:buChar char="Ø"/>
            </a:pPr>
            <a:r>
              <a:rPr lang="vi-VN" sz="3600" dirty="0" smtClean="0"/>
              <a:t>Lồng ruột</a:t>
            </a:r>
          </a:p>
          <a:p>
            <a:pPr lvl="1">
              <a:buFont typeface="Wingdings" panose="05000000000000000000" pitchFamily="2" charset="2"/>
              <a:buChar char="Ø"/>
            </a:pPr>
            <a:r>
              <a:rPr lang="vi-VN" sz="3600" dirty="0" smtClean="0"/>
              <a:t>Liệt dạ dày</a:t>
            </a:r>
          </a:p>
          <a:p>
            <a:pPr lvl="1">
              <a:buFont typeface="Wingdings" panose="05000000000000000000" pitchFamily="2" charset="2"/>
              <a:buChar char="Ø"/>
            </a:pPr>
            <a:r>
              <a:rPr lang="vi-VN" sz="3600" dirty="0" smtClean="0"/>
              <a:t>Tăng áp lực nội sọ</a:t>
            </a:r>
          </a:p>
          <a:p>
            <a:pPr lvl="1">
              <a:buFont typeface="Wingdings" panose="05000000000000000000" pitchFamily="2" charset="2"/>
              <a:buChar char="Ø"/>
            </a:pPr>
            <a:r>
              <a:rPr lang="vi-VN" sz="3600" dirty="0" smtClean="0"/>
              <a:t>Nôn chu kì</a:t>
            </a:r>
          </a:p>
          <a:p>
            <a:pPr lvl="1">
              <a:buFont typeface="Wingdings" panose="05000000000000000000" pitchFamily="2" charset="2"/>
              <a:buChar char="Ø"/>
            </a:pPr>
            <a:r>
              <a:rPr lang="vi-VN" sz="3600" dirty="0" smtClean="0"/>
              <a:t>Phản ứng dị ứng</a:t>
            </a:r>
          </a:p>
          <a:p>
            <a:pPr lvl="1">
              <a:buFont typeface="Wingdings" panose="05000000000000000000" pitchFamily="2" charset="2"/>
              <a:buChar char="Ø"/>
            </a:pPr>
            <a:r>
              <a:rPr lang="vi-VN" sz="3600" dirty="0" smtClean="0"/>
              <a:t>Cơn suy vỏ thượng thận</a:t>
            </a:r>
            <a:endParaRPr lang="vi-VN" sz="3600" dirty="0"/>
          </a:p>
        </p:txBody>
      </p:sp>
    </p:spTree>
    <p:extLst>
      <p:ext uri="{BB962C8B-B14F-4D97-AF65-F5344CB8AC3E}">
        <p14:creationId xmlns:p14="http://schemas.microsoft.com/office/powerpoint/2010/main" val="226713757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Chẩn đoán phân biệt</a:t>
            </a:r>
            <a:endParaRPr lang="vi-VN" dirty="0"/>
          </a:p>
        </p:txBody>
      </p:sp>
      <p:sp>
        <p:nvSpPr>
          <p:cNvPr id="3" name="Content Placeholder 2"/>
          <p:cNvSpPr>
            <a:spLocks noGrp="1"/>
          </p:cNvSpPr>
          <p:nvPr>
            <p:ph idx="1"/>
          </p:nvPr>
        </p:nvSpPr>
        <p:spPr>
          <a:xfrm>
            <a:off x="0" y="1237129"/>
            <a:ext cx="12192000" cy="5620871"/>
          </a:xfrm>
        </p:spPr>
        <p:txBody>
          <a:bodyPr/>
          <a:lstStyle/>
          <a:p>
            <a:pPr marL="0" indent="0" algn="ctr">
              <a:buNone/>
            </a:pPr>
            <a:r>
              <a:rPr lang="vi-VN" sz="3600" dirty="0" smtClean="0"/>
              <a:t>Trẻ vị thành niên</a:t>
            </a:r>
          </a:p>
          <a:p>
            <a:pPr lvl="1">
              <a:buFont typeface="Wingdings" panose="05000000000000000000" pitchFamily="2" charset="2"/>
              <a:buChar char="Ø"/>
            </a:pPr>
            <a:r>
              <a:rPr lang="vi-VN" sz="3600" dirty="0" smtClean="0"/>
              <a:t>Khó tiêu cơ năng</a:t>
            </a:r>
          </a:p>
          <a:p>
            <a:pPr lvl="1">
              <a:buFont typeface="Wingdings" panose="05000000000000000000" pitchFamily="2" charset="2"/>
              <a:buChar char="Ø"/>
            </a:pPr>
            <a:r>
              <a:rPr lang="vi-VN" sz="3600" dirty="0" smtClean="0"/>
              <a:t>Buồn nôn và nôn cơ năng</a:t>
            </a:r>
          </a:p>
          <a:p>
            <a:pPr lvl="1">
              <a:buFont typeface="Wingdings" panose="05000000000000000000" pitchFamily="2" charset="2"/>
              <a:buChar char="Ø"/>
            </a:pPr>
            <a:r>
              <a:rPr lang="vi-VN" sz="3600" dirty="0" smtClean="0"/>
              <a:t>Viêm ruột thừa</a:t>
            </a:r>
          </a:p>
          <a:p>
            <a:pPr lvl="1">
              <a:buFont typeface="Wingdings" panose="05000000000000000000" pitchFamily="2" charset="2"/>
              <a:buChar char="Ø"/>
            </a:pPr>
            <a:r>
              <a:rPr lang="vi-VN" sz="3600" dirty="0" smtClean="0"/>
              <a:t>Bệnh viêm ruột</a:t>
            </a:r>
          </a:p>
          <a:p>
            <a:pPr lvl="1">
              <a:buFont typeface="Wingdings" panose="05000000000000000000" pitchFamily="2" charset="2"/>
              <a:buChar char="Ø"/>
            </a:pPr>
            <a:r>
              <a:rPr lang="vi-VN" sz="3600" dirty="0" smtClean="0"/>
              <a:t>Mang thai</a:t>
            </a:r>
          </a:p>
          <a:p>
            <a:pPr lvl="1">
              <a:buFont typeface="Wingdings" panose="05000000000000000000" pitchFamily="2" charset="2"/>
              <a:buChar char="Ø"/>
            </a:pPr>
            <a:r>
              <a:rPr lang="vi-VN" sz="3600" dirty="0" smtClean="0"/>
              <a:t>Nôn tâm lý</a:t>
            </a:r>
          </a:p>
          <a:p>
            <a:pPr lvl="1">
              <a:buFont typeface="Wingdings" panose="05000000000000000000" pitchFamily="2" charset="2"/>
              <a:buChar char="Ø"/>
            </a:pPr>
            <a:r>
              <a:rPr lang="vi-VN" sz="3600" dirty="0" smtClean="0"/>
              <a:t>Hội chứng nhai lại</a:t>
            </a:r>
          </a:p>
          <a:p>
            <a:pPr marL="0" indent="0">
              <a:buNone/>
            </a:pPr>
            <a:endParaRPr lang="vi-VN" dirty="0" smtClean="0"/>
          </a:p>
          <a:p>
            <a:pPr marL="0" indent="0">
              <a:buNone/>
            </a:pPr>
            <a:endParaRPr lang="vi-VN" dirty="0"/>
          </a:p>
        </p:txBody>
      </p:sp>
    </p:spTree>
    <p:extLst>
      <p:ext uri="{BB962C8B-B14F-4D97-AF65-F5344CB8AC3E}">
        <p14:creationId xmlns:p14="http://schemas.microsoft.com/office/powerpoint/2010/main" val="363263605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Điều trị</a:t>
            </a:r>
            <a:endParaRPr lang="vi-VN"/>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99937671"/>
              </p:ext>
            </p:extLst>
          </p:nvPr>
        </p:nvGraphicFramePr>
        <p:xfrm>
          <a:off x="0" y="1190445"/>
          <a:ext cx="12192000" cy="56675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49332952"/>
      </p:ext>
    </p:extLst>
  </p:cSld>
  <p:clrMapOvr>
    <a:masterClrMapping/>
  </p:clrMapOvr>
  <mc:AlternateContent xmlns:mc="http://schemas.openxmlformats.org/markup-compatibility/2006" xmlns:p14="http://schemas.microsoft.com/office/powerpoint/2010/main">
    <mc:Choice Requires="p14">
      <p:transition spd="slow" p14:dur="2000">
        <p:sndAc>
          <p:stSnd>
            <p:snd r:embed="rId2" name="camera.wav"/>
          </p:stSnd>
        </p:sndAc>
      </p:transition>
    </mc:Choice>
    <mc:Fallback xmlns="">
      <p:transition spd="slow">
        <p:sndAc>
          <p:stSnd>
            <p:snd r:embed="rId8" name="camera.wav"/>
          </p:stSnd>
        </p:sndAc>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7585" y="282155"/>
            <a:ext cx="8534400" cy="1143000"/>
          </a:xfrm>
        </p:spPr>
        <p:txBody>
          <a:bodyPr/>
          <a:lstStyle/>
          <a:p>
            <a:r>
              <a:rPr lang="en-US" err="1" smtClean="0"/>
              <a:t>Sử</a:t>
            </a:r>
            <a:r>
              <a:rPr lang="en-US" smtClean="0"/>
              <a:t> </a:t>
            </a:r>
            <a:r>
              <a:rPr lang="en-US" err="1" smtClean="0"/>
              <a:t>dụng</a:t>
            </a:r>
            <a:r>
              <a:rPr lang="en-US" smtClean="0"/>
              <a:t> </a:t>
            </a:r>
            <a:r>
              <a:rPr lang="en-US" err="1" smtClean="0"/>
              <a:t>thuốc</a:t>
            </a:r>
            <a:r>
              <a:rPr lang="en-US" smtClean="0"/>
              <a:t> </a:t>
            </a:r>
            <a:r>
              <a:rPr lang="en-US" err="1" smtClean="0"/>
              <a:t>chống</a:t>
            </a:r>
            <a:r>
              <a:rPr lang="en-US" smtClean="0"/>
              <a:t> </a:t>
            </a:r>
            <a:r>
              <a:rPr lang="en-US" err="1" smtClean="0"/>
              <a:t>nôn</a:t>
            </a:r>
            <a:endParaRPr lang="vi-VN"/>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3231805365"/>
              </p:ext>
            </p:extLst>
          </p:nvPr>
        </p:nvGraphicFramePr>
        <p:xfrm>
          <a:off x="0" y="1224951"/>
          <a:ext cx="12192000" cy="56330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91852892"/>
      </p:ext>
    </p:extLst>
  </p:cSld>
  <p:clrMapOvr>
    <a:masterClrMapping/>
  </p:clrMapOvr>
  <mc:AlternateContent xmlns:mc="http://schemas.openxmlformats.org/markup-compatibility/2006" xmlns:p14="http://schemas.microsoft.com/office/powerpoint/2010/main">
    <mc:Choice Requires="p14">
      <p:transition spd="slow" p14:dur="2000">
        <p:sndAc>
          <p:stSnd>
            <p:snd r:embed="rId2" name="camera.wav"/>
          </p:stSnd>
        </p:sndAc>
      </p:transition>
    </mc:Choice>
    <mc:Fallback xmlns="">
      <p:transition spd="slow">
        <p:sndAc>
          <p:stSnd>
            <p:snd r:embed="rId8" name="camera.wav"/>
          </p:stSnd>
        </p:sndAc>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smtClean="0"/>
              <a:t>Các</a:t>
            </a:r>
            <a:r>
              <a:rPr lang="en-US" smtClean="0"/>
              <a:t> </a:t>
            </a:r>
            <a:r>
              <a:rPr lang="en-US" err="1" smtClean="0"/>
              <a:t>thuốc</a:t>
            </a:r>
            <a:r>
              <a:rPr lang="en-US" smtClean="0"/>
              <a:t> </a:t>
            </a:r>
            <a:r>
              <a:rPr lang="en-US" err="1" smtClean="0"/>
              <a:t>chống</a:t>
            </a:r>
            <a:r>
              <a:rPr lang="en-US" smtClean="0"/>
              <a:t> </a:t>
            </a:r>
            <a:r>
              <a:rPr lang="en-US" err="1" smtClean="0"/>
              <a:t>nôn</a:t>
            </a:r>
            <a:r>
              <a:rPr lang="en-US" smtClean="0"/>
              <a:t> </a:t>
            </a:r>
            <a:endParaRPr lang="vi-VN"/>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15058848"/>
              </p:ext>
            </p:extLst>
          </p:nvPr>
        </p:nvGraphicFramePr>
        <p:xfrm>
          <a:off x="0" y="1224950"/>
          <a:ext cx="12192000" cy="5592409"/>
        </p:xfrm>
        <a:graphic>
          <a:graphicData uri="http://schemas.openxmlformats.org/drawingml/2006/table">
            <a:tbl>
              <a:tblPr firstRow="1" bandRow="1">
                <a:tableStyleId>{5C22544A-7EE6-4342-B048-85BDC9FD1C3A}</a:tableStyleId>
              </a:tblPr>
              <a:tblGrid>
                <a:gridCol w="3048000"/>
                <a:gridCol w="3048000"/>
                <a:gridCol w="3048000"/>
                <a:gridCol w="3048000"/>
              </a:tblGrid>
              <a:tr h="429497">
                <a:tc>
                  <a:txBody>
                    <a:bodyPr/>
                    <a:lstStyle/>
                    <a:p>
                      <a:r>
                        <a:rPr lang="en-US" sz="2000" dirty="0" err="1" smtClean="0"/>
                        <a:t>Nhóm</a:t>
                      </a:r>
                      <a:r>
                        <a:rPr lang="en-US" sz="2000" baseline="0" dirty="0" smtClean="0"/>
                        <a:t> </a:t>
                      </a:r>
                      <a:r>
                        <a:rPr lang="en-US" sz="2000" baseline="0" dirty="0" err="1" smtClean="0"/>
                        <a:t>thuốc</a:t>
                      </a:r>
                      <a:endParaRPr lang="vi-VN" sz="2000" dirty="0"/>
                    </a:p>
                  </a:txBody>
                  <a:tcPr/>
                </a:tc>
                <a:tc>
                  <a:txBody>
                    <a:bodyPr/>
                    <a:lstStyle/>
                    <a:p>
                      <a:r>
                        <a:rPr lang="en-US" sz="2000" dirty="0" err="1" smtClean="0"/>
                        <a:t>Cơ</a:t>
                      </a:r>
                      <a:r>
                        <a:rPr lang="en-US" sz="2000" baseline="0" dirty="0" smtClean="0"/>
                        <a:t> </a:t>
                      </a:r>
                      <a:r>
                        <a:rPr lang="en-US" sz="2000" baseline="0" dirty="0" err="1" smtClean="0"/>
                        <a:t>chế</a:t>
                      </a:r>
                      <a:r>
                        <a:rPr lang="en-US" sz="2000" baseline="0" dirty="0" smtClean="0"/>
                        <a:t> </a:t>
                      </a:r>
                      <a:r>
                        <a:rPr lang="en-US" sz="2000" baseline="0" dirty="0" err="1" smtClean="0"/>
                        <a:t>tác</a:t>
                      </a:r>
                      <a:r>
                        <a:rPr lang="en-US" sz="2000" baseline="0" dirty="0" smtClean="0"/>
                        <a:t> </a:t>
                      </a:r>
                      <a:r>
                        <a:rPr lang="en-US" sz="2000" baseline="0" dirty="0" err="1" smtClean="0"/>
                        <a:t>dụng</a:t>
                      </a:r>
                      <a:endParaRPr lang="vi-VN" sz="2000" dirty="0"/>
                    </a:p>
                  </a:txBody>
                  <a:tcPr/>
                </a:tc>
                <a:tc>
                  <a:txBody>
                    <a:bodyPr/>
                    <a:lstStyle/>
                    <a:p>
                      <a:r>
                        <a:rPr lang="en-US" sz="2000" dirty="0" err="1" smtClean="0"/>
                        <a:t>Chỉ</a:t>
                      </a:r>
                      <a:r>
                        <a:rPr lang="en-US" sz="2000" dirty="0" smtClean="0"/>
                        <a:t> </a:t>
                      </a:r>
                      <a:r>
                        <a:rPr lang="en-US" sz="2000" dirty="0" err="1" smtClean="0"/>
                        <a:t>định</a:t>
                      </a:r>
                      <a:endParaRPr lang="vi-VN" sz="2000" dirty="0"/>
                    </a:p>
                  </a:txBody>
                  <a:tcPr/>
                </a:tc>
                <a:tc>
                  <a:txBody>
                    <a:bodyPr/>
                    <a:lstStyle/>
                    <a:p>
                      <a:r>
                        <a:rPr lang="en-US" sz="2000" dirty="0" err="1" smtClean="0"/>
                        <a:t>Tác</a:t>
                      </a:r>
                      <a:r>
                        <a:rPr lang="en-US" sz="2000" baseline="0" dirty="0" smtClean="0"/>
                        <a:t> </a:t>
                      </a:r>
                      <a:r>
                        <a:rPr lang="en-US" sz="2000" baseline="0" dirty="0" err="1" smtClean="0"/>
                        <a:t>dụng</a:t>
                      </a:r>
                      <a:r>
                        <a:rPr lang="en-US" sz="2000" baseline="0" dirty="0" smtClean="0"/>
                        <a:t> </a:t>
                      </a:r>
                      <a:r>
                        <a:rPr lang="en-US" sz="2000" baseline="0" dirty="0" err="1" smtClean="0"/>
                        <a:t>phụ</a:t>
                      </a:r>
                      <a:endParaRPr lang="vi-VN" sz="2000" dirty="0"/>
                    </a:p>
                  </a:txBody>
                  <a:tcPr/>
                </a:tc>
              </a:tr>
              <a:tr h="917155">
                <a:tc>
                  <a:txBody>
                    <a:bodyPr/>
                    <a:lstStyle/>
                    <a:p>
                      <a:r>
                        <a:rPr lang="en-US" sz="2000" dirty="0" err="1" smtClean="0">
                          <a:solidFill>
                            <a:schemeClr val="bg1"/>
                          </a:solidFill>
                        </a:rPr>
                        <a:t>Kháng</a:t>
                      </a:r>
                      <a:r>
                        <a:rPr lang="en-US" sz="2000" baseline="0" dirty="0" smtClean="0">
                          <a:solidFill>
                            <a:schemeClr val="bg1"/>
                          </a:solidFill>
                        </a:rPr>
                        <a:t> </a:t>
                      </a:r>
                      <a:r>
                        <a:rPr lang="en-US" sz="2000" baseline="0" dirty="0" err="1" smtClean="0">
                          <a:solidFill>
                            <a:schemeClr val="bg1"/>
                          </a:solidFill>
                        </a:rPr>
                        <a:t>histamin</a:t>
                      </a:r>
                      <a:endParaRPr lang="vi-VN" sz="2000" dirty="0">
                        <a:solidFill>
                          <a:schemeClr val="bg1"/>
                        </a:solidFill>
                      </a:endParaRPr>
                    </a:p>
                  </a:txBody>
                  <a:tcPr>
                    <a:solidFill>
                      <a:srgbClr val="FF0000"/>
                    </a:solidFill>
                  </a:tcPr>
                </a:tc>
                <a:tc>
                  <a:txBody>
                    <a:bodyPr/>
                    <a:lstStyle/>
                    <a:p>
                      <a:r>
                        <a:rPr lang="en-US" sz="2000" dirty="0" err="1" smtClean="0">
                          <a:solidFill>
                            <a:schemeClr val="bg1"/>
                          </a:solidFill>
                        </a:rPr>
                        <a:t>Tác</a:t>
                      </a:r>
                      <a:r>
                        <a:rPr lang="en-US" sz="2000" baseline="0" dirty="0" smtClean="0">
                          <a:solidFill>
                            <a:schemeClr val="bg1"/>
                          </a:solidFill>
                        </a:rPr>
                        <a:t> </a:t>
                      </a:r>
                      <a:r>
                        <a:rPr lang="en-US" sz="2000" baseline="0" dirty="0" err="1" smtClean="0">
                          <a:solidFill>
                            <a:schemeClr val="bg1"/>
                          </a:solidFill>
                        </a:rPr>
                        <a:t>dụng</a:t>
                      </a:r>
                      <a:r>
                        <a:rPr lang="en-US" sz="2000" baseline="0" dirty="0" smtClean="0">
                          <a:solidFill>
                            <a:schemeClr val="bg1"/>
                          </a:solidFill>
                        </a:rPr>
                        <a:t> </a:t>
                      </a:r>
                      <a:r>
                        <a:rPr lang="en-US" sz="2000" baseline="0" dirty="0" err="1" smtClean="0">
                          <a:solidFill>
                            <a:schemeClr val="bg1"/>
                          </a:solidFill>
                        </a:rPr>
                        <a:t>chống</a:t>
                      </a:r>
                      <a:r>
                        <a:rPr lang="en-US" sz="2000" baseline="0" dirty="0" smtClean="0">
                          <a:solidFill>
                            <a:schemeClr val="bg1"/>
                          </a:solidFill>
                        </a:rPr>
                        <a:t> </a:t>
                      </a:r>
                      <a:r>
                        <a:rPr lang="en-US" sz="2000" baseline="0" dirty="0" err="1" smtClean="0">
                          <a:solidFill>
                            <a:schemeClr val="bg1"/>
                          </a:solidFill>
                        </a:rPr>
                        <a:t>nôn</a:t>
                      </a:r>
                      <a:r>
                        <a:rPr lang="en-US" sz="2000" baseline="0" dirty="0" smtClean="0">
                          <a:solidFill>
                            <a:schemeClr val="bg1"/>
                          </a:solidFill>
                        </a:rPr>
                        <a:t> </a:t>
                      </a:r>
                      <a:r>
                        <a:rPr lang="en-US" sz="2000" baseline="0" dirty="0" err="1" smtClean="0">
                          <a:solidFill>
                            <a:schemeClr val="bg1"/>
                          </a:solidFill>
                        </a:rPr>
                        <a:t>rất</a:t>
                      </a:r>
                      <a:r>
                        <a:rPr lang="en-US" sz="2000" baseline="0" dirty="0" smtClean="0">
                          <a:solidFill>
                            <a:schemeClr val="bg1"/>
                          </a:solidFill>
                        </a:rPr>
                        <a:t> </a:t>
                      </a:r>
                      <a:r>
                        <a:rPr lang="en-US" sz="2000" baseline="0" dirty="0" err="1" smtClean="0">
                          <a:solidFill>
                            <a:schemeClr val="bg1"/>
                          </a:solidFill>
                        </a:rPr>
                        <a:t>nhẹ</a:t>
                      </a:r>
                      <a:endParaRPr lang="vi-VN" sz="2000" dirty="0">
                        <a:solidFill>
                          <a:schemeClr val="bg1"/>
                        </a:solidFill>
                      </a:endParaRPr>
                    </a:p>
                  </a:txBody>
                  <a:tcPr>
                    <a:solidFill>
                      <a:srgbClr val="FF0000"/>
                    </a:solidFill>
                  </a:tcPr>
                </a:tc>
                <a:tc>
                  <a:txBody>
                    <a:bodyPr/>
                    <a:lstStyle/>
                    <a:p>
                      <a:endParaRPr lang="vi-VN" sz="2000" dirty="0">
                        <a:solidFill>
                          <a:schemeClr val="bg1"/>
                        </a:solidFill>
                      </a:endParaRPr>
                    </a:p>
                  </a:txBody>
                  <a:tcPr>
                    <a:solidFill>
                      <a:srgbClr val="FF0000"/>
                    </a:solidFill>
                  </a:tcPr>
                </a:tc>
                <a:tc>
                  <a:txBody>
                    <a:bodyPr/>
                    <a:lstStyle/>
                    <a:p>
                      <a:endParaRPr lang="vi-VN" sz="2000" dirty="0">
                        <a:solidFill>
                          <a:schemeClr val="bg1"/>
                        </a:solidFill>
                      </a:endParaRPr>
                    </a:p>
                  </a:txBody>
                  <a:tcPr>
                    <a:solidFill>
                      <a:srgbClr val="FF0000"/>
                    </a:solidFill>
                  </a:tcPr>
                </a:tc>
              </a:tr>
              <a:tr h="375810">
                <a:tc>
                  <a:txBody>
                    <a:bodyPr/>
                    <a:lstStyle/>
                    <a:p>
                      <a:pPr>
                        <a:lnSpc>
                          <a:spcPts val="1800"/>
                        </a:lnSpc>
                        <a:spcAft>
                          <a:spcPts val="0"/>
                        </a:spcAft>
                      </a:pPr>
                      <a:r>
                        <a:rPr lang="vi-VN" sz="2000" dirty="0">
                          <a:effectLst/>
                          <a:latin typeface="Arial" panose="020B0604020202020204" pitchFamily="34" charset="0"/>
                          <a:ea typeface="Arial" panose="020B0604020202020204" pitchFamily="34" charset="0"/>
                          <a:cs typeface="Arial" panose="020B0604020202020204" pitchFamily="34" charset="0"/>
                        </a:rPr>
                        <a:t>Diphenhydramine</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marL="304800"/>
                </a:tc>
                <a:tc rowSpan="4">
                  <a:txBody>
                    <a:bodyPr/>
                    <a:lstStyle/>
                    <a:p>
                      <a:r>
                        <a:rPr lang="en-US" sz="2000" dirty="0" err="1" smtClean="0"/>
                        <a:t>Tác</a:t>
                      </a:r>
                      <a:r>
                        <a:rPr lang="en-US" sz="2000" baseline="0" dirty="0" smtClean="0"/>
                        <a:t> </a:t>
                      </a:r>
                      <a:r>
                        <a:rPr lang="en-US" sz="2000" baseline="0" dirty="0" err="1" smtClean="0"/>
                        <a:t>dụng</a:t>
                      </a:r>
                      <a:r>
                        <a:rPr lang="en-US" sz="2000" baseline="0" dirty="0" smtClean="0"/>
                        <a:t> </a:t>
                      </a:r>
                      <a:r>
                        <a:rPr lang="en-US" sz="2000" baseline="0" dirty="0" err="1" smtClean="0"/>
                        <a:t>đối</a:t>
                      </a:r>
                      <a:r>
                        <a:rPr lang="en-US" sz="2000" baseline="0" dirty="0" smtClean="0"/>
                        <a:t> </a:t>
                      </a:r>
                      <a:r>
                        <a:rPr lang="en-US" sz="2000" baseline="0" dirty="0" err="1" smtClean="0"/>
                        <a:t>kháng</a:t>
                      </a:r>
                      <a:r>
                        <a:rPr lang="en-US" sz="2000" baseline="0" dirty="0" smtClean="0"/>
                        <a:t> Ach </a:t>
                      </a:r>
                      <a:r>
                        <a:rPr lang="en-US" sz="2000" baseline="0" dirty="0" err="1" smtClean="0"/>
                        <a:t>và</a:t>
                      </a:r>
                      <a:r>
                        <a:rPr lang="en-US" sz="2000" baseline="0" dirty="0" smtClean="0"/>
                        <a:t> </a:t>
                      </a:r>
                      <a:r>
                        <a:rPr lang="en-US" sz="2000" baseline="0" dirty="0" err="1" smtClean="0"/>
                        <a:t>đối</a:t>
                      </a:r>
                      <a:r>
                        <a:rPr lang="en-US" sz="2000" baseline="0" dirty="0" smtClean="0"/>
                        <a:t> </a:t>
                      </a:r>
                      <a:r>
                        <a:rPr lang="en-US" sz="2000" baseline="0" dirty="0" err="1" smtClean="0"/>
                        <a:t>kháng</a:t>
                      </a:r>
                      <a:r>
                        <a:rPr lang="en-US" sz="2000" baseline="0" dirty="0" smtClean="0"/>
                        <a:t> </a:t>
                      </a:r>
                      <a:r>
                        <a:rPr lang="en-US" sz="2000" baseline="0" dirty="0" err="1" smtClean="0"/>
                        <a:t>thụ</a:t>
                      </a:r>
                      <a:r>
                        <a:rPr lang="en-US" sz="2000" baseline="0" dirty="0" smtClean="0"/>
                        <a:t> </a:t>
                      </a:r>
                      <a:r>
                        <a:rPr lang="en-US" sz="2000" baseline="0" dirty="0" err="1" smtClean="0"/>
                        <a:t>thể</a:t>
                      </a:r>
                      <a:r>
                        <a:rPr lang="en-US" sz="2000" baseline="0" dirty="0" smtClean="0"/>
                        <a:t> H1</a:t>
                      </a:r>
                      <a:endParaRPr lang="vi-VN" sz="2000" dirty="0"/>
                    </a:p>
                  </a:txBody>
                  <a:tcPr/>
                </a:tc>
                <a:tc rowSpan="4">
                  <a:txBody>
                    <a:bodyPr/>
                    <a:lstStyle/>
                    <a:p>
                      <a:r>
                        <a:rPr lang="en-US" sz="2000" dirty="0" smtClean="0"/>
                        <a:t>Say </a:t>
                      </a:r>
                      <a:r>
                        <a:rPr lang="en-US" sz="2000" dirty="0" err="1" smtClean="0"/>
                        <a:t>tàu</a:t>
                      </a:r>
                      <a:r>
                        <a:rPr lang="en-US" sz="2000" baseline="0" dirty="0" smtClean="0"/>
                        <a:t> </a:t>
                      </a:r>
                      <a:r>
                        <a:rPr lang="en-US" sz="2000" baseline="0" dirty="0" err="1" smtClean="0"/>
                        <a:t>xe</a:t>
                      </a:r>
                      <a:endParaRPr lang="vi-VN" sz="2000" dirty="0"/>
                    </a:p>
                  </a:txBody>
                  <a:tcPr/>
                </a:tc>
                <a:tc rowSpan="4">
                  <a:txBody>
                    <a:bodyPr/>
                    <a:lstStyle/>
                    <a:p>
                      <a:r>
                        <a:rPr lang="en-US" sz="2000" dirty="0" err="1" smtClean="0"/>
                        <a:t>Buồn</a:t>
                      </a:r>
                      <a:r>
                        <a:rPr lang="en-US" sz="2000" dirty="0" smtClean="0"/>
                        <a:t> </a:t>
                      </a:r>
                      <a:r>
                        <a:rPr lang="en-US" sz="2000" dirty="0" err="1" smtClean="0"/>
                        <a:t>ngủ</a:t>
                      </a:r>
                      <a:r>
                        <a:rPr lang="en-US" sz="2000" dirty="0" smtClean="0"/>
                        <a:t>,</a:t>
                      </a:r>
                      <a:r>
                        <a:rPr lang="en-US" sz="2000" baseline="0" dirty="0" smtClean="0"/>
                        <a:t> </a:t>
                      </a:r>
                      <a:r>
                        <a:rPr lang="en-US" sz="2000" baseline="0" dirty="0" err="1" smtClean="0"/>
                        <a:t>tác</a:t>
                      </a:r>
                      <a:r>
                        <a:rPr lang="en-US" sz="2000" baseline="0" dirty="0" smtClean="0"/>
                        <a:t> </a:t>
                      </a:r>
                      <a:r>
                        <a:rPr lang="en-US" sz="2000" baseline="0" dirty="0" err="1" smtClean="0"/>
                        <a:t>dụng</a:t>
                      </a:r>
                      <a:r>
                        <a:rPr lang="en-US" sz="2000" baseline="0" dirty="0" smtClean="0"/>
                        <a:t> </a:t>
                      </a:r>
                      <a:r>
                        <a:rPr lang="en-US" sz="2000" baseline="0" dirty="0" err="1" smtClean="0"/>
                        <a:t>phụ</a:t>
                      </a:r>
                      <a:r>
                        <a:rPr lang="en-US" sz="2000" baseline="0" dirty="0" smtClean="0"/>
                        <a:t> </a:t>
                      </a:r>
                      <a:r>
                        <a:rPr lang="en-US" sz="2000" baseline="0" dirty="0" err="1" smtClean="0"/>
                        <a:t>của</a:t>
                      </a:r>
                      <a:r>
                        <a:rPr lang="en-US" sz="2000" baseline="0" dirty="0" smtClean="0"/>
                        <a:t> </a:t>
                      </a:r>
                      <a:r>
                        <a:rPr lang="en-US" sz="2000" baseline="0" dirty="0" err="1" smtClean="0"/>
                        <a:t>kháng</a:t>
                      </a:r>
                      <a:r>
                        <a:rPr lang="en-US" sz="2000" baseline="0" dirty="0" smtClean="0"/>
                        <a:t> Ach</a:t>
                      </a:r>
                      <a:endParaRPr lang="vi-VN" sz="2000" dirty="0"/>
                    </a:p>
                  </a:txBody>
                  <a:tcPr/>
                </a:tc>
              </a:tr>
              <a:tr h="375810">
                <a:tc>
                  <a:txBody>
                    <a:bodyPr/>
                    <a:lstStyle/>
                    <a:p>
                      <a:pPr>
                        <a:lnSpc>
                          <a:spcPts val="1800"/>
                        </a:lnSpc>
                        <a:spcAft>
                          <a:spcPts val="0"/>
                        </a:spcAft>
                      </a:pPr>
                      <a:r>
                        <a:rPr lang="vi-VN" sz="2000" dirty="0">
                          <a:effectLst/>
                          <a:latin typeface="Arial" panose="020B0604020202020204" pitchFamily="34" charset="0"/>
                          <a:ea typeface="Arial" panose="020B0604020202020204" pitchFamily="34" charset="0"/>
                          <a:cs typeface="Arial" panose="020B0604020202020204" pitchFamily="34" charset="0"/>
                        </a:rPr>
                        <a:t>Hydroxyzine</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marL="304800"/>
                </a:tc>
                <a:tc vMerge="1">
                  <a:txBody>
                    <a:bodyPr/>
                    <a:lstStyle/>
                    <a:p>
                      <a:endParaRPr lang="vi-VN"/>
                    </a:p>
                  </a:txBody>
                  <a:tcPr/>
                </a:tc>
                <a:tc vMerge="1">
                  <a:txBody>
                    <a:bodyPr/>
                    <a:lstStyle/>
                    <a:p>
                      <a:endParaRPr lang="vi-VN"/>
                    </a:p>
                  </a:txBody>
                  <a:tcPr/>
                </a:tc>
                <a:tc vMerge="1">
                  <a:txBody>
                    <a:bodyPr/>
                    <a:lstStyle/>
                    <a:p>
                      <a:endParaRPr lang="vi-VN"/>
                    </a:p>
                  </a:txBody>
                  <a:tcPr/>
                </a:tc>
              </a:tr>
              <a:tr h="375810">
                <a:tc>
                  <a:txBody>
                    <a:bodyPr/>
                    <a:lstStyle/>
                    <a:p>
                      <a:pPr>
                        <a:lnSpc>
                          <a:spcPts val="1800"/>
                        </a:lnSpc>
                        <a:spcAft>
                          <a:spcPts val="0"/>
                        </a:spcAft>
                      </a:pPr>
                      <a:r>
                        <a:rPr lang="vi-VN" sz="2000" dirty="0">
                          <a:effectLst/>
                          <a:latin typeface="Arial" panose="020B0604020202020204" pitchFamily="34" charset="0"/>
                          <a:ea typeface="Arial" panose="020B0604020202020204" pitchFamily="34" charset="0"/>
                          <a:cs typeface="Arial" panose="020B0604020202020204" pitchFamily="34" charset="0"/>
                        </a:rPr>
                        <a:t>Dimenhydrinate</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marL="304800"/>
                </a:tc>
                <a:tc vMerge="1">
                  <a:txBody>
                    <a:bodyPr/>
                    <a:lstStyle/>
                    <a:p>
                      <a:endParaRPr lang="vi-VN"/>
                    </a:p>
                  </a:txBody>
                  <a:tcPr/>
                </a:tc>
                <a:tc vMerge="1">
                  <a:txBody>
                    <a:bodyPr/>
                    <a:lstStyle/>
                    <a:p>
                      <a:endParaRPr lang="vi-VN"/>
                    </a:p>
                  </a:txBody>
                  <a:tcPr/>
                </a:tc>
                <a:tc vMerge="1">
                  <a:txBody>
                    <a:bodyPr/>
                    <a:lstStyle/>
                    <a:p>
                      <a:endParaRPr lang="vi-VN"/>
                    </a:p>
                  </a:txBody>
                  <a:tcPr/>
                </a:tc>
              </a:tr>
              <a:tr h="375810">
                <a:tc>
                  <a:txBody>
                    <a:bodyPr/>
                    <a:lstStyle/>
                    <a:p>
                      <a:pPr>
                        <a:lnSpc>
                          <a:spcPts val="1800"/>
                        </a:lnSpc>
                        <a:spcAft>
                          <a:spcPts val="0"/>
                        </a:spcAft>
                      </a:pPr>
                      <a:r>
                        <a:rPr lang="vi-VN" sz="2000" dirty="0">
                          <a:effectLst/>
                          <a:latin typeface="Arial" panose="020B0604020202020204" pitchFamily="34" charset="0"/>
                          <a:ea typeface="Arial" panose="020B0604020202020204" pitchFamily="34" charset="0"/>
                          <a:cs typeface="Arial" panose="020B0604020202020204" pitchFamily="34" charset="0"/>
                        </a:rPr>
                        <a:t>Meclizine</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marL="304800"/>
                </a:tc>
                <a:tc vMerge="1">
                  <a:txBody>
                    <a:bodyPr/>
                    <a:lstStyle/>
                    <a:p>
                      <a:endParaRPr lang="vi-VN"/>
                    </a:p>
                  </a:txBody>
                  <a:tcPr/>
                </a:tc>
                <a:tc vMerge="1">
                  <a:txBody>
                    <a:bodyPr/>
                    <a:lstStyle/>
                    <a:p>
                      <a:endParaRPr lang="vi-VN"/>
                    </a:p>
                  </a:txBody>
                  <a:tcPr/>
                </a:tc>
                <a:tc vMerge="1">
                  <a:txBody>
                    <a:bodyPr/>
                    <a:lstStyle/>
                    <a:p>
                      <a:endParaRPr lang="vi-VN"/>
                    </a:p>
                  </a:txBody>
                  <a:tcPr/>
                </a:tc>
              </a:tr>
              <a:tr h="917155">
                <a:tc>
                  <a:txBody>
                    <a:bodyPr/>
                    <a:lstStyle/>
                    <a:p>
                      <a:r>
                        <a:rPr lang="vi-VN" sz="2000" b="1" kern="1200" dirty="0" smtClean="0">
                          <a:solidFill>
                            <a:schemeClr val="bg1"/>
                          </a:solidFill>
                          <a:effectLst/>
                          <a:latin typeface="+mn-lt"/>
                          <a:ea typeface="+mn-ea"/>
                          <a:cs typeface="+mn-cs"/>
                        </a:rPr>
                        <a:t>Phenothiazines</a:t>
                      </a:r>
                      <a:endParaRPr lang="vi-VN" sz="2000" dirty="0">
                        <a:solidFill>
                          <a:schemeClr val="bg1"/>
                        </a:solidFill>
                      </a:endParaRPr>
                    </a:p>
                  </a:txBody>
                  <a:tcPr>
                    <a:solidFill>
                      <a:srgbClr val="FF0000"/>
                    </a:solidFill>
                  </a:tcPr>
                </a:tc>
                <a:tc>
                  <a:txBody>
                    <a:bodyPr/>
                    <a:lstStyle/>
                    <a:p>
                      <a:r>
                        <a:rPr lang="vi-VN" sz="2000" b="1" kern="1200" dirty="0" smtClean="0">
                          <a:solidFill>
                            <a:schemeClr val="bg1"/>
                          </a:solidFill>
                          <a:effectLst/>
                          <a:latin typeface="+mn-lt"/>
                          <a:ea typeface="+mn-ea"/>
                          <a:cs typeface="+mn-cs"/>
                        </a:rPr>
                        <a:t>Tác dụng chống nôn nhẹ đến trung bình</a:t>
                      </a:r>
                      <a:endParaRPr lang="vi-VN" sz="2000" dirty="0">
                        <a:solidFill>
                          <a:schemeClr val="bg1"/>
                        </a:solidFill>
                      </a:endParaRPr>
                    </a:p>
                  </a:txBody>
                  <a:tcPr>
                    <a:solidFill>
                      <a:srgbClr val="FF0000"/>
                    </a:solidFill>
                  </a:tcPr>
                </a:tc>
                <a:tc>
                  <a:txBody>
                    <a:bodyPr/>
                    <a:lstStyle/>
                    <a:p>
                      <a:endParaRPr lang="vi-VN" sz="2000" dirty="0">
                        <a:solidFill>
                          <a:schemeClr val="bg1"/>
                        </a:solidFill>
                      </a:endParaRPr>
                    </a:p>
                  </a:txBody>
                  <a:tcPr>
                    <a:solidFill>
                      <a:srgbClr val="FF0000"/>
                    </a:solidFill>
                  </a:tcPr>
                </a:tc>
                <a:tc>
                  <a:txBody>
                    <a:bodyPr/>
                    <a:lstStyle/>
                    <a:p>
                      <a:endParaRPr lang="vi-VN" sz="2000" dirty="0">
                        <a:solidFill>
                          <a:schemeClr val="bg1"/>
                        </a:solidFill>
                      </a:endParaRPr>
                    </a:p>
                  </a:txBody>
                  <a:tcPr>
                    <a:solidFill>
                      <a:srgbClr val="FF0000"/>
                    </a:solidFill>
                  </a:tcPr>
                </a:tc>
              </a:tr>
              <a:tr h="1073742">
                <a:tc>
                  <a:txBody>
                    <a:bodyPr/>
                    <a:lstStyle/>
                    <a:p>
                      <a:pPr>
                        <a:lnSpc>
                          <a:spcPts val="1800"/>
                        </a:lnSpc>
                        <a:spcAft>
                          <a:spcPts val="0"/>
                        </a:spcAft>
                      </a:pPr>
                      <a:r>
                        <a:rPr lang="vi-VN" sz="2000">
                          <a:effectLst/>
                          <a:latin typeface="Arial" panose="020B0604020202020204" pitchFamily="34" charset="0"/>
                          <a:ea typeface="Arial" panose="020B0604020202020204" pitchFamily="34" charset="0"/>
                          <a:cs typeface="Arial" panose="020B0604020202020204" pitchFamily="34" charset="0"/>
                        </a:rPr>
                        <a:t>Promethazine</a:t>
                      </a:r>
                      <a:endParaRPr lang="vi-VN" sz="2000">
                        <a:effectLst/>
                        <a:latin typeface="Arial" panose="020B0604020202020204" pitchFamily="34" charset="0"/>
                        <a:ea typeface="Arial" panose="020B0604020202020204" pitchFamily="34" charset="0"/>
                        <a:cs typeface="Times New Roman" panose="02020603050405020304" pitchFamily="18" charset="0"/>
                      </a:endParaRPr>
                    </a:p>
                  </a:txBody>
                  <a:tcPr marL="304800"/>
                </a:tc>
                <a:tc>
                  <a:txBody>
                    <a:bodyPr/>
                    <a:lstStyle/>
                    <a:p>
                      <a:r>
                        <a:rPr lang="vi-VN" sz="2000" kern="1200" dirty="0" smtClean="0">
                          <a:solidFill>
                            <a:schemeClr val="dk1"/>
                          </a:solidFill>
                          <a:effectLst/>
                          <a:latin typeface="+mn-lt"/>
                          <a:ea typeface="+mn-ea"/>
                          <a:cs typeface="+mn-cs"/>
                        </a:rPr>
                        <a:t>Đối kháng thụ thể D2 tai CTZ và đối kháng thụ thể H1</a:t>
                      </a:r>
                      <a:endParaRPr lang="vi-VN" sz="2000" dirty="0"/>
                    </a:p>
                  </a:txBody>
                  <a:tcPr/>
                </a:tc>
                <a:tc rowSpan="3">
                  <a:txBody>
                    <a:bodyPr/>
                    <a:lstStyle/>
                    <a:p>
                      <a:pPr>
                        <a:lnSpc>
                          <a:spcPts val="1800"/>
                        </a:lnSpc>
                        <a:spcAft>
                          <a:spcPts val="0"/>
                        </a:spcAft>
                      </a:pPr>
                      <a:r>
                        <a:rPr lang="vi-VN" sz="2000" dirty="0">
                          <a:effectLst/>
                          <a:latin typeface="Arial" panose="020B0604020202020204" pitchFamily="34" charset="0"/>
                          <a:ea typeface="Arial" panose="020B0604020202020204" pitchFamily="34" charset="0"/>
                          <a:cs typeface="Arial" panose="020B0604020202020204" pitchFamily="34" charset="0"/>
                        </a:rPr>
                        <a:t>Nôn do hóa trị </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a:tc>
                <a:tc rowSpan="3">
                  <a:txBody>
                    <a:bodyPr/>
                    <a:lstStyle/>
                    <a:p>
                      <a:pPr>
                        <a:lnSpc>
                          <a:spcPts val="1800"/>
                        </a:lnSpc>
                        <a:spcAft>
                          <a:spcPts val="0"/>
                        </a:spcAft>
                      </a:pPr>
                      <a:r>
                        <a:rPr lang="vi-VN" sz="2000" dirty="0">
                          <a:effectLst/>
                          <a:latin typeface="Arial" panose="020B0604020202020204" pitchFamily="34" charset="0"/>
                          <a:ea typeface="Arial" panose="020B0604020202020204" pitchFamily="34" charset="0"/>
                          <a:cs typeface="Arial" panose="020B0604020202020204" pitchFamily="34" charset="0"/>
                        </a:rPr>
                        <a:t>Tác dụng phụ do kháng Ach , phản ứng ngoại tháp</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a:tc>
              </a:tr>
              <a:tr h="375810">
                <a:tc>
                  <a:txBody>
                    <a:bodyPr/>
                    <a:lstStyle/>
                    <a:p>
                      <a:pPr>
                        <a:lnSpc>
                          <a:spcPts val="1800"/>
                        </a:lnSpc>
                        <a:spcAft>
                          <a:spcPts val="0"/>
                        </a:spcAft>
                      </a:pPr>
                      <a:r>
                        <a:rPr lang="vi-VN" sz="2000">
                          <a:effectLst/>
                          <a:latin typeface="Arial" panose="020B0604020202020204" pitchFamily="34" charset="0"/>
                          <a:ea typeface="Arial" panose="020B0604020202020204" pitchFamily="34" charset="0"/>
                          <a:cs typeface="Arial" panose="020B0604020202020204" pitchFamily="34" charset="0"/>
                        </a:rPr>
                        <a:t>Prochlorperazine</a:t>
                      </a:r>
                      <a:endParaRPr lang="vi-VN" sz="2000">
                        <a:effectLst/>
                        <a:latin typeface="Arial" panose="020B0604020202020204" pitchFamily="34" charset="0"/>
                        <a:ea typeface="Arial" panose="020B0604020202020204" pitchFamily="34" charset="0"/>
                        <a:cs typeface="Times New Roman" panose="02020603050405020304" pitchFamily="18" charset="0"/>
                      </a:endParaRPr>
                    </a:p>
                  </a:txBody>
                  <a:tcPr marL="304800"/>
                </a:tc>
                <a:tc rowSpan="2">
                  <a:txBody>
                    <a:bodyPr/>
                    <a:lstStyle/>
                    <a:p>
                      <a:r>
                        <a:rPr lang="vi-VN" sz="2000" kern="1200" dirty="0" smtClean="0">
                          <a:solidFill>
                            <a:schemeClr val="dk1"/>
                          </a:solidFill>
                          <a:effectLst/>
                          <a:latin typeface="+mn-lt"/>
                          <a:ea typeface="+mn-ea"/>
                          <a:cs typeface="+mn-cs"/>
                        </a:rPr>
                        <a:t>Đối kháng D2 tại CTZ</a:t>
                      </a:r>
                      <a:endParaRPr lang="vi-VN" sz="2000" dirty="0"/>
                    </a:p>
                  </a:txBody>
                  <a:tcPr/>
                </a:tc>
                <a:tc vMerge="1">
                  <a:txBody>
                    <a:bodyPr/>
                    <a:lstStyle/>
                    <a:p>
                      <a:endParaRPr lang="vi-VN"/>
                    </a:p>
                  </a:txBody>
                  <a:tcPr/>
                </a:tc>
                <a:tc vMerge="1">
                  <a:txBody>
                    <a:bodyPr/>
                    <a:lstStyle/>
                    <a:p>
                      <a:endParaRPr lang="vi-VN"/>
                    </a:p>
                  </a:txBody>
                  <a:tcPr/>
                </a:tc>
              </a:tr>
              <a:tr h="375810">
                <a:tc>
                  <a:txBody>
                    <a:bodyPr/>
                    <a:lstStyle/>
                    <a:p>
                      <a:pPr>
                        <a:lnSpc>
                          <a:spcPts val="1800"/>
                        </a:lnSpc>
                        <a:spcAft>
                          <a:spcPts val="0"/>
                        </a:spcAft>
                      </a:pPr>
                      <a:r>
                        <a:rPr lang="vi-VN" sz="2000" dirty="0">
                          <a:effectLst/>
                          <a:latin typeface="Arial" panose="020B0604020202020204" pitchFamily="34" charset="0"/>
                          <a:ea typeface="Arial" panose="020B0604020202020204" pitchFamily="34" charset="0"/>
                          <a:cs typeface="Arial" panose="020B0604020202020204" pitchFamily="34" charset="0"/>
                        </a:rPr>
                        <a:t>Chlorpromazine</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marL="304800"/>
                </a:tc>
                <a:tc vMerge="1">
                  <a:txBody>
                    <a:bodyPr/>
                    <a:lstStyle/>
                    <a:p>
                      <a:endParaRPr lang="vi-VN" dirty="0"/>
                    </a:p>
                  </a:txBody>
                  <a:tcPr/>
                </a:tc>
                <a:tc vMerge="1">
                  <a:txBody>
                    <a:bodyPr/>
                    <a:lstStyle/>
                    <a:p>
                      <a:endParaRPr lang="vi-VN"/>
                    </a:p>
                  </a:txBody>
                  <a:tcPr/>
                </a:tc>
                <a:tc vMerge="1">
                  <a:txBody>
                    <a:bodyPr/>
                    <a:lstStyle/>
                    <a:p>
                      <a:endParaRPr lang="vi-VN"/>
                    </a:p>
                  </a:txBody>
                  <a:tcPr/>
                </a:tc>
              </a:tr>
            </a:tbl>
          </a:graphicData>
        </a:graphic>
      </p:graphicFrame>
    </p:spTree>
    <p:extLst>
      <p:ext uri="{BB962C8B-B14F-4D97-AF65-F5344CB8AC3E}">
        <p14:creationId xmlns:p14="http://schemas.microsoft.com/office/powerpoint/2010/main" val="2905630173"/>
      </p:ext>
    </p:extLst>
  </p:cSld>
  <p:clrMapOvr>
    <a:masterClrMapping/>
  </p:clrMapOvr>
  <p:transition spd="slow">
    <p:push dir="u"/>
    <p:sndAc>
      <p:stSnd>
        <p:snd r:embed="rId2" name="camera.wav"/>
      </p:stSnd>
    </p:sndAc>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Các</a:t>
            </a:r>
            <a:r>
              <a:rPr lang="en-US" dirty="0" smtClean="0"/>
              <a:t> </a:t>
            </a:r>
            <a:r>
              <a:rPr lang="en-US" dirty="0" err="1" smtClean="0"/>
              <a:t>thuốc</a:t>
            </a:r>
            <a:r>
              <a:rPr lang="en-US" dirty="0" smtClean="0"/>
              <a:t> </a:t>
            </a:r>
            <a:r>
              <a:rPr lang="en-US" dirty="0" err="1" smtClean="0"/>
              <a:t>chống</a:t>
            </a:r>
            <a:r>
              <a:rPr lang="en-US" dirty="0" smtClean="0"/>
              <a:t> </a:t>
            </a:r>
            <a:r>
              <a:rPr lang="en-US" dirty="0" err="1" smtClean="0"/>
              <a:t>nôn</a:t>
            </a:r>
            <a:endParaRPr lang="vi-VN"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918794450"/>
              </p:ext>
            </p:extLst>
          </p:nvPr>
        </p:nvGraphicFramePr>
        <p:xfrm>
          <a:off x="0" y="1138689"/>
          <a:ext cx="12192000" cy="6445146"/>
        </p:xfrm>
        <a:graphic>
          <a:graphicData uri="http://schemas.openxmlformats.org/drawingml/2006/table">
            <a:tbl>
              <a:tblPr firstRow="1" bandRow="1">
                <a:tableStyleId>{5C22544A-7EE6-4342-B048-85BDC9FD1C3A}</a:tableStyleId>
              </a:tblPr>
              <a:tblGrid>
                <a:gridCol w="3278038"/>
                <a:gridCol w="3536830"/>
                <a:gridCol w="3053751"/>
                <a:gridCol w="2323381"/>
              </a:tblGrid>
              <a:tr h="814346">
                <a:tc>
                  <a:txBody>
                    <a:bodyPr/>
                    <a:lstStyle/>
                    <a:p>
                      <a:pPr>
                        <a:lnSpc>
                          <a:spcPts val="1800"/>
                        </a:lnSpc>
                        <a:spcAft>
                          <a:spcPts val="0"/>
                        </a:spcAft>
                      </a:pPr>
                      <a:r>
                        <a:rPr lang="vi-VN" sz="2000" b="1" dirty="0">
                          <a:effectLst/>
                          <a:latin typeface="Arial" panose="020B0604020202020204" pitchFamily="34" charset="0"/>
                          <a:ea typeface="Arial" panose="020B0604020202020204" pitchFamily="34" charset="0"/>
                          <a:cs typeface="Arial" panose="020B0604020202020204" pitchFamily="34" charset="0"/>
                        </a:rPr>
                        <a:t>Nhóm thế benzamides </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marT="60960">
                    <a:solidFill>
                      <a:srgbClr val="FF0000"/>
                    </a:solidFill>
                  </a:tcPr>
                </a:tc>
                <a:tc>
                  <a:txBody>
                    <a:bodyPr/>
                    <a:lstStyle/>
                    <a:p>
                      <a:pPr>
                        <a:lnSpc>
                          <a:spcPts val="1800"/>
                        </a:lnSpc>
                        <a:spcAft>
                          <a:spcPts val="0"/>
                        </a:spcAft>
                      </a:pPr>
                      <a:r>
                        <a:rPr lang="vi-VN" sz="2000" b="1" dirty="0">
                          <a:effectLst/>
                          <a:latin typeface="Arial" panose="020B0604020202020204" pitchFamily="34" charset="0"/>
                          <a:ea typeface="Arial" panose="020B0604020202020204" pitchFamily="34" charset="0"/>
                          <a:cs typeface="Arial" panose="020B0604020202020204" pitchFamily="34" charset="0"/>
                        </a:rPr>
                        <a:t>Tác dụng chống nôn trung bình</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marT="60960">
                    <a:solidFill>
                      <a:srgbClr val="FF0000"/>
                    </a:solidFill>
                  </a:tcPr>
                </a:tc>
                <a:tc>
                  <a:txBody>
                    <a:bodyPr/>
                    <a:lstStyle/>
                    <a:p>
                      <a:endParaRPr lang="vi-VN" sz="2000" dirty="0"/>
                    </a:p>
                  </a:txBody>
                  <a:tcPr>
                    <a:solidFill>
                      <a:srgbClr val="FF0000"/>
                    </a:solidFill>
                  </a:tcPr>
                </a:tc>
                <a:tc>
                  <a:txBody>
                    <a:bodyPr/>
                    <a:lstStyle/>
                    <a:p>
                      <a:endParaRPr lang="vi-VN" sz="2000" dirty="0"/>
                    </a:p>
                  </a:txBody>
                  <a:tcPr>
                    <a:solidFill>
                      <a:srgbClr val="FF0000"/>
                    </a:solidFill>
                  </a:tcPr>
                </a:tc>
              </a:tr>
              <a:tr h="788953">
                <a:tc>
                  <a:txBody>
                    <a:bodyPr/>
                    <a:lstStyle/>
                    <a:p>
                      <a:pPr>
                        <a:lnSpc>
                          <a:spcPts val="1800"/>
                        </a:lnSpc>
                        <a:spcAft>
                          <a:spcPts val="0"/>
                        </a:spcAft>
                      </a:pPr>
                      <a:r>
                        <a:rPr lang="vi-VN" sz="2000" dirty="0">
                          <a:effectLst/>
                          <a:latin typeface="Arial" panose="020B0604020202020204" pitchFamily="34" charset="0"/>
                          <a:ea typeface="Arial" panose="020B0604020202020204" pitchFamily="34" charset="0"/>
                          <a:cs typeface="Arial" panose="020B0604020202020204" pitchFamily="34" charset="0"/>
                        </a:rPr>
                        <a:t>Metoclopramide</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marL="304800"/>
                </a:tc>
                <a:tc>
                  <a:txBody>
                    <a:bodyPr/>
                    <a:lstStyle/>
                    <a:p>
                      <a:pPr>
                        <a:lnSpc>
                          <a:spcPts val="1800"/>
                        </a:lnSpc>
                        <a:spcAft>
                          <a:spcPts val="0"/>
                        </a:spcAft>
                      </a:pPr>
                      <a:r>
                        <a:rPr lang="vi-VN" sz="2000" dirty="0">
                          <a:effectLst/>
                          <a:latin typeface="Arial" panose="020B0604020202020204" pitchFamily="34" charset="0"/>
                          <a:ea typeface="Arial" panose="020B0604020202020204" pitchFamily="34" charset="0"/>
                          <a:cs typeface="Arial" panose="020B0604020202020204" pitchFamily="34" charset="0"/>
                        </a:rPr>
                        <a:t>Đối kháng thụ thể D2 tai CTZ và đối kháng thụ thể 5-HT4 tại ruột</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a:tc>
                <a:tc rowSpan="2">
                  <a:txBody>
                    <a:bodyPr/>
                    <a:lstStyle/>
                    <a:p>
                      <a:pPr>
                        <a:lnSpc>
                          <a:spcPts val="1800"/>
                        </a:lnSpc>
                        <a:spcAft>
                          <a:spcPts val="0"/>
                        </a:spcAft>
                      </a:pPr>
                      <a:r>
                        <a:rPr lang="vi-VN" sz="2000">
                          <a:effectLst/>
                          <a:latin typeface="Arial" panose="020B0604020202020204" pitchFamily="34" charset="0"/>
                          <a:ea typeface="Arial" panose="020B0604020202020204" pitchFamily="34" charset="0"/>
                          <a:cs typeface="Arial" panose="020B0604020202020204" pitchFamily="34" charset="0"/>
                        </a:rPr>
                        <a:t>GERD,liệt dạ dày, nôn do hóa trị</a:t>
                      </a:r>
                      <a:endParaRPr lang="vi-VN" sz="2000">
                        <a:effectLst/>
                        <a:latin typeface="Arial" panose="020B0604020202020204" pitchFamily="34" charset="0"/>
                        <a:ea typeface="Arial" panose="020B0604020202020204" pitchFamily="34" charset="0"/>
                        <a:cs typeface="Times New Roman" panose="02020603050405020304" pitchFamily="18" charset="0"/>
                      </a:endParaRPr>
                    </a:p>
                  </a:txBody>
                  <a:tcPr/>
                </a:tc>
                <a:tc rowSpan="2">
                  <a:txBody>
                    <a:bodyPr/>
                    <a:lstStyle/>
                    <a:p>
                      <a:pPr>
                        <a:lnSpc>
                          <a:spcPts val="1800"/>
                        </a:lnSpc>
                        <a:spcAft>
                          <a:spcPts val="0"/>
                        </a:spcAft>
                      </a:pPr>
                      <a:r>
                        <a:rPr lang="vi-VN" sz="2000">
                          <a:effectLst/>
                          <a:latin typeface="Arial" panose="020B0604020202020204" pitchFamily="34" charset="0"/>
                          <a:ea typeface="Arial" panose="020B0604020202020204" pitchFamily="34" charset="0"/>
                          <a:cs typeface="Arial" panose="020B0604020202020204" pitchFamily="34" charset="0"/>
                        </a:rPr>
                        <a:t>Kích thích và phản ứng ngoại tháp</a:t>
                      </a:r>
                      <a:endParaRPr lang="vi-VN" sz="2000">
                        <a:effectLst/>
                        <a:latin typeface="Arial" panose="020B0604020202020204" pitchFamily="34" charset="0"/>
                        <a:ea typeface="Arial" panose="020B0604020202020204" pitchFamily="34" charset="0"/>
                        <a:cs typeface="Times New Roman" panose="02020603050405020304" pitchFamily="18" charset="0"/>
                      </a:endParaRPr>
                    </a:p>
                  </a:txBody>
                  <a:tcPr/>
                </a:tc>
              </a:tr>
              <a:tr h="371272">
                <a:tc>
                  <a:txBody>
                    <a:bodyPr/>
                    <a:lstStyle/>
                    <a:p>
                      <a:pPr>
                        <a:lnSpc>
                          <a:spcPts val="1800"/>
                        </a:lnSpc>
                        <a:spcAft>
                          <a:spcPts val="0"/>
                        </a:spcAft>
                      </a:pPr>
                      <a:r>
                        <a:rPr lang="vi-VN" sz="2000" dirty="0">
                          <a:effectLst/>
                          <a:latin typeface="Arial" panose="020B0604020202020204" pitchFamily="34" charset="0"/>
                          <a:ea typeface="Arial" panose="020B0604020202020204" pitchFamily="34" charset="0"/>
                          <a:cs typeface="Arial" panose="020B0604020202020204" pitchFamily="34" charset="0"/>
                        </a:rPr>
                        <a:t>Trimethobenzamide</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marL="304800"/>
                </a:tc>
                <a:tc>
                  <a:txBody>
                    <a:bodyPr/>
                    <a:lstStyle/>
                    <a:p>
                      <a:pPr>
                        <a:lnSpc>
                          <a:spcPts val="1800"/>
                        </a:lnSpc>
                        <a:spcAft>
                          <a:spcPts val="0"/>
                        </a:spcAft>
                      </a:pPr>
                      <a:r>
                        <a:rPr lang="vi-VN" sz="2000" dirty="0">
                          <a:effectLst/>
                          <a:latin typeface="Arial" panose="020B0604020202020204" pitchFamily="34" charset="0"/>
                          <a:ea typeface="Arial" panose="020B0604020202020204" pitchFamily="34" charset="0"/>
                          <a:cs typeface="Arial" panose="020B0604020202020204" pitchFamily="34" charset="0"/>
                        </a:rPr>
                        <a:t>Đối kháng D2 tại CTZ</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a:tc>
                <a:tc vMerge="1">
                  <a:txBody>
                    <a:bodyPr/>
                    <a:lstStyle/>
                    <a:p>
                      <a:endParaRPr lang="vi-VN"/>
                    </a:p>
                  </a:txBody>
                  <a:tcPr/>
                </a:tc>
                <a:tc vMerge="1">
                  <a:txBody>
                    <a:bodyPr/>
                    <a:lstStyle/>
                    <a:p>
                      <a:endParaRPr lang="vi-VN"/>
                    </a:p>
                  </a:txBody>
                  <a:tcPr/>
                </a:tc>
              </a:tr>
              <a:tr h="789663">
                <a:tc>
                  <a:txBody>
                    <a:bodyPr/>
                    <a:lstStyle/>
                    <a:p>
                      <a:pPr>
                        <a:lnSpc>
                          <a:spcPts val="1800"/>
                        </a:lnSpc>
                        <a:spcAft>
                          <a:spcPts val="0"/>
                        </a:spcAft>
                      </a:pPr>
                      <a:r>
                        <a:rPr lang="vi-VN" sz="2000" dirty="0">
                          <a:effectLst/>
                          <a:latin typeface="Arial" panose="020B0604020202020204" pitchFamily="34" charset="0"/>
                          <a:ea typeface="Arial" panose="020B0604020202020204" pitchFamily="34" charset="0"/>
                          <a:cs typeface="Arial" panose="020B0604020202020204" pitchFamily="34" charset="0"/>
                        </a:rPr>
                        <a:t>Cisapride</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marL="304800"/>
                </a:tc>
                <a:tc>
                  <a:txBody>
                    <a:bodyPr/>
                    <a:lstStyle/>
                    <a:p>
                      <a:pPr>
                        <a:lnSpc>
                          <a:spcPts val="1800"/>
                        </a:lnSpc>
                        <a:spcAft>
                          <a:spcPts val="0"/>
                        </a:spcAft>
                      </a:pPr>
                      <a:r>
                        <a:rPr lang="vi-VN" sz="2000" dirty="0">
                          <a:effectLst/>
                          <a:latin typeface="Arial" panose="020B0604020202020204" pitchFamily="34" charset="0"/>
                          <a:ea typeface="Arial" panose="020B0604020202020204" pitchFamily="34" charset="0"/>
                          <a:cs typeface="Arial" panose="020B0604020202020204" pitchFamily="34" charset="0"/>
                        </a:rPr>
                        <a:t>Đối kháng 5-HT4 và giải phóng Ach tại ruột</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a:tc>
                <a:tc>
                  <a:txBody>
                    <a:bodyPr/>
                    <a:lstStyle/>
                    <a:p>
                      <a:pPr>
                        <a:lnSpc>
                          <a:spcPts val="1800"/>
                        </a:lnSpc>
                        <a:spcAft>
                          <a:spcPts val="0"/>
                        </a:spcAft>
                      </a:pPr>
                      <a:r>
                        <a:rPr lang="vi-VN" sz="2000">
                          <a:effectLst/>
                          <a:latin typeface="Arial" panose="020B0604020202020204" pitchFamily="34" charset="0"/>
                          <a:ea typeface="Arial" panose="020B0604020202020204" pitchFamily="34" charset="0"/>
                          <a:cs typeface="Arial" panose="020B0604020202020204" pitchFamily="34" charset="0"/>
                        </a:rPr>
                        <a:t>GERD, liệt dạ dày</a:t>
                      </a:r>
                      <a:endParaRPr lang="vi-VN" sz="2000">
                        <a:effectLst/>
                        <a:latin typeface="Arial" panose="020B0604020202020204" pitchFamily="34" charset="0"/>
                        <a:ea typeface="Arial" panose="020B0604020202020204" pitchFamily="34" charset="0"/>
                        <a:cs typeface="Times New Roman" panose="02020603050405020304" pitchFamily="18" charset="0"/>
                      </a:endParaRPr>
                    </a:p>
                  </a:txBody>
                  <a:tcPr/>
                </a:tc>
                <a:tc>
                  <a:txBody>
                    <a:bodyPr/>
                    <a:lstStyle/>
                    <a:p>
                      <a:pPr>
                        <a:lnSpc>
                          <a:spcPts val="1800"/>
                        </a:lnSpc>
                        <a:spcAft>
                          <a:spcPts val="0"/>
                        </a:spcAft>
                      </a:pPr>
                      <a:r>
                        <a:rPr lang="vi-VN" sz="2000" dirty="0">
                          <a:effectLst/>
                          <a:latin typeface="Arial" panose="020B0604020202020204" pitchFamily="34" charset="0"/>
                          <a:ea typeface="Arial" panose="020B0604020202020204" pitchFamily="34" charset="0"/>
                          <a:cs typeface="Arial" panose="020B0604020202020204" pitchFamily="34" charset="0"/>
                        </a:rPr>
                        <a:t>Tiêu chảy,đau bụng, đau đầu, điện tâm đồ có sóng QT kéo dài</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a:tc>
              </a:tr>
              <a:tr h="814346">
                <a:tc>
                  <a:txBody>
                    <a:bodyPr/>
                    <a:lstStyle/>
                    <a:p>
                      <a:pPr>
                        <a:lnSpc>
                          <a:spcPts val="1800"/>
                        </a:lnSpc>
                        <a:spcAft>
                          <a:spcPts val="0"/>
                        </a:spcAft>
                      </a:pPr>
                      <a:r>
                        <a:rPr lang="vi-VN" sz="2000" b="1" dirty="0">
                          <a:solidFill>
                            <a:schemeClr val="bg1"/>
                          </a:solidFill>
                          <a:effectLst/>
                          <a:latin typeface="Arial" panose="020B0604020202020204" pitchFamily="34" charset="0"/>
                          <a:ea typeface="Arial" panose="020B0604020202020204" pitchFamily="34" charset="0"/>
                          <a:cs typeface="Arial" panose="020B0604020202020204" pitchFamily="34" charset="0"/>
                        </a:rPr>
                        <a:t>Dẫn xuất của benximidazole </a:t>
                      </a:r>
                      <a:endParaRPr lang="vi-VN" sz="20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T="60960">
                    <a:solidFill>
                      <a:srgbClr val="FF0000"/>
                    </a:solidFill>
                  </a:tcPr>
                </a:tc>
                <a:tc>
                  <a:txBody>
                    <a:bodyPr/>
                    <a:lstStyle/>
                    <a:p>
                      <a:pPr>
                        <a:lnSpc>
                          <a:spcPts val="1800"/>
                        </a:lnSpc>
                        <a:spcAft>
                          <a:spcPts val="0"/>
                        </a:spcAft>
                      </a:pPr>
                      <a:r>
                        <a:rPr lang="vi-VN" sz="2000" b="1" dirty="0">
                          <a:solidFill>
                            <a:schemeClr val="bg1"/>
                          </a:solidFill>
                          <a:effectLst/>
                          <a:latin typeface="Arial" panose="020B0604020202020204" pitchFamily="34" charset="0"/>
                          <a:ea typeface="Arial" panose="020B0604020202020204" pitchFamily="34" charset="0"/>
                          <a:cs typeface="Arial" panose="020B0604020202020204" pitchFamily="34" charset="0"/>
                        </a:rPr>
                        <a:t>Tác dụng chống nôn trung bình</a:t>
                      </a:r>
                      <a:endParaRPr lang="vi-VN" sz="20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T="60960">
                    <a:solidFill>
                      <a:srgbClr val="FF0000"/>
                    </a:solidFill>
                  </a:tcPr>
                </a:tc>
                <a:tc>
                  <a:txBody>
                    <a:bodyPr/>
                    <a:lstStyle/>
                    <a:p>
                      <a:endParaRPr lang="vi-VN" sz="2000" dirty="0">
                        <a:solidFill>
                          <a:schemeClr val="bg1"/>
                        </a:solidFill>
                      </a:endParaRPr>
                    </a:p>
                  </a:txBody>
                  <a:tcPr>
                    <a:solidFill>
                      <a:srgbClr val="FF0000"/>
                    </a:solidFill>
                  </a:tcPr>
                </a:tc>
                <a:tc>
                  <a:txBody>
                    <a:bodyPr/>
                    <a:lstStyle/>
                    <a:p>
                      <a:endParaRPr lang="vi-VN" sz="2000" dirty="0">
                        <a:solidFill>
                          <a:schemeClr val="bg1"/>
                        </a:solidFill>
                      </a:endParaRPr>
                    </a:p>
                  </a:txBody>
                  <a:tcPr>
                    <a:solidFill>
                      <a:srgbClr val="FF0000"/>
                    </a:solidFill>
                  </a:tcPr>
                </a:tc>
              </a:tr>
              <a:tr h="814346">
                <a:tc>
                  <a:txBody>
                    <a:bodyPr/>
                    <a:lstStyle/>
                    <a:p>
                      <a:pPr>
                        <a:lnSpc>
                          <a:spcPts val="1800"/>
                        </a:lnSpc>
                        <a:spcAft>
                          <a:spcPts val="0"/>
                        </a:spcAft>
                      </a:pPr>
                      <a:r>
                        <a:rPr lang="vi-VN" sz="2000" dirty="0">
                          <a:effectLst/>
                          <a:latin typeface="Arial" panose="020B0604020202020204" pitchFamily="34" charset="0"/>
                          <a:ea typeface="Arial" panose="020B0604020202020204" pitchFamily="34" charset="0"/>
                          <a:cs typeface="Arial" panose="020B0604020202020204" pitchFamily="34" charset="0"/>
                        </a:rPr>
                        <a:t>Domperidone</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marL="304800"/>
                </a:tc>
                <a:tc>
                  <a:txBody>
                    <a:bodyPr/>
                    <a:lstStyle/>
                    <a:p>
                      <a:pPr>
                        <a:lnSpc>
                          <a:spcPts val="1800"/>
                        </a:lnSpc>
                        <a:spcAft>
                          <a:spcPts val="0"/>
                        </a:spcAft>
                      </a:pPr>
                      <a:r>
                        <a:rPr lang="vi-VN" sz="2000" dirty="0">
                          <a:effectLst/>
                          <a:latin typeface="Arial" panose="020B0604020202020204" pitchFamily="34" charset="0"/>
                          <a:ea typeface="Arial" panose="020B0604020202020204" pitchFamily="34" charset="0"/>
                          <a:cs typeface="Arial" panose="020B0604020202020204" pitchFamily="34" charset="0"/>
                        </a:rPr>
                        <a:t>Đối kháng D2 tại ruột</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a:tc>
                <a:tc>
                  <a:txBody>
                    <a:bodyPr/>
                    <a:lstStyle/>
                    <a:p>
                      <a:pPr>
                        <a:lnSpc>
                          <a:spcPts val="1800"/>
                        </a:lnSpc>
                        <a:spcAft>
                          <a:spcPts val="0"/>
                        </a:spcAft>
                      </a:pPr>
                      <a:r>
                        <a:rPr lang="vi-VN" sz="2000" dirty="0">
                          <a:effectLst/>
                          <a:latin typeface="Arial" panose="020B0604020202020204" pitchFamily="34" charset="0"/>
                          <a:ea typeface="Arial" panose="020B0604020202020204" pitchFamily="34" charset="0"/>
                          <a:cs typeface="Arial" panose="020B0604020202020204" pitchFamily="34" charset="0"/>
                        </a:rPr>
                        <a:t>Liệt dạ dày , nôn do hóa trị</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a:tc>
                <a:tc>
                  <a:txBody>
                    <a:bodyPr/>
                    <a:lstStyle/>
                    <a:p>
                      <a:pPr>
                        <a:lnSpc>
                          <a:spcPts val="1800"/>
                        </a:lnSpc>
                        <a:spcAft>
                          <a:spcPts val="0"/>
                        </a:spcAft>
                      </a:pPr>
                      <a:r>
                        <a:rPr lang="vi-VN" sz="2000" dirty="0">
                          <a:effectLst/>
                          <a:latin typeface="Arial" panose="020B0604020202020204" pitchFamily="34" charset="0"/>
                          <a:ea typeface="Arial" panose="020B0604020202020204" pitchFamily="34" charset="0"/>
                          <a:cs typeface="Arial" panose="020B0604020202020204" pitchFamily="34" charset="0"/>
                        </a:rPr>
                        <a:t>Đau </a:t>
                      </a:r>
                      <a:r>
                        <a:rPr lang="vi-VN" sz="2000" dirty="0" smtClean="0">
                          <a:effectLst/>
                          <a:latin typeface="Arial" panose="020B0604020202020204" pitchFamily="34" charset="0"/>
                          <a:ea typeface="Arial" panose="020B0604020202020204" pitchFamily="34" charset="0"/>
                          <a:cs typeface="Arial" panose="020B0604020202020204" pitchFamily="34" charset="0"/>
                        </a:rPr>
                        <a:t>đầu</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a:tc>
              </a:tr>
              <a:tr h="814346">
                <a:tc>
                  <a:txBody>
                    <a:bodyPr/>
                    <a:lstStyle/>
                    <a:p>
                      <a:pPr>
                        <a:lnSpc>
                          <a:spcPts val="1800"/>
                        </a:lnSpc>
                        <a:spcAft>
                          <a:spcPts val="0"/>
                        </a:spcAft>
                      </a:pPr>
                      <a:r>
                        <a:rPr lang="vi-VN" sz="2000" b="1" dirty="0">
                          <a:solidFill>
                            <a:schemeClr val="bg1"/>
                          </a:solidFill>
                          <a:effectLst/>
                          <a:latin typeface="Arial" panose="020B0604020202020204" pitchFamily="34" charset="0"/>
                          <a:ea typeface="Arial" panose="020B0604020202020204" pitchFamily="34" charset="0"/>
                          <a:cs typeface="Arial" panose="020B0604020202020204" pitchFamily="34" charset="0"/>
                        </a:rPr>
                        <a:t>Đối kháng thụ thể 5-HT3</a:t>
                      </a:r>
                      <a:endParaRPr lang="vi-VN" sz="2000" b="1"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T="60960">
                    <a:solidFill>
                      <a:srgbClr val="FF0000"/>
                    </a:solidFill>
                  </a:tcPr>
                </a:tc>
                <a:tc>
                  <a:txBody>
                    <a:bodyPr/>
                    <a:lstStyle/>
                    <a:p>
                      <a:pPr>
                        <a:lnSpc>
                          <a:spcPts val="1800"/>
                        </a:lnSpc>
                        <a:spcAft>
                          <a:spcPts val="0"/>
                        </a:spcAft>
                      </a:pPr>
                      <a:r>
                        <a:rPr lang="vi-VN" sz="2000" b="1" dirty="0">
                          <a:solidFill>
                            <a:schemeClr val="bg1"/>
                          </a:solidFill>
                          <a:effectLst/>
                          <a:latin typeface="Arial" panose="020B0604020202020204" pitchFamily="34" charset="0"/>
                          <a:ea typeface="Arial" panose="020B0604020202020204" pitchFamily="34" charset="0"/>
                          <a:cs typeface="Arial" panose="020B0604020202020204" pitchFamily="34" charset="0"/>
                        </a:rPr>
                        <a:t>Tác dụng chống nôn mạnh</a:t>
                      </a:r>
                      <a:endParaRPr lang="vi-VN" sz="20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T="60960">
                    <a:solidFill>
                      <a:srgbClr val="FF0000"/>
                    </a:solidFill>
                  </a:tcPr>
                </a:tc>
                <a:tc>
                  <a:txBody>
                    <a:bodyPr/>
                    <a:lstStyle/>
                    <a:p>
                      <a:endParaRPr lang="vi-VN" sz="2000" dirty="0">
                        <a:solidFill>
                          <a:schemeClr val="bg1"/>
                        </a:solidFill>
                      </a:endParaRPr>
                    </a:p>
                  </a:txBody>
                  <a:tcPr>
                    <a:solidFill>
                      <a:srgbClr val="FF0000"/>
                    </a:solidFill>
                  </a:tcPr>
                </a:tc>
                <a:tc>
                  <a:txBody>
                    <a:bodyPr/>
                    <a:lstStyle/>
                    <a:p>
                      <a:endParaRPr lang="vi-VN" sz="2000" dirty="0">
                        <a:solidFill>
                          <a:schemeClr val="bg1"/>
                        </a:solidFill>
                      </a:endParaRPr>
                    </a:p>
                  </a:txBody>
                  <a:tcPr>
                    <a:solidFill>
                      <a:srgbClr val="FF0000"/>
                    </a:solidFill>
                  </a:tcPr>
                </a:tc>
              </a:tr>
              <a:tr h="324863">
                <a:tc>
                  <a:txBody>
                    <a:bodyPr/>
                    <a:lstStyle/>
                    <a:p>
                      <a:pPr>
                        <a:lnSpc>
                          <a:spcPts val="1800"/>
                        </a:lnSpc>
                        <a:spcAft>
                          <a:spcPts val="0"/>
                        </a:spcAft>
                      </a:pPr>
                      <a:r>
                        <a:rPr lang="vi-VN" sz="2000" dirty="0">
                          <a:effectLst/>
                          <a:latin typeface="Arial" panose="020B0604020202020204" pitchFamily="34" charset="0"/>
                          <a:ea typeface="Arial" panose="020B0604020202020204" pitchFamily="34" charset="0"/>
                          <a:cs typeface="Arial" panose="020B0604020202020204" pitchFamily="34" charset="0"/>
                        </a:rPr>
                        <a:t>Ondansetron</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marL="304800"/>
                </a:tc>
                <a:tc rowSpan="3">
                  <a:txBody>
                    <a:bodyPr/>
                    <a:lstStyle/>
                    <a:p>
                      <a:pPr>
                        <a:lnSpc>
                          <a:spcPts val="1800"/>
                        </a:lnSpc>
                        <a:spcAft>
                          <a:spcPts val="0"/>
                        </a:spcAft>
                      </a:pPr>
                      <a:r>
                        <a:rPr lang="vi-VN" sz="2000" dirty="0">
                          <a:effectLst/>
                          <a:latin typeface="Arial" panose="020B0604020202020204" pitchFamily="34" charset="0"/>
                          <a:ea typeface="Arial" panose="020B0604020202020204" pitchFamily="34" charset="0"/>
                          <a:cs typeface="Arial" panose="020B0604020202020204" pitchFamily="34" charset="0"/>
                        </a:rPr>
                        <a:t>Đối kháng thụ thể 5-HT3 tại CTZ và giảm xung động thần kinh phế vị hướng tâm từ ruột</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a:tc>
                <a:tc rowSpan="3">
                  <a:txBody>
                    <a:bodyPr/>
                    <a:lstStyle/>
                    <a:p>
                      <a:pPr>
                        <a:lnSpc>
                          <a:spcPts val="1800"/>
                        </a:lnSpc>
                        <a:spcAft>
                          <a:spcPts val="0"/>
                        </a:spcAft>
                      </a:pPr>
                      <a:r>
                        <a:rPr lang="vi-VN" sz="2000" dirty="0">
                          <a:effectLst/>
                          <a:latin typeface="Arial" panose="020B0604020202020204" pitchFamily="34" charset="0"/>
                          <a:ea typeface="Arial" panose="020B0604020202020204" pitchFamily="34" charset="0"/>
                          <a:cs typeface="Arial" panose="020B0604020202020204" pitchFamily="34" charset="0"/>
                        </a:rPr>
                        <a:t>Nôn do hóa trị và nôn sau phẫu thuật, nôn chu </a:t>
                      </a:r>
                      <a:r>
                        <a:rPr lang="vi-VN" sz="2000" dirty="0" smtClean="0">
                          <a:effectLst/>
                          <a:latin typeface="Arial" panose="020B0604020202020204" pitchFamily="34" charset="0"/>
                          <a:ea typeface="Arial" panose="020B0604020202020204" pitchFamily="34" charset="0"/>
                          <a:cs typeface="Arial" panose="020B0604020202020204" pitchFamily="34" charset="0"/>
                        </a:rPr>
                        <a:t>kì</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a:tc>
                <a:tc rowSpan="3">
                  <a:txBody>
                    <a:bodyPr/>
                    <a:lstStyle/>
                    <a:p>
                      <a:r>
                        <a:rPr lang="en-US" sz="2000" dirty="0" err="1" smtClean="0"/>
                        <a:t>Đau</a:t>
                      </a:r>
                      <a:r>
                        <a:rPr lang="en-US" sz="2000" baseline="0" dirty="0" smtClean="0"/>
                        <a:t> </a:t>
                      </a:r>
                      <a:r>
                        <a:rPr lang="en-US" sz="2000" baseline="0" dirty="0" err="1" smtClean="0"/>
                        <a:t>đầu</a:t>
                      </a:r>
                      <a:endParaRPr lang="vi-VN" sz="2000" dirty="0"/>
                    </a:p>
                  </a:txBody>
                  <a:tcPr/>
                </a:tc>
              </a:tr>
              <a:tr h="324863">
                <a:tc>
                  <a:txBody>
                    <a:bodyPr/>
                    <a:lstStyle/>
                    <a:p>
                      <a:pPr>
                        <a:lnSpc>
                          <a:spcPts val="1800"/>
                        </a:lnSpc>
                        <a:spcAft>
                          <a:spcPts val="0"/>
                        </a:spcAft>
                      </a:pPr>
                      <a:r>
                        <a:rPr lang="vi-VN" sz="2000" dirty="0">
                          <a:effectLst/>
                          <a:latin typeface="Arial" panose="020B0604020202020204" pitchFamily="34" charset="0"/>
                          <a:ea typeface="Arial" panose="020B0604020202020204" pitchFamily="34" charset="0"/>
                          <a:cs typeface="Arial" panose="020B0604020202020204" pitchFamily="34" charset="0"/>
                        </a:rPr>
                        <a:t>Granisetron</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marL="304800"/>
                </a:tc>
                <a:tc vMerge="1">
                  <a:txBody>
                    <a:bodyPr/>
                    <a:lstStyle/>
                    <a:p>
                      <a:endParaRPr lang="vi-VN"/>
                    </a:p>
                  </a:txBody>
                  <a:tcPr/>
                </a:tc>
                <a:tc vMerge="1">
                  <a:txBody>
                    <a:bodyPr/>
                    <a:lstStyle/>
                    <a:p>
                      <a:endParaRPr lang="vi-VN"/>
                    </a:p>
                  </a:txBody>
                  <a:tcPr/>
                </a:tc>
                <a:tc vMerge="1">
                  <a:txBody>
                    <a:bodyPr/>
                    <a:lstStyle/>
                    <a:p>
                      <a:endParaRPr lang="vi-VN"/>
                    </a:p>
                  </a:txBody>
                  <a:tcPr/>
                </a:tc>
              </a:tr>
              <a:tr h="371272">
                <a:tc>
                  <a:txBody>
                    <a:bodyPr/>
                    <a:lstStyle/>
                    <a:p>
                      <a:pPr>
                        <a:lnSpc>
                          <a:spcPts val="1800"/>
                        </a:lnSpc>
                        <a:spcAft>
                          <a:spcPts val="0"/>
                        </a:spcAft>
                      </a:pPr>
                      <a:r>
                        <a:rPr lang="vi-VN" sz="2000" dirty="0">
                          <a:effectLst/>
                          <a:latin typeface="Arial" panose="020B0604020202020204" pitchFamily="34" charset="0"/>
                          <a:ea typeface="Arial" panose="020B0604020202020204" pitchFamily="34" charset="0"/>
                          <a:cs typeface="Arial" panose="020B0604020202020204" pitchFamily="34" charset="0"/>
                        </a:rPr>
                        <a:t>Tropisetron</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marL="304800"/>
                </a:tc>
                <a:tc vMerge="1">
                  <a:txBody>
                    <a:bodyPr/>
                    <a:lstStyle/>
                    <a:p>
                      <a:endParaRPr lang="vi-VN"/>
                    </a:p>
                  </a:txBody>
                  <a:tcPr/>
                </a:tc>
                <a:tc vMerge="1">
                  <a:txBody>
                    <a:bodyPr/>
                    <a:lstStyle/>
                    <a:p>
                      <a:endParaRPr lang="vi-VN"/>
                    </a:p>
                  </a:txBody>
                  <a:tcPr/>
                </a:tc>
                <a:tc vMerge="1">
                  <a:txBody>
                    <a:bodyPr/>
                    <a:lstStyle/>
                    <a:p>
                      <a:endParaRPr lang="vi-VN"/>
                    </a:p>
                  </a:txBody>
                  <a:tcPr/>
                </a:tc>
              </a:tr>
            </a:tbl>
          </a:graphicData>
        </a:graphic>
      </p:graphicFrame>
    </p:spTree>
    <p:extLst>
      <p:ext uri="{BB962C8B-B14F-4D97-AF65-F5344CB8AC3E}">
        <p14:creationId xmlns:p14="http://schemas.microsoft.com/office/powerpoint/2010/main" val="2721447007"/>
      </p:ext>
    </p:extLst>
  </p:cSld>
  <p:clrMapOvr>
    <a:masterClrMapping/>
  </p:clrMapOvr>
  <mc:AlternateContent xmlns:mc="http://schemas.openxmlformats.org/markup-compatibility/2006" xmlns:p14="http://schemas.microsoft.com/office/powerpoint/2010/main">
    <mc:Choice Requires="p14">
      <p:transition spd="slow" p14:dur="2000">
        <p:sndAc>
          <p:stSnd>
            <p:snd r:embed="rId2" name="camera.wav"/>
          </p:stSnd>
        </p:sndAc>
      </p:transition>
    </mc:Choice>
    <mc:Fallback xmlns="">
      <p:transition spd="slow">
        <p:sndAc>
          <p:stSnd>
            <p:snd r:embed="rId3" name="camera.wav"/>
          </p:stSnd>
        </p:sndAc>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t>CÁC THUỐC CHỐNG NÔN</a:t>
            </a:r>
            <a:endParaRPr lang="vi-VN" sz="3600"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923791880"/>
              </p:ext>
            </p:extLst>
          </p:nvPr>
        </p:nvGraphicFramePr>
        <p:xfrm>
          <a:off x="0" y="1224954"/>
          <a:ext cx="12192000" cy="5633046"/>
        </p:xfrm>
        <a:graphic>
          <a:graphicData uri="http://schemas.openxmlformats.org/drawingml/2006/table">
            <a:tbl>
              <a:tblPr firstRow="1" bandRow="1">
                <a:tableStyleId>{5C22544A-7EE6-4342-B048-85BDC9FD1C3A}</a:tableStyleId>
              </a:tblPr>
              <a:tblGrid>
                <a:gridCol w="3048000"/>
                <a:gridCol w="3048000"/>
                <a:gridCol w="3048000"/>
                <a:gridCol w="3048000"/>
              </a:tblGrid>
              <a:tr h="938841">
                <a:tc>
                  <a:txBody>
                    <a:bodyPr/>
                    <a:lstStyle/>
                    <a:p>
                      <a:pPr>
                        <a:lnSpc>
                          <a:spcPts val="1800"/>
                        </a:lnSpc>
                        <a:spcAft>
                          <a:spcPts val="0"/>
                        </a:spcAft>
                      </a:pPr>
                      <a:r>
                        <a:rPr lang="vi-VN" sz="2000" b="1" dirty="0">
                          <a:effectLst/>
                          <a:latin typeface="Arial" panose="020B0604020202020204" pitchFamily="34" charset="0"/>
                          <a:ea typeface="Arial" panose="020B0604020202020204" pitchFamily="34" charset="0"/>
                          <a:cs typeface="Arial" panose="020B0604020202020204" pitchFamily="34" charset="0"/>
                        </a:rPr>
                        <a:t>Tachykinin receptor antagonists</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marT="60960">
                    <a:solidFill>
                      <a:srgbClr val="FF0000"/>
                    </a:solidFill>
                  </a:tcPr>
                </a:tc>
                <a:tc>
                  <a:txBody>
                    <a:bodyPr/>
                    <a:lstStyle/>
                    <a:p>
                      <a:pPr>
                        <a:lnSpc>
                          <a:spcPts val="1800"/>
                        </a:lnSpc>
                        <a:spcAft>
                          <a:spcPts val="0"/>
                        </a:spcAft>
                      </a:pPr>
                      <a:r>
                        <a:rPr lang="vi-VN" sz="2000" b="1" dirty="0">
                          <a:effectLst/>
                          <a:latin typeface="Arial" panose="020B0604020202020204" pitchFamily="34" charset="0"/>
                          <a:ea typeface="Arial" panose="020B0604020202020204" pitchFamily="34" charset="0"/>
                          <a:cs typeface="Arial" panose="020B0604020202020204" pitchFamily="34" charset="0"/>
                        </a:rPr>
                        <a:t>Tác dụng chống nôn mạnh</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marT="60960">
                    <a:solidFill>
                      <a:srgbClr val="FF0000"/>
                    </a:solidFill>
                  </a:tcPr>
                </a:tc>
                <a:tc>
                  <a:txBody>
                    <a:bodyPr/>
                    <a:lstStyle/>
                    <a:p>
                      <a:endParaRPr lang="vi-VN" sz="2000" dirty="0"/>
                    </a:p>
                  </a:txBody>
                  <a:tcPr>
                    <a:solidFill>
                      <a:srgbClr val="FF0000"/>
                    </a:solidFill>
                  </a:tcPr>
                </a:tc>
                <a:tc>
                  <a:txBody>
                    <a:bodyPr/>
                    <a:lstStyle/>
                    <a:p>
                      <a:endParaRPr lang="vi-VN" sz="2000" dirty="0"/>
                    </a:p>
                  </a:txBody>
                  <a:tcPr>
                    <a:solidFill>
                      <a:srgbClr val="FF0000"/>
                    </a:solidFill>
                  </a:tcPr>
                </a:tc>
              </a:tr>
              <a:tr h="938841">
                <a:tc>
                  <a:txBody>
                    <a:bodyPr/>
                    <a:lstStyle/>
                    <a:p>
                      <a:pPr>
                        <a:lnSpc>
                          <a:spcPts val="1800"/>
                        </a:lnSpc>
                        <a:spcAft>
                          <a:spcPts val="0"/>
                        </a:spcAft>
                      </a:pPr>
                      <a:r>
                        <a:rPr lang="vi-VN" sz="2000" dirty="0">
                          <a:effectLst/>
                          <a:latin typeface="Arial" panose="020B0604020202020204" pitchFamily="34" charset="0"/>
                          <a:ea typeface="Arial" panose="020B0604020202020204" pitchFamily="34" charset="0"/>
                          <a:cs typeface="Arial" panose="020B0604020202020204" pitchFamily="34" charset="0"/>
                        </a:rPr>
                        <a:t>Aprepitant</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marL="304800"/>
                </a:tc>
                <a:tc>
                  <a:txBody>
                    <a:bodyPr/>
                    <a:lstStyle/>
                    <a:p>
                      <a:pPr>
                        <a:lnSpc>
                          <a:spcPts val="1800"/>
                        </a:lnSpc>
                        <a:spcAft>
                          <a:spcPts val="0"/>
                        </a:spcAft>
                      </a:pPr>
                      <a:r>
                        <a:rPr lang="vi-VN" sz="2000" dirty="0">
                          <a:effectLst/>
                          <a:latin typeface="Arial" panose="020B0604020202020204" pitchFamily="34" charset="0"/>
                          <a:ea typeface="Arial" panose="020B0604020202020204" pitchFamily="34" charset="0"/>
                          <a:cs typeface="Arial" panose="020B0604020202020204" pitchFamily="34" charset="0"/>
                        </a:rPr>
                        <a:t>Đối kháng NK1 trong tiến trình nôn</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a:tc>
                <a:tc>
                  <a:txBody>
                    <a:bodyPr/>
                    <a:lstStyle/>
                    <a:p>
                      <a:pPr>
                        <a:lnSpc>
                          <a:spcPts val="1800"/>
                        </a:lnSpc>
                        <a:spcAft>
                          <a:spcPts val="0"/>
                        </a:spcAft>
                      </a:pPr>
                      <a:r>
                        <a:rPr lang="vi-VN" sz="2000" dirty="0">
                          <a:effectLst/>
                          <a:latin typeface="Arial" panose="020B0604020202020204" pitchFamily="34" charset="0"/>
                          <a:ea typeface="Arial" panose="020B0604020202020204" pitchFamily="34" charset="0"/>
                          <a:cs typeface="Arial" panose="020B0604020202020204" pitchFamily="34" charset="0"/>
                        </a:rPr>
                        <a:t>Nôn do hóa trị , tác dụng vào pha chậm</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a:tc>
                <a:tc>
                  <a:txBody>
                    <a:bodyPr/>
                    <a:lstStyle/>
                    <a:p>
                      <a:pPr>
                        <a:lnSpc>
                          <a:spcPts val="1800"/>
                        </a:lnSpc>
                        <a:spcAft>
                          <a:spcPts val="0"/>
                        </a:spcAft>
                      </a:pPr>
                      <a:r>
                        <a:rPr lang="vi-VN" sz="2000" dirty="0">
                          <a:effectLst/>
                          <a:latin typeface="Arial" panose="020B0604020202020204" pitchFamily="34" charset="0"/>
                          <a:ea typeface="Arial" panose="020B0604020202020204" pitchFamily="34" charset="0"/>
                          <a:cs typeface="Arial" panose="020B0604020202020204" pitchFamily="34" charset="0"/>
                        </a:rPr>
                        <a:t>Mệt mỏi, choáng váng, tiêu chảy</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a:tc>
              </a:tr>
              <a:tr h="938841">
                <a:tc>
                  <a:txBody>
                    <a:bodyPr/>
                    <a:lstStyle/>
                    <a:p>
                      <a:pPr>
                        <a:lnSpc>
                          <a:spcPts val="1800"/>
                        </a:lnSpc>
                        <a:spcAft>
                          <a:spcPts val="0"/>
                        </a:spcAft>
                      </a:pPr>
                      <a:r>
                        <a:rPr lang="vi-VN" sz="2000" b="1" dirty="0">
                          <a:solidFill>
                            <a:schemeClr val="bg1"/>
                          </a:solidFill>
                          <a:effectLst/>
                          <a:latin typeface="Arial" panose="020B0604020202020204" pitchFamily="34" charset="0"/>
                          <a:ea typeface="Arial" panose="020B0604020202020204" pitchFamily="34" charset="0"/>
                          <a:cs typeface="Arial" panose="020B0604020202020204" pitchFamily="34" charset="0"/>
                        </a:rPr>
                        <a:t>Kháng cholinergics</a:t>
                      </a:r>
                      <a:endParaRPr lang="vi-VN" sz="20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T="60960">
                    <a:solidFill>
                      <a:srgbClr val="FF0000"/>
                    </a:solidFill>
                  </a:tcPr>
                </a:tc>
                <a:tc>
                  <a:txBody>
                    <a:bodyPr/>
                    <a:lstStyle/>
                    <a:p>
                      <a:pPr>
                        <a:lnSpc>
                          <a:spcPts val="1800"/>
                        </a:lnSpc>
                        <a:spcAft>
                          <a:spcPts val="0"/>
                        </a:spcAft>
                      </a:pPr>
                      <a:r>
                        <a:rPr lang="vi-VN" sz="2000" b="1" dirty="0">
                          <a:solidFill>
                            <a:schemeClr val="bg1"/>
                          </a:solidFill>
                          <a:effectLst/>
                          <a:latin typeface="Arial" panose="020B0604020202020204" pitchFamily="34" charset="0"/>
                          <a:ea typeface="Arial" panose="020B0604020202020204" pitchFamily="34" charset="0"/>
                          <a:cs typeface="Arial" panose="020B0604020202020204" pitchFamily="34" charset="0"/>
                        </a:rPr>
                        <a:t>Tác dụng chống nôn rất nhẹ đến nhẹ</a:t>
                      </a:r>
                      <a:endParaRPr lang="vi-VN" sz="20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T="60960">
                    <a:solidFill>
                      <a:srgbClr val="FF0000"/>
                    </a:solidFill>
                  </a:tcPr>
                </a:tc>
                <a:tc>
                  <a:txBody>
                    <a:bodyPr/>
                    <a:lstStyle/>
                    <a:p>
                      <a:endParaRPr lang="vi-VN" sz="2000" dirty="0">
                        <a:solidFill>
                          <a:schemeClr val="bg1"/>
                        </a:solidFill>
                      </a:endParaRPr>
                    </a:p>
                  </a:txBody>
                  <a:tcPr>
                    <a:solidFill>
                      <a:srgbClr val="FF0000"/>
                    </a:solidFill>
                  </a:tcPr>
                </a:tc>
                <a:tc>
                  <a:txBody>
                    <a:bodyPr/>
                    <a:lstStyle/>
                    <a:p>
                      <a:endParaRPr lang="vi-VN" sz="2000" dirty="0">
                        <a:solidFill>
                          <a:schemeClr val="bg1"/>
                        </a:solidFill>
                      </a:endParaRPr>
                    </a:p>
                  </a:txBody>
                  <a:tcPr>
                    <a:solidFill>
                      <a:srgbClr val="FF0000"/>
                    </a:solidFill>
                  </a:tcPr>
                </a:tc>
              </a:tr>
              <a:tr h="938841">
                <a:tc>
                  <a:txBody>
                    <a:bodyPr/>
                    <a:lstStyle/>
                    <a:p>
                      <a:pPr>
                        <a:lnSpc>
                          <a:spcPts val="1800"/>
                        </a:lnSpc>
                        <a:spcAft>
                          <a:spcPts val="0"/>
                        </a:spcAft>
                      </a:pPr>
                      <a:r>
                        <a:rPr lang="vi-VN" sz="2000" dirty="0">
                          <a:effectLst/>
                          <a:latin typeface="Arial" panose="020B0604020202020204" pitchFamily="34" charset="0"/>
                          <a:ea typeface="Arial" panose="020B0604020202020204" pitchFamily="34" charset="0"/>
                          <a:cs typeface="Arial" panose="020B0604020202020204" pitchFamily="34" charset="0"/>
                        </a:rPr>
                        <a:t>Scopolamine</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marL="304800"/>
                </a:tc>
                <a:tc>
                  <a:txBody>
                    <a:bodyPr/>
                    <a:lstStyle/>
                    <a:p>
                      <a:pPr>
                        <a:lnSpc>
                          <a:spcPts val="1800"/>
                        </a:lnSpc>
                        <a:spcAft>
                          <a:spcPts val="0"/>
                        </a:spcAft>
                      </a:pPr>
                      <a:r>
                        <a:rPr lang="vi-VN" sz="2000">
                          <a:effectLst/>
                          <a:latin typeface="Arial" panose="020B0604020202020204" pitchFamily="34" charset="0"/>
                          <a:ea typeface="Arial" panose="020B0604020202020204" pitchFamily="34" charset="0"/>
                          <a:cs typeface="Arial" panose="020B0604020202020204" pitchFamily="34" charset="0"/>
                        </a:rPr>
                        <a:t>Ức chế hệ tiền đình. Kháng ACh</a:t>
                      </a:r>
                      <a:endParaRPr lang="vi-VN" sz="2000">
                        <a:effectLst/>
                        <a:latin typeface="Arial" panose="020B0604020202020204" pitchFamily="34" charset="0"/>
                        <a:ea typeface="Arial" panose="020B0604020202020204" pitchFamily="34" charset="0"/>
                        <a:cs typeface="Times New Roman" panose="02020603050405020304" pitchFamily="18" charset="0"/>
                      </a:endParaRPr>
                    </a:p>
                  </a:txBody>
                  <a:tcPr/>
                </a:tc>
                <a:tc>
                  <a:txBody>
                    <a:bodyPr/>
                    <a:lstStyle/>
                    <a:p>
                      <a:pPr>
                        <a:lnSpc>
                          <a:spcPts val="1800"/>
                        </a:lnSpc>
                        <a:spcAft>
                          <a:spcPts val="0"/>
                        </a:spcAft>
                      </a:pPr>
                      <a:r>
                        <a:rPr lang="vi-VN" sz="2000" dirty="0">
                          <a:effectLst/>
                          <a:latin typeface="Arial" panose="020B0604020202020204" pitchFamily="34" charset="0"/>
                          <a:ea typeface="Arial" panose="020B0604020202020204" pitchFamily="34" charset="0"/>
                          <a:cs typeface="Arial" panose="020B0604020202020204" pitchFamily="34" charset="0"/>
                        </a:rPr>
                        <a:t>Say tàu xe</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a:tc>
                <a:tc>
                  <a:txBody>
                    <a:bodyPr/>
                    <a:lstStyle/>
                    <a:p>
                      <a:pPr>
                        <a:lnSpc>
                          <a:spcPts val="1800"/>
                        </a:lnSpc>
                        <a:spcAft>
                          <a:spcPts val="0"/>
                        </a:spcAft>
                      </a:pPr>
                      <a:r>
                        <a:rPr lang="vi-VN" sz="2000" dirty="0">
                          <a:effectLst/>
                          <a:latin typeface="Arial" panose="020B0604020202020204" pitchFamily="34" charset="0"/>
                          <a:ea typeface="Arial" panose="020B0604020202020204" pitchFamily="34" charset="0"/>
                          <a:cs typeface="Arial" panose="020B0604020202020204" pitchFamily="34" charset="0"/>
                        </a:rPr>
                        <a:t>Buồn ngủ, tác dụng phụ của kháng ACh</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a:tc>
              </a:tr>
              <a:tr h="938841">
                <a:tc>
                  <a:txBody>
                    <a:bodyPr/>
                    <a:lstStyle/>
                    <a:p>
                      <a:pPr>
                        <a:lnSpc>
                          <a:spcPts val="1800"/>
                        </a:lnSpc>
                        <a:spcAft>
                          <a:spcPts val="0"/>
                        </a:spcAft>
                      </a:pPr>
                      <a:r>
                        <a:rPr lang="vi-VN" sz="2000" b="1" dirty="0">
                          <a:solidFill>
                            <a:schemeClr val="bg1"/>
                          </a:solidFill>
                          <a:effectLst/>
                          <a:latin typeface="Arial" panose="020B0604020202020204" pitchFamily="34" charset="0"/>
                          <a:ea typeface="Arial" panose="020B0604020202020204" pitchFamily="34" charset="0"/>
                          <a:cs typeface="Arial" panose="020B0604020202020204" pitchFamily="34" charset="0"/>
                        </a:rPr>
                        <a:t>Butyrophenones</a:t>
                      </a:r>
                      <a:endParaRPr lang="vi-VN" sz="20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T="60960">
                    <a:solidFill>
                      <a:srgbClr val="FF0000"/>
                    </a:solidFill>
                  </a:tcPr>
                </a:tc>
                <a:tc>
                  <a:txBody>
                    <a:bodyPr/>
                    <a:lstStyle/>
                    <a:p>
                      <a:pPr>
                        <a:lnSpc>
                          <a:spcPts val="1800"/>
                        </a:lnSpc>
                        <a:spcAft>
                          <a:spcPts val="0"/>
                        </a:spcAft>
                      </a:pPr>
                      <a:r>
                        <a:rPr lang="vi-VN" sz="2000" b="1" dirty="0">
                          <a:solidFill>
                            <a:schemeClr val="bg1"/>
                          </a:solidFill>
                          <a:effectLst/>
                          <a:latin typeface="Arial" panose="020B0604020202020204" pitchFamily="34" charset="0"/>
                          <a:ea typeface="Arial" panose="020B0604020202020204" pitchFamily="34" charset="0"/>
                          <a:cs typeface="Arial" panose="020B0604020202020204" pitchFamily="34" charset="0"/>
                        </a:rPr>
                        <a:t>Tác dụng chống nôn trung bình</a:t>
                      </a:r>
                      <a:endParaRPr lang="vi-VN" sz="20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a:txBody>
                  <a:tcPr marT="60960">
                    <a:solidFill>
                      <a:srgbClr val="FF0000"/>
                    </a:solidFill>
                  </a:tcPr>
                </a:tc>
                <a:tc>
                  <a:txBody>
                    <a:bodyPr/>
                    <a:lstStyle/>
                    <a:p>
                      <a:endParaRPr lang="vi-VN" sz="2000" dirty="0">
                        <a:solidFill>
                          <a:schemeClr val="bg1"/>
                        </a:solidFill>
                      </a:endParaRPr>
                    </a:p>
                  </a:txBody>
                  <a:tcPr>
                    <a:solidFill>
                      <a:srgbClr val="FF0000"/>
                    </a:solidFill>
                  </a:tcPr>
                </a:tc>
                <a:tc>
                  <a:txBody>
                    <a:bodyPr/>
                    <a:lstStyle/>
                    <a:p>
                      <a:endParaRPr lang="vi-VN" sz="2000" dirty="0">
                        <a:solidFill>
                          <a:schemeClr val="bg1"/>
                        </a:solidFill>
                      </a:endParaRPr>
                    </a:p>
                  </a:txBody>
                  <a:tcPr>
                    <a:solidFill>
                      <a:srgbClr val="FF0000"/>
                    </a:solidFill>
                  </a:tcPr>
                </a:tc>
              </a:tr>
              <a:tr h="938841">
                <a:tc>
                  <a:txBody>
                    <a:bodyPr/>
                    <a:lstStyle/>
                    <a:p>
                      <a:pPr>
                        <a:lnSpc>
                          <a:spcPts val="1800"/>
                        </a:lnSpc>
                        <a:spcAft>
                          <a:spcPts val="0"/>
                        </a:spcAft>
                      </a:pPr>
                      <a:r>
                        <a:rPr lang="vi-VN" sz="2000" dirty="0">
                          <a:effectLst/>
                          <a:latin typeface="Arial" panose="020B0604020202020204" pitchFamily="34" charset="0"/>
                          <a:ea typeface="Arial" panose="020B0604020202020204" pitchFamily="34" charset="0"/>
                          <a:cs typeface="Arial" panose="020B0604020202020204" pitchFamily="34" charset="0"/>
                        </a:rPr>
                        <a:t>Droperidol</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marL="304800"/>
                </a:tc>
                <a:tc>
                  <a:txBody>
                    <a:bodyPr/>
                    <a:lstStyle/>
                    <a:p>
                      <a:pPr>
                        <a:lnSpc>
                          <a:spcPts val="1800"/>
                        </a:lnSpc>
                        <a:spcAft>
                          <a:spcPts val="0"/>
                        </a:spcAft>
                      </a:pPr>
                      <a:r>
                        <a:rPr lang="vi-VN" sz="2000" dirty="0">
                          <a:effectLst/>
                          <a:latin typeface="Arial" panose="020B0604020202020204" pitchFamily="34" charset="0"/>
                          <a:ea typeface="Arial" panose="020B0604020202020204" pitchFamily="34" charset="0"/>
                          <a:cs typeface="Arial" panose="020B0604020202020204" pitchFamily="34" charset="0"/>
                        </a:rPr>
                        <a:t>Đối kháng D2 tại tại CTZ; phản ứng lo âu và an thần</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a:tc>
                <a:tc>
                  <a:txBody>
                    <a:bodyPr/>
                    <a:lstStyle/>
                    <a:p>
                      <a:pPr>
                        <a:lnSpc>
                          <a:spcPts val="1800"/>
                        </a:lnSpc>
                        <a:spcAft>
                          <a:spcPts val="0"/>
                        </a:spcAft>
                      </a:pPr>
                      <a:r>
                        <a:rPr lang="vi-VN" sz="2000">
                          <a:effectLst/>
                          <a:latin typeface="Arial" panose="020B0604020202020204" pitchFamily="34" charset="0"/>
                          <a:ea typeface="Arial" panose="020B0604020202020204" pitchFamily="34" charset="0"/>
                          <a:cs typeface="Arial" panose="020B0604020202020204" pitchFamily="34" charset="0"/>
                        </a:rPr>
                        <a:t>Nôn do hóa trị và nôn sau phẫu thuật</a:t>
                      </a:r>
                      <a:endParaRPr lang="vi-VN" sz="2000">
                        <a:effectLst/>
                        <a:latin typeface="Arial" panose="020B0604020202020204" pitchFamily="34" charset="0"/>
                        <a:ea typeface="Arial" panose="020B0604020202020204" pitchFamily="34" charset="0"/>
                        <a:cs typeface="Times New Roman" panose="02020603050405020304" pitchFamily="18" charset="0"/>
                      </a:endParaRPr>
                    </a:p>
                  </a:txBody>
                  <a:tcPr/>
                </a:tc>
                <a:tc>
                  <a:txBody>
                    <a:bodyPr/>
                    <a:lstStyle/>
                    <a:p>
                      <a:pPr>
                        <a:lnSpc>
                          <a:spcPts val="1800"/>
                        </a:lnSpc>
                        <a:spcAft>
                          <a:spcPts val="0"/>
                        </a:spcAft>
                      </a:pPr>
                      <a:r>
                        <a:rPr lang="vi-VN" sz="2000" dirty="0">
                          <a:effectLst/>
                          <a:latin typeface="Arial" panose="020B0604020202020204" pitchFamily="34" charset="0"/>
                          <a:ea typeface="Arial" panose="020B0604020202020204" pitchFamily="34" charset="0"/>
                          <a:cs typeface="Arial" panose="020B0604020202020204" pitchFamily="34" charset="0"/>
                        </a:rPr>
                        <a:t>Tụt huyết áp, buồn ngủ, tác dụng ngoại tháp</a:t>
                      </a:r>
                      <a:endParaRPr lang="vi-VN" sz="2000" dirty="0">
                        <a:effectLst/>
                        <a:latin typeface="Arial" panose="020B0604020202020204" pitchFamily="34" charset="0"/>
                        <a:ea typeface="Arial" panose="020B0604020202020204" pitchFamily="34" charset="0"/>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3203351865"/>
      </p:ext>
    </p:extLst>
  </p:cSld>
  <p:clrMapOvr>
    <a:masterClrMapping/>
  </p:clrMapOvr>
  <mc:AlternateContent xmlns:mc="http://schemas.openxmlformats.org/markup-compatibility/2006" xmlns:p14="http://schemas.microsoft.com/office/powerpoint/2010/main">
    <mc:Choice Requires="p14">
      <p:transition spd="slow" p14:dur="2000">
        <p:sndAc>
          <p:stSnd>
            <p:snd r:embed="rId2" name="camera.wav"/>
          </p:stSnd>
        </p:sndAc>
      </p:transition>
    </mc:Choice>
    <mc:Fallback xmlns="">
      <p:transition spd="slow">
        <p:sndAc>
          <p:stSnd>
            <p:snd r:embed="rId3" name="camera.wav"/>
          </p:stSnd>
        </p:sndAc>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err="1" smtClean="0"/>
              <a:t>Các</a:t>
            </a:r>
            <a:r>
              <a:rPr lang="en-US" sz="3600" smtClean="0"/>
              <a:t> </a:t>
            </a:r>
            <a:r>
              <a:rPr lang="en-US" sz="3600" err="1" smtClean="0"/>
              <a:t>phương</a:t>
            </a:r>
            <a:r>
              <a:rPr lang="en-US" sz="3600" smtClean="0"/>
              <a:t> </a:t>
            </a:r>
            <a:r>
              <a:rPr lang="en-US" sz="3600" err="1" smtClean="0"/>
              <a:t>thức</a:t>
            </a:r>
            <a:r>
              <a:rPr lang="en-US" sz="3600" smtClean="0"/>
              <a:t> </a:t>
            </a:r>
            <a:r>
              <a:rPr lang="en-US" sz="3600" err="1" smtClean="0"/>
              <a:t>điều</a:t>
            </a:r>
            <a:r>
              <a:rPr lang="en-US" sz="3600" smtClean="0"/>
              <a:t> </a:t>
            </a:r>
            <a:r>
              <a:rPr lang="en-US" sz="3600" err="1" smtClean="0"/>
              <a:t>trị</a:t>
            </a:r>
            <a:r>
              <a:rPr lang="en-US" sz="3600" smtClean="0"/>
              <a:t> </a:t>
            </a:r>
            <a:r>
              <a:rPr lang="en-US" sz="3600" err="1" smtClean="0"/>
              <a:t>thay</a:t>
            </a:r>
            <a:r>
              <a:rPr lang="en-US" sz="3600" smtClean="0"/>
              <a:t> </a:t>
            </a:r>
            <a:r>
              <a:rPr lang="en-US" sz="3600" err="1" smtClean="0"/>
              <a:t>thế</a:t>
            </a:r>
            <a:endParaRPr lang="vi-VN" sz="3600"/>
          </a:p>
        </p:txBody>
      </p:sp>
      <p:sp>
        <p:nvSpPr>
          <p:cNvPr id="3" name="Content Placeholder 2"/>
          <p:cNvSpPr>
            <a:spLocks noGrp="1"/>
          </p:cNvSpPr>
          <p:nvPr>
            <p:ph idx="1"/>
          </p:nvPr>
        </p:nvSpPr>
        <p:spPr/>
        <p:txBody>
          <a:bodyPr/>
          <a:lstStyle/>
          <a:p>
            <a:r>
              <a:rPr lang="en-US" dirty="0" smtClean="0"/>
              <a:t> </a:t>
            </a:r>
            <a:r>
              <a:rPr lang="en-US" dirty="0" err="1"/>
              <a:t>T</a:t>
            </a:r>
            <a:r>
              <a:rPr lang="en-US" dirty="0" err="1" smtClean="0"/>
              <a:t>hảo</a:t>
            </a:r>
            <a:r>
              <a:rPr lang="en-US" dirty="0" smtClean="0"/>
              <a:t> </a:t>
            </a:r>
            <a:r>
              <a:rPr lang="en-US" dirty="0" err="1" smtClean="0"/>
              <a:t>dược</a:t>
            </a:r>
            <a:r>
              <a:rPr lang="en-US" dirty="0" smtClean="0"/>
              <a:t> </a:t>
            </a:r>
            <a:r>
              <a:rPr lang="en-US" dirty="0" err="1" smtClean="0"/>
              <a:t>gồm</a:t>
            </a:r>
            <a:r>
              <a:rPr lang="en-US" dirty="0" smtClean="0"/>
              <a:t> </a:t>
            </a:r>
            <a:r>
              <a:rPr lang="en-US" dirty="0" err="1" smtClean="0"/>
              <a:t>hỗn</a:t>
            </a:r>
            <a:r>
              <a:rPr lang="en-US" dirty="0" smtClean="0"/>
              <a:t> </a:t>
            </a:r>
            <a:r>
              <a:rPr lang="en-US" dirty="0" err="1" smtClean="0"/>
              <a:t>hợp</a:t>
            </a:r>
            <a:r>
              <a:rPr lang="en-US" dirty="0" smtClean="0"/>
              <a:t> </a:t>
            </a:r>
            <a:r>
              <a:rPr lang="en-US" dirty="0" err="1" smtClean="0"/>
              <a:t>gừng</a:t>
            </a:r>
            <a:endParaRPr lang="en-US" dirty="0" smtClean="0"/>
          </a:p>
          <a:p>
            <a:endParaRPr lang="en-US" dirty="0" smtClean="0"/>
          </a:p>
          <a:p>
            <a:r>
              <a:rPr lang="en-US" dirty="0" err="1" smtClean="0"/>
              <a:t>Thôi</a:t>
            </a:r>
            <a:r>
              <a:rPr lang="en-US" dirty="0" smtClean="0"/>
              <a:t> </a:t>
            </a:r>
            <a:r>
              <a:rPr lang="en-US" dirty="0" err="1" smtClean="0"/>
              <a:t>miên</a:t>
            </a:r>
            <a:endParaRPr lang="en-US" dirty="0" smtClean="0"/>
          </a:p>
          <a:p>
            <a:endParaRPr lang="en-US" dirty="0" smtClean="0"/>
          </a:p>
          <a:p>
            <a:r>
              <a:rPr lang="en-US" dirty="0" err="1" smtClean="0"/>
              <a:t>Điều</a:t>
            </a:r>
            <a:r>
              <a:rPr lang="en-US" dirty="0" smtClean="0"/>
              <a:t> </a:t>
            </a:r>
            <a:r>
              <a:rPr lang="en-US" dirty="0" err="1" smtClean="0"/>
              <a:t>trị</a:t>
            </a:r>
            <a:r>
              <a:rPr lang="en-US" dirty="0" smtClean="0"/>
              <a:t> </a:t>
            </a:r>
            <a:r>
              <a:rPr lang="en-US" dirty="0" err="1" smtClean="0"/>
              <a:t>tâm</a:t>
            </a:r>
            <a:r>
              <a:rPr lang="en-US" dirty="0" smtClean="0"/>
              <a:t> </a:t>
            </a:r>
            <a:r>
              <a:rPr lang="en-US" dirty="0" err="1" smtClean="0"/>
              <a:t>lý</a:t>
            </a:r>
            <a:r>
              <a:rPr lang="en-US" dirty="0" smtClean="0"/>
              <a:t>, </a:t>
            </a:r>
            <a:r>
              <a:rPr lang="en-US" dirty="0" err="1" smtClean="0"/>
              <a:t>hành</a:t>
            </a:r>
            <a:r>
              <a:rPr lang="en-US" dirty="0" smtClean="0"/>
              <a:t> vi </a:t>
            </a:r>
            <a:r>
              <a:rPr lang="en-US" dirty="0" err="1" smtClean="0"/>
              <a:t>ăn</a:t>
            </a:r>
            <a:r>
              <a:rPr lang="en-US" dirty="0" smtClean="0"/>
              <a:t> </a:t>
            </a:r>
            <a:r>
              <a:rPr lang="en-US" dirty="0" err="1" smtClean="0"/>
              <a:t>uống</a:t>
            </a:r>
            <a:endParaRPr lang="vi-VN" dirty="0"/>
          </a:p>
        </p:txBody>
      </p:sp>
    </p:spTree>
    <p:extLst>
      <p:ext uri="{BB962C8B-B14F-4D97-AF65-F5344CB8AC3E}">
        <p14:creationId xmlns:p14="http://schemas.microsoft.com/office/powerpoint/2010/main" val="2509035283"/>
      </p:ext>
    </p:extLst>
  </p:cSld>
  <p:clrMapOvr>
    <a:masterClrMapping/>
  </p:clrMapOvr>
  <p:transition spd="slow">
    <p:push dir="u"/>
    <p:sndAc>
      <p:stSnd>
        <p:snd r:embed="rId2" name="camera.wav"/>
      </p:stSnd>
    </p:sndAc>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Case </a:t>
            </a:r>
            <a:r>
              <a:rPr lang="en-US" err="1" smtClean="0"/>
              <a:t>lâm</a:t>
            </a:r>
            <a:r>
              <a:rPr lang="en-US" smtClean="0"/>
              <a:t> </a:t>
            </a:r>
            <a:r>
              <a:rPr lang="en-US" err="1" smtClean="0"/>
              <a:t>sàng</a:t>
            </a:r>
            <a:endParaRPr lang="vi-VN"/>
          </a:p>
        </p:txBody>
      </p:sp>
      <p:sp>
        <p:nvSpPr>
          <p:cNvPr id="3" name="Content Placeholder 2"/>
          <p:cNvSpPr>
            <a:spLocks noGrp="1"/>
          </p:cNvSpPr>
          <p:nvPr>
            <p:ph idx="1"/>
          </p:nvPr>
        </p:nvSpPr>
        <p:spPr/>
        <p:txBody>
          <a:bodyPr/>
          <a:lstStyle/>
          <a:p>
            <a:r>
              <a:rPr lang="vi-VN" smtClean="0"/>
              <a:t>Bé trai 7 tháng tuổi xuất hiện nôn 1 tuần nay,nôn ra dịch thức ăn không có dịch mật. Nôn vọt, ăn uống tốt nhưng vẫn sụt 300gram/1 tuần. Trẻ không đi ngoài phân lỏng. Gần đây có đi du lịch tây ban nha, gia đình không ai bị nôn. Chị gái bị nhiễm trùng tiết niệu và trào ngược bàng quang niệu đạo.</a:t>
            </a:r>
          </a:p>
          <a:p>
            <a:r>
              <a:rPr lang="vi-VN" smtClean="0"/>
              <a:t>Khám thấy trẻ tỉnh,không sốt, mất nước nhẹ,mạch 170,huyết áp 82/43,refill 2s,gan lách không to,không có điểm đau khu trú, không khối trong ổ bụng, các cơ quan khác chưa phát hiện bất thường</a:t>
            </a:r>
          </a:p>
          <a:p>
            <a:endParaRPr lang="vi-VN"/>
          </a:p>
        </p:txBody>
      </p:sp>
    </p:spTree>
    <p:extLst>
      <p:ext uri="{BB962C8B-B14F-4D97-AF65-F5344CB8AC3E}">
        <p14:creationId xmlns:p14="http://schemas.microsoft.com/office/powerpoint/2010/main" val="617127631"/>
      </p:ext>
    </p:extLst>
  </p:cSld>
  <p:clrMapOvr>
    <a:masterClrMapping/>
  </p:clrMapOvr>
  <p:transition spd="slow">
    <p:push dir="u"/>
    <p:sndAc>
      <p:stSnd>
        <p:snd r:embed="rId2" name="camera.wav"/>
      </p:stSnd>
    </p:sndAc>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Các xét nghiệm đã làm</a:t>
            </a:r>
            <a:endParaRPr lang="vi-VN" dirty="0"/>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296784"/>
            <a:ext cx="12192000" cy="5561215"/>
          </a:xfrm>
        </p:spPr>
      </p:pic>
    </p:spTree>
    <p:extLst>
      <p:ext uri="{BB962C8B-B14F-4D97-AF65-F5344CB8AC3E}">
        <p14:creationId xmlns:p14="http://schemas.microsoft.com/office/powerpoint/2010/main" val="4186795174"/>
      </p:ext>
    </p:extLst>
  </p:cSld>
  <p:clrMapOvr>
    <a:masterClrMapping/>
  </p:clrMapOvr>
  <p:transition spd="slow">
    <p:push dir="u"/>
    <p:sndAc>
      <p:stSnd>
        <p:snd r:embed="rId2" name="camera.wav"/>
      </p:stSnd>
    </p:sndAc>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Câu hỏi</a:t>
            </a:r>
            <a:endParaRPr lang="vi-VN"/>
          </a:p>
        </p:txBody>
      </p:sp>
      <p:sp>
        <p:nvSpPr>
          <p:cNvPr id="3" name="Content Placeholder 2"/>
          <p:cNvSpPr>
            <a:spLocks noGrp="1"/>
          </p:cNvSpPr>
          <p:nvPr>
            <p:ph idx="1"/>
          </p:nvPr>
        </p:nvSpPr>
        <p:spPr/>
        <p:txBody>
          <a:bodyPr/>
          <a:lstStyle/>
          <a:p>
            <a:r>
              <a:rPr lang="vi-VN" smtClean="0"/>
              <a:t>Chẩn đoán có khả năng nhất ở bệnh nhân này là gì ?</a:t>
            </a:r>
          </a:p>
          <a:p>
            <a:r>
              <a:rPr lang="vi-VN" smtClean="0"/>
              <a:t>Các chẩn đoán phân biệt ??</a:t>
            </a:r>
          </a:p>
          <a:p>
            <a:r>
              <a:rPr lang="vi-VN" smtClean="0"/>
              <a:t>Cần làm thêm những gì để có chẩn đoán xác định??</a:t>
            </a:r>
          </a:p>
          <a:p>
            <a:r>
              <a:rPr lang="vi-VN" smtClean="0"/>
              <a:t>Điều trị ở bệnh nhân này ntn ?</a:t>
            </a:r>
            <a:endParaRPr lang="vi-VN"/>
          </a:p>
        </p:txBody>
      </p:sp>
    </p:spTree>
    <p:extLst>
      <p:ext uri="{BB962C8B-B14F-4D97-AF65-F5344CB8AC3E}">
        <p14:creationId xmlns:p14="http://schemas.microsoft.com/office/powerpoint/2010/main" val="2819706954"/>
      </p:ext>
    </p:extLst>
  </p:cSld>
  <p:clrMapOvr>
    <a:masterClrMapping/>
  </p:clrMapOvr>
  <p:transition spd="slow">
    <p:push dir="u"/>
    <p:sndAc>
      <p:stSnd>
        <p:snd r:embed="rId2" name="camera.wav"/>
      </p:stSnd>
    </p:sndAc>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Tiếp cận bệnh nhân</a:t>
            </a:r>
            <a:endParaRPr lang="vi-VN"/>
          </a:p>
        </p:txBody>
      </p:sp>
      <p:sp>
        <p:nvSpPr>
          <p:cNvPr id="3" name="Content Placeholder 2"/>
          <p:cNvSpPr>
            <a:spLocks noGrp="1"/>
          </p:cNvSpPr>
          <p:nvPr>
            <p:ph idx="1"/>
          </p:nvPr>
        </p:nvSpPr>
        <p:spPr/>
        <p:txBody>
          <a:bodyPr/>
          <a:lstStyle/>
          <a:p>
            <a:r>
              <a:rPr lang="vi-VN" smtClean="0"/>
              <a:t>Tuổi</a:t>
            </a:r>
          </a:p>
          <a:p>
            <a:r>
              <a:rPr lang="vi-VN" smtClean="0"/>
              <a:t>Các dấu hiệu cờ đỏ</a:t>
            </a:r>
          </a:p>
          <a:p>
            <a:r>
              <a:rPr lang="vi-VN" smtClean="0"/>
              <a:t>Đánh giá các biến chứng của nôn</a:t>
            </a:r>
          </a:p>
          <a:p>
            <a:r>
              <a:rPr lang="vi-VN" smtClean="0"/>
              <a:t>Khảo sát tiền sử bệnh sử,khám lâm sàng</a:t>
            </a:r>
          </a:p>
          <a:p>
            <a:r>
              <a:rPr lang="vi-VN" smtClean="0"/>
              <a:t>Xét nghiệm</a:t>
            </a:r>
          </a:p>
          <a:p>
            <a:pPr marL="0" indent="0">
              <a:buNone/>
            </a:pPr>
            <a:r>
              <a:rPr lang="vi-VN" smtClean="0"/>
              <a:t>Chẩn đoán là </a:t>
            </a:r>
            <a:r>
              <a:rPr lang="vi-VN"/>
              <a:t>:</a:t>
            </a:r>
          </a:p>
        </p:txBody>
      </p:sp>
    </p:spTree>
    <p:extLst>
      <p:ext uri="{BB962C8B-B14F-4D97-AF65-F5344CB8AC3E}">
        <p14:creationId xmlns:p14="http://schemas.microsoft.com/office/powerpoint/2010/main" val="1858966252"/>
      </p:ext>
    </p:extLst>
  </p:cSld>
  <p:clrMapOvr>
    <a:masterClrMapping/>
  </p:clrMapOvr>
  <p:transition spd="slow">
    <p:push dir="u"/>
    <p:sndAc>
      <p:stSnd>
        <p:snd r:embed="rId2" name="camera.wav"/>
      </p:stSnd>
    </p:sndAc>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r>
              <a:rPr lang="en-US" altLang="vi-VN" err="1" smtClean="0"/>
              <a:t>Chẩn</a:t>
            </a:r>
            <a:r>
              <a:rPr lang="en-US" altLang="vi-VN" smtClean="0"/>
              <a:t> </a:t>
            </a:r>
            <a:r>
              <a:rPr lang="en-US" altLang="vi-VN" err="1" smtClean="0"/>
              <a:t>đoán</a:t>
            </a:r>
            <a:r>
              <a:rPr lang="en-US" altLang="vi-VN" smtClean="0"/>
              <a:t> </a:t>
            </a:r>
            <a:r>
              <a:rPr lang="en-US" altLang="vi-VN" err="1" smtClean="0"/>
              <a:t>có</a:t>
            </a:r>
            <a:r>
              <a:rPr lang="en-US" altLang="vi-VN" smtClean="0"/>
              <a:t> </a:t>
            </a:r>
            <a:r>
              <a:rPr lang="en-US" altLang="vi-VN" err="1" smtClean="0"/>
              <a:t>khả</a:t>
            </a:r>
            <a:r>
              <a:rPr lang="en-US" altLang="vi-VN" smtClean="0"/>
              <a:t> </a:t>
            </a:r>
            <a:r>
              <a:rPr lang="en-US" altLang="vi-VN" err="1" smtClean="0"/>
              <a:t>năng</a:t>
            </a:r>
            <a:r>
              <a:rPr lang="en-US" altLang="vi-VN" smtClean="0"/>
              <a:t> </a:t>
            </a:r>
            <a:endParaRPr lang="en-US" altLang="vi-VN"/>
          </a:p>
        </p:txBody>
      </p:sp>
      <p:sp>
        <p:nvSpPr>
          <p:cNvPr id="78851" name="AutoShape 3"/>
          <p:cNvSpPr>
            <a:spLocks noChangeArrowheads="1"/>
          </p:cNvSpPr>
          <p:nvPr/>
        </p:nvSpPr>
        <p:spPr bwMode="gray">
          <a:xfrm>
            <a:off x="5399218" y="3429000"/>
            <a:ext cx="3598355" cy="2684929"/>
          </a:xfrm>
          <a:prstGeom prst="chevron">
            <a:avLst>
              <a:gd name="adj" fmla="val 16468"/>
            </a:avLst>
          </a:prstGeom>
          <a:solidFill>
            <a:schemeClr val="accent2"/>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endParaRPr lang="vi-VN" dirty="0"/>
          </a:p>
        </p:txBody>
      </p:sp>
      <p:sp>
        <p:nvSpPr>
          <p:cNvPr id="78852" name="AutoShape 4"/>
          <p:cNvSpPr>
            <a:spLocks noChangeArrowheads="1"/>
          </p:cNvSpPr>
          <p:nvPr/>
        </p:nvSpPr>
        <p:spPr bwMode="gray">
          <a:xfrm>
            <a:off x="1631577" y="3429000"/>
            <a:ext cx="4364778" cy="2684929"/>
          </a:xfrm>
          <a:prstGeom prst="chevron">
            <a:avLst>
              <a:gd name="adj" fmla="val 17384"/>
            </a:avLst>
          </a:prstGeom>
          <a:solidFill>
            <a:schemeClr val="folHlink"/>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endParaRPr lang="vi-VN" dirty="0"/>
          </a:p>
        </p:txBody>
      </p:sp>
      <p:sp>
        <p:nvSpPr>
          <p:cNvPr id="78853" name="AutoShape 5"/>
          <p:cNvSpPr>
            <a:spLocks noChangeArrowheads="1"/>
          </p:cNvSpPr>
          <p:nvPr/>
        </p:nvSpPr>
        <p:spPr bwMode="gray">
          <a:xfrm>
            <a:off x="-467081" y="3429000"/>
            <a:ext cx="3283296" cy="2684929"/>
          </a:xfrm>
          <a:prstGeom prst="chevron">
            <a:avLst>
              <a:gd name="adj" fmla="val 17384"/>
            </a:avLst>
          </a:prstGeom>
          <a:solidFill>
            <a:schemeClr val="accent1"/>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endParaRPr lang="vi-VN" dirty="0"/>
          </a:p>
        </p:txBody>
      </p:sp>
      <p:sp>
        <p:nvSpPr>
          <p:cNvPr id="78854" name="AutoShape 6"/>
          <p:cNvSpPr>
            <a:spLocks noChangeArrowheads="1"/>
          </p:cNvSpPr>
          <p:nvPr/>
        </p:nvSpPr>
        <p:spPr bwMode="gray">
          <a:xfrm>
            <a:off x="171473" y="1784531"/>
            <a:ext cx="2190073" cy="846338"/>
          </a:xfrm>
          <a:prstGeom prst="roundRect">
            <a:avLst>
              <a:gd name="adj" fmla="val 50000"/>
            </a:avLst>
          </a:prstGeom>
          <a:solidFill>
            <a:schemeClr val="accent1"/>
          </a:solidFill>
          <a:ln w="38100" algn="ctr">
            <a:solidFill>
              <a:srgbClr val="FFFFFF"/>
            </a:solidFill>
            <a:round/>
            <a:headEnd/>
            <a:tailEnd/>
          </a:ln>
          <a:effectLst>
            <a:outerShdw dist="63500" dir="3187806" algn="ctr" rotWithShape="0">
              <a:srgbClr val="001D3A"/>
            </a:outerShdw>
          </a:effectLst>
        </p:spPr>
        <p:txBody>
          <a:bodyPr wrap="none" anchor="ctr"/>
          <a:lstStyle/>
          <a:p>
            <a:pPr algn="ctr" eaLnBrk="0" hangingPunct="0"/>
            <a:r>
              <a:rPr lang="en-US" altLang="vi-VN" sz="2000" b="1" err="1" smtClean="0">
                <a:solidFill>
                  <a:schemeClr val="tx2"/>
                </a:solidFill>
              </a:rPr>
              <a:t>Tuổi</a:t>
            </a:r>
            <a:endParaRPr lang="en-US" altLang="vi-VN" sz="2000" b="1">
              <a:solidFill>
                <a:schemeClr val="tx2"/>
              </a:solidFill>
            </a:endParaRPr>
          </a:p>
        </p:txBody>
      </p:sp>
      <p:sp>
        <p:nvSpPr>
          <p:cNvPr id="78855" name="AutoShape 7"/>
          <p:cNvSpPr>
            <a:spLocks noChangeArrowheads="1"/>
          </p:cNvSpPr>
          <p:nvPr/>
        </p:nvSpPr>
        <p:spPr bwMode="gray">
          <a:xfrm>
            <a:off x="2922878" y="1784531"/>
            <a:ext cx="2733602" cy="846338"/>
          </a:xfrm>
          <a:prstGeom prst="roundRect">
            <a:avLst>
              <a:gd name="adj" fmla="val 50000"/>
            </a:avLst>
          </a:prstGeom>
          <a:solidFill>
            <a:schemeClr val="folHlink"/>
          </a:solidFill>
          <a:ln w="38100" algn="ctr">
            <a:solidFill>
              <a:srgbClr val="FFFFFF"/>
            </a:solidFill>
            <a:round/>
            <a:headEnd/>
            <a:tailEnd/>
          </a:ln>
          <a:effectLst>
            <a:outerShdw dist="63500" dir="3187806" algn="ctr" rotWithShape="0">
              <a:srgbClr val="001D3A"/>
            </a:outerShdw>
          </a:effectLst>
        </p:spPr>
        <p:txBody>
          <a:bodyPr wrap="none" anchor="ctr"/>
          <a:lstStyle/>
          <a:p>
            <a:pPr algn="ctr"/>
            <a:r>
              <a:rPr lang="en-US" altLang="vi-VN" sz="2000" b="1" dirty="0" err="1" smtClean="0">
                <a:solidFill>
                  <a:schemeClr val="tx2"/>
                </a:solidFill>
              </a:rPr>
              <a:t>Các</a:t>
            </a:r>
            <a:r>
              <a:rPr lang="en-US" altLang="vi-VN" sz="2000" b="1" dirty="0" smtClean="0">
                <a:solidFill>
                  <a:schemeClr val="tx2"/>
                </a:solidFill>
              </a:rPr>
              <a:t> </a:t>
            </a:r>
            <a:r>
              <a:rPr lang="en-US" altLang="vi-VN" sz="2000" b="1" dirty="0" err="1" smtClean="0">
                <a:solidFill>
                  <a:schemeClr val="tx2"/>
                </a:solidFill>
              </a:rPr>
              <a:t>dấu</a:t>
            </a:r>
            <a:r>
              <a:rPr lang="en-US" altLang="vi-VN" sz="2000" b="1" dirty="0" smtClean="0">
                <a:solidFill>
                  <a:schemeClr val="tx2"/>
                </a:solidFill>
              </a:rPr>
              <a:t> </a:t>
            </a:r>
            <a:r>
              <a:rPr lang="en-US" altLang="vi-VN" sz="2000" b="1" dirty="0" err="1" smtClean="0">
                <a:solidFill>
                  <a:schemeClr val="tx2"/>
                </a:solidFill>
              </a:rPr>
              <a:t>hiệu</a:t>
            </a:r>
            <a:endParaRPr lang="en-US" altLang="vi-VN" sz="2000" b="1" dirty="0" smtClean="0">
              <a:solidFill>
                <a:schemeClr val="tx2"/>
              </a:solidFill>
            </a:endParaRPr>
          </a:p>
          <a:p>
            <a:pPr algn="ctr"/>
            <a:r>
              <a:rPr lang="en-US" altLang="vi-VN" sz="2000" b="1" dirty="0" smtClean="0">
                <a:solidFill>
                  <a:schemeClr val="tx2"/>
                </a:solidFill>
              </a:rPr>
              <a:t> </a:t>
            </a:r>
            <a:r>
              <a:rPr lang="en-US" altLang="vi-VN" sz="2000" b="1" dirty="0" err="1" smtClean="0">
                <a:solidFill>
                  <a:schemeClr val="tx2"/>
                </a:solidFill>
              </a:rPr>
              <a:t>cờ</a:t>
            </a:r>
            <a:r>
              <a:rPr lang="en-US" altLang="vi-VN" sz="2000" b="1" dirty="0" smtClean="0">
                <a:solidFill>
                  <a:schemeClr val="tx2"/>
                </a:solidFill>
              </a:rPr>
              <a:t> </a:t>
            </a:r>
            <a:r>
              <a:rPr lang="en-US" altLang="vi-VN" sz="2000" b="1" dirty="0" err="1" smtClean="0">
                <a:solidFill>
                  <a:schemeClr val="tx2"/>
                </a:solidFill>
              </a:rPr>
              <a:t>đỏ</a:t>
            </a:r>
            <a:endParaRPr lang="en-US" altLang="vi-VN" sz="2000" b="1" dirty="0">
              <a:solidFill>
                <a:schemeClr val="tx2"/>
              </a:solidFill>
            </a:endParaRPr>
          </a:p>
        </p:txBody>
      </p:sp>
      <p:sp>
        <p:nvSpPr>
          <p:cNvPr id="78856" name="AutoShape 8"/>
          <p:cNvSpPr>
            <a:spLocks noChangeArrowheads="1"/>
          </p:cNvSpPr>
          <p:nvPr/>
        </p:nvSpPr>
        <p:spPr bwMode="gray">
          <a:xfrm>
            <a:off x="6217812" y="1784531"/>
            <a:ext cx="2316588" cy="795131"/>
          </a:xfrm>
          <a:prstGeom prst="roundRect">
            <a:avLst>
              <a:gd name="adj" fmla="val 50000"/>
            </a:avLst>
          </a:prstGeom>
          <a:gradFill rotWithShape="1">
            <a:gsLst>
              <a:gs pos="0">
                <a:schemeClr val="accent2"/>
              </a:gs>
              <a:gs pos="100000">
                <a:schemeClr val="accent2">
                  <a:gamma/>
                  <a:shade val="46275"/>
                  <a:invGamma/>
                </a:schemeClr>
              </a:gs>
            </a:gsLst>
            <a:lin ang="0" scaled="1"/>
          </a:gradFill>
          <a:ln w="38100" algn="ctr">
            <a:solidFill>
              <a:srgbClr val="FFFFFF"/>
            </a:solidFill>
            <a:round/>
            <a:headEnd/>
            <a:tailEnd/>
          </a:ln>
          <a:effectLst>
            <a:outerShdw dist="63500" dir="3187806" algn="ctr" rotWithShape="0">
              <a:srgbClr val="001D3A"/>
            </a:outerShdw>
          </a:effectLst>
        </p:spPr>
        <p:txBody>
          <a:bodyPr wrap="none" anchor="ctr"/>
          <a:lstStyle/>
          <a:p>
            <a:r>
              <a:rPr lang="en-US" altLang="vi-VN" sz="2000" b="1" err="1" smtClean="0">
                <a:solidFill>
                  <a:schemeClr val="tx2"/>
                </a:solidFill>
              </a:rPr>
              <a:t>Biến</a:t>
            </a:r>
            <a:r>
              <a:rPr lang="en-US" altLang="vi-VN" sz="2000" b="1" smtClean="0">
                <a:solidFill>
                  <a:schemeClr val="tx2"/>
                </a:solidFill>
              </a:rPr>
              <a:t> </a:t>
            </a:r>
            <a:r>
              <a:rPr lang="en-US" altLang="vi-VN" sz="2000" b="1" err="1" smtClean="0">
                <a:solidFill>
                  <a:schemeClr val="tx2"/>
                </a:solidFill>
              </a:rPr>
              <a:t>chứng</a:t>
            </a:r>
            <a:r>
              <a:rPr lang="en-US" altLang="vi-VN" sz="2000" b="1" smtClean="0">
                <a:solidFill>
                  <a:schemeClr val="tx2"/>
                </a:solidFill>
              </a:rPr>
              <a:t> </a:t>
            </a:r>
            <a:r>
              <a:rPr lang="en-US" altLang="vi-VN" sz="2000" b="1" err="1" smtClean="0">
                <a:solidFill>
                  <a:schemeClr val="tx2"/>
                </a:solidFill>
              </a:rPr>
              <a:t>nôn</a:t>
            </a:r>
            <a:endParaRPr lang="en-US" altLang="vi-VN" sz="2000" b="1">
              <a:solidFill>
                <a:schemeClr val="tx2"/>
              </a:solidFill>
            </a:endParaRPr>
          </a:p>
        </p:txBody>
      </p:sp>
      <p:sp>
        <p:nvSpPr>
          <p:cNvPr id="9" name="AutoShape 8"/>
          <p:cNvSpPr>
            <a:spLocks noChangeArrowheads="1"/>
          </p:cNvSpPr>
          <p:nvPr/>
        </p:nvSpPr>
        <p:spPr bwMode="gray">
          <a:xfrm>
            <a:off x="8811491" y="1835738"/>
            <a:ext cx="3108960" cy="795131"/>
          </a:xfrm>
          <a:prstGeom prst="roundRect">
            <a:avLst>
              <a:gd name="adj" fmla="val 50000"/>
            </a:avLst>
          </a:prstGeom>
          <a:solidFill>
            <a:srgbClr val="FFFF00"/>
          </a:solidFill>
          <a:ln w="38100" algn="ctr">
            <a:solidFill>
              <a:srgbClr val="FFFFFF"/>
            </a:solidFill>
            <a:round/>
            <a:headEnd/>
            <a:tailEnd/>
          </a:ln>
          <a:effectLst>
            <a:outerShdw dist="63500" dir="3187806" algn="ctr" rotWithShape="0">
              <a:srgbClr val="001D3A"/>
            </a:outerShdw>
          </a:effectLst>
        </p:spPr>
        <p:txBody>
          <a:bodyPr wrap="none" anchor="ctr"/>
          <a:lstStyle/>
          <a:p>
            <a:r>
              <a:rPr lang="en-US" altLang="vi-VN" sz="2000" b="1" err="1" smtClean="0">
                <a:solidFill>
                  <a:srgbClr val="FF0000"/>
                </a:solidFill>
              </a:rPr>
              <a:t>Lâm</a:t>
            </a:r>
            <a:r>
              <a:rPr lang="en-US" altLang="vi-VN" sz="2000" b="1" smtClean="0">
                <a:solidFill>
                  <a:srgbClr val="FF0000"/>
                </a:solidFill>
              </a:rPr>
              <a:t> </a:t>
            </a:r>
            <a:r>
              <a:rPr lang="en-US" altLang="vi-VN" sz="2000" b="1" err="1" smtClean="0">
                <a:solidFill>
                  <a:srgbClr val="FF0000"/>
                </a:solidFill>
              </a:rPr>
              <a:t>sàng+xét</a:t>
            </a:r>
            <a:r>
              <a:rPr lang="en-US" altLang="vi-VN" sz="2000" b="1" smtClean="0">
                <a:solidFill>
                  <a:srgbClr val="FF0000"/>
                </a:solidFill>
              </a:rPr>
              <a:t> </a:t>
            </a:r>
            <a:r>
              <a:rPr lang="en-US" altLang="vi-VN" sz="2000" b="1" err="1" smtClean="0">
                <a:solidFill>
                  <a:srgbClr val="FF0000"/>
                </a:solidFill>
              </a:rPr>
              <a:t>nghiêm</a:t>
            </a:r>
            <a:endParaRPr lang="en-US" altLang="vi-VN" sz="2000" b="1">
              <a:solidFill>
                <a:srgbClr val="FF0000"/>
              </a:solidFill>
            </a:endParaRPr>
          </a:p>
        </p:txBody>
      </p:sp>
      <p:sp>
        <p:nvSpPr>
          <p:cNvPr id="10" name="AutoShape 3"/>
          <p:cNvSpPr>
            <a:spLocks noChangeArrowheads="1"/>
          </p:cNvSpPr>
          <p:nvPr/>
        </p:nvSpPr>
        <p:spPr bwMode="gray">
          <a:xfrm>
            <a:off x="8472695" y="3428999"/>
            <a:ext cx="3914837" cy="2742158"/>
          </a:xfrm>
          <a:prstGeom prst="chevron">
            <a:avLst>
              <a:gd name="adj" fmla="val 16468"/>
            </a:avLst>
          </a:prstGeom>
          <a:solidFill>
            <a:srgbClr val="FFFF00"/>
          </a:solidFill>
          <a:ln w="38100">
            <a:solidFill>
              <a:srgbClr val="EAEAEA"/>
            </a:solidFill>
            <a:miter lim="800000"/>
            <a:headEnd/>
            <a:tailEnd/>
          </a:ln>
          <a:effectLst>
            <a:outerShdw dist="109250" dir="3267739" algn="ctr" rotWithShape="0">
              <a:srgbClr val="333333">
                <a:alpha val="50000"/>
              </a:srgbClr>
            </a:outerShdw>
          </a:effectLst>
        </p:spPr>
        <p:txBody>
          <a:bodyPr wrap="square" anchor="ctr">
            <a:spAutoFit/>
          </a:bodyPr>
          <a:lstStyle/>
          <a:p>
            <a:endParaRPr lang="vi-VN" dirty="0"/>
          </a:p>
        </p:txBody>
      </p:sp>
      <p:sp>
        <p:nvSpPr>
          <p:cNvPr id="2" name="TextBox 1"/>
          <p:cNvSpPr txBox="1"/>
          <p:nvPr/>
        </p:nvSpPr>
        <p:spPr>
          <a:xfrm>
            <a:off x="440200" y="3936470"/>
            <a:ext cx="2150436" cy="954107"/>
          </a:xfrm>
          <a:prstGeom prst="rect">
            <a:avLst/>
          </a:prstGeom>
          <a:noFill/>
        </p:spPr>
        <p:txBody>
          <a:bodyPr wrap="square" rtlCol="0">
            <a:spAutoFit/>
          </a:bodyPr>
          <a:lstStyle/>
          <a:p>
            <a:r>
              <a:rPr lang="en-US" sz="2800" dirty="0" err="1" smtClean="0">
                <a:solidFill>
                  <a:schemeClr val="bg1"/>
                </a:solidFill>
              </a:rPr>
              <a:t>Trẻ</a:t>
            </a:r>
            <a:r>
              <a:rPr lang="en-US" sz="2800" dirty="0" smtClean="0">
                <a:solidFill>
                  <a:schemeClr val="bg1"/>
                </a:solidFill>
              </a:rPr>
              <a:t> </a:t>
            </a:r>
            <a:r>
              <a:rPr lang="en-US" sz="2800" dirty="0" err="1" smtClean="0">
                <a:solidFill>
                  <a:schemeClr val="bg1"/>
                </a:solidFill>
              </a:rPr>
              <a:t>nam</a:t>
            </a:r>
            <a:r>
              <a:rPr lang="en-US" sz="2800" dirty="0" smtClean="0">
                <a:solidFill>
                  <a:schemeClr val="bg1"/>
                </a:solidFill>
              </a:rPr>
              <a:t> 7 </a:t>
            </a:r>
            <a:r>
              <a:rPr lang="en-US" sz="2800" dirty="0" err="1" smtClean="0">
                <a:solidFill>
                  <a:schemeClr val="bg1"/>
                </a:solidFill>
              </a:rPr>
              <a:t>tháng</a:t>
            </a:r>
            <a:r>
              <a:rPr lang="en-US" sz="2800" dirty="0" smtClean="0">
                <a:solidFill>
                  <a:schemeClr val="bg1"/>
                </a:solidFill>
              </a:rPr>
              <a:t> </a:t>
            </a:r>
            <a:r>
              <a:rPr lang="en-US" sz="2800" dirty="0" err="1" smtClean="0">
                <a:solidFill>
                  <a:schemeClr val="bg1"/>
                </a:solidFill>
              </a:rPr>
              <a:t>tuổi</a:t>
            </a:r>
            <a:endParaRPr lang="vi-VN" sz="2800" dirty="0">
              <a:solidFill>
                <a:schemeClr val="bg1"/>
              </a:solidFill>
            </a:endParaRPr>
          </a:p>
        </p:txBody>
      </p:sp>
      <p:sp>
        <p:nvSpPr>
          <p:cNvPr id="3" name="TextBox 2"/>
          <p:cNvSpPr txBox="1"/>
          <p:nvPr/>
        </p:nvSpPr>
        <p:spPr>
          <a:xfrm>
            <a:off x="2845000" y="3802659"/>
            <a:ext cx="3279806" cy="1384995"/>
          </a:xfrm>
          <a:prstGeom prst="rect">
            <a:avLst/>
          </a:prstGeom>
          <a:noFill/>
        </p:spPr>
        <p:txBody>
          <a:bodyPr wrap="square" rtlCol="0">
            <a:spAutoFit/>
          </a:bodyPr>
          <a:lstStyle/>
          <a:p>
            <a:r>
              <a:rPr lang="en-US" sz="2800" dirty="0" err="1" smtClean="0">
                <a:solidFill>
                  <a:schemeClr val="bg1"/>
                </a:solidFill>
              </a:rPr>
              <a:t>Nôn</a:t>
            </a:r>
            <a:r>
              <a:rPr lang="en-US" sz="2800" dirty="0" smtClean="0">
                <a:solidFill>
                  <a:schemeClr val="bg1"/>
                </a:solidFill>
              </a:rPr>
              <a:t> </a:t>
            </a:r>
            <a:r>
              <a:rPr lang="en-US" sz="2800" dirty="0" err="1" smtClean="0">
                <a:solidFill>
                  <a:schemeClr val="bg1"/>
                </a:solidFill>
              </a:rPr>
              <a:t>kéo</a:t>
            </a:r>
            <a:r>
              <a:rPr lang="en-US" sz="2800" dirty="0" smtClean="0">
                <a:solidFill>
                  <a:schemeClr val="bg1"/>
                </a:solidFill>
              </a:rPr>
              <a:t> </a:t>
            </a:r>
            <a:r>
              <a:rPr lang="en-US" sz="2800" dirty="0" err="1" smtClean="0">
                <a:solidFill>
                  <a:schemeClr val="bg1"/>
                </a:solidFill>
              </a:rPr>
              <a:t>dài</a:t>
            </a:r>
            <a:r>
              <a:rPr lang="en-US" sz="2800" dirty="0">
                <a:solidFill>
                  <a:schemeClr val="bg1"/>
                </a:solidFill>
              </a:rPr>
              <a:t> </a:t>
            </a:r>
            <a:endParaRPr lang="en-US" sz="2800" dirty="0" smtClean="0">
              <a:solidFill>
                <a:schemeClr val="bg1"/>
              </a:solidFill>
            </a:endParaRPr>
          </a:p>
          <a:p>
            <a:r>
              <a:rPr lang="en-US" sz="2800" dirty="0" err="1" smtClean="0">
                <a:solidFill>
                  <a:schemeClr val="bg1"/>
                </a:solidFill>
              </a:rPr>
              <a:t>Sụt</a:t>
            </a:r>
            <a:r>
              <a:rPr lang="en-US" sz="2800" dirty="0" smtClean="0">
                <a:solidFill>
                  <a:schemeClr val="bg1"/>
                </a:solidFill>
              </a:rPr>
              <a:t> </a:t>
            </a:r>
            <a:r>
              <a:rPr lang="en-US" sz="2800" dirty="0" err="1" smtClean="0">
                <a:solidFill>
                  <a:schemeClr val="bg1"/>
                </a:solidFill>
              </a:rPr>
              <a:t>cân</a:t>
            </a:r>
            <a:r>
              <a:rPr lang="en-US" sz="2800" dirty="0" smtClean="0">
                <a:solidFill>
                  <a:schemeClr val="bg1"/>
                </a:solidFill>
              </a:rPr>
              <a:t> 300gram</a:t>
            </a:r>
          </a:p>
          <a:p>
            <a:r>
              <a:rPr lang="en-US" sz="2800" dirty="0" err="1" smtClean="0">
                <a:solidFill>
                  <a:schemeClr val="bg1"/>
                </a:solidFill>
              </a:rPr>
              <a:t>Nôn</a:t>
            </a:r>
            <a:r>
              <a:rPr lang="en-US" sz="2800" dirty="0" smtClean="0">
                <a:solidFill>
                  <a:schemeClr val="bg1"/>
                </a:solidFill>
              </a:rPr>
              <a:t> </a:t>
            </a:r>
            <a:r>
              <a:rPr lang="en-US" sz="2800" dirty="0" err="1" smtClean="0">
                <a:solidFill>
                  <a:schemeClr val="bg1"/>
                </a:solidFill>
              </a:rPr>
              <a:t>vọt</a:t>
            </a:r>
            <a:endParaRPr lang="vi-VN" sz="2800" dirty="0">
              <a:solidFill>
                <a:schemeClr val="bg1"/>
              </a:solidFill>
            </a:endParaRPr>
          </a:p>
        </p:txBody>
      </p:sp>
      <p:sp>
        <p:nvSpPr>
          <p:cNvPr id="4" name="TextBox 3"/>
          <p:cNvSpPr txBox="1"/>
          <p:nvPr/>
        </p:nvSpPr>
        <p:spPr>
          <a:xfrm>
            <a:off x="6342793" y="3587215"/>
            <a:ext cx="1825440" cy="1815882"/>
          </a:xfrm>
          <a:prstGeom prst="rect">
            <a:avLst/>
          </a:prstGeom>
          <a:noFill/>
        </p:spPr>
        <p:txBody>
          <a:bodyPr wrap="square" rtlCol="0">
            <a:spAutoFit/>
          </a:bodyPr>
          <a:lstStyle/>
          <a:p>
            <a:r>
              <a:rPr lang="en-US" sz="2800" dirty="0" err="1" smtClean="0">
                <a:solidFill>
                  <a:schemeClr val="bg1"/>
                </a:solidFill>
              </a:rPr>
              <a:t>Mất</a:t>
            </a:r>
            <a:r>
              <a:rPr lang="en-US" sz="2800" dirty="0" smtClean="0">
                <a:solidFill>
                  <a:schemeClr val="bg1"/>
                </a:solidFill>
              </a:rPr>
              <a:t> </a:t>
            </a:r>
            <a:r>
              <a:rPr lang="en-US" sz="2800" dirty="0" err="1" smtClean="0">
                <a:solidFill>
                  <a:schemeClr val="bg1"/>
                </a:solidFill>
              </a:rPr>
              <a:t>nước</a:t>
            </a:r>
            <a:r>
              <a:rPr lang="en-US" sz="2800" dirty="0" smtClean="0">
                <a:solidFill>
                  <a:schemeClr val="bg1"/>
                </a:solidFill>
              </a:rPr>
              <a:t> </a:t>
            </a:r>
            <a:r>
              <a:rPr lang="en-US" sz="2800" dirty="0" err="1" smtClean="0">
                <a:solidFill>
                  <a:schemeClr val="bg1"/>
                </a:solidFill>
              </a:rPr>
              <a:t>nhẹ</a:t>
            </a:r>
            <a:endParaRPr lang="en-US" sz="2800" dirty="0" smtClean="0">
              <a:solidFill>
                <a:schemeClr val="bg1"/>
              </a:solidFill>
            </a:endParaRPr>
          </a:p>
          <a:p>
            <a:r>
              <a:rPr lang="en-US" sz="2800" dirty="0" err="1" smtClean="0">
                <a:solidFill>
                  <a:schemeClr val="bg1"/>
                </a:solidFill>
              </a:rPr>
              <a:t>Rối</a:t>
            </a:r>
            <a:r>
              <a:rPr lang="en-US" sz="2800" dirty="0" smtClean="0">
                <a:solidFill>
                  <a:schemeClr val="bg1"/>
                </a:solidFill>
              </a:rPr>
              <a:t> </a:t>
            </a:r>
            <a:r>
              <a:rPr lang="en-US" sz="2800" dirty="0" err="1" smtClean="0">
                <a:solidFill>
                  <a:schemeClr val="bg1"/>
                </a:solidFill>
              </a:rPr>
              <a:t>loạn</a:t>
            </a:r>
            <a:r>
              <a:rPr lang="en-US" sz="2800" dirty="0" smtClean="0">
                <a:solidFill>
                  <a:schemeClr val="bg1"/>
                </a:solidFill>
              </a:rPr>
              <a:t> </a:t>
            </a:r>
            <a:r>
              <a:rPr lang="en-US" sz="2800" dirty="0" err="1" smtClean="0">
                <a:solidFill>
                  <a:schemeClr val="bg1"/>
                </a:solidFill>
              </a:rPr>
              <a:t>điện</a:t>
            </a:r>
            <a:r>
              <a:rPr lang="en-US" sz="2800" dirty="0" smtClean="0">
                <a:solidFill>
                  <a:schemeClr val="bg1"/>
                </a:solidFill>
              </a:rPr>
              <a:t> </a:t>
            </a:r>
            <a:r>
              <a:rPr lang="en-US" sz="2800" dirty="0" err="1" smtClean="0">
                <a:solidFill>
                  <a:schemeClr val="bg1"/>
                </a:solidFill>
              </a:rPr>
              <a:t>giải</a:t>
            </a:r>
            <a:endParaRPr lang="vi-VN" sz="2800" dirty="0">
              <a:solidFill>
                <a:schemeClr val="bg1"/>
              </a:solidFill>
            </a:endParaRPr>
          </a:p>
        </p:txBody>
      </p:sp>
      <p:sp>
        <p:nvSpPr>
          <p:cNvPr id="5" name="TextBox 4"/>
          <p:cNvSpPr txBox="1"/>
          <p:nvPr/>
        </p:nvSpPr>
        <p:spPr>
          <a:xfrm>
            <a:off x="8865803" y="3628693"/>
            <a:ext cx="3326197" cy="2523768"/>
          </a:xfrm>
          <a:prstGeom prst="rect">
            <a:avLst/>
          </a:prstGeom>
          <a:noFill/>
        </p:spPr>
        <p:txBody>
          <a:bodyPr wrap="square" rtlCol="0">
            <a:spAutoFit/>
          </a:bodyPr>
          <a:lstStyle/>
          <a:p>
            <a:r>
              <a:rPr lang="en-US" sz="2000" dirty="0" err="1" smtClean="0">
                <a:solidFill>
                  <a:srgbClr val="FF0000"/>
                </a:solidFill>
              </a:rPr>
              <a:t>Nôn</a:t>
            </a:r>
            <a:r>
              <a:rPr lang="en-US" sz="2000" dirty="0" smtClean="0">
                <a:solidFill>
                  <a:srgbClr val="FF0000"/>
                </a:solidFill>
              </a:rPr>
              <a:t> </a:t>
            </a:r>
            <a:r>
              <a:rPr lang="en-US" sz="2000" dirty="0" err="1" smtClean="0">
                <a:solidFill>
                  <a:srgbClr val="FF0000"/>
                </a:solidFill>
              </a:rPr>
              <a:t>không</a:t>
            </a:r>
            <a:r>
              <a:rPr lang="en-US" sz="2000" dirty="0" smtClean="0">
                <a:solidFill>
                  <a:srgbClr val="FF0000"/>
                </a:solidFill>
              </a:rPr>
              <a:t> </a:t>
            </a:r>
            <a:r>
              <a:rPr lang="en-US" sz="2000" dirty="0" err="1" smtClean="0">
                <a:solidFill>
                  <a:srgbClr val="FF0000"/>
                </a:solidFill>
              </a:rPr>
              <a:t>có</a:t>
            </a:r>
            <a:r>
              <a:rPr lang="en-US" sz="2000" dirty="0" smtClean="0">
                <a:solidFill>
                  <a:srgbClr val="FF0000"/>
                </a:solidFill>
              </a:rPr>
              <a:t> </a:t>
            </a:r>
            <a:r>
              <a:rPr lang="en-US" sz="2000" dirty="0" err="1" smtClean="0">
                <a:solidFill>
                  <a:srgbClr val="FF0000"/>
                </a:solidFill>
              </a:rPr>
              <a:t>dịch</a:t>
            </a:r>
            <a:r>
              <a:rPr lang="en-US" sz="2000" dirty="0" smtClean="0">
                <a:solidFill>
                  <a:srgbClr val="FF0000"/>
                </a:solidFill>
              </a:rPr>
              <a:t> </a:t>
            </a:r>
            <a:r>
              <a:rPr lang="en-US" sz="2000" dirty="0" err="1" smtClean="0">
                <a:solidFill>
                  <a:srgbClr val="FF0000"/>
                </a:solidFill>
              </a:rPr>
              <a:t>mật</a:t>
            </a:r>
            <a:endParaRPr lang="en-US" sz="2000" dirty="0" smtClean="0">
              <a:solidFill>
                <a:srgbClr val="FF0000"/>
              </a:solidFill>
            </a:endParaRPr>
          </a:p>
          <a:p>
            <a:r>
              <a:rPr lang="en-US" sz="2000" dirty="0" err="1" smtClean="0">
                <a:solidFill>
                  <a:srgbClr val="FF0000"/>
                </a:solidFill>
              </a:rPr>
              <a:t>Không</a:t>
            </a:r>
            <a:r>
              <a:rPr lang="en-US" sz="2000" dirty="0" smtClean="0">
                <a:solidFill>
                  <a:srgbClr val="FF0000"/>
                </a:solidFill>
              </a:rPr>
              <a:t> </a:t>
            </a:r>
            <a:r>
              <a:rPr lang="en-US" sz="2000" dirty="0" err="1" smtClean="0">
                <a:solidFill>
                  <a:srgbClr val="FF0000"/>
                </a:solidFill>
              </a:rPr>
              <a:t>đi</a:t>
            </a:r>
            <a:r>
              <a:rPr lang="en-US" sz="2000" dirty="0" smtClean="0">
                <a:solidFill>
                  <a:srgbClr val="FF0000"/>
                </a:solidFill>
              </a:rPr>
              <a:t> </a:t>
            </a:r>
            <a:r>
              <a:rPr lang="en-US" sz="2000" dirty="0" err="1" smtClean="0">
                <a:solidFill>
                  <a:srgbClr val="FF0000"/>
                </a:solidFill>
              </a:rPr>
              <a:t>ngoài</a:t>
            </a:r>
            <a:r>
              <a:rPr lang="en-US" sz="2000" dirty="0" smtClean="0">
                <a:solidFill>
                  <a:srgbClr val="FF0000"/>
                </a:solidFill>
              </a:rPr>
              <a:t> </a:t>
            </a:r>
            <a:r>
              <a:rPr lang="en-US" sz="2000" dirty="0" err="1" smtClean="0">
                <a:solidFill>
                  <a:srgbClr val="FF0000"/>
                </a:solidFill>
              </a:rPr>
              <a:t>phân</a:t>
            </a:r>
            <a:r>
              <a:rPr lang="en-US" sz="2000" dirty="0" smtClean="0">
                <a:solidFill>
                  <a:srgbClr val="FF0000"/>
                </a:solidFill>
              </a:rPr>
              <a:t> </a:t>
            </a:r>
            <a:r>
              <a:rPr lang="en-US" sz="2000" dirty="0" err="1" smtClean="0">
                <a:solidFill>
                  <a:srgbClr val="FF0000"/>
                </a:solidFill>
              </a:rPr>
              <a:t>lỏng</a:t>
            </a:r>
            <a:endParaRPr lang="en-US" sz="2000" dirty="0" smtClean="0">
              <a:solidFill>
                <a:srgbClr val="FF0000"/>
              </a:solidFill>
            </a:endParaRPr>
          </a:p>
          <a:p>
            <a:r>
              <a:rPr lang="en-US" sz="2000" dirty="0" err="1" smtClean="0">
                <a:solidFill>
                  <a:srgbClr val="FF0000"/>
                </a:solidFill>
              </a:rPr>
              <a:t>Nhiễm</a:t>
            </a:r>
            <a:r>
              <a:rPr lang="en-US" sz="2000" dirty="0" smtClean="0">
                <a:solidFill>
                  <a:srgbClr val="FF0000"/>
                </a:solidFill>
              </a:rPr>
              <a:t> </a:t>
            </a:r>
            <a:r>
              <a:rPr lang="en-US" sz="2000" dirty="0" err="1" smtClean="0">
                <a:solidFill>
                  <a:srgbClr val="FF0000"/>
                </a:solidFill>
              </a:rPr>
              <a:t>kiềm,hạ</a:t>
            </a:r>
            <a:r>
              <a:rPr lang="en-US" sz="2000" dirty="0" smtClean="0">
                <a:solidFill>
                  <a:srgbClr val="FF0000"/>
                </a:solidFill>
              </a:rPr>
              <a:t> </a:t>
            </a:r>
            <a:r>
              <a:rPr lang="en-US" sz="2000" dirty="0" err="1" smtClean="0">
                <a:solidFill>
                  <a:srgbClr val="FF0000"/>
                </a:solidFill>
              </a:rPr>
              <a:t>clo</a:t>
            </a:r>
            <a:r>
              <a:rPr lang="en-US" sz="2000" dirty="0" smtClean="0">
                <a:solidFill>
                  <a:srgbClr val="FF0000"/>
                </a:solidFill>
              </a:rPr>
              <a:t> </a:t>
            </a:r>
            <a:r>
              <a:rPr lang="en-US" sz="2000" dirty="0" err="1" smtClean="0">
                <a:solidFill>
                  <a:srgbClr val="FF0000"/>
                </a:solidFill>
              </a:rPr>
              <a:t>máu,hạ</a:t>
            </a:r>
            <a:r>
              <a:rPr lang="en-US" sz="2000" dirty="0" smtClean="0">
                <a:solidFill>
                  <a:srgbClr val="FF0000"/>
                </a:solidFill>
              </a:rPr>
              <a:t> kali </a:t>
            </a:r>
          </a:p>
          <a:p>
            <a:r>
              <a:rPr lang="en-US" sz="2000" dirty="0" err="1" smtClean="0">
                <a:solidFill>
                  <a:srgbClr val="FF0000"/>
                </a:solidFill>
              </a:rPr>
              <a:t>Không</a:t>
            </a:r>
            <a:r>
              <a:rPr lang="en-US" sz="2000" dirty="0" smtClean="0">
                <a:solidFill>
                  <a:srgbClr val="FF0000"/>
                </a:solidFill>
              </a:rPr>
              <a:t> </a:t>
            </a:r>
            <a:r>
              <a:rPr lang="en-US" sz="2000" dirty="0" err="1" smtClean="0">
                <a:solidFill>
                  <a:srgbClr val="FF0000"/>
                </a:solidFill>
              </a:rPr>
              <a:t>khối</a:t>
            </a:r>
            <a:r>
              <a:rPr lang="en-US" sz="2000" dirty="0" smtClean="0">
                <a:solidFill>
                  <a:srgbClr val="FF0000"/>
                </a:solidFill>
              </a:rPr>
              <a:t> u </a:t>
            </a:r>
            <a:r>
              <a:rPr lang="en-US" sz="2000" dirty="0" err="1" smtClean="0">
                <a:solidFill>
                  <a:srgbClr val="FF0000"/>
                </a:solidFill>
              </a:rPr>
              <a:t>cục</a:t>
            </a:r>
            <a:r>
              <a:rPr lang="en-US" sz="2000" dirty="0" smtClean="0">
                <a:solidFill>
                  <a:srgbClr val="FF0000"/>
                </a:solidFill>
              </a:rPr>
              <a:t> ổ </a:t>
            </a:r>
            <a:r>
              <a:rPr lang="en-US" sz="2000" dirty="0" err="1" smtClean="0">
                <a:solidFill>
                  <a:srgbClr val="FF0000"/>
                </a:solidFill>
              </a:rPr>
              <a:t>bụng</a:t>
            </a:r>
            <a:endParaRPr lang="en-US" sz="2000" dirty="0" smtClean="0">
              <a:solidFill>
                <a:srgbClr val="FF0000"/>
              </a:solidFill>
            </a:endParaRPr>
          </a:p>
          <a:p>
            <a:r>
              <a:rPr lang="en-US" sz="2000" dirty="0" err="1" smtClean="0">
                <a:solidFill>
                  <a:srgbClr val="FF0000"/>
                </a:solidFill>
              </a:rPr>
              <a:t>Ure</a:t>
            </a:r>
            <a:r>
              <a:rPr lang="en-US" sz="2000" dirty="0" smtClean="0">
                <a:solidFill>
                  <a:srgbClr val="FF0000"/>
                </a:solidFill>
              </a:rPr>
              <a:t> vs </a:t>
            </a:r>
            <a:r>
              <a:rPr lang="en-US" sz="2000" dirty="0" err="1" smtClean="0">
                <a:solidFill>
                  <a:srgbClr val="FF0000"/>
                </a:solidFill>
              </a:rPr>
              <a:t>cre</a:t>
            </a:r>
            <a:r>
              <a:rPr lang="en-US" sz="2000" dirty="0" smtClean="0">
                <a:solidFill>
                  <a:srgbClr val="FF0000"/>
                </a:solidFill>
              </a:rPr>
              <a:t> </a:t>
            </a:r>
            <a:r>
              <a:rPr lang="en-US" sz="2000" dirty="0" err="1" smtClean="0">
                <a:solidFill>
                  <a:srgbClr val="FF0000"/>
                </a:solidFill>
              </a:rPr>
              <a:t>tăng</a:t>
            </a:r>
            <a:r>
              <a:rPr lang="en-US" sz="2000" dirty="0" smtClean="0">
                <a:solidFill>
                  <a:srgbClr val="FF0000"/>
                </a:solidFill>
              </a:rPr>
              <a:t> </a:t>
            </a:r>
            <a:r>
              <a:rPr lang="en-US" sz="2000" dirty="0" err="1" smtClean="0">
                <a:solidFill>
                  <a:srgbClr val="FF0000"/>
                </a:solidFill>
              </a:rPr>
              <a:t>nhẹ</a:t>
            </a:r>
            <a:endParaRPr lang="en-US" sz="2000" dirty="0" smtClean="0">
              <a:solidFill>
                <a:srgbClr val="FF0000"/>
              </a:solidFill>
            </a:endParaRPr>
          </a:p>
          <a:p>
            <a:r>
              <a:rPr lang="en-US" sz="2000" dirty="0" err="1" smtClean="0">
                <a:solidFill>
                  <a:srgbClr val="FF0000"/>
                </a:solidFill>
              </a:rPr>
              <a:t>Nước</a:t>
            </a:r>
            <a:r>
              <a:rPr lang="en-US" sz="2000" dirty="0" smtClean="0">
                <a:solidFill>
                  <a:srgbClr val="FF0000"/>
                </a:solidFill>
              </a:rPr>
              <a:t> </a:t>
            </a:r>
            <a:r>
              <a:rPr lang="en-US" sz="2000" dirty="0" err="1" smtClean="0">
                <a:solidFill>
                  <a:srgbClr val="FF0000"/>
                </a:solidFill>
              </a:rPr>
              <a:t>tiểu</a:t>
            </a:r>
            <a:r>
              <a:rPr lang="en-US" sz="2000" dirty="0" smtClean="0">
                <a:solidFill>
                  <a:srgbClr val="FF0000"/>
                </a:solidFill>
              </a:rPr>
              <a:t> </a:t>
            </a:r>
            <a:r>
              <a:rPr lang="en-US" sz="2000" dirty="0" err="1" smtClean="0">
                <a:solidFill>
                  <a:srgbClr val="FF0000"/>
                </a:solidFill>
              </a:rPr>
              <a:t>bình</a:t>
            </a:r>
            <a:r>
              <a:rPr lang="en-US" sz="2000" dirty="0" smtClean="0">
                <a:solidFill>
                  <a:srgbClr val="FF0000"/>
                </a:solidFill>
              </a:rPr>
              <a:t> </a:t>
            </a:r>
            <a:r>
              <a:rPr lang="en-US" sz="2000" dirty="0" err="1" smtClean="0">
                <a:solidFill>
                  <a:srgbClr val="FF0000"/>
                </a:solidFill>
              </a:rPr>
              <a:t>thường</a:t>
            </a:r>
            <a:endParaRPr lang="en-US" sz="2000" dirty="0" smtClean="0">
              <a:solidFill>
                <a:srgbClr val="FF0000"/>
              </a:solidFill>
            </a:endParaRPr>
          </a:p>
          <a:p>
            <a:endParaRPr lang="vi-VN" dirty="0">
              <a:solidFill>
                <a:srgbClr val="FF0000"/>
              </a:solidFill>
            </a:endParaRPr>
          </a:p>
        </p:txBody>
      </p:sp>
    </p:spTree>
    <p:extLst>
      <p:ext uri="{BB962C8B-B14F-4D97-AF65-F5344CB8AC3E}">
        <p14:creationId xmlns:p14="http://schemas.microsoft.com/office/powerpoint/2010/main" val="1433379624"/>
      </p:ext>
    </p:extLst>
  </p:cSld>
  <p:clrMapOvr>
    <a:masterClrMapping/>
  </p:clrMapOvr>
  <p:transition spd="slow">
    <p:push dir="u"/>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78854"/>
                                        </p:tgtEl>
                                        <p:attrNameLst>
                                          <p:attrName>style.visibility</p:attrName>
                                        </p:attrNameLst>
                                      </p:cBhvr>
                                      <p:to>
                                        <p:strVal val="visible"/>
                                      </p:to>
                                    </p:set>
                                    <p:anim calcmode="lin" valueType="num">
                                      <p:cBhvr>
                                        <p:cTn id="7" dur="1000" fill="hold"/>
                                        <p:tgtEl>
                                          <p:spTgt spid="78854"/>
                                        </p:tgtEl>
                                        <p:attrNameLst>
                                          <p:attrName>ppt_w</p:attrName>
                                        </p:attrNameLst>
                                      </p:cBhvr>
                                      <p:tavLst>
                                        <p:tav tm="0">
                                          <p:val>
                                            <p:fltVal val="0"/>
                                          </p:val>
                                        </p:tav>
                                        <p:tav tm="100000">
                                          <p:val>
                                            <p:strVal val="#ppt_w"/>
                                          </p:val>
                                        </p:tav>
                                      </p:tavLst>
                                    </p:anim>
                                    <p:anim calcmode="lin" valueType="num">
                                      <p:cBhvr>
                                        <p:cTn id="8" dur="1000" fill="hold"/>
                                        <p:tgtEl>
                                          <p:spTgt spid="78854"/>
                                        </p:tgtEl>
                                        <p:attrNameLst>
                                          <p:attrName>ppt_h</p:attrName>
                                        </p:attrNameLst>
                                      </p:cBhvr>
                                      <p:tavLst>
                                        <p:tav tm="0">
                                          <p:val>
                                            <p:fltVal val="0"/>
                                          </p:val>
                                        </p:tav>
                                        <p:tav tm="100000">
                                          <p:val>
                                            <p:strVal val="#ppt_h"/>
                                          </p:val>
                                        </p:tav>
                                      </p:tavLst>
                                    </p:anim>
                                    <p:anim calcmode="lin" valueType="num">
                                      <p:cBhvr>
                                        <p:cTn id="9" dur="1000" fill="hold"/>
                                        <p:tgtEl>
                                          <p:spTgt spid="78854"/>
                                        </p:tgtEl>
                                        <p:attrNameLst>
                                          <p:attrName>style.rotation</p:attrName>
                                        </p:attrNameLst>
                                      </p:cBhvr>
                                      <p:tavLst>
                                        <p:tav tm="0">
                                          <p:val>
                                            <p:fltVal val="90"/>
                                          </p:val>
                                        </p:tav>
                                        <p:tav tm="100000">
                                          <p:val>
                                            <p:fltVal val="0"/>
                                          </p:val>
                                        </p:tav>
                                      </p:tavLst>
                                    </p:anim>
                                    <p:animEffect transition="in" filter="fade">
                                      <p:cBhvr>
                                        <p:cTn id="10" dur="1000"/>
                                        <p:tgtEl>
                                          <p:spTgt spid="78854"/>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78853"/>
                                        </p:tgtEl>
                                        <p:attrNameLst>
                                          <p:attrName>style.visibility</p:attrName>
                                        </p:attrNameLst>
                                      </p:cBhvr>
                                      <p:to>
                                        <p:strVal val="visible"/>
                                      </p:to>
                                    </p:set>
                                    <p:anim calcmode="lin" valueType="num">
                                      <p:cBhvr>
                                        <p:cTn id="15" dur="1000" fill="hold"/>
                                        <p:tgtEl>
                                          <p:spTgt spid="78853"/>
                                        </p:tgtEl>
                                        <p:attrNameLst>
                                          <p:attrName>ppt_w</p:attrName>
                                        </p:attrNameLst>
                                      </p:cBhvr>
                                      <p:tavLst>
                                        <p:tav tm="0">
                                          <p:val>
                                            <p:fltVal val="0"/>
                                          </p:val>
                                        </p:tav>
                                        <p:tav tm="100000">
                                          <p:val>
                                            <p:strVal val="#ppt_w"/>
                                          </p:val>
                                        </p:tav>
                                      </p:tavLst>
                                    </p:anim>
                                    <p:anim calcmode="lin" valueType="num">
                                      <p:cBhvr>
                                        <p:cTn id="16" dur="1000" fill="hold"/>
                                        <p:tgtEl>
                                          <p:spTgt spid="78853"/>
                                        </p:tgtEl>
                                        <p:attrNameLst>
                                          <p:attrName>ppt_h</p:attrName>
                                        </p:attrNameLst>
                                      </p:cBhvr>
                                      <p:tavLst>
                                        <p:tav tm="0">
                                          <p:val>
                                            <p:fltVal val="0"/>
                                          </p:val>
                                        </p:tav>
                                        <p:tav tm="100000">
                                          <p:val>
                                            <p:strVal val="#ppt_h"/>
                                          </p:val>
                                        </p:tav>
                                      </p:tavLst>
                                    </p:anim>
                                    <p:anim calcmode="lin" valueType="num">
                                      <p:cBhvr>
                                        <p:cTn id="17" dur="1000" fill="hold"/>
                                        <p:tgtEl>
                                          <p:spTgt spid="78853"/>
                                        </p:tgtEl>
                                        <p:attrNameLst>
                                          <p:attrName>style.rotation</p:attrName>
                                        </p:attrNameLst>
                                      </p:cBhvr>
                                      <p:tavLst>
                                        <p:tav tm="0">
                                          <p:val>
                                            <p:fltVal val="90"/>
                                          </p:val>
                                        </p:tav>
                                        <p:tav tm="100000">
                                          <p:val>
                                            <p:fltVal val="0"/>
                                          </p:val>
                                        </p:tav>
                                      </p:tavLst>
                                    </p:anim>
                                    <p:animEffect transition="in" filter="fade">
                                      <p:cBhvr>
                                        <p:cTn id="18" dur="1000"/>
                                        <p:tgtEl>
                                          <p:spTgt spid="7885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fade">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grpId="0" nodeType="clickEffect">
                                  <p:stCondLst>
                                    <p:cond delay="0"/>
                                  </p:stCondLst>
                                  <p:childTnLst>
                                    <p:set>
                                      <p:cBhvr>
                                        <p:cTn id="27" dur="1" fill="hold">
                                          <p:stCondLst>
                                            <p:cond delay="0"/>
                                          </p:stCondLst>
                                        </p:cTn>
                                        <p:tgtEl>
                                          <p:spTgt spid="78855"/>
                                        </p:tgtEl>
                                        <p:attrNameLst>
                                          <p:attrName>style.visibility</p:attrName>
                                        </p:attrNameLst>
                                      </p:cBhvr>
                                      <p:to>
                                        <p:strVal val="visible"/>
                                      </p:to>
                                    </p:set>
                                    <p:anim calcmode="lin" valueType="num">
                                      <p:cBhvr>
                                        <p:cTn id="28" dur="1000" fill="hold"/>
                                        <p:tgtEl>
                                          <p:spTgt spid="78855"/>
                                        </p:tgtEl>
                                        <p:attrNameLst>
                                          <p:attrName>ppt_w</p:attrName>
                                        </p:attrNameLst>
                                      </p:cBhvr>
                                      <p:tavLst>
                                        <p:tav tm="0">
                                          <p:val>
                                            <p:fltVal val="0"/>
                                          </p:val>
                                        </p:tav>
                                        <p:tav tm="100000">
                                          <p:val>
                                            <p:strVal val="#ppt_w"/>
                                          </p:val>
                                        </p:tav>
                                      </p:tavLst>
                                    </p:anim>
                                    <p:anim calcmode="lin" valueType="num">
                                      <p:cBhvr>
                                        <p:cTn id="29" dur="1000" fill="hold"/>
                                        <p:tgtEl>
                                          <p:spTgt spid="78855"/>
                                        </p:tgtEl>
                                        <p:attrNameLst>
                                          <p:attrName>ppt_h</p:attrName>
                                        </p:attrNameLst>
                                      </p:cBhvr>
                                      <p:tavLst>
                                        <p:tav tm="0">
                                          <p:val>
                                            <p:fltVal val="0"/>
                                          </p:val>
                                        </p:tav>
                                        <p:tav tm="100000">
                                          <p:val>
                                            <p:strVal val="#ppt_h"/>
                                          </p:val>
                                        </p:tav>
                                      </p:tavLst>
                                    </p:anim>
                                    <p:anim calcmode="lin" valueType="num">
                                      <p:cBhvr>
                                        <p:cTn id="30" dur="1000" fill="hold"/>
                                        <p:tgtEl>
                                          <p:spTgt spid="78855"/>
                                        </p:tgtEl>
                                        <p:attrNameLst>
                                          <p:attrName>style.rotation</p:attrName>
                                        </p:attrNameLst>
                                      </p:cBhvr>
                                      <p:tavLst>
                                        <p:tav tm="0">
                                          <p:val>
                                            <p:fltVal val="90"/>
                                          </p:val>
                                        </p:tav>
                                        <p:tav tm="100000">
                                          <p:val>
                                            <p:fltVal val="0"/>
                                          </p:val>
                                        </p:tav>
                                      </p:tavLst>
                                    </p:anim>
                                    <p:animEffect transition="in" filter="fade">
                                      <p:cBhvr>
                                        <p:cTn id="31" dur="1000"/>
                                        <p:tgtEl>
                                          <p:spTgt spid="78855"/>
                                        </p:tgtEl>
                                      </p:cBhvr>
                                    </p:animEffect>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grpId="0" nodeType="clickEffect">
                                  <p:stCondLst>
                                    <p:cond delay="0"/>
                                  </p:stCondLst>
                                  <p:childTnLst>
                                    <p:set>
                                      <p:cBhvr>
                                        <p:cTn id="35" dur="1" fill="hold">
                                          <p:stCondLst>
                                            <p:cond delay="0"/>
                                          </p:stCondLst>
                                        </p:cTn>
                                        <p:tgtEl>
                                          <p:spTgt spid="78852"/>
                                        </p:tgtEl>
                                        <p:attrNameLst>
                                          <p:attrName>style.visibility</p:attrName>
                                        </p:attrNameLst>
                                      </p:cBhvr>
                                      <p:to>
                                        <p:strVal val="visible"/>
                                      </p:to>
                                    </p:set>
                                    <p:anim calcmode="lin" valueType="num">
                                      <p:cBhvr>
                                        <p:cTn id="36" dur="1000" fill="hold"/>
                                        <p:tgtEl>
                                          <p:spTgt spid="78852"/>
                                        </p:tgtEl>
                                        <p:attrNameLst>
                                          <p:attrName>ppt_w</p:attrName>
                                        </p:attrNameLst>
                                      </p:cBhvr>
                                      <p:tavLst>
                                        <p:tav tm="0">
                                          <p:val>
                                            <p:fltVal val="0"/>
                                          </p:val>
                                        </p:tav>
                                        <p:tav tm="100000">
                                          <p:val>
                                            <p:strVal val="#ppt_w"/>
                                          </p:val>
                                        </p:tav>
                                      </p:tavLst>
                                    </p:anim>
                                    <p:anim calcmode="lin" valueType="num">
                                      <p:cBhvr>
                                        <p:cTn id="37" dur="1000" fill="hold"/>
                                        <p:tgtEl>
                                          <p:spTgt spid="78852"/>
                                        </p:tgtEl>
                                        <p:attrNameLst>
                                          <p:attrName>ppt_h</p:attrName>
                                        </p:attrNameLst>
                                      </p:cBhvr>
                                      <p:tavLst>
                                        <p:tav tm="0">
                                          <p:val>
                                            <p:fltVal val="0"/>
                                          </p:val>
                                        </p:tav>
                                        <p:tav tm="100000">
                                          <p:val>
                                            <p:strVal val="#ppt_h"/>
                                          </p:val>
                                        </p:tav>
                                      </p:tavLst>
                                    </p:anim>
                                    <p:anim calcmode="lin" valueType="num">
                                      <p:cBhvr>
                                        <p:cTn id="38" dur="1000" fill="hold"/>
                                        <p:tgtEl>
                                          <p:spTgt spid="78852"/>
                                        </p:tgtEl>
                                        <p:attrNameLst>
                                          <p:attrName>style.rotation</p:attrName>
                                        </p:attrNameLst>
                                      </p:cBhvr>
                                      <p:tavLst>
                                        <p:tav tm="0">
                                          <p:val>
                                            <p:fltVal val="90"/>
                                          </p:val>
                                        </p:tav>
                                        <p:tav tm="100000">
                                          <p:val>
                                            <p:fltVal val="0"/>
                                          </p:val>
                                        </p:tav>
                                      </p:tavLst>
                                    </p:anim>
                                    <p:animEffect transition="in" filter="fade">
                                      <p:cBhvr>
                                        <p:cTn id="39" dur="1000"/>
                                        <p:tgtEl>
                                          <p:spTgt spid="7885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
                                        </p:tgtEl>
                                        <p:attrNameLst>
                                          <p:attrName>style.visibility</p:attrName>
                                        </p:attrNameLst>
                                      </p:cBhvr>
                                      <p:to>
                                        <p:strVal val="visible"/>
                                      </p:to>
                                    </p:set>
                                    <p:animEffect transition="in" filter="fade">
                                      <p:cBhvr>
                                        <p:cTn id="44" dur="500"/>
                                        <p:tgtEl>
                                          <p:spTgt spid="3"/>
                                        </p:tgtEl>
                                      </p:cBhvr>
                                    </p:animEffect>
                                  </p:childTnLst>
                                </p:cTn>
                              </p:par>
                            </p:childTnLst>
                          </p:cTn>
                        </p:par>
                      </p:childTnLst>
                    </p:cTn>
                  </p:par>
                  <p:par>
                    <p:cTn id="45" fill="hold">
                      <p:stCondLst>
                        <p:cond delay="indefinite"/>
                      </p:stCondLst>
                      <p:childTnLst>
                        <p:par>
                          <p:cTn id="46" fill="hold">
                            <p:stCondLst>
                              <p:cond delay="0"/>
                            </p:stCondLst>
                            <p:childTnLst>
                              <p:par>
                                <p:cTn id="47" presetID="31" presetClass="entr" presetSubtype="0" fill="hold" grpId="0" nodeType="clickEffect">
                                  <p:stCondLst>
                                    <p:cond delay="0"/>
                                  </p:stCondLst>
                                  <p:childTnLst>
                                    <p:set>
                                      <p:cBhvr>
                                        <p:cTn id="48" dur="1" fill="hold">
                                          <p:stCondLst>
                                            <p:cond delay="0"/>
                                          </p:stCondLst>
                                        </p:cTn>
                                        <p:tgtEl>
                                          <p:spTgt spid="78856"/>
                                        </p:tgtEl>
                                        <p:attrNameLst>
                                          <p:attrName>style.visibility</p:attrName>
                                        </p:attrNameLst>
                                      </p:cBhvr>
                                      <p:to>
                                        <p:strVal val="visible"/>
                                      </p:to>
                                    </p:set>
                                    <p:anim calcmode="lin" valueType="num">
                                      <p:cBhvr>
                                        <p:cTn id="49" dur="1000" fill="hold"/>
                                        <p:tgtEl>
                                          <p:spTgt spid="78856"/>
                                        </p:tgtEl>
                                        <p:attrNameLst>
                                          <p:attrName>ppt_w</p:attrName>
                                        </p:attrNameLst>
                                      </p:cBhvr>
                                      <p:tavLst>
                                        <p:tav tm="0">
                                          <p:val>
                                            <p:fltVal val="0"/>
                                          </p:val>
                                        </p:tav>
                                        <p:tav tm="100000">
                                          <p:val>
                                            <p:strVal val="#ppt_w"/>
                                          </p:val>
                                        </p:tav>
                                      </p:tavLst>
                                    </p:anim>
                                    <p:anim calcmode="lin" valueType="num">
                                      <p:cBhvr>
                                        <p:cTn id="50" dur="1000" fill="hold"/>
                                        <p:tgtEl>
                                          <p:spTgt spid="78856"/>
                                        </p:tgtEl>
                                        <p:attrNameLst>
                                          <p:attrName>ppt_h</p:attrName>
                                        </p:attrNameLst>
                                      </p:cBhvr>
                                      <p:tavLst>
                                        <p:tav tm="0">
                                          <p:val>
                                            <p:fltVal val="0"/>
                                          </p:val>
                                        </p:tav>
                                        <p:tav tm="100000">
                                          <p:val>
                                            <p:strVal val="#ppt_h"/>
                                          </p:val>
                                        </p:tav>
                                      </p:tavLst>
                                    </p:anim>
                                    <p:anim calcmode="lin" valueType="num">
                                      <p:cBhvr>
                                        <p:cTn id="51" dur="1000" fill="hold"/>
                                        <p:tgtEl>
                                          <p:spTgt spid="78856"/>
                                        </p:tgtEl>
                                        <p:attrNameLst>
                                          <p:attrName>style.rotation</p:attrName>
                                        </p:attrNameLst>
                                      </p:cBhvr>
                                      <p:tavLst>
                                        <p:tav tm="0">
                                          <p:val>
                                            <p:fltVal val="90"/>
                                          </p:val>
                                        </p:tav>
                                        <p:tav tm="100000">
                                          <p:val>
                                            <p:fltVal val="0"/>
                                          </p:val>
                                        </p:tav>
                                      </p:tavLst>
                                    </p:anim>
                                    <p:animEffect transition="in" filter="fade">
                                      <p:cBhvr>
                                        <p:cTn id="52" dur="1000"/>
                                        <p:tgtEl>
                                          <p:spTgt spid="78856"/>
                                        </p:tgtEl>
                                      </p:cBhvr>
                                    </p:animEffect>
                                  </p:childTnLst>
                                </p:cTn>
                              </p:par>
                            </p:childTnLst>
                          </p:cTn>
                        </p:par>
                      </p:childTnLst>
                    </p:cTn>
                  </p:par>
                  <p:par>
                    <p:cTn id="53" fill="hold">
                      <p:stCondLst>
                        <p:cond delay="indefinite"/>
                      </p:stCondLst>
                      <p:childTnLst>
                        <p:par>
                          <p:cTn id="54" fill="hold">
                            <p:stCondLst>
                              <p:cond delay="0"/>
                            </p:stCondLst>
                            <p:childTnLst>
                              <p:par>
                                <p:cTn id="55" presetID="31" presetClass="entr" presetSubtype="0" fill="hold" grpId="0" nodeType="clickEffect">
                                  <p:stCondLst>
                                    <p:cond delay="0"/>
                                  </p:stCondLst>
                                  <p:childTnLst>
                                    <p:set>
                                      <p:cBhvr>
                                        <p:cTn id="56" dur="1" fill="hold">
                                          <p:stCondLst>
                                            <p:cond delay="0"/>
                                          </p:stCondLst>
                                        </p:cTn>
                                        <p:tgtEl>
                                          <p:spTgt spid="78851"/>
                                        </p:tgtEl>
                                        <p:attrNameLst>
                                          <p:attrName>style.visibility</p:attrName>
                                        </p:attrNameLst>
                                      </p:cBhvr>
                                      <p:to>
                                        <p:strVal val="visible"/>
                                      </p:to>
                                    </p:set>
                                    <p:anim calcmode="lin" valueType="num">
                                      <p:cBhvr>
                                        <p:cTn id="57" dur="1000" fill="hold"/>
                                        <p:tgtEl>
                                          <p:spTgt spid="78851"/>
                                        </p:tgtEl>
                                        <p:attrNameLst>
                                          <p:attrName>ppt_w</p:attrName>
                                        </p:attrNameLst>
                                      </p:cBhvr>
                                      <p:tavLst>
                                        <p:tav tm="0">
                                          <p:val>
                                            <p:fltVal val="0"/>
                                          </p:val>
                                        </p:tav>
                                        <p:tav tm="100000">
                                          <p:val>
                                            <p:strVal val="#ppt_w"/>
                                          </p:val>
                                        </p:tav>
                                      </p:tavLst>
                                    </p:anim>
                                    <p:anim calcmode="lin" valueType="num">
                                      <p:cBhvr>
                                        <p:cTn id="58" dur="1000" fill="hold"/>
                                        <p:tgtEl>
                                          <p:spTgt spid="78851"/>
                                        </p:tgtEl>
                                        <p:attrNameLst>
                                          <p:attrName>ppt_h</p:attrName>
                                        </p:attrNameLst>
                                      </p:cBhvr>
                                      <p:tavLst>
                                        <p:tav tm="0">
                                          <p:val>
                                            <p:fltVal val="0"/>
                                          </p:val>
                                        </p:tav>
                                        <p:tav tm="100000">
                                          <p:val>
                                            <p:strVal val="#ppt_h"/>
                                          </p:val>
                                        </p:tav>
                                      </p:tavLst>
                                    </p:anim>
                                    <p:anim calcmode="lin" valueType="num">
                                      <p:cBhvr>
                                        <p:cTn id="59" dur="1000" fill="hold"/>
                                        <p:tgtEl>
                                          <p:spTgt spid="78851"/>
                                        </p:tgtEl>
                                        <p:attrNameLst>
                                          <p:attrName>style.rotation</p:attrName>
                                        </p:attrNameLst>
                                      </p:cBhvr>
                                      <p:tavLst>
                                        <p:tav tm="0">
                                          <p:val>
                                            <p:fltVal val="90"/>
                                          </p:val>
                                        </p:tav>
                                        <p:tav tm="100000">
                                          <p:val>
                                            <p:fltVal val="0"/>
                                          </p:val>
                                        </p:tav>
                                      </p:tavLst>
                                    </p:anim>
                                    <p:animEffect transition="in" filter="fade">
                                      <p:cBhvr>
                                        <p:cTn id="60" dur="1000"/>
                                        <p:tgtEl>
                                          <p:spTgt spid="78851"/>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4"/>
                                        </p:tgtEl>
                                        <p:attrNameLst>
                                          <p:attrName>style.visibility</p:attrName>
                                        </p:attrNameLst>
                                      </p:cBhvr>
                                      <p:to>
                                        <p:strVal val="visible"/>
                                      </p:to>
                                    </p:set>
                                    <p:animEffect transition="in" filter="fade">
                                      <p:cBhvr>
                                        <p:cTn id="65" dur="500"/>
                                        <p:tgtEl>
                                          <p:spTgt spid="4"/>
                                        </p:tgtEl>
                                      </p:cBhvr>
                                    </p:animEffect>
                                  </p:childTnLst>
                                </p:cTn>
                              </p:par>
                            </p:childTnLst>
                          </p:cTn>
                        </p:par>
                      </p:childTnLst>
                    </p:cTn>
                  </p:par>
                  <p:par>
                    <p:cTn id="66" fill="hold">
                      <p:stCondLst>
                        <p:cond delay="indefinite"/>
                      </p:stCondLst>
                      <p:childTnLst>
                        <p:par>
                          <p:cTn id="67" fill="hold">
                            <p:stCondLst>
                              <p:cond delay="0"/>
                            </p:stCondLst>
                            <p:childTnLst>
                              <p:par>
                                <p:cTn id="68" presetID="31" presetClass="entr" presetSubtype="0" fill="hold" grpId="0" nodeType="clickEffect">
                                  <p:stCondLst>
                                    <p:cond delay="0"/>
                                  </p:stCondLst>
                                  <p:childTnLst>
                                    <p:set>
                                      <p:cBhvr>
                                        <p:cTn id="69" dur="1" fill="hold">
                                          <p:stCondLst>
                                            <p:cond delay="0"/>
                                          </p:stCondLst>
                                        </p:cTn>
                                        <p:tgtEl>
                                          <p:spTgt spid="9"/>
                                        </p:tgtEl>
                                        <p:attrNameLst>
                                          <p:attrName>style.visibility</p:attrName>
                                        </p:attrNameLst>
                                      </p:cBhvr>
                                      <p:to>
                                        <p:strVal val="visible"/>
                                      </p:to>
                                    </p:set>
                                    <p:anim calcmode="lin" valueType="num">
                                      <p:cBhvr>
                                        <p:cTn id="70" dur="1000" fill="hold"/>
                                        <p:tgtEl>
                                          <p:spTgt spid="9"/>
                                        </p:tgtEl>
                                        <p:attrNameLst>
                                          <p:attrName>ppt_w</p:attrName>
                                        </p:attrNameLst>
                                      </p:cBhvr>
                                      <p:tavLst>
                                        <p:tav tm="0">
                                          <p:val>
                                            <p:fltVal val="0"/>
                                          </p:val>
                                        </p:tav>
                                        <p:tav tm="100000">
                                          <p:val>
                                            <p:strVal val="#ppt_w"/>
                                          </p:val>
                                        </p:tav>
                                      </p:tavLst>
                                    </p:anim>
                                    <p:anim calcmode="lin" valueType="num">
                                      <p:cBhvr>
                                        <p:cTn id="71" dur="1000" fill="hold"/>
                                        <p:tgtEl>
                                          <p:spTgt spid="9"/>
                                        </p:tgtEl>
                                        <p:attrNameLst>
                                          <p:attrName>ppt_h</p:attrName>
                                        </p:attrNameLst>
                                      </p:cBhvr>
                                      <p:tavLst>
                                        <p:tav tm="0">
                                          <p:val>
                                            <p:fltVal val="0"/>
                                          </p:val>
                                        </p:tav>
                                        <p:tav tm="100000">
                                          <p:val>
                                            <p:strVal val="#ppt_h"/>
                                          </p:val>
                                        </p:tav>
                                      </p:tavLst>
                                    </p:anim>
                                    <p:anim calcmode="lin" valueType="num">
                                      <p:cBhvr>
                                        <p:cTn id="72" dur="1000" fill="hold"/>
                                        <p:tgtEl>
                                          <p:spTgt spid="9"/>
                                        </p:tgtEl>
                                        <p:attrNameLst>
                                          <p:attrName>style.rotation</p:attrName>
                                        </p:attrNameLst>
                                      </p:cBhvr>
                                      <p:tavLst>
                                        <p:tav tm="0">
                                          <p:val>
                                            <p:fltVal val="90"/>
                                          </p:val>
                                        </p:tav>
                                        <p:tav tm="100000">
                                          <p:val>
                                            <p:fltVal val="0"/>
                                          </p:val>
                                        </p:tav>
                                      </p:tavLst>
                                    </p:anim>
                                    <p:animEffect transition="in" filter="fade">
                                      <p:cBhvr>
                                        <p:cTn id="73" dur="1000"/>
                                        <p:tgtEl>
                                          <p:spTgt spid="9"/>
                                        </p:tgtEl>
                                      </p:cBhvr>
                                    </p:animEffect>
                                  </p:childTnLst>
                                </p:cTn>
                              </p:par>
                            </p:childTnLst>
                          </p:cTn>
                        </p:par>
                      </p:childTnLst>
                    </p:cTn>
                  </p:par>
                  <p:par>
                    <p:cTn id="74" fill="hold">
                      <p:stCondLst>
                        <p:cond delay="indefinite"/>
                      </p:stCondLst>
                      <p:childTnLst>
                        <p:par>
                          <p:cTn id="75" fill="hold">
                            <p:stCondLst>
                              <p:cond delay="0"/>
                            </p:stCondLst>
                            <p:childTnLst>
                              <p:par>
                                <p:cTn id="76" presetID="31" presetClass="entr" presetSubtype="0" fill="hold" grpId="0" nodeType="clickEffect">
                                  <p:stCondLst>
                                    <p:cond delay="0"/>
                                  </p:stCondLst>
                                  <p:childTnLst>
                                    <p:set>
                                      <p:cBhvr>
                                        <p:cTn id="77" dur="1" fill="hold">
                                          <p:stCondLst>
                                            <p:cond delay="0"/>
                                          </p:stCondLst>
                                        </p:cTn>
                                        <p:tgtEl>
                                          <p:spTgt spid="10"/>
                                        </p:tgtEl>
                                        <p:attrNameLst>
                                          <p:attrName>style.visibility</p:attrName>
                                        </p:attrNameLst>
                                      </p:cBhvr>
                                      <p:to>
                                        <p:strVal val="visible"/>
                                      </p:to>
                                    </p:set>
                                    <p:anim calcmode="lin" valueType="num">
                                      <p:cBhvr>
                                        <p:cTn id="78" dur="1000" fill="hold"/>
                                        <p:tgtEl>
                                          <p:spTgt spid="10"/>
                                        </p:tgtEl>
                                        <p:attrNameLst>
                                          <p:attrName>ppt_w</p:attrName>
                                        </p:attrNameLst>
                                      </p:cBhvr>
                                      <p:tavLst>
                                        <p:tav tm="0">
                                          <p:val>
                                            <p:fltVal val="0"/>
                                          </p:val>
                                        </p:tav>
                                        <p:tav tm="100000">
                                          <p:val>
                                            <p:strVal val="#ppt_w"/>
                                          </p:val>
                                        </p:tav>
                                      </p:tavLst>
                                    </p:anim>
                                    <p:anim calcmode="lin" valueType="num">
                                      <p:cBhvr>
                                        <p:cTn id="79" dur="1000" fill="hold"/>
                                        <p:tgtEl>
                                          <p:spTgt spid="10"/>
                                        </p:tgtEl>
                                        <p:attrNameLst>
                                          <p:attrName>ppt_h</p:attrName>
                                        </p:attrNameLst>
                                      </p:cBhvr>
                                      <p:tavLst>
                                        <p:tav tm="0">
                                          <p:val>
                                            <p:fltVal val="0"/>
                                          </p:val>
                                        </p:tav>
                                        <p:tav tm="100000">
                                          <p:val>
                                            <p:strVal val="#ppt_h"/>
                                          </p:val>
                                        </p:tav>
                                      </p:tavLst>
                                    </p:anim>
                                    <p:anim calcmode="lin" valueType="num">
                                      <p:cBhvr>
                                        <p:cTn id="80" dur="1000" fill="hold"/>
                                        <p:tgtEl>
                                          <p:spTgt spid="10"/>
                                        </p:tgtEl>
                                        <p:attrNameLst>
                                          <p:attrName>style.rotation</p:attrName>
                                        </p:attrNameLst>
                                      </p:cBhvr>
                                      <p:tavLst>
                                        <p:tav tm="0">
                                          <p:val>
                                            <p:fltVal val="90"/>
                                          </p:val>
                                        </p:tav>
                                        <p:tav tm="100000">
                                          <p:val>
                                            <p:fltVal val="0"/>
                                          </p:val>
                                        </p:tav>
                                      </p:tavLst>
                                    </p:anim>
                                    <p:animEffect transition="in" filter="fade">
                                      <p:cBhvr>
                                        <p:cTn id="81" dur="1000"/>
                                        <p:tgtEl>
                                          <p:spTgt spid="10"/>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5"/>
                                        </p:tgtEl>
                                        <p:attrNameLst>
                                          <p:attrName>style.visibility</p:attrName>
                                        </p:attrNameLst>
                                      </p:cBhvr>
                                      <p:to>
                                        <p:strVal val="visible"/>
                                      </p:to>
                                    </p:set>
                                    <p:animEffect transition="in" filter="fade">
                                      <p:cBhvr>
                                        <p:cTn id="8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1" grpId="0" animBg="1"/>
      <p:bldP spid="78852" grpId="0" animBg="1"/>
      <p:bldP spid="78853" grpId="0" animBg="1"/>
      <p:bldP spid="78854" grpId="0" animBg="1"/>
      <p:bldP spid="78855" grpId="0" animBg="1"/>
      <p:bldP spid="78856" grpId="0" animBg="1"/>
      <p:bldP spid="9" grpId="0" animBg="1"/>
      <p:bldP spid="10" grpId="0" animBg="1"/>
      <p:bldP spid="2" grpId="0"/>
      <p:bldP spid="3" grpId="0"/>
      <p:bldP spid="4" grpId="0"/>
      <p:bldP spid="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smtClean="0"/>
              <a:t>Chẩn</a:t>
            </a:r>
            <a:r>
              <a:rPr lang="en-US" smtClean="0"/>
              <a:t> </a:t>
            </a:r>
            <a:r>
              <a:rPr lang="en-US" err="1" smtClean="0"/>
              <a:t>đoán</a:t>
            </a:r>
            <a:endParaRPr lang="vi-VN"/>
          </a:p>
        </p:txBody>
      </p:sp>
      <p:sp>
        <p:nvSpPr>
          <p:cNvPr id="3" name="TextBox 2"/>
          <p:cNvSpPr txBox="1"/>
          <p:nvPr/>
        </p:nvSpPr>
        <p:spPr>
          <a:xfrm>
            <a:off x="427211" y="1709599"/>
            <a:ext cx="5625585" cy="3785652"/>
          </a:xfrm>
          <a:prstGeom prst="rect">
            <a:avLst/>
          </a:prstGeom>
          <a:noFill/>
        </p:spPr>
        <p:txBody>
          <a:bodyPr wrap="square" rtlCol="0">
            <a:spAutoFit/>
          </a:bodyPr>
          <a:lstStyle/>
          <a:p>
            <a:r>
              <a:rPr lang="en-US" sz="6000" err="1" smtClean="0"/>
              <a:t>Nôn</a:t>
            </a:r>
            <a:r>
              <a:rPr lang="en-US" sz="6000" smtClean="0"/>
              <a:t> </a:t>
            </a:r>
            <a:r>
              <a:rPr lang="en-US" sz="6000" err="1" smtClean="0"/>
              <a:t>có</a:t>
            </a:r>
            <a:r>
              <a:rPr lang="en-US" sz="6000" smtClean="0"/>
              <a:t> </a:t>
            </a:r>
            <a:r>
              <a:rPr lang="en-US" sz="6000" err="1" smtClean="0"/>
              <a:t>mất</a:t>
            </a:r>
            <a:r>
              <a:rPr lang="en-US" sz="6000" smtClean="0"/>
              <a:t> </a:t>
            </a:r>
            <a:r>
              <a:rPr lang="en-US" sz="6000" err="1" smtClean="0"/>
              <a:t>nước</a:t>
            </a:r>
            <a:r>
              <a:rPr lang="en-US" sz="6000" smtClean="0"/>
              <a:t> </a:t>
            </a:r>
            <a:r>
              <a:rPr lang="en-US" sz="6000" err="1" smtClean="0"/>
              <a:t>nghi</a:t>
            </a:r>
            <a:r>
              <a:rPr lang="en-US" sz="6000" smtClean="0"/>
              <a:t> do </a:t>
            </a:r>
            <a:r>
              <a:rPr lang="en-US" sz="6000" err="1" smtClean="0"/>
              <a:t>hẹp</a:t>
            </a:r>
            <a:r>
              <a:rPr lang="en-US" sz="6000" smtClean="0"/>
              <a:t> </a:t>
            </a:r>
            <a:r>
              <a:rPr lang="en-US" sz="6000" err="1" smtClean="0"/>
              <a:t>phì</a:t>
            </a:r>
            <a:r>
              <a:rPr lang="en-US" sz="6000" smtClean="0"/>
              <a:t> </a:t>
            </a:r>
            <a:r>
              <a:rPr lang="en-US" sz="6000" err="1" smtClean="0"/>
              <a:t>đại</a:t>
            </a:r>
            <a:r>
              <a:rPr lang="en-US" sz="6000" smtClean="0"/>
              <a:t> </a:t>
            </a:r>
            <a:r>
              <a:rPr lang="en-US" sz="6000" err="1" smtClean="0"/>
              <a:t>môn</a:t>
            </a:r>
            <a:r>
              <a:rPr lang="en-US" sz="6000" smtClean="0"/>
              <a:t> </a:t>
            </a:r>
            <a:r>
              <a:rPr lang="en-US" sz="6000" err="1" smtClean="0"/>
              <a:t>vị</a:t>
            </a:r>
            <a:endParaRPr lang="vi-VN" sz="6000"/>
          </a:p>
        </p:txBody>
      </p:sp>
      <p:pic>
        <p:nvPicPr>
          <p:cNvPr id="4" name="Picture 3"/>
          <p:cNvPicPr>
            <a:picLocks noChangeAspect="1"/>
          </p:cNvPicPr>
          <p:nvPr/>
        </p:nvPicPr>
        <p:blipFill>
          <a:blip r:embed="rId3"/>
          <a:stretch>
            <a:fillRect/>
          </a:stretch>
        </p:blipFill>
        <p:spPr>
          <a:xfrm>
            <a:off x="6052796" y="0"/>
            <a:ext cx="6139204" cy="6858000"/>
          </a:xfrm>
          <a:prstGeom prst="rect">
            <a:avLst/>
          </a:prstGeom>
        </p:spPr>
      </p:pic>
    </p:spTree>
    <p:extLst>
      <p:ext uri="{BB962C8B-B14F-4D97-AF65-F5344CB8AC3E}">
        <p14:creationId xmlns:p14="http://schemas.microsoft.com/office/powerpoint/2010/main" val="1959451527"/>
      </p:ext>
    </p:extLst>
  </p:cSld>
  <p:clrMapOvr>
    <a:masterClrMapping/>
  </p:clrMapOvr>
  <p:transition spd="slow">
    <p:push dir="u"/>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smtClean="0"/>
              <a:t>Chẩn</a:t>
            </a:r>
            <a:r>
              <a:rPr lang="en-US" smtClean="0"/>
              <a:t> </a:t>
            </a:r>
            <a:r>
              <a:rPr lang="en-US" err="1" smtClean="0"/>
              <a:t>đoán</a:t>
            </a:r>
            <a:r>
              <a:rPr lang="en-US" smtClean="0"/>
              <a:t> </a:t>
            </a:r>
            <a:r>
              <a:rPr lang="en-US" err="1" smtClean="0"/>
              <a:t>phân</a:t>
            </a:r>
            <a:r>
              <a:rPr lang="en-US" smtClean="0"/>
              <a:t> </a:t>
            </a:r>
            <a:r>
              <a:rPr lang="en-US" err="1" smtClean="0"/>
              <a:t>biệt</a:t>
            </a:r>
            <a:endParaRPr lang="vi-VN"/>
          </a:p>
        </p:txBody>
      </p:sp>
      <p:sp>
        <p:nvSpPr>
          <p:cNvPr id="3" name="Content Placeholder 2"/>
          <p:cNvSpPr>
            <a:spLocks noGrp="1"/>
          </p:cNvSpPr>
          <p:nvPr>
            <p:ph idx="1"/>
          </p:nvPr>
        </p:nvSpPr>
        <p:spPr/>
        <p:txBody>
          <a:bodyPr/>
          <a:lstStyle/>
          <a:p>
            <a:r>
              <a:rPr lang="en-US" sz="5400" dirty="0" err="1" smtClean="0"/>
              <a:t>Trào</a:t>
            </a:r>
            <a:r>
              <a:rPr lang="en-US" sz="5400" dirty="0" smtClean="0"/>
              <a:t> </a:t>
            </a:r>
            <a:r>
              <a:rPr lang="en-US" sz="5400" dirty="0" err="1" smtClean="0"/>
              <a:t>ngược</a:t>
            </a:r>
            <a:r>
              <a:rPr lang="en-US" sz="5400" dirty="0" smtClean="0"/>
              <a:t> </a:t>
            </a:r>
            <a:r>
              <a:rPr lang="en-US" sz="5400" dirty="0" err="1" smtClean="0"/>
              <a:t>dạ</a:t>
            </a:r>
            <a:r>
              <a:rPr lang="en-US" sz="5400" dirty="0" smtClean="0"/>
              <a:t> </a:t>
            </a:r>
            <a:r>
              <a:rPr lang="en-US" sz="5400" dirty="0" err="1" smtClean="0"/>
              <a:t>dày</a:t>
            </a:r>
            <a:r>
              <a:rPr lang="en-US" sz="5400" dirty="0" smtClean="0"/>
              <a:t> </a:t>
            </a:r>
            <a:r>
              <a:rPr lang="en-US" sz="5400" dirty="0" err="1" smtClean="0"/>
              <a:t>thực</a:t>
            </a:r>
            <a:r>
              <a:rPr lang="en-US" sz="5400" dirty="0" smtClean="0"/>
              <a:t> </a:t>
            </a:r>
            <a:r>
              <a:rPr lang="en-US" sz="5400" dirty="0" err="1" smtClean="0"/>
              <a:t>quản</a:t>
            </a:r>
            <a:endParaRPr lang="en-US" sz="5400" dirty="0" smtClean="0"/>
          </a:p>
          <a:p>
            <a:endParaRPr lang="en-US" sz="5400" dirty="0" smtClean="0"/>
          </a:p>
          <a:p>
            <a:r>
              <a:rPr lang="en-US" sz="5400" dirty="0" err="1" smtClean="0"/>
              <a:t>Viêm</a:t>
            </a:r>
            <a:r>
              <a:rPr lang="en-US" sz="5400" dirty="0" smtClean="0"/>
              <a:t> </a:t>
            </a:r>
            <a:r>
              <a:rPr lang="en-US" sz="5400" dirty="0" err="1" smtClean="0"/>
              <a:t>dạ</a:t>
            </a:r>
            <a:r>
              <a:rPr lang="en-US" sz="5400" dirty="0" smtClean="0"/>
              <a:t> </a:t>
            </a:r>
            <a:r>
              <a:rPr lang="en-US" sz="5400" dirty="0" err="1" smtClean="0"/>
              <a:t>dày</a:t>
            </a:r>
            <a:endParaRPr lang="en-US" sz="5400" dirty="0" smtClean="0"/>
          </a:p>
          <a:p>
            <a:endParaRPr lang="en-US" sz="5400" dirty="0" smtClean="0"/>
          </a:p>
          <a:p>
            <a:r>
              <a:rPr lang="en-US" sz="5400" dirty="0" err="1" smtClean="0"/>
              <a:t>Nhiễm</a:t>
            </a:r>
            <a:r>
              <a:rPr lang="en-US" sz="5400" dirty="0" smtClean="0"/>
              <a:t> </a:t>
            </a:r>
            <a:r>
              <a:rPr lang="en-US" sz="5400" dirty="0" err="1" smtClean="0"/>
              <a:t>trùng</a:t>
            </a:r>
            <a:r>
              <a:rPr lang="en-US" sz="5400" dirty="0" smtClean="0"/>
              <a:t> </a:t>
            </a:r>
            <a:r>
              <a:rPr lang="en-US" sz="5400" dirty="0" err="1" smtClean="0"/>
              <a:t>đường</a:t>
            </a:r>
            <a:r>
              <a:rPr lang="en-US" sz="5400" dirty="0" smtClean="0"/>
              <a:t> </a:t>
            </a:r>
            <a:r>
              <a:rPr lang="en-US" sz="5400" dirty="0" err="1" smtClean="0"/>
              <a:t>tiết</a:t>
            </a:r>
            <a:r>
              <a:rPr lang="en-US" sz="5400" dirty="0" smtClean="0"/>
              <a:t> </a:t>
            </a:r>
            <a:r>
              <a:rPr lang="en-US" sz="5400" dirty="0" err="1" smtClean="0"/>
              <a:t>niệu</a:t>
            </a:r>
            <a:endParaRPr lang="vi-VN" sz="5400" dirty="0"/>
          </a:p>
        </p:txBody>
      </p:sp>
    </p:spTree>
    <p:extLst>
      <p:ext uri="{BB962C8B-B14F-4D97-AF65-F5344CB8AC3E}">
        <p14:creationId xmlns:p14="http://schemas.microsoft.com/office/powerpoint/2010/main" val="339976549"/>
      </p:ext>
    </p:extLst>
  </p:cSld>
  <p:clrMapOvr>
    <a:masterClrMapping/>
  </p:clrMapOvr>
  <p:transition spd="slow">
    <p:push dir="u"/>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77969"/>
            <a:ext cx="7924800" cy="1143000"/>
          </a:xfrm>
        </p:spPr>
        <p:txBody>
          <a:bodyPr/>
          <a:lstStyle/>
          <a:p>
            <a:r>
              <a:rPr lang="vi-VN" sz="4000" smtClean="0"/>
              <a:t>Xét nghiệm làm thêm</a:t>
            </a:r>
            <a:endParaRPr lang="vi-VN" sz="4000"/>
          </a:p>
        </p:txBody>
      </p:sp>
      <p:sp>
        <p:nvSpPr>
          <p:cNvPr id="3" name="Content Placeholder 2"/>
          <p:cNvSpPr>
            <a:spLocks noGrp="1"/>
          </p:cNvSpPr>
          <p:nvPr>
            <p:ph idx="1"/>
          </p:nvPr>
        </p:nvSpPr>
        <p:spPr/>
        <p:txBody>
          <a:bodyPr/>
          <a:lstStyle/>
          <a:p>
            <a:r>
              <a:rPr lang="vi-VN" dirty="0" smtClean="0"/>
              <a:t>Test cho ăn</a:t>
            </a:r>
          </a:p>
          <a:p>
            <a:r>
              <a:rPr lang="vi-VN" dirty="0" smtClean="0"/>
              <a:t>Siêu âm ổ bụng</a:t>
            </a:r>
            <a:endParaRPr lang="vi-VN"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48325" y="1"/>
            <a:ext cx="6543675" cy="6858000"/>
          </a:xfrm>
          <a:prstGeom prst="rect">
            <a:avLst/>
          </a:prstGeom>
        </p:spPr>
      </p:pic>
    </p:spTree>
    <p:extLst>
      <p:ext uri="{BB962C8B-B14F-4D97-AF65-F5344CB8AC3E}">
        <p14:creationId xmlns:p14="http://schemas.microsoft.com/office/powerpoint/2010/main" val="2083371285"/>
      </p:ext>
    </p:extLst>
  </p:cSld>
  <p:clrMapOvr>
    <a:masterClrMapping/>
  </p:clrMapOvr>
  <p:transition spd="slow">
    <p:push dir="u"/>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1000"/>
                                        <p:tgtEl>
                                          <p:spTgt spid="3">
                                            <p:txEl>
                                              <p:pRg st="1" end="1"/>
                                            </p:txEl>
                                          </p:spTgt>
                                        </p:tgtEl>
                                      </p:cBhvr>
                                    </p:animEffect>
                                    <p:anim calcmode="lin" valueType="num">
                                      <p:cBhvr>
                                        <p:cTn id="14"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1000"/>
                                        <p:tgtEl>
                                          <p:spTgt spid="5"/>
                                        </p:tgtEl>
                                      </p:cBhvr>
                                    </p:animEffect>
                                    <p:anim calcmode="lin" valueType="num">
                                      <p:cBhvr>
                                        <p:cTn id="21" dur="1000" fill="hold"/>
                                        <p:tgtEl>
                                          <p:spTgt spid="5"/>
                                        </p:tgtEl>
                                        <p:attrNameLst>
                                          <p:attrName>ppt_x</p:attrName>
                                        </p:attrNameLst>
                                      </p:cBhvr>
                                      <p:tavLst>
                                        <p:tav tm="0">
                                          <p:val>
                                            <p:strVal val="#ppt_x"/>
                                          </p:val>
                                        </p:tav>
                                        <p:tav tm="100000">
                                          <p:val>
                                            <p:strVal val="#ppt_x"/>
                                          </p:val>
                                        </p:tav>
                                      </p:tavLst>
                                    </p:anim>
                                    <p:anim calcmode="lin" valueType="num">
                                      <p:cBhvr>
                                        <p:cTn id="2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Xử trí</a:t>
            </a:r>
            <a:endParaRPr lang="vi-VN"/>
          </a:p>
        </p:txBody>
      </p:sp>
      <p:sp>
        <p:nvSpPr>
          <p:cNvPr id="3" name="Content Placeholder 2"/>
          <p:cNvSpPr>
            <a:spLocks noGrp="1"/>
          </p:cNvSpPr>
          <p:nvPr>
            <p:ph idx="1"/>
          </p:nvPr>
        </p:nvSpPr>
        <p:spPr/>
        <p:txBody>
          <a:bodyPr/>
          <a:lstStyle/>
          <a:p>
            <a:r>
              <a:rPr lang="vi-VN" smtClean="0"/>
              <a:t>Điều trị mất nước và thăng bằng lại acid base,điện giải</a:t>
            </a:r>
          </a:p>
          <a:p>
            <a:r>
              <a:rPr lang="vi-VN" smtClean="0"/>
              <a:t>Cụ thể</a:t>
            </a:r>
          </a:p>
          <a:p>
            <a:pPr lvl="1">
              <a:buFont typeface="Wingdings" panose="05000000000000000000" pitchFamily="2" charset="2"/>
              <a:buChar char="Ø"/>
            </a:pPr>
            <a:r>
              <a:rPr lang="vi-VN" smtClean="0"/>
              <a:t>NaCl 0.9% tính theo cân nặng</a:t>
            </a:r>
          </a:p>
          <a:p>
            <a:pPr lvl="1">
              <a:buFont typeface="Wingdings" panose="05000000000000000000" pitchFamily="2" charset="2"/>
              <a:buChar char="Ø"/>
            </a:pPr>
            <a:r>
              <a:rPr lang="vi-VN" smtClean="0"/>
              <a:t>Dextrose 5% theo cân nặng</a:t>
            </a:r>
          </a:p>
          <a:p>
            <a:pPr lvl="1">
              <a:buFont typeface="Wingdings" panose="05000000000000000000" pitchFamily="2" charset="2"/>
              <a:buChar char="Ø"/>
            </a:pPr>
            <a:r>
              <a:rPr lang="vi-VN" smtClean="0"/>
              <a:t>Pha thêm ống kali </a:t>
            </a:r>
          </a:p>
          <a:p>
            <a:pPr lvl="1">
              <a:buFont typeface="Wingdings" panose="05000000000000000000" pitchFamily="2" charset="2"/>
              <a:buChar char="Ø"/>
            </a:pPr>
            <a:r>
              <a:rPr lang="vi-VN" smtClean="0"/>
              <a:t>Dừng ăn, đặt ống thông dạ dày</a:t>
            </a:r>
          </a:p>
          <a:p>
            <a:pPr lvl="1">
              <a:buFont typeface="Wingdings" panose="05000000000000000000" pitchFamily="2" charset="2"/>
              <a:buChar char="Ø"/>
            </a:pPr>
            <a:r>
              <a:rPr lang="vi-VN" smtClean="0"/>
              <a:t>Phẫu thuật Ramstedt pyloromyotomy</a:t>
            </a:r>
            <a:endParaRPr lang="vi-VN"/>
          </a:p>
        </p:txBody>
      </p:sp>
    </p:spTree>
    <p:extLst>
      <p:ext uri="{BB962C8B-B14F-4D97-AF65-F5344CB8AC3E}">
        <p14:creationId xmlns:p14="http://schemas.microsoft.com/office/powerpoint/2010/main" val="2495767710"/>
      </p:ext>
    </p:extLst>
  </p:cSld>
  <p:clrMapOvr>
    <a:masterClrMapping/>
  </p:clrMapOvr>
  <p:transition spd="slow">
    <p:push dir="u"/>
    <p:sndAc>
      <p:stSnd>
        <p:snd r:embed="rId2" name="camera.wav"/>
      </p:stSnd>
    </p:sndAc>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Design">
  <a:themeElements>
    <a:clrScheme name="Default Design 2">
      <a:dk1>
        <a:srgbClr val="0052A4"/>
      </a:dk1>
      <a:lt1>
        <a:srgbClr val="FFFFFF"/>
      </a:lt1>
      <a:dk2>
        <a:srgbClr val="DBEFF9"/>
      </a:dk2>
      <a:lt2>
        <a:srgbClr val="808080"/>
      </a:lt2>
      <a:accent1>
        <a:srgbClr val="5A87BE"/>
      </a:accent1>
      <a:accent2>
        <a:srgbClr val="DC5270"/>
      </a:accent2>
      <a:accent3>
        <a:srgbClr val="FFFFFF"/>
      </a:accent3>
      <a:accent4>
        <a:srgbClr val="00458B"/>
      </a:accent4>
      <a:accent5>
        <a:srgbClr val="B5C3DB"/>
      </a:accent5>
      <a:accent6>
        <a:srgbClr val="C74965"/>
      </a:accent6>
      <a:hlink>
        <a:srgbClr val="53B630"/>
      </a:hlink>
      <a:folHlink>
        <a:srgbClr val="D45F48"/>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2E3038"/>
        </a:dk1>
        <a:lt1>
          <a:srgbClr val="FFFFFF"/>
        </a:lt1>
        <a:dk2>
          <a:srgbClr val="DDDDDD"/>
        </a:dk2>
        <a:lt2>
          <a:srgbClr val="808080"/>
        </a:lt2>
        <a:accent1>
          <a:srgbClr val="5ECC4C"/>
        </a:accent1>
        <a:accent2>
          <a:srgbClr val="DE4A98"/>
        </a:accent2>
        <a:accent3>
          <a:srgbClr val="FFFFFF"/>
        </a:accent3>
        <a:accent4>
          <a:srgbClr val="26272E"/>
        </a:accent4>
        <a:accent5>
          <a:srgbClr val="B6E2B2"/>
        </a:accent5>
        <a:accent6>
          <a:srgbClr val="C94289"/>
        </a:accent6>
        <a:hlink>
          <a:srgbClr val="B89642"/>
        </a:hlink>
        <a:folHlink>
          <a:srgbClr val="4EA4CA"/>
        </a:folHlink>
      </a:clrScheme>
      <a:clrMap bg1="lt1" tx1="dk1" bg2="lt2" tx2="dk2" accent1="accent1" accent2="accent2" accent3="accent3" accent4="accent4" accent5="accent5" accent6="accent6" hlink="hlink" folHlink="folHlink"/>
    </a:extraClrScheme>
    <a:extraClrScheme>
      <a:clrScheme name="Default Design 2">
        <a:dk1>
          <a:srgbClr val="0052A4"/>
        </a:dk1>
        <a:lt1>
          <a:srgbClr val="FFFFFF"/>
        </a:lt1>
        <a:dk2>
          <a:srgbClr val="DBEFF9"/>
        </a:dk2>
        <a:lt2>
          <a:srgbClr val="808080"/>
        </a:lt2>
        <a:accent1>
          <a:srgbClr val="5A87BE"/>
        </a:accent1>
        <a:accent2>
          <a:srgbClr val="DC5270"/>
        </a:accent2>
        <a:accent3>
          <a:srgbClr val="FFFFFF"/>
        </a:accent3>
        <a:accent4>
          <a:srgbClr val="00458B"/>
        </a:accent4>
        <a:accent5>
          <a:srgbClr val="B5C3DB"/>
        </a:accent5>
        <a:accent6>
          <a:srgbClr val="C74965"/>
        </a:accent6>
        <a:hlink>
          <a:srgbClr val="53B630"/>
        </a:hlink>
        <a:folHlink>
          <a:srgbClr val="D45F48"/>
        </a:folHlink>
      </a:clrScheme>
      <a:clrMap bg1="lt1" tx1="dk1" bg2="lt2" tx2="dk2" accent1="accent1" accent2="accent2" accent3="accent3" accent4="accent4" accent5="accent5" accent6="accent6" hlink="hlink" folHlink="folHlink"/>
    </a:extraClrScheme>
    <a:extraClrScheme>
      <a:clrScheme name="Default Design 3">
        <a:dk1>
          <a:srgbClr val="85218F"/>
        </a:dk1>
        <a:lt1>
          <a:srgbClr val="FFFFFF"/>
        </a:lt1>
        <a:dk2>
          <a:srgbClr val="F9DBF3"/>
        </a:dk2>
        <a:lt2>
          <a:srgbClr val="808080"/>
        </a:lt2>
        <a:accent1>
          <a:srgbClr val="9461CD"/>
        </a:accent1>
        <a:accent2>
          <a:srgbClr val="4E8DDA"/>
        </a:accent2>
        <a:accent3>
          <a:srgbClr val="FFFFFF"/>
        </a:accent3>
        <a:accent4>
          <a:srgbClr val="711B79"/>
        </a:accent4>
        <a:accent5>
          <a:srgbClr val="C8B7E3"/>
        </a:accent5>
        <a:accent6>
          <a:srgbClr val="467FC5"/>
        </a:accent6>
        <a:hlink>
          <a:srgbClr val="3FBB83"/>
        </a:hlink>
        <a:folHlink>
          <a:srgbClr val="C98C4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3586</TotalTime>
  <Words>3639</Words>
  <Application>Microsoft Office PowerPoint</Application>
  <PresentationFormat>Widescreen</PresentationFormat>
  <Paragraphs>485</Paragraphs>
  <Slides>55</Slides>
  <Notes>3</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55</vt:i4>
      </vt:variant>
    </vt:vector>
  </HeadingPairs>
  <TitlesOfParts>
    <vt:vector size="66" baseType="lpstr">
      <vt:lpstr>Arial</vt:lpstr>
      <vt:lpstr>Arial Black</vt:lpstr>
      <vt:lpstr>Calibri</vt:lpstr>
      <vt:lpstr>Calibri Light</vt:lpstr>
      <vt:lpstr>Courier New</vt:lpstr>
      <vt:lpstr>Symbol</vt:lpstr>
      <vt:lpstr>Times New Roman</vt:lpstr>
      <vt:lpstr>Wingdings</vt:lpstr>
      <vt:lpstr>ヒラギノ明朝 ProN W6</vt:lpstr>
      <vt:lpstr>Office Theme</vt:lpstr>
      <vt:lpstr>Default Design</vt:lpstr>
      <vt:lpstr>Tiếp cận nôn trớ ở trẻ em</vt:lpstr>
      <vt:lpstr>PowerPoint Presentation</vt:lpstr>
      <vt:lpstr>Mục tiêu</vt:lpstr>
      <vt:lpstr>Thuật ngữ</vt:lpstr>
      <vt:lpstr>Thuật ngữ</vt:lpstr>
      <vt:lpstr>Phân loại nôn</vt:lpstr>
      <vt:lpstr>Phân loại nôn,buồn nôn</vt:lpstr>
      <vt:lpstr>Cơ chế gây nôn</vt:lpstr>
      <vt:lpstr>Act of vomiting</vt:lpstr>
      <vt:lpstr>Nguyên nhân nôn</vt:lpstr>
      <vt:lpstr>Nguyên nhân ngoại khoa</vt:lpstr>
      <vt:lpstr>Nguyên nhân nội khoa</vt:lpstr>
      <vt:lpstr>Nguyên nhân nội khoa </vt:lpstr>
      <vt:lpstr>Tiếp cận nôn tại phòng khám</vt:lpstr>
      <vt:lpstr>Tip for approach vomiting in children</vt:lpstr>
      <vt:lpstr>PowerPoint Presentation</vt:lpstr>
      <vt:lpstr>PowerPoint Presentation</vt:lpstr>
      <vt:lpstr>PowerPoint Presentation</vt:lpstr>
      <vt:lpstr>Các dấu hiệu cờ đỏ</vt:lpstr>
      <vt:lpstr>PowerPoint Presentation</vt:lpstr>
      <vt:lpstr>PowerPoint Presentation</vt:lpstr>
      <vt:lpstr>PowerPoint Presentation</vt:lpstr>
      <vt:lpstr>Khai thác tiền sử</vt:lpstr>
      <vt:lpstr>Hỏi bệnh</vt:lpstr>
      <vt:lpstr>PowerPoint Presentation</vt:lpstr>
      <vt:lpstr>PowerPoint Presentation</vt:lpstr>
      <vt:lpstr>Khám bệnh</vt:lpstr>
      <vt:lpstr>Khám bệnh</vt:lpstr>
      <vt:lpstr>PowerPoint Presentation</vt:lpstr>
      <vt:lpstr>Các hậu quả của nôn</vt:lpstr>
      <vt:lpstr>Các xét nghiệm </vt:lpstr>
      <vt:lpstr>Chẩn đoán hình ảnh</vt:lpstr>
      <vt:lpstr>PowerPoint Presentation</vt:lpstr>
      <vt:lpstr>Chẩn đoán hình ảnh</vt:lpstr>
      <vt:lpstr>PowerPoint Presentation</vt:lpstr>
      <vt:lpstr>PowerPoint Presentation</vt:lpstr>
      <vt:lpstr>PowerPoint Presentation</vt:lpstr>
      <vt:lpstr>Chẩn đoán phân biệt</vt:lpstr>
      <vt:lpstr>Chẩn đoán phân biệt</vt:lpstr>
      <vt:lpstr>Chẩn đoán phân biệt</vt:lpstr>
      <vt:lpstr>Điều trị</vt:lpstr>
      <vt:lpstr>Sử dụng thuốc chống nôn</vt:lpstr>
      <vt:lpstr>Các thuốc chống nôn </vt:lpstr>
      <vt:lpstr>Các thuốc chống nôn</vt:lpstr>
      <vt:lpstr>CÁC THUỐC CHỐNG NÔN</vt:lpstr>
      <vt:lpstr>Các phương thức điều trị thay thế</vt:lpstr>
      <vt:lpstr>Case lâm sàng</vt:lpstr>
      <vt:lpstr>Các xét nghiệm đã làm</vt:lpstr>
      <vt:lpstr>Câu hỏi</vt:lpstr>
      <vt:lpstr>Tiếp cận bệnh nhân</vt:lpstr>
      <vt:lpstr>Chẩn đoán có khả năng </vt:lpstr>
      <vt:lpstr>Chẩn đoán</vt:lpstr>
      <vt:lpstr>Chẩn đoán phân biệt</vt:lpstr>
      <vt:lpstr>Xét nghiệm làm thêm</vt:lpstr>
      <vt:lpstr>Xử trí</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Tiếp cận nôn trớ ở trẻ em</dc:title>
  <dc:creator>Nguyen Duy Trong</dc:creator>
  <cp:lastModifiedBy>Nguyen Duy Trong</cp:lastModifiedBy>
  <cp:revision>113</cp:revision>
  <dcterms:created xsi:type="dcterms:W3CDTF">2018-07-14T05:22:41Z</dcterms:created>
  <dcterms:modified xsi:type="dcterms:W3CDTF">2018-09-30T15:01:02Z</dcterms:modified>
</cp:coreProperties>
</file>