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88" r:id="rId5"/>
    <p:sldId id="272" r:id="rId6"/>
    <p:sldId id="287" r:id="rId7"/>
    <p:sldId id="290" r:id="rId8"/>
    <p:sldId id="291" r:id="rId9"/>
    <p:sldId id="292" r:id="rId10"/>
    <p:sldId id="273" r:id="rId11"/>
    <p:sldId id="297" r:id="rId12"/>
    <p:sldId id="298" r:id="rId13"/>
    <p:sldId id="299" r:id="rId14"/>
    <p:sldId id="301" r:id="rId15"/>
    <p:sldId id="300" r:id="rId16"/>
    <p:sldId id="274" r:id="rId17"/>
    <p:sldId id="275" r:id="rId18"/>
    <p:sldId id="276" r:id="rId19"/>
    <p:sldId id="293" r:id="rId20"/>
    <p:sldId id="277" r:id="rId21"/>
    <p:sldId id="311" r:id="rId22"/>
    <p:sldId id="294" r:id="rId23"/>
    <p:sldId id="278" r:id="rId24"/>
    <p:sldId id="302" r:id="rId25"/>
    <p:sldId id="303" r:id="rId26"/>
    <p:sldId id="279" r:id="rId27"/>
    <p:sldId id="280" r:id="rId28"/>
    <p:sldId id="281" r:id="rId29"/>
    <p:sldId id="282" r:id="rId30"/>
    <p:sldId id="283" r:id="rId31"/>
    <p:sldId id="284" r:id="rId32"/>
    <p:sldId id="285" r:id="rId33"/>
    <p:sldId id="304" r:id="rId34"/>
    <p:sldId id="305" r:id="rId35"/>
    <p:sldId id="306" r:id="rId36"/>
    <p:sldId id="307" r:id="rId37"/>
    <p:sldId id="308" r:id="rId38"/>
    <p:sldId id="309" r:id="rId39"/>
    <p:sldId id="269" r:id="rId40"/>
    <p:sldId id="310"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0" d="100"/>
          <a:sy n="80" d="100"/>
        </p:scale>
        <p:origin x="-108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23C6F7-9A7E-4668-A647-2D83497DDA8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B861F233-1B04-4581-9296-CF71FFE052BA}">
      <dgm:prSet phldrT="[Text]"/>
      <dgm:spPr>
        <a:solidFill>
          <a:schemeClr val="tx2">
            <a:lumMod val="60000"/>
            <a:lumOff val="40000"/>
          </a:schemeClr>
        </a:solidFill>
      </dgm:spPr>
      <dgm:t>
        <a:bodyPr/>
        <a:lstStyle/>
        <a:p>
          <a:r>
            <a:rPr lang="en-US" dirty="0"/>
            <a:t>1</a:t>
          </a:r>
        </a:p>
      </dgm:t>
    </dgm:pt>
    <dgm:pt modelId="{EA634049-B79C-4CAE-8B7A-A00F99A29BF1}" type="parTrans" cxnId="{85F7D8C5-B212-42BD-84F9-663489099CBA}">
      <dgm:prSet/>
      <dgm:spPr/>
      <dgm:t>
        <a:bodyPr/>
        <a:lstStyle/>
        <a:p>
          <a:endParaRPr lang="en-US"/>
        </a:p>
      </dgm:t>
    </dgm:pt>
    <dgm:pt modelId="{AF1C0A5D-16B9-4C44-B17A-E39CD6492306}" type="sibTrans" cxnId="{85F7D8C5-B212-42BD-84F9-663489099CBA}">
      <dgm:prSet/>
      <dgm:spPr/>
      <dgm:t>
        <a:bodyPr/>
        <a:lstStyle/>
        <a:p>
          <a:endParaRPr lang="en-US"/>
        </a:p>
      </dgm:t>
    </dgm:pt>
    <dgm:pt modelId="{BD667279-C350-4494-A40F-08061993BE5A}">
      <dgm:prSet phldrT="[Text]" custT="1"/>
      <dgm:spPr/>
      <dgm:t>
        <a:bodyPr/>
        <a:lstStyle/>
        <a:p>
          <a:r>
            <a:rPr lang="en-US" sz="2800" b="1" dirty="0" err="1"/>
            <a:t>Đại</a:t>
          </a:r>
          <a:r>
            <a:rPr lang="en-US" sz="2800" b="1" dirty="0"/>
            <a:t> </a:t>
          </a:r>
          <a:r>
            <a:rPr lang="en-US" sz="2800" b="1" dirty="0" err="1"/>
            <a:t>cương</a:t>
          </a:r>
          <a:endParaRPr lang="en-US" sz="2800" b="1" dirty="0"/>
        </a:p>
      </dgm:t>
    </dgm:pt>
    <dgm:pt modelId="{1968156A-0B51-44F2-AFE9-EAFB1D16F8B4}" type="parTrans" cxnId="{375EA413-4DC9-4763-95D9-B382EDF61443}">
      <dgm:prSet/>
      <dgm:spPr/>
      <dgm:t>
        <a:bodyPr/>
        <a:lstStyle/>
        <a:p>
          <a:endParaRPr lang="en-US"/>
        </a:p>
      </dgm:t>
    </dgm:pt>
    <dgm:pt modelId="{D8F95C1D-F5E0-4203-9DA6-FA36D2E1D7F7}" type="sibTrans" cxnId="{375EA413-4DC9-4763-95D9-B382EDF61443}">
      <dgm:prSet/>
      <dgm:spPr/>
      <dgm:t>
        <a:bodyPr/>
        <a:lstStyle/>
        <a:p>
          <a:endParaRPr lang="en-US"/>
        </a:p>
      </dgm:t>
    </dgm:pt>
    <dgm:pt modelId="{FE2DD2EE-E39C-4F7D-B4A3-E9EE00CC49F1}">
      <dgm:prSet phldrT="[Text]"/>
      <dgm:spPr/>
      <dgm:t>
        <a:bodyPr/>
        <a:lstStyle/>
        <a:p>
          <a:r>
            <a:rPr lang="en-US" dirty="0"/>
            <a:t>2</a:t>
          </a:r>
        </a:p>
      </dgm:t>
    </dgm:pt>
    <dgm:pt modelId="{0CB4D77F-3D9A-4BA4-B635-FBB88ED51882}" type="parTrans" cxnId="{78A696FA-65F2-43EA-AF86-77464D15A910}">
      <dgm:prSet/>
      <dgm:spPr/>
      <dgm:t>
        <a:bodyPr/>
        <a:lstStyle/>
        <a:p>
          <a:endParaRPr lang="en-US"/>
        </a:p>
      </dgm:t>
    </dgm:pt>
    <dgm:pt modelId="{5C57470B-7E34-429A-B7B4-FFDC8F239611}" type="sibTrans" cxnId="{78A696FA-65F2-43EA-AF86-77464D15A910}">
      <dgm:prSet/>
      <dgm:spPr/>
      <dgm:t>
        <a:bodyPr/>
        <a:lstStyle/>
        <a:p>
          <a:endParaRPr lang="en-US"/>
        </a:p>
      </dgm:t>
    </dgm:pt>
    <dgm:pt modelId="{96132643-1D32-4BC1-AEAA-DFA44F8093E0}">
      <dgm:prSet phldrT="[Text]" custT="1"/>
      <dgm:spPr/>
      <dgm:t>
        <a:bodyPr/>
        <a:lstStyle/>
        <a:p>
          <a:r>
            <a:rPr lang="en-US" sz="2800" b="1" smtClean="0"/>
            <a:t>Cơ chế bệnh sinh và các yếu tố nguy cơ</a:t>
          </a:r>
          <a:endParaRPr lang="en-US" sz="2800" b="1" dirty="0"/>
        </a:p>
      </dgm:t>
    </dgm:pt>
    <dgm:pt modelId="{EF235FD6-B58F-4559-9D44-532EC894EEBB}" type="parTrans" cxnId="{F2E4F521-252C-408B-BB76-17752EDF61ED}">
      <dgm:prSet/>
      <dgm:spPr/>
      <dgm:t>
        <a:bodyPr/>
        <a:lstStyle/>
        <a:p>
          <a:endParaRPr lang="en-US"/>
        </a:p>
      </dgm:t>
    </dgm:pt>
    <dgm:pt modelId="{1875002B-96D2-453B-826E-67DDA6909613}" type="sibTrans" cxnId="{F2E4F521-252C-408B-BB76-17752EDF61ED}">
      <dgm:prSet/>
      <dgm:spPr/>
      <dgm:t>
        <a:bodyPr/>
        <a:lstStyle/>
        <a:p>
          <a:endParaRPr lang="en-US"/>
        </a:p>
      </dgm:t>
    </dgm:pt>
    <dgm:pt modelId="{A78BEAF4-54DE-410D-977F-F1C64CFAE08C}">
      <dgm:prSet phldrT="[Text]" custT="1"/>
      <dgm:spPr/>
      <dgm:t>
        <a:bodyPr/>
        <a:lstStyle/>
        <a:p>
          <a:r>
            <a:rPr lang="en-US" sz="2800" b="1" smtClean="0"/>
            <a:t>Chẩn đoán</a:t>
          </a:r>
          <a:endParaRPr lang="en-US" sz="2800" b="1" dirty="0"/>
        </a:p>
      </dgm:t>
    </dgm:pt>
    <dgm:pt modelId="{EAF4948D-3AC9-4B27-B690-1495BFA5E513}" type="parTrans" cxnId="{3D2A0CE9-31C7-433E-A043-5BA65AEE5020}">
      <dgm:prSet/>
      <dgm:spPr/>
      <dgm:t>
        <a:bodyPr/>
        <a:lstStyle/>
        <a:p>
          <a:endParaRPr lang="en-US"/>
        </a:p>
      </dgm:t>
    </dgm:pt>
    <dgm:pt modelId="{C4DA508A-9EE3-4618-9185-1A79488FDB0F}" type="sibTrans" cxnId="{3D2A0CE9-31C7-433E-A043-5BA65AEE5020}">
      <dgm:prSet/>
      <dgm:spPr/>
      <dgm:t>
        <a:bodyPr/>
        <a:lstStyle/>
        <a:p>
          <a:endParaRPr lang="en-US"/>
        </a:p>
      </dgm:t>
    </dgm:pt>
    <dgm:pt modelId="{8C0DAF6C-D3A2-4EB1-860A-F349A741E65B}">
      <dgm:prSet phldrT="[Text]"/>
      <dgm:spPr/>
      <dgm:t>
        <a:bodyPr/>
        <a:lstStyle/>
        <a:p>
          <a:r>
            <a:rPr lang="en-US" dirty="0"/>
            <a:t>4</a:t>
          </a:r>
        </a:p>
      </dgm:t>
    </dgm:pt>
    <dgm:pt modelId="{A652E63C-0357-4146-B1BA-EB8BEE53628C}" type="parTrans" cxnId="{7A11A094-28FC-4511-8080-A0F9BB81DDA2}">
      <dgm:prSet/>
      <dgm:spPr/>
      <dgm:t>
        <a:bodyPr/>
        <a:lstStyle/>
        <a:p>
          <a:endParaRPr lang="en-US"/>
        </a:p>
      </dgm:t>
    </dgm:pt>
    <dgm:pt modelId="{807C1399-AFE7-42F7-A115-957185F3A429}" type="sibTrans" cxnId="{7A11A094-28FC-4511-8080-A0F9BB81DDA2}">
      <dgm:prSet/>
      <dgm:spPr/>
      <dgm:t>
        <a:bodyPr/>
        <a:lstStyle/>
        <a:p>
          <a:endParaRPr lang="en-US"/>
        </a:p>
      </dgm:t>
    </dgm:pt>
    <dgm:pt modelId="{856BCA30-8E4C-46D0-859E-D804FC759758}">
      <dgm:prSet phldrT="[Text]"/>
      <dgm:spPr/>
      <dgm:t>
        <a:bodyPr/>
        <a:lstStyle/>
        <a:p>
          <a:r>
            <a:rPr lang="en-US" dirty="0"/>
            <a:t>3</a:t>
          </a:r>
        </a:p>
      </dgm:t>
    </dgm:pt>
    <dgm:pt modelId="{98A083E5-69A4-4AA3-B233-8816D61D943D}" type="parTrans" cxnId="{D14A10FE-DE80-46BC-BEBF-4E89D06310B2}">
      <dgm:prSet/>
      <dgm:spPr/>
      <dgm:t>
        <a:bodyPr/>
        <a:lstStyle/>
        <a:p>
          <a:endParaRPr lang="en-US"/>
        </a:p>
      </dgm:t>
    </dgm:pt>
    <dgm:pt modelId="{F5BF8340-9DD2-496B-89A6-FF19740FEACB}" type="sibTrans" cxnId="{D14A10FE-DE80-46BC-BEBF-4E89D06310B2}">
      <dgm:prSet/>
      <dgm:spPr/>
      <dgm:t>
        <a:bodyPr/>
        <a:lstStyle/>
        <a:p>
          <a:endParaRPr lang="en-US"/>
        </a:p>
      </dgm:t>
    </dgm:pt>
    <dgm:pt modelId="{868379CF-2B79-40EE-8BF4-A57D977E380C}">
      <dgm:prSet custT="1"/>
      <dgm:spPr/>
      <dgm:t>
        <a:bodyPr/>
        <a:lstStyle/>
        <a:p>
          <a:r>
            <a:rPr lang="en-US" sz="2800" b="1" dirty="0" err="1"/>
            <a:t>Xử</a:t>
          </a:r>
          <a:r>
            <a:rPr lang="en-US" sz="2800" b="1" dirty="0"/>
            <a:t> </a:t>
          </a:r>
          <a:r>
            <a:rPr lang="en-US" sz="2800" b="1" dirty="0" err="1"/>
            <a:t>trí</a:t>
          </a:r>
          <a:endParaRPr lang="en-US" sz="2800" b="1" dirty="0"/>
        </a:p>
      </dgm:t>
    </dgm:pt>
    <dgm:pt modelId="{78ABD7B2-04B4-4245-A846-B3042765E945}" type="parTrans" cxnId="{19A51919-4666-4B27-B641-CD5FA7627C19}">
      <dgm:prSet/>
      <dgm:spPr/>
      <dgm:t>
        <a:bodyPr/>
        <a:lstStyle/>
        <a:p>
          <a:endParaRPr lang="en-US"/>
        </a:p>
      </dgm:t>
    </dgm:pt>
    <dgm:pt modelId="{522D3930-F09E-41CF-82D7-A54585B886A7}" type="sibTrans" cxnId="{19A51919-4666-4B27-B641-CD5FA7627C19}">
      <dgm:prSet/>
      <dgm:spPr/>
      <dgm:t>
        <a:bodyPr/>
        <a:lstStyle/>
        <a:p>
          <a:endParaRPr lang="en-US"/>
        </a:p>
      </dgm:t>
    </dgm:pt>
    <dgm:pt modelId="{1A3AE687-8CD3-49E1-B776-8E1A0D6D5C7E}">
      <dgm:prSet/>
      <dgm:spPr/>
      <dgm:t>
        <a:bodyPr/>
        <a:lstStyle/>
        <a:p>
          <a:r>
            <a:rPr lang="en-US" dirty="0"/>
            <a:t>5</a:t>
          </a:r>
        </a:p>
      </dgm:t>
    </dgm:pt>
    <dgm:pt modelId="{C9BCF0F7-2A35-4610-A219-273301B79520}" type="parTrans" cxnId="{3136E4AE-EE38-4F43-8B17-283E86506409}">
      <dgm:prSet/>
      <dgm:spPr/>
      <dgm:t>
        <a:bodyPr/>
        <a:lstStyle/>
        <a:p>
          <a:endParaRPr lang="en-US"/>
        </a:p>
      </dgm:t>
    </dgm:pt>
    <dgm:pt modelId="{0BF4BA24-7FF4-4E72-B0BE-DE867171C1F5}" type="sibTrans" cxnId="{3136E4AE-EE38-4F43-8B17-283E86506409}">
      <dgm:prSet/>
      <dgm:spPr/>
      <dgm:t>
        <a:bodyPr/>
        <a:lstStyle/>
        <a:p>
          <a:endParaRPr lang="en-US"/>
        </a:p>
      </dgm:t>
    </dgm:pt>
    <dgm:pt modelId="{39E2CDA6-876A-4CF6-A5E4-A5F58979156A}">
      <dgm:prSet custT="1"/>
      <dgm:spPr/>
      <dgm:t>
        <a:bodyPr/>
        <a:lstStyle/>
        <a:p>
          <a:r>
            <a:rPr lang="en-US" sz="2800" b="1" dirty="0" err="1"/>
            <a:t>Tiên</a:t>
          </a:r>
          <a:r>
            <a:rPr lang="en-US" sz="2800" b="1" dirty="0"/>
            <a:t> </a:t>
          </a:r>
          <a:r>
            <a:rPr lang="en-US" sz="2800" b="1" dirty="0" err="1"/>
            <a:t>lượng</a:t>
          </a:r>
          <a:endParaRPr lang="en-US" sz="2800" b="1" dirty="0"/>
        </a:p>
      </dgm:t>
    </dgm:pt>
    <dgm:pt modelId="{222E2BCC-98CA-4ACA-96C8-8DEA9716DC7D}" type="parTrans" cxnId="{C312D6D2-F87E-423F-A134-BFED75FF9CDC}">
      <dgm:prSet/>
      <dgm:spPr/>
      <dgm:t>
        <a:bodyPr/>
        <a:lstStyle/>
        <a:p>
          <a:endParaRPr lang="en-US"/>
        </a:p>
      </dgm:t>
    </dgm:pt>
    <dgm:pt modelId="{BA044229-FDDC-484F-8F11-F9AFA6016821}" type="sibTrans" cxnId="{C312D6D2-F87E-423F-A134-BFED75FF9CDC}">
      <dgm:prSet/>
      <dgm:spPr/>
      <dgm:t>
        <a:bodyPr/>
        <a:lstStyle/>
        <a:p>
          <a:endParaRPr lang="en-US"/>
        </a:p>
      </dgm:t>
    </dgm:pt>
    <dgm:pt modelId="{63E424AB-CFE3-4B26-BD5A-F236AF6A9B23}" type="pres">
      <dgm:prSet presAssocID="{D623C6F7-9A7E-4668-A647-2D83497DDA8A}" presName="linearFlow" presStyleCnt="0">
        <dgm:presLayoutVars>
          <dgm:dir/>
          <dgm:animLvl val="lvl"/>
          <dgm:resizeHandles val="exact"/>
        </dgm:presLayoutVars>
      </dgm:prSet>
      <dgm:spPr/>
      <dgm:t>
        <a:bodyPr/>
        <a:lstStyle/>
        <a:p>
          <a:endParaRPr lang="en-US"/>
        </a:p>
      </dgm:t>
    </dgm:pt>
    <dgm:pt modelId="{6D74BA49-63B6-4E73-97CA-B1E001C8F985}" type="pres">
      <dgm:prSet presAssocID="{B861F233-1B04-4581-9296-CF71FFE052BA}" presName="composite" presStyleCnt="0"/>
      <dgm:spPr/>
    </dgm:pt>
    <dgm:pt modelId="{509734D5-C004-448D-A31A-FBBFEEE1FBD2}" type="pres">
      <dgm:prSet presAssocID="{B861F233-1B04-4581-9296-CF71FFE052BA}" presName="parentText" presStyleLbl="alignNode1" presStyleIdx="0" presStyleCnt="5">
        <dgm:presLayoutVars>
          <dgm:chMax val="1"/>
          <dgm:bulletEnabled val="1"/>
        </dgm:presLayoutVars>
      </dgm:prSet>
      <dgm:spPr/>
      <dgm:t>
        <a:bodyPr/>
        <a:lstStyle/>
        <a:p>
          <a:endParaRPr lang="en-US"/>
        </a:p>
      </dgm:t>
    </dgm:pt>
    <dgm:pt modelId="{6128A905-1400-4FB9-A670-DF6D020BD409}" type="pres">
      <dgm:prSet presAssocID="{B861F233-1B04-4581-9296-CF71FFE052BA}" presName="descendantText" presStyleLbl="alignAcc1" presStyleIdx="0" presStyleCnt="5">
        <dgm:presLayoutVars>
          <dgm:bulletEnabled val="1"/>
        </dgm:presLayoutVars>
      </dgm:prSet>
      <dgm:spPr/>
      <dgm:t>
        <a:bodyPr/>
        <a:lstStyle/>
        <a:p>
          <a:endParaRPr lang="en-US"/>
        </a:p>
      </dgm:t>
    </dgm:pt>
    <dgm:pt modelId="{F107EC94-C23B-4FD9-B1D3-624C1B33CE73}" type="pres">
      <dgm:prSet presAssocID="{AF1C0A5D-16B9-4C44-B17A-E39CD6492306}" presName="sp" presStyleCnt="0"/>
      <dgm:spPr/>
    </dgm:pt>
    <dgm:pt modelId="{1F68A0F8-9E7F-4301-A5D3-A462A7714EB7}" type="pres">
      <dgm:prSet presAssocID="{FE2DD2EE-E39C-4F7D-B4A3-E9EE00CC49F1}" presName="composite" presStyleCnt="0"/>
      <dgm:spPr/>
    </dgm:pt>
    <dgm:pt modelId="{08B1B8F7-B90C-410A-876E-D0E4C1EBC413}" type="pres">
      <dgm:prSet presAssocID="{FE2DD2EE-E39C-4F7D-B4A3-E9EE00CC49F1}" presName="parentText" presStyleLbl="alignNode1" presStyleIdx="1" presStyleCnt="5">
        <dgm:presLayoutVars>
          <dgm:chMax val="1"/>
          <dgm:bulletEnabled val="1"/>
        </dgm:presLayoutVars>
      </dgm:prSet>
      <dgm:spPr/>
      <dgm:t>
        <a:bodyPr/>
        <a:lstStyle/>
        <a:p>
          <a:endParaRPr lang="en-US"/>
        </a:p>
      </dgm:t>
    </dgm:pt>
    <dgm:pt modelId="{4039CC69-22AB-470E-9449-C6A6970076EB}" type="pres">
      <dgm:prSet presAssocID="{FE2DD2EE-E39C-4F7D-B4A3-E9EE00CC49F1}" presName="descendantText" presStyleLbl="alignAcc1" presStyleIdx="1" presStyleCnt="5">
        <dgm:presLayoutVars>
          <dgm:bulletEnabled val="1"/>
        </dgm:presLayoutVars>
      </dgm:prSet>
      <dgm:spPr/>
      <dgm:t>
        <a:bodyPr/>
        <a:lstStyle/>
        <a:p>
          <a:endParaRPr lang="en-US"/>
        </a:p>
      </dgm:t>
    </dgm:pt>
    <dgm:pt modelId="{844EBB3A-0362-4107-BBD4-3EDB1FD27DB7}" type="pres">
      <dgm:prSet presAssocID="{5C57470B-7E34-429A-B7B4-FFDC8F239611}" presName="sp" presStyleCnt="0"/>
      <dgm:spPr/>
    </dgm:pt>
    <dgm:pt modelId="{6B60F331-C12D-4687-9D22-0DCAC2AEC628}" type="pres">
      <dgm:prSet presAssocID="{856BCA30-8E4C-46D0-859E-D804FC759758}" presName="composite" presStyleCnt="0"/>
      <dgm:spPr/>
    </dgm:pt>
    <dgm:pt modelId="{FF80C86A-E801-4CB0-A027-217FECC12CB1}" type="pres">
      <dgm:prSet presAssocID="{856BCA30-8E4C-46D0-859E-D804FC759758}" presName="parentText" presStyleLbl="alignNode1" presStyleIdx="2" presStyleCnt="5">
        <dgm:presLayoutVars>
          <dgm:chMax val="1"/>
          <dgm:bulletEnabled val="1"/>
        </dgm:presLayoutVars>
      </dgm:prSet>
      <dgm:spPr/>
      <dgm:t>
        <a:bodyPr/>
        <a:lstStyle/>
        <a:p>
          <a:endParaRPr lang="en-US"/>
        </a:p>
      </dgm:t>
    </dgm:pt>
    <dgm:pt modelId="{1C274BF9-168E-4081-98DF-DE0F946A6DCB}" type="pres">
      <dgm:prSet presAssocID="{856BCA30-8E4C-46D0-859E-D804FC759758}" presName="descendantText" presStyleLbl="alignAcc1" presStyleIdx="2" presStyleCnt="5">
        <dgm:presLayoutVars>
          <dgm:bulletEnabled val="1"/>
        </dgm:presLayoutVars>
      </dgm:prSet>
      <dgm:spPr/>
      <dgm:t>
        <a:bodyPr/>
        <a:lstStyle/>
        <a:p>
          <a:endParaRPr lang="en-US"/>
        </a:p>
      </dgm:t>
    </dgm:pt>
    <dgm:pt modelId="{12B01FD5-3FBD-4190-BCE7-1DF03FC74148}" type="pres">
      <dgm:prSet presAssocID="{F5BF8340-9DD2-496B-89A6-FF19740FEACB}" presName="sp" presStyleCnt="0"/>
      <dgm:spPr/>
    </dgm:pt>
    <dgm:pt modelId="{89C1DC98-A343-43B5-A62F-DB1B1B6196C9}" type="pres">
      <dgm:prSet presAssocID="{8C0DAF6C-D3A2-4EB1-860A-F349A741E65B}" presName="composite" presStyleCnt="0"/>
      <dgm:spPr/>
    </dgm:pt>
    <dgm:pt modelId="{9FFE247E-0031-4BD2-BC39-40398888F2CF}" type="pres">
      <dgm:prSet presAssocID="{8C0DAF6C-D3A2-4EB1-860A-F349A741E65B}" presName="parentText" presStyleLbl="alignNode1" presStyleIdx="3" presStyleCnt="5">
        <dgm:presLayoutVars>
          <dgm:chMax val="1"/>
          <dgm:bulletEnabled val="1"/>
        </dgm:presLayoutVars>
      </dgm:prSet>
      <dgm:spPr/>
      <dgm:t>
        <a:bodyPr/>
        <a:lstStyle/>
        <a:p>
          <a:endParaRPr lang="en-US"/>
        </a:p>
      </dgm:t>
    </dgm:pt>
    <dgm:pt modelId="{C85FB0F9-4573-4676-BCC1-C3A30051DBDB}" type="pres">
      <dgm:prSet presAssocID="{8C0DAF6C-D3A2-4EB1-860A-F349A741E65B}" presName="descendantText" presStyleLbl="alignAcc1" presStyleIdx="3" presStyleCnt="5">
        <dgm:presLayoutVars>
          <dgm:bulletEnabled val="1"/>
        </dgm:presLayoutVars>
      </dgm:prSet>
      <dgm:spPr/>
      <dgm:t>
        <a:bodyPr/>
        <a:lstStyle/>
        <a:p>
          <a:endParaRPr lang="en-US"/>
        </a:p>
      </dgm:t>
    </dgm:pt>
    <dgm:pt modelId="{05D7C03D-8109-4CC7-AE2A-3DF2D6C38F03}" type="pres">
      <dgm:prSet presAssocID="{807C1399-AFE7-42F7-A115-957185F3A429}" presName="sp" presStyleCnt="0"/>
      <dgm:spPr/>
    </dgm:pt>
    <dgm:pt modelId="{BA19DAD2-195E-4E82-B758-3937E5EB8E85}" type="pres">
      <dgm:prSet presAssocID="{1A3AE687-8CD3-49E1-B776-8E1A0D6D5C7E}" presName="composite" presStyleCnt="0"/>
      <dgm:spPr/>
    </dgm:pt>
    <dgm:pt modelId="{E04009DF-D255-4639-9904-659AD613E93A}" type="pres">
      <dgm:prSet presAssocID="{1A3AE687-8CD3-49E1-B776-8E1A0D6D5C7E}" presName="parentText" presStyleLbl="alignNode1" presStyleIdx="4" presStyleCnt="5">
        <dgm:presLayoutVars>
          <dgm:chMax val="1"/>
          <dgm:bulletEnabled val="1"/>
        </dgm:presLayoutVars>
      </dgm:prSet>
      <dgm:spPr/>
      <dgm:t>
        <a:bodyPr/>
        <a:lstStyle/>
        <a:p>
          <a:endParaRPr lang="en-US"/>
        </a:p>
      </dgm:t>
    </dgm:pt>
    <dgm:pt modelId="{A7A1D8BF-5636-4CEB-871C-F0EBFA2F0937}" type="pres">
      <dgm:prSet presAssocID="{1A3AE687-8CD3-49E1-B776-8E1A0D6D5C7E}" presName="descendantText" presStyleLbl="alignAcc1" presStyleIdx="4" presStyleCnt="5">
        <dgm:presLayoutVars>
          <dgm:bulletEnabled val="1"/>
        </dgm:presLayoutVars>
      </dgm:prSet>
      <dgm:spPr/>
      <dgm:t>
        <a:bodyPr/>
        <a:lstStyle/>
        <a:p>
          <a:endParaRPr lang="en-US"/>
        </a:p>
      </dgm:t>
    </dgm:pt>
  </dgm:ptLst>
  <dgm:cxnLst>
    <dgm:cxn modelId="{19A51919-4666-4B27-B641-CD5FA7627C19}" srcId="{8C0DAF6C-D3A2-4EB1-860A-F349A741E65B}" destId="{868379CF-2B79-40EE-8BF4-A57D977E380C}" srcOrd="0" destOrd="0" parTransId="{78ABD7B2-04B4-4245-A846-B3042765E945}" sibTransId="{522D3930-F09E-41CF-82D7-A54585B886A7}"/>
    <dgm:cxn modelId="{D14A10FE-DE80-46BC-BEBF-4E89D06310B2}" srcId="{D623C6F7-9A7E-4668-A647-2D83497DDA8A}" destId="{856BCA30-8E4C-46D0-859E-D804FC759758}" srcOrd="2" destOrd="0" parTransId="{98A083E5-69A4-4AA3-B233-8816D61D943D}" sibTransId="{F5BF8340-9DD2-496B-89A6-FF19740FEACB}"/>
    <dgm:cxn modelId="{2ADE1132-66F0-45FC-A6EC-BC1E1CA22827}" type="presOf" srcId="{868379CF-2B79-40EE-8BF4-A57D977E380C}" destId="{C85FB0F9-4573-4676-BCC1-C3A30051DBDB}" srcOrd="0" destOrd="0" presId="urn:microsoft.com/office/officeart/2005/8/layout/chevron2"/>
    <dgm:cxn modelId="{6BEB3D86-7289-4B62-912C-7777959CC14E}" type="presOf" srcId="{1A3AE687-8CD3-49E1-B776-8E1A0D6D5C7E}" destId="{E04009DF-D255-4639-9904-659AD613E93A}" srcOrd="0" destOrd="0" presId="urn:microsoft.com/office/officeart/2005/8/layout/chevron2"/>
    <dgm:cxn modelId="{AB8A634E-DD9A-4DAE-A06C-58317B07DEE8}" type="presOf" srcId="{B861F233-1B04-4581-9296-CF71FFE052BA}" destId="{509734D5-C004-448D-A31A-FBBFEEE1FBD2}" srcOrd="0" destOrd="0" presId="urn:microsoft.com/office/officeart/2005/8/layout/chevron2"/>
    <dgm:cxn modelId="{375EA413-4DC9-4763-95D9-B382EDF61443}" srcId="{B861F233-1B04-4581-9296-CF71FFE052BA}" destId="{BD667279-C350-4494-A40F-08061993BE5A}" srcOrd="0" destOrd="0" parTransId="{1968156A-0B51-44F2-AFE9-EAFB1D16F8B4}" sibTransId="{D8F95C1D-F5E0-4203-9DA6-FA36D2E1D7F7}"/>
    <dgm:cxn modelId="{C312D6D2-F87E-423F-A134-BFED75FF9CDC}" srcId="{1A3AE687-8CD3-49E1-B776-8E1A0D6D5C7E}" destId="{39E2CDA6-876A-4CF6-A5E4-A5F58979156A}" srcOrd="0" destOrd="0" parTransId="{222E2BCC-98CA-4ACA-96C8-8DEA9716DC7D}" sibTransId="{BA044229-FDDC-484F-8F11-F9AFA6016821}"/>
    <dgm:cxn modelId="{3136E4AE-EE38-4F43-8B17-283E86506409}" srcId="{D623C6F7-9A7E-4668-A647-2D83497DDA8A}" destId="{1A3AE687-8CD3-49E1-B776-8E1A0D6D5C7E}" srcOrd="4" destOrd="0" parTransId="{C9BCF0F7-2A35-4610-A219-273301B79520}" sibTransId="{0BF4BA24-7FF4-4E72-B0BE-DE867171C1F5}"/>
    <dgm:cxn modelId="{DD00031C-16D7-4411-B4AD-A28050282C90}" type="presOf" srcId="{856BCA30-8E4C-46D0-859E-D804FC759758}" destId="{FF80C86A-E801-4CB0-A027-217FECC12CB1}" srcOrd="0" destOrd="0" presId="urn:microsoft.com/office/officeart/2005/8/layout/chevron2"/>
    <dgm:cxn modelId="{3D2A0CE9-31C7-433E-A043-5BA65AEE5020}" srcId="{856BCA30-8E4C-46D0-859E-D804FC759758}" destId="{A78BEAF4-54DE-410D-977F-F1C64CFAE08C}" srcOrd="0" destOrd="0" parTransId="{EAF4948D-3AC9-4B27-B690-1495BFA5E513}" sibTransId="{C4DA508A-9EE3-4618-9185-1A79488FDB0F}"/>
    <dgm:cxn modelId="{06BB6F0F-8664-4773-A44A-A72ED7EDFDCE}" type="presOf" srcId="{FE2DD2EE-E39C-4F7D-B4A3-E9EE00CC49F1}" destId="{08B1B8F7-B90C-410A-876E-D0E4C1EBC413}" srcOrd="0" destOrd="0" presId="urn:microsoft.com/office/officeart/2005/8/layout/chevron2"/>
    <dgm:cxn modelId="{435AA25D-A79A-4881-9C2D-EC3BD14F56F9}" type="presOf" srcId="{A78BEAF4-54DE-410D-977F-F1C64CFAE08C}" destId="{1C274BF9-168E-4081-98DF-DE0F946A6DCB}" srcOrd="0" destOrd="0" presId="urn:microsoft.com/office/officeart/2005/8/layout/chevron2"/>
    <dgm:cxn modelId="{6EE51196-0BC3-446B-8DCC-C5D1D8C5B5D0}" type="presOf" srcId="{8C0DAF6C-D3A2-4EB1-860A-F349A741E65B}" destId="{9FFE247E-0031-4BD2-BC39-40398888F2CF}" srcOrd="0" destOrd="0" presId="urn:microsoft.com/office/officeart/2005/8/layout/chevron2"/>
    <dgm:cxn modelId="{F2E4F521-252C-408B-BB76-17752EDF61ED}" srcId="{FE2DD2EE-E39C-4F7D-B4A3-E9EE00CC49F1}" destId="{96132643-1D32-4BC1-AEAA-DFA44F8093E0}" srcOrd="0" destOrd="0" parTransId="{EF235FD6-B58F-4559-9D44-532EC894EEBB}" sibTransId="{1875002B-96D2-453B-826E-67DDA6909613}"/>
    <dgm:cxn modelId="{3DDC120F-649C-4E83-B7F0-F3679458E72B}" type="presOf" srcId="{D623C6F7-9A7E-4668-A647-2D83497DDA8A}" destId="{63E424AB-CFE3-4B26-BD5A-F236AF6A9B23}" srcOrd="0" destOrd="0" presId="urn:microsoft.com/office/officeart/2005/8/layout/chevron2"/>
    <dgm:cxn modelId="{667D5905-0753-4D1F-8A95-96C94DEC6466}" type="presOf" srcId="{39E2CDA6-876A-4CF6-A5E4-A5F58979156A}" destId="{A7A1D8BF-5636-4CEB-871C-F0EBFA2F0937}" srcOrd="0" destOrd="0" presId="urn:microsoft.com/office/officeart/2005/8/layout/chevron2"/>
    <dgm:cxn modelId="{DAC3E097-7B1F-4E72-9874-FABCC4EDEEAD}" type="presOf" srcId="{96132643-1D32-4BC1-AEAA-DFA44F8093E0}" destId="{4039CC69-22AB-470E-9449-C6A6970076EB}" srcOrd="0" destOrd="0" presId="urn:microsoft.com/office/officeart/2005/8/layout/chevron2"/>
    <dgm:cxn modelId="{E28A274B-B2F3-4A2C-A9DB-1DD47EC5F417}" type="presOf" srcId="{BD667279-C350-4494-A40F-08061993BE5A}" destId="{6128A905-1400-4FB9-A670-DF6D020BD409}" srcOrd="0" destOrd="0" presId="urn:microsoft.com/office/officeart/2005/8/layout/chevron2"/>
    <dgm:cxn modelId="{85F7D8C5-B212-42BD-84F9-663489099CBA}" srcId="{D623C6F7-9A7E-4668-A647-2D83497DDA8A}" destId="{B861F233-1B04-4581-9296-CF71FFE052BA}" srcOrd="0" destOrd="0" parTransId="{EA634049-B79C-4CAE-8B7A-A00F99A29BF1}" sibTransId="{AF1C0A5D-16B9-4C44-B17A-E39CD6492306}"/>
    <dgm:cxn modelId="{7A11A094-28FC-4511-8080-A0F9BB81DDA2}" srcId="{D623C6F7-9A7E-4668-A647-2D83497DDA8A}" destId="{8C0DAF6C-D3A2-4EB1-860A-F349A741E65B}" srcOrd="3" destOrd="0" parTransId="{A652E63C-0357-4146-B1BA-EB8BEE53628C}" sibTransId="{807C1399-AFE7-42F7-A115-957185F3A429}"/>
    <dgm:cxn modelId="{78A696FA-65F2-43EA-AF86-77464D15A910}" srcId="{D623C6F7-9A7E-4668-A647-2D83497DDA8A}" destId="{FE2DD2EE-E39C-4F7D-B4A3-E9EE00CC49F1}" srcOrd="1" destOrd="0" parTransId="{0CB4D77F-3D9A-4BA4-B635-FBB88ED51882}" sibTransId="{5C57470B-7E34-429A-B7B4-FFDC8F239611}"/>
    <dgm:cxn modelId="{A6265CD2-51D2-44E6-B651-5F2B3CC3C6DF}" type="presParOf" srcId="{63E424AB-CFE3-4B26-BD5A-F236AF6A9B23}" destId="{6D74BA49-63B6-4E73-97CA-B1E001C8F985}" srcOrd="0" destOrd="0" presId="urn:microsoft.com/office/officeart/2005/8/layout/chevron2"/>
    <dgm:cxn modelId="{C4613BFD-A404-4D16-884D-E75E9A20EED8}" type="presParOf" srcId="{6D74BA49-63B6-4E73-97CA-B1E001C8F985}" destId="{509734D5-C004-448D-A31A-FBBFEEE1FBD2}" srcOrd="0" destOrd="0" presId="urn:microsoft.com/office/officeart/2005/8/layout/chevron2"/>
    <dgm:cxn modelId="{17D1A7BD-87BE-4CED-BE08-C4AE79231061}" type="presParOf" srcId="{6D74BA49-63B6-4E73-97CA-B1E001C8F985}" destId="{6128A905-1400-4FB9-A670-DF6D020BD409}" srcOrd="1" destOrd="0" presId="urn:microsoft.com/office/officeart/2005/8/layout/chevron2"/>
    <dgm:cxn modelId="{E8A3AC06-15A0-47DB-9824-23731A80BEA5}" type="presParOf" srcId="{63E424AB-CFE3-4B26-BD5A-F236AF6A9B23}" destId="{F107EC94-C23B-4FD9-B1D3-624C1B33CE73}" srcOrd="1" destOrd="0" presId="urn:microsoft.com/office/officeart/2005/8/layout/chevron2"/>
    <dgm:cxn modelId="{7D65E357-ADCC-4D64-A13C-67E89571A53D}" type="presParOf" srcId="{63E424AB-CFE3-4B26-BD5A-F236AF6A9B23}" destId="{1F68A0F8-9E7F-4301-A5D3-A462A7714EB7}" srcOrd="2" destOrd="0" presId="urn:microsoft.com/office/officeart/2005/8/layout/chevron2"/>
    <dgm:cxn modelId="{421AA964-053D-4807-9B6C-06F9B92C96EB}" type="presParOf" srcId="{1F68A0F8-9E7F-4301-A5D3-A462A7714EB7}" destId="{08B1B8F7-B90C-410A-876E-D0E4C1EBC413}" srcOrd="0" destOrd="0" presId="urn:microsoft.com/office/officeart/2005/8/layout/chevron2"/>
    <dgm:cxn modelId="{AB986D81-8D2C-4C0F-A430-1E8C7AEB6713}" type="presParOf" srcId="{1F68A0F8-9E7F-4301-A5D3-A462A7714EB7}" destId="{4039CC69-22AB-470E-9449-C6A6970076EB}" srcOrd="1" destOrd="0" presId="urn:microsoft.com/office/officeart/2005/8/layout/chevron2"/>
    <dgm:cxn modelId="{6FF04F1E-5669-48D5-90CC-40F52FD1E6A0}" type="presParOf" srcId="{63E424AB-CFE3-4B26-BD5A-F236AF6A9B23}" destId="{844EBB3A-0362-4107-BBD4-3EDB1FD27DB7}" srcOrd="3" destOrd="0" presId="urn:microsoft.com/office/officeart/2005/8/layout/chevron2"/>
    <dgm:cxn modelId="{4AE01E8B-43BA-4E11-A7A6-1CD8339D456A}" type="presParOf" srcId="{63E424AB-CFE3-4B26-BD5A-F236AF6A9B23}" destId="{6B60F331-C12D-4687-9D22-0DCAC2AEC628}" srcOrd="4" destOrd="0" presId="urn:microsoft.com/office/officeart/2005/8/layout/chevron2"/>
    <dgm:cxn modelId="{CFA3CDB1-AA58-4045-9E0D-379A30EAAB4E}" type="presParOf" srcId="{6B60F331-C12D-4687-9D22-0DCAC2AEC628}" destId="{FF80C86A-E801-4CB0-A027-217FECC12CB1}" srcOrd="0" destOrd="0" presId="urn:microsoft.com/office/officeart/2005/8/layout/chevron2"/>
    <dgm:cxn modelId="{B07F9E2E-0929-47A3-903D-2A8DBC88ADDB}" type="presParOf" srcId="{6B60F331-C12D-4687-9D22-0DCAC2AEC628}" destId="{1C274BF9-168E-4081-98DF-DE0F946A6DCB}" srcOrd="1" destOrd="0" presId="urn:microsoft.com/office/officeart/2005/8/layout/chevron2"/>
    <dgm:cxn modelId="{0EFC400F-0370-4C7F-BBEA-B8A5337EB296}" type="presParOf" srcId="{63E424AB-CFE3-4B26-BD5A-F236AF6A9B23}" destId="{12B01FD5-3FBD-4190-BCE7-1DF03FC74148}" srcOrd="5" destOrd="0" presId="urn:microsoft.com/office/officeart/2005/8/layout/chevron2"/>
    <dgm:cxn modelId="{33288106-0892-45AD-9972-BFC59843C65E}" type="presParOf" srcId="{63E424AB-CFE3-4B26-BD5A-F236AF6A9B23}" destId="{89C1DC98-A343-43B5-A62F-DB1B1B6196C9}" srcOrd="6" destOrd="0" presId="urn:microsoft.com/office/officeart/2005/8/layout/chevron2"/>
    <dgm:cxn modelId="{1726CC3C-E294-4066-B427-3E8A0DDC6BCA}" type="presParOf" srcId="{89C1DC98-A343-43B5-A62F-DB1B1B6196C9}" destId="{9FFE247E-0031-4BD2-BC39-40398888F2CF}" srcOrd="0" destOrd="0" presId="urn:microsoft.com/office/officeart/2005/8/layout/chevron2"/>
    <dgm:cxn modelId="{1227A02F-5621-48F4-A09F-DFC96972C9F7}" type="presParOf" srcId="{89C1DC98-A343-43B5-A62F-DB1B1B6196C9}" destId="{C85FB0F9-4573-4676-BCC1-C3A30051DBDB}" srcOrd="1" destOrd="0" presId="urn:microsoft.com/office/officeart/2005/8/layout/chevron2"/>
    <dgm:cxn modelId="{C37D0A2A-278F-4BF9-8A16-899B41D90FC9}" type="presParOf" srcId="{63E424AB-CFE3-4B26-BD5A-F236AF6A9B23}" destId="{05D7C03D-8109-4CC7-AE2A-3DF2D6C38F03}" srcOrd="7" destOrd="0" presId="urn:microsoft.com/office/officeart/2005/8/layout/chevron2"/>
    <dgm:cxn modelId="{7E8D87F8-A46B-422F-8A73-379D83529240}" type="presParOf" srcId="{63E424AB-CFE3-4B26-BD5A-F236AF6A9B23}" destId="{BA19DAD2-195E-4E82-B758-3937E5EB8E85}" srcOrd="8" destOrd="0" presId="urn:microsoft.com/office/officeart/2005/8/layout/chevron2"/>
    <dgm:cxn modelId="{9375219C-C7C8-412C-9221-1F46D59F5663}" type="presParOf" srcId="{BA19DAD2-195E-4E82-B758-3937E5EB8E85}" destId="{E04009DF-D255-4639-9904-659AD613E93A}" srcOrd="0" destOrd="0" presId="urn:microsoft.com/office/officeart/2005/8/layout/chevron2"/>
    <dgm:cxn modelId="{1ADA2820-D83A-4E3B-9887-AF5EE301008C}" type="presParOf" srcId="{BA19DAD2-195E-4E82-B758-3937E5EB8E85}" destId="{A7A1D8BF-5636-4CEB-871C-F0EBFA2F093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D99D62-ED71-46AC-A067-07016C5AD96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BFF5293-AEBA-47A9-A244-6E6450F3C481}">
      <dgm:prSet phldrT="[Text]" custT="1"/>
      <dgm:spPr/>
      <dgm:t>
        <a:bodyPr/>
        <a:lstStyle/>
        <a:p>
          <a:pPr algn="just"/>
          <a:r>
            <a:rPr lang="en-US" sz="4000" b="1" dirty="0"/>
            <a:t>CÁC YẾU TỐ NGUY CƠ</a:t>
          </a:r>
        </a:p>
      </dgm:t>
    </dgm:pt>
    <dgm:pt modelId="{A00A25FE-1450-45F2-A235-AC3AC3742839}" type="parTrans" cxnId="{E5F12A47-0FEB-4EFE-963A-7C11F60F60AF}">
      <dgm:prSet/>
      <dgm:spPr/>
      <dgm:t>
        <a:bodyPr/>
        <a:lstStyle/>
        <a:p>
          <a:endParaRPr lang="en-US"/>
        </a:p>
      </dgm:t>
    </dgm:pt>
    <dgm:pt modelId="{29A5C8A0-E5D1-4FD2-9557-56699688FBA4}" type="sibTrans" cxnId="{E5F12A47-0FEB-4EFE-963A-7C11F60F60AF}">
      <dgm:prSet/>
      <dgm:spPr/>
      <dgm:t>
        <a:bodyPr/>
        <a:lstStyle/>
        <a:p>
          <a:endParaRPr lang="en-US"/>
        </a:p>
      </dgm:t>
    </dgm:pt>
    <dgm:pt modelId="{456B4EE7-8B96-493F-9E03-DC12CBC45FCE}">
      <dgm:prSet phldrT="[Text]"/>
      <dgm:spPr/>
      <dgm:t>
        <a:bodyPr/>
        <a:lstStyle/>
        <a:p>
          <a:r>
            <a:rPr lang="en-US" dirty="0" err="1"/>
            <a:t>Sốt</a:t>
          </a:r>
          <a:r>
            <a:rPr lang="en-US" dirty="0"/>
            <a:t> </a:t>
          </a:r>
          <a:r>
            <a:rPr lang="en-US" dirty="0" err="1"/>
            <a:t>cao</a:t>
          </a:r>
          <a:endParaRPr lang="en-US" dirty="0"/>
        </a:p>
      </dgm:t>
    </dgm:pt>
    <dgm:pt modelId="{4C857F5A-D5FF-4FCB-B858-90695C24D4CE}" type="parTrans" cxnId="{87503360-60FF-4C2B-8C2C-7395B15DEDF0}">
      <dgm:prSet/>
      <dgm:spPr/>
      <dgm:t>
        <a:bodyPr/>
        <a:lstStyle/>
        <a:p>
          <a:endParaRPr lang="en-US"/>
        </a:p>
      </dgm:t>
    </dgm:pt>
    <dgm:pt modelId="{94429255-89D0-4557-B8B1-CEB2BDB5C975}" type="sibTrans" cxnId="{87503360-60FF-4C2B-8C2C-7395B15DEDF0}">
      <dgm:prSet/>
      <dgm:spPr/>
      <dgm:t>
        <a:bodyPr/>
        <a:lstStyle/>
        <a:p>
          <a:endParaRPr lang="en-US"/>
        </a:p>
      </dgm:t>
    </dgm:pt>
    <dgm:pt modelId="{CC4374A9-CC88-444C-9DBB-9684EDC9B8B4}">
      <dgm:prSet phldrT="[Text]"/>
      <dgm:spPr/>
      <dgm:t>
        <a:bodyPr/>
        <a:lstStyle/>
        <a:p>
          <a:r>
            <a:rPr lang="en-US" dirty="0" err="1"/>
            <a:t>Nhiễm</a:t>
          </a:r>
          <a:r>
            <a:rPr lang="en-US" dirty="0"/>
            <a:t> </a:t>
          </a:r>
          <a:r>
            <a:rPr lang="en-US" dirty="0" err="1"/>
            <a:t>trùng</a:t>
          </a:r>
          <a:endParaRPr lang="en-US" dirty="0"/>
        </a:p>
      </dgm:t>
    </dgm:pt>
    <dgm:pt modelId="{E15ADAAE-C5C2-4078-84AC-D3ACFB447C7C}" type="parTrans" cxnId="{FD2F3008-495C-49C6-ACA7-73B74152F62C}">
      <dgm:prSet/>
      <dgm:spPr/>
      <dgm:t>
        <a:bodyPr/>
        <a:lstStyle/>
        <a:p>
          <a:endParaRPr lang="en-US"/>
        </a:p>
      </dgm:t>
    </dgm:pt>
    <dgm:pt modelId="{E93205B0-FD92-4057-8282-72F3FC84D5F6}" type="sibTrans" cxnId="{FD2F3008-495C-49C6-ACA7-73B74152F62C}">
      <dgm:prSet/>
      <dgm:spPr/>
      <dgm:t>
        <a:bodyPr/>
        <a:lstStyle/>
        <a:p>
          <a:endParaRPr lang="en-US"/>
        </a:p>
      </dgm:t>
    </dgm:pt>
    <dgm:pt modelId="{D3E68E20-B11C-486D-ABAE-F2794F4211E5}">
      <dgm:prSet phldrT="[Text]"/>
      <dgm:spPr/>
      <dgm:t>
        <a:bodyPr/>
        <a:lstStyle/>
        <a:p>
          <a:r>
            <a:rPr lang="en-US" dirty="0" err="1"/>
            <a:t>Tiêm</a:t>
          </a:r>
          <a:r>
            <a:rPr lang="en-US" dirty="0"/>
            <a:t> </a:t>
          </a:r>
          <a:r>
            <a:rPr lang="en-US" dirty="0" err="1"/>
            <a:t>chủng</a:t>
          </a:r>
          <a:endParaRPr lang="en-US" dirty="0"/>
        </a:p>
      </dgm:t>
    </dgm:pt>
    <dgm:pt modelId="{55A0DB5B-BB75-42F7-8740-F43155A45BD7}" type="parTrans" cxnId="{DF430CF4-CFB8-43BA-AAC6-8AB04592147B}">
      <dgm:prSet/>
      <dgm:spPr/>
      <dgm:t>
        <a:bodyPr/>
        <a:lstStyle/>
        <a:p>
          <a:endParaRPr lang="en-US"/>
        </a:p>
      </dgm:t>
    </dgm:pt>
    <dgm:pt modelId="{AC0AD912-BDEB-45DA-B43C-B7C3B845B2AB}" type="sibTrans" cxnId="{DF430CF4-CFB8-43BA-AAC6-8AB04592147B}">
      <dgm:prSet/>
      <dgm:spPr/>
      <dgm:t>
        <a:bodyPr/>
        <a:lstStyle/>
        <a:p>
          <a:endParaRPr lang="en-US"/>
        </a:p>
      </dgm:t>
    </dgm:pt>
    <dgm:pt modelId="{46A32A67-BEF0-4F86-BDF9-B5592F842535}">
      <dgm:prSet phldrT="[Text]"/>
      <dgm:spPr/>
      <dgm:t>
        <a:bodyPr/>
        <a:lstStyle/>
        <a:p>
          <a:r>
            <a:rPr lang="en-US" dirty="0" err="1"/>
            <a:t>Nhạy</a:t>
          </a:r>
          <a:r>
            <a:rPr lang="en-US" dirty="0"/>
            <a:t> </a:t>
          </a:r>
          <a:r>
            <a:rPr lang="en-US" dirty="0" err="1"/>
            <a:t>cảm</a:t>
          </a:r>
          <a:r>
            <a:rPr lang="en-US" dirty="0"/>
            <a:t> di </a:t>
          </a:r>
          <a:r>
            <a:rPr lang="en-US" dirty="0" err="1"/>
            <a:t>truyền</a:t>
          </a:r>
          <a:endParaRPr lang="en-US" dirty="0"/>
        </a:p>
      </dgm:t>
    </dgm:pt>
    <dgm:pt modelId="{9890896D-3990-4CE5-ABE3-75EC27BE7486}" type="parTrans" cxnId="{97CF8FF9-93D3-41EF-92B1-9F8B11ABB491}">
      <dgm:prSet/>
      <dgm:spPr/>
      <dgm:t>
        <a:bodyPr/>
        <a:lstStyle/>
        <a:p>
          <a:endParaRPr lang="en-US"/>
        </a:p>
      </dgm:t>
    </dgm:pt>
    <dgm:pt modelId="{AB1289A8-689E-4A6D-9D90-97B42665BC1B}" type="sibTrans" cxnId="{97CF8FF9-93D3-41EF-92B1-9F8B11ABB491}">
      <dgm:prSet/>
      <dgm:spPr/>
      <dgm:t>
        <a:bodyPr/>
        <a:lstStyle/>
        <a:p>
          <a:endParaRPr lang="en-US"/>
        </a:p>
      </dgm:t>
    </dgm:pt>
    <dgm:pt modelId="{BF95937C-2FEC-4EAB-B21C-979DF2F26246}">
      <dgm:prSet phldrT="[Text]"/>
      <dgm:spPr/>
      <dgm:t>
        <a:bodyPr/>
        <a:lstStyle/>
        <a:p>
          <a:r>
            <a:rPr lang="en-US" dirty="0" err="1"/>
            <a:t>Các</a:t>
          </a:r>
          <a:r>
            <a:rPr lang="en-US" dirty="0"/>
            <a:t> </a:t>
          </a:r>
          <a:r>
            <a:rPr lang="en-US" dirty="0" err="1"/>
            <a:t>yếu</a:t>
          </a:r>
          <a:r>
            <a:rPr lang="en-US" dirty="0"/>
            <a:t> </a:t>
          </a:r>
          <a:r>
            <a:rPr lang="en-US" dirty="0" err="1"/>
            <a:t>tố</a:t>
          </a:r>
          <a:r>
            <a:rPr lang="en-US" dirty="0"/>
            <a:t> </a:t>
          </a:r>
          <a:r>
            <a:rPr lang="en-US" dirty="0" err="1"/>
            <a:t>khác</a:t>
          </a:r>
          <a:endParaRPr lang="en-US" dirty="0"/>
        </a:p>
      </dgm:t>
    </dgm:pt>
    <dgm:pt modelId="{0718CB38-74E3-49A8-ABE8-15F08C745C65}" type="parTrans" cxnId="{A8C12329-5148-44BE-9A32-036973E276EB}">
      <dgm:prSet/>
      <dgm:spPr/>
      <dgm:t>
        <a:bodyPr/>
        <a:lstStyle/>
        <a:p>
          <a:endParaRPr lang="en-US"/>
        </a:p>
      </dgm:t>
    </dgm:pt>
    <dgm:pt modelId="{68EC399D-6099-4F3E-8172-65E3B4D72950}" type="sibTrans" cxnId="{A8C12329-5148-44BE-9A32-036973E276EB}">
      <dgm:prSet/>
      <dgm:spPr/>
      <dgm:t>
        <a:bodyPr/>
        <a:lstStyle/>
        <a:p>
          <a:endParaRPr lang="en-US"/>
        </a:p>
      </dgm:t>
    </dgm:pt>
    <dgm:pt modelId="{DAED9228-DC9C-4E89-BFF4-E363528B57C3}" type="pres">
      <dgm:prSet presAssocID="{9AD99D62-ED71-46AC-A067-07016C5AD965}" presName="vert0" presStyleCnt="0">
        <dgm:presLayoutVars>
          <dgm:dir/>
          <dgm:animOne val="branch"/>
          <dgm:animLvl val="lvl"/>
        </dgm:presLayoutVars>
      </dgm:prSet>
      <dgm:spPr/>
      <dgm:t>
        <a:bodyPr/>
        <a:lstStyle/>
        <a:p>
          <a:endParaRPr lang="en-US"/>
        </a:p>
      </dgm:t>
    </dgm:pt>
    <dgm:pt modelId="{B1E407E2-8EEA-4F10-801F-7C730EFC4747}" type="pres">
      <dgm:prSet presAssocID="{CBFF5293-AEBA-47A9-A244-6E6450F3C481}" presName="thickLine" presStyleLbl="alignNode1" presStyleIdx="0" presStyleCnt="1"/>
      <dgm:spPr/>
    </dgm:pt>
    <dgm:pt modelId="{48EF7861-AEAA-446E-B903-7038A059F4AA}" type="pres">
      <dgm:prSet presAssocID="{CBFF5293-AEBA-47A9-A244-6E6450F3C481}" presName="horz1" presStyleCnt="0"/>
      <dgm:spPr/>
    </dgm:pt>
    <dgm:pt modelId="{470AB8DB-21C0-4F21-9217-F9CB6F944776}" type="pres">
      <dgm:prSet presAssocID="{CBFF5293-AEBA-47A9-A244-6E6450F3C481}" presName="tx1" presStyleLbl="revTx" presStyleIdx="0" presStyleCnt="6"/>
      <dgm:spPr/>
      <dgm:t>
        <a:bodyPr/>
        <a:lstStyle/>
        <a:p>
          <a:endParaRPr lang="en-US"/>
        </a:p>
      </dgm:t>
    </dgm:pt>
    <dgm:pt modelId="{A515D764-09F5-484D-A8F5-08D4BC53EF74}" type="pres">
      <dgm:prSet presAssocID="{CBFF5293-AEBA-47A9-A244-6E6450F3C481}" presName="vert1" presStyleCnt="0"/>
      <dgm:spPr/>
    </dgm:pt>
    <dgm:pt modelId="{2B6BE43F-1572-4D49-8FBA-220C9928C273}" type="pres">
      <dgm:prSet presAssocID="{456B4EE7-8B96-493F-9E03-DC12CBC45FCE}" presName="vertSpace2a" presStyleCnt="0"/>
      <dgm:spPr/>
    </dgm:pt>
    <dgm:pt modelId="{A4BECDB6-E0C7-4EA2-B93A-89716E85A894}" type="pres">
      <dgm:prSet presAssocID="{456B4EE7-8B96-493F-9E03-DC12CBC45FCE}" presName="horz2" presStyleCnt="0"/>
      <dgm:spPr/>
    </dgm:pt>
    <dgm:pt modelId="{6B270FFB-8827-4265-9B7F-5F048B7969F2}" type="pres">
      <dgm:prSet presAssocID="{456B4EE7-8B96-493F-9E03-DC12CBC45FCE}" presName="horzSpace2" presStyleCnt="0"/>
      <dgm:spPr/>
    </dgm:pt>
    <dgm:pt modelId="{87DAB201-1DB3-40C9-93CF-066958D10FE6}" type="pres">
      <dgm:prSet presAssocID="{456B4EE7-8B96-493F-9E03-DC12CBC45FCE}" presName="tx2" presStyleLbl="revTx" presStyleIdx="1" presStyleCnt="6"/>
      <dgm:spPr/>
      <dgm:t>
        <a:bodyPr/>
        <a:lstStyle/>
        <a:p>
          <a:endParaRPr lang="en-US"/>
        </a:p>
      </dgm:t>
    </dgm:pt>
    <dgm:pt modelId="{8B4D6657-BBC1-4E34-B98F-642E9A5FB913}" type="pres">
      <dgm:prSet presAssocID="{456B4EE7-8B96-493F-9E03-DC12CBC45FCE}" presName="vert2" presStyleCnt="0"/>
      <dgm:spPr/>
    </dgm:pt>
    <dgm:pt modelId="{CFD9DE4D-D964-4BCB-A176-56192B25AA8C}" type="pres">
      <dgm:prSet presAssocID="{456B4EE7-8B96-493F-9E03-DC12CBC45FCE}" presName="thinLine2b" presStyleLbl="callout" presStyleIdx="0" presStyleCnt="5"/>
      <dgm:spPr/>
    </dgm:pt>
    <dgm:pt modelId="{757A582E-FD77-4BFF-A677-DD86565E4A97}" type="pres">
      <dgm:prSet presAssocID="{456B4EE7-8B96-493F-9E03-DC12CBC45FCE}" presName="vertSpace2b" presStyleCnt="0"/>
      <dgm:spPr/>
    </dgm:pt>
    <dgm:pt modelId="{BA7AD442-AE17-4D96-9C20-6BAFDFE4E546}" type="pres">
      <dgm:prSet presAssocID="{CC4374A9-CC88-444C-9DBB-9684EDC9B8B4}" presName="horz2" presStyleCnt="0"/>
      <dgm:spPr/>
    </dgm:pt>
    <dgm:pt modelId="{C50D367A-6965-4074-981A-FF4A5D796009}" type="pres">
      <dgm:prSet presAssocID="{CC4374A9-CC88-444C-9DBB-9684EDC9B8B4}" presName="horzSpace2" presStyleCnt="0"/>
      <dgm:spPr/>
    </dgm:pt>
    <dgm:pt modelId="{00D6D239-2AAE-406F-A5E1-083BAA2C85F5}" type="pres">
      <dgm:prSet presAssocID="{CC4374A9-CC88-444C-9DBB-9684EDC9B8B4}" presName="tx2" presStyleLbl="revTx" presStyleIdx="2" presStyleCnt="6"/>
      <dgm:spPr/>
      <dgm:t>
        <a:bodyPr/>
        <a:lstStyle/>
        <a:p>
          <a:endParaRPr lang="en-US"/>
        </a:p>
      </dgm:t>
    </dgm:pt>
    <dgm:pt modelId="{9FDE6453-017A-4AE2-B566-814732B96E6F}" type="pres">
      <dgm:prSet presAssocID="{CC4374A9-CC88-444C-9DBB-9684EDC9B8B4}" presName="vert2" presStyleCnt="0"/>
      <dgm:spPr/>
    </dgm:pt>
    <dgm:pt modelId="{6016B819-EBD6-4FD8-9B70-40A3A68D59DC}" type="pres">
      <dgm:prSet presAssocID="{CC4374A9-CC88-444C-9DBB-9684EDC9B8B4}" presName="thinLine2b" presStyleLbl="callout" presStyleIdx="1" presStyleCnt="5"/>
      <dgm:spPr/>
    </dgm:pt>
    <dgm:pt modelId="{13A983F4-2F27-4359-9396-D072FFB467B3}" type="pres">
      <dgm:prSet presAssocID="{CC4374A9-CC88-444C-9DBB-9684EDC9B8B4}" presName="vertSpace2b" presStyleCnt="0"/>
      <dgm:spPr/>
    </dgm:pt>
    <dgm:pt modelId="{C7E4B40F-44E3-4852-9AB2-4310351DCC47}" type="pres">
      <dgm:prSet presAssocID="{D3E68E20-B11C-486D-ABAE-F2794F4211E5}" presName="horz2" presStyleCnt="0"/>
      <dgm:spPr/>
    </dgm:pt>
    <dgm:pt modelId="{A74544D4-5888-497F-9016-DE303001AFF2}" type="pres">
      <dgm:prSet presAssocID="{D3E68E20-B11C-486D-ABAE-F2794F4211E5}" presName="horzSpace2" presStyleCnt="0"/>
      <dgm:spPr/>
    </dgm:pt>
    <dgm:pt modelId="{213499BD-8CB2-4132-B2ED-378ABA7F0809}" type="pres">
      <dgm:prSet presAssocID="{D3E68E20-B11C-486D-ABAE-F2794F4211E5}" presName="tx2" presStyleLbl="revTx" presStyleIdx="3" presStyleCnt="6"/>
      <dgm:spPr/>
      <dgm:t>
        <a:bodyPr/>
        <a:lstStyle/>
        <a:p>
          <a:endParaRPr lang="en-US"/>
        </a:p>
      </dgm:t>
    </dgm:pt>
    <dgm:pt modelId="{DBDFE1D3-81C1-4ABD-B9CC-C85D59204BA0}" type="pres">
      <dgm:prSet presAssocID="{D3E68E20-B11C-486D-ABAE-F2794F4211E5}" presName="vert2" presStyleCnt="0"/>
      <dgm:spPr/>
    </dgm:pt>
    <dgm:pt modelId="{F0349FDD-88A4-415B-8D4D-FA63FD3C61AD}" type="pres">
      <dgm:prSet presAssocID="{D3E68E20-B11C-486D-ABAE-F2794F4211E5}" presName="thinLine2b" presStyleLbl="callout" presStyleIdx="2" presStyleCnt="5"/>
      <dgm:spPr/>
    </dgm:pt>
    <dgm:pt modelId="{4650A03A-9F22-4ECD-A15F-4576A2A4C4D1}" type="pres">
      <dgm:prSet presAssocID="{D3E68E20-B11C-486D-ABAE-F2794F4211E5}" presName="vertSpace2b" presStyleCnt="0"/>
      <dgm:spPr/>
    </dgm:pt>
    <dgm:pt modelId="{4740BB91-ED17-44C4-BD4D-50DAA59957A1}" type="pres">
      <dgm:prSet presAssocID="{46A32A67-BEF0-4F86-BDF9-B5592F842535}" presName="horz2" presStyleCnt="0"/>
      <dgm:spPr/>
    </dgm:pt>
    <dgm:pt modelId="{2EF7E2AF-D95A-4BB7-9736-99C6A7789230}" type="pres">
      <dgm:prSet presAssocID="{46A32A67-BEF0-4F86-BDF9-B5592F842535}" presName="horzSpace2" presStyleCnt="0"/>
      <dgm:spPr/>
    </dgm:pt>
    <dgm:pt modelId="{EE897120-3441-467B-80DF-3CA5CE08718D}" type="pres">
      <dgm:prSet presAssocID="{46A32A67-BEF0-4F86-BDF9-B5592F842535}" presName="tx2" presStyleLbl="revTx" presStyleIdx="4" presStyleCnt="6"/>
      <dgm:spPr/>
      <dgm:t>
        <a:bodyPr/>
        <a:lstStyle/>
        <a:p>
          <a:endParaRPr lang="en-US"/>
        </a:p>
      </dgm:t>
    </dgm:pt>
    <dgm:pt modelId="{B5386E47-00EF-4EF8-BCA6-79E7FE912BB7}" type="pres">
      <dgm:prSet presAssocID="{46A32A67-BEF0-4F86-BDF9-B5592F842535}" presName="vert2" presStyleCnt="0"/>
      <dgm:spPr/>
    </dgm:pt>
    <dgm:pt modelId="{1E1037CF-59F5-4971-8D11-8C9D716176D0}" type="pres">
      <dgm:prSet presAssocID="{46A32A67-BEF0-4F86-BDF9-B5592F842535}" presName="thinLine2b" presStyleLbl="callout" presStyleIdx="3" presStyleCnt="5"/>
      <dgm:spPr/>
    </dgm:pt>
    <dgm:pt modelId="{940A37B2-402C-4E1E-9C0F-D6E2A59DEEDB}" type="pres">
      <dgm:prSet presAssocID="{46A32A67-BEF0-4F86-BDF9-B5592F842535}" presName="vertSpace2b" presStyleCnt="0"/>
      <dgm:spPr/>
    </dgm:pt>
    <dgm:pt modelId="{5B2C2BF8-C0FB-4FCB-BC85-6BAE7BE4ED54}" type="pres">
      <dgm:prSet presAssocID="{BF95937C-2FEC-4EAB-B21C-979DF2F26246}" presName="horz2" presStyleCnt="0"/>
      <dgm:spPr/>
    </dgm:pt>
    <dgm:pt modelId="{C37412E6-ECDF-4243-8CE2-FEA5C48FB585}" type="pres">
      <dgm:prSet presAssocID="{BF95937C-2FEC-4EAB-B21C-979DF2F26246}" presName="horzSpace2" presStyleCnt="0"/>
      <dgm:spPr/>
    </dgm:pt>
    <dgm:pt modelId="{1DD2DA79-08DC-4F68-86AB-768BCECC0DA1}" type="pres">
      <dgm:prSet presAssocID="{BF95937C-2FEC-4EAB-B21C-979DF2F26246}" presName="tx2" presStyleLbl="revTx" presStyleIdx="5" presStyleCnt="6"/>
      <dgm:spPr/>
      <dgm:t>
        <a:bodyPr/>
        <a:lstStyle/>
        <a:p>
          <a:endParaRPr lang="en-US"/>
        </a:p>
      </dgm:t>
    </dgm:pt>
    <dgm:pt modelId="{1C2ACA79-598A-4950-A909-780CBB034958}" type="pres">
      <dgm:prSet presAssocID="{BF95937C-2FEC-4EAB-B21C-979DF2F26246}" presName="vert2" presStyleCnt="0"/>
      <dgm:spPr/>
    </dgm:pt>
    <dgm:pt modelId="{1D195467-E04E-4DB6-8F71-90F58FE1684C}" type="pres">
      <dgm:prSet presAssocID="{BF95937C-2FEC-4EAB-B21C-979DF2F26246}" presName="thinLine2b" presStyleLbl="callout" presStyleIdx="4" presStyleCnt="5"/>
      <dgm:spPr/>
    </dgm:pt>
    <dgm:pt modelId="{374CF33A-D4EB-4FAA-96D0-365C354BDA90}" type="pres">
      <dgm:prSet presAssocID="{BF95937C-2FEC-4EAB-B21C-979DF2F26246}" presName="vertSpace2b" presStyleCnt="0"/>
      <dgm:spPr/>
    </dgm:pt>
  </dgm:ptLst>
  <dgm:cxnLst>
    <dgm:cxn modelId="{05270B52-1E2E-4BDE-81F6-503CA14BBD47}" type="presOf" srcId="{9AD99D62-ED71-46AC-A067-07016C5AD965}" destId="{DAED9228-DC9C-4E89-BFF4-E363528B57C3}" srcOrd="0" destOrd="0" presId="urn:microsoft.com/office/officeart/2008/layout/LinedList"/>
    <dgm:cxn modelId="{A8C12329-5148-44BE-9A32-036973E276EB}" srcId="{CBFF5293-AEBA-47A9-A244-6E6450F3C481}" destId="{BF95937C-2FEC-4EAB-B21C-979DF2F26246}" srcOrd="4" destOrd="0" parTransId="{0718CB38-74E3-49A8-ABE8-15F08C745C65}" sibTransId="{68EC399D-6099-4F3E-8172-65E3B4D72950}"/>
    <dgm:cxn modelId="{87503360-60FF-4C2B-8C2C-7395B15DEDF0}" srcId="{CBFF5293-AEBA-47A9-A244-6E6450F3C481}" destId="{456B4EE7-8B96-493F-9E03-DC12CBC45FCE}" srcOrd="0" destOrd="0" parTransId="{4C857F5A-D5FF-4FCB-B858-90695C24D4CE}" sibTransId="{94429255-89D0-4557-B8B1-CEB2BDB5C975}"/>
    <dgm:cxn modelId="{AE59064F-6573-42EC-A6D6-0C51741E7478}" type="presOf" srcId="{46A32A67-BEF0-4F86-BDF9-B5592F842535}" destId="{EE897120-3441-467B-80DF-3CA5CE08718D}" srcOrd="0" destOrd="0" presId="urn:microsoft.com/office/officeart/2008/layout/LinedList"/>
    <dgm:cxn modelId="{FBC9ABFE-4B3E-49C2-B246-7487B9010319}" type="presOf" srcId="{BF95937C-2FEC-4EAB-B21C-979DF2F26246}" destId="{1DD2DA79-08DC-4F68-86AB-768BCECC0DA1}" srcOrd="0" destOrd="0" presId="urn:microsoft.com/office/officeart/2008/layout/LinedList"/>
    <dgm:cxn modelId="{CE2FCECA-0276-4212-A23A-73F2D5BBE3D2}" type="presOf" srcId="{456B4EE7-8B96-493F-9E03-DC12CBC45FCE}" destId="{87DAB201-1DB3-40C9-93CF-066958D10FE6}" srcOrd="0" destOrd="0" presId="urn:microsoft.com/office/officeart/2008/layout/LinedList"/>
    <dgm:cxn modelId="{63249983-50BC-486E-AE48-9A8049FF587B}" type="presOf" srcId="{CBFF5293-AEBA-47A9-A244-6E6450F3C481}" destId="{470AB8DB-21C0-4F21-9217-F9CB6F944776}" srcOrd="0" destOrd="0" presId="urn:microsoft.com/office/officeart/2008/layout/LinedList"/>
    <dgm:cxn modelId="{FD2F3008-495C-49C6-ACA7-73B74152F62C}" srcId="{CBFF5293-AEBA-47A9-A244-6E6450F3C481}" destId="{CC4374A9-CC88-444C-9DBB-9684EDC9B8B4}" srcOrd="1" destOrd="0" parTransId="{E15ADAAE-C5C2-4078-84AC-D3ACFB447C7C}" sibTransId="{E93205B0-FD92-4057-8282-72F3FC84D5F6}"/>
    <dgm:cxn modelId="{060E6D74-E795-4718-9736-314DED311A77}" type="presOf" srcId="{D3E68E20-B11C-486D-ABAE-F2794F4211E5}" destId="{213499BD-8CB2-4132-B2ED-378ABA7F0809}" srcOrd="0" destOrd="0" presId="urn:microsoft.com/office/officeart/2008/layout/LinedList"/>
    <dgm:cxn modelId="{DF430CF4-CFB8-43BA-AAC6-8AB04592147B}" srcId="{CBFF5293-AEBA-47A9-A244-6E6450F3C481}" destId="{D3E68E20-B11C-486D-ABAE-F2794F4211E5}" srcOrd="2" destOrd="0" parTransId="{55A0DB5B-BB75-42F7-8740-F43155A45BD7}" sibTransId="{AC0AD912-BDEB-45DA-B43C-B7C3B845B2AB}"/>
    <dgm:cxn modelId="{97CF8FF9-93D3-41EF-92B1-9F8B11ABB491}" srcId="{CBFF5293-AEBA-47A9-A244-6E6450F3C481}" destId="{46A32A67-BEF0-4F86-BDF9-B5592F842535}" srcOrd="3" destOrd="0" parTransId="{9890896D-3990-4CE5-ABE3-75EC27BE7486}" sibTransId="{AB1289A8-689E-4A6D-9D90-97B42665BC1B}"/>
    <dgm:cxn modelId="{E5F12A47-0FEB-4EFE-963A-7C11F60F60AF}" srcId="{9AD99D62-ED71-46AC-A067-07016C5AD965}" destId="{CBFF5293-AEBA-47A9-A244-6E6450F3C481}" srcOrd="0" destOrd="0" parTransId="{A00A25FE-1450-45F2-A235-AC3AC3742839}" sibTransId="{29A5C8A0-E5D1-4FD2-9557-56699688FBA4}"/>
    <dgm:cxn modelId="{CAB654D6-B495-4FD5-85E6-ACB558E6FC34}" type="presOf" srcId="{CC4374A9-CC88-444C-9DBB-9684EDC9B8B4}" destId="{00D6D239-2AAE-406F-A5E1-083BAA2C85F5}" srcOrd="0" destOrd="0" presId="urn:microsoft.com/office/officeart/2008/layout/LinedList"/>
    <dgm:cxn modelId="{B4EACE3B-739D-4AC3-9811-753F8C439B28}" type="presParOf" srcId="{DAED9228-DC9C-4E89-BFF4-E363528B57C3}" destId="{B1E407E2-8EEA-4F10-801F-7C730EFC4747}" srcOrd="0" destOrd="0" presId="urn:microsoft.com/office/officeart/2008/layout/LinedList"/>
    <dgm:cxn modelId="{9833077B-F49E-411F-844F-51AF12D0580D}" type="presParOf" srcId="{DAED9228-DC9C-4E89-BFF4-E363528B57C3}" destId="{48EF7861-AEAA-446E-B903-7038A059F4AA}" srcOrd="1" destOrd="0" presId="urn:microsoft.com/office/officeart/2008/layout/LinedList"/>
    <dgm:cxn modelId="{D6C25F72-007A-421E-8D5D-AFF9F583ABF9}" type="presParOf" srcId="{48EF7861-AEAA-446E-B903-7038A059F4AA}" destId="{470AB8DB-21C0-4F21-9217-F9CB6F944776}" srcOrd="0" destOrd="0" presId="urn:microsoft.com/office/officeart/2008/layout/LinedList"/>
    <dgm:cxn modelId="{C7CD0786-B25D-459E-9733-C8776F003CA4}" type="presParOf" srcId="{48EF7861-AEAA-446E-B903-7038A059F4AA}" destId="{A515D764-09F5-484D-A8F5-08D4BC53EF74}" srcOrd="1" destOrd="0" presId="urn:microsoft.com/office/officeart/2008/layout/LinedList"/>
    <dgm:cxn modelId="{73CABF7B-6C96-417E-9C9E-9DD1D5239F84}" type="presParOf" srcId="{A515D764-09F5-484D-A8F5-08D4BC53EF74}" destId="{2B6BE43F-1572-4D49-8FBA-220C9928C273}" srcOrd="0" destOrd="0" presId="urn:microsoft.com/office/officeart/2008/layout/LinedList"/>
    <dgm:cxn modelId="{BF437D04-11DA-4E2D-97E0-6344961C9972}" type="presParOf" srcId="{A515D764-09F5-484D-A8F5-08D4BC53EF74}" destId="{A4BECDB6-E0C7-4EA2-B93A-89716E85A894}" srcOrd="1" destOrd="0" presId="urn:microsoft.com/office/officeart/2008/layout/LinedList"/>
    <dgm:cxn modelId="{D5B481C2-5BE5-41AF-93C2-2DABC1DEC485}" type="presParOf" srcId="{A4BECDB6-E0C7-4EA2-B93A-89716E85A894}" destId="{6B270FFB-8827-4265-9B7F-5F048B7969F2}" srcOrd="0" destOrd="0" presId="urn:microsoft.com/office/officeart/2008/layout/LinedList"/>
    <dgm:cxn modelId="{1DD5A451-7AA8-4D7D-A5D2-DD43044419A9}" type="presParOf" srcId="{A4BECDB6-E0C7-4EA2-B93A-89716E85A894}" destId="{87DAB201-1DB3-40C9-93CF-066958D10FE6}" srcOrd="1" destOrd="0" presId="urn:microsoft.com/office/officeart/2008/layout/LinedList"/>
    <dgm:cxn modelId="{86970F8E-9C81-45B9-BCC6-BA427D316469}" type="presParOf" srcId="{A4BECDB6-E0C7-4EA2-B93A-89716E85A894}" destId="{8B4D6657-BBC1-4E34-B98F-642E9A5FB913}" srcOrd="2" destOrd="0" presId="urn:microsoft.com/office/officeart/2008/layout/LinedList"/>
    <dgm:cxn modelId="{DAE31553-1EBD-4322-AA3B-AC55D8F74F3C}" type="presParOf" srcId="{A515D764-09F5-484D-A8F5-08D4BC53EF74}" destId="{CFD9DE4D-D964-4BCB-A176-56192B25AA8C}" srcOrd="2" destOrd="0" presId="urn:microsoft.com/office/officeart/2008/layout/LinedList"/>
    <dgm:cxn modelId="{3C7F873D-6674-4C78-9222-0280B6E10AF9}" type="presParOf" srcId="{A515D764-09F5-484D-A8F5-08D4BC53EF74}" destId="{757A582E-FD77-4BFF-A677-DD86565E4A97}" srcOrd="3" destOrd="0" presId="urn:microsoft.com/office/officeart/2008/layout/LinedList"/>
    <dgm:cxn modelId="{B4801348-C338-43DF-87A1-684C7ADBBB51}" type="presParOf" srcId="{A515D764-09F5-484D-A8F5-08D4BC53EF74}" destId="{BA7AD442-AE17-4D96-9C20-6BAFDFE4E546}" srcOrd="4" destOrd="0" presId="urn:microsoft.com/office/officeart/2008/layout/LinedList"/>
    <dgm:cxn modelId="{3C7BE018-7431-48E3-A6FD-0EB1F36E2467}" type="presParOf" srcId="{BA7AD442-AE17-4D96-9C20-6BAFDFE4E546}" destId="{C50D367A-6965-4074-981A-FF4A5D796009}" srcOrd="0" destOrd="0" presId="urn:microsoft.com/office/officeart/2008/layout/LinedList"/>
    <dgm:cxn modelId="{87BDE74F-3E55-4DE0-B37C-AA9AEDE505F1}" type="presParOf" srcId="{BA7AD442-AE17-4D96-9C20-6BAFDFE4E546}" destId="{00D6D239-2AAE-406F-A5E1-083BAA2C85F5}" srcOrd="1" destOrd="0" presId="urn:microsoft.com/office/officeart/2008/layout/LinedList"/>
    <dgm:cxn modelId="{F1D7955B-2B84-471F-B411-CEC342A65009}" type="presParOf" srcId="{BA7AD442-AE17-4D96-9C20-6BAFDFE4E546}" destId="{9FDE6453-017A-4AE2-B566-814732B96E6F}" srcOrd="2" destOrd="0" presId="urn:microsoft.com/office/officeart/2008/layout/LinedList"/>
    <dgm:cxn modelId="{EBA58409-6E97-4D9E-95FB-D0BDE8300AEC}" type="presParOf" srcId="{A515D764-09F5-484D-A8F5-08D4BC53EF74}" destId="{6016B819-EBD6-4FD8-9B70-40A3A68D59DC}" srcOrd="5" destOrd="0" presId="urn:microsoft.com/office/officeart/2008/layout/LinedList"/>
    <dgm:cxn modelId="{6808B013-0346-4607-90C7-2BDDD95E78C4}" type="presParOf" srcId="{A515D764-09F5-484D-A8F5-08D4BC53EF74}" destId="{13A983F4-2F27-4359-9396-D072FFB467B3}" srcOrd="6" destOrd="0" presId="urn:microsoft.com/office/officeart/2008/layout/LinedList"/>
    <dgm:cxn modelId="{6F717E50-60D7-49A1-AB4A-45DBB7A1283F}" type="presParOf" srcId="{A515D764-09F5-484D-A8F5-08D4BC53EF74}" destId="{C7E4B40F-44E3-4852-9AB2-4310351DCC47}" srcOrd="7" destOrd="0" presId="urn:microsoft.com/office/officeart/2008/layout/LinedList"/>
    <dgm:cxn modelId="{C6E872BB-29E3-4673-91A1-2A74D4E97310}" type="presParOf" srcId="{C7E4B40F-44E3-4852-9AB2-4310351DCC47}" destId="{A74544D4-5888-497F-9016-DE303001AFF2}" srcOrd="0" destOrd="0" presId="urn:microsoft.com/office/officeart/2008/layout/LinedList"/>
    <dgm:cxn modelId="{714FF491-F526-4013-B16E-BA50738F846A}" type="presParOf" srcId="{C7E4B40F-44E3-4852-9AB2-4310351DCC47}" destId="{213499BD-8CB2-4132-B2ED-378ABA7F0809}" srcOrd="1" destOrd="0" presId="urn:microsoft.com/office/officeart/2008/layout/LinedList"/>
    <dgm:cxn modelId="{6562989D-D739-4BAD-A8EC-934A3A8DC193}" type="presParOf" srcId="{C7E4B40F-44E3-4852-9AB2-4310351DCC47}" destId="{DBDFE1D3-81C1-4ABD-B9CC-C85D59204BA0}" srcOrd="2" destOrd="0" presId="urn:microsoft.com/office/officeart/2008/layout/LinedList"/>
    <dgm:cxn modelId="{245978E1-FB77-4B6D-947B-CE93D2C346EA}" type="presParOf" srcId="{A515D764-09F5-484D-A8F5-08D4BC53EF74}" destId="{F0349FDD-88A4-415B-8D4D-FA63FD3C61AD}" srcOrd="8" destOrd="0" presId="urn:microsoft.com/office/officeart/2008/layout/LinedList"/>
    <dgm:cxn modelId="{1DED2057-DE75-49FE-BE81-422EDC5ADB9C}" type="presParOf" srcId="{A515D764-09F5-484D-A8F5-08D4BC53EF74}" destId="{4650A03A-9F22-4ECD-A15F-4576A2A4C4D1}" srcOrd="9" destOrd="0" presId="urn:microsoft.com/office/officeart/2008/layout/LinedList"/>
    <dgm:cxn modelId="{45A9198A-2F21-43BE-9964-67E4877A9FC8}" type="presParOf" srcId="{A515D764-09F5-484D-A8F5-08D4BC53EF74}" destId="{4740BB91-ED17-44C4-BD4D-50DAA59957A1}" srcOrd="10" destOrd="0" presId="urn:microsoft.com/office/officeart/2008/layout/LinedList"/>
    <dgm:cxn modelId="{6A226C00-B005-474F-B798-BFE03DA09820}" type="presParOf" srcId="{4740BB91-ED17-44C4-BD4D-50DAA59957A1}" destId="{2EF7E2AF-D95A-4BB7-9736-99C6A7789230}" srcOrd="0" destOrd="0" presId="urn:microsoft.com/office/officeart/2008/layout/LinedList"/>
    <dgm:cxn modelId="{F09B8A36-E170-4E6D-9E4B-4C797969638B}" type="presParOf" srcId="{4740BB91-ED17-44C4-BD4D-50DAA59957A1}" destId="{EE897120-3441-467B-80DF-3CA5CE08718D}" srcOrd="1" destOrd="0" presId="urn:microsoft.com/office/officeart/2008/layout/LinedList"/>
    <dgm:cxn modelId="{9C734EF1-D936-4800-9AB4-75464A87B22E}" type="presParOf" srcId="{4740BB91-ED17-44C4-BD4D-50DAA59957A1}" destId="{B5386E47-00EF-4EF8-BCA6-79E7FE912BB7}" srcOrd="2" destOrd="0" presId="urn:microsoft.com/office/officeart/2008/layout/LinedList"/>
    <dgm:cxn modelId="{6514C83D-8241-49B4-B4BD-9BBE5C075ACA}" type="presParOf" srcId="{A515D764-09F5-484D-A8F5-08D4BC53EF74}" destId="{1E1037CF-59F5-4971-8D11-8C9D716176D0}" srcOrd="11" destOrd="0" presId="urn:microsoft.com/office/officeart/2008/layout/LinedList"/>
    <dgm:cxn modelId="{A8E57722-458A-4AEA-8F1E-16E4524FDBD1}" type="presParOf" srcId="{A515D764-09F5-484D-A8F5-08D4BC53EF74}" destId="{940A37B2-402C-4E1E-9C0F-D6E2A59DEEDB}" srcOrd="12" destOrd="0" presId="urn:microsoft.com/office/officeart/2008/layout/LinedList"/>
    <dgm:cxn modelId="{244981D4-B0F4-48E8-AF5A-50C2F45A55B8}" type="presParOf" srcId="{A515D764-09F5-484D-A8F5-08D4BC53EF74}" destId="{5B2C2BF8-C0FB-4FCB-BC85-6BAE7BE4ED54}" srcOrd="13" destOrd="0" presId="urn:microsoft.com/office/officeart/2008/layout/LinedList"/>
    <dgm:cxn modelId="{EFD4D2A1-6D9A-4241-B89E-F14BE398D3E5}" type="presParOf" srcId="{5B2C2BF8-C0FB-4FCB-BC85-6BAE7BE4ED54}" destId="{C37412E6-ECDF-4243-8CE2-FEA5C48FB585}" srcOrd="0" destOrd="0" presId="urn:microsoft.com/office/officeart/2008/layout/LinedList"/>
    <dgm:cxn modelId="{EE0D8703-669E-41D5-A7C0-8B99B1CC62FD}" type="presParOf" srcId="{5B2C2BF8-C0FB-4FCB-BC85-6BAE7BE4ED54}" destId="{1DD2DA79-08DC-4F68-86AB-768BCECC0DA1}" srcOrd="1" destOrd="0" presId="urn:microsoft.com/office/officeart/2008/layout/LinedList"/>
    <dgm:cxn modelId="{2EB2E644-53C3-4B38-8843-F34FD2501987}" type="presParOf" srcId="{5B2C2BF8-C0FB-4FCB-BC85-6BAE7BE4ED54}" destId="{1C2ACA79-598A-4950-A909-780CBB034958}" srcOrd="2" destOrd="0" presId="urn:microsoft.com/office/officeart/2008/layout/LinedList"/>
    <dgm:cxn modelId="{9DD9DA8E-8FCB-4784-B7FC-DCC4B5B97D14}" type="presParOf" srcId="{A515D764-09F5-484D-A8F5-08D4BC53EF74}" destId="{1D195467-E04E-4DB6-8F71-90F58FE1684C}" srcOrd="14" destOrd="0" presId="urn:microsoft.com/office/officeart/2008/layout/LinedList"/>
    <dgm:cxn modelId="{889F6D16-62EB-4F4C-A346-E61D5FC61D02}" type="presParOf" srcId="{A515D764-09F5-484D-A8F5-08D4BC53EF74}" destId="{374CF33A-D4EB-4FAA-96D0-365C354BDA90}" srcOrd="15"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734D5-C004-448D-A31A-FBBFEEE1FBD2}">
      <dsp:nvSpPr>
        <dsp:cNvPr id="0" name=""/>
        <dsp:cNvSpPr/>
      </dsp:nvSpPr>
      <dsp:spPr>
        <a:xfrm rot="5400000">
          <a:off x="-149834" y="152032"/>
          <a:ext cx="998894" cy="699225"/>
        </a:xfrm>
        <a:prstGeom prst="chevron">
          <a:avLst/>
        </a:prstGeom>
        <a:solidFill>
          <a:schemeClr val="tx2">
            <a:lumMod val="60000"/>
            <a:lumOff val="4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t>1</a:t>
          </a:r>
        </a:p>
      </dsp:txBody>
      <dsp:txXfrm rot="-5400000">
        <a:off x="1" y="351811"/>
        <a:ext cx="699225" cy="299669"/>
      </dsp:txXfrm>
    </dsp:sp>
    <dsp:sp modelId="{6128A905-1400-4FB9-A670-DF6D020BD409}">
      <dsp:nvSpPr>
        <dsp:cNvPr id="0" name=""/>
        <dsp:cNvSpPr/>
      </dsp:nvSpPr>
      <dsp:spPr>
        <a:xfrm rot="5400000">
          <a:off x="4139772" y="-3438347"/>
          <a:ext cx="649281" cy="753037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b="1" kern="1200" dirty="0" err="1"/>
            <a:t>Đại</a:t>
          </a:r>
          <a:r>
            <a:rPr lang="en-US" sz="2800" b="1" kern="1200" dirty="0"/>
            <a:t> </a:t>
          </a:r>
          <a:r>
            <a:rPr lang="en-US" sz="2800" b="1" kern="1200" dirty="0" err="1"/>
            <a:t>cương</a:t>
          </a:r>
          <a:endParaRPr lang="en-US" sz="2800" b="1" kern="1200" dirty="0"/>
        </a:p>
      </dsp:txBody>
      <dsp:txXfrm rot="-5400000">
        <a:off x="699226" y="33894"/>
        <a:ext cx="7498679" cy="585891"/>
      </dsp:txXfrm>
    </dsp:sp>
    <dsp:sp modelId="{08B1B8F7-B90C-410A-876E-D0E4C1EBC413}">
      <dsp:nvSpPr>
        <dsp:cNvPr id="0" name=""/>
        <dsp:cNvSpPr/>
      </dsp:nvSpPr>
      <dsp:spPr>
        <a:xfrm rot="5400000">
          <a:off x="-149834" y="1032700"/>
          <a:ext cx="998894" cy="69922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t>2</a:t>
          </a:r>
        </a:p>
      </dsp:txBody>
      <dsp:txXfrm rot="-5400000">
        <a:off x="1" y="1232479"/>
        <a:ext cx="699225" cy="299669"/>
      </dsp:txXfrm>
    </dsp:sp>
    <dsp:sp modelId="{4039CC69-22AB-470E-9449-C6A6970076EB}">
      <dsp:nvSpPr>
        <dsp:cNvPr id="0" name=""/>
        <dsp:cNvSpPr/>
      </dsp:nvSpPr>
      <dsp:spPr>
        <a:xfrm rot="5400000">
          <a:off x="4139772" y="-2557679"/>
          <a:ext cx="649281" cy="753037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b="1" kern="1200" smtClean="0"/>
            <a:t>Cơ chế bệnh sinh và các yếu tố nguy cơ</a:t>
          </a:r>
          <a:endParaRPr lang="en-US" sz="2800" b="1" kern="1200" dirty="0"/>
        </a:p>
      </dsp:txBody>
      <dsp:txXfrm rot="-5400000">
        <a:off x="699226" y="914562"/>
        <a:ext cx="7498679" cy="585891"/>
      </dsp:txXfrm>
    </dsp:sp>
    <dsp:sp modelId="{FF80C86A-E801-4CB0-A027-217FECC12CB1}">
      <dsp:nvSpPr>
        <dsp:cNvPr id="0" name=""/>
        <dsp:cNvSpPr/>
      </dsp:nvSpPr>
      <dsp:spPr>
        <a:xfrm rot="5400000">
          <a:off x="-149834" y="1913368"/>
          <a:ext cx="998894" cy="69922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t>3</a:t>
          </a:r>
        </a:p>
      </dsp:txBody>
      <dsp:txXfrm rot="-5400000">
        <a:off x="1" y="2113147"/>
        <a:ext cx="699225" cy="299669"/>
      </dsp:txXfrm>
    </dsp:sp>
    <dsp:sp modelId="{1C274BF9-168E-4081-98DF-DE0F946A6DCB}">
      <dsp:nvSpPr>
        <dsp:cNvPr id="0" name=""/>
        <dsp:cNvSpPr/>
      </dsp:nvSpPr>
      <dsp:spPr>
        <a:xfrm rot="5400000">
          <a:off x="4139772" y="-1677012"/>
          <a:ext cx="649281" cy="753037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b="1" kern="1200" smtClean="0"/>
            <a:t>Chẩn đoán</a:t>
          </a:r>
          <a:endParaRPr lang="en-US" sz="2800" b="1" kern="1200" dirty="0"/>
        </a:p>
      </dsp:txBody>
      <dsp:txXfrm rot="-5400000">
        <a:off x="699226" y="1795229"/>
        <a:ext cx="7498679" cy="585891"/>
      </dsp:txXfrm>
    </dsp:sp>
    <dsp:sp modelId="{9FFE247E-0031-4BD2-BC39-40398888F2CF}">
      <dsp:nvSpPr>
        <dsp:cNvPr id="0" name=""/>
        <dsp:cNvSpPr/>
      </dsp:nvSpPr>
      <dsp:spPr>
        <a:xfrm rot="5400000">
          <a:off x="-149834" y="2794036"/>
          <a:ext cx="998894" cy="69922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t>4</a:t>
          </a:r>
        </a:p>
      </dsp:txBody>
      <dsp:txXfrm rot="-5400000">
        <a:off x="1" y="2993815"/>
        <a:ext cx="699225" cy="299669"/>
      </dsp:txXfrm>
    </dsp:sp>
    <dsp:sp modelId="{C85FB0F9-4573-4676-BCC1-C3A30051DBDB}">
      <dsp:nvSpPr>
        <dsp:cNvPr id="0" name=""/>
        <dsp:cNvSpPr/>
      </dsp:nvSpPr>
      <dsp:spPr>
        <a:xfrm rot="5400000">
          <a:off x="4139772" y="-796344"/>
          <a:ext cx="649281" cy="753037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b="1" kern="1200" dirty="0" err="1"/>
            <a:t>Xử</a:t>
          </a:r>
          <a:r>
            <a:rPr lang="en-US" sz="2800" b="1" kern="1200" dirty="0"/>
            <a:t> </a:t>
          </a:r>
          <a:r>
            <a:rPr lang="en-US" sz="2800" b="1" kern="1200" dirty="0" err="1"/>
            <a:t>trí</a:t>
          </a:r>
          <a:endParaRPr lang="en-US" sz="2800" b="1" kern="1200" dirty="0"/>
        </a:p>
      </dsp:txBody>
      <dsp:txXfrm rot="-5400000">
        <a:off x="699226" y="2675897"/>
        <a:ext cx="7498679" cy="585891"/>
      </dsp:txXfrm>
    </dsp:sp>
    <dsp:sp modelId="{E04009DF-D255-4639-9904-659AD613E93A}">
      <dsp:nvSpPr>
        <dsp:cNvPr id="0" name=""/>
        <dsp:cNvSpPr/>
      </dsp:nvSpPr>
      <dsp:spPr>
        <a:xfrm rot="5400000">
          <a:off x="-149834" y="3674704"/>
          <a:ext cx="998894" cy="69922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a:t>5</a:t>
          </a:r>
        </a:p>
      </dsp:txBody>
      <dsp:txXfrm rot="-5400000">
        <a:off x="1" y="3874483"/>
        <a:ext cx="699225" cy="299669"/>
      </dsp:txXfrm>
    </dsp:sp>
    <dsp:sp modelId="{A7A1D8BF-5636-4CEB-871C-F0EBFA2F0937}">
      <dsp:nvSpPr>
        <dsp:cNvPr id="0" name=""/>
        <dsp:cNvSpPr/>
      </dsp:nvSpPr>
      <dsp:spPr>
        <a:xfrm rot="5400000">
          <a:off x="4139772" y="84323"/>
          <a:ext cx="649281" cy="753037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b="1" kern="1200" dirty="0" err="1"/>
            <a:t>Tiên</a:t>
          </a:r>
          <a:r>
            <a:rPr lang="en-US" sz="2800" b="1" kern="1200" dirty="0"/>
            <a:t> </a:t>
          </a:r>
          <a:r>
            <a:rPr lang="en-US" sz="2800" b="1" kern="1200" dirty="0" err="1"/>
            <a:t>lượng</a:t>
          </a:r>
          <a:endParaRPr lang="en-US" sz="2800" b="1" kern="1200" dirty="0"/>
        </a:p>
      </dsp:txBody>
      <dsp:txXfrm rot="-5400000">
        <a:off x="699226" y="3556565"/>
        <a:ext cx="7498679" cy="5858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E407E2-8EEA-4F10-801F-7C730EFC4747}">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0AB8DB-21C0-4F21-9217-F9CB6F944776}">
      <dsp:nvSpPr>
        <dsp:cNvPr id="0" name=""/>
        <dsp:cNvSpPr/>
      </dsp:nvSpPr>
      <dsp:spPr>
        <a:xfrm>
          <a:off x="0" y="0"/>
          <a:ext cx="1645920" cy="4525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lvl="0" algn="just" defTabSz="1778000">
            <a:lnSpc>
              <a:spcPct val="90000"/>
            </a:lnSpc>
            <a:spcBef>
              <a:spcPct val="0"/>
            </a:spcBef>
            <a:spcAft>
              <a:spcPct val="35000"/>
            </a:spcAft>
          </a:pPr>
          <a:r>
            <a:rPr lang="en-US" sz="4000" b="1" kern="1200" dirty="0"/>
            <a:t>CÁC YẾU TỐ NGUY CƠ</a:t>
          </a:r>
        </a:p>
      </dsp:txBody>
      <dsp:txXfrm>
        <a:off x="0" y="0"/>
        <a:ext cx="1645920" cy="4525963"/>
      </dsp:txXfrm>
    </dsp:sp>
    <dsp:sp modelId="{87DAB201-1DB3-40C9-93CF-066958D10FE6}">
      <dsp:nvSpPr>
        <dsp:cNvPr id="0" name=""/>
        <dsp:cNvSpPr/>
      </dsp:nvSpPr>
      <dsp:spPr>
        <a:xfrm>
          <a:off x="1769364" y="42651"/>
          <a:ext cx="6460236" cy="853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lvl="0" algn="l" defTabSz="1733550">
            <a:lnSpc>
              <a:spcPct val="90000"/>
            </a:lnSpc>
            <a:spcBef>
              <a:spcPct val="0"/>
            </a:spcBef>
            <a:spcAft>
              <a:spcPct val="35000"/>
            </a:spcAft>
          </a:pPr>
          <a:r>
            <a:rPr lang="en-US" sz="3900" kern="1200" dirty="0" err="1"/>
            <a:t>Sốt</a:t>
          </a:r>
          <a:r>
            <a:rPr lang="en-US" sz="3900" kern="1200" dirty="0"/>
            <a:t> </a:t>
          </a:r>
          <a:r>
            <a:rPr lang="en-US" sz="3900" kern="1200" dirty="0" err="1"/>
            <a:t>cao</a:t>
          </a:r>
          <a:endParaRPr lang="en-US" sz="3900" kern="1200" dirty="0"/>
        </a:p>
      </dsp:txBody>
      <dsp:txXfrm>
        <a:off x="1769364" y="42651"/>
        <a:ext cx="6460236" cy="853037"/>
      </dsp:txXfrm>
    </dsp:sp>
    <dsp:sp modelId="{CFD9DE4D-D964-4BCB-A176-56192B25AA8C}">
      <dsp:nvSpPr>
        <dsp:cNvPr id="0" name=""/>
        <dsp:cNvSpPr/>
      </dsp:nvSpPr>
      <dsp:spPr>
        <a:xfrm>
          <a:off x="1645920" y="895689"/>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D6D239-2AAE-406F-A5E1-083BAA2C85F5}">
      <dsp:nvSpPr>
        <dsp:cNvPr id="0" name=""/>
        <dsp:cNvSpPr/>
      </dsp:nvSpPr>
      <dsp:spPr>
        <a:xfrm>
          <a:off x="1769364" y="938341"/>
          <a:ext cx="6460236" cy="853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lvl="0" algn="l" defTabSz="1733550">
            <a:lnSpc>
              <a:spcPct val="90000"/>
            </a:lnSpc>
            <a:spcBef>
              <a:spcPct val="0"/>
            </a:spcBef>
            <a:spcAft>
              <a:spcPct val="35000"/>
            </a:spcAft>
          </a:pPr>
          <a:r>
            <a:rPr lang="en-US" sz="3900" kern="1200" dirty="0" err="1"/>
            <a:t>Nhiễm</a:t>
          </a:r>
          <a:r>
            <a:rPr lang="en-US" sz="3900" kern="1200" dirty="0"/>
            <a:t> </a:t>
          </a:r>
          <a:r>
            <a:rPr lang="en-US" sz="3900" kern="1200" dirty="0" err="1"/>
            <a:t>trùng</a:t>
          </a:r>
          <a:endParaRPr lang="en-US" sz="3900" kern="1200" dirty="0"/>
        </a:p>
      </dsp:txBody>
      <dsp:txXfrm>
        <a:off x="1769364" y="938341"/>
        <a:ext cx="6460236" cy="853037"/>
      </dsp:txXfrm>
    </dsp:sp>
    <dsp:sp modelId="{6016B819-EBD6-4FD8-9B70-40A3A68D59DC}">
      <dsp:nvSpPr>
        <dsp:cNvPr id="0" name=""/>
        <dsp:cNvSpPr/>
      </dsp:nvSpPr>
      <dsp:spPr>
        <a:xfrm>
          <a:off x="1645920" y="1791379"/>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3499BD-8CB2-4132-B2ED-378ABA7F0809}">
      <dsp:nvSpPr>
        <dsp:cNvPr id="0" name=""/>
        <dsp:cNvSpPr/>
      </dsp:nvSpPr>
      <dsp:spPr>
        <a:xfrm>
          <a:off x="1769364" y="1834031"/>
          <a:ext cx="6460236" cy="853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lvl="0" algn="l" defTabSz="1733550">
            <a:lnSpc>
              <a:spcPct val="90000"/>
            </a:lnSpc>
            <a:spcBef>
              <a:spcPct val="0"/>
            </a:spcBef>
            <a:spcAft>
              <a:spcPct val="35000"/>
            </a:spcAft>
          </a:pPr>
          <a:r>
            <a:rPr lang="en-US" sz="3900" kern="1200" dirty="0" err="1"/>
            <a:t>Tiêm</a:t>
          </a:r>
          <a:r>
            <a:rPr lang="en-US" sz="3900" kern="1200" dirty="0"/>
            <a:t> </a:t>
          </a:r>
          <a:r>
            <a:rPr lang="en-US" sz="3900" kern="1200" dirty="0" err="1"/>
            <a:t>chủng</a:t>
          </a:r>
          <a:endParaRPr lang="en-US" sz="3900" kern="1200" dirty="0"/>
        </a:p>
      </dsp:txBody>
      <dsp:txXfrm>
        <a:off x="1769364" y="1834031"/>
        <a:ext cx="6460236" cy="853037"/>
      </dsp:txXfrm>
    </dsp:sp>
    <dsp:sp modelId="{F0349FDD-88A4-415B-8D4D-FA63FD3C61AD}">
      <dsp:nvSpPr>
        <dsp:cNvPr id="0" name=""/>
        <dsp:cNvSpPr/>
      </dsp:nvSpPr>
      <dsp:spPr>
        <a:xfrm>
          <a:off x="1645920" y="2687069"/>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897120-3441-467B-80DF-3CA5CE08718D}">
      <dsp:nvSpPr>
        <dsp:cNvPr id="0" name=""/>
        <dsp:cNvSpPr/>
      </dsp:nvSpPr>
      <dsp:spPr>
        <a:xfrm>
          <a:off x="1769364" y="2729721"/>
          <a:ext cx="6460236" cy="853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lvl="0" algn="l" defTabSz="1733550">
            <a:lnSpc>
              <a:spcPct val="90000"/>
            </a:lnSpc>
            <a:spcBef>
              <a:spcPct val="0"/>
            </a:spcBef>
            <a:spcAft>
              <a:spcPct val="35000"/>
            </a:spcAft>
          </a:pPr>
          <a:r>
            <a:rPr lang="en-US" sz="3900" kern="1200" dirty="0" err="1"/>
            <a:t>Nhạy</a:t>
          </a:r>
          <a:r>
            <a:rPr lang="en-US" sz="3900" kern="1200" dirty="0"/>
            <a:t> </a:t>
          </a:r>
          <a:r>
            <a:rPr lang="en-US" sz="3900" kern="1200" dirty="0" err="1"/>
            <a:t>cảm</a:t>
          </a:r>
          <a:r>
            <a:rPr lang="en-US" sz="3900" kern="1200" dirty="0"/>
            <a:t> di </a:t>
          </a:r>
          <a:r>
            <a:rPr lang="en-US" sz="3900" kern="1200" dirty="0" err="1"/>
            <a:t>truyền</a:t>
          </a:r>
          <a:endParaRPr lang="en-US" sz="3900" kern="1200" dirty="0"/>
        </a:p>
      </dsp:txBody>
      <dsp:txXfrm>
        <a:off x="1769364" y="2729721"/>
        <a:ext cx="6460236" cy="853037"/>
      </dsp:txXfrm>
    </dsp:sp>
    <dsp:sp modelId="{1E1037CF-59F5-4971-8D11-8C9D716176D0}">
      <dsp:nvSpPr>
        <dsp:cNvPr id="0" name=""/>
        <dsp:cNvSpPr/>
      </dsp:nvSpPr>
      <dsp:spPr>
        <a:xfrm>
          <a:off x="1645920" y="3582759"/>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D2DA79-08DC-4F68-86AB-768BCECC0DA1}">
      <dsp:nvSpPr>
        <dsp:cNvPr id="0" name=""/>
        <dsp:cNvSpPr/>
      </dsp:nvSpPr>
      <dsp:spPr>
        <a:xfrm>
          <a:off x="1769364" y="3625411"/>
          <a:ext cx="6460236" cy="853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lvl="0" algn="l" defTabSz="1733550">
            <a:lnSpc>
              <a:spcPct val="90000"/>
            </a:lnSpc>
            <a:spcBef>
              <a:spcPct val="0"/>
            </a:spcBef>
            <a:spcAft>
              <a:spcPct val="35000"/>
            </a:spcAft>
          </a:pPr>
          <a:r>
            <a:rPr lang="en-US" sz="3900" kern="1200" dirty="0" err="1"/>
            <a:t>Các</a:t>
          </a:r>
          <a:r>
            <a:rPr lang="en-US" sz="3900" kern="1200" dirty="0"/>
            <a:t> </a:t>
          </a:r>
          <a:r>
            <a:rPr lang="en-US" sz="3900" kern="1200" dirty="0" err="1"/>
            <a:t>yếu</a:t>
          </a:r>
          <a:r>
            <a:rPr lang="en-US" sz="3900" kern="1200" dirty="0"/>
            <a:t> </a:t>
          </a:r>
          <a:r>
            <a:rPr lang="en-US" sz="3900" kern="1200" dirty="0" err="1"/>
            <a:t>tố</a:t>
          </a:r>
          <a:r>
            <a:rPr lang="en-US" sz="3900" kern="1200" dirty="0"/>
            <a:t> </a:t>
          </a:r>
          <a:r>
            <a:rPr lang="en-US" sz="3900" kern="1200" dirty="0" err="1"/>
            <a:t>khác</a:t>
          </a:r>
          <a:endParaRPr lang="en-US" sz="3900" kern="1200" dirty="0"/>
        </a:p>
      </dsp:txBody>
      <dsp:txXfrm>
        <a:off x="1769364" y="3625411"/>
        <a:ext cx="6460236" cy="853037"/>
      </dsp:txXfrm>
    </dsp:sp>
    <dsp:sp modelId="{1D195467-E04E-4DB6-8F71-90F58FE1684C}">
      <dsp:nvSpPr>
        <dsp:cNvPr id="0" name=""/>
        <dsp:cNvSpPr/>
      </dsp:nvSpPr>
      <dsp:spPr>
        <a:xfrm>
          <a:off x="1645920" y="4478449"/>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C3CD4D-C51E-4BA0-B3A5-6536B2C6DD90}"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317781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7543800" cy="1417638"/>
          </a:xfrm>
          <a:solidFill>
            <a:schemeClr val="tx2">
              <a:lumMod val="60000"/>
              <a:lumOff val="40000"/>
            </a:schemeClr>
          </a:solidFill>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DC3CD4D-C51E-4BA0-B3A5-6536B2C6DD90}"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EA552-EAE2-4DBB-86DF-53C1979C7881}"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2700"/>
            <a:ext cx="1600200" cy="1460500"/>
          </a:xfrm>
          <a:prstGeom prst="rect">
            <a:avLst/>
          </a:prstGeom>
        </p:spPr>
      </p:pic>
    </p:spTree>
    <p:extLst>
      <p:ext uri="{BB962C8B-B14F-4D97-AF65-F5344CB8AC3E}">
        <p14:creationId xmlns:p14="http://schemas.microsoft.com/office/powerpoint/2010/main" val="2635708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C3CD4D-C51E-4BA0-B3A5-6536B2C6DD90}"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204948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C3CD4D-C51E-4BA0-B3A5-6536B2C6DD90}" type="datetimeFigureOut">
              <a:rPr lang="en-US" smtClean="0"/>
              <a:t>3/11/2020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243986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C3CD4D-C51E-4BA0-B3A5-6536B2C6DD90}" type="datetimeFigureOut">
              <a:rPr lang="en-US" smtClean="0"/>
              <a:t>3/11/2020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34927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C3CD4D-C51E-4BA0-B3A5-6536B2C6DD90}" type="datetimeFigureOut">
              <a:rPr lang="en-US" smtClean="0"/>
              <a:t>3/11/2020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4281954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C3CD4D-C51E-4BA0-B3A5-6536B2C6DD90}" type="datetimeFigureOut">
              <a:rPr lang="en-US" smtClean="0"/>
              <a:t>3/11/2020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2806175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C3CD4D-C51E-4BA0-B3A5-6536B2C6DD90}" type="datetimeFigureOut">
              <a:rPr lang="en-US" smtClean="0"/>
              <a:t>3/11/2020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3626422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C3CD4D-C51E-4BA0-B3A5-6536B2C6DD90}" type="datetimeFigureOut">
              <a:rPr lang="en-US" smtClean="0"/>
              <a:t>3/11/2020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3427309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C3CD4D-C51E-4BA0-B3A5-6536B2C6DD90}"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133802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C3CD4D-C51E-4BA0-B3A5-6536B2C6DD90}"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EA552-EAE2-4DBB-86DF-53C1979C7881}" type="slidenum">
              <a:rPr lang="en-US" smtClean="0"/>
              <a:t>‹#›</a:t>
            </a:fld>
            <a:endParaRPr lang="en-US"/>
          </a:p>
        </p:txBody>
      </p:sp>
    </p:spTree>
    <p:extLst>
      <p:ext uri="{BB962C8B-B14F-4D97-AF65-F5344CB8AC3E}">
        <p14:creationId xmlns:p14="http://schemas.microsoft.com/office/powerpoint/2010/main" val="1552694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C3CD4D-C51E-4BA0-B3A5-6536B2C6DD90}" type="datetimeFigureOut">
              <a:rPr lang="en-US" smtClean="0"/>
              <a:t>3/11/2020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1EA552-EAE2-4DBB-86DF-53C1979C7881}" type="slidenum">
              <a:rPr lang="en-US" smtClean="0"/>
              <a:t>‹#›</a:t>
            </a:fld>
            <a:endParaRPr lang="en-US"/>
          </a:p>
        </p:txBody>
      </p:sp>
    </p:spTree>
    <p:extLst>
      <p:ext uri="{BB962C8B-B14F-4D97-AF65-F5344CB8AC3E}">
        <p14:creationId xmlns:p14="http://schemas.microsoft.com/office/powerpoint/2010/main" val="69458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524000"/>
          </a:xfrm>
        </p:spPr>
        <p:style>
          <a:lnRef idx="2">
            <a:schemeClr val="accent5">
              <a:shade val="50000"/>
            </a:schemeClr>
          </a:lnRef>
          <a:fillRef idx="1">
            <a:schemeClr val="accent5"/>
          </a:fillRef>
          <a:effectRef idx="0">
            <a:schemeClr val="accent5"/>
          </a:effectRef>
          <a:fontRef idx="minor">
            <a:schemeClr val="lt1"/>
          </a:fontRef>
        </p:style>
        <p:txBody>
          <a:bodyPr>
            <a:normAutofit/>
          </a:bodyPr>
          <a:lstStyle/>
          <a:p>
            <a:r>
              <a:rPr lang="en-US" dirty="0"/>
              <a:t/>
            </a:r>
            <a:br>
              <a:rPr lang="en-US" dirty="0"/>
            </a:br>
            <a:r>
              <a:rPr lang="en-US" sz="4900" dirty="0">
                <a:solidFill>
                  <a:schemeClr val="tx1"/>
                </a:solidFill>
                <a:latin typeface="Arial" pitchFamily="34" charset="0"/>
                <a:cs typeface="Arial" pitchFamily="34" charset="0"/>
              </a:rPr>
              <a:t>CO GIẬT DO SỐT</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600200" cy="1600200"/>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24000"/>
            <a:ext cx="9144000" cy="5334000"/>
          </a:xfrm>
          <a:prstGeom prst="rect">
            <a:avLst/>
          </a:prstGeom>
        </p:spPr>
      </p:pic>
    </p:spTree>
    <p:extLst>
      <p:ext uri="{BB962C8B-B14F-4D97-AF65-F5344CB8AC3E}">
        <p14:creationId xmlns:p14="http://schemas.microsoft.com/office/powerpoint/2010/main" val="11030112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7543800" cy="1417638"/>
          </a:xfrm>
        </p:spPr>
        <p:txBody>
          <a:bodyPr>
            <a:normAutofit/>
          </a:bodyPr>
          <a:lstStyle/>
          <a:p>
            <a:r>
              <a:rPr lang="en-US" sz="3600" b="1" dirty="0">
                <a:latin typeface="Arial" pitchFamily="34" charset="0"/>
                <a:cs typeface="Arial" pitchFamily="34" charset="0"/>
              </a:rPr>
              <a:t>NỘI DUNG</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9261584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11177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ĐẠI CƯƠNG</a:t>
            </a:r>
          </a:p>
        </p:txBody>
      </p:sp>
      <p:sp>
        <p:nvSpPr>
          <p:cNvPr id="3" name="Content Placeholder 2"/>
          <p:cNvSpPr>
            <a:spLocks noGrp="1"/>
          </p:cNvSpPr>
          <p:nvPr>
            <p:ph idx="1"/>
          </p:nvPr>
        </p:nvSpPr>
        <p:spPr>
          <a:xfrm>
            <a:off x="457200" y="2133600"/>
            <a:ext cx="8229600" cy="4038600"/>
          </a:xfrm>
          <a:ln>
            <a:solidFill>
              <a:srgbClr val="FFFF00"/>
            </a:solidFill>
          </a:ln>
        </p:spPr>
        <p:txBody>
          <a:bodyPr/>
          <a:lstStyle/>
          <a:p>
            <a:pPr marL="0" indent="0">
              <a:buNone/>
            </a:pPr>
            <a:r>
              <a:rPr lang="en-US" smtClean="0"/>
              <a:t>1. Định nghĩa</a:t>
            </a:r>
            <a:endParaRPr lang="en-US" smtClean="0"/>
          </a:p>
          <a:p>
            <a:pPr>
              <a:buFont typeface="Wingdings" pitchFamily="2" charset="2"/>
              <a:buChar char="ü"/>
            </a:pPr>
            <a:r>
              <a:rPr lang="en-US" smtClean="0"/>
              <a:t>Sốt </a:t>
            </a:r>
            <a:r>
              <a:rPr lang="en-US" dirty="0" err="1"/>
              <a:t>là</a:t>
            </a:r>
            <a:r>
              <a:rPr lang="en-US" dirty="0"/>
              <a:t> </a:t>
            </a:r>
            <a:r>
              <a:rPr lang="en-US" dirty="0" err="1"/>
              <a:t>hiện</a:t>
            </a:r>
            <a:r>
              <a:rPr lang="en-US" dirty="0"/>
              <a:t> </a:t>
            </a:r>
            <a:r>
              <a:rPr lang="en-US" dirty="0" err="1"/>
              <a:t>tượng</a:t>
            </a:r>
            <a:r>
              <a:rPr lang="en-US" dirty="0"/>
              <a:t> </a:t>
            </a:r>
            <a:r>
              <a:rPr lang="en-US" dirty="0" err="1"/>
              <a:t>tăng</a:t>
            </a:r>
            <a:r>
              <a:rPr lang="en-US" dirty="0"/>
              <a:t> </a:t>
            </a:r>
            <a:r>
              <a:rPr lang="en-US" dirty="0" err="1"/>
              <a:t>nhiệt</a:t>
            </a:r>
            <a:r>
              <a:rPr lang="en-US" dirty="0"/>
              <a:t> </a:t>
            </a:r>
            <a:r>
              <a:rPr lang="en-US" dirty="0" err="1"/>
              <a:t>độ</a:t>
            </a:r>
            <a:r>
              <a:rPr lang="en-US" dirty="0"/>
              <a:t> </a:t>
            </a:r>
            <a:r>
              <a:rPr lang="en-US" dirty="0" err="1"/>
              <a:t>cơ</a:t>
            </a:r>
            <a:r>
              <a:rPr lang="en-US" dirty="0"/>
              <a:t> </a:t>
            </a:r>
            <a:r>
              <a:rPr lang="en-US" dirty="0" err="1"/>
              <a:t>thể</a:t>
            </a:r>
            <a:r>
              <a:rPr lang="en-US" dirty="0"/>
              <a:t> </a:t>
            </a:r>
            <a:r>
              <a:rPr lang="en-US" dirty="0" err="1"/>
              <a:t>khi</a:t>
            </a:r>
            <a:r>
              <a:rPr lang="en-US" dirty="0"/>
              <a:t> </a:t>
            </a:r>
            <a:r>
              <a:rPr lang="en-US" dirty="0" err="1"/>
              <a:t>nhiệt</a:t>
            </a:r>
            <a:r>
              <a:rPr lang="en-US" dirty="0"/>
              <a:t> </a:t>
            </a:r>
            <a:r>
              <a:rPr lang="en-US" dirty="0" err="1"/>
              <a:t>độ</a:t>
            </a:r>
            <a:r>
              <a:rPr lang="en-US" dirty="0"/>
              <a:t> </a:t>
            </a:r>
            <a:r>
              <a:rPr lang="en-US" dirty="0" err="1"/>
              <a:t>đo</a:t>
            </a:r>
            <a:r>
              <a:rPr lang="en-US" dirty="0"/>
              <a:t> ở </a:t>
            </a:r>
            <a:r>
              <a:rPr lang="en-US" dirty="0" err="1"/>
              <a:t>hậu</a:t>
            </a:r>
            <a:r>
              <a:rPr lang="en-US" dirty="0"/>
              <a:t> </a:t>
            </a:r>
            <a:r>
              <a:rPr lang="en-US" dirty="0" err="1"/>
              <a:t>môn</a:t>
            </a:r>
            <a:r>
              <a:rPr lang="en-US" dirty="0"/>
              <a:t> </a:t>
            </a:r>
            <a:r>
              <a:rPr lang="en-US" dirty="0" err="1"/>
              <a:t>trên</a:t>
            </a:r>
            <a:r>
              <a:rPr lang="en-US" dirty="0"/>
              <a:t> 37,8</a:t>
            </a:r>
            <a:r>
              <a:rPr lang="en-US" baseline="30000" dirty="0"/>
              <a:t>o</a:t>
            </a:r>
            <a:r>
              <a:rPr lang="en-US" dirty="0"/>
              <a:t>C ở </a:t>
            </a:r>
            <a:r>
              <a:rPr lang="en-US" dirty="0" err="1"/>
              <a:t>trẻ</a:t>
            </a:r>
            <a:r>
              <a:rPr lang="en-US" dirty="0"/>
              <a:t> </a:t>
            </a:r>
            <a:r>
              <a:rPr lang="en-US" dirty="0" err="1"/>
              <a:t>bú</a:t>
            </a:r>
            <a:r>
              <a:rPr lang="en-US" dirty="0"/>
              <a:t> </a:t>
            </a:r>
            <a:r>
              <a:rPr lang="en-US" dirty="0" err="1"/>
              <a:t>mẹ</a:t>
            </a:r>
            <a:r>
              <a:rPr lang="en-US" dirty="0"/>
              <a:t> </a:t>
            </a:r>
            <a:r>
              <a:rPr lang="en-US" dirty="0" err="1"/>
              <a:t>hoặc</a:t>
            </a:r>
            <a:r>
              <a:rPr lang="en-US" dirty="0"/>
              <a:t> 38</a:t>
            </a:r>
            <a:r>
              <a:rPr lang="en-US" baseline="30000" dirty="0"/>
              <a:t>o</a:t>
            </a:r>
            <a:r>
              <a:rPr lang="en-US" dirty="0"/>
              <a:t>C ở </a:t>
            </a:r>
            <a:r>
              <a:rPr lang="en-US" dirty="0" err="1"/>
              <a:t>trẻ</a:t>
            </a:r>
            <a:r>
              <a:rPr lang="en-US" dirty="0"/>
              <a:t> </a:t>
            </a:r>
            <a:r>
              <a:rPr lang="en-US" dirty="0" err="1"/>
              <a:t>lớn</a:t>
            </a:r>
            <a:r>
              <a:rPr lang="en-US" dirty="0"/>
              <a:t> </a:t>
            </a:r>
            <a:r>
              <a:rPr lang="en-US" dirty="0" err="1"/>
              <a:t>hơn</a:t>
            </a:r>
            <a:r>
              <a:rPr lang="en-US" dirty="0"/>
              <a:t>.</a:t>
            </a:r>
          </a:p>
          <a:p>
            <a:pPr>
              <a:buFont typeface="Wingdings" pitchFamily="2" charset="2"/>
              <a:buChar char="ü"/>
            </a:pPr>
            <a:r>
              <a:rPr lang="en-US" dirty="0"/>
              <a:t>Co </a:t>
            </a:r>
            <a:r>
              <a:rPr lang="en-US" dirty="0" err="1"/>
              <a:t>giật</a:t>
            </a:r>
            <a:r>
              <a:rPr lang="en-US" dirty="0"/>
              <a:t> </a:t>
            </a:r>
            <a:r>
              <a:rPr lang="en-US" dirty="0" err="1"/>
              <a:t>là</a:t>
            </a:r>
            <a:r>
              <a:rPr lang="en-US" dirty="0"/>
              <a:t> </a:t>
            </a:r>
            <a:r>
              <a:rPr lang="en-US" dirty="0" err="1"/>
              <a:t>rối</a:t>
            </a:r>
            <a:r>
              <a:rPr lang="en-US" dirty="0"/>
              <a:t> </a:t>
            </a:r>
            <a:r>
              <a:rPr lang="en-US" dirty="0" err="1"/>
              <a:t>loạn</a:t>
            </a:r>
            <a:r>
              <a:rPr lang="en-US" dirty="0"/>
              <a:t> </a:t>
            </a:r>
            <a:r>
              <a:rPr lang="en-US" dirty="0" err="1"/>
              <a:t>thần</a:t>
            </a:r>
            <a:r>
              <a:rPr lang="en-US" dirty="0"/>
              <a:t> </a:t>
            </a:r>
            <a:r>
              <a:rPr lang="en-US" dirty="0" err="1"/>
              <a:t>kinh</a:t>
            </a:r>
            <a:r>
              <a:rPr lang="en-US" dirty="0"/>
              <a:t> </a:t>
            </a:r>
            <a:r>
              <a:rPr lang="en-US" dirty="0" err="1"/>
              <a:t>thường</a:t>
            </a:r>
            <a:r>
              <a:rPr lang="en-US" dirty="0"/>
              <a:t> </a:t>
            </a:r>
            <a:r>
              <a:rPr lang="en-US" dirty="0" err="1"/>
              <a:t>gặp</a:t>
            </a:r>
            <a:r>
              <a:rPr lang="en-US" dirty="0"/>
              <a:t> ở </a:t>
            </a:r>
            <a:r>
              <a:rPr lang="en-US" dirty="0" err="1"/>
              <a:t>trẻ</a:t>
            </a:r>
            <a:r>
              <a:rPr lang="en-US" dirty="0"/>
              <a:t> </a:t>
            </a:r>
            <a:r>
              <a:rPr lang="en-US" dirty="0" err="1"/>
              <a:t>em</a:t>
            </a:r>
            <a:r>
              <a:rPr lang="en-US" dirty="0"/>
              <a:t> </a:t>
            </a:r>
            <a:r>
              <a:rPr lang="en-US" dirty="0" err="1"/>
              <a:t>với</a:t>
            </a:r>
            <a:r>
              <a:rPr lang="en-US" dirty="0"/>
              <a:t> </a:t>
            </a:r>
            <a:r>
              <a:rPr lang="en-US" dirty="0" err="1"/>
              <a:t>tần</a:t>
            </a:r>
            <a:r>
              <a:rPr lang="en-US" dirty="0"/>
              <a:t> </a:t>
            </a:r>
            <a:r>
              <a:rPr lang="en-US" dirty="0" err="1"/>
              <a:t>suất</a:t>
            </a:r>
            <a:r>
              <a:rPr lang="en-US" dirty="0"/>
              <a:t> </a:t>
            </a:r>
            <a:r>
              <a:rPr lang="en-US" dirty="0" err="1"/>
              <a:t>khoảng</a:t>
            </a:r>
            <a:r>
              <a:rPr lang="en-US" dirty="0"/>
              <a:t> 3 – 6%</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8991479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ĐẠI CƯƠNG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980895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343" y="1944914"/>
            <a:ext cx="8229600" cy="4525963"/>
          </a:xfrm>
        </p:spPr>
        <p:txBody>
          <a:bodyPr>
            <a:normAutofit fontScale="92500" lnSpcReduction="20000"/>
          </a:bodyPr>
          <a:lstStyle/>
          <a:p>
            <a:pPr marL="0" indent="0">
              <a:buNone/>
            </a:pPr>
            <a:r>
              <a:rPr lang="en-US" smtClean="0"/>
              <a:t>2. Dịch tễ</a:t>
            </a:r>
          </a:p>
          <a:p>
            <a:r>
              <a:rPr lang="en-US" smtClean="0"/>
              <a:t>Co giật do sốt phổ </a:t>
            </a:r>
            <a:r>
              <a:rPr lang="en-US" dirty="0" err="1"/>
              <a:t>biến</a:t>
            </a:r>
            <a:r>
              <a:rPr lang="en-US" dirty="0"/>
              <a:t> ở </a:t>
            </a:r>
            <a:r>
              <a:rPr lang="en-US" dirty="0" err="1"/>
              <a:t>trẻ</a:t>
            </a:r>
            <a:r>
              <a:rPr lang="en-US" dirty="0"/>
              <a:t> </a:t>
            </a:r>
            <a:r>
              <a:rPr lang="en-US" dirty="0" err="1"/>
              <a:t>em</a:t>
            </a:r>
            <a:r>
              <a:rPr lang="en-US" dirty="0"/>
              <a:t>, </a:t>
            </a:r>
            <a:r>
              <a:rPr lang="en-US" dirty="0" err="1"/>
              <a:t>xảy</a:t>
            </a:r>
            <a:r>
              <a:rPr lang="en-US" dirty="0"/>
              <a:t> </a:t>
            </a:r>
            <a:r>
              <a:rPr lang="en-US" dirty="0" err="1"/>
              <a:t>ra</a:t>
            </a:r>
            <a:r>
              <a:rPr lang="en-US" dirty="0"/>
              <a:t> </a:t>
            </a:r>
            <a:r>
              <a:rPr lang="en-US" dirty="0" err="1"/>
              <a:t>ít</a:t>
            </a:r>
            <a:r>
              <a:rPr lang="en-US" dirty="0"/>
              <a:t> </a:t>
            </a:r>
            <a:r>
              <a:rPr lang="en-US" dirty="0" err="1"/>
              <a:t>nhất</a:t>
            </a:r>
            <a:r>
              <a:rPr lang="en-US" dirty="0"/>
              <a:t> </a:t>
            </a:r>
            <a:r>
              <a:rPr lang="en-US" dirty="0" err="1"/>
              <a:t>một</a:t>
            </a:r>
            <a:r>
              <a:rPr lang="en-US" dirty="0"/>
              <a:t> </a:t>
            </a:r>
            <a:r>
              <a:rPr lang="en-US" dirty="0" err="1"/>
              <a:t>cơn</a:t>
            </a:r>
            <a:r>
              <a:rPr lang="en-US" dirty="0"/>
              <a:t> </a:t>
            </a:r>
            <a:r>
              <a:rPr lang="en-US" dirty="0" err="1"/>
              <a:t>trong</a:t>
            </a:r>
            <a:r>
              <a:rPr lang="en-US" dirty="0"/>
              <a:t> 2-5% </a:t>
            </a:r>
            <a:r>
              <a:rPr lang="en-US" dirty="0" err="1"/>
              <a:t>trẻ</a:t>
            </a:r>
            <a:r>
              <a:rPr lang="en-US" dirty="0"/>
              <a:t> </a:t>
            </a:r>
            <a:r>
              <a:rPr lang="en-US" dirty="0" err="1"/>
              <a:t>em</a:t>
            </a:r>
            <a:r>
              <a:rPr lang="en-US" dirty="0"/>
              <a:t> &lt;5 </a:t>
            </a:r>
            <a:r>
              <a:rPr lang="en-US" dirty="0" err="1"/>
              <a:t>tuổi</a:t>
            </a:r>
            <a:endParaRPr lang="en-US" dirty="0"/>
          </a:p>
          <a:p>
            <a:pPr algn="just"/>
            <a:r>
              <a:rPr lang="en-US" dirty="0" err="1"/>
              <a:t>Tuổi</a:t>
            </a:r>
            <a:r>
              <a:rPr lang="en-US" dirty="0"/>
              <a:t> </a:t>
            </a:r>
            <a:r>
              <a:rPr lang="en-US" dirty="0" err="1"/>
              <a:t>khởi</a:t>
            </a:r>
            <a:r>
              <a:rPr lang="en-US" dirty="0"/>
              <a:t> </a:t>
            </a:r>
            <a:r>
              <a:rPr lang="en-US" dirty="0" err="1"/>
              <a:t>phát</a:t>
            </a:r>
            <a:r>
              <a:rPr lang="en-US" dirty="0"/>
              <a:t>: </a:t>
            </a:r>
            <a:r>
              <a:rPr lang="en-US" dirty="0" err="1"/>
              <a:t>thường</a:t>
            </a:r>
            <a:r>
              <a:rPr lang="en-US" dirty="0"/>
              <a:t> </a:t>
            </a:r>
            <a:r>
              <a:rPr lang="en-US" dirty="0" err="1"/>
              <a:t>gặp</a:t>
            </a:r>
            <a:r>
              <a:rPr lang="en-US" dirty="0"/>
              <a:t> </a:t>
            </a:r>
            <a:r>
              <a:rPr lang="en-US" dirty="0" err="1"/>
              <a:t>nhất</a:t>
            </a:r>
            <a:r>
              <a:rPr lang="en-US" dirty="0"/>
              <a:t> </a:t>
            </a:r>
            <a:r>
              <a:rPr lang="en-US" dirty="0" err="1"/>
              <a:t>trong</a:t>
            </a:r>
            <a:r>
              <a:rPr lang="en-US" dirty="0"/>
              <a:t> </a:t>
            </a:r>
            <a:r>
              <a:rPr lang="en-US" dirty="0" err="1"/>
              <a:t>khoảng</a:t>
            </a:r>
            <a:r>
              <a:rPr lang="en-US" dirty="0"/>
              <a:t> 12 -24 </a:t>
            </a:r>
            <a:r>
              <a:rPr lang="en-US" dirty="0" err="1"/>
              <a:t>tháng</a:t>
            </a:r>
            <a:r>
              <a:rPr lang="en-US" dirty="0"/>
              <a:t> </a:t>
            </a:r>
            <a:r>
              <a:rPr lang="en-US" err="1"/>
              <a:t>tuổi</a:t>
            </a:r>
            <a:r>
              <a:rPr lang="en-US"/>
              <a:t>.</a:t>
            </a:r>
            <a:endParaRPr lang="vi-VN"/>
          </a:p>
          <a:p>
            <a:pPr algn="just"/>
            <a:r>
              <a:rPr lang="en-US">
                <a:solidFill>
                  <a:srgbClr val="1C1E21"/>
                </a:solidFill>
                <a:effectLst/>
                <a:latin typeface="Calibri" panose="020F0502020204030204" pitchFamily="34" charset="0"/>
                <a:ea typeface="MS Mincho" panose="02020609040205080304" pitchFamily="49" charset="-128"/>
                <a:cs typeface="Times New Roman" panose="02020603050405020304" pitchFamily="18" charset="0"/>
              </a:rPr>
              <a:t>Tiền sử gia đình bị co giật do sốt ghi nhận từ 25 – 40% trẻ co giật do sốt.</a:t>
            </a:r>
            <a:endParaRPr lang="vi-VN">
              <a:solidFill>
                <a:srgbClr val="1C1E21"/>
              </a:solidFill>
              <a:effectLst/>
              <a:latin typeface="Calibri" panose="020F0502020204030204" pitchFamily="34" charset="0"/>
              <a:ea typeface="MS Mincho" panose="02020609040205080304" pitchFamily="49" charset="-128"/>
              <a:cs typeface="Times New Roman" panose="02020603050405020304" pitchFamily="18" charset="0"/>
            </a:endParaRPr>
          </a:p>
          <a:p>
            <a:pPr algn="just"/>
            <a:r>
              <a:rPr lang="en-US">
                <a:solidFill>
                  <a:srgbClr val="333333"/>
                </a:solidFill>
                <a:effectLst/>
                <a:latin typeface="Calibri" panose="020F0502020204030204" pitchFamily="34" charset="0"/>
                <a:ea typeface="MS Mincho" panose="02020609040205080304" pitchFamily="49" charset="-128"/>
                <a:cs typeface="Times New Roman" panose="02020603050405020304" pitchFamily="18" charset="0"/>
              </a:rPr>
              <a:t>CGDS tái phát thường xảy ra ở những trẻ có tiền sử gia đình, có nhiều cơn co giật trong một đợt sốt, cơn co giật kéo dài trong đợt sốt lần đầu, tuổi của trẻ dưới 2 tuổi</a:t>
            </a:r>
            <a:endParaRPr lang="en-US" dirty="0"/>
          </a:p>
        </p:txBody>
      </p:sp>
      <p:sp>
        <p:nvSpPr>
          <p:cNvPr id="4" name="Title 3"/>
          <p:cNvSpPr>
            <a:spLocks noGrp="1"/>
          </p:cNvSpPr>
          <p:nvPr>
            <p:ph type="title"/>
          </p:nvPr>
        </p:nvSpPr>
        <p:spPr/>
        <p:txBody>
          <a:bodyPr/>
          <a:lstStyle/>
          <a:p>
            <a:r>
              <a:rPr lang="en-US"/>
              <a:t>ĐẠI CƯƠNG</a:t>
            </a:r>
            <a:endParaRPr lang="en-US" dirty="0"/>
          </a:p>
        </p:txBody>
      </p:sp>
    </p:spTree>
    <p:extLst>
      <p:ext uri="{BB962C8B-B14F-4D97-AF65-F5344CB8AC3E}">
        <p14:creationId xmlns:p14="http://schemas.microsoft.com/office/powerpoint/2010/main" val="26617871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ĐẠI CƯƠNG</a:t>
            </a:r>
            <a:endParaRPr lang="en-US"/>
          </a:p>
        </p:txBody>
      </p:sp>
      <p:sp>
        <p:nvSpPr>
          <p:cNvPr id="3" name="Content Placeholder 2"/>
          <p:cNvSpPr>
            <a:spLocks noGrp="1"/>
          </p:cNvSpPr>
          <p:nvPr>
            <p:ph idx="1"/>
          </p:nvPr>
        </p:nvSpPr>
        <p:spPr/>
        <p:txBody>
          <a:bodyPr>
            <a:normAutofit lnSpcReduction="10000"/>
          </a:bodyPr>
          <a:lstStyle/>
          <a:p>
            <a:pPr marL="0" indent="0">
              <a:buNone/>
            </a:pPr>
            <a:r>
              <a:rPr lang="en-US" sz="2800" smtClean="0">
                <a:solidFill>
                  <a:srgbClr val="333333"/>
                </a:solidFill>
                <a:effectLst/>
                <a:ea typeface="MS Mincho" panose="02020609040205080304" pitchFamily="49" charset="-128"/>
                <a:cs typeface="Times New Roman" panose="02020603050405020304" pitchFamily="18" charset="0"/>
              </a:rPr>
              <a:t>2. Dịch tễ (tiếp)</a:t>
            </a:r>
          </a:p>
          <a:p>
            <a:r>
              <a:rPr lang="en-US" sz="2800" smtClean="0">
                <a:solidFill>
                  <a:srgbClr val="333333"/>
                </a:solidFill>
                <a:effectLst/>
                <a:ea typeface="MS Mincho" panose="02020609040205080304" pitchFamily="49" charset="-128"/>
                <a:cs typeface="Times New Roman" panose="02020603050405020304" pitchFamily="18" charset="0"/>
              </a:rPr>
              <a:t>Nhiều </a:t>
            </a:r>
            <a:r>
              <a:rPr lang="en-US" sz="2800">
                <a:solidFill>
                  <a:srgbClr val="333333"/>
                </a:solidFill>
                <a:effectLst/>
                <a:ea typeface="MS Mincho" panose="02020609040205080304" pitchFamily="49" charset="-128"/>
                <a:cs typeface="Times New Roman" panose="02020603050405020304" pitchFamily="18" charset="0"/>
              </a:rPr>
              <a:t>nghiên cứu đã tranh luận về CGDS và động kinh thái dương, có tác giả cho rằng CGDS gây nên xơ hóa thùy thái  dương giữa và gây nên động kinh thùy thái dương</a:t>
            </a:r>
            <a:r>
              <a:rPr lang="vi-VN" sz="2800">
                <a:solidFill>
                  <a:srgbClr val="333333"/>
                </a:solidFill>
                <a:effectLst/>
                <a:ea typeface="MS Mincho" panose="02020609040205080304" pitchFamily="49" charset="-128"/>
                <a:cs typeface="Times New Roman" panose="02020603050405020304" pitchFamily="18" charset="0"/>
              </a:rPr>
              <a:t>.</a:t>
            </a:r>
          </a:p>
          <a:p>
            <a:r>
              <a:rPr lang="en-US" sz="2800">
                <a:solidFill>
                  <a:srgbClr val="333333"/>
                </a:solidFill>
                <a:effectLst/>
                <a:ea typeface="Times New Roman" panose="02020603050405020304" pitchFamily="18" charset="0"/>
              </a:rPr>
              <a:t>Co giật do sốt hiếm gây tử vong dù trẻ có trạng thái co giật nặng do sốt.</a:t>
            </a:r>
            <a:endParaRPr lang="vi-VN" sz="2800">
              <a:effectLst/>
              <a:ea typeface="Times New Roman" panose="02020603050405020304" pitchFamily="18" charset="0"/>
            </a:endParaRPr>
          </a:p>
          <a:p>
            <a:r>
              <a:rPr lang="en-US" sz="2800">
                <a:solidFill>
                  <a:srgbClr val="333333"/>
                </a:solidFill>
                <a:effectLst/>
                <a:ea typeface="MS Mincho" panose="02020609040205080304" pitchFamily="49" charset="-128"/>
                <a:cs typeface="Times New Roman" panose="02020603050405020304" pitchFamily="18" charset="0"/>
              </a:rPr>
              <a:t>Ở Việt Nam nhiều công trình nghiên cứu về co giật do sốt</a:t>
            </a:r>
            <a:r>
              <a:rPr lang="vi-VN" sz="2800">
                <a:solidFill>
                  <a:srgbClr val="333333"/>
                </a:solidFill>
                <a:effectLst/>
                <a:ea typeface="MS Mincho" panose="02020609040205080304" pitchFamily="49" charset="-128"/>
                <a:cs typeface="Times New Roman" panose="02020603050405020304" pitchFamily="18" charset="0"/>
              </a:rPr>
              <a:t>, gần đây nhất có nghiên cứu của </a:t>
            </a:r>
            <a:r>
              <a:rPr lang="en-US" sz="2800">
                <a:solidFill>
                  <a:srgbClr val="333333"/>
                </a:solidFill>
                <a:effectLst/>
                <a:ea typeface="Times New Roman" panose="02020603050405020304" pitchFamily="18" charset="0"/>
              </a:rPr>
              <a:t>Phạm Thị Lệ Quyên (2006), tỷ lệ trẻ CGDS dưới 5 tuổi là 1,93%. </a:t>
            </a:r>
            <a:endParaRPr lang="vi-VN" sz="2800">
              <a:effectLst/>
              <a:ea typeface="Times New Roman" panose="02020603050405020304" pitchFamily="18" charset="0"/>
            </a:endParaRPr>
          </a:p>
          <a:p>
            <a:endParaRPr lang="en-US" sz="2800"/>
          </a:p>
        </p:txBody>
      </p:sp>
    </p:spTree>
    <p:extLst>
      <p:ext uri="{BB962C8B-B14F-4D97-AF65-F5344CB8AC3E}">
        <p14:creationId xmlns:p14="http://schemas.microsoft.com/office/powerpoint/2010/main" val="2389328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99AF206D-3096-9D4B-BE51-32B4DC31BD77}"/>
              </a:ext>
            </a:extLst>
          </p:cNvPr>
          <p:cNvSpPr>
            <a:spLocks noGrp="1"/>
          </p:cNvSpPr>
          <p:nvPr>
            <p:ph type="title"/>
          </p:nvPr>
        </p:nvSpPr>
        <p:spPr/>
        <p:txBody>
          <a:bodyPr/>
          <a:lstStyle/>
          <a:p>
            <a:r>
              <a:rPr lang="vi-VN"/>
              <a:t>CƠ CHẾ BỆNH SINH</a:t>
            </a:r>
          </a:p>
        </p:txBody>
      </p:sp>
      <p:sp>
        <p:nvSpPr>
          <p:cNvPr id="3" name="Chỗ dành sẵn cho Nội dung 2">
            <a:extLst>
              <a:ext uri="{FF2B5EF4-FFF2-40B4-BE49-F238E27FC236}">
                <a16:creationId xmlns:a16="http://schemas.microsoft.com/office/drawing/2014/main" xmlns="" id="{909F237F-7D7D-584E-9189-3170E36F8C07}"/>
              </a:ext>
            </a:extLst>
          </p:cNvPr>
          <p:cNvSpPr>
            <a:spLocks noGrp="1"/>
          </p:cNvSpPr>
          <p:nvPr>
            <p:ph idx="1"/>
          </p:nvPr>
        </p:nvSpPr>
        <p:spPr/>
        <p:txBody>
          <a:bodyPr>
            <a:noAutofit/>
          </a:bodyPr>
          <a:lstStyle/>
          <a:p>
            <a:r>
              <a:rPr lang="en-US" sz="2800" smtClean="0">
                <a:solidFill>
                  <a:srgbClr val="000000"/>
                </a:solidFill>
                <a:effectLst/>
                <a:ea typeface="MS Mincho" panose="02020609040205080304" pitchFamily="49" charset="-128"/>
                <a:cs typeface="Times New Roman" panose="02020603050405020304" pitchFamily="18" charset="0"/>
              </a:rPr>
              <a:t>Do các tế bào thần kinh chưa biệt hóa hoàn toàn nên phản ứng của vỏ não có xu hướng lan tỏa, bất cứ một kích thích nào cũng có thể gây phản ứng toàn thân.</a:t>
            </a:r>
            <a:endParaRPr lang="vi-VN" sz="2800" smtClean="0">
              <a:solidFill>
                <a:srgbClr val="000000"/>
              </a:solidFill>
              <a:effectLst/>
              <a:ea typeface="MS Mincho" panose="02020609040205080304" pitchFamily="49" charset="-128"/>
              <a:cs typeface="Times New Roman" panose="02020603050405020304" pitchFamily="18" charset="0"/>
            </a:endParaRPr>
          </a:p>
          <a:p>
            <a:r>
              <a:rPr lang="vi-VN" sz="2800" smtClean="0">
                <a:effectLst/>
                <a:ea typeface="MS Mincho" panose="02020609040205080304" pitchFamily="49" charset="-128"/>
                <a:cs typeface="Times New Roman" panose="02020603050405020304" pitchFamily="18" charset="0"/>
              </a:rPr>
              <a:t>Một số giả thuyết từ các nghiên cứu trên động vật:</a:t>
            </a:r>
          </a:p>
          <a:p>
            <a:pPr>
              <a:buFont typeface="+mj-lt"/>
              <a:buAutoNum type="arabicPeriod"/>
            </a:pPr>
            <a:r>
              <a:rPr lang="vi-VN" sz="2800" smtClean="0">
                <a:effectLst/>
                <a:ea typeface="MS Mincho" panose="02020609040205080304" pitchFamily="49" charset="-128"/>
                <a:cs typeface="Times New Roman" panose="02020603050405020304" pitchFamily="18" charset="0"/>
              </a:rPr>
              <a:t>Tăng nhiệt độ ở não</a:t>
            </a:r>
          </a:p>
          <a:p>
            <a:pPr>
              <a:buFont typeface="+mj-lt"/>
              <a:buAutoNum type="arabicPeriod"/>
            </a:pPr>
            <a:r>
              <a:rPr lang="vi-VN" sz="2800" smtClean="0">
                <a:effectLst/>
                <a:ea typeface="MS Mincho" panose="02020609040205080304" pitchFamily="49" charset="-128"/>
                <a:cs typeface="Times New Roman" panose="02020603050405020304" pitchFamily="18" charset="0"/>
              </a:rPr>
              <a:t>Chất gây sốt</a:t>
            </a:r>
          </a:p>
          <a:p>
            <a:pPr>
              <a:buFont typeface="+mj-lt"/>
              <a:buAutoNum type="arabicPeriod"/>
            </a:pPr>
            <a:r>
              <a:rPr lang="vi-VN" sz="2800" smtClean="0">
                <a:effectLst/>
                <a:ea typeface="MS Mincho" panose="02020609040205080304" pitchFamily="49" charset="-128"/>
                <a:cs typeface="Times New Roman" panose="02020603050405020304" pitchFamily="18" charset="0"/>
              </a:rPr>
              <a:t>Tăng thông khí</a:t>
            </a:r>
            <a:endParaRPr lang="vi-VN" sz="2800">
              <a:effectLst/>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2401145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EAE26610-33BD-BF43-898E-C60080D56209}"/>
              </a:ext>
            </a:extLst>
          </p:cNvPr>
          <p:cNvSpPr>
            <a:spLocks noGrp="1"/>
          </p:cNvSpPr>
          <p:nvPr>
            <p:ph type="title"/>
          </p:nvPr>
        </p:nvSpPr>
        <p:spPr/>
        <p:txBody>
          <a:bodyPr/>
          <a:lstStyle/>
          <a:p>
            <a:r>
              <a:rPr lang="vi-VN"/>
              <a:t>CƠ CHẾ BỆNH SINH</a:t>
            </a:r>
          </a:p>
        </p:txBody>
      </p:sp>
      <p:pic>
        <p:nvPicPr>
          <p:cNvPr id="4" name="Hình ảnh 4">
            <a:extLst>
              <a:ext uri="{FF2B5EF4-FFF2-40B4-BE49-F238E27FC236}">
                <a16:creationId xmlns:a16="http://schemas.microsoft.com/office/drawing/2014/main" xmlns="" id="{5B0DC5B4-3CF4-4D43-831C-88251A3E2C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1445721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C9EA5C91-5AAD-7443-9743-B10C2FCD3E11}"/>
              </a:ext>
            </a:extLst>
          </p:cNvPr>
          <p:cNvSpPr>
            <a:spLocks noGrp="1"/>
          </p:cNvSpPr>
          <p:nvPr>
            <p:ph type="title"/>
          </p:nvPr>
        </p:nvSpPr>
        <p:spPr/>
        <p:txBody>
          <a:bodyPr/>
          <a:lstStyle/>
          <a:p>
            <a:r>
              <a:rPr lang="vi-VN"/>
              <a:t>CƠ CHẾ BỆNH SINH</a:t>
            </a:r>
          </a:p>
        </p:txBody>
      </p:sp>
      <p:pic>
        <p:nvPicPr>
          <p:cNvPr id="4" name="Hình ảnh 4">
            <a:extLst>
              <a:ext uri="{FF2B5EF4-FFF2-40B4-BE49-F238E27FC236}">
                <a16:creationId xmlns:a16="http://schemas.microsoft.com/office/drawing/2014/main" xmlns="" id="{0D40A47C-8C93-0540-95CC-24ACF7405D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33803874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719685942"/>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p:cNvSpPr>
            <a:spLocks noGrp="1"/>
          </p:cNvSpPr>
          <p:nvPr>
            <p:ph type="title"/>
          </p:nvPr>
        </p:nvSpPr>
        <p:spPr/>
        <p:txBody>
          <a:bodyPr/>
          <a:lstStyle/>
          <a:p>
            <a:endParaRPr lang="en-US" dirty="0"/>
          </a:p>
        </p:txBody>
      </p:sp>
    </p:spTree>
    <p:extLst>
      <p:ext uri="{BB962C8B-B14F-4D97-AF65-F5344CB8AC3E}">
        <p14:creationId xmlns:p14="http://schemas.microsoft.com/office/powerpoint/2010/main" val="770136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BAAEAAB1-9685-0F46-81DF-60211FDE7DD3}"/>
              </a:ext>
            </a:extLst>
          </p:cNvPr>
          <p:cNvSpPr>
            <a:spLocks noGrp="1"/>
          </p:cNvSpPr>
          <p:nvPr>
            <p:ph type="title"/>
          </p:nvPr>
        </p:nvSpPr>
        <p:spPr/>
        <p:txBody>
          <a:bodyPr/>
          <a:lstStyle/>
          <a:p>
            <a:r>
              <a:rPr lang="vi-VN"/>
              <a:t>Sốt cao</a:t>
            </a:r>
          </a:p>
        </p:txBody>
      </p:sp>
      <p:pic>
        <p:nvPicPr>
          <p:cNvPr id="4" name="Hình ảnh 4">
            <a:extLst>
              <a:ext uri="{FF2B5EF4-FFF2-40B4-BE49-F238E27FC236}">
                <a16:creationId xmlns:a16="http://schemas.microsoft.com/office/drawing/2014/main" xmlns="" id="{3DA03EEB-435E-FD4D-A441-4FE4E931A9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9250" y="2434431"/>
            <a:ext cx="5905500" cy="2857500"/>
          </a:xfrm>
        </p:spPr>
      </p:pic>
    </p:spTree>
    <p:extLst>
      <p:ext uri="{BB962C8B-B14F-4D97-AF65-F5344CB8AC3E}">
        <p14:creationId xmlns:p14="http://schemas.microsoft.com/office/powerpoint/2010/main" val="41036939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509B3168-D17C-BC4A-85FB-72D760CBE3D8}"/>
              </a:ext>
            </a:extLst>
          </p:cNvPr>
          <p:cNvSpPr>
            <a:spLocks noGrp="1"/>
          </p:cNvSpPr>
          <p:nvPr>
            <p:ph type="title"/>
          </p:nvPr>
        </p:nvSpPr>
        <p:spPr/>
        <p:txBody>
          <a:bodyPr/>
          <a:lstStyle/>
          <a:p>
            <a:r>
              <a:rPr lang="vi-VN"/>
              <a:t>Nhiễm trùng</a:t>
            </a:r>
          </a:p>
        </p:txBody>
      </p:sp>
      <p:sp>
        <p:nvSpPr>
          <p:cNvPr id="3" name="Chỗ dành sẵn cho Nội dung 2">
            <a:extLst>
              <a:ext uri="{FF2B5EF4-FFF2-40B4-BE49-F238E27FC236}">
                <a16:creationId xmlns:a16="http://schemas.microsoft.com/office/drawing/2014/main" xmlns="" id="{430EF79A-A872-2A47-AECF-BE0D288EE889}"/>
              </a:ext>
            </a:extLst>
          </p:cNvPr>
          <p:cNvSpPr>
            <a:spLocks noGrp="1"/>
          </p:cNvSpPr>
          <p:nvPr>
            <p:ph idx="1"/>
          </p:nvPr>
        </p:nvSpPr>
        <p:spPr/>
        <p:txBody>
          <a:bodyPr/>
          <a:lstStyle/>
          <a:p>
            <a:r>
              <a:rPr lang="vi-VN"/>
              <a:t>Chủ yếu là virus</a:t>
            </a:r>
          </a:p>
          <a:p>
            <a:r>
              <a:rPr lang="en-US" sz="2800" b="1">
                <a:effectLst/>
                <a:latin typeface="Times New Roman" panose="02020603050405020304" pitchFamily="18" charset="0"/>
                <a:ea typeface="MS Mincho" panose="02020609040205080304" pitchFamily="49" charset="-128"/>
              </a:rPr>
              <a:t>HHV-6 là loại virus thường xuyên nhất liên quan đến co giật do sốt ở Hoa Kỳ</a:t>
            </a:r>
            <a:r>
              <a:rPr lang="en-US" sz="2800">
                <a:effectLst/>
                <a:latin typeface="Times New Roman" panose="02020603050405020304" pitchFamily="18" charset="0"/>
                <a:ea typeface="MS Mincho" panose="02020609040205080304" pitchFamily="49" charset="-128"/>
              </a:rPr>
              <a:t> và đã được xác định ở 1/3 trong số tất cả các cơn co giật do sốt lần đầu ở trẻ em Hoa Kỳ dưới  hai tuổi.</a:t>
            </a:r>
            <a:endParaRPr lang="vi-VN" sz="2800">
              <a:effectLst/>
              <a:latin typeface="Times New Roman" panose="02020603050405020304" pitchFamily="18" charset="0"/>
              <a:ea typeface="MS Mincho" panose="02020609040205080304" pitchFamily="49" charset="-128"/>
            </a:endParaRPr>
          </a:p>
          <a:p>
            <a:r>
              <a:rPr lang="en-US" sz="2800" b="1">
                <a:solidFill>
                  <a:srgbClr val="232323"/>
                </a:solidFill>
                <a:effectLst/>
                <a:latin typeface="Times New Roman" panose="02020603050405020304" pitchFamily="18" charset="0"/>
                <a:ea typeface="MS Mincho" panose="02020609040205080304" pitchFamily="49" charset="-128"/>
              </a:rPr>
              <a:t>Ở Châu Á, virus cúm A được phân lập nhiều nhất ở trẻ em có co giật do sốt, tỉ lệ này là 20% trong một nghiên cứu ở Hồng Kong.</a:t>
            </a:r>
            <a:endParaRPr lang="vi-VN" sz="2800"/>
          </a:p>
        </p:txBody>
      </p:sp>
    </p:spTree>
    <p:extLst>
      <p:ext uri="{BB962C8B-B14F-4D97-AF65-F5344CB8AC3E}">
        <p14:creationId xmlns:p14="http://schemas.microsoft.com/office/powerpoint/2010/main" val="10913354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EC03108D-D05A-414B-B1BC-41CEB13D6EC7}"/>
              </a:ext>
            </a:extLst>
          </p:cNvPr>
          <p:cNvSpPr>
            <a:spLocks noGrp="1"/>
          </p:cNvSpPr>
          <p:nvPr>
            <p:ph type="title"/>
          </p:nvPr>
        </p:nvSpPr>
        <p:spPr/>
        <p:txBody>
          <a:bodyPr/>
          <a:lstStyle/>
          <a:p>
            <a:r>
              <a:rPr lang="vi-VN"/>
              <a:t>Tiêm chủng</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386433758"/>
              </p:ext>
            </p:extLst>
          </p:nvPr>
        </p:nvGraphicFramePr>
        <p:xfrm>
          <a:off x="381000" y="1810067"/>
          <a:ext cx="8229600" cy="3600133"/>
        </p:xfrm>
        <a:graphic>
          <a:graphicData uri="http://schemas.openxmlformats.org/drawingml/2006/table">
            <a:tbl>
              <a:tblPr firstRow="1" firstCol="1" bandRow="1">
                <a:tableStyleId>{5C22544A-7EE6-4342-B048-85BDC9FD1C3A}</a:tableStyleId>
              </a:tblPr>
              <a:tblGrid>
                <a:gridCol w="2743200"/>
                <a:gridCol w="2743200"/>
                <a:gridCol w="2743200"/>
              </a:tblGrid>
              <a:tr h="477418">
                <a:tc>
                  <a:txBody>
                    <a:bodyPr/>
                    <a:lstStyle/>
                    <a:p>
                      <a:pPr algn="ctr">
                        <a:lnSpc>
                          <a:spcPts val="1800"/>
                        </a:lnSpc>
                        <a:spcAft>
                          <a:spcPts val="0"/>
                        </a:spcAft>
                      </a:pPr>
                      <a:r>
                        <a:rPr lang="en-US" sz="1200">
                          <a:effectLst/>
                        </a:rPr>
                        <a:t>Adverse reaction</a:t>
                      </a:r>
                      <a:endParaRPr lang="en-US" sz="1200">
                        <a:effectLst/>
                        <a:latin typeface="Calibri"/>
                        <a:ea typeface="MS Mincho"/>
                        <a:cs typeface="Times New Roman"/>
                      </a:endParaRPr>
                    </a:p>
                  </a:txBody>
                  <a:tcPr marT="76200" anchor="ctr"/>
                </a:tc>
                <a:tc>
                  <a:txBody>
                    <a:bodyPr/>
                    <a:lstStyle/>
                    <a:p>
                      <a:pPr algn="ctr">
                        <a:lnSpc>
                          <a:spcPts val="1800"/>
                        </a:lnSpc>
                        <a:spcAft>
                          <a:spcPts val="0"/>
                        </a:spcAft>
                      </a:pPr>
                      <a:r>
                        <a:rPr lang="en-US" sz="1200">
                          <a:effectLst/>
                        </a:rPr>
                        <a:t>DTwP</a:t>
                      </a:r>
                      <a:endParaRPr lang="en-US" sz="1200">
                        <a:effectLst/>
                        <a:latin typeface="Calibri"/>
                        <a:ea typeface="MS Mincho"/>
                        <a:cs typeface="Times New Roman"/>
                      </a:endParaRPr>
                    </a:p>
                  </a:txBody>
                  <a:tcPr marT="76200" anchor="ctr"/>
                </a:tc>
                <a:tc>
                  <a:txBody>
                    <a:bodyPr/>
                    <a:lstStyle/>
                    <a:p>
                      <a:pPr algn="ctr">
                        <a:lnSpc>
                          <a:spcPts val="1800"/>
                        </a:lnSpc>
                        <a:spcAft>
                          <a:spcPts val="0"/>
                        </a:spcAft>
                      </a:pPr>
                      <a:r>
                        <a:rPr lang="en-US" sz="1200">
                          <a:effectLst/>
                        </a:rPr>
                        <a:t>DTaP</a:t>
                      </a:r>
                      <a:endParaRPr lang="en-US" sz="1200">
                        <a:effectLst/>
                        <a:latin typeface="Calibri"/>
                        <a:ea typeface="MS Mincho"/>
                        <a:cs typeface="Times New Roman"/>
                      </a:endParaRPr>
                    </a:p>
                  </a:txBody>
                  <a:tcPr marT="76200" anchor="ctr"/>
                </a:tc>
              </a:tr>
              <a:tr h="423614">
                <a:tc>
                  <a:txBody>
                    <a:bodyPr/>
                    <a:lstStyle/>
                    <a:p>
                      <a:pPr>
                        <a:lnSpc>
                          <a:spcPts val="1800"/>
                        </a:lnSpc>
                        <a:spcAft>
                          <a:spcPts val="0"/>
                        </a:spcAft>
                      </a:pPr>
                      <a:r>
                        <a:rPr lang="en-US" sz="1200">
                          <a:effectLst/>
                        </a:rPr>
                        <a:t>Entire limb swelling</a:t>
                      </a:r>
                      <a:endParaRPr lang="en-US" sz="1200">
                        <a:effectLst/>
                        <a:latin typeface="Calibri"/>
                        <a:ea typeface="MS Mincho"/>
                        <a:cs typeface="Times New Roman"/>
                      </a:endParaRPr>
                    </a:p>
                  </a:txBody>
                  <a:tcPr anchor="ctr"/>
                </a:tc>
                <a:tc>
                  <a:txBody>
                    <a:bodyPr/>
                    <a:lstStyle/>
                    <a:p>
                      <a:pPr>
                        <a:lnSpc>
                          <a:spcPct val="115000"/>
                        </a:lnSpc>
                      </a:pPr>
                      <a:endParaRPr lang="en-US" sz="1200">
                        <a:effectLst/>
                        <a:latin typeface="Calibri"/>
                        <a:cs typeface="Times New Roman"/>
                      </a:endParaRPr>
                    </a:p>
                  </a:txBody>
                  <a:tcPr anchor="ctr"/>
                </a:tc>
                <a:tc>
                  <a:txBody>
                    <a:bodyPr/>
                    <a:lstStyle/>
                    <a:p>
                      <a:pPr>
                        <a:lnSpc>
                          <a:spcPts val="1800"/>
                        </a:lnSpc>
                        <a:spcAft>
                          <a:spcPts val="0"/>
                        </a:spcAft>
                      </a:pPr>
                      <a:r>
                        <a:rPr lang="en-US" sz="1200">
                          <a:effectLst/>
                        </a:rPr>
                        <a:t>1 in 33 to 1 in 50 children after the fourth or fifth dose</a:t>
                      </a:r>
                      <a:endParaRPr lang="en-US" sz="1200">
                        <a:effectLst/>
                        <a:latin typeface="Calibri"/>
                        <a:ea typeface="MS Mincho"/>
                        <a:cs typeface="Times New Roman"/>
                      </a:endParaRPr>
                    </a:p>
                  </a:txBody>
                  <a:tcPr anchor="ctr"/>
                </a:tc>
              </a:tr>
              <a:tr h="423614">
                <a:tc>
                  <a:txBody>
                    <a:bodyPr/>
                    <a:lstStyle/>
                    <a:p>
                      <a:pPr>
                        <a:lnSpc>
                          <a:spcPts val="1800"/>
                        </a:lnSpc>
                        <a:spcAft>
                          <a:spcPts val="0"/>
                        </a:spcAft>
                      </a:pPr>
                      <a:r>
                        <a:rPr lang="en-US" sz="1200">
                          <a:effectLst/>
                        </a:rPr>
                        <a:t>Persistent inconsolable crying (≥3 hours)</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100 doses</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Up to approximately 1 in 1000 children</a:t>
                      </a:r>
                      <a:endParaRPr lang="en-US" sz="1200">
                        <a:effectLst/>
                        <a:latin typeface="Calibri"/>
                        <a:ea typeface="MS Mincho"/>
                        <a:cs typeface="Times New Roman"/>
                      </a:endParaRPr>
                    </a:p>
                  </a:txBody>
                  <a:tcPr anchor="ctr"/>
                </a:tc>
              </a:tr>
              <a:tr h="754074">
                <a:tc>
                  <a:txBody>
                    <a:bodyPr/>
                    <a:lstStyle/>
                    <a:p>
                      <a:pPr>
                        <a:lnSpc>
                          <a:spcPts val="1800"/>
                        </a:lnSpc>
                        <a:spcAft>
                          <a:spcPts val="0"/>
                        </a:spcAft>
                      </a:pPr>
                      <a:r>
                        <a:rPr lang="en-US" sz="1200">
                          <a:effectLst/>
                        </a:rPr>
                        <a:t>Hypotonic-hyporesponsive episode (collapse, shock-like state)</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1750 doses (range 1 in 344 to 1 in 28,570)</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Less than 1 per 10,000 children (range 1 in 714 to 1 in 25,000)</a:t>
                      </a:r>
                      <a:endParaRPr lang="en-US" sz="1200">
                        <a:effectLst/>
                        <a:latin typeface="Calibri"/>
                        <a:ea typeface="MS Mincho"/>
                        <a:cs typeface="Times New Roman"/>
                      </a:endParaRPr>
                    </a:p>
                  </a:txBody>
                  <a:tcPr anchor="ctr"/>
                </a:tc>
              </a:tr>
              <a:tr h="423614">
                <a:tc>
                  <a:txBody>
                    <a:bodyPr/>
                    <a:lstStyle/>
                    <a:p>
                      <a:pPr>
                        <a:lnSpc>
                          <a:spcPts val="1800"/>
                        </a:lnSpc>
                        <a:spcAft>
                          <a:spcPts val="0"/>
                        </a:spcAft>
                      </a:pPr>
                      <a:r>
                        <a:rPr lang="en-US" sz="1200">
                          <a:effectLst/>
                        </a:rPr>
                        <a:t>Seizures (febrile)</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1750 doses</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14,000 children</a:t>
                      </a:r>
                      <a:endParaRPr lang="en-US" sz="1200">
                        <a:effectLst/>
                        <a:latin typeface="Calibri"/>
                        <a:ea typeface="MS Mincho"/>
                        <a:cs typeface="Times New Roman"/>
                      </a:endParaRPr>
                    </a:p>
                  </a:txBody>
                  <a:tcPr anchor="ctr"/>
                </a:tc>
              </a:tr>
              <a:tr h="423614">
                <a:tc>
                  <a:txBody>
                    <a:bodyPr/>
                    <a:lstStyle/>
                    <a:p>
                      <a:pPr>
                        <a:lnSpc>
                          <a:spcPts val="1800"/>
                        </a:lnSpc>
                        <a:spcAft>
                          <a:spcPts val="0"/>
                        </a:spcAft>
                      </a:pPr>
                      <a:r>
                        <a:rPr lang="en-US" sz="1200">
                          <a:effectLst/>
                        </a:rPr>
                        <a:t>Fever ≥105°F (40.5°C)</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333 doses</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16,000 children</a:t>
                      </a:r>
                      <a:endParaRPr lang="en-US" sz="1200">
                        <a:effectLst/>
                        <a:latin typeface="Calibri"/>
                        <a:ea typeface="MS Mincho"/>
                        <a:cs typeface="Times New Roman"/>
                      </a:endParaRPr>
                    </a:p>
                  </a:txBody>
                  <a:tcPr anchor="ctr"/>
                </a:tc>
              </a:tr>
              <a:tr h="566050">
                <a:tc>
                  <a:txBody>
                    <a:bodyPr/>
                    <a:lstStyle/>
                    <a:p>
                      <a:pPr>
                        <a:lnSpc>
                          <a:spcPts val="1800"/>
                        </a:lnSpc>
                        <a:spcAft>
                          <a:spcPts val="0"/>
                        </a:spcAft>
                      </a:pPr>
                      <a:r>
                        <a:rPr lang="en-US" sz="1200">
                          <a:effectLst/>
                        </a:rPr>
                        <a:t>Anaphylaxis</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1 in 50,000 doses</a:t>
                      </a:r>
                      <a:endParaRPr lang="en-US" sz="1200">
                        <a:effectLst/>
                        <a:latin typeface="Calibri"/>
                        <a:ea typeface="MS Mincho"/>
                        <a:cs typeface="Times New Roman"/>
                      </a:endParaRPr>
                    </a:p>
                  </a:txBody>
                  <a:tcPr anchor="ctr"/>
                </a:tc>
                <a:tc>
                  <a:txBody>
                    <a:bodyPr/>
                    <a:lstStyle/>
                    <a:p>
                      <a:pPr>
                        <a:lnSpc>
                          <a:spcPts val="1800"/>
                        </a:lnSpc>
                        <a:spcAft>
                          <a:spcPts val="0"/>
                        </a:spcAft>
                      </a:pPr>
                      <a:r>
                        <a:rPr lang="en-US" sz="1200">
                          <a:effectLst/>
                        </a:rPr>
                        <a:t>Less than 1 in 1 million doses</a:t>
                      </a:r>
                      <a:endParaRPr lang="en-US" sz="1200">
                        <a:effectLst/>
                        <a:latin typeface="Calibri"/>
                        <a:ea typeface="MS Mincho"/>
                        <a:cs typeface="Times New Roman"/>
                      </a:endParaRPr>
                    </a:p>
                  </a:txBody>
                  <a:tcPr anchor="ctr"/>
                </a:tc>
              </a:tr>
            </a:tbl>
          </a:graphicData>
        </a:graphic>
      </p:graphicFrame>
    </p:spTree>
    <p:extLst>
      <p:ext uri="{BB962C8B-B14F-4D97-AF65-F5344CB8AC3E}">
        <p14:creationId xmlns:p14="http://schemas.microsoft.com/office/powerpoint/2010/main" val="40233606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D5B2A396-045E-674A-A034-8DAF9453F105}"/>
              </a:ext>
            </a:extLst>
          </p:cNvPr>
          <p:cNvSpPr>
            <a:spLocks noGrp="1"/>
          </p:cNvSpPr>
          <p:nvPr>
            <p:ph type="title"/>
          </p:nvPr>
        </p:nvSpPr>
        <p:spPr/>
        <p:txBody>
          <a:bodyPr/>
          <a:lstStyle/>
          <a:p>
            <a:r>
              <a:rPr lang="vi-VN"/>
              <a:t>Nhạy cảm di truyền</a:t>
            </a:r>
          </a:p>
        </p:txBody>
      </p:sp>
      <p:sp>
        <p:nvSpPr>
          <p:cNvPr id="3" name="Chỗ dành sẵn cho Nội dung 2">
            <a:extLst>
              <a:ext uri="{FF2B5EF4-FFF2-40B4-BE49-F238E27FC236}">
                <a16:creationId xmlns:a16="http://schemas.microsoft.com/office/drawing/2014/main" xmlns="" id="{A0015181-6BC1-B14D-AA6F-8B42B8636BC0}"/>
              </a:ext>
            </a:extLst>
          </p:cNvPr>
          <p:cNvSpPr>
            <a:spLocks noGrp="1"/>
          </p:cNvSpPr>
          <p:nvPr>
            <p:ph idx="1"/>
          </p:nvPr>
        </p:nvSpPr>
        <p:spPr/>
        <p:txBody>
          <a:bodyPr>
            <a:normAutofit lnSpcReduction="10000"/>
          </a:bodyPr>
          <a:lstStyle/>
          <a:p>
            <a:pPr lvl="0"/>
            <a:r>
              <a:rPr lang="en-US" sz="2400">
                <a:solidFill>
                  <a:srgbClr val="232323"/>
                </a:solidFill>
                <a:effectLst/>
                <a:ea typeface="Times New Roman" panose="02020603050405020304" pitchFamily="18" charset="0"/>
              </a:rPr>
              <a:t>Ở một số bệnh nhân và gia đình, xu hướng co giật do sốt là biểu hiện ban đầu của chứng động kinh toàn thể cộng với co giật do sốt (GEFS +, generalized epilepsy with febrile seizures plus), một chứng động kinh di truyền đã được xác định gây ra bởi một loại các đột biến. Động kinh giật cơ nghiêm trọng ở trẻ nhỏ (hội chứng Dravet) là một chứng động kinh di truyền khác đặc trưng bởi co giật do sốt ở trẻ nhỏ. </a:t>
            </a:r>
            <a:endParaRPr lang="vi-VN" sz="2400">
              <a:effectLst/>
              <a:ea typeface="Times New Roman" panose="02020603050405020304" pitchFamily="18" charset="0"/>
            </a:endParaRPr>
          </a:p>
          <a:p>
            <a:pPr lvl="0"/>
            <a:r>
              <a:rPr lang="en-US" sz="2400">
                <a:solidFill>
                  <a:srgbClr val="232323"/>
                </a:solidFill>
                <a:effectLst/>
                <a:ea typeface="Times New Roman" panose="02020603050405020304" pitchFamily="18" charset="0"/>
              </a:rPr>
              <a:t>Bất thường vùng đồi thị được xác định ở một số bệnh nhân và gia đình bị co giật do sốt và có thể liên quan đến yếu tố di truyền và nguy cơ mắc bệnh động kinh thùy thái dương trong tương lai. Những bất thường về phát triển của hồi hải mã, bao gồm cả dị tật vùng đồi thị, cũng đã được báo cáo ở 10,5% trẻ em có co giật do sốt.</a:t>
            </a:r>
            <a:endParaRPr lang="vi-VN" sz="2400">
              <a:effectLst/>
              <a:ea typeface="Times New Roman" panose="02020603050405020304" pitchFamily="18" charset="0"/>
            </a:endParaRPr>
          </a:p>
          <a:p>
            <a:endParaRPr lang="vi-VN"/>
          </a:p>
        </p:txBody>
      </p:sp>
    </p:spTree>
    <p:extLst>
      <p:ext uri="{BB962C8B-B14F-4D97-AF65-F5344CB8AC3E}">
        <p14:creationId xmlns:p14="http://schemas.microsoft.com/office/powerpoint/2010/main" val="25494328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D3B01961-385F-954A-8C97-921B019CAAD2}"/>
              </a:ext>
            </a:extLst>
          </p:cNvPr>
          <p:cNvSpPr>
            <a:spLocks noGrp="1"/>
          </p:cNvSpPr>
          <p:nvPr>
            <p:ph type="title"/>
          </p:nvPr>
        </p:nvSpPr>
        <p:spPr/>
        <p:txBody>
          <a:bodyPr/>
          <a:lstStyle/>
          <a:p>
            <a:r>
              <a:rPr lang="vi-VN"/>
              <a:t>Các yếu tố khác</a:t>
            </a:r>
          </a:p>
        </p:txBody>
      </p:sp>
      <p:pic>
        <p:nvPicPr>
          <p:cNvPr id="4" name="Hình ảnh 4">
            <a:extLst>
              <a:ext uri="{FF2B5EF4-FFF2-40B4-BE49-F238E27FC236}">
                <a16:creationId xmlns:a16="http://schemas.microsoft.com/office/drawing/2014/main" xmlns="" id="{70B09F4C-C463-2F41-89E0-F35C21FBF35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813" y="1632858"/>
            <a:ext cx="2857500" cy="3044190"/>
          </a:xfrm>
        </p:spPr>
      </p:pic>
      <p:pic>
        <p:nvPicPr>
          <p:cNvPr id="6" name="Hình ảnh 6">
            <a:extLst>
              <a:ext uri="{FF2B5EF4-FFF2-40B4-BE49-F238E27FC236}">
                <a16:creationId xmlns:a16="http://schemas.microsoft.com/office/drawing/2014/main" xmlns="" id="{3999A17D-0362-A54D-9FB8-4B5F8D5214A7}"/>
              </a:ext>
            </a:extLst>
          </p:cNvPr>
          <p:cNvPicPr>
            <a:picLocks noChangeAspect="1"/>
          </p:cNvPicPr>
          <p:nvPr/>
        </p:nvPicPr>
        <p:blipFill rotWithShape="1">
          <a:blip r:embed="rId3">
            <a:extLst>
              <a:ext uri="{28A0092B-C50C-407E-A947-70E740481C1C}">
                <a14:useLocalDpi xmlns:a14="http://schemas.microsoft.com/office/drawing/2010/main" val="0"/>
              </a:ext>
            </a:extLst>
          </a:blip>
          <a:srcRect l="4843" t="-397" r="6392" b="31002"/>
          <a:stretch/>
        </p:blipFill>
        <p:spPr>
          <a:xfrm>
            <a:off x="2368146" y="4037794"/>
            <a:ext cx="4809874" cy="2820206"/>
          </a:xfrm>
          <a:prstGeom prst="rect">
            <a:avLst/>
          </a:prstGeom>
        </p:spPr>
      </p:pic>
      <p:pic>
        <p:nvPicPr>
          <p:cNvPr id="8" name="Hình ảnh 8">
            <a:extLst>
              <a:ext uri="{FF2B5EF4-FFF2-40B4-BE49-F238E27FC236}">
                <a16:creationId xmlns:a16="http://schemas.microsoft.com/office/drawing/2014/main" xmlns="" id="{3A9953B7-7F3B-9A4B-BFDD-D122C807A685}"/>
              </a:ext>
            </a:extLst>
          </p:cNvPr>
          <p:cNvPicPr>
            <a:picLocks noChangeAspect="1"/>
          </p:cNvPicPr>
          <p:nvPr/>
        </p:nvPicPr>
        <p:blipFill rotWithShape="1">
          <a:blip r:embed="rId4">
            <a:extLst>
              <a:ext uri="{28A0092B-C50C-407E-A947-70E740481C1C}">
                <a14:useLocalDpi xmlns:a14="http://schemas.microsoft.com/office/drawing/2010/main" val="0"/>
              </a:ext>
            </a:extLst>
          </a:blip>
          <a:srcRect l="4041" r="49752" b="2649"/>
          <a:stretch/>
        </p:blipFill>
        <p:spPr>
          <a:xfrm>
            <a:off x="6212419" y="1501951"/>
            <a:ext cx="2640793" cy="3477255"/>
          </a:xfrm>
          <a:prstGeom prst="rect">
            <a:avLst/>
          </a:prstGeom>
        </p:spPr>
      </p:pic>
    </p:spTree>
    <p:extLst>
      <p:ext uri="{BB962C8B-B14F-4D97-AF65-F5344CB8AC3E}">
        <p14:creationId xmlns:p14="http://schemas.microsoft.com/office/powerpoint/2010/main" val="24056341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CHẨN ĐOÁN</a:t>
            </a:r>
          </a:p>
        </p:txBody>
      </p:sp>
      <p:sp>
        <p:nvSpPr>
          <p:cNvPr id="3" name="Content Placeholder 2"/>
          <p:cNvSpPr>
            <a:spLocks noGrp="1"/>
          </p:cNvSpPr>
          <p:nvPr>
            <p:ph idx="1"/>
          </p:nvPr>
        </p:nvSpPr>
        <p:spPr/>
        <p:txBody>
          <a:bodyPr>
            <a:normAutofit/>
          </a:bodyPr>
          <a:lstStyle/>
          <a:p>
            <a:pPr marL="0" indent="0">
              <a:buNone/>
            </a:pPr>
            <a:r>
              <a:rPr lang="en-US" dirty="0" err="1"/>
              <a:t>Dựa</a:t>
            </a:r>
            <a:r>
              <a:rPr lang="en-US" dirty="0"/>
              <a:t> </a:t>
            </a:r>
            <a:r>
              <a:rPr lang="en-US" dirty="0" err="1"/>
              <a:t>vào</a:t>
            </a:r>
            <a:r>
              <a:rPr lang="en-US" dirty="0"/>
              <a:t> </a:t>
            </a:r>
            <a:r>
              <a:rPr lang="en-US" dirty="0" err="1"/>
              <a:t>các</a:t>
            </a:r>
            <a:r>
              <a:rPr lang="en-US" dirty="0"/>
              <a:t> </a:t>
            </a:r>
            <a:r>
              <a:rPr lang="en-US" dirty="0" err="1"/>
              <a:t>đặc</a:t>
            </a:r>
            <a:r>
              <a:rPr lang="en-US" dirty="0"/>
              <a:t> </a:t>
            </a:r>
            <a:r>
              <a:rPr lang="en-US" dirty="0" err="1"/>
              <a:t>điểm</a:t>
            </a:r>
            <a:r>
              <a:rPr lang="en-US" dirty="0"/>
              <a:t> </a:t>
            </a:r>
            <a:r>
              <a:rPr lang="en-US" dirty="0" err="1"/>
              <a:t>sau</a:t>
            </a:r>
            <a:r>
              <a:rPr lang="en-US" dirty="0"/>
              <a:t>:</a:t>
            </a:r>
          </a:p>
          <a:p>
            <a:pPr>
              <a:buFont typeface="Wingdings" pitchFamily="2" charset="2"/>
              <a:buChar char="Ø"/>
            </a:pPr>
            <a:r>
              <a:rPr lang="en-US" dirty="0"/>
              <a:t>6 </a:t>
            </a:r>
            <a:r>
              <a:rPr lang="en-US" dirty="0" err="1"/>
              <a:t>tháng</a:t>
            </a:r>
            <a:r>
              <a:rPr lang="en-US" dirty="0"/>
              <a:t> - 5 </a:t>
            </a:r>
            <a:r>
              <a:rPr lang="en-US" dirty="0" err="1"/>
              <a:t>tuổi</a:t>
            </a:r>
            <a:endParaRPr lang="en-US" dirty="0"/>
          </a:p>
          <a:p>
            <a:pPr>
              <a:buFont typeface="Wingdings" pitchFamily="2" charset="2"/>
              <a:buChar char="Ø"/>
            </a:pPr>
            <a:r>
              <a:rPr lang="en-US" dirty="0" err="1"/>
              <a:t>Nhiệt</a:t>
            </a:r>
            <a:r>
              <a:rPr lang="en-US" dirty="0"/>
              <a:t> </a:t>
            </a:r>
            <a:r>
              <a:rPr lang="en-US" dirty="0" err="1"/>
              <a:t>độ</a:t>
            </a:r>
            <a:r>
              <a:rPr lang="en-US" dirty="0"/>
              <a:t> </a:t>
            </a:r>
            <a:r>
              <a:rPr lang="en-US" dirty="0" err="1"/>
              <a:t>lúc</a:t>
            </a:r>
            <a:r>
              <a:rPr lang="en-US" dirty="0"/>
              <a:t> co </a:t>
            </a:r>
            <a:r>
              <a:rPr lang="en-US" dirty="0" err="1"/>
              <a:t>giật</a:t>
            </a:r>
            <a:r>
              <a:rPr lang="en-US" dirty="0"/>
              <a:t> ≥ 39⁰C</a:t>
            </a:r>
          </a:p>
          <a:p>
            <a:pPr>
              <a:buFont typeface="Wingdings" pitchFamily="2" charset="2"/>
              <a:buChar char="Ø"/>
            </a:pPr>
            <a:r>
              <a:rPr lang="en-US" dirty="0"/>
              <a:t>Co </a:t>
            </a:r>
            <a:r>
              <a:rPr lang="en-US" dirty="0" err="1"/>
              <a:t>giật</a:t>
            </a:r>
            <a:r>
              <a:rPr lang="en-US" dirty="0"/>
              <a:t> </a:t>
            </a:r>
            <a:r>
              <a:rPr lang="en-US" dirty="0" err="1"/>
              <a:t>lan</a:t>
            </a:r>
            <a:r>
              <a:rPr lang="en-US" dirty="0"/>
              <a:t> </a:t>
            </a:r>
            <a:r>
              <a:rPr lang="en-US" dirty="0" err="1"/>
              <a:t>tỏa</a:t>
            </a:r>
            <a:r>
              <a:rPr lang="en-US" dirty="0"/>
              <a:t> </a:t>
            </a:r>
            <a:r>
              <a:rPr lang="en-US" dirty="0" err="1"/>
              <a:t>toàn</a:t>
            </a:r>
            <a:r>
              <a:rPr lang="en-US" dirty="0"/>
              <a:t> </a:t>
            </a:r>
            <a:r>
              <a:rPr lang="en-US" dirty="0" err="1"/>
              <a:t>thân</a:t>
            </a:r>
            <a:endParaRPr lang="en-US" dirty="0"/>
          </a:p>
          <a:p>
            <a:pPr>
              <a:buFont typeface="Wingdings" pitchFamily="2" charset="2"/>
              <a:buChar char="Ø"/>
            </a:pPr>
            <a:r>
              <a:rPr lang="en-US" dirty="0" err="1"/>
              <a:t>Cơn</a:t>
            </a:r>
            <a:r>
              <a:rPr lang="en-US" dirty="0"/>
              <a:t> </a:t>
            </a:r>
            <a:r>
              <a:rPr lang="en-US" dirty="0" err="1"/>
              <a:t>giật</a:t>
            </a:r>
            <a:r>
              <a:rPr lang="en-US" dirty="0"/>
              <a:t> </a:t>
            </a:r>
            <a:r>
              <a:rPr lang="en-US" dirty="0" err="1"/>
              <a:t>ngắn</a:t>
            </a:r>
            <a:r>
              <a:rPr lang="en-US" dirty="0"/>
              <a:t> </a:t>
            </a:r>
            <a:r>
              <a:rPr lang="en-US" dirty="0" err="1"/>
              <a:t>dưới</a:t>
            </a:r>
            <a:r>
              <a:rPr lang="en-US" dirty="0"/>
              <a:t> 10 </a:t>
            </a:r>
            <a:r>
              <a:rPr lang="en-US" dirty="0" err="1"/>
              <a:t>phút</a:t>
            </a:r>
            <a:endParaRPr lang="en-US" dirty="0"/>
          </a:p>
        </p:txBody>
      </p:sp>
    </p:spTree>
    <p:extLst>
      <p:ext uri="{BB962C8B-B14F-4D97-AF65-F5344CB8AC3E}">
        <p14:creationId xmlns:p14="http://schemas.microsoft.com/office/powerpoint/2010/main" val="38660780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CHẨN ĐOÁN</a:t>
            </a:r>
          </a:p>
        </p:txBody>
      </p:sp>
      <p:sp>
        <p:nvSpPr>
          <p:cNvPr id="3" name="Content Placeholder 2"/>
          <p:cNvSpPr>
            <a:spLocks noGrp="1"/>
          </p:cNvSpPr>
          <p:nvPr>
            <p:ph idx="1"/>
          </p:nvPr>
        </p:nvSpPr>
        <p:spPr/>
        <p:txBody>
          <a:bodyPr/>
          <a:lstStyle/>
          <a:p>
            <a:pPr lvl="0">
              <a:buFont typeface="Wingdings" pitchFamily="2" charset="2"/>
              <a:buChar char="Ø"/>
            </a:pPr>
            <a:r>
              <a:rPr lang="en-US" sz="3000" dirty="0" err="1">
                <a:solidFill>
                  <a:prstClr val="black"/>
                </a:solidFill>
              </a:rPr>
              <a:t>Số</a:t>
            </a:r>
            <a:r>
              <a:rPr lang="en-US" sz="3000" dirty="0">
                <a:solidFill>
                  <a:prstClr val="black"/>
                </a:solidFill>
              </a:rPr>
              <a:t> </a:t>
            </a:r>
            <a:r>
              <a:rPr lang="en-US" sz="3000" dirty="0" err="1">
                <a:solidFill>
                  <a:prstClr val="black"/>
                </a:solidFill>
              </a:rPr>
              <a:t>lần</a:t>
            </a:r>
            <a:r>
              <a:rPr lang="en-US" sz="3000" dirty="0">
                <a:solidFill>
                  <a:prstClr val="black"/>
                </a:solidFill>
              </a:rPr>
              <a:t> </a:t>
            </a:r>
            <a:r>
              <a:rPr lang="en-US" sz="3000" dirty="0" err="1">
                <a:solidFill>
                  <a:prstClr val="black"/>
                </a:solidFill>
              </a:rPr>
              <a:t>giật</a:t>
            </a:r>
            <a:r>
              <a:rPr lang="en-US" sz="3000" dirty="0">
                <a:solidFill>
                  <a:prstClr val="black"/>
                </a:solidFill>
              </a:rPr>
              <a:t> </a:t>
            </a:r>
            <a:r>
              <a:rPr lang="en-US" sz="3000" dirty="0" err="1">
                <a:solidFill>
                  <a:prstClr val="black"/>
                </a:solidFill>
              </a:rPr>
              <a:t>thưa</a:t>
            </a:r>
            <a:r>
              <a:rPr lang="en-US" sz="3000" dirty="0">
                <a:solidFill>
                  <a:prstClr val="black"/>
                </a:solidFill>
              </a:rPr>
              <a:t> </a:t>
            </a:r>
            <a:r>
              <a:rPr lang="en-US" sz="3000" dirty="0" err="1">
                <a:solidFill>
                  <a:prstClr val="black"/>
                </a:solidFill>
              </a:rPr>
              <a:t>dưới</a:t>
            </a:r>
            <a:r>
              <a:rPr lang="en-US" sz="3000" dirty="0">
                <a:solidFill>
                  <a:prstClr val="black"/>
                </a:solidFill>
              </a:rPr>
              <a:t> 5 </a:t>
            </a:r>
            <a:r>
              <a:rPr lang="en-US" sz="3000" dirty="0" err="1">
                <a:solidFill>
                  <a:prstClr val="black"/>
                </a:solidFill>
              </a:rPr>
              <a:t>cơn</a:t>
            </a:r>
            <a:r>
              <a:rPr lang="en-US" sz="3000" dirty="0">
                <a:solidFill>
                  <a:prstClr val="black"/>
                </a:solidFill>
              </a:rPr>
              <a:t> </a:t>
            </a:r>
            <a:r>
              <a:rPr lang="en-US" sz="3000" dirty="0" err="1">
                <a:solidFill>
                  <a:prstClr val="black"/>
                </a:solidFill>
              </a:rPr>
              <a:t>trong</a:t>
            </a:r>
            <a:r>
              <a:rPr lang="en-US" sz="3000" dirty="0">
                <a:solidFill>
                  <a:prstClr val="black"/>
                </a:solidFill>
              </a:rPr>
              <a:t> 24h</a:t>
            </a:r>
          </a:p>
          <a:p>
            <a:pPr lvl="0">
              <a:buFont typeface="Wingdings" pitchFamily="2" charset="2"/>
              <a:buChar char="Ø"/>
            </a:pPr>
            <a:r>
              <a:rPr lang="en-US" sz="3000" dirty="0" err="1">
                <a:solidFill>
                  <a:prstClr val="black"/>
                </a:solidFill>
              </a:rPr>
              <a:t>Ngoài</a:t>
            </a:r>
            <a:r>
              <a:rPr lang="en-US" sz="3000" dirty="0">
                <a:solidFill>
                  <a:prstClr val="black"/>
                </a:solidFill>
              </a:rPr>
              <a:t> </a:t>
            </a:r>
            <a:r>
              <a:rPr lang="en-US" sz="3000" dirty="0" err="1">
                <a:solidFill>
                  <a:prstClr val="black"/>
                </a:solidFill>
              </a:rPr>
              <a:t>cơn</a:t>
            </a:r>
            <a:r>
              <a:rPr lang="en-US" sz="3000" dirty="0">
                <a:solidFill>
                  <a:prstClr val="black"/>
                </a:solidFill>
              </a:rPr>
              <a:t> </a:t>
            </a:r>
            <a:r>
              <a:rPr lang="en-US" sz="3000" dirty="0" err="1">
                <a:solidFill>
                  <a:prstClr val="black"/>
                </a:solidFill>
              </a:rPr>
              <a:t>giật</a:t>
            </a:r>
            <a:r>
              <a:rPr lang="en-US" sz="3000" dirty="0">
                <a:solidFill>
                  <a:prstClr val="black"/>
                </a:solidFill>
              </a:rPr>
              <a:t> </a:t>
            </a:r>
            <a:r>
              <a:rPr lang="en-US" sz="3000" dirty="0" err="1">
                <a:solidFill>
                  <a:prstClr val="black"/>
                </a:solidFill>
              </a:rPr>
              <a:t>trẻ</a:t>
            </a:r>
            <a:r>
              <a:rPr lang="en-US" sz="3000" dirty="0">
                <a:solidFill>
                  <a:prstClr val="black"/>
                </a:solidFill>
              </a:rPr>
              <a:t> </a:t>
            </a:r>
            <a:r>
              <a:rPr lang="en-US" sz="3000" dirty="0" err="1">
                <a:solidFill>
                  <a:prstClr val="black"/>
                </a:solidFill>
              </a:rPr>
              <a:t>tỉnh</a:t>
            </a:r>
            <a:r>
              <a:rPr lang="en-US" sz="3000" dirty="0">
                <a:solidFill>
                  <a:prstClr val="black"/>
                </a:solidFill>
              </a:rPr>
              <a:t>, </a:t>
            </a:r>
            <a:r>
              <a:rPr lang="en-US" sz="3000" dirty="0" err="1">
                <a:solidFill>
                  <a:prstClr val="black"/>
                </a:solidFill>
              </a:rPr>
              <a:t>hội</a:t>
            </a:r>
            <a:r>
              <a:rPr lang="en-US" sz="3000" dirty="0">
                <a:solidFill>
                  <a:prstClr val="black"/>
                </a:solidFill>
              </a:rPr>
              <a:t> </a:t>
            </a:r>
            <a:r>
              <a:rPr lang="en-US" sz="3000" dirty="0" err="1">
                <a:solidFill>
                  <a:prstClr val="black"/>
                </a:solidFill>
              </a:rPr>
              <a:t>chứng</a:t>
            </a:r>
            <a:r>
              <a:rPr lang="en-US" sz="3000" dirty="0">
                <a:solidFill>
                  <a:prstClr val="black"/>
                </a:solidFill>
              </a:rPr>
              <a:t> </a:t>
            </a:r>
            <a:r>
              <a:rPr lang="en-US" sz="3000" dirty="0" err="1">
                <a:solidFill>
                  <a:prstClr val="black"/>
                </a:solidFill>
              </a:rPr>
              <a:t>não</a:t>
            </a:r>
            <a:r>
              <a:rPr lang="en-US" sz="3000" dirty="0">
                <a:solidFill>
                  <a:prstClr val="black"/>
                </a:solidFill>
              </a:rPr>
              <a:t> – </a:t>
            </a:r>
            <a:r>
              <a:rPr lang="en-US" sz="3000" dirty="0" err="1">
                <a:solidFill>
                  <a:prstClr val="black"/>
                </a:solidFill>
              </a:rPr>
              <a:t>màng</a:t>
            </a:r>
            <a:r>
              <a:rPr lang="en-US" sz="3000" dirty="0">
                <a:solidFill>
                  <a:prstClr val="black"/>
                </a:solidFill>
              </a:rPr>
              <a:t> </a:t>
            </a:r>
            <a:r>
              <a:rPr lang="en-US" sz="3000" dirty="0" err="1">
                <a:solidFill>
                  <a:prstClr val="black"/>
                </a:solidFill>
              </a:rPr>
              <a:t>não</a:t>
            </a:r>
            <a:r>
              <a:rPr lang="en-US" sz="3000" dirty="0">
                <a:solidFill>
                  <a:prstClr val="black"/>
                </a:solidFill>
              </a:rPr>
              <a:t> </a:t>
            </a:r>
            <a:r>
              <a:rPr lang="en-US" sz="3000" dirty="0" err="1">
                <a:solidFill>
                  <a:prstClr val="black"/>
                </a:solidFill>
              </a:rPr>
              <a:t>âm</a:t>
            </a:r>
            <a:r>
              <a:rPr lang="en-US" sz="3000" dirty="0">
                <a:solidFill>
                  <a:prstClr val="black"/>
                </a:solidFill>
              </a:rPr>
              <a:t> </a:t>
            </a:r>
            <a:r>
              <a:rPr lang="en-US" sz="3000" dirty="0" err="1">
                <a:solidFill>
                  <a:prstClr val="black"/>
                </a:solidFill>
              </a:rPr>
              <a:t>tính</a:t>
            </a:r>
            <a:r>
              <a:rPr lang="en-US" sz="3000" dirty="0">
                <a:solidFill>
                  <a:prstClr val="black"/>
                </a:solidFill>
              </a:rPr>
              <a:t>. </a:t>
            </a:r>
          </a:p>
          <a:p>
            <a:pPr lvl="0">
              <a:buFont typeface="Wingdings" pitchFamily="2" charset="2"/>
              <a:buChar char="Ø"/>
            </a:pPr>
            <a:r>
              <a:rPr lang="en-US" sz="3000" dirty="0" err="1">
                <a:solidFill>
                  <a:prstClr val="black"/>
                </a:solidFill>
              </a:rPr>
              <a:t>Nếu</a:t>
            </a:r>
            <a:r>
              <a:rPr lang="en-US" sz="3000" dirty="0">
                <a:solidFill>
                  <a:prstClr val="black"/>
                </a:solidFill>
              </a:rPr>
              <a:t> </a:t>
            </a:r>
            <a:r>
              <a:rPr lang="en-US" sz="3000" dirty="0" err="1">
                <a:solidFill>
                  <a:prstClr val="black"/>
                </a:solidFill>
              </a:rPr>
              <a:t>chọc</a:t>
            </a:r>
            <a:r>
              <a:rPr lang="en-US" sz="3000" dirty="0">
                <a:solidFill>
                  <a:prstClr val="black"/>
                </a:solidFill>
              </a:rPr>
              <a:t> </a:t>
            </a:r>
            <a:r>
              <a:rPr lang="en-US" sz="3000" dirty="0" err="1">
                <a:solidFill>
                  <a:prstClr val="black"/>
                </a:solidFill>
              </a:rPr>
              <a:t>dịch</a:t>
            </a:r>
            <a:r>
              <a:rPr lang="en-US" sz="3000" dirty="0">
                <a:solidFill>
                  <a:prstClr val="black"/>
                </a:solidFill>
              </a:rPr>
              <a:t> </a:t>
            </a:r>
            <a:r>
              <a:rPr lang="en-US" sz="3000" dirty="0" err="1">
                <a:solidFill>
                  <a:prstClr val="black"/>
                </a:solidFill>
              </a:rPr>
              <a:t>não</a:t>
            </a:r>
            <a:r>
              <a:rPr lang="en-US" sz="3000" dirty="0">
                <a:solidFill>
                  <a:prstClr val="black"/>
                </a:solidFill>
              </a:rPr>
              <a:t> </a:t>
            </a:r>
            <a:r>
              <a:rPr lang="en-US" sz="3000" dirty="0" err="1">
                <a:solidFill>
                  <a:prstClr val="black"/>
                </a:solidFill>
              </a:rPr>
              <a:t>tủy</a:t>
            </a:r>
            <a:r>
              <a:rPr lang="en-US" sz="3000" dirty="0">
                <a:solidFill>
                  <a:prstClr val="black"/>
                </a:solidFill>
              </a:rPr>
              <a:t> </a:t>
            </a:r>
            <a:r>
              <a:rPr lang="en-US" sz="3000" dirty="0" err="1">
                <a:solidFill>
                  <a:prstClr val="black"/>
                </a:solidFill>
              </a:rPr>
              <a:t>xét</a:t>
            </a:r>
            <a:r>
              <a:rPr lang="en-US" sz="3000" dirty="0">
                <a:solidFill>
                  <a:prstClr val="black"/>
                </a:solidFill>
              </a:rPr>
              <a:t> </a:t>
            </a:r>
            <a:r>
              <a:rPr lang="en-US" sz="3000" dirty="0" err="1">
                <a:solidFill>
                  <a:prstClr val="black"/>
                </a:solidFill>
              </a:rPr>
              <a:t>nghiệm</a:t>
            </a:r>
            <a:r>
              <a:rPr lang="en-US" sz="3000" dirty="0">
                <a:solidFill>
                  <a:prstClr val="black"/>
                </a:solidFill>
              </a:rPr>
              <a:t> </a:t>
            </a:r>
            <a:r>
              <a:rPr lang="en-US" sz="3000" dirty="0" err="1">
                <a:solidFill>
                  <a:prstClr val="black"/>
                </a:solidFill>
              </a:rPr>
              <a:t>bình</a:t>
            </a:r>
            <a:r>
              <a:rPr lang="en-US" sz="3000" dirty="0">
                <a:solidFill>
                  <a:prstClr val="black"/>
                </a:solidFill>
              </a:rPr>
              <a:t> </a:t>
            </a:r>
            <a:r>
              <a:rPr lang="en-US" sz="3000" dirty="0" err="1">
                <a:solidFill>
                  <a:prstClr val="black"/>
                </a:solidFill>
              </a:rPr>
              <a:t>thường</a:t>
            </a:r>
            <a:r>
              <a:rPr lang="en-US" sz="3000" dirty="0">
                <a:solidFill>
                  <a:prstClr val="black"/>
                </a:solidFill>
              </a:rPr>
              <a:t>.</a:t>
            </a:r>
          </a:p>
          <a:p>
            <a:pPr lvl="0">
              <a:buFont typeface="Wingdings" pitchFamily="2" charset="2"/>
              <a:buChar char="Ø"/>
            </a:pPr>
            <a:r>
              <a:rPr lang="en-US" sz="3000" dirty="0" err="1">
                <a:solidFill>
                  <a:prstClr val="black"/>
                </a:solidFill>
              </a:rPr>
              <a:t>Nếu</a:t>
            </a:r>
            <a:r>
              <a:rPr lang="en-US" sz="3000" dirty="0">
                <a:solidFill>
                  <a:prstClr val="black"/>
                </a:solidFill>
              </a:rPr>
              <a:t> </a:t>
            </a:r>
            <a:r>
              <a:rPr lang="en-US" sz="3000" dirty="0" err="1">
                <a:solidFill>
                  <a:prstClr val="black"/>
                </a:solidFill>
              </a:rPr>
              <a:t>ghi</a:t>
            </a:r>
            <a:r>
              <a:rPr lang="en-US" sz="3000" dirty="0">
                <a:solidFill>
                  <a:prstClr val="black"/>
                </a:solidFill>
              </a:rPr>
              <a:t> </a:t>
            </a:r>
            <a:r>
              <a:rPr lang="en-US" sz="3000" dirty="0" err="1">
                <a:solidFill>
                  <a:prstClr val="black"/>
                </a:solidFill>
              </a:rPr>
              <a:t>điện</a:t>
            </a:r>
            <a:r>
              <a:rPr lang="en-US" sz="3000" dirty="0">
                <a:solidFill>
                  <a:prstClr val="black"/>
                </a:solidFill>
              </a:rPr>
              <a:t> </a:t>
            </a:r>
            <a:r>
              <a:rPr lang="en-US" sz="3000" dirty="0" err="1">
                <a:solidFill>
                  <a:prstClr val="black"/>
                </a:solidFill>
              </a:rPr>
              <a:t>não</a:t>
            </a:r>
            <a:r>
              <a:rPr lang="en-US" sz="3000" dirty="0">
                <a:solidFill>
                  <a:prstClr val="black"/>
                </a:solidFill>
              </a:rPr>
              <a:t> </a:t>
            </a:r>
            <a:r>
              <a:rPr lang="en-US" sz="3000" dirty="0" err="1">
                <a:solidFill>
                  <a:prstClr val="black"/>
                </a:solidFill>
              </a:rPr>
              <a:t>ngoài</a:t>
            </a:r>
            <a:r>
              <a:rPr lang="en-US" sz="3000" dirty="0">
                <a:solidFill>
                  <a:prstClr val="black"/>
                </a:solidFill>
              </a:rPr>
              <a:t> </a:t>
            </a:r>
            <a:r>
              <a:rPr lang="en-US" sz="3000" dirty="0" err="1">
                <a:solidFill>
                  <a:prstClr val="black"/>
                </a:solidFill>
              </a:rPr>
              <a:t>cơn</a:t>
            </a:r>
            <a:r>
              <a:rPr lang="en-US" sz="3000" dirty="0">
                <a:solidFill>
                  <a:prstClr val="black"/>
                </a:solidFill>
              </a:rPr>
              <a:t> </a:t>
            </a:r>
            <a:r>
              <a:rPr lang="en-US" sz="3000" dirty="0" err="1">
                <a:solidFill>
                  <a:prstClr val="black"/>
                </a:solidFill>
              </a:rPr>
              <a:t>bình</a:t>
            </a:r>
            <a:r>
              <a:rPr lang="en-US" sz="3000" dirty="0">
                <a:solidFill>
                  <a:prstClr val="black"/>
                </a:solidFill>
              </a:rPr>
              <a:t> </a:t>
            </a:r>
            <a:r>
              <a:rPr lang="en-US" sz="3000" dirty="0" err="1">
                <a:solidFill>
                  <a:prstClr val="black"/>
                </a:solidFill>
              </a:rPr>
              <a:t>thường</a:t>
            </a:r>
            <a:endParaRPr lang="en-US" sz="3000" dirty="0">
              <a:solidFill>
                <a:prstClr val="black"/>
              </a:solidFill>
            </a:endParaRPr>
          </a:p>
          <a:p>
            <a:pPr marL="0" lvl="0" indent="0">
              <a:buNone/>
            </a:pPr>
            <a:endParaRPr lang="en-US" sz="3000" dirty="0">
              <a:solidFill>
                <a:prstClr val="black"/>
              </a:solidFill>
            </a:endParaRPr>
          </a:p>
          <a:p>
            <a:endParaRPr lang="en-US" dirty="0"/>
          </a:p>
        </p:txBody>
      </p:sp>
    </p:spTree>
    <p:extLst>
      <p:ext uri="{BB962C8B-B14F-4D97-AF65-F5344CB8AC3E}">
        <p14:creationId xmlns:p14="http://schemas.microsoft.com/office/powerpoint/2010/main" val="6737342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CHẨN ĐOÁN PHÂN BIỆT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95204465"/>
              </p:ext>
            </p:extLst>
          </p:nvPr>
        </p:nvGraphicFramePr>
        <p:xfrm>
          <a:off x="457200" y="1600200"/>
          <a:ext cx="8229600" cy="3708400"/>
        </p:xfrm>
        <a:graphic>
          <a:graphicData uri="http://schemas.openxmlformats.org/drawingml/2006/table">
            <a:tbl>
              <a:tblPr firstRow="1" bandRow="1">
                <a:tableStyleId>{74C1A8A3-306A-4EB7-A6B1-4F7E0EB9C5D6}</a:tableStyleId>
              </a:tblPr>
              <a:tblGrid>
                <a:gridCol w="2057400">
                  <a:extLst>
                    <a:ext uri="{9D8B030D-6E8A-4147-A177-3AD203B41FA5}">
                      <a16:colId xmlns:a16="http://schemas.microsoft.com/office/drawing/2014/main" xmlns="" val="20000"/>
                    </a:ext>
                  </a:extLst>
                </a:gridCol>
                <a:gridCol w="2971800">
                  <a:extLst>
                    <a:ext uri="{9D8B030D-6E8A-4147-A177-3AD203B41FA5}">
                      <a16:colId xmlns:a16="http://schemas.microsoft.com/office/drawing/2014/main" xmlns="" val="20001"/>
                    </a:ext>
                  </a:extLst>
                </a:gridCol>
                <a:gridCol w="3200400">
                  <a:extLst>
                    <a:ext uri="{9D8B030D-6E8A-4147-A177-3AD203B41FA5}">
                      <a16:colId xmlns:a16="http://schemas.microsoft.com/office/drawing/2014/main" xmlns="" val="20002"/>
                    </a:ext>
                  </a:extLst>
                </a:gridCol>
              </a:tblGrid>
              <a:tr h="370840">
                <a:tc>
                  <a:txBody>
                    <a:bodyPr/>
                    <a:lstStyle/>
                    <a:p>
                      <a:r>
                        <a:rPr lang="en-US" dirty="0" err="1"/>
                        <a:t>Tiêu</a:t>
                      </a:r>
                      <a:r>
                        <a:rPr lang="en-US" baseline="0" dirty="0"/>
                        <a:t> </a:t>
                      </a:r>
                      <a:r>
                        <a:rPr lang="en-US" baseline="0" dirty="0" err="1"/>
                        <a:t>chuẩn</a:t>
                      </a:r>
                      <a:endParaRPr lang="en-US" dirty="0"/>
                    </a:p>
                  </a:txBody>
                  <a:tcPr/>
                </a:tc>
                <a:tc>
                  <a:txBody>
                    <a:bodyPr/>
                    <a:lstStyle/>
                    <a:p>
                      <a:r>
                        <a:rPr lang="en-US" dirty="0"/>
                        <a:t>Co </a:t>
                      </a:r>
                      <a:r>
                        <a:rPr lang="en-US" dirty="0" err="1"/>
                        <a:t>giật</a:t>
                      </a:r>
                      <a:r>
                        <a:rPr lang="en-US" baseline="0" dirty="0"/>
                        <a:t> do </a:t>
                      </a:r>
                      <a:r>
                        <a:rPr lang="en-US" baseline="0" dirty="0" err="1"/>
                        <a:t>sốt</a:t>
                      </a:r>
                      <a:r>
                        <a:rPr lang="en-US" baseline="0" dirty="0"/>
                        <a:t> </a:t>
                      </a:r>
                      <a:r>
                        <a:rPr lang="en-US" baseline="0" dirty="0" err="1"/>
                        <a:t>cao</a:t>
                      </a:r>
                      <a:r>
                        <a:rPr lang="en-US" baseline="0" dirty="0"/>
                        <a:t> </a:t>
                      </a:r>
                      <a:r>
                        <a:rPr lang="en-US" baseline="0" dirty="0" err="1"/>
                        <a:t>đơn</a:t>
                      </a:r>
                      <a:r>
                        <a:rPr lang="en-US" baseline="0" dirty="0"/>
                        <a:t> </a:t>
                      </a:r>
                      <a:r>
                        <a:rPr lang="en-US" baseline="0" dirty="0" err="1"/>
                        <a:t>thuần</a:t>
                      </a:r>
                      <a:endParaRPr lang="en-US" dirty="0"/>
                    </a:p>
                  </a:txBody>
                  <a:tcPr/>
                </a:tc>
                <a:tc>
                  <a:txBody>
                    <a:bodyPr/>
                    <a:lstStyle/>
                    <a:p>
                      <a:r>
                        <a:rPr lang="en-US" dirty="0"/>
                        <a:t>Co </a:t>
                      </a:r>
                      <a:r>
                        <a:rPr lang="en-US" dirty="0" err="1"/>
                        <a:t>giật</a:t>
                      </a:r>
                      <a:r>
                        <a:rPr lang="en-US" baseline="0" dirty="0"/>
                        <a:t> do </a:t>
                      </a:r>
                      <a:r>
                        <a:rPr lang="en-US" baseline="0" dirty="0" err="1"/>
                        <a:t>sốt</a:t>
                      </a:r>
                      <a:r>
                        <a:rPr lang="en-US" baseline="0" dirty="0"/>
                        <a:t> </a:t>
                      </a:r>
                      <a:r>
                        <a:rPr lang="en-US" baseline="0" dirty="0" err="1"/>
                        <a:t>cao</a:t>
                      </a:r>
                      <a:r>
                        <a:rPr lang="en-US" baseline="0" dirty="0"/>
                        <a:t> </a:t>
                      </a:r>
                      <a:r>
                        <a:rPr lang="en-US" baseline="0" dirty="0" err="1"/>
                        <a:t>phức</a:t>
                      </a:r>
                      <a:r>
                        <a:rPr lang="en-US" baseline="0" dirty="0"/>
                        <a:t> </a:t>
                      </a:r>
                      <a:r>
                        <a:rPr lang="en-US" baseline="0" dirty="0" err="1"/>
                        <a:t>tạp</a:t>
                      </a:r>
                      <a:endParaRPr lang="en-US" dirty="0"/>
                    </a:p>
                  </a:txBody>
                  <a:tcPr/>
                </a:tc>
                <a:extLst>
                  <a:ext uri="{0D108BD9-81ED-4DB2-BD59-A6C34878D82A}">
                    <a16:rowId xmlns:a16="http://schemas.microsoft.com/office/drawing/2014/main" xmlns="" val="10000"/>
                  </a:ext>
                </a:extLst>
              </a:tr>
              <a:tr h="370840">
                <a:tc>
                  <a:txBody>
                    <a:bodyPr/>
                    <a:lstStyle/>
                    <a:p>
                      <a:r>
                        <a:rPr lang="en-US" dirty="0" err="1"/>
                        <a:t>Tuổi</a:t>
                      </a:r>
                      <a:endParaRPr lang="en-US" dirty="0"/>
                    </a:p>
                  </a:txBody>
                  <a:tcPr/>
                </a:tc>
                <a:tc>
                  <a:txBody>
                    <a:bodyPr/>
                    <a:lstStyle/>
                    <a:p>
                      <a:r>
                        <a:rPr lang="en-US" dirty="0"/>
                        <a:t>&lt;5 </a:t>
                      </a:r>
                      <a:r>
                        <a:rPr lang="en-US" dirty="0" err="1"/>
                        <a:t>tuổi</a:t>
                      </a:r>
                      <a:endParaRPr lang="en-US" dirty="0"/>
                    </a:p>
                  </a:txBody>
                  <a:tcPr/>
                </a:tc>
                <a:tc>
                  <a:txBody>
                    <a:bodyPr/>
                    <a:lstStyle/>
                    <a:p>
                      <a:r>
                        <a:rPr lang="en-US" dirty="0" err="1"/>
                        <a:t>Bất</a:t>
                      </a:r>
                      <a:r>
                        <a:rPr lang="en-US" dirty="0"/>
                        <a:t> </a:t>
                      </a:r>
                      <a:r>
                        <a:rPr lang="en-US" dirty="0" err="1"/>
                        <a:t>kì</a:t>
                      </a:r>
                      <a:endParaRPr lang="en-US" dirty="0"/>
                    </a:p>
                  </a:txBody>
                  <a:tcPr/>
                </a:tc>
                <a:extLst>
                  <a:ext uri="{0D108BD9-81ED-4DB2-BD59-A6C34878D82A}">
                    <a16:rowId xmlns:a16="http://schemas.microsoft.com/office/drawing/2014/main" xmlns="" val="10001"/>
                  </a:ext>
                </a:extLst>
              </a:tr>
              <a:tr h="370840">
                <a:tc>
                  <a:txBody>
                    <a:bodyPr/>
                    <a:lstStyle/>
                    <a:p>
                      <a:r>
                        <a:rPr lang="en-US" dirty="0" err="1"/>
                        <a:t>Nhiệt</a:t>
                      </a:r>
                      <a:r>
                        <a:rPr lang="en-US" dirty="0"/>
                        <a:t> </a:t>
                      </a:r>
                      <a:r>
                        <a:rPr lang="en-US" dirty="0" err="1"/>
                        <a:t>độ</a:t>
                      </a:r>
                      <a:r>
                        <a:rPr lang="en-US" baseline="0" dirty="0"/>
                        <a:t> </a:t>
                      </a:r>
                      <a:r>
                        <a:rPr lang="en-US" baseline="0" dirty="0" err="1"/>
                        <a:t>lúc</a:t>
                      </a:r>
                      <a:r>
                        <a:rPr lang="en-US" baseline="0" dirty="0"/>
                        <a:t> </a:t>
                      </a:r>
                      <a:r>
                        <a:rPr lang="en-US" baseline="0" dirty="0" err="1"/>
                        <a:t>giật</a:t>
                      </a:r>
                      <a:endParaRPr lang="en-US" dirty="0"/>
                    </a:p>
                  </a:txBody>
                  <a:tcPr/>
                </a:tc>
                <a:tc>
                  <a:txBody>
                    <a:bodyPr/>
                    <a:lstStyle/>
                    <a:p>
                      <a:r>
                        <a:rPr lang="en-US" dirty="0"/>
                        <a:t>≥39⁰C</a:t>
                      </a:r>
                    </a:p>
                  </a:txBody>
                  <a:tcPr/>
                </a:tc>
                <a:tc>
                  <a:txBody>
                    <a:bodyPr/>
                    <a:lstStyle/>
                    <a:p>
                      <a:r>
                        <a:rPr lang="en-US" dirty="0"/>
                        <a:t>≤39</a:t>
                      </a:r>
                      <a:r>
                        <a:rPr kumimoji="0" lang="en-US" sz="1800" b="0" i="0" u="none" strike="noStrike" kern="1200" cap="none" spc="0" normalizeH="0" baseline="0" noProof="0" dirty="0">
                          <a:ln>
                            <a:noFill/>
                          </a:ln>
                          <a:solidFill>
                            <a:prstClr val="black"/>
                          </a:solidFill>
                          <a:effectLst/>
                          <a:uLnTx/>
                          <a:uFillTx/>
                          <a:latin typeface="+mn-lt"/>
                          <a:ea typeface="+mn-ea"/>
                          <a:cs typeface="+mn-cs"/>
                        </a:rPr>
                        <a:t>⁰C</a:t>
                      </a:r>
                      <a:endParaRPr lang="en-US" dirty="0"/>
                    </a:p>
                  </a:txBody>
                  <a:tcPr/>
                </a:tc>
                <a:extLst>
                  <a:ext uri="{0D108BD9-81ED-4DB2-BD59-A6C34878D82A}">
                    <a16:rowId xmlns:a16="http://schemas.microsoft.com/office/drawing/2014/main" xmlns="" val="10002"/>
                  </a:ext>
                </a:extLst>
              </a:tr>
              <a:tr h="370840">
                <a:tc>
                  <a:txBody>
                    <a:bodyPr/>
                    <a:lstStyle/>
                    <a:p>
                      <a:r>
                        <a:rPr lang="en-US" dirty="0" err="1"/>
                        <a:t>Thể</a:t>
                      </a:r>
                      <a:r>
                        <a:rPr lang="en-US" dirty="0"/>
                        <a:t> co</a:t>
                      </a:r>
                      <a:r>
                        <a:rPr lang="en-US" baseline="0" dirty="0"/>
                        <a:t> </a:t>
                      </a:r>
                      <a:r>
                        <a:rPr lang="en-US" baseline="0" dirty="0" err="1"/>
                        <a:t>giật</a:t>
                      </a:r>
                      <a:endParaRPr lang="en-US" dirty="0"/>
                    </a:p>
                  </a:txBody>
                  <a:tcPr/>
                </a:tc>
                <a:tc>
                  <a:txBody>
                    <a:bodyPr/>
                    <a:lstStyle/>
                    <a:p>
                      <a:r>
                        <a:rPr lang="en-US" dirty="0" err="1"/>
                        <a:t>Lan</a:t>
                      </a:r>
                      <a:r>
                        <a:rPr lang="en-US" dirty="0"/>
                        <a:t> </a:t>
                      </a:r>
                      <a:r>
                        <a:rPr lang="en-US" dirty="0" err="1"/>
                        <a:t>tỏa</a:t>
                      </a:r>
                      <a:endParaRPr lang="en-US" dirty="0"/>
                    </a:p>
                  </a:txBody>
                  <a:tcPr/>
                </a:tc>
                <a:tc>
                  <a:txBody>
                    <a:bodyPr/>
                    <a:lstStyle/>
                    <a:p>
                      <a:r>
                        <a:rPr lang="en-US" dirty="0" err="1"/>
                        <a:t>Lan</a:t>
                      </a:r>
                      <a:r>
                        <a:rPr lang="en-US" dirty="0"/>
                        <a:t> </a:t>
                      </a:r>
                      <a:r>
                        <a:rPr lang="en-US" dirty="0" err="1"/>
                        <a:t>tỏa</a:t>
                      </a:r>
                      <a:r>
                        <a:rPr lang="en-US" baseline="0" dirty="0"/>
                        <a:t> </a:t>
                      </a:r>
                      <a:r>
                        <a:rPr lang="en-US" baseline="0" dirty="0" err="1"/>
                        <a:t>hoặc</a:t>
                      </a:r>
                      <a:r>
                        <a:rPr lang="en-US" baseline="0" dirty="0"/>
                        <a:t> </a:t>
                      </a:r>
                      <a:r>
                        <a:rPr lang="en-US" baseline="0" dirty="0" err="1"/>
                        <a:t>cục</a:t>
                      </a:r>
                      <a:r>
                        <a:rPr lang="en-US" baseline="0" dirty="0"/>
                        <a:t> </a:t>
                      </a:r>
                      <a:r>
                        <a:rPr lang="en-US" baseline="0" dirty="0" err="1"/>
                        <a:t>bộ</a:t>
                      </a:r>
                      <a:endParaRPr lang="en-US" dirty="0"/>
                    </a:p>
                  </a:txBody>
                  <a:tcPr/>
                </a:tc>
                <a:extLst>
                  <a:ext uri="{0D108BD9-81ED-4DB2-BD59-A6C34878D82A}">
                    <a16:rowId xmlns:a16="http://schemas.microsoft.com/office/drawing/2014/main" xmlns="" val="10003"/>
                  </a:ext>
                </a:extLst>
              </a:tr>
              <a:tr h="370840">
                <a:tc>
                  <a:txBody>
                    <a:bodyPr/>
                    <a:lstStyle/>
                    <a:p>
                      <a:r>
                        <a:rPr lang="en-US" dirty="0" err="1"/>
                        <a:t>Thời</a:t>
                      </a:r>
                      <a:r>
                        <a:rPr lang="en-US" dirty="0"/>
                        <a:t> </a:t>
                      </a:r>
                      <a:r>
                        <a:rPr lang="en-US" dirty="0" err="1"/>
                        <a:t>gian</a:t>
                      </a:r>
                      <a:r>
                        <a:rPr lang="en-US" baseline="0" dirty="0"/>
                        <a:t> </a:t>
                      </a:r>
                      <a:r>
                        <a:rPr lang="en-US" baseline="0" dirty="0" err="1"/>
                        <a:t>giật</a:t>
                      </a:r>
                      <a:endParaRPr lang="en-US" dirty="0"/>
                    </a:p>
                  </a:txBody>
                  <a:tcPr/>
                </a:tc>
                <a:tc>
                  <a:txBody>
                    <a:bodyPr/>
                    <a:lstStyle/>
                    <a:p>
                      <a:r>
                        <a:rPr lang="en-US" dirty="0" err="1"/>
                        <a:t>Ngắn</a:t>
                      </a:r>
                      <a:r>
                        <a:rPr lang="en-US" dirty="0"/>
                        <a:t> &lt;10 </a:t>
                      </a:r>
                      <a:r>
                        <a:rPr lang="en-US" dirty="0" err="1"/>
                        <a:t>phút</a:t>
                      </a:r>
                      <a:endParaRPr lang="en-US" dirty="0"/>
                    </a:p>
                  </a:txBody>
                  <a:tcPr/>
                </a:tc>
                <a:tc>
                  <a:txBody>
                    <a:bodyPr/>
                    <a:lstStyle/>
                    <a:p>
                      <a:r>
                        <a:rPr lang="en-US" dirty="0" err="1"/>
                        <a:t>Dài</a:t>
                      </a:r>
                      <a:r>
                        <a:rPr lang="en-US" baseline="0" dirty="0"/>
                        <a:t> &gt;20 </a:t>
                      </a:r>
                      <a:r>
                        <a:rPr lang="en-US" baseline="0" dirty="0" err="1"/>
                        <a:t>phút</a:t>
                      </a:r>
                      <a:endParaRPr lang="en-US" dirty="0"/>
                    </a:p>
                  </a:txBody>
                  <a:tcPr/>
                </a:tc>
                <a:extLst>
                  <a:ext uri="{0D108BD9-81ED-4DB2-BD59-A6C34878D82A}">
                    <a16:rowId xmlns:a16="http://schemas.microsoft.com/office/drawing/2014/main" xmlns="" val="10004"/>
                  </a:ext>
                </a:extLst>
              </a:tr>
              <a:tr h="370840">
                <a:tc>
                  <a:txBody>
                    <a:bodyPr/>
                    <a:lstStyle/>
                    <a:p>
                      <a:r>
                        <a:rPr lang="en-US" dirty="0" err="1"/>
                        <a:t>Số</a:t>
                      </a:r>
                      <a:r>
                        <a:rPr lang="en-US" dirty="0"/>
                        <a:t> </a:t>
                      </a:r>
                      <a:r>
                        <a:rPr lang="en-US" dirty="0" err="1"/>
                        <a:t>lần</a:t>
                      </a:r>
                      <a:r>
                        <a:rPr lang="en-US" baseline="0" dirty="0"/>
                        <a:t> </a:t>
                      </a:r>
                      <a:r>
                        <a:rPr lang="en-US" baseline="0" dirty="0" err="1"/>
                        <a:t>giật</a:t>
                      </a:r>
                      <a:endParaRPr lang="en-US" dirty="0"/>
                    </a:p>
                  </a:txBody>
                  <a:tcPr/>
                </a:tc>
                <a:tc>
                  <a:txBody>
                    <a:bodyPr/>
                    <a:lstStyle/>
                    <a:p>
                      <a:r>
                        <a:rPr lang="en-US" dirty="0"/>
                        <a:t>&lt;5 </a:t>
                      </a:r>
                      <a:r>
                        <a:rPr lang="en-US" dirty="0" err="1"/>
                        <a:t>cơn</a:t>
                      </a:r>
                      <a:r>
                        <a:rPr lang="en-US" dirty="0"/>
                        <a:t>/</a:t>
                      </a:r>
                      <a:r>
                        <a:rPr lang="en-US" baseline="0" dirty="0"/>
                        <a:t> 24h</a:t>
                      </a:r>
                      <a:endParaRPr lang="en-US" dirty="0"/>
                    </a:p>
                  </a:txBody>
                  <a:tcPr/>
                </a:tc>
                <a:tc>
                  <a:txBody>
                    <a:bodyPr/>
                    <a:lstStyle/>
                    <a:p>
                      <a:r>
                        <a:rPr lang="en-US" dirty="0"/>
                        <a:t>&gt;5 </a:t>
                      </a:r>
                      <a:r>
                        <a:rPr lang="en-US" dirty="0" err="1"/>
                        <a:t>cơn</a:t>
                      </a:r>
                      <a:r>
                        <a:rPr lang="en-US" dirty="0"/>
                        <a:t>/</a:t>
                      </a:r>
                      <a:r>
                        <a:rPr lang="en-US" baseline="0" dirty="0"/>
                        <a:t> 24h</a:t>
                      </a:r>
                      <a:endParaRPr lang="en-US" dirty="0"/>
                    </a:p>
                  </a:txBody>
                  <a:tcPr/>
                </a:tc>
                <a:extLst>
                  <a:ext uri="{0D108BD9-81ED-4DB2-BD59-A6C34878D82A}">
                    <a16:rowId xmlns:a16="http://schemas.microsoft.com/office/drawing/2014/main" xmlns="" val="10005"/>
                  </a:ext>
                </a:extLst>
              </a:tr>
              <a:tr h="370840">
                <a:tc>
                  <a:txBody>
                    <a:bodyPr/>
                    <a:lstStyle/>
                    <a:p>
                      <a:r>
                        <a:rPr lang="en-US" dirty="0" err="1"/>
                        <a:t>Ngoài</a:t>
                      </a:r>
                      <a:r>
                        <a:rPr lang="en-US" baseline="0" dirty="0"/>
                        <a:t> </a:t>
                      </a:r>
                      <a:r>
                        <a:rPr lang="en-US" baseline="0" dirty="0" err="1"/>
                        <a:t>cơn</a:t>
                      </a:r>
                      <a:r>
                        <a:rPr lang="en-US" baseline="0" dirty="0"/>
                        <a:t> </a:t>
                      </a:r>
                      <a:r>
                        <a:rPr lang="en-US" baseline="0" dirty="0" err="1"/>
                        <a:t>giật</a:t>
                      </a:r>
                      <a:endParaRPr lang="en-US" dirty="0"/>
                    </a:p>
                  </a:txBody>
                  <a:tcPr/>
                </a:tc>
                <a:tc>
                  <a:txBody>
                    <a:bodyPr/>
                    <a:lstStyle/>
                    <a:p>
                      <a:r>
                        <a:rPr lang="en-US" dirty="0" err="1"/>
                        <a:t>Tỉnh</a:t>
                      </a:r>
                      <a:r>
                        <a:rPr lang="en-US" dirty="0"/>
                        <a:t>, HCMN (-)</a:t>
                      </a:r>
                    </a:p>
                  </a:txBody>
                  <a:tcPr/>
                </a:tc>
                <a:tc>
                  <a:txBody>
                    <a:bodyPr/>
                    <a:lstStyle/>
                    <a:p>
                      <a:r>
                        <a:rPr lang="en-US" dirty="0"/>
                        <a:t>Li </a:t>
                      </a:r>
                      <a:r>
                        <a:rPr lang="en-US" dirty="0" err="1"/>
                        <a:t>bì</a:t>
                      </a:r>
                      <a:r>
                        <a:rPr lang="en-US" baseline="0" dirty="0"/>
                        <a:t> </a:t>
                      </a:r>
                      <a:r>
                        <a:rPr lang="en-US" baseline="0" dirty="0" err="1"/>
                        <a:t>hoặc</a:t>
                      </a:r>
                      <a:r>
                        <a:rPr lang="en-US" baseline="0" dirty="0"/>
                        <a:t> </a:t>
                      </a:r>
                      <a:r>
                        <a:rPr lang="en-US" baseline="0" dirty="0" err="1"/>
                        <a:t>mê</a:t>
                      </a:r>
                      <a:r>
                        <a:rPr lang="en-US" baseline="0" dirty="0"/>
                        <a:t>, HCMN (+)</a:t>
                      </a:r>
                      <a:endParaRPr lang="en-US" dirty="0"/>
                    </a:p>
                  </a:txBody>
                  <a:tcPr/>
                </a:tc>
                <a:extLst>
                  <a:ext uri="{0D108BD9-81ED-4DB2-BD59-A6C34878D82A}">
                    <a16:rowId xmlns:a16="http://schemas.microsoft.com/office/drawing/2014/main" xmlns="" val="10006"/>
                  </a:ext>
                </a:extLst>
              </a:tr>
              <a:tr h="370840">
                <a:tc>
                  <a:txBody>
                    <a:bodyPr/>
                    <a:lstStyle/>
                    <a:p>
                      <a:r>
                        <a:rPr lang="en-US" dirty="0" err="1"/>
                        <a:t>Tiền</a:t>
                      </a:r>
                      <a:r>
                        <a:rPr lang="en-US" dirty="0"/>
                        <a:t> </a:t>
                      </a:r>
                      <a:r>
                        <a:rPr lang="en-US" dirty="0" err="1"/>
                        <a:t>sử</a:t>
                      </a:r>
                      <a:r>
                        <a:rPr lang="en-US" baseline="0" dirty="0"/>
                        <a:t> </a:t>
                      </a:r>
                      <a:r>
                        <a:rPr lang="en-US" baseline="0" dirty="0" err="1"/>
                        <a:t>gia</a:t>
                      </a:r>
                      <a:r>
                        <a:rPr lang="en-US" baseline="0" dirty="0"/>
                        <a:t> </a:t>
                      </a:r>
                      <a:r>
                        <a:rPr lang="en-US" baseline="0" dirty="0" err="1"/>
                        <a:t>đình</a:t>
                      </a:r>
                      <a:endParaRPr lang="en-US" dirty="0"/>
                    </a:p>
                  </a:txBody>
                  <a:tcPr/>
                </a:tc>
                <a:tc>
                  <a:txBody>
                    <a:bodyPr/>
                    <a:lstStyle/>
                    <a:p>
                      <a:r>
                        <a:rPr lang="en-US" dirty="0" err="1"/>
                        <a:t>Bình</a:t>
                      </a:r>
                      <a:r>
                        <a:rPr lang="en-US" baseline="0" dirty="0"/>
                        <a:t> </a:t>
                      </a:r>
                      <a:r>
                        <a:rPr lang="en-US" baseline="0" dirty="0" err="1"/>
                        <a:t>thường</a:t>
                      </a:r>
                      <a:endParaRPr lang="en-US" dirty="0"/>
                    </a:p>
                  </a:txBody>
                  <a:tcPr/>
                </a:tc>
                <a:tc>
                  <a:txBody>
                    <a:bodyPr/>
                    <a:lstStyle/>
                    <a:p>
                      <a:r>
                        <a:rPr lang="en-US" dirty="0" err="1"/>
                        <a:t>Có</a:t>
                      </a:r>
                      <a:r>
                        <a:rPr lang="en-US" baseline="0" dirty="0"/>
                        <a:t> </a:t>
                      </a:r>
                      <a:r>
                        <a:rPr lang="en-US" baseline="0" dirty="0" err="1"/>
                        <a:t>thể</a:t>
                      </a:r>
                      <a:r>
                        <a:rPr lang="en-US" baseline="0" dirty="0"/>
                        <a:t> </a:t>
                      </a:r>
                      <a:r>
                        <a:rPr lang="en-US" baseline="0" dirty="0" err="1"/>
                        <a:t>có</a:t>
                      </a:r>
                      <a:r>
                        <a:rPr lang="en-US" baseline="0" dirty="0"/>
                        <a:t> </a:t>
                      </a:r>
                      <a:r>
                        <a:rPr lang="en-US" baseline="0" dirty="0" err="1"/>
                        <a:t>người</a:t>
                      </a:r>
                      <a:r>
                        <a:rPr lang="en-US" baseline="0" dirty="0"/>
                        <a:t> </a:t>
                      </a:r>
                      <a:r>
                        <a:rPr lang="en-US" baseline="0" dirty="0" err="1"/>
                        <a:t>động</a:t>
                      </a:r>
                      <a:r>
                        <a:rPr lang="en-US" baseline="0" dirty="0"/>
                        <a:t> </a:t>
                      </a:r>
                      <a:r>
                        <a:rPr lang="en-US" baseline="0" dirty="0" err="1"/>
                        <a:t>kinh</a:t>
                      </a:r>
                      <a:endParaRPr lang="en-US" dirty="0"/>
                    </a:p>
                  </a:txBody>
                  <a:tcPr/>
                </a:tc>
                <a:extLst>
                  <a:ext uri="{0D108BD9-81ED-4DB2-BD59-A6C34878D82A}">
                    <a16:rowId xmlns:a16="http://schemas.microsoft.com/office/drawing/2014/main" xmlns="" val="10007"/>
                  </a:ext>
                </a:extLst>
              </a:tr>
              <a:tr h="370840">
                <a:tc>
                  <a:txBody>
                    <a:bodyPr/>
                    <a:lstStyle/>
                    <a:p>
                      <a:r>
                        <a:rPr lang="en-US" dirty="0" err="1"/>
                        <a:t>Dịch</a:t>
                      </a:r>
                      <a:r>
                        <a:rPr lang="en-US" dirty="0"/>
                        <a:t> </a:t>
                      </a:r>
                      <a:r>
                        <a:rPr lang="en-US" dirty="0" err="1"/>
                        <a:t>não</a:t>
                      </a:r>
                      <a:r>
                        <a:rPr lang="en-US" baseline="0" dirty="0"/>
                        <a:t> </a:t>
                      </a:r>
                      <a:r>
                        <a:rPr lang="en-US" baseline="0" dirty="0" err="1"/>
                        <a:t>tủy</a:t>
                      </a:r>
                      <a:endParaRPr lang="en-US" dirty="0"/>
                    </a:p>
                  </a:txBody>
                  <a:tcPr/>
                </a:tc>
                <a:tc>
                  <a:txBody>
                    <a:bodyPr/>
                    <a:lstStyle/>
                    <a:p>
                      <a:r>
                        <a:rPr lang="en-US" dirty="0" err="1"/>
                        <a:t>Bình</a:t>
                      </a:r>
                      <a:r>
                        <a:rPr lang="en-US" baseline="0" dirty="0"/>
                        <a:t> </a:t>
                      </a:r>
                      <a:r>
                        <a:rPr lang="en-US" baseline="0" dirty="0" err="1"/>
                        <a:t>thường</a:t>
                      </a:r>
                      <a:endParaRPr lang="en-US" dirty="0"/>
                    </a:p>
                  </a:txBody>
                  <a:tcPr/>
                </a:tc>
                <a:tc>
                  <a:txBody>
                    <a:bodyPr/>
                    <a:lstStyle/>
                    <a:p>
                      <a:r>
                        <a:rPr lang="en-US" dirty="0" err="1"/>
                        <a:t>Biến</a:t>
                      </a:r>
                      <a:r>
                        <a:rPr lang="en-US" dirty="0"/>
                        <a:t> </a:t>
                      </a:r>
                      <a:r>
                        <a:rPr lang="en-US" dirty="0" err="1"/>
                        <a:t>đổi</a:t>
                      </a:r>
                      <a:r>
                        <a:rPr lang="en-US" baseline="0" dirty="0"/>
                        <a:t> </a:t>
                      </a:r>
                      <a:r>
                        <a:rPr lang="en-US" baseline="0" dirty="0" err="1"/>
                        <a:t>bệnh</a:t>
                      </a:r>
                      <a:r>
                        <a:rPr lang="en-US" baseline="0" dirty="0"/>
                        <a:t> </a:t>
                      </a:r>
                      <a:r>
                        <a:rPr lang="en-US" baseline="0" dirty="0" err="1"/>
                        <a:t>lí</a:t>
                      </a:r>
                      <a:endParaRPr lang="en-US" dirty="0"/>
                    </a:p>
                  </a:txBody>
                  <a:tcPr/>
                </a:tc>
                <a:extLst>
                  <a:ext uri="{0D108BD9-81ED-4DB2-BD59-A6C34878D82A}">
                    <a16:rowId xmlns:a16="http://schemas.microsoft.com/office/drawing/2014/main" xmlns="" val="10008"/>
                  </a:ext>
                </a:extLst>
              </a:tr>
              <a:tr h="370840">
                <a:tc>
                  <a:txBody>
                    <a:bodyPr/>
                    <a:lstStyle/>
                    <a:p>
                      <a:r>
                        <a:rPr lang="en-US" dirty="0" err="1"/>
                        <a:t>Điện</a:t>
                      </a:r>
                      <a:r>
                        <a:rPr lang="en-US" dirty="0"/>
                        <a:t> </a:t>
                      </a:r>
                      <a:r>
                        <a:rPr lang="en-US" dirty="0" err="1"/>
                        <a:t>não</a:t>
                      </a:r>
                      <a:r>
                        <a:rPr lang="en-US" baseline="0" dirty="0"/>
                        <a:t> </a:t>
                      </a:r>
                      <a:r>
                        <a:rPr lang="en-US" baseline="0" dirty="0" err="1"/>
                        <a:t>ngoài</a:t>
                      </a:r>
                      <a:r>
                        <a:rPr lang="en-US" baseline="0" dirty="0"/>
                        <a:t> </a:t>
                      </a:r>
                      <a:r>
                        <a:rPr lang="en-US" baseline="0" dirty="0" err="1"/>
                        <a:t>cơn</a:t>
                      </a:r>
                      <a:endParaRPr lang="en-US" dirty="0"/>
                    </a:p>
                  </a:txBody>
                  <a:tcPr/>
                </a:tc>
                <a:tc>
                  <a:txBody>
                    <a:bodyPr/>
                    <a:lstStyle/>
                    <a:p>
                      <a:r>
                        <a:rPr lang="en-US" dirty="0" err="1"/>
                        <a:t>Bình</a:t>
                      </a:r>
                      <a:r>
                        <a:rPr lang="en-US" baseline="0" dirty="0"/>
                        <a:t> </a:t>
                      </a:r>
                      <a:r>
                        <a:rPr lang="en-US" baseline="0" dirty="0" err="1"/>
                        <a:t>thường</a:t>
                      </a:r>
                      <a:endParaRPr lang="en-US" dirty="0"/>
                    </a:p>
                  </a:txBody>
                  <a:tcPr/>
                </a:tc>
                <a:tc>
                  <a:txBody>
                    <a:bodyPr/>
                    <a:lstStyle/>
                    <a:p>
                      <a:r>
                        <a:rPr lang="en-US" dirty="0" err="1"/>
                        <a:t>Biến</a:t>
                      </a:r>
                      <a:r>
                        <a:rPr lang="en-US" dirty="0"/>
                        <a:t> </a:t>
                      </a:r>
                      <a:r>
                        <a:rPr lang="en-US" dirty="0" err="1"/>
                        <a:t>đổi</a:t>
                      </a:r>
                      <a:r>
                        <a:rPr lang="en-US" baseline="0" dirty="0"/>
                        <a:t> </a:t>
                      </a:r>
                      <a:r>
                        <a:rPr lang="en-US" baseline="0" dirty="0" err="1"/>
                        <a:t>bệnh</a:t>
                      </a:r>
                      <a:r>
                        <a:rPr lang="en-US" baseline="0" dirty="0"/>
                        <a:t> </a:t>
                      </a:r>
                      <a:r>
                        <a:rPr lang="en-US" baseline="0" dirty="0" err="1"/>
                        <a:t>lí</a:t>
                      </a:r>
                      <a:endParaRPr lang="en-US" dirty="0"/>
                    </a:p>
                  </a:txBody>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5688745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E849F9CC-E237-8C42-ADA2-3034BF083365}"/>
              </a:ext>
            </a:extLst>
          </p:cNvPr>
          <p:cNvSpPr>
            <a:spLocks noGrp="1"/>
          </p:cNvSpPr>
          <p:nvPr>
            <p:ph type="title"/>
          </p:nvPr>
        </p:nvSpPr>
        <p:spPr/>
        <p:txBody>
          <a:bodyPr/>
          <a:lstStyle/>
          <a:p>
            <a:r>
              <a:rPr lang="vi-VN"/>
              <a:t>XÉT NGHIỆM</a:t>
            </a:r>
          </a:p>
        </p:txBody>
      </p:sp>
      <p:pic>
        <p:nvPicPr>
          <p:cNvPr id="4" name="Hình ảnh 4">
            <a:extLst>
              <a:ext uri="{FF2B5EF4-FFF2-40B4-BE49-F238E27FC236}">
                <a16:creationId xmlns:a16="http://schemas.microsoft.com/office/drawing/2014/main" xmlns="" id="{98E4563A-59FC-634B-B4CD-C35787FBFD3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92475" y="2822734"/>
            <a:ext cx="3048000" cy="2026920"/>
          </a:xfrm>
        </p:spPr>
      </p:pic>
    </p:spTree>
    <p:extLst>
      <p:ext uri="{BB962C8B-B14F-4D97-AF65-F5344CB8AC3E}">
        <p14:creationId xmlns:p14="http://schemas.microsoft.com/office/powerpoint/2010/main" val="3565610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XÉT NGHIỆM</a:t>
            </a:r>
          </a:p>
        </p:txBody>
      </p:sp>
      <p:sp>
        <p:nvSpPr>
          <p:cNvPr id="3" name="Content Placeholder 2"/>
          <p:cNvSpPr>
            <a:spLocks noGrp="1"/>
          </p:cNvSpPr>
          <p:nvPr>
            <p:ph idx="1"/>
          </p:nvPr>
        </p:nvSpPr>
        <p:spPr/>
        <p:txBody>
          <a:bodyPr/>
          <a:lstStyle/>
          <a:p>
            <a:r>
              <a:rPr lang="en-US" dirty="0" err="1"/>
              <a:t>Chọc</a:t>
            </a:r>
            <a:r>
              <a:rPr lang="en-US" dirty="0"/>
              <a:t> </a:t>
            </a:r>
            <a:r>
              <a:rPr lang="en-US" dirty="0" err="1"/>
              <a:t>dò</a:t>
            </a:r>
            <a:r>
              <a:rPr lang="en-US" dirty="0"/>
              <a:t> </a:t>
            </a:r>
            <a:r>
              <a:rPr lang="en-US" dirty="0" err="1"/>
              <a:t>tủy</a:t>
            </a:r>
            <a:r>
              <a:rPr lang="en-US" dirty="0"/>
              <a:t> </a:t>
            </a:r>
            <a:r>
              <a:rPr lang="en-US" dirty="0" err="1"/>
              <a:t>sống</a:t>
            </a:r>
            <a:r>
              <a:rPr lang="en-US" dirty="0"/>
              <a:t>( LP)</a:t>
            </a:r>
          </a:p>
          <a:p>
            <a:pPr>
              <a:buFont typeface="Wingdings" pitchFamily="2" charset="2"/>
              <a:buChar char="ü"/>
            </a:pPr>
            <a:r>
              <a:rPr lang="en-US" dirty="0" err="1"/>
              <a:t>Sẽ</a:t>
            </a:r>
            <a:r>
              <a:rPr lang="en-US" dirty="0"/>
              <a:t> </a:t>
            </a:r>
            <a:r>
              <a:rPr lang="en-US" dirty="0" err="1"/>
              <a:t>được</a:t>
            </a:r>
            <a:r>
              <a:rPr lang="en-US" dirty="0"/>
              <a:t> </a:t>
            </a:r>
            <a:r>
              <a:rPr lang="en-US" dirty="0" err="1"/>
              <a:t>xem</a:t>
            </a:r>
            <a:r>
              <a:rPr lang="en-US" dirty="0"/>
              <a:t> </a:t>
            </a:r>
            <a:r>
              <a:rPr lang="en-US" dirty="0" err="1"/>
              <a:t>xét</a:t>
            </a:r>
            <a:r>
              <a:rPr lang="en-US" dirty="0"/>
              <a:t> ở </a:t>
            </a:r>
            <a:r>
              <a:rPr lang="en-US" dirty="0" err="1"/>
              <a:t>tất</a:t>
            </a:r>
            <a:r>
              <a:rPr lang="en-US" dirty="0"/>
              <a:t> </a:t>
            </a:r>
            <a:r>
              <a:rPr lang="en-US" dirty="0" err="1"/>
              <a:t>cả</a:t>
            </a:r>
            <a:r>
              <a:rPr lang="en-US" dirty="0"/>
              <a:t> </a:t>
            </a:r>
            <a:r>
              <a:rPr lang="en-US" dirty="0" err="1"/>
              <a:t>các</a:t>
            </a:r>
            <a:r>
              <a:rPr lang="en-US" dirty="0"/>
              <a:t> </a:t>
            </a:r>
            <a:r>
              <a:rPr lang="en-US" dirty="0" err="1"/>
              <a:t>trẻ</a:t>
            </a:r>
            <a:r>
              <a:rPr lang="en-US" dirty="0"/>
              <a:t> </a:t>
            </a:r>
            <a:r>
              <a:rPr lang="en-US" dirty="0" err="1"/>
              <a:t>có</a:t>
            </a:r>
            <a:r>
              <a:rPr lang="en-US" dirty="0"/>
              <a:t> </a:t>
            </a:r>
            <a:r>
              <a:rPr lang="en-US" dirty="0" err="1"/>
              <a:t>sốt</a:t>
            </a:r>
            <a:r>
              <a:rPr lang="en-US" dirty="0"/>
              <a:t> co </a:t>
            </a:r>
            <a:r>
              <a:rPr lang="en-US" dirty="0" err="1"/>
              <a:t>giật</a:t>
            </a:r>
            <a:r>
              <a:rPr lang="en-US" dirty="0"/>
              <a:t>.</a:t>
            </a:r>
          </a:p>
          <a:p>
            <a:pPr>
              <a:buFont typeface="Wingdings" pitchFamily="2" charset="2"/>
              <a:buChar char="ü"/>
            </a:pPr>
            <a:r>
              <a:rPr lang="en-US" dirty="0" err="1"/>
              <a:t>Quyết</a:t>
            </a:r>
            <a:r>
              <a:rPr lang="en-US" dirty="0"/>
              <a:t> </a:t>
            </a:r>
            <a:r>
              <a:rPr lang="en-US" dirty="0" err="1"/>
              <a:t>định</a:t>
            </a:r>
            <a:r>
              <a:rPr lang="en-US" dirty="0"/>
              <a:t> </a:t>
            </a:r>
            <a:r>
              <a:rPr lang="en-US" dirty="0" err="1"/>
              <a:t>chọc</a:t>
            </a:r>
            <a:r>
              <a:rPr lang="en-US" dirty="0"/>
              <a:t> </a:t>
            </a:r>
            <a:r>
              <a:rPr lang="en-US" dirty="0" err="1"/>
              <a:t>dò</a:t>
            </a:r>
            <a:r>
              <a:rPr lang="en-US" dirty="0"/>
              <a:t> </a:t>
            </a:r>
            <a:r>
              <a:rPr lang="en-US" dirty="0" err="1"/>
              <a:t>dịch</a:t>
            </a:r>
            <a:r>
              <a:rPr lang="en-US" dirty="0"/>
              <a:t> </a:t>
            </a:r>
            <a:r>
              <a:rPr lang="en-US" dirty="0" err="1"/>
              <a:t>não</a:t>
            </a:r>
            <a:r>
              <a:rPr lang="en-US" dirty="0"/>
              <a:t> </a:t>
            </a:r>
            <a:r>
              <a:rPr lang="en-US" dirty="0" err="1"/>
              <a:t>tủy</a:t>
            </a:r>
            <a:r>
              <a:rPr lang="en-US" dirty="0"/>
              <a:t> </a:t>
            </a:r>
            <a:r>
              <a:rPr lang="en-US" dirty="0" err="1"/>
              <a:t>cần</a:t>
            </a:r>
            <a:r>
              <a:rPr lang="en-US" dirty="0"/>
              <a:t> </a:t>
            </a:r>
            <a:r>
              <a:rPr lang="en-US" dirty="0" err="1"/>
              <a:t>được</a:t>
            </a:r>
            <a:r>
              <a:rPr lang="en-US" dirty="0"/>
              <a:t> </a:t>
            </a:r>
            <a:r>
              <a:rPr lang="en-US" dirty="0" err="1"/>
              <a:t>các</a:t>
            </a:r>
            <a:r>
              <a:rPr lang="en-US" dirty="0"/>
              <a:t> </a:t>
            </a:r>
            <a:r>
              <a:rPr lang="en-US" dirty="0" err="1"/>
              <a:t>bác</a:t>
            </a:r>
            <a:r>
              <a:rPr lang="en-US" dirty="0"/>
              <a:t> </a:t>
            </a:r>
            <a:r>
              <a:rPr lang="en-US" dirty="0" err="1"/>
              <a:t>sĩ</a:t>
            </a:r>
            <a:r>
              <a:rPr lang="en-US" dirty="0"/>
              <a:t> </a:t>
            </a:r>
            <a:r>
              <a:rPr lang="en-US" dirty="0" err="1"/>
              <a:t>nhi</a:t>
            </a:r>
            <a:r>
              <a:rPr lang="en-US" dirty="0"/>
              <a:t> </a:t>
            </a:r>
            <a:r>
              <a:rPr lang="en-US" dirty="0" err="1"/>
              <a:t>khoa</a:t>
            </a:r>
            <a:r>
              <a:rPr lang="en-US" dirty="0"/>
              <a:t> </a:t>
            </a:r>
            <a:r>
              <a:rPr lang="en-US" dirty="0" err="1"/>
              <a:t>có</a:t>
            </a:r>
            <a:r>
              <a:rPr lang="en-US" dirty="0"/>
              <a:t> </a:t>
            </a:r>
            <a:r>
              <a:rPr lang="en-US" dirty="0" err="1"/>
              <a:t>kinh</a:t>
            </a:r>
            <a:r>
              <a:rPr lang="en-US" dirty="0"/>
              <a:t> </a:t>
            </a:r>
            <a:r>
              <a:rPr lang="en-US" dirty="0" err="1"/>
              <a:t>nghiệm</a:t>
            </a:r>
            <a:r>
              <a:rPr lang="en-US" dirty="0"/>
              <a:t>, </a:t>
            </a:r>
            <a:r>
              <a:rPr lang="en-US" dirty="0" err="1"/>
              <a:t>người</a:t>
            </a:r>
            <a:r>
              <a:rPr lang="en-US" dirty="0"/>
              <a:t> </a:t>
            </a:r>
            <a:r>
              <a:rPr lang="en-US" dirty="0" err="1"/>
              <a:t>quyết</a:t>
            </a:r>
            <a:r>
              <a:rPr lang="en-US" dirty="0"/>
              <a:t> </a:t>
            </a:r>
            <a:r>
              <a:rPr lang="en-US" dirty="0" err="1"/>
              <a:t>định</a:t>
            </a:r>
            <a:r>
              <a:rPr lang="en-US" dirty="0"/>
              <a:t> </a:t>
            </a:r>
            <a:r>
              <a:rPr lang="en-US" dirty="0" err="1"/>
              <a:t>dựa</a:t>
            </a:r>
            <a:r>
              <a:rPr lang="en-US" dirty="0"/>
              <a:t> </a:t>
            </a:r>
            <a:r>
              <a:rPr lang="en-US" dirty="0" err="1"/>
              <a:t>trên</a:t>
            </a:r>
            <a:r>
              <a:rPr lang="en-US" dirty="0"/>
              <a:t> </a:t>
            </a:r>
            <a:r>
              <a:rPr lang="en-US" dirty="0" err="1"/>
              <a:t>bệnh</a:t>
            </a:r>
            <a:r>
              <a:rPr lang="en-US" dirty="0"/>
              <a:t> </a:t>
            </a:r>
            <a:r>
              <a:rPr lang="en-US" dirty="0" err="1"/>
              <a:t>cảnh</a:t>
            </a:r>
            <a:r>
              <a:rPr lang="en-US" dirty="0"/>
              <a:t> </a:t>
            </a:r>
            <a:r>
              <a:rPr lang="en-US" dirty="0" err="1"/>
              <a:t>lâm</a:t>
            </a:r>
            <a:r>
              <a:rPr lang="en-US" dirty="0"/>
              <a:t> </a:t>
            </a:r>
            <a:r>
              <a:rPr lang="en-US" dirty="0" err="1"/>
              <a:t>sàng</a:t>
            </a:r>
            <a:r>
              <a:rPr lang="en-US" dirty="0"/>
              <a:t> </a:t>
            </a:r>
            <a:r>
              <a:rPr lang="en-US" dirty="0" err="1"/>
              <a:t>có</a:t>
            </a:r>
            <a:r>
              <a:rPr lang="en-US" dirty="0"/>
              <a:t> </a:t>
            </a:r>
            <a:r>
              <a:rPr lang="en-US" dirty="0" err="1"/>
              <a:t>cần</a:t>
            </a:r>
            <a:r>
              <a:rPr lang="en-US" dirty="0"/>
              <a:t> </a:t>
            </a:r>
            <a:r>
              <a:rPr lang="en-US" dirty="0" err="1"/>
              <a:t>thiết</a:t>
            </a:r>
            <a:r>
              <a:rPr lang="en-US" dirty="0"/>
              <a:t> </a:t>
            </a:r>
            <a:r>
              <a:rPr lang="en-US" dirty="0" err="1"/>
              <a:t>chọc</a:t>
            </a:r>
            <a:r>
              <a:rPr lang="en-US" dirty="0"/>
              <a:t> </a:t>
            </a:r>
            <a:r>
              <a:rPr lang="en-US" dirty="0" err="1"/>
              <a:t>dò</a:t>
            </a:r>
            <a:r>
              <a:rPr lang="en-US" dirty="0"/>
              <a:t> </a:t>
            </a:r>
            <a:r>
              <a:rPr lang="en-US" dirty="0" err="1"/>
              <a:t>dịch</a:t>
            </a:r>
            <a:r>
              <a:rPr lang="en-US" dirty="0"/>
              <a:t> </a:t>
            </a:r>
            <a:r>
              <a:rPr lang="en-US" dirty="0" err="1"/>
              <a:t>não</a:t>
            </a:r>
            <a:r>
              <a:rPr lang="en-US" dirty="0"/>
              <a:t> </a:t>
            </a:r>
            <a:r>
              <a:rPr lang="en-US" dirty="0" err="1"/>
              <a:t>tủy</a:t>
            </a:r>
            <a:r>
              <a:rPr lang="en-US" dirty="0"/>
              <a:t> ở </a:t>
            </a:r>
            <a:r>
              <a:rPr lang="en-US" dirty="0" err="1"/>
              <a:t>trẻ</a:t>
            </a:r>
            <a:r>
              <a:rPr lang="en-US" dirty="0"/>
              <a:t> </a:t>
            </a:r>
            <a:r>
              <a:rPr lang="en-US" dirty="0" err="1"/>
              <a:t>nhỏ</a:t>
            </a:r>
            <a:r>
              <a:rPr lang="en-US" dirty="0"/>
              <a:t> hay </a:t>
            </a:r>
            <a:r>
              <a:rPr lang="en-US" dirty="0" err="1"/>
              <a:t>không</a:t>
            </a:r>
            <a:r>
              <a:rPr lang="en-US" dirty="0"/>
              <a:t>.</a:t>
            </a:r>
          </a:p>
          <a:p>
            <a:pPr>
              <a:buFont typeface="Wingdings" pitchFamily="2" charset="2"/>
              <a:buChar char="ü"/>
            </a:pPr>
            <a:r>
              <a:rPr lang="en-US" dirty="0" err="1"/>
              <a:t>Trẻ</a:t>
            </a:r>
            <a:r>
              <a:rPr lang="en-US" dirty="0"/>
              <a:t> </a:t>
            </a:r>
            <a:r>
              <a:rPr lang="en-US" dirty="0" err="1"/>
              <a:t>có</a:t>
            </a:r>
            <a:r>
              <a:rPr lang="en-US" dirty="0"/>
              <a:t> co </a:t>
            </a:r>
            <a:r>
              <a:rPr lang="en-US" dirty="0" err="1"/>
              <a:t>giật</a:t>
            </a:r>
            <a:r>
              <a:rPr lang="en-US" dirty="0"/>
              <a:t> </a:t>
            </a:r>
            <a:r>
              <a:rPr lang="en-US" dirty="0" err="1"/>
              <a:t>có</a:t>
            </a:r>
            <a:r>
              <a:rPr lang="en-US" dirty="0"/>
              <a:t> </a:t>
            </a:r>
            <a:r>
              <a:rPr lang="en-US" dirty="0" err="1"/>
              <a:t>hôn</a:t>
            </a:r>
            <a:r>
              <a:rPr lang="en-US" dirty="0"/>
              <a:t> </a:t>
            </a:r>
            <a:r>
              <a:rPr lang="en-US" dirty="0" err="1"/>
              <a:t>mê</a:t>
            </a:r>
            <a:r>
              <a:rPr lang="en-US" dirty="0"/>
              <a:t> </a:t>
            </a:r>
            <a:r>
              <a:rPr lang="en-US" dirty="0" err="1"/>
              <a:t>nên</a:t>
            </a:r>
            <a:r>
              <a:rPr lang="en-US" dirty="0"/>
              <a:t> </a:t>
            </a:r>
            <a:r>
              <a:rPr lang="en-US" dirty="0" err="1"/>
              <a:t>được</a:t>
            </a:r>
            <a:r>
              <a:rPr lang="en-US" dirty="0"/>
              <a:t> </a:t>
            </a:r>
            <a:r>
              <a:rPr lang="en-US" dirty="0" err="1"/>
              <a:t>chụp</a:t>
            </a:r>
            <a:r>
              <a:rPr lang="en-US" dirty="0"/>
              <a:t> </a:t>
            </a:r>
            <a:r>
              <a:rPr lang="en-US" dirty="0" err="1"/>
              <a:t>não</a:t>
            </a:r>
            <a:r>
              <a:rPr lang="en-US" dirty="0"/>
              <a:t> </a:t>
            </a:r>
            <a:r>
              <a:rPr lang="en-US" dirty="0" err="1"/>
              <a:t>trước</a:t>
            </a:r>
            <a:r>
              <a:rPr lang="en-US" dirty="0"/>
              <a:t> </a:t>
            </a:r>
            <a:r>
              <a:rPr lang="en-US" dirty="0" err="1"/>
              <a:t>khi</a:t>
            </a:r>
            <a:r>
              <a:rPr lang="en-US" dirty="0"/>
              <a:t> </a:t>
            </a:r>
            <a:r>
              <a:rPr lang="en-US" dirty="0" err="1"/>
              <a:t>chọc</a:t>
            </a:r>
            <a:r>
              <a:rPr lang="en-US" dirty="0"/>
              <a:t> </a:t>
            </a:r>
            <a:r>
              <a:rPr lang="en-US" dirty="0" err="1"/>
              <a:t>dò</a:t>
            </a:r>
            <a:r>
              <a:rPr lang="en-US" dirty="0"/>
              <a:t> </a:t>
            </a:r>
            <a:r>
              <a:rPr lang="en-US" dirty="0" err="1"/>
              <a:t>dịch</a:t>
            </a:r>
            <a:r>
              <a:rPr lang="en-US" dirty="0"/>
              <a:t> </a:t>
            </a:r>
            <a:r>
              <a:rPr lang="en-US" dirty="0" err="1"/>
              <a:t>não</a:t>
            </a:r>
            <a:r>
              <a:rPr lang="en-US" dirty="0"/>
              <a:t> </a:t>
            </a:r>
            <a:r>
              <a:rPr lang="en-US" dirty="0" err="1"/>
              <a:t>tủy</a:t>
            </a:r>
            <a:r>
              <a:rPr lang="en-US" dirty="0"/>
              <a:t>.</a:t>
            </a:r>
          </a:p>
          <a:p>
            <a:pPr>
              <a:buFont typeface="Wingdings" pitchFamily="2" charset="2"/>
              <a:buChar char="ü"/>
            </a:pPr>
            <a:endParaRPr lang="en-US" dirty="0"/>
          </a:p>
          <a:p>
            <a:pPr>
              <a:buFont typeface="Wingdings" pitchFamily="2" charset="2"/>
              <a:buChar char="ü"/>
            </a:pPr>
            <a:endParaRPr lang="en-US" dirty="0"/>
          </a:p>
        </p:txBody>
      </p:sp>
    </p:spTree>
    <p:extLst>
      <p:ext uri="{BB962C8B-B14F-4D97-AF65-F5344CB8AC3E}">
        <p14:creationId xmlns:p14="http://schemas.microsoft.com/office/powerpoint/2010/main" val="5262341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lvl="0"/>
            <a:r>
              <a:rPr lang="en-US" sz="3400"/>
              <a:t>Trẻ có cơn giật đầu tiên là co giật phức tạp.</a:t>
            </a:r>
          </a:p>
          <a:p>
            <a:pPr lvl="0"/>
            <a:r>
              <a:rPr lang="en-US" sz="3400" smtClean="0"/>
              <a:t>Trẻ </a:t>
            </a:r>
            <a:r>
              <a:rPr lang="en-US" sz="3400"/>
              <a:t>nhỏ hơn 1 tuổi có sốt co giật cũng được khuyến cáo chọc dò dịch não tủy, vì dấu hiệu, triệu chứng lâm sàng của viêm màng não có thể là rất nhỏ hoặc không có ở tuổi này.</a:t>
            </a:r>
          </a:p>
          <a:p>
            <a:pPr lvl="0"/>
            <a:r>
              <a:rPr lang="en-US" sz="3400"/>
              <a:t>Khoảng 12-18 tháng, chọc dò dịch não tủy có thể được xem xét vì triệu chứng lâm sàng của viêm màng não có thể khó phát hiện.</a:t>
            </a:r>
          </a:p>
          <a:p>
            <a:pPr lvl="0"/>
            <a:r>
              <a:rPr lang="en-US" sz="3400"/>
              <a:t>Đối với trẻ &gt;18 tháng, chọc dò dịch não tủy nên được làm đối với trẻ có các dấu hiệu và triệu chứng của viêm màng não hay bất cứ khi nào tiền sử hay thăm khám gợi ý sự viêm nhiễm nội sọ.</a:t>
            </a:r>
          </a:p>
          <a:p>
            <a:pPr lvl="0"/>
            <a:r>
              <a:rPr lang="en-US" sz="3400"/>
              <a:t>Ở trẻ sơ sinh và trẻ nhỏ với sốt co giật đã được dùng kháng sinh, nên được chọc dò dịch não tủy, khi mà điều trị có thể che đậy bằng chứng của viêm màng não</a:t>
            </a:r>
          </a:p>
          <a:p>
            <a:endParaRPr lang="en-US"/>
          </a:p>
        </p:txBody>
      </p:sp>
    </p:spTree>
    <p:extLst>
      <p:ext uri="{BB962C8B-B14F-4D97-AF65-F5344CB8AC3E}">
        <p14:creationId xmlns:p14="http://schemas.microsoft.com/office/powerpoint/2010/main" val="2546710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85538943-2ED4-2245-9288-1E9C78777078}"/>
              </a:ext>
            </a:extLst>
          </p:cNvPr>
          <p:cNvSpPr>
            <a:spLocks noGrp="1"/>
          </p:cNvSpPr>
          <p:nvPr>
            <p:ph type="title"/>
          </p:nvPr>
        </p:nvSpPr>
        <p:spPr/>
        <p:txBody>
          <a:bodyPr/>
          <a:lstStyle/>
          <a:p>
            <a:r>
              <a:rPr lang="vi-VN"/>
              <a:t>XÉT NGHIỆM</a:t>
            </a:r>
          </a:p>
        </p:txBody>
      </p:sp>
      <p:pic>
        <p:nvPicPr>
          <p:cNvPr id="4" name="Hình ảnh 4">
            <a:extLst>
              <a:ext uri="{FF2B5EF4-FFF2-40B4-BE49-F238E27FC236}">
                <a16:creationId xmlns:a16="http://schemas.microsoft.com/office/drawing/2014/main" xmlns="" id="{703A9F14-2B29-B746-8C55-159B3C2F3A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2762" y="2339181"/>
            <a:ext cx="3038475" cy="3048000"/>
          </a:xfrm>
        </p:spPr>
      </p:pic>
    </p:spTree>
    <p:extLst>
      <p:ext uri="{BB962C8B-B14F-4D97-AF65-F5344CB8AC3E}">
        <p14:creationId xmlns:p14="http://schemas.microsoft.com/office/powerpoint/2010/main" val="25932127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XÉT NGHIỆM</a:t>
            </a:r>
          </a:p>
        </p:txBody>
      </p:sp>
      <p:sp>
        <p:nvSpPr>
          <p:cNvPr id="3" name="Content Placeholder 2"/>
          <p:cNvSpPr>
            <a:spLocks noGrp="1"/>
          </p:cNvSpPr>
          <p:nvPr>
            <p:ph idx="1"/>
          </p:nvPr>
        </p:nvSpPr>
        <p:spPr/>
        <p:txBody>
          <a:bodyPr/>
          <a:lstStyle/>
          <a:p>
            <a:r>
              <a:rPr lang="en-US" dirty="0"/>
              <a:t>EEG: </a:t>
            </a:r>
            <a:r>
              <a:rPr lang="en-US" dirty="0" err="1"/>
              <a:t>hiếm</a:t>
            </a:r>
            <a:r>
              <a:rPr lang="en-US" dirty="0"/>
              <a:t> </a:t>
            </a:r>
            <a:r>
              <a:rPr lang="en-US" dirty="0" err="1"/>
              <a:t>khi</a:t>
            </a:r>
            <a:r>
              <a:rPr lang="en-US" dirty="0"/>
              <a:t> </a:t>
            </a:r>
            <a:r>
              <a:rPr lang="en-US" dirty="0" err="1"/>
              <a:t>được</a:t>
            </a:r>
            <a:r>
              <a:rPr lang="en-US" dirty="0"/>
              <a:t> </a:t>
            </a:r>
            <a:r>
              <a:rPr lang="en-US" dirty="0" err="1"/>
              <a:t>chỉ</a:t>
            </a:r>
            <a:r>
              <a:rPr lang="en-US" dirty="0"/>
              <a:t> </a:t>
            </a:r>
            <a:r>
              <a:rPr lang="en-US" dirty="0" err="1"/>
              <a:t>định</a:t>
            </a:r>
            <a:r>
              <a:rPr lang="en-US" dirty="0"/>
              <a:t> </a:t>
            </a:r>
            <a:r>
              <a:rPr lang="en-US" dirty="0" err="1"/>
              <a:t>để</a:t>
            </a:r>
            <a:r>
              <a:rPr lang="en-US" dirty="0"/>
              <a:t> </a:t>
            </a:r>
            <a:r>
              <a:rPr lang="en-US" dirty="0" err="1"/>
              <a:t>tầm</a:t>
            </a:r>
            <a:r>
              <a:rPr lang="en-US" dirty="0"/>
              <a:t> </a:t>
            </a:r>
            <a:r>
              <a:rPr lang="en-US" dirty="0" err="1"/>
              <a:t>soát</a:t>
            </a:r>
            <a:r>
              <a:rPr lang="en-US" dirty="0"/>
              <a:t> co </a:t>
            </a:r>
            <a:r>
              <a:rPr lang="en-US" dirty="0" err="1"/>
              <a:t>giật</a:t>
            </a:r>
            <a:r>
              <a:rPr lang="en-US" dirty="0"/>
              <a:t> do </a:t>
            </a:r>
            <a:r>
              <a:rPr lang="en-US" dirty="0" err="1"/>
              <a:t>sốt</a:t>
            </a:r>
            <a:r>
              <a:rPr lang="en-US" dirty="0"/>
              <a:t> </a:t>
            </a:r>
            <a:r>
              <a:rPr lang="en-US" dirty="0" err="1"/>
              <a:t>đơn</a:t>
            </a:r>
            <a:r>
              <a:rPr lang="en-US" dirty="0"/>
              <a:t> </a:t>
            </a:r>
            <a:r>
              <a:rPr lang="en-US" dirty="0" err="1"/>
              <a:t>thuần</a:t>
            </a:r>
            <a:endParaRPr lang="en-US" dirty="0"/>
          </a:p>
          <a:p>
            <a:r>
              <a:rPr lang="en-US" dirty="0" err="1"/>
              <a:t>Máu</a:t>
            </a:r>
            <a:r>
              <a:rPr lang="en-US" dirty="0"/>
              <a:t>: </a:t>
            </a:r>
            <a:r>
              <a:rPr lang="en-US" dirty="0" err="1"/>
              <a:t>xét</a:t>
            </a:r>
            <a:r>
              <a:rPr lang="en-US" dirty="0"/>
              <a:t> </a:t>
            </a:r>
            <a:r>
              <a:rPr lang="en-US" err="1"/>
              <a:t>nghiệm</a:t>
            </a:r>
            <a:r>
              <a:rPr lang="en-US"/>
              <a:t> </a:t>
            </a:r>
            <a:r>
              <a:rPr lang="en-US" smtClean="0"/>
              <a:t>G máu </a:t>
            </a:r>
            <a:r>
              <a:rPr lang="en-US" dirty="0"/>
              <a:t>ở </a:t>
            </a:r>
            <a:r>
              <a:rPr lang="en-US" dirty="0" err="1"/>
              <a:t>trẻ</a:t>
            </a:r>
            <a:r>
              <a:rPr lang="en-US" dirty="0"/>
              <a:t> </a:t>
            </a:r>
            <a:r>
              <a:rPr lang="en-US" dirty="0" err="1"/>
              <a:t>ngủ</a:t>
            </a:r>
            <a:r>
              <a:rPr lang="en-US" dirty="0"/>
              <a:t> </a:t>
            </a:r>
            <a:r>
              <a:rPr lang="en-US" dirty="0" err="1"/>
              <a:t>gà</a:t>
            </a:r>
            <a:endParaRPr lang="en-US" dirty="0"/>
          </a:p>
          <a:p>
            <a:r>
              <a:rPr lang="en-US" dirty="0" err="1"/>
              <a:t>Chụp</a:t>
            </a:r>
            <a:r>
              <a:rPr lang="en-US" dirty="0"/>
              <a:t> </a:t>
            </a:r>
            <a:r>
              <a:rPr lang="en-US" dirty="0" err="1"/>
              <a:t>não</a:t>
            </a:r>
            <a:r>
              <a:rPr lang="en-US" dirty="0"/>
              <a:t>: </a:t>
            </a:r>
            <a:r>
              <a:rPr lang="en-US" dirty="0" err="1"/>
              <a:t>không</a:t>
            </a:r>
            <a:r>
              <a:rPr lang="en-US" dirty="0"/>
              <a:t> </a:t>
            </a:r>
            <a:r>
              <a:rPr lang="en-US" dirty="0" err="1"/>
              <a:t>cần</a:t>
            </a:r>
            <a:r>
              <a:rPr lang="en-US" dirty="0"/>
              <a:t> </a:t>
            </a:r>
            <a:r>
              <a:rPr lang="en-US" dirty="0" err="1"/>
              <a:t>thiết</a:t>
            </a:r>
            <a:r>
              <a:rPr lang="en-US" dirty="0"/>
              <a:t> ở </a:t>
            </a:r>
            <a:r>
              <a:rPr lang="en-US" dirty="0" err="1"/>
              <a:t>hầu</a:t>
            </a:r>
            <a:r>
              <a:rPr lang="en-US" dirty="0"/>
              <a:t> </a:t>
            </a:r>
            <a:r>
              <a:rPr lang="en-US" dirty="0" err="1"/>
              <a:t>hết</a:t>
            </a:r>
            <a:r>
              <a:rPr lang="en-US" dirty="0"/>
              <a:t> </a:t>
            </a:r>
            <a:r>
              <a:rPr lang="en-US" dirty="0" err="1"/>
              <a:t>các</a:t>
            </a:r>
            <a:r>
              <a:rPr lang="en-US" dirty="0"/>
              <a:t> </a:t>
            </a:r>
            <a:r>
              <a:rPr lang="en-US" dirty="0" err="1"/>
              <a:t>ca</a:t>
            </a:r>
            <a:r>
              <a:rPr lang="en-US" dirty="0"/>
              <a:t> </a:t>
            </a:r>
            <a:r>
              <a:rPr lang="en-US" dirty="0" err="1"/>
              <a:t>nhưng</a:t>
            </a:r>
            <a:r>
              <a:rPr lang="en-US" dirty="0"/>
              <a:t> </a:t>
            </a:r>
            <a:r>
              <a:rPr lang="en-US" dirty="0" err="1"/>
              <a:t>có</a:t>
            </a:r>
            <a:r>
              <a:rPr lang="en-US" dirty="0"/>
              <a:t> </a:t>
            </a:r>
            <a:r>
              <a:rPr lang="en-US" dirty="0" err="1"/>
              <a:t>một</a:t>
            </a:r>
            <a:r>
              <a:rPr lang="en-US" dirty="0"/>
              <a:t> </a:t>
            </a:r>
            <a:r>
              <a:rPr lang="en-US" dirty="0" err="1"/>
              <a:t>số</a:t>
            </a:r>
            <a:r>
              <a:rPr lang="en-US" dirty="0"/>
              <a:t> </a:t>
            </a:r>
            <a:r>
              <a:rPr lang="en-US" dirty="0" err="1"/>
              <a:t>ngoại</a:t>
            </a:r>
            <a:r>
              <a:rPr lang="en-US" dirty="0"/>
              <a:t> </a:t>
            </a:r>
            <a:r>
              <a:rPr lang="en-US" dirty="0" err="1"/>
              <a:t>lệ</a:t>
            </a:r>
            <a:r>
              <a:rPr lang="en-US" dirty="0"/>
              <a:t>: </a:t>
            </a:r>
            <a:r>
              <a:rPr lang="en-US" dirty="0" err="1"/>
              <a:t>phù</a:t>
            </a:r>
            <a:r>
              <a:rPr lang="en-US" dirty="0"/>
              <a:t> </a:t>
            </a:r>
            <a:r>
              <a:rPr lang="en-US" dirty="0" err="1"/>
              <a:t>nề</a:t>
            </a:r>
            <a:r>
              <a:rPr lang="en-US" dirty="0"/>
              <a:t>, </a:t>
            </a:r>
            <a:r>
              <a:rPr lang="en-US" dirty="0" err="1"/>
              <a:t>liệt</a:t>
            </a:r>
            <a:r>
              <a:rPr lang="en-US" dirty="0"/>
              <a:t> </a:t>
            </a:r>
            <a:r>
              <a:rPr lang="en-US" dirty="0" err="1"/>
              <a:t>thần</a:t>
            </a:r>
            <a:r>
              <a:rPr lang="en-US" dirty="0"/>
              <a:t> </a:t>
            </a:r>
            <a:r>
              <a:rPr lang="en-US" dirty="0" err="1"/>
              <a:t>kinh</a:t>
            </a:r>
            <a:r>
              <a:rPr lang="en-US" dirty="0"/>
              <a:t> </a:t>
            </a:r>
            <a:r>
              <a:rPr lang="en-US" dirty="0" err="1"/>
              <a:t>sọ</a:t>
            </a:r>
            <a:r>
              <a:rPr lang="en-US" dirty="0"/>
              <a:t>, </a:t>
            </a:r>
            <a:r>
              <a:rPr lang="en-US" dirty="0" err="1"/>
              <a:t>những</a:t>
            </a:r>
            <a:r>
              <a:rPr lang="en-US" dirty="0"/>
              <a:t> </a:t>
            </a:r>
            <a:r>
              <a:rPr lang="en-US" dirty="0" err="1"/>
              <a:t>dấu</a:t>
            </a:r>
            <a:r>
              <a:rPr lang="en-US" dirty="0"/>
              <a:t> </a:t>
            </a:r>
            <a:r>
              <a:rPr lang="en-US" dirty="0" err="1"/>
              <a:t>hiệu</a:t>
            </a:r>
            <a:r>
              <a:rPr lang="en-US" dirty="0"/>
              <a:t> </a:t>
            </a:r>
            <a:r>
              <a:rPr lang="en-US" dirty="0" err="1"/>
              <a:t>thần</a:t>
            </a:r>
            <a:r>
              <a:rPr lang="en-US" dirty="0"/>
              <a:t> </a:t>
            </a:r>
            <a:r>
              <a:rPr lang="en-US" dirty="0" err="1"/>
              <a:t>kinh</a:t>
            </a:r>
            <a:r>
              <a:rPr lang="en-US" dirty="0"/>
              <a:t> </a:t>
            </a:r>
            <a:r>
              <a:rPr lang="en-US" dirty="0" err="1"/>
              <a:t>khu</a:t>
            </a:r>
            <a:r>
              <a:rPr lang="en-US" dirty="0"/>
              <a:t> </a:t>
            </a:r>
            <a:r>
              <a:rPr lang="en-US" dirty="0" err="1"/>
              <a:t>trú</a:t>
            </a:r>
            <a:r>
              <a:rPr lang="en-US" dirty="0"/>
              <a:t> </a:t>
            </a:r>
            <a:r>
              <a:rPr lang="en-US" dirty="0" err="1"/>
              <a:t>dai</a:t>
            </a:r>
            <a:r>
              <a:rPr lang="en-US" dirty="0"/>
              <a:t> </a:t>
            </a:r>
            <a:r>
              <a:rPr lang="en-US" dirty="0" err="1"/>
              <a:t>dẳng</a:t>
            </a:r>
            <a:r>
              <a:rPr lang="en-US" dirty="0"/>
              <a:t> </a:t>
            </a:r>
            <a:r>
              <a:rPr lang="en-US" dirty="0" err="1"/>
              <a:t>và</a:t>
            </a:r>
            <a:r>
              <a:rPr lang="en-US" dirty="0"/>
              <a:t> </a:t>
            </a:r>
            <a:r>
              <a:rPr lang="en-US" dirty="0" err="1"/>
              <a:t>tâm</a:t>
            </a:r>
            <a:r>
              <a:rPr lang="en-US" dirty="0"/>
              <a:t> </a:t>
            </a:r>
            <a:r>
              <a:rPr lang="en-US" dirty="0" err="1"/>
              <a:t>lí</a:t>
            </a:r>
            <a:r>
              <a:rPr lang="en-US" dirty="0"/>
              <a:t> </a:t>
            </a:r>
            <a:r>
              <a:rPr lang="en-US" dirty="0" err="1"/>
              <a:t>căng</a:t>
            </a:r>
            <a:r>
              <a:rPr lang="en-US" dirty="0"/>
              <a:t> </a:t>
            </a:r>
            <a:r>
              <a:rPr lang="en-US" dirty="0" err="1"/>
              <a:t>thẳng</a:t>
            </a:r>
            <a:r>
              <a:rPr lang="en-US" dirty="0"/>
              <a:t>.</a:t>
            </a:r>
          </a:p>
          <a:p>
            <a:endParaRPr lang="en-US" dirty="0"/>
          </a:p>
        </p:txBody>
      </p:sp>
    </p:spTree>
    <p:extLst>
      <p:ext uri="{BB962C8B-B14F-4D97-AF65-F5344CB8AC3E}">
        <p14:creationId xmlns:p14="http://schemas.microsoft.com/office/powerpoint/2010/main" val="38615410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9834" y="1600200"/>
            <a:ext cx="5164331" cy="4525963"/>
          </a:xfrm>
        </p:spPr>
      </p:pic>
    </p:spTree>
    <p:extLst>
      <p:ext uri="{BB962C8B-B14F-4D97-AF65-F5344CB8AC3E}">
        <p14:creationId xmlns:p14="http://schemas.microsoft.com/office/powerpoint/2010/main" val="42070272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ĐIỀU TRỊ</a:t>
            </a:r>
            <a:endParaRPr lang="en-US"/>
          </a:p>
        </p:txBody>
      </p:sp>
      <p:sp>
        <p:nvSpPr>
          <p:cNvPr id="3" name="Content Placeholder 2"/>
          <p:cNvSpPr>
            <a:spLocks noGrp="1"/>
          </p:cNvSpPr>
          <p:nvPr>
            <p:ph idx="1"/>
          </p:nvPr>
        </p:nvSpPr>
        <p:spPr/>
        <p:txBody>
          <a:bodyPr>
            <a:normAutofit lnSpcReduction="10000"/>
          </a:bodyPr>
          <a:lstStyle/>
          <a:p>
            <a:pPr lvl="0"/>
            <a:r>
              <a:rPr lang="en-US" i="1" u="sng"/>
              <a:t>Nguyên tắc chung</a:t>
            </a:r>
            <a:endParaRPr lang="en-US"/>
          </a:p>
          <a:p>
            <a:pPr marL="0" lvl="0" indent="0">
              <a:buNone/>
            </a:pPr>
            <a:r>
              <a:rPr lang="en-US"/>
              <a:t>  -  Đảm bảo tuần hoàn, đường thở, hô hấp ổn định (CABs). </a:t>
            </a:r>
          </a:p>
          <a:p>
            <a:pPr marL="0" lvl="0" indent="0">
              <a:buNone/>
            </a:pPr>
            <a:r>
              <a:rPr lang="en-US"/>
              <a:t>  -  Theo dõi các dấu hiệu sinh tồn, độ bão hòa oxy máu, thông khí đầy đủ, thông khí áp lực dương nếu cần.</a:t>
            </a:r>
          </a:p>
          <a:p>
            <a:pPr marL="0" lvl="0" indent="0">
              <a:buNone/>
            </a:pPr>
            <a:r>
              <a:rPr lang="en-US"/>
              <a:t>  -  Thiết lập đường truyền tĩnh mạch và làm các xét nghiệm cần thiết.</a:t>
            </a:r>
          </a:p>
          <a:p>
            <a:pPr marL="0" lvl="0" indent="0">
              <a:buNone/>
            </a:pPr>
            <a:r>
              <a:rPr lang="en-US"/>
              <a:t>  -  Kiểm soát cơn co giật bằng thuốc.</a:t>
            </a:r>
          </a:p>
          <a:p>
            <a:endParaRPr lang="en-US"/>
          </a:p>
        </p:txBody>
      </p:sp>
    </p:spTree>
    <p:extLst>
      <p:ext uri="{BB962C8B-B14F-4D97-AF65-F5344CB8AC3E}">
        <p14:creationId xmlns:p14="http://schemas.microsoft.com/office/powerpoint/2010/main" val="38265126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ĐIỀU TRỊ</a:t>
            </a:r>
          </a:p>
        </p:txBody>
      </p:sp>
      <p:sp>
        <p:nvSpPr>
          <p:cNvPr id="3" name="Content Placeholder 2"/>
          <p:cNvSpPr>
            <a:spLocks noGrp="1"/>
          </p:cNvSpPr>
          <p:nvPr>
            <p:ph idx="1"/>
          </p:nvPr>
        </p:nvSpPr>
        <p:spPr/>
        <p:txBody>
          <a:bodyPr>
            <a:normAutofit fontScale="92500" lnSpcReduction="10000"/>
          </a:bodyPr>
          <a:lstStyle/>
          <a:p>
            <a:pPr lvl="0"/>
            <a:r>
              <a:rPr lang="vi-VN" dirty="0"/>
              <a:t>Điều trị trong đợt sốt</a:t>
            </a:r>
            <a:endParaRPr lang="en-US" dirty="0"/>
          </a:p>
          <a:p>
            <a:pPr lvl="0"/>
            <a:r>
              <a:rPr lang="vi-VN" dirty="0"/>
              <a:t>Xử trí cơn co giật:</a:t>
            </a:r>
            <a:endParaRPr lang="en-US" dirty="0"/>
          </a:p>
          <a:p>
            <a:pPr lvl="1"/>
            <a:r>
              <a:rPr lang="vi-VN" dirty="0"/>
              <a:t>Để trẻ nằm yên, tránh kích thích.</a:t>
            </a:r>
            <a:endParaRPr lang="en-US" dirty="0"/>
          </a:p>
          <a:p>
            <a:pPr lvl="1"/>
            <a:r>
              <a:rPr lang="vi-VN" dirty="0"/>
              <a:t>Đặt đầu trẻ nghiêng bên phải, nới rộng quần áo.</a:t>
            </a:r>
            <a:endParaRPr lang="en-US" dirty="0"/>
          </a:p>
          <a:p>
            <a:pPr lvl="1"/>
            <a:r>
              <a:rPr lang="vi-VN" dirty="0"/>
              <a:t>Thở ô xy nếu cơn giật kéo dài trên 5 phút hoặc có tình trạng thiếu oxy.</a:t>
            </a:r>
            <a:endParaRPr lang="en-US" dirty="0"/>
          </a:p>
          <a:p>
            <a:pPr lvl="1"/>
            <a:r>
              <a:rPr lang="vi-VN" dirty="0"/>
              <a:t>Nhanh chóng lấy nhiệt độ và các chỉ số sinh tồn.</a:t>
            </a:r>
            <a:endParaRPr lang="en-US" dirty="0"/>
          </a:p>
          <a:p>
            <a:pPr lvl="1"/>
            <a:r>
              <a:rPr lang="vi-VN" dirty="0"/>
              <a:t>Trong một số trường hợp có thể đặt vật mềm hay đè lưỡi giữa 2 hàm răng để trẻ không cắn vào lưỡi.</a:t>
            </a:r>
            <a:endParaRPr lang="en-US" dirty="0"/>
          </a:p>
        </p:txBody>
      </p:sp>
    </p:spTree>
    <p:extLst>
      <p:ext uri="{BB962C8B-B14F-4D97-AF65-F5344CB8AC3E}">
        <p14:creationId xmlns:p14="http://schemas.microsoft.com/office/powerpoint/2010/main" val="2085157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vi-VN" sz="1800" dirty="0">
                <a:solidFill>
                  <a:prstClr val="black"/>
                </a:solidFill>
              </a:rPr>
              <a:t>Diazepam 0,2mg/kg TMC. Thuốc có thể gây ngưng thở dù đường tĩnh mạch hay hậu môn, vì thế  luôn chuẩn bị bóng và mask nhất là khi tiêm tĩnh mạch. Trong trường hợp không tiêm được có thể bơm qua đường hậu môn, liều 0,5mg/kg. Nếu không hiệu quả sau liều Diazepam đầu tiên lập lại liều thứ 2 sau10’, tối đa 3 liều.</a:t>
            </a:r>
            <a:endParaRPr lang="en-US" sz="1800" dirty="0">
              <a:solidFill>
                <a:prstClr val="black"/>
              </a:solidFill>
            </a:endParaRPr>
          </a:p>
          <a:p>
            <a:pPr lvl="1"/>
            <a:r>
              <a:rPr lang="vi-VN" sz="1800" dirty="0">
                <a:solidFill>
                  <a:prstClr val="black"/>
                </a:solidFill>
              </a:rPr>
              <a:t>Liều tối đa: trẻ &lt; 5 tuổi: 5 mg; trẻ &gt; 5 tuổi: 10 mg</a:t>
            </a:r>
            <a:endParaRPr lang="en-US" sz="1800" dirty="0">
              <a:solidFill>
                <a:prstClr val="black"/>
              </a:solidFill>
            </a:endParaRPr>
          </a:p>
          <a:p>
            <a:pPr marL="0" lvl="0" indent="0" algn="ctr">
              <a:buNone/>
            </a:pPr>
            <a:r>
              <a:rPr lang="en-US" sz="2000" b="1" dirty="0">
                <a:solidFill>
                  <a:prstClr val="black"/>
                </a:solidFill>
              </a:rPr>
              <a:t> </a:t>
            </a:r>
            <a:r>
              <a:rPr lang="en-US" sz="2000" b="1" dirty="0" err="1">
                <a:solidFill>
                  <a:prstClr val="black"/>
                </a:solidFill>
              </a:rPr>
              <a:t>Bảng</a:t>
            </a:r>
            <a:r>
              <a:rPr lang="en-US" sz="2000" b="1" dirty="0">
                <a:solidFill>
                  <a:prstClr val="black"/>
                </a:solidFill>
              </a:rPr>
              <a:t> </a:t>
            </a:r>
            <a:r>
              <a:rPr lang="en-US" sz="2000" b="1" dirty="0" err="1">
                <a:solidFill>
                  <a:prstClr val="black"/>
                </a:solidFill>
              </a:rPr>
              <a:t>liều</a:t>
            </a:r>
            <a:r>
              <a:rPr lang="en-US" sz="2000" b="1" dirty="0">
                <a:solidFill>
                  <a:prstClr val="black"/>
                </a:solidFill>
              </a:rPr>
              <a:t> </a:t>
            </a:r>
            <a:r>
              <a:rPr lang="en-US" sz="2000" b="1" dirty="0" err="1">
                <a:solidFill>
                  <a:prstClr val="black"/>
                </a:solidFill>
              </a:rPr>
              <a:t>bắt</a:t>
            </a:r>
            <a:r>
              <a:rPr lang="en-US" sz="2000" b="1" dirty="0">
                <a:solidFill>
                  <a:prstClr val="black"/>
                </a:solidFill>
              </a:rPr>
              <a:t> </a:t>
            </a:r>
            <a:r>
              <a:rPr lang="en-US" sz="2000" b="1" dirty="0" err="1">
                <a:solidFill>
                  <a:prstClr val="black"/>
                </a:solidFill>
              </a:rPr>
              <a:t>đầu</a:t>
            </a:r>
            <a:r>
              <a:rPr lang="en-US" sz="2000" b="1" dirty="0">
                <a:solidFill>
                  <a:prstClr val="black"/>
                </a:solidFill>
              </a:rPr>
              <a:t> diazepam</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50324892"/>
              </p:ext>
            </p:extLst>
          </p:nvPr>
        </p:nvGraphicFramePr>
        <p:xfrm>
          <a:off x="1371600" y="4114800"/>
          <a:ext cx="6086475" cy="2063493"/>
        </p:xfrm>
        <a:graphic>
          <a:graphicData uri="http://schemas.openxmlformats.org/drawingml/2006/table">
            <a:tbl>
              <a:tblPr firstRow="1" firstCol="1" bandRow="1">
                <a:tableStyleId>{5C22544A-7EE6-4342-B048-85BDC9FD1C3A}</a:tableStyleId>
              </a:tblPr>
              <a:tblGrid>
                <a:gridCol w="2028825">
                  <a:extLst>
                    <a:ext uri="{9D8B030D-6E8A-4147-A177-3AD203B41FA5}">
                      <a16:colId xmlns:a16="http://schemas.microsoft.com/office/drawing/2014/main" xmlns="" val="20000"/>
                    </a:ext>
                  </a:extLst>
                </a:gridCol>
                <a:gridCol w="2028825">
                  <a:extLst>
                    <a:ext uri="{9D8B030D-6E8A-4147-A177-3AD203B41FA5}">
                      <a16:colId xmlns:a16="http://schemas.microsoft.com/office/drawing/2014/main" xmlns="" val="20001"/>
                    </a:ext>
                  </a:extLst>
                </a:gridCol>
                <a:gridCol w="2028825">
                  <a:extLst>
                    <a:ext uri="{9D8B030D-6E8A-4147-A177-3AD203B41FA5}">
                      <a16:colId xmlns:a16="http://schemas.microsoft.com/office/drawing/2014/main" xmlns="" val="20002"/>
                    </a:ext>
                  </a:extLst>
                </a:gridCol>
              </a:tblGrid>
              <a:tr h="473427">
                <a:tc>
                  <a:txBody>
                    <a:bodyPr/>
                    <a:lstStyle/>
                    <a:p>
                      <a:pPr marL="0" marR="146050" indent="-100330" algn="ctr">
                        <a:lnSpc>
                          <a:spcPct val="115000"/>
                        </a:lnSpc>
                        <a:spcBef>
                          <a:spcPts val="0"/>
                        </a:spcBef>
                        <a:spcAft>
                          <a:spcPts val="0"/>
                        </a:spcAft>
                      </a:pPr>
                      <a:r>
                        <a:rPr lang="en-US" sz="1600" dirty="0" err="1">
                          <a:effectLst/>
                          <a:latin typeface="Arial" pitchFamily="34" charset="0"/>
                          <a:cs typeface="Arial" pitchFamily="34" charset="0"/>
                        </a:rPr>
                        <a:t>Tuổi</a:t>
                      </a:r>
                      <a:endParaRPr lang="en-US" sz="1600" dirty="0">
                        <a:effectLst/>
                        <a:latin typeface="Arial" pitchFamily="34" charset="0"/>
                        <a:ea typeface="MS Mincho"/>
                        <a:cs typeface="Arial" pitchFamily="34" charset="0"/>
                      </a:endParaRPr>
                    </a:p>
                  </a:txBody>
                  <a:tcPr marL="68580" marR="68580" marT="0" marB="0" anchor="ctr"/>
                </a:tc>
                <a:tc>
                  <a:txBody>
                    <a:bodyPr/>
                    <a:lstStyle/>
                    <a:p>
                      <a:pPr marL="0" marR="146050" indent="-100330" algn="ctr">
                        <a:lnSpc>
                          <a:spcPct val="115000"/>
                        </a:lnSpc>
                        <a:spcBef>
                          <a:spcPts val="0"/>
                        </a:spcBef>
                        <a:spcAft>
                          <a:spcPts val="0"/>
                        </a:spcAft>
                      </a:pPr>
                      <a:r>
                        <a:rPr lang="en-US" sz="1600">
                          <a:effectLst/>
                          <a:latin typeface="Arial" pitchFamily="34" charset="0"/>
                          <a:cs typeface="Arial" pitchFamily="34" charset="0"/>
                        </a:rPr>
                        <a:t>TMC: 0,2 mg/kg</a:t>
                      </a:r>
                      <a:endParaRPr lang="en-US" sz="1600">
                        <a:effectLst/>
                        <a:latin typeface="Arial" pitchFamily="34" charset="0"/>
                        <a:ea typeface="MS Mincho"/>
                        <a:cs typeface="Arial" pitchFamily="34" charset="0"/>
                      </a:endParaRPr>
                    </a:p>
                  </a:txBody>
                  <a:tcPr marL="68580" marR="68580" marT="0" marB="0" anchor="ctr"/>
                </a:tc>
                <a:tc>
                  <a:txBody>
                    <a:bodyPr/>
                    <a:lstStyle/>
                    <a:p>
                      <a:pPr marL="0" marR="146050" indent="-100330" algn="ctr">
                        <a:lnSpc>
                          <a:spcPct val="115000"/>
                        </a:lnSpc>
                        <a:spcBef>
                          <a:spcPts val="0"/>
                        </a:spcBef>
                        <a:spcAft>
                          <a:spcPts val="0"/>
                        </a:spcAft>
                      </a:pPr>
                      <a:r>
                        <a:rPr lang="en-US" sz="1600" dirty="0" err="1">
                          <a:effectLst/>
                          <a:latin typeface="Arial" pitchFamily="34" charset="0"/>
                          <a:cs typeface="Arial" pitchFamily="34" charset="0"/>
                        </a:rPr>
                        <a:t>Bơm</a:t>
                      </a:r>
                      <a:r>
                        <a:rPr lang="en-US" sz="1600" dirty="0">
                          <a:effectLst/>
                          <a:latin typeface="Arial" pitchFamily="34" charset="0"/>
                          <a:cs typeface="Arial" pitchFamily="34" charset="0"/>
                        </a:rPr>
                        <a:t> </a:t>
                      </a:r>
                      <a:r>
                        <a:rPr lang="en-US" sz="1600" dirty="0" err="1">
                          <a:effectLst/>
                          <a:latin typeface="Arial" pitchFamily="34" charset="0"/>
                          <a:cs typeface="Arial" pitchFamily="34" charset="0"/>
                        </a:rPr>
                        <a:t>hậu</a:t>
                      </a:r>
                      <a:r>
                        <a:rPr lang="en-US" sz="1600" dirty="0">
                          <a:effectLst/>
                          <a:latin typeface="Arial" pitchFamily="34" charset="0"/>
                          <a:cs typeface="Arial" pitchFamily="34" charset="0"/>
                        </a:rPr>
                        <a:t> </a:t>
                      </a:r>
                      <a:r>
                        <a:rPr lang="en-US" sz="1600" dirty="0" err="1">
                          <a:effectLst/>
                          <a:latin typeface="Arial" pitchFamily="34" charset="0"/>
                          <a:cs typeface="Arial" pitchFamily="34" charset="0"/>
                        </a:rPr>
                        <a:t>môn</a:t>
                      </a:r>
                      <a:r>
                        <a:rPr lang="en-US" sz="1600" dirty="0">
                          <a:effectLst/>
                          <a:latin typeface="Arial" pitchFamily="34" charset="0"/>
                          <a:cs typeface="Arial" pitchFamily="34" charset="0"/>
                        </a:rPr>
                        <a:t>: 0,5 mg/kg</a:t>
                      </a:r>
                      <a:endParaRPr lang="en-US" sz="1600" dirty="0">
                        <a:effectLst/>
                        <a:latin typeface="Arial" pitchFamily="34" charset="0"/>
                        <a:ea typeface="MS Mincho"/>
                        <a:cs typeface="Arial" pitchFamily="34" charset="0"/>
                      </a:endParaRPr>
                    </a:p>
                  </a:txBody>
                  <a:tcPr marL="68580" marR="68580" marT="0" marB="0" anchor="ctr"/>
                </a:tc>
                <a:extLst>
                  <a:ext uri="{0D108BD9-81ED-4DB2-BD59-A6C34878D82A}">
                    <a16:rowId xmlns:a16="http://schemas.microsoft.com/office/drawing/2014/main" xmlns="" val="10000"/>
                  </a:ext>
                </a:extLst>
              </a:tr>
              <a:tr h="1502661">
                <a:tc>
                  <a:txBody>
                    <a:bodyPr/>
                    <a:lstStyle/>
                    <a:p>
                      <a:pPr marL="0" marR="146050" indent="-100330" algn="ctr">
                        <a:lnSpc>
                          <a:spcPct val="115000"/>
                        </a:lnSpc>
                        <a:spcBef>
                          <a:spcPts val="0"/>
                        </a:spcBef>
                        <a:spcAft>
                          <a:spcPts val="0"/>
                        </a:spcAft>
                      </a:pPr>
                      <a:r>
                        <a:rPr lang="en-US" sz="1600" dirty="0">
                          <a:effectLst/>
                          <a:latin typeface="Arial" pitchFamily="34" charset="0"/>
                          <a:cs typeface="Arial" pitchFamily="34" charset="0"/>
                        </a:rPr>
                        <a:t>&lt; 1 </a:t>
                      </a:r>
                      <a:r>
                        <a:rPr lang="en-US" sz="1600" dirty="0" err="1">
                          <a:effectLst/>
                          <a:latin typeface="Arial" pitchFamily="34" charset="0"/>
                          <a:cs typeface="Arial" pitchFamily="34" charset="0"/>
                        </a:rPr>
                        <a:t>tuổi</a:t>
                      </a:r>
                      <a:endParaRPr lang="en-US" sz="1600" dirty="0">
                        <a:effectLst/>
                        <a:latin typeface="Arial" pitchFamily="34" charset="0"/>
                        <a:cs typeface="Arial" pitchFamily="34" charset="0"/>
                      </a:endParaRP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1-5 </a:t>
                      </a:r>
                      <a:r>
                        <a:rPr lang="en-US" sz="1600" dirty="0" err="1">
                          <a:effectLst/>
                          <a:latin typeface="Arial" pitchFamily="34" charset="0"/>
                          <a:cs typeface="Arial" pitchFamily="34" charset="0"/>
                        </a:rPr>
                        <a:t>tuổi</a:t>
                      </a:r>
                      <a:endParaRPr lang="en-US" sz="1600" dirty="0">
                        <a:effectLst/>
                        <a:latin typeface="Arial" pitchFamily="34" charset="0"/>
                        <a:cs typeface="Arial" pitchFamily="34" charset="0"/>
                      </a:endParaRP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5-10 </a:t>
                      </a:r>
                      <a:r>
                        <a:rPr lang="en-US" sz="1600" dirty="0" err="1">
                          <a:effectLst/>
                          <a:latin typeface="Arial" pitchFamily="34" charset="0"/>
                          <a:cs typeface="Arial" pitchFamily="34" charset="0"/>
                        </a:rPr>
                        <a:t>tuổi</a:t>
                      </a:r>
                      <a:endParaRPr lang="en-US" sz="1600" dirty="0">
                        <a:effectLst/>
                        <a:latin typeface="Arial" pitchFamily="34" charset="0"/>
                        <a:cs typeface="Arial" pitchFamily="34" charset="0"/>
                      </a:endParaRP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&gt;10 </a:t>
                      </a:r>
                      <a:r>
                        <a:rPr lang="en-US" sz="1600" dirty="0" err="1">
                          <a:effectLst/>
                          <a:latin typeface="Arial" pitchFamily="34" charset="0"/>
                          <a:cs typeface="Arial" pitchFamily="34" charset="0"/>
                        </a:rPr>
                        <a:t>tuổi</a:t>
                      </a:r>
                      <a:endParaRPr lang="en-US" sz="1600" dirty="0">
                        <a:effectLst/>
                        <a:latin typeface="Arial" pitchFamily="34" charset="0"/>
                        <a:ea typeface="MS Mincho"/>
                        <a:cs typeface="Arial" pitchFamily="34" charset="0"/>
                      </a:endParaRPr>
                    </a:p>
                  </a:txBody>
                  <a:tcPr marL="68580" marR="68580" marT="0" marB="0" anchor="ctr"/>
                </a:tc>
                <a:tc>
                  <a:txBody>
                    <a:bodyPr/>
                    <a:lstStyle/>
                    <a:p>
                      <a:pPr marL="0" marR="146050" indent="-100330" algn="ctr">
                        <a:lnSpc>
                          <a:spcPct val="115000"/>
                        </a:lnSpc>
                        <a:spcBef>
                          <a:spcPts val="0"/>
                        </a:spcBef>
                        <a:spcAft>
                          <a:spcPts val="0"/>
                        </a:spcAft>
                      </a:pPr>
                      <a:r>
                        <a:rPr lang="en-US" sz="1600" dirty="0">
                          <a:effectLst/>
                          <a:latin typeface="Arial" pitchFamily="34" charset="0"/>
                          <a:cs typeface="Arial" pitchFamily="34" charset="0"/>
                        </a:rPr>
                        <a:t>1-2 mg</a:t>
                      </a: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3 mg</a:t>
                      </a: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5 mg</a:t>
                      </a: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5-10 mg</a:t>
                      </a:r>
                      <a:endParaRPr lang="en-US" sz="1600" dirty="0">
                        <a:effectLst/>
                        <a:latin typeface="Arial" pitchFamily="34" charset="0"/>
                        <a:ea typeface="MS Mincho"/>
                        <a:cs typeface="Arial" pitchFamily="34" charset="0"/>
                      </a:endParaRPr>
                    </a:p>
                  </a:txBody>
                  <a:tcPr marL="68580" marR="68580" marT="0" marB="0" anchor="ctr"/>
                </a:tc>
                <a:tc>
                  <a:txBody>
                    <a:bodyPr/>
                    <a:lstStyle/>
                    <a:p>
                      <a:pPr marL="0" marR="146050" indent="-100330" algn="ctr">
                        <a:lnSpc>
                          <a:spcPct val="115000"/>
                        </a:lnSpc>
                        <a:spcBef>
                          <a:spcPts val="0"/>
                        </a:spcBef>
                        <a:spcAft>
                          <a:spcPts val="0"/>
                        </a:spcAft>
                      </a:pPr>
                      <a:r>
                        <a:rPr lang="en-US" sz="1600" dirty="0">
                          <a:effectLst/>
                          <a:latin typeface="Arial" pitchFamily="34" charset="0"/>
                          <a:cs typeface="Arial" pitchFamily="34" charset="0"/>
                        </a:rPr>
                        <a:t>2,5-5 mg</a:t>
                      </a: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7.5 mg</a:t>
                      </a: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10 mg</a:t>
                      </a:r>
                    </a:p>
                    <a:p>
                      <a:pPr marL="0" marR="146050" indent="-100330" algn="ctr">
                        <a:lnSpc>
                          <a:spcPct val="115000"/>
                        </a:lnSpc>
                        <a:spcBef>
                          <a:spcPts val="0"/>
                        </a:spcBef>
                        <a:spcAft>
                          <a:spcPts val="0"/>
                        </a:spcAft>
                      </a:pPr>
                      <a:r>
                        <a:rPr lang="en-US" sz="1600" dirty="0">
                          <a:effectLst/>
                          <a:latin typeface="Arial" pitchFamily="34" charset="0"/>
                          <a:cs typeface="Arial" pitchFamily="34" charset="0"/>
                        </a:rPr>
                        <a:t>10-15mg</a:t>
                      </a:r>
                      <a:endParaRPr lang="en-US" sz="1600" dirty="0">
                        <a:effectLst/>
                        <a:latin typeface="Arial" pitchFamily="34" charset="0"/>
                        <a:ea typeface="MS Mincho"/>
                        <a:cs typeface="Arial" pitchFamily="34" charset="0"/>
                      </a:endParaRPr>
                    </a:p>
                  </a:txBody>
                  <a:tcPr marL="68580" marR="68580" marT="0" marB="0" anchor="ctr"/>
                </a:tc>
                <a:extLst>
                  <a:ext uri="{0D108BD9-81ED-4DB2-BD59-A6C34878D82A}">
                    <a16:rowId xmlns:a16="http://schemas.microsoft.com/office/drawing/2014/main" xmlns="" val="10001"/>
                  </a:ext>
                </a:extLst>
              </a:tr>
            </a:tbl>
          </a:graphicData>
        </a:graphic>
      </p:graphicFrame>
      <p:sp>
        <p:nvSpPr>
          <p:cNvPr id="5" name="Rectangle 1"/>
          <p:cNvSpPr>
            <a:spLocks noChangeArrowheads="1"/>
          </p:cNvSpPr>
          <p:nvPr/>
        </p:nvSpPr>
        <p:spPr bwMode="auto">
          <a:xfrm>
            <a:off x="1762125" y="3293776"/>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456956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ĐIỀU TRỊ</a:t>
            </a:r>
          </a:p>
        </p:txBody>
      </p:sp>
      <p:sp>
        <p:nvSpPr>
          <p:cNvPr id="3" name="Content Placeholder 2"/>
          <p:cNvSpPr>
            <a:spLocks noGrp="1"/>
          </p:cNvSpPr>
          <p:nvPr>
            <p:ph idx="1"/>
          </p:nvPr>
        </p:nvSpPr>
        <p:spPr/>
        <p:txBody>
          <a:bodyPr>
            <a:normAutofit lnSpcReduction="10000"/>
          </a:bodyPr>
          <a:lstStyle/>
          <a:p>
            <a:pPr marL="0" indent="0">
              <a:buNone/>
            </a:pPr>
            <a:r>
              <a:rPr lang="en-US" smtClean="0"/>
              <a:t> =&gt; Chuyển </a:t>
            </a:r>
            <a:r>
              <a:rPr lang="en-US" dirty="0" err="1"/>
              <a:t>hồi</a:t>
            </a:r>
            <a:r>
              <a:rPr lang="en-US" dirty="0"/>
              <a:t> </a:t>
            </a:r>
            <a:r>
              <a:rPr lang="en-US" dirty="0" err="1"/>
              <a:t>sức</a:t>
            </a:r>
            <a:r>
              <a:rPr lang="en-US" dirty="0"/>
              <a:t> </a:t>
            </a:r>
            <a:r>
              <a:rPr lang="en-US" dirty="0" err="1"/>
              <a:t>ngay</a:t>
            </a:r>
            <a:r>
              <a:rPr lang="en-US" dirty="0"/>
              <a:t> </a:t>
            </a:r>
            <a:r>
              <a:rPr lang="en-US" dirty="0" err="1"/>
              <a:t>nếu</a:t>
            </a:r>
            <a:r>
              <a:rPr lang="en-US" dirty="0"/>
              <a:t> </a:t>
            </a:r>
            <a:r>
              <a:rPr lang="en-US" dirty="0" err="1"/>
              <a:t>dùng</a:t>
            </a:r>
            <a:r>
              <a:rPr lang="en-US" dirty="0"/>
              <a:t> Diazepam </a:t>
            </a:r>
            <a:r>
              <a:rPr lang="en-US" dirty="0" err="1"/>
              <a:t>tổng</a:t>
            </a:r>
            <a:r>
              <a:rPr lang="en-US" dirty="0"/>
              <a:t> </a:t>
            </a:r>
            <a:r>
              <a:rPr lang="en-US" dirty="0" err="1"/>
              <a:t>liều</a:t>
            </a:r>
            <a:r>
              <a:rPr lang="en-US" dirty="0"/>
              <a:t> 1mg/kg </a:t>
            </a:r>
            <a:r>
              <a:rPr lang="en-US" dirty="0" err="1"/>
              <a:t>mà</a:t>
            </a:r>
            <a:r>
              <a:rPr lang="en-US" dirty="0"/>
              <a:t> </a:t>
            </a:r>
            <a:r>
              <a:rPr lang="en-US" dirty="0" err="1"/>
              <a:t>không</a:t>
            </a:r>
            <a:r>
              <a:rPr lang="en-US" dirty="0"/>
              <a:t> </a:t>
            </a:r>
            <a:r>
              <a:rPr lang="en-US" dirty="0" err="1"/>
              <a:t>cắt</a:t>
            </a:r>
            <a:r>
              <a:rPr lang="en-US" dirty="0"/>
              <a:t> </a:t>
            </a:r>
            <a:r>
              <a:rPr lang="en-US" dirty="0" err="1"/>
              <a:t>cơn</a:t>
            </a:r>
            <a:r>
              <a:rPr lang="en-US" dirty="0"/>
              <a:t> </a:t>
            </a:r>
            <a:r>
              <a:rPr lang="en-US" dirty="0" err="1"/>
              <a:t>giật</a:t>
            </a:r>
            <a:endParaRPr lang="en-US" dirty="0"/>
          </a:p>
          <a:p>
            <a:pPr lvl="0"/>
            <a:r>
              <a:rPr lang="en-US" dirty="0" err="1"/>
              <a:t>Hoặc</a:t>
            </a:r>
            <a:r>
              <a:rPr lang="en-US" dirty="0"/>
              <a:t> Midazolam 0,2mg/kg TM </a:t>
            </a:r>
            <a:r>
              <a:rPr lang="en-US" dirty="0" err="1"/>
              <a:t>chậm</a:t>
            </a:r>
            <a:r>
              <a:rPr lang="en-US" dirty="0"/>
              <a:t>. </a:t>
            </a:r>
            <a:r>
              <a:rPr lang="en-US" dirty="0" err="1"/>
              <a:t>Nếu</a:t>
            </a:r>
            <a:r>
              <a:rPr lang="en-US" dirty="0"/>
              <a:t> </a:t>
            </a:r>
            <a:r>
              <a:rPr lang="en-US" dirty="0" err="1"/>
              <a:t>không</a:t>
            </a:r>
            <a:r>
              <a:rPr lang="en-US" dirty="0"/>
              <a:t> </a:t>
            </a:r>
            <a:r>
              <a:rPr lang="en-US" dirty="0" err="1"/>
              <a:t>đáp</a:t>
            </a:r>
            <a:r>
              <a:rPr lang="en-US" dirty="0"/>
              <a:t> </a:t>
            </a:r>
            <a:r>
              <a:rPr lang="en-US" dirty="0" err="1"/>
              <a:t>ứng</a:t>
            </a:r>
            <a:r>
              <a:rPr lang="en-US" dirty="0"/>
              <a:t> </a:t>
            </a:r>
            <a:r>
              <a:rPr lang="en-US" dirty="0" err="1"/>
              <a:t>có</a:t>
            </a:r>
            <a:r>
              <a:rPr lang="en-US" dirty="0"/>
              <a:t> </a:t>
            </a:r>
            <a:r>
              <a:rPr lang="en-US" dirty="0" err="1"/>
              <a:t>thể</a:t>
            </a:r>
            <a:r>
              <a:rPr lang="en-US" dirty="0"/>
              <a:t> </a:t>
            </a:r>
            <a:r>
              <a:rPr lang="en-US" dirty="0" err="1"/>
              <a:t>lặp</a:t>
            </a:r>
            <a:r>
              <a:rPr lang="en-US" dirty="0"/>
              <a:t> </a:t>
            </a:r>
            <a:r>
              <a:rPr lang="en-US" dirty="0" err="1"/>
              <a:t>lại</a:t>
            </a:r>
            <a:r>
              <a:rPr lang="en-US" dirty="0"/>
              <a:t> </a:t>
            </a:r>
            <a:r>
              <a:rPr lang="en-US" dirty="0" err="1"/>
              <a:t>liều</a:t>
            </a:r>
            <a:r>
              <a:rPr lang="en-US" dirty="0"/>
              <a:t> </a:t>
            </a:r>
            <a:r>
              <a:rPr lang="en-US" dirty="0" err="1"/>
              <a:t>đầu</a:t>
            </a:r>
            <a:r>
              <a:rPr lang="en-US" dirty="0"/>
              <a:t>. </a:t>
            </a:r>
            <a:r>
              <a:rPr lang="en-US" dirty="0" err="1"/>
              <a:t>liều</a:t>
            </a:r>
            <a:r>
              <a:rPr lang="en-US" dirty="0"/>
              <a:t> </a:t>
            </a:r>
            <a:r>
              <a:rPr lang="en-US" dirty="0" err="1"/>
              <a:t>duy</a:t>
            </a:r>
            <a:r>
              <a:rPr lang="en-US" dirty="0"/>
              <a:t> </a:t>
            </a:r>
            <a:r>
              <a:rPr lang="en-US" dirty="0" err="1"/>
              <a:t>trì</a:t>
            </a:r>
            <a:r>
              <a:rPr lang="en-US" dirty="0"/>
              <a:t>: 1µg/kg/ </a:t>
            </a:r>
            <a:r>
              <a:rPr lang="en-US" dirty="0" err="1"/>
              <a:t>phút</a:t>
            </a:r>
            <a:r>
              <a:rPr lang="en-US" dirty="0"/>
              <a:t> </a:t>
            </a:r>
            <a:r>
              <a:rPr lang="en-US" dirty="0" err="1"/>
              <a:t>tăng</a:t>
            </a:r>
            <a:r>
              <a:rPr lang="en-US" dirty="0"/>
              <a:t> </a:t>
            </a:r>
            <a:r>
              <a:rPr lang="en-US" dirty="0" err="1"/>
              <a:t>dần</a:t>
            </a:r>
            <a:r>
              <a:rPr lang="en-US" dirty="0"/>
              <a:t> </a:t>
            </a:r>
            <a:r>
              <a:rPr lang="en-US" dirty="0" err="1"/>
              <a:t>đến</a:t>
            </a:r>
            <a:r>
              <a:rPr lang="en-US" dirty="0"/>
              <a:t> </a:t>
            </a:r>
            <a:r>
              <a:rPr lang="en-US" dirty="0" err="1"/>
              <a:t>khi</a:t>
            </a:r>
            <a:r>
              <a:rPr lang="en-US" dirty="0"/>
              <a:t> </a:t>
            </a:r>
            <a:r>
              <a:rPr lang="en-US" dirty="0" err="1"/>
              <a:t>có</a:t>
            </a:r>
            <a:r>
              <a:rPr lang="en-US" dirty="0"/>
              <a:t> </a:t>
            </a:r>
            <a:r>
              <a:rPr lang="en-US" dirty="0" err="1"/>
              <a:t>đáp</a:t>
            </a:r>
            <a:r>
              <a:rPr lang="en-US" dirty="0"/>
              <a:t> </a:t>
            </a:r>
            <a:r>
              <a:rPr lang="en-US" dirty="0" err="1"/>
              <a:t>ứng</a:t>
            </a:r>
            <a:r>
              <a:rPr lang="en-US" dirty="0"/>
              <a:t>, </a:t>
            </a:r>
            <a:r>
              <a:rPr lang="en-US" dirty="0" err="1"/>
              <a:t>không</a:t>
            </a:r>
            <a:r>
              <a:rPr lang="en-US" dirty="0"/>
              <a:t> </a:t>
            </a:r>
            <a:r>
              <a:rPr lang="en-US" dirty="0" err="1"/>
              <a:t>quá</a:t>
            </a:r>
            <a:r>
              <a:rPr lang="en-US" dirty="0"/>
              <a:t> 18µg/kg/</a:t>
            </a:r>
            <a:r>
              <a:rPr lang="en-US" dirty="0" err="1"/>
              <a:t>phút</a:t>
            </a:r>
            <a:r>
              <a:rPr lang="en-US" dirty="0"/>
              <a:t>.</a:t>
            </a:r>
          </a:p>
          <a:p>
            <a:pPr lvl="0"/>
            <a:r>
              <a:rPr lang="en-US" dirty="0" err="1"/>
              <a:t>Trẻ</a:t>
            </a:r>
            <a:r>
              <a:rPr lang="en-US" dirty="0"/>
              <a:t> </a:t>
            </a:r>
            <a:r>
              <a:rPr lang="en-US" dirty="0" err="1"/>
              <a:t>sơ</a:t>
            </a:r>
            <a:r>
              <a:rPr lang="en-US" dirty="0"/>
              <a:t> </a:t>
            </a:r>
            <a:r>
              <a:rPr lang="en-US" dirty="0" err="1"/>
              <a:t>sinh</a:t>
            </a:r>
            <a:r>
              <a:rPr lang="en-US" dirty="0"/>
              <a:t> </a:t>
            </a:r>
            <a:r>
              <a:rPr lang="en-US" dirty="0" err="1"/>
              <a:t>ưu</a:t>
            </a:r>
            <a:r>
              <a:rPr lang="en-US" dirty="0"/>
              <a:t> </a:t>
            </a:r>
            <a:r>
              <a:rPr lang="en-US" dirty="0" err="1"/>
              <a:t>tiên</a:t>
            </a:r>
            <a:r>
              <a:rPr lang="en-US" dirty="0"/>
              <a:t> </a:t>
            </a:r>
            <a:r>
              <a:rPr lang="en-US" dirty="0" err="1"/>
              <a:t>chọn</a:t>
            </a:r>
            <a:r>
              <a:rPr lang="en-US" dirty="0"/>
              <a:t> </a:t>
            </a:r>
            <a:r>
              <a:rPr lang="en-US" dirty="0" err="1"/>
              <a:t>Phenobacbital</a:t>
            </a:r>
            <a:r>
              <a:rPr lang="en-US" dirty="0"/>
              <a:t> 15-20 mg/kg </a:t>
            </a:r>
            <a:r>
              <a:rPr lang="en-US" dirty="0" err="1"/>
              <a:t>truyền</a:t>
            </a:r>
            <a:r>
              <a:rPr lang="en-US" dirty="0"/>
              <a:t> </a:t>
            </a:r>
            <a:r>
              <a:rPr lang="en-US" dirty="0" err="1"/>
              <a:t>tĩnh</a:t>
            </a:r>
            <a:r>
              <a:rPr lang="en-US" dirty="0"/>
              <a:t> </a:t>
            </a:r>
            <a:r>
              <a:rPr lang="en-US" dirty="0" err="1"/>
              <a:t>mạch</a:t>
            </a:r>
            <a:r>
              <a:rPr lang="en-US" dirty="0"/>
              <a:t> </a:t>
            </a:r>
            <a:r>
              <a:rPr lang="en-US" dirty="0" err="1"/>
              <a:t>trong</a:t>
            </a:r>
            <a:r>
              <a:rPr lang="en-US" dirty="0"/>
              <a:t> 30’. </a:t>
            </a:r>
            <a:r>
              <a:rPr lang="en-US" dirty="0" err="1"/>
              <a:t>Nếu</a:t>
            </a:r>
            <a:r>
              <a:rPr lang="en-US" dirty="0"/>
              <a:t> </a:t>
            </a:r>
            <a:r>
              <a:rPr lang="en-US" dirty="0" err="1"/>
              <a:t>sau</a:t>
            </a:r>
            <a:r>
              <a:rPr lang="en-US" dirty="0"/>
              <a:t> 30’ </a:t>
            </a:r>
            <a:r>
              <a:rPr lang="en-US" dirty="0" err="1"/>
              <a:t>mà</a:t>
            </a:r>
            <a:r>
              <a:rPr lang="en-US" dirty="0"/>
              <a:t> </a:t>
            </a:r>
            <a:r>
              <a:rPr lang="en-US" dirty="0" err="1"/>
              <a:t>còn</a:t>
            </a:r>
            <a:r>
              <a:rPr lang="en-US" dirty="0"/>
              <a:t> </a:t>
            </a:r>
            <a:r>
              <a:rPr lang="en-US" dirty="0" err="1"/>
              <a:t>giật</a:t>
            </a:r>
            <a:r>
              <a:rPr lang="en-US" dirty="0"/>
              <a:t> </a:t>
            </a:r>
            <a:r>
              <a:rPr lang="en-US" dirty="0" err="1"/>
              <a:t>thì</a:t>
            </a:r>
            <a:r>
              <a:rPr lang="en-US" dirty="0"/>
              <a:t> </a:t>
            </a:r>
            <a:r>
              <a:rPr lang="en-US" dirty="0" err="1"/>
              <a:t>lặp</a:t>
            </a:r>
            <a:r>
              <a:rPr lang="en-US" dirty="0"/>
              <a:t> </a:t>
            </a:r>
            <a:r>
              <a:rPr lang="en-US" dirty="0" err="1"/>
              <a:t>lại</a:t>
            </a:r>
            <a:r>
              <a:rPr lang="en-US" dirty="0"/>
              <a:t> </a:t>
            </a:r>
            <a:r>
              <a:rPr lang="en-US" dirty="0" err="1"/>
              <a:t>liều</a:t>
            </a:r>
            <a:r>
              <a:rPr lang="en-US" dirty="0"/>
              <a:t> </a:t>
            </a:r>
            <a:r>
              <a:rPr lang="en-US" dirty="0" err="1"/>
              <a:t>thứ</a:t>
            </a:r>
            <a:r>
              <a:rPr lang="en-US" dirty="0"/>
              <a:t> </a:t>
            </a:r>
            <a:r>
              <a:rPr lang="en-US" dirty="0" err="1"/>
              <a:t>hai</a:t>
            </a:r>
            <a:r>
              <a:rPr lang="en-US" dirty="0"/>
              <a:t> 10mg/kg.</a:t>
            </a:r>
          </a:p>
          <a:p>
            <a:pPr marL="0" indent="0">
              <a:buNone/>
            </a:pPr>
            <a:endParaRPr lang="en-US" dirty="0"/>
          </a:p>
        </p:txBody>
      </p:sp>
    </p:spTree>
    <p:extLst>
      <p:ext uri="{BB962C8B-B14F-4D97-AF65-F5344CB8AC3E}">
        <p14:creationId xmlns:p14="http://schemas.microsoft.com/office/powerpoint/2010/main" val="3927058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a:buNone/>
            </a:pPr>
            <a:r>
              <a:rPr lang="vi-VN" dirty="0"/>
              <a:t>Kiểm soát thân nhiệt</a:t>
            </a:r>
            <a:r>
              <a:rPr lang="en-US" dirty="0"/>
              <a:t>. </a:t>
            </a:r>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90800"/>
            <a:ext cx="7842781" cy="339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4416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r>
              <a:rPr lang="vi-VN" dirty="0">
                <a:latin typeface="Calibri" pitchFamily="34" charset="0"/>
                <a:cs typeface="Calibri" pitchFamily="34" charset="0"/>
              </a:rPr>
              <a:t>Khi sốt </a:t>
            </a:r>
            <a:r>
              <a:rPr lang="vi-VN">
                <a:latin typeface="Calibri" pitchFamily="34" charset="0"/>
                <a:cs typeface="Calibri" pitchFamily="34" charset="0"/>
              </a:rPr>
              <a:t>trên </a:t>
            </a:r>
            <a:r>
              <a:rPr lang="vi-VN" smtClean="0">
                <a:latin typeface="Calibri" pitchFamily="34" charset="0"/>
                <a:cs typeface="Calibri" pitchFamily="34" charset="0"/>
              </a:rPr>
              <a:t>38</a:t>
            </a:r>
            <a:r>
              <a:rPr lang="en-US" smtClean="0">
                <a:latin typeface="Calibri" pitchFamily="34" charset="0"/>
                <a:cs typeface="Calibri" pitchFamily="34" charset="0"/>
              </a:rPr>
              <a:t> độ </a:t>
            </a:r>
            <a:r>
              <a:rPr lang="vi-VN" smtClean="0">
                <a:latin typeface="Calibri" pitchFamily="34" charset="0"/>
                <a:cs typeface="Calibri" pitchFamily="34" charset="0"/>
              </a:rPr>
              <a:t>C</a:t>
            </a:r>
            <a:r>
              <a:rPr lang="vi-VN" dirty="0">
                <a:latin typeface="Calibri" pitchFamily="34" charset="0"/>
                <a:cs typeface="Calibri" pitchFamily="34" charset="0"/>
              </a:rPr>
              <a:t>, hạ </a:t>
            </a:r>
            <a:r>
              <a:rPr lang="vi-VN">
                <a:latin typeface="Calibri" pitchFamily="34" charset="0"/>
                <a:cs typeface="Calibri" pitchFamily="34" charset="0"/>
              </a:rPr>
              <a:t>sốt </a:t>
            </a:r>
            <a:r>
              <a:rPr lang="vi-VN" smtClean="0">
                <a:latin typeface="Calibri" pitchFamily="34" charset="0"/>
                <a:cs typeface="Calibri" pitchFamily="34" charset="0"/>
              </a:rPr>
              <a:t>bằng</a:t>
            </a:r>
            <a:r>
              <a:rPr lang="en-US">
                <a:latin typeface="Calibri" pitchFamily="34" charset="0"/>
                <a:cs typeface="Calibri" pitchFamily="34" charset="0"/>
              </a:rPr>
              <a:t> </a:t>
            </a:r>
            <a:r>
              <a:rPr lang="vi-VN" smtClean="0">
                <a:latin typeface="Calibri" pitchFamily="34" charset="0"/>
                <a:cs typeface="Calibri" pitchFamily="34" charset="0"/>
              </a:rPr>
              <a:t>Paracetamol </a:t>
            </a:r>
            <a:r>
              <a:rPr lang="vi-VN" dirty="0">
                <a:latin typeface="Calibri" pitchFamily="34" charset="0"/>
                <a:cs typeface="Calibri" pitchFamily="34" charset="0"/>
              </a:rPr>
              <a:t>15 mg/kg/1 lần</a:t>
            </a:r>
            <a:r>
              <a:rPr lang="vi-VN">
                <a:latin typeface="Calibri" pitchFamily="34" charset="0"/>
                <a:cs typeface="Calibri" pitchFamily="34" charset="0"/>
              </a:rPr>
              <a:t>, </a:t>
            </a:r>
            <a:r>
              <a:rPr lang="vi-VN" smtClean="0">
                <a:latin typeface="Calibri" pitchFamily="34" charset="0"/>
                <a:cs typeface="Calibri" pitchFamily="34" charset="0"/>
              </a:rPr>
              <a:t>uống </a:t>
            </a:r>
            <a:r>
              <a:rPr lang="vi-VN" dirty="0">
                <a:latin typeface="Calibri" pitchFamily="34" charset="0"/>
                <a:cs typeface="Calibri" pitchFamily="34" charset="0"/>
              </a:rPr>
              <a:t>hoặc đặt hậu môn, nhắc lại sau 4 - 6 giờ (nếu vẫn sốt), nhưng không được quá 60 mg/kg/24 h (hoặc Ibuprofen 10mg/kg/lần, 6 </a:t>
            </a:r>
            <a:r>
              <a:rPr lang="vi-VN">
                <a:latin typeface="Calibri" pitchFamily="34" charset="0"/>
                <a:cs typeface="Calibri" pitchFamily="34" charset="0"/>
              </a:rPr>
              <a:t>giờ/lần</a:t>
            </a:r>
            <a:r>
              <a:rPr lang="vi-VN" smtClean="0">
                <a:latin typeface="Calibri" pitchFamily="34" charset="0"/>
                <a:cs typeface="Calibri" pitchFamily="34" charset="0"/>
              </a:rPr>
              <a:t>).</a:t>
            </a:r>
            <a:endParaRPr lang="en-US" dirty="0">
              <a:latin typeface="Calibri" pitchFamily="34" charset="0"/>
              <a:cs typeface="Calibri" pitchFamily="34" charset="0"/>
            </a:endParaRPr>
          </a:p>
          <a:p>
            <a:pPr lvl="0"/>
            <a:r>
              <a:rPr lang="vi-VN" sz="3000" smtClean="0">
                <a:latin typeface="Calibri" pitchFamily="34" charset="0"/>
                <a:cs typeface="Calibri" pitchFamily="34" charset="0"/>
              </a:rPr>
              <a:t>Paracetamol </a:t>
            </a:r>
            <a:r>
              <a:rPr lang="vi-VN" sz="3000" dirty="0">
                <a:latin typeface="Calibri" pitchFamily="34" charset="0"/>
                <a:cs typeface="Calibri" pitchFamily="34" charset="0"/>
              </a:rPr>
              <a:t>và Ibuprofen có hiệu quả hạ sốt tương đương nhau</a:t>
            </a:r>
            <a:r>
              <a:rPr lang="vi-VN" sz="3000">
                <a:latin typeface="Calibri" pitchFamily="34" charset="0"/>
                <a:cs typeface="Calibri" pitchFamily="34" charset="0"/>
              </a:rPr>
              <a:t>. </a:t>
            </a:r>
            <a:endParaRPr lang="en-US" sz="3000">
              <a:latin typeface="Calibri" pitchFamily="34" charset="0"/>
              <a:cs typeface="Calibri" pitchFamily="34" charset="0"/>
            </a:endParaRPr>
          </a:p>
          <a:p>
            <a:pPr lvl="0"/>
            <a:r>
              <a:rPr lang="vi-VN" sz="3000" smtClean="0">
                <a:latin typeface="Calibri" pitchFamily="34" charset="0"/>
                <a:cs typeface="Calibri" pitchFamily="34" charset="0"/>
              </a:rPr>
              <a:t>Kết </a:t>
            </a:r>
            <a:r>
              <a:rPr lang="vi-VN" sz="3000" dirty="0">
                <a:latin typeface="Calibri" pitchFamily="34" charset="0"/>
                <a:cs typeface="Calibri" pitchFamily="34" charset="0"/>
              </a:rPr>
              <a:t>hợp các biện pháp vật lý như: chườm trán, nách, bẹn cho bệnh nhân bằng nước ấm 32 </a:t>
            </a:r>
            <a:r>
              <a:rPr lang="vi-VN" sz="3000">
                <a:latin typeface="Calibri" pitchFamily="34" charset="0"/>
                <a:cs typeface="Calibri" pitchFamily="34" charset="0"/>
              </a:rPr>
              <a:t>- </a:t>
            </a:r>
            <a:r>
              <a:rPr lang="en-US" sz="3000">
                <a:latin typeface="Calibri" pitchFamily="34" charset="0"/>
                <a:cs typeface="Calibri" pitchFamily="34" charset="0"/>
              </a:rPr>
              <a:t>3</a:t>
            </a:r>
            <a:r>
              <a:rPr lang="en-US" sz="3000" smtClean="0">
                <a:latin typeface="Calibri" pitchFamily="34" charset="0"/>
                <a:cs typeface="Calibri" pitchFamily="34" charset="0"/>
              </a:rPr>
              <a:t>5độ  </a:t>
            </a:r>
            <a:r>
              <a:rPr lang="vi-VN" sz="3000" smtClean="0">
                <a:latin typeface="Calibri" pitchFamily="34" charset="0"/>
                <a:cs typeface="Calibri" pitchFamily="34" charset="0"/>
              </a:rPr>
              <a:t>C</a:t>
            </a:r>
            <a:r>
              <a:rPr lang="vi-VN" sz="3000">
                <a:latin typeface="Calibri" pitchFamily="34" charset="0"/>
                <a:cs typeface="Calibri" pitchFamily="34" charset="0"/>
              </a:rPr>
              <a:t>, </a:t>
            </a:r>
            <a:r>
              <a:rPr lang="vi-VN" sz="3000" smtClean="0">
                <a:latin typeface="Calibri" pitchFamily="34" charset="0"/>
                <a:cs typeface="Calibri" pitchFamily="34" charset="0"/>
              </a:rPr>
              <a:t>nới </a:t>
            </a:r>
            <a:r>
              <a:rPr lang="vi-VN" sz="3000" dirty="0">
                <a:latin typeface="Calibri" pitchFamily="34" charset="0"/>
                <a:cs typeface="Calibri" pitchFamily="34" charset="0"/>
              </a:rPr>
              <a:t>bỏ </a:t>
            </a:r>
            <a:r>
              <a:rPr lang="vi-VN" sz="3000">
                <a:latin typeface="Calibri" pitchFamily="34" charset="0"/>
                <a:cs typeface="Calibri" pitchFamily="34" charset="0"/>
              </a:rPr>
              <a:t>quần </a:t>
            </a:r>
            <a:r>
              <a:rPr lang="vi-VN" sz="3000" smtClean="0">
                <a:latin typeface="Calibri" pitchFamily="34" charset="0"/>
                <a:cs typeface="Calibri" pitchFamily="34" charset="0"/>
              </a:rPr>
              <a:t>áo.</a:t>
            </a:r>
            <a:endParaRPr lang="en-US" sz="3000" dirty="0">
              <a:latin typeface="Calibri" pitchFamily="34" charset="0"/>
              <a:cs typeface="Calibri" pitchFamily="34" charset="0"/>
            </a:endParaRPr>
          </a:p>
          <a:p>
            <a:pPr lvl="0"/>
            <a:r>
              <a:rPr lang="vi-VN" sz="3000" smtClean="0">
                <a:latin typeface="Calibri" pitchFamily="34" charset="0"/>
                <a:cs typeface="Calibri" pitchFamily="34" charset="0"/>
              </a:rPr>
              <a:t>Điều </a:t>
            </a:r>
            <a:r>
              <a:rPr lang="vi-VN" sz="3000" dirty="0">
                <a:latin typeface="Calibri" pitchFamily="34" charset="0"/>
                <a:cs typeface="Calibri" pitchFamily="34" charset="0"/>
              </a:rPr>
              <a:t>trị bệnh cơ bản gây sốt tùy theo từng bệnh nhân.</a:t>
            </a:r>
            <a:endParaRPr lang="en-US" sz="3000" dirty="0">
              <a:latin typeface="Calibri" pitchFamily="34" charset="0"/>
              <a:cs typeface="Calibri" pitchFamily="34" charset="0"/>
            </a:endParaRPr>
          </a:p>
          <a:p>
            <a:pPr lvl="1"/>
            <a:endParaRPr lang="en-US" sz="3000" dirty="0"/>
          </a:p>
        </p:txBody>
      </p:sp>
    </p:spTree>
    <p:extLst>
      <p:ext uri="{BB962C8B-B14F-4D97-AF65-F5344CB8AC3E}">
        <p14:creationId xmlns:p14="http://schemas.microsoft.com/office/powerpoint/2010/main" val="1918305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vi-VN" sz="2400" dirty="0">
                <a:solidFill>
                  <a:prstClr val="black"/>
                </a:solidFill>
              </a:rPr>
              <a:t>Ngoài ra, trong đợt sốt có thể sử dụng Depakin 20mg/kg/ngày (uống chia 2 lần), hoặc Gardenal (phenobacbital) 5mg/kg/ngày.</a:t>
            </a:r>
            <a:endParaRPr lang="en-US" sz="2400" dirty="0">
              <a:solidFill>
                <a:prstClr val="black"/>
              </a:solidFill>
            </a:endParaRPr>
          </a:p>
          <a:p>
            <a:pPr lvl="0"/>
            <a:r>
              <a:rPr lang="vi-VN" sz="2400" dirty="0">
                <a:solidFill>
                  <a:prstClr val="black"/>
                </a:solidFill>
              </a:rPr>
              <a:t>Điều trị dự phòng ngoài đợt sốt</a:t>
            </a:r>
            <a:endParaRPr lang="en-US" sz="2400" dirty="0">
              <a:solidFill>
                <a:prstClr val="black"/>
              </a:solidFill>
            </a:endParaRPr>
          </a:p>
          <a:p>
            <a:pPr lvl="0">
              <a:buFont typeface="Wingdings" pitchFamily="2" charset="2"/>
              <a:buChar char="ü"/>
            </a:pPr>
            <a:r>
              <a:rPr lang="vi-VN" sz="2400" dirty="0">
                <a:solidFill>
                  <a:prstClr val="black"/>
                </a:solidFill>
              </a:rPr>
              <a:t>Kiểm soát tốt tình trạng tăng thân nhiệt.</a:t>
            </a:r>
            <a:endParaRPr lang="en-US" sz="2400" dirty="0">
              <a:solidFill>
                <a:prstClr val="black"/>
              </a:solidFill>
            </a:endParaRPr>
          </a:p>
          <a:p>
            <a:pPr lvl="0">
              <a:buFont typeface="Wingdings" pitchFamily="2" charset="2"/>
              <a:buChar char="ü"/>
            </a:pPr>
            <a:r>
              <a:rPr lang="vi-VN" sz="2400" dirty="0">
                <a:solidFill>
                  <a:prstClr val="black"/>
                </a:solidFill>
              </a:rPr>
              <a:t>Thuốc kháng động kinh, an thần kinh dùng dài hạn thường không được chỉ định. Một số ít trẻ bị tái phát các cơn co giật thường xuyên hoặc có các yếu tố nguy cơ co giật cao có thể cân nhắc sử dụng.</a:t>
            </a:r>
            <a:endParaRPr lang="en-US" sz="2400" dirty="0">
              <a:solidFill>
                <a:prstClr val="black"/>
              </a:solidFill>
            </a:endParaRPr>
          </a:p>
          <a:p>
            <a:pPr lvl="0">
              <a:buFont typeface="Wingdings" pitchFamily="2" charset="2"/>
              <a:buChar char="ü"/>
            </a:pPr>
            <a:r>
              <a:rPr lang="vi-VN" sz="2400" dirty="0">
                <a:solidFill>
                  <a:prstClr val="black"/>
                </a:solidFill>
              </a:rPr>
              <a:t>Hướng dẫn, tư vấn cho cha mẹ trẻ cách điều trị và hẹn khám lại định kỳ.</a:t>
            </a:r>
            <a:endParaRPr lang="en-US" sz="2400" dirty="0">
              <a:solidFill>
                <a:prstClr val="black"/>
              </a:solidFill>
            </a:endParaRPr>
          </a:p>
          <a:p>
            <a:pPr marL="0" lvl="0" indent="0">
              <a:buNone/>
            </a:pPr>
            <a:endParaRPr lang="en-US" sz="2400" dirty="0">
              <a:solidFill>
                <a:prstClr val="black"/>
              </a:solidFill>
            </a:endParaRPr>
          </a:p>
          <a:p>
            <a:pPr marL="0" indent="0">
              <a:buNone/>
            </a:pPr>
            <a:endParaRPr lang="en-US" sz="2400" dirty="0"/>
          </a:p>
        </p:txBody>
      </p:sp>
    </p:spTree>
    <p:extLst>
      <p:ext uri="{BB962C8B-B14F-4D97-AF65-F5344CB8AC3E}">
        <p14:creationId xmlns:p14="http://schemas.microsoft.com/office/powerpoint/2010/main" val="3286935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TIÊN LƯỢNG</a:t>
            </a:r>
          </a:p>
        </p:txBody>
      </p:sp>
      <p:sp>
        <p:nvSpPr>
          <p:cNvPr id="3" name="Content Placeholder 2"/>
          <p:cNvSpPr>
            <a:spLocks noGrp="1"/>
          </p:cNvSpPr>
          <p:nvPr>
            <p:ph idx="1"/>
          </p:nvPr>
        </p:nvSpPr>
        <p:spPr/>
        <p:txBody>
          <a:bodyPr>
            <a:normAutofit fontScale="47500" lnSpcReduction="20000"/>
          </a:bodyPr>
          <a:lstStyle/>
          <a:p>
            <a:pPr lvl="0"/>
            <a:r>
              <a:rPr lang="en-US" dirty="0"/>
              <a:t> </a:t>
            </a:r>
            <a:r>
              <a:rPr lang="en-US" sz="4400" dirty="0" err="1">
                <a:cs typeface="Arial" pitchFamily="34" charset="0"/>
              </a:rPr>
              <a:t>Hầu</a:t>
            </a:r>
            <a:r>
              <a:rPr lang="en-US" sz="4400" dirty="0">
                <a:cs typeface="Arial" pitchFamily="34" charset="0"/>
              </a:rPr>
              <a:t> </a:t>
            </a:r>
            <a:r>
              <a:rPr lang="en-US" sz="4400" dirty="0" err="1">
                <a:cs typeface="Arial" pitchFamily="34" charset="0"/>
              </a:rPr>
              <a:t>hết</a:t>
            </a:r>
            <a:r>
              <a:rPr lang="en-US" sz="4400" dirty="0">
                <a:cs typeface="Arial" pitchFamily="34" charset="0"/>
              </a:rPr>
              <a:t> </a:t>
            </a:r>
            <a:r>
              <a:rPr lang="en-US" sz="4400" dirty="0" err="1">
                <a:cs typeface="Arial" pitchFamily="34" charset="0"/>
              </a:rPr>
              <a:t>các</a:t>
            </a:r>
            <a:r>
              <a:rPr lang="en-US" sz="4400" dirty="0">
                <a:cs typeface="Arial" pitchFamily="34" charset="0"/>
              </a:rPr>
              <a:t> </a:t>
            </a:r>
            <a:r>
              <a:rPr lang="en-US" sz="4400" dirty="0" err="1">
                <a:cs typeface="Arial" pitchFamily="34" charset="0"/>
              </a:rPr>
              <a:t>bệnh</a:t>
            </a:r>
            <a:r>
              <a:rPr lang="en-US" sz="4400" dirty="0">
                <a:cs typeface="Arial" pitchFamily="34" charset="0"/>
              </a:rPr>
              <a:t> </a:t>
            </a:r>
            <a:r>
              <a:rPr lang="en-US" sz="4400" dirty="0" err="1">
                <a:cs typeface="Arial" pitchFamily="34" charset="0"/>
              </a:rPr>
              <a:t>nhân</a:t>
            </a:r>
            <a:r>
              <a:rPr lang="en-US" sz="4400" dirty="0">
                <a:cs typeface="Arial" pitchFamily="34" charset="0"/>
              </a:rPr>
              <a:t> </a:t>
            </a:r>
            <a:r>
              <a:rPr lang="en-US" sz="4400" dirty="0" err="1">
                <a:cs typeface="Arial" pitchFamily="34" charset="0"/>
              </a:rPr>
              <a:t>tái</a:t>
            </a:r>
            <a:r>
              <a:rPr lang="en-US" sz="4400" dirty="0">
                <a:cs typeface="Arial" pitchFamily="34" charset="0"/>
              </a:rPr>
              <a:t> </a:t>
            </a:r>
            <a:r>
              <a:rPr lang="en-US" sz="4400" dirty="0" err="1">
                <a:cs typeface="Arial" pitchFamily="34" charset="0"/>
              </a:rPr>
              <a:t>phát</a:t>
            </a:r>
            <a:r>
              <a:rPr lang="en-US" sz="4400" dirty="0">
                <a:cs typeface="Arial" pitchFamily="34" charset="0"/>
              </a:rPr>
              <a:t> co </a:t>
            </a:r>
            <a:r>
              <a:rPr lang="en-US" sz="4400" dirty="0" err="1">
                <a:cs typeface="Arial" pitchFamily="34" charset="0"/>
              </a:rPr>
              <a:t>giật</a:t>
            </a:r>
            <a:r>
              <a:rPr lang="en-US" sz="4400" dirty="0">
                <a:cs typeface="Arial" pitchFamily="34" charset="0"/>
              </a:rPr>
              <a:t> </a:t>
            </a:r>
            <a:r>
              <a:rPr lang="en-US" sz="4400" dirty="0" err="1">
                <a:cs typeface="Arial" pitchFamily="34" charset="0"/>
              </a:rPr>
              <a:t>khi</a:t>
            </a:r>
            <a:r>
              <a:rPr lang="en-US" sz="4400" dirty="0">
                <a:cs typeface="Arial" pitchFamily="34" charset="0"/>
              </a:rPr>
              <a:t> </a:t>
            </a:r>
            <a:r>
              <a:rPr lang="en-US" sz="4400" dirty="0" err="1">
                <a:cs typeface="Arial" pitchFamily="34" charset="0"/>
              </a:rPr>
              <a:t>sốt</a:t>
            </a:r>
            <a:r>
              <a:rPr lang="en-US" sz="4400" dirty="0">
                <a:cs typeface="Arial" pitchFamily="34" charset="0"/>
              </a:rPr>
              <a:t> </a:t>
            </a:r>
            <a:r>
              <a:rPr lang="en-US" sz="4400" dirty="0" err="1">
                <a:cs typeface="Arial" pitchFamily="34" charset="0"/>
              </a:rPr>
              <a:t>trong</a:t>
            </a:r>
            <a:r>
              <a:rPr lang="en-US" sz="4400" dirty="0">
                <a:cs typeface="Arial" pitchFamily="34" charset="0"/>
              </a:rPr>
              <a:t> 2 </a:t>
            </a:r>
            <a:r>
              <a:rPr lang="en-US" sz="4400" dirty="0" err="1">
                <a:cs typeface="Arial" pitchFamily="34" charset="0"/>
              </a:rPr>
              <a:t>năm</a:t>
            </a:r>
            <a:r>
              <a:rPr lang="en-US" sz="4400" dirty="0">
                <a:cs typeface="Arial" pitchFamily="34" charset="0"/>
              </a:rPr>
              <a:t>:</a:t>
            </a:r>
          </a:p>
          <a:p>
            <a:pPr lvl="1"/>
            <a:r>
              <a:rPr lang="en-US" sz="4400" dirty="0" err="1">
                <a:cs typeface="Arial" pitchFamily="34" charset="0"/>
              </a:rPr>
              <a:t>Tỉ</a:t>
            </a:r>
            <a:r>
              <a:rPr lang="en-US" sz="4400" dirty="0">
                <a:cs typeface="Arial" pitchFamily="34" charset="0"/>
              </a:rPr>
              <a:t> </a:t>
            </a:r>
            <a:r>
              <a:rPr lang="en-US" sz="4400" dirty="0" err="1">
                <a:cs typeface="Arial" pitchFamily="34" charset="0"/>
              </a:rPr>
              <a:t>lệ</a:t>
            </a:r>
            <a:r>
              <a:rPr lang="en-US" sz="4400" dirty="0">
                <a:cs typeface="Arial" pitchFamily="34" charset="0"/>
              </a:rPr>
              <a:t> </a:t>
            </a:r>
            <a:r>
              <a:rPr lang="en-US" sz="4400" dirty="0" err="1">
                <a:cs typeface="Arial" pitchFamily="34" charset="0"/>
              </a:rPr>
              <a:t>bệnh</a:t>
            </a:r>
            <a:r>
              <a:rPr lang="en-US" sz="4400" dirty="0">
                <a:cs typeface="Arial" pitchFamily="34" charset="0"/>
              </a:rPr>
              <a:t> </a:t>
            </a:r>
            <a:r>
              <a:rPr lang="en-US" sz="4400" dirty="0" err="1">
                <a:cs typeface="Arial" pitchFamily="34" charset="0"/>
              </a:rPr>
              <a:t>nhân</a:t>
            </a:r>
            <a:r>
              <a:rPr lang="en-US" sz="4400" dirty="0">
                <a:cs typeface="Arial" pitchFamily="34" charset="0"/>
              </a:rPr>
              <a:t> </a:t>
            </a:r>
            <a:r>
              <a:rPr lang="en-US" sz="4400" dirty="0" err="1">
                <a:cs typeface="Arial" pitchFamily="34" charset="0"/>
              </a:rPr>
              <a:t>tái</a:t>
            </a:r>
            <a:r>
              <a:rPr lang="en-US" sz="4400" dirty="0">
                <a:cs typeface="Arial" pitchFamily="34" charset="0"/>
              </a:rPr>
              <a:t> </a:t>
            </a:r>
            <a:r>
              <a:rPr lang="en-US" sz="4400" dirty="0" err="1">
                <a:cs typeface="Arial" pitchFamily="34" charset="0"/>
              </a:rPr>
              <a:t>phát</a:t>
            </a:r>
            <a:r>
              <a:rPr lang="en-US" sz="4400" dirty="0">
                <a:cs typeface="Arial" pitchFamily="34" charset="0"/>
              </a:rPr>
              <a:t> 1 </a:t>
            </a:r>
            <a:r>
              <a:rPr lang="en-US" sz="4400" dirty="0" err="1">
                <a:cs typeface="Arial" pitchFamily="34" charset="0"/>
              </a:rPr>
              <a:t>cơn</a:t>
            </a:r>
            <a:r>
              <a:rPr lang="en-US" sz="4400" dirty="0">
                <a:cs typeface="Arial" pitchFamily="34" charset="0"/>
              </a:rPr>
              <a:t> 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là</a:t>
            </a:r>
            <a:r>
              <a:rPr lang="en-US" sz="4400" dirty="0">
                <a:cs typeface="Arial" pitchFamily="34" charset="0"/>
              </a:rPr>
              <a:t> 33-44% </a:t>
            </a:r>
          </a:p>
          <a:p>
            <a:pPr lvl="1"/>
            <a:r>
              <a:rPr lang="en-US" sz="4400" dirty="0" err="1">
                <a:cs typeface="Arial" pitchFamily="34" charset="0"/>
              </a:rPr>
              <a:t>Tỉ</a:t>
            </a:r>
            <a:r>
              <a:rPr lang="en-US" sz="4400" dirty="0">
                <a:cs typeface="Arial" pitchFamily="34" charset="0"/>
              </a:rPr>
              <a:t> </a:t>
            </a:r>
            <a:r>
              <a:rPr lang="en-US" sz="4400" dirty="0" err="1">
                <a:cs typeface="Arial" pitchFamily="34" charset="0"/>
              </a:rPr>
              <a:t>lệ</a:t>
            </a:r>
            <a:r>
              <a:rPr lang="en-US" sz="4400" dirty="0">
                <a:cs typeface="Arial" pitchFamily="34" charset="0"/>
              </a:rPr>
              <a:t> </a:t>
            </a:r>
            <a:r>
              <a:rPr lang="en-US" sz="4400" dirty="0" err="1">
                <a:cs typeface="Arial" pitchFamily="34" charset="0"/>
              </a:rPr>
              <a:t>bệnh</a:t>
            </a:r>
            <a:r>
              <a:rPr lang="en-US" sz="4400" dirty="0">
                <a:cs typeface="Arial" pitchFamily="34" charset="0"/>
              </a:rPr>
              <a:t> </a:t>
            </a:r>
            <a:r>
              <a:rPr lang="en-US" sz="4400" dirty="0" err="1">
                <a:cs typeface="Arial" pitchFamily="34" charset="0"/>
              </a:rPr>
              <a:t>nhân</a:t>
            </a:r>
            <a:r>
              <a:rPr lang="en-US" sz="4400" dirty="0">
                <a:cs typeface="Arial" pitchFamily="34" charset="0"/>
              </a:rPr>
              <a:t> </a:t>
            </a:r>
            <a:r>
              <a:rPr lang="en-US" sz="4400" dirty="0" err="1">
                <a:cs typeface="Arial" pitchFamily="34" charset="0"/>
              </a:rPr>
              <a:t>tái</a:t>
            </a:r>
            <a:r>
              <a:rPr lang="en-US" sz="4400" dirty="0">
                <a:cs typeface="Arial" pitchFamily="34" charset="0"/>
              </a:rPr>
              <a:t> ≥ 2 </a:t>
            </a:r>
            <a:r>
              <a:rPr lang="en-US" sz="4400" dirty="0" err="1">
                <a:cs typeface="Arial" pitchFamily="34" charset="0"/>
              </a:rPr>
              <a:t>cơn</a:t>
            </a:r>
            <a:r>
              <a:rPr lang="en-US" sz="4400" dirty="0">
                <a:cs typeface="Arial" pitchFamily="34" charset="0"/>
              </a:rPr>
              <a:t> 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là</a:t>
            </a:r>
            <a:r>
              <a:rPr lang="en-US" sz="4400" dirty="0">
                <a:cs typeface="Arial" pitchFamily="34" charset="0"/>
              </a:rPr>
              <a:t> 9-20% </a:t>
            </a:r>
          </a:p>
          <a:p>
            <a:pPr lvl="0"/>
            <a:r>
              <a:rPr lang="en-US" sz="4400" dirty="0" err="1">
                <a:cs typeface="Arial" pitchFamily="34" charset="0"/>
              </a:rPr>
              <a:t>Yếu</a:t>
            </a:r>
            <a:r>
              <a:rPr lang="en-US" sz="4400" dirty="0">
                <a:cs typeface="Arial" pitchFamily="34" charset="0"/>
              </a:rPr>
              <a:t> </a:t>
            </a:r>
            <a:r>
              <a:rPr lang="en-US" sz="4400" dirty="0" err="1">
                <a:cs typeface="Arial" pitchFamily="34" charset="0"/>
              </a:rPr>
              <a:t>tố</a:t>
            </a:r>
            <a:r>
              <a:rPr lang="en-US" sz="4400" dirty="0">
                <a:cs typeface="Arial" pitchFamily="34" charset="0"/>
              </a:rPr>
              <a:t> </a:t>
            </a:r>
            <a:r>
              <a:rPr lang="en-US" sz="4400" dirty="0" err="1">
                <a:cs typeface="Arial" pitchFamily="34" charset="0"/>
              </a:rPr>
              <a:t>nguy</a:t>
            </a:r>
            <a:r>
              <a:rPr lang="en-US" sz="4400" dirty="0">
                <a:cs typeface="Arial" pitchFamily="34" charset="0"/>
              </a:rPr>
              <a:t> </a:t>
            </a:r>
            <a:r>
              <a:rPr lang="en-US" sz="4400" dirty="0" err="1">
                <a:cs typeface="Arial" pitchFamily="34" charset="0"/>
              </a:rPr>
              <a:t>cơ</a:t>
            </a:r>
            <a:r>
              <a:rPr lang="en-US" sz="4400" dirty="0">
                <a:cs typeface="Arial" pitchFamily="34" charset="0"/>
              </a:rPr>
              <a:t> </a:t>
            </a:r>
            <a:r>
              <a:rPr lang="en-US" sz="4400" dirty="0" err="1">
                <a:cs typeface="Arial" pitchFamily="34" charset="0"/>
              </a:rPr>
              <a:t>tái</a:t>
            </a:r>
            <a:r>
              <a:rPr lang="en-US" sz="4400" dirty="0">
                <a:cs typeface="Arial" pitchFamily="34" charset="0"/>
              </a:rPr>
              <a:t> </a:t>
            </a:r>
            <a:r>
              <a:rPr lang="en-US" sz="4400" dirty="0" err="1">
                <a:cs typeface="Arial" pitchFamily="34" charset="0"/>
              </a:rPr>
              <a:t>cơn</a:t>
            </a:r>
            <a:r>
              <a:rPr lang="en-US" sz="4400" dirty="0">
                <a:cs typeface="Arial" pitchFamily="34" charset="0"/>
              </a:rPr>
              <a:t> 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cao</a:t>
            </a:r>
            <a:r>
              <a:rPr lang="en-US" sz="4400" dirty="0">
                <a:cs typeface="Arial" pitchFamily="34" charset="0"/>
              </a:rPr>
              <a:t>: </a:t>
            </a:r>
          </a:p>
          <a:p>
            <a:pPr lvl="1"/>
            <a:r>
              <a:rPr lang="en-US" sz="4400" dirty="0" err="1">
                <a:cs typeface="Arial" pitchFamily="34" charset="0"/>
              </a:rPr>
              <a:t>Cơn</a:t>
            </a:r>
            <a:r>
              <a:rPr lang="en-US" sz="4400" dirty="0">
                <a:cs typeface="Arial" pitchFamily="34" charset="0"/>
              </a:rPr>
              <a:t> </a:t>
            </a:r>
            <a:r>
              <a:rPr lang="en-US" sz="4400" dirty="0" err="1">
                <a:cs typeface="Arial" pitchFamily="34" charset="0"/>
              </a:rPr>
              <a:t>giật</a:t>
            </a:r>
            <a:r>
              <a:rPr lang="en-US" sz="4400" dirty="0">
                <a:cs typeface="Arial" pitchFamily="34" charset="0"/>
              </a:rPr>
              <a:t> </a:t>
            </a:r>
            <a:r>
              <a:rPr lang="en-US" sz="4400" dirty="0" err="1">
                <a:cs typeface="Arial" pitchFamily="34" charset="0"/>
              </a:rPr>
              <a:t>đầu</a:t>
            </a:r>
            <a:r>
              <a:rPr lang="en-US" sz="4400" dirty="0">
                <a:cs typeface="Arial" pitchFamily="34" charset="0"/>
              </a:rPr>
              <a:t> </a:t>
            </a:r>
            <a:r>
              <a:rPr lang="en-US" sz="4400" dirty="0" err="1">
                <a:cs typeface="Arial" pitchFamily="34" charset="0"/>
              </a:rPr>
              <a:t>tiên</a:t>
            </a:r>
            <a:r>
              <a:rPr lang="en-US" sz="4400" dirty="0">
                <a:cs typeface="Arial" pitchFamily="34" charset="0"/>
              </a:rPr>
              <a:t> </a:t>
            </a:r>
            <a:r>
              <a:rPr lang="en-US" sz="4400" dirty="0" err="1">
                <a:cs typeface="Arial" pitchFamily="34" charset="0"/>
              </a:rPr>
              <a:t>dưới</a:t>
            </a:r>
            <a:r>
              <a:rPr lang="en-US" sz="4400" dirty="0">
                <a:cs typeface="Arial" pitchFamily="34" charset="0"/>
              </a:rPr>
              <a:t> 1 </a:t>
            </a:r>
            <a:r>
              <a:rPr lang="en-US" sz="4400" dirty="0" err="1">
                <a:cs typeface="Arial" pitchFamily="34" charset="0"/>
              </a:rPr>
              <a:t>tuổi</a:t>
            </a:r>
            <a:r>
              <a:rPr lang="en-US" sz="4400" dirty="0">
                <a:cs typeface="Arial" pitchFamily="34" charset="0"/>
              </a:rPr>
              <a:t> </a:t>
            </a:r>
          </a:p>
          <a:p>
            <a:pPr lvl="1"/>
            <a:r>
              <a:rPr lang="en-US" sz="4400" dirty="0" err="1">
                <a:cs typeface="Arial" pitchFamily="34" charset="0"/>
              </a:rPr>
              <a:t>Tiền</a:t>
            </a:r>
            <a:r>
              <a:rPr lang="en-US" sz="4400" dirty="0">
                <a:cs typeface="Arial" pitchFamily="34" charset="0"/>
              </a:rPr>
              <a:t> </a:t>
            </a:r>
            <a:r>
              <a:rPr lang="en-US" sz="4400" dirty="0" err="1">
                <a:cs typeface="Arial" pitchFamily="34" charset="0"/>
              </a:rPr>
              <a:t>sử</a:t>
            </a:r>
            <a:r>
              <a:rPr lang="en-US" sz="4400" dirty="0">
                <a:cs typeface="Arial" pitchFamily="34" charset="0"/>
              </a:rPr>
              <a:t> </a:t>
            </a:r>
            <a:r>
              <a:rPr lang="en-US" sz="4400" dirty="0" err="1">
                <a:cs typeface="Arial" pitchFamily="34" charset="0"/>
              </a:rPr>
              <a:t>bố</a:t>
            </a:r>
            <a:r>
              <a:rPr lang="en-US" sz="4400" dirty="0">
                <a:cs typeface="Arial" pitchFamily="34" charset="0"/>
              </a:rPr>
              <a:t> </a:t>
            </a:r>
            <a:r>
              <a:rPr lang="en-US" sz="4400" dirty="0" err="1">
                <a:cs typeface="Arial" pitchFamily="34" charset="0"/>
              </a:rPr>
              <a:t>mẹ</a:t>
            </a:r>
            <a:r>
              <a:rPr lang="en-US" sz="4400" dirty="0">
                <a:cs typeface="Arial" pitchFamily="34" charset="0"/>
              </a:rPr>
              <a:t> </a:t>
            </a:r>
            <a:r>
              <a:rPr lang="en-US" sz="4400" dirty="0" err="1">
                <a:cs typeface="Arial" pitchFamily="34" charset="0"/>
              </a:rPr>
              <a:t>bị</a:t>
            </a:r>
            <a:r>
              <a:rPr lang="en-US" sz="4400" dirty="0">
                <a:cs typeface="Arial" pitchFamily="34" charset="0"/>
              </a:rPr>
              <a:t> 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cao</a:t>
            </a:r>
            <a:r>
              <a:rPr lang="en-US" sz="4400" dirty="0">
                <a:cs typeface="Arial" pitchFamily="34" charset="0"/>
              </a:rPr>
              <a:t> </a:t>
            </a:r>
          </a:p>
          <a:p>
            <a:pPr lvl="1"/>
            <a:r>
              <a:rPr lang="en-US" sz="4400" dirty="0">
                <a:cs typeface="Arial" pitchFamily="34" charset="0"/>
              </a:rPr>
              <a:t>Co </a:t>
            </a:r>
            <a:r>
              <a:rPr lang="en-US" sz="4400" dirty="0" err="1">
                <a:cs typeface="Arial" pitchFamily="34" charset="0"/>
              </a:rPr>
              <a:t>giật</a:t>
            </a:r>
            <a:r>
              <a:rPr lang="en-US" sz="4400" dirty="0">
                <a:cs typeface="Arial" pitchFamily="34" charset="0"/>
              </a:rPr>
              <a:t> </a:t>
            </a:r>
            <a:r>
              <a:rPr lang="en-US" sz="4400" dirty="0" err="1">
                <a:cs typeface="Arial" pitchFamily="34" charset="0"/>
              </a:rPr>
              <a:t>khi</a:t>
            </a:r>
            <a:r>
              <a:rPr lang="en-US" sz="4400" dirty="0">
                <a:cs typeface="Arial" pitchFamily="34" charset="0"/>
              </a:rPr>
              <a:t> </a:t>
            </a:r>
            <a:r>
              <a:rPr lang="en-US" sz="4400" dirty="0" err="1">
                <a:cs typeface="Arial" pitchFamily="34" charset="0"/>
              </a:rPr>
              <a:t>sốt</a:t>
            </a:r>
            <a:r>
              <a:rPr lang="en-US" sz="4400" dirty="0">
                <a:cs typeface="Arial" pitchFamily="34" charset="0"/>
              </a:rPr>
              <a:t> </a:t>
            </a:r>
            <a:r>
              <a:rPr lang="en-US" sz="4400" dirty="0" err="1">
                <a:cs typeface="Arial" pitchFamily="34" charset="0"/>
              </a:rPr>
              <a:t>không</a:t>
            </a:r>
            <a:r>
              <a:rPr lang="en-US" sz="4400" dirty="0">
                <a:cs typeface="Arial" pitchFamily="34" charset="0"/>
              </a:rPr>
              <a:t> </a:t>
            </a:r>
            <a:r>
              <a:rPr lang="en-US" sz="4400" dirty="0" err="1">
                <a:cs typeface="Arial" pitchFamily="34" charset="0"/>
              </a:rPr>
              <a:t>cao</a:t>
            </a:r>
            <a:r>
              <a:rPr lang="en-US" sz="4400" dirty="0">
                <a:cs typeface="Arial" pitchFamily="34" charset="0"/>
              </a:rPr>
              <a:t> </a:t>
            </a:r>
          </a:p>
          <a:p>
            <a:pPr lvl="1"/>
            <a:r>
              <a:rPr lang="en-US" sz="4400" dirty="0" err="1">
                <a:cs typeface="Arial" pitchFamily="34" charset="0"/>
              </a:rPr>
              <a:t>Khoảng</a:t>
            </a:r>
            <a:r>
              <a:rPr lang="en-US" sz="4400" dirty="0">
                <a:cs typeface="Arial" pitchFamily="34" charset="0"/>
              </a:rPr>
              <a:t> </a:t>
            </a:r>
            <a:r>
              <a:rPr lang="en-US" sz="4400" dirty="0" err="1">
                <a:cs typeface="Arial" pitchFamily="34" charset="0"/>
              </a:rPr>
              <a:t>thời</a:t>
            </a:r>
            <a:r>
              <a:rPr lang="en-US" sz="4400" dirty="0">
                <a:cs typeface="Arial" pitchFamily="34" charset="0"/>
              </a:rPr>
              <a:t> </a:t>
            </a:r>
            <a:r>
              <a:rPr lang="en-US" sz="4400" dirty="0" err="1">
                <a:cs typeface="Arial" pitchFamily="34" charset="0"/>
              </a:rPr>
              <a:t>gian</a:t>
            </a:r>
            <a:r>
              <a:rPr lang="en-US" sz="4400" dirty="0">
                <a:cs typeface="Arial" pitchFamily="34" charset="0"/>
              </a:rPr>
              <a:t> </a:t>
            </a:r>
            <a:r>
              <a:rPr lang="en-US" sz="4400" dirty="0" err="1">
                <a:cs typeface="Arial" pitchFamily="34" charset="0"/>
              </a:rPr>
              <a:t>từ</a:t>
            </a:r>
            <a:r>
              <a:rPr lang="en-US" sz="4400" dirty="0">
                <a:cs typeface="Arial" pitchFamily="34" charset="0"/>
              </a:rPr>
              <a:t> </a:t>
            </a:r>
            <a:r>
              <a:rPr lang="en-US" sz="4400" dirty="0" err="1">
                <a:cs typeface="Arial" pitchFamily="34" charset="0"/>
              </a:rPr>
              <a:t>khi</a:t>
            </a:r>
            <a:r>
              <a:rPr lang="en-US" sz="4400" dirty="0">
                <a:cs typeface="Arial" pitchFamily="34" charset="0"/>
              </a:rPr>
              <a:t> </a:t>
            </a:r>
            <a:r>
              <a:rPr lang="en-US" sz="4400" dirty="0" err="1">
                <a:cs typeface="Arial" pitchFamily="34" charset="0"/>
              </a:rPr>
              <a:t>sốt</a:t>
            </a:r>
            <a:r>
              <a:rPr lang="en-US" sz="4400" dirty="0">
                <a:cs typeface="Arial" pitchFamily="34" charset="0"/>
              </a:rPr>
              <a:t> </a:t>
            </a:r>
            <a:r>
              <a:rPr lang="en-US" sz="4400" dirty="0" err="1">
                <a:cs typeface="Arial" pitchFamily="34" charset="0"/>
              </a:rPr>
              <a:t>đến</a:t>
            </a:r>
            <a:r>
              <a:rPr lang="en-US" sz="4400" dirty="0">
                <a:cs typeface="Arial" pitchFamily="34" charset="0"/>
              </a:rPr>
              <a:t> </a:t>
            </a:r>
            <a:r>
              <a:rPr lang="en-US" sz="4400" dirty="0" err="1">
                <a:cs typeface="Arial" pitchFamily="34" charset="0"/>
              </a:rPr>
              <a:t>khi</a:t>
            </a:r>
            <a:r>
              <a:rPr lang="en-US" sz="4400" dirty="0">
                <a:cs typeface="Arial" pitchFamily="34" charset="0"/>
              </a:rPr>
              <a:t> </a:t>
            </a:r>
            <a:r>
              <a:rPr lang="en-US" sz="4400" dirty="0" err="1">
                <a:cs typeface="Arial" pitchFamily="34" charset="0"/>
              </a:rPr>
              <a:t>giật</a:t>
            </a:r>
            <a:r>
              <a:rPr lang="en-US" sz="4400" dirty="0">
                <a:cs typeface="Arial" pitchFamily="34" charset="0"/>
              </a:rPr>
              <a:t> </a:t>
            </a:r>
            <a:r>
              <a:rPr lang="en-US" sz="4400" dirty="0" err="1">
                <a:cs typeface="Arial" pitchFamily="34" charset="0"/>
              </a:rPr>
              <a:t>ngắn</a:t>
            </a:r>
            <a:r>
              <a:rPr lang="en-US" sz="4400" dirty="0">
                <a:cs typeface="Arial" pitchFamily="34" charset="0"/>
              </a:rPr>
              <a:t> .</a:t>
            </a:r>
          </a:p>
          <a:p>
            <a:pPr lvl="0"/>
            <a:r>
              <a:rPr lang="en-US" sz="4400" dirty="0" err="1">
                <a:cs typeface="Arial" pitchFamily="34" charset="0"/>
              </a:rPr>
              <a:t>Tỉ</a:t>
            </a:r>
            <a:r>
              <a:rPr lang="en-US" sz="4400" dirty="0">
                <a:cs typeface="Arial" pitchFamily="34" charset="0"/>
              </a:rPr>
              <a:t> </a:t>
            </a:r>
            <a:r>
              <a:rPr lang="en-US" sz="4400" dirty="0" err="1">
                <a:cs typeface="Arial" pitchFamily="34" charset="0"/>
              </a:rPr>
              <a:t>lệ</a:t>
            </a:r>
            <a:r>
              <a:rPr lang="en-US" sz="4400" dirty="0">
                <a:cs typeface="Arial" pitchFamily="34" charset="0"/>
              </a:rPr>
              <a:t> </a:t>
            </a:r>
            <a:r>
              <a:rPr lang="en-US" sz="4400" dirty="0" err="1">
                <a:cs typeface="Arial" pitchFamily="34" charset="0"/>
              </a:rPr>
              <a:t>bệnh</a:t>
            </a:r>
            <a:r>
              <a:rPr lang="en-US" sz="4400" dirty="0">
                <a:cs typeface="Arial" pitchFamily="34" charset="0"/>
              </a:rPr>
              <a:t> </a:t>
            </a:r>
            <a:r>
              <a:rPr lang="en-US" sz="4400" dirty="0" err="1">
                <a:cs typeface="Arial" pitchFamily="34" charset="0"/>
              </a:rPr>
              <a:t>nhân</a:t>
            </a:r>
            <a:r>
              <a:rPr lang="en-US" sz="4400" dirty="0">
                <a:cs typeface="Arial" pitchFamily="34" charset="0"/>
              </a:rPr>
              <a:t> </a:t>
            </a:r>
            <a:r>
              <a:rPr lang="en-US" sz="4400" dirty="0" err="1">
                <a:cs typeface="Arial" pitchFamily="34" charset="0"/>
              </a:rPr>
              <a:t>bị</a:t>
            </a:r>
            <a:r>
              <a:rPr lang="en-US" sz="4400" dirty="0">
                <a:cs typeface="Arial" pitchFamily="34" charset="0"/>
              </a:rPr>
              <a:t> </a:t>
            </a:r>
            <a:r>
              <a:rPr lang="en-US" sz="4400" dirty="0" err="1">
                <a:cs typeface="Arial" pitchFamily="34" charset="0"/>
              </a:rPr>
              <a:t>động</a:t>
            </a:r>
            <a:r>
              <a:rPr lang="en-US" sz="4400" dirty="0">
                <a:cs typeface="Arial" pitchFamily="34" charset="0"/>
              </a:rPr>
              <a:t> </a:t>
            </a:r>
            <a:r>
              <a:rPr lang="en-US" sz="4400" dirty="0" err="1">
                <a:cs typeface="Arial" pitchFamily="34" charset="0"/>
              </a:rPr>
              <a:t>kinh</a:t>
            </a:r>
            <a:r>
              <a:rPr lang="en-US" sz="4400" dirty="0">
                <a:cs typeface="Arial" pitchFamily="34" charset="0"/>
              </a:rPr>
              <a:t> </a:t>
            </a:r>
            <a:r>
              <a:rPr lang="en-US" sz="4400" dirty="0" err="1">
                <a:cs typeface="Arial" pitchFamily="34" charset="0"/>
              </a:rPr>
              <a:t>sau</a:t>
            </a:r>
            <a:r>
              <a:rPr lang="en-US" sz="4400" dirty="0">
                <a:cs typeface="Arial" pitchFamily="34" charset="0"/>
              </a:rPr>
              <a:t> 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cao</a:t>
            </a:r>
            <a:r>
              <a:rPr lang="en-US" sz="4400" dirty="0">
                <a:cs typeface="Arial" pitchFamily="34" charset="0"/>
              </a:rPr>
              <a:t> </a:t>
            </a:r>
          </a:p>
          <a:p>
            <a:pPr lvl="1"/>
            <a:r>
              <a:rPr lang="en-US" sz="4400" dirty="0" err="1">
                <a:cs typeface="Arial" pitchFamily="34" charset="0"/>
              </a:rPr>
              <a:t>Bệnh</a:t>
            </a:r>
            <a:r>
              <a:rPr lang="en-US" sz="4400" dirty="0">
                <a:cs typeface="Arial" pitchFamily="34" charset="0"/>
              </a:rPr>
              <a:t> </a:t>
            </a:r>
            <a:r>
              <a:rPr lang="en-US" sz="4400" dirty="0" err="1">
                <a:cs typeface="Arial" pitchFamily="34" charset="0"/>
              </a:rPr>
              <a:t>nhân</a:t>
            </a:r>
            <a:r>
              <a:rPr lang="en-US" sz="4400" dirty="0">
                <a:cs typeface="Arial" pitchFamily="34" charset="0"/>
              </a:rPr>
              <a:t> </a:t>
            </a:r>
            <a:r>
              <a:rPr lang="en-US" sz="4400" dirty="0" err="1">
                <a:cs typeface="Arial" pitchFamily="34" charset="0"/>
              </a:rPr>
              <a:t>bị</a:t>
            </a:r>
            <a:r>
              <a:rPr lang="en-US" sz="4400" dirty="0">
                <a:cs typeface="Arial" pitchFamily="34" charset="0"/>
              </a:rPr>
              <a:t> 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đơn</a:t>
            </a:r>
            <a:r>
              <a:rPr lang="en-US" sz="4400" dirty="0">
                <a:cs typeface="Arial" pitchFamily="34" charset="0"/>
              </a:rPr>
              <a:t> </a:t>
            </a:r>
            <a:r>
              <a:rPr lang="en-US" sz="4400" dirty="0" err="1">
                <a:cs typeface="Arial" pitchFamily="34" charset="0"/>
              </a:rPr>
              <a:t>thuần</a:t>
            </a:r>
            <a:r>
              <a:rPr lang="en-US" sz="4400" dirty="0">
                <a:cs typeface="Arial" pitchFamily="34" charset="0"/>
              </a:rPr>
              <a:t> ≤ 5% </a:t>
            </a:r>
          </a:p>
          <a:p>
            <a:pPr lvl="1"/>
            <a:r>
              <a:rPr lang="en-US" sz="4400" smtClean="0">
                <a:cs typeface="Arial" pitchFamily="34" charset="0"/>
              </a:rPr>
              <a:t>Co </a:t>
            </a:r>
            <a:r>
              <a:rPr lang="en-US" sz="4400" dirty="0" err="1">
                <a:cs typeface="Arial" pitchFamily="34" charset="0"/>
              </a:rPr>
              <a:t>giật</a:t>
            </a:r>
            <a:r>
              <a:rPr lang="en-US" sz="4400" dirty="0">
                <a:cs typeface="Arial" pitchFamily="34" charset="0"/>
              </a:rPr>
              <a:t> do </a:t>
            </a:r>
            <a:r>
              <a:rPr lang="en-US" sz="4400" dirty="0" err="1">
                <a:cs typeface="Arial" pitchFamily="34" charset="0"/>
              </a:rPr>
              <a:t>sốt</a:t>
            </a:r>
            <a:r>
              <a:rPr lang="en-US" sz="4400" dirty="0">
                <a:cs typeface="Arial" pitchFamily="34" charset="0"/>
              </a:rPr>
              <a:t> </a:t>
            </a:r>
            <a:r>
              <a:rPr lang="en-US" sz="4400" dirty="0" err="1">
                <a:cs typeface="Arial" pitchFamily="34" charset="0"/>
              </a:rPr>
              <a:t>cao</a:t>
            </a:r>
            <a:r>
              <a:rPr lang="en-US" sz="4400" dirty="0">
                <a:cs typeface="Arial" pitchFamily="34" charset="0"/>
              </a:rPr>
              <a:t> </a:t>
            </a:r>
            <a:r>
              <a:rPr lang="en-US" sz="4400" dirty="0" err="1">
                <a:cs typeface="Arial" pitchFamily="34" charset="0"/>
              </a:rPr>
              <a:t>không</a:t>
            </a:r>
            <a:r>
              <a:rPr lang="en-US" sz="4400" dirty="0">
                <a:cs typeface="Arial" pitchFamily="34" charset="0"/>
              </a:rPr>
              <a:t> </a:t>
            </a:r>
            <a:r>
              <a:rPr lang="en-US" sz="4400" dirty="0" err="1">
                <a:cs typeface="Arial" pitchFamily="34" charset="0"/>
              </a:rPr>
              <a:t>ảnh</a:t>
            </a:r>
            <a:r>
              <a:rPr lang="en-US" sz="4400" dirty="0">
                <a:cs typeface="Arial" pitchFamily="34" charset="0"/>
              </a:rPr>
              <a:t> </a:t>
            </a:r>
            <a:r>
              <a:rPr lang="en-US" sz="4400" dirty="0" err="1">
                <a:cs typeface="Arial" pitchFamily="34" charset="0"/>
              </a:rPr>
              <a:t>hưởng</a:t>
            </a:r>
            <a:r>
              <a:rPr lang="en-US" sz="4400" dirty="0">
                <a:cs typeface="Arial" pitchFamily="34" charset="0"/>
              </a:rPr>
              <a:t> </a:t>
            </a:r>
            <a:r>
              <a:rPr lang="en-US" sz="4400" dirty="0" err="1">
                <a:cs typeface="Arial" pitchFamily="34" charset="0"/>
              </a:rPr>
              <a:t>đến</a:t>
            </a:r>
            <a:r>
              <a:rPr lang="en-US" sz="4400" dirty="0">
                <a:cs typeface="Arial" pitchFamily="34" charset="0"/>
              </a:rPr>
              <a:t> </a:t>
            </a:r>
            <a:r>
              <a:rPr lang="en-US" sz="4400" dirty="0" err="1">
                <a:cs typeface="Arial" pitchFamily="34" charset="0"/>
              </a:rPr>
              <a:t>sự</a:t>
            </a:r>
            <a:r>
              <a:rPr lang="en-US" sz="4400" dirty="0">
                <a:cs typeface="Arial" pitchFamily="34" charset="0"/>
              </a:rPr>
              <a:t> </a:t>
            </a:r>
            <a:r>
              <a:rPr lang="en-US" sz="4400" dirty="0" err="1">
                <a:cs typeface="Arial" pitchFamily="34" charset="0"/>
              </a:rPr>
              <a:t>phát</a:t>
            </a:r>
            <a:r>
              <a:rPr lang="en-US" sz="4400" dirty="0">
                <a:cs typeface="Arial" pitchFamily="34" charset="0"/>
              </a:rPr>
              <a:t> </a:t>
            </a:r>
            <a:r>
              <a:rPr lang="en-US" sz="4400" dirty="0" err="1">
                <a:cs typeface="Arial" pitchFamily="34" charset="0"/>
              </a:rPr>
              <a:t>triển</a:t>
            </a:r>
            <a:r>
              <a:rPr lang="en-US" sz="4400" dirty="0">
                <a:cs typeface="Arial" pitchFamily="34" charset="0"/>
              </a:rPr>
              <a:t> </a:t>
            </a:r>
            <a:r>
              <a:rPr lang="en-US" sz="4400" dirty="0" err="1">
                <a:cs typeface="Arial" pitchFamily="34" charset="0"/>
              </a:rPr>
              <a:t>tâm</a:t>
            </a:r>
            <a:r>
              <a:rPr lang="en-US" sz="4400" dirty="0">
                <a:cs typeface="Arial" pitchFamily="34" charset="0"/>
              </a:rPr>
              <a:t> </a:t>
            </a:r>
            <a:r>
              <a:rPr lang="en-US" sz="4400" dirty="0" err="1">
                <a:cs typeface="Arial" pitchFamily="34" charset="0"/>
              </a:rPr>
              <a:t>thần</a:t>
            </a:r>
            <a:r>
              <a:rPr lang="en-US" sz="4400" dirty="0">
                <a:cs typeface="Arial" pitchFamily="34" charset="0"/>
              </a:rPr>
              <a:t> </a:t>
            </a:r>
            <a:r>
              <a:rPr lang="en-US" sz="4400" dirty="0" err="1">
                <a:cs typeface="Arial" pitchFamily="34" charset="0"/>
              </a:rPr>
              <a:t>vận</a:t>
            </a:r>
            <a:r>
              <a:rPr lang="en-US" sz="4400" dirty="0">
                <a:cs typeface="Arial" pitchFamily="34" charset="0"/>
              </a:rPr>
              <a:t> </a:t>
            </a:r>
            <a:r>
              <a:rPr lang="en-US" sz="4400" dirty="0" err="1">
                <a:cs typeface="Arial" pitchFamily="34" charset="0"/>
              </a:rPr>
              <a:t>động</a:t>
            </a:r>
            <a:r>
              <a:rPr lang="en-US" sz="4400" dirty="0">
                <a:cs typeface="Arial" pitchFamily="34" charset="0"/>
              </a:rPr>
              <a:t> </a:t>
            </a:r>
            <a:r>
              <a:rPr lang="en-US" sz="4400" dirty="0" err="1">
                <a:cs typeface="Arial" pitchFamily="34" charset="0"/>
              </a:rPr>
              <a:t>của</a:t>
            </a:r>
            <a:r>
              <a:rPr lang="en-US" sz="4400" dirty="0">
                <a:cs typeface="Arial" pitchFamily="34" charset="0"/>
              </a:rPr>
              <a:t> </a:t>
            </a:r>
            <a:r>
              <a:rPr lang="en-US" sz="4400" dirty="0" err="1">
                <a:cs typeface="Arial" pitchFamily="34" charset="0"/>
              </a:rPr>
              <a:t>trẻ</a:t>
            </a:r>
            <a:r>
              <a:rPr lang="en-US" sz="4400" dirty="0">
                <a:cs typeface="Arial" pitchFamily="34" charset="0"/>
              </a:rPr>
              <a:t> </a:t>
            </a:r>
            <a:r>
              <a:rPr lang="en-US" sz="4400" dirty="0" err="1">
                <a:cs typeface="Arial" pitchFamily="34" charset="0"/>
              </a:rPr>
              <a:t>trừ</a:t>
            </a:r>
            <a:r>
              <a:rPr lang="en-US" sz="4400" dirty="0">
                <a:cs typeface="Arial" pitchFamily="34" charset="0"/>
              </a:rPr>
              <a:t> </a:t>
            </a:r>
            <a:r>
              <a:rPr lang="en-US" sz="4400" dirty="0" err="1">
                <a:cs typeface="Arial" pitchFamily="34" charset="0"/>
              </a:rPr>
              <a:t>nhóm</a:t>
            </a:r>
            <a:r>
              <a:rPr lang="en-US" sz="4400" dirty="0">
                <a:cs typeface="Arial" pitchFamily="34" charset="0"/>
              </a:rPr>
              <a:t> co </a:t>
            </a:r>
            <a:r>
              <a:rPr lang="en-US" sz="4400" dirty="0" err="1">
                <a:cs typeface="Arial" pitchFamily="34" charset="0"/>
              </a:rPr>
              <a:t>giật</a:t>
            </a:r>
            <a:r>
              <a:rPr lang="en-US" sz="4400" dirty="0">
                <a:cs typeface="Arial" pitchFamily="34" charset="0"/>
              </a:rPr>
              <a:t> </a:t>
            </a:r>
            <a:r>
              <a:rPr lang="en-US" sz="4400" dirty="0" err="1">
                <a:cs typeface="Arial" pitchFamily="34" charset="0"/>
              </a:rPr>
              <a:t>kéo</a:t>
            </a:r>
            <a:r>
              <a:rPr lang="en-US" sz="4400" dirty="0">
                <a:cs typeface="Arial" pitchFamily="34" charset="0"/>
              </a:rPr>
              <a:t> </a:t>
            </a:r>
            <a:r>
              <a:rPr lang="en-US" sz="4400" dirty="0" err="1">
                <a:cs typeface="Arial" pitchFamily="34" charset="0"/>
              </a:rPr>
              <a:t>dài</a:t>
            </a:r>
            <a:r>
              <a:rPr lang="en-US" sz="4400" dirty="0">
                <a:cs typeface="Arial" pitchFamily="34" charset="0"/>
              </a:rPr>
              <a:t> </a:t>
            </a:r>
            <a:r>
              <a:rPr lang="en-US" sz="4400" dirty="0" err="1">
                <a:cs typeface="Arial" pitchFamily="34" charset="0"/>
              </a:rPr>
              <a:t>hoặc</a:t>
            </a:r>
            <a:r>
              <a:rPr lang="en-US" sz="4400" dirty="0">
                <a:cs typeface="Arial" pitchFamily="34" charset="0"/>
              </a:rPr>
              <a:t> </a:t>
            </a:r>
            <a:r>
              <a:rPr lang="en-US" sz="4400" dirty="0" err="1">
                <a:cs typeface="Arial" pitchFamily="34" charset="0"/>
              </a:rPr>
              <a:t>nhóm</a:t>
            </a:r>
            <a:r>
              <a:rPr lang="en-US" sz="4400" dirty="0">
                <a:cs typeface="Arial" pitchFamily="34" charset="0"/>
              </a:rPr>
              <a:t> </a:t>
            </a:r>
            <a:r>
              <a:rPr lang="en-US" sz="4400" dirty="0" err="1">
                <a:cs typeface="Arial" pitchFamily="34" charset="0"/>
              </a:rPr>
              <a:t>có</a:t>
            </a:r>
            <a:r>
              <a:rPr lang="en-US" sz="4400" dirty="0">
                <a:cs typeface="Arial" pitchFamily="34" charset="0"/>
              </a:rPr>
              <a:t> </a:t>
            </a:r>
            <a:r>
              <a:rPr lang="en-US" sz="4400" dirty="0" err="1">
                <a:cs typeface="Arial" pitchFamily="34" charset="0"/>
              </a:rPr>
              <a:t>tổn</a:t>
            </a:r>
            <a:r>
              <a:rPr lang="en-US" sz="4400" dirty="0">
                <a:cs typeface="Arial" pitchFamily="34" charset="0"/>
              </a:rPr>
              <a:t> </a:t>
            </a:r>
            <a:r>
              <a:rPr lang="en-US" sz="4400" dirty="0" err="1">
                <a:cs typeface="Arial" pitchFamily="34" charset="0"/>
              </a:rPr>
              <a:t>thương</a:t>
            </a:r>
            <a:r>
              <a:rPr lang="en-US" sz="4400" dirty="0">
                <a:cs typeface="Arial" pitchFamily="34" charset="0"/>
              </a:rPr>
              <a:t> </a:t>
            </a:r>
            <a:r>
              <a:rPr lang="en-US" sz="4400" dirty="0" err="1">
                <a:cs typeface="Arial" pitchFamily="34" charset="0"/>
              </a:rPr>
              <a:t>thùy</a:t>
            </a:r>
            <a:r>
              <a:rPr lang="en-US" sz="4400" dirty="0">
                <a:cs typeface="Arial" pitchFamily="34" charset="0"/>
              </a:rPr>
              <a:t> </a:t>
            </a:r>
            <a:r>
              <a:rPr lang="en-US" sz="4400" err="1">
                <a:cs typeface="Arial" pitchFamily="34" charset="0"/>
              </a:rPr>
              <a:t>thái</a:t>
            </a:r>
            <a:r>
              <a:rPr lang="en-US" sz="4400">
                <a:cs typeface="Arial" pitchFamily="34" charset="0"/>
              </a:rPr>
              <a:t> </a:t>
            </a:r>
            <a:r>
              <a:rPr lang="en-US" sz="4400" smtClean="0">
                <a:cs typeface="Arial" pitchFamily="34" charset="0"/>
              </a:rPr>
              <a:t>dương</a:t>
            </a:r>
            <a:endParaRPr lang="en-US" sz="4400" dirty="0">
              <a:cs typeface="Arial" pitchFamily="34" charset="0"/>
            </a:endParaRPr>
          </a:p>
        </p:txBody>
      </p:sp>
    </p:spTree>
    <p:extLst>
      <p:ext uri="{BB962C8B-B14F-4D97-AF65-F5344CB8AC3E}">
        <p14:creationId xmlns:p14="http://schemas.microsoft.com/office/powerpoint/2010/main" val="1748647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Tư vấn</a:t>
            </a:r>
            <a:endParaRPr lang="en-US"/>
          </a:p>
        </p:txBody>
      </p:sp>
      <p:sp>
        <p:nvSpPr>
          <p:cNvPr id="3" name="Content Placeholder 2"/>
          <p:cNvSpPr>
            <a:spLocks noGrp="1"/>
          </p:cNvSpPr>
          <p:nvPr>
            <p:ph idx="1"/>
          </p:nvPr>
        </p:nvSpPr>
        <p:spPr/>
        <p:txBody>
          <a:bodyPr>
            <a:normAutofit fontScale="62500" lnSpcReduction="20000"/>
          </a:bodyPr>
          <a:lstStyle/>
          <a:p>
            <a:pPr lvl="0"/>
            <a:r>
              <a:rPr lang="en-US"/>
              <a:t>Một cơn sốt cao co giật thường gây một tâm lý hết sức khó chịu.</a:t>
            </a:r>
          </a:p>
          <a:p>
            <a:pPr lvl="0"/>
            <a:r>
              <a:rPr lang="en-US" smtClean="0"/>
              <a:t>Nên </a:t>
            </a:r>
            <a:r>
              <a:rPr lang="en-US"/>
              <a:t>cung cấp các thông tin về điều trị các cơn co giật sau đó và xử trí ban đầu:</a:t>
            </a:r>
          </a:p>
          <a:p>
            <a:pPr lvl="0">
              <a:buFont typeface="Wingdings" pitchFamily="2" charset="2"/>
              <a:buChar char="Ø"/>
            </a:pPr>
            <a:r>
              <a:rPr lang="en-US"/>
              <a:t>Để trẻ nằm yên tránh kích thích nhiều.</a:t>
            </a:r>
          </a:p>
          <a:p>
            <a:pPr lvl="0">
              <a:buFont typeface="Wingdings" pitchFamily="2" charset="2"/>
              <a:buChar char="Ø"/>
            </a:pPr>
            <a:r>
              <a:rPr lang="en-US"/>
              <a:t>Trong cơn co giật để trẻ nằm ngửa đầu hơi nghiêng sang 1 bên,cởi bỏ hết quần áo để trẻ dễ thở và hạ thân nhiệt.</a:t>
            </a:r>
          </a:p>
          <a:p>
            <a:pPr lvl="0">
              <a:buFont typeface="Wingdings" pitchFamily="2" charset="2"/>
              <a:buChar char="Ø"/>
            </a:pPr>
            <a:r>
              <a:rPr lang="en-US"/>
              <a:t>Dùng vật mềm đặt giữa 2 hàm răng để trẻ khỏi cắn phải lưỡi.Tuyệt đối không dùng vật cứng ngáng miệng trẻ để tránh gãy răng,không giữ chặt trẻ để tránh gãy xương.</a:t>
            </a:r>
          </a:p>
          <a:p>
            <a:pPr lvl="0">
              <a:buFont typeface="Wingdings" pitchFamily="2" charset="2"/>
              <a:buChar char="Ø"/>
            </a:pPr>
            <a:r>
              <a:rPr lang="en-US"/>
              <a:t>Khi ngưng cơn co giật phải đưa trẻ về tư thế an toàn (lật nghiêng trẻ sang 1 bên,đầu hơi ngửa ra sau) để nếu có nôn thì chất nôn không trào ngược vào đường hô hấp.</a:t>
            </a:r>
          </a:p>
          <a:p>
            <a:pPr lvl="0">
              <a:buFont typeface="Wingdings" pitchFamily="2" charset="2"/>
              <a:buChar char="Ø"/>
            </a:pPr>
            <a:r>
              <a:rPr lang="en-US"/>
              <a:t>Dùng khăn nhúng nước ấm lau người trẻ nhiều lần vùng nách và bẹn để hạ nhiệt, làm mát môi trường xung quanh, hạn chế người quanh trẻ, mở thông thoáng cửa sổ.</a:t>
            </a:r>
          </a:p>
          <a:p>
            <a:pPr lvl="0">
              <a:buFont typeface="Wingdings" pitchFamily="2" charset="2"/>
              <a:buChar char="Ø"/>
            </a:pPr>
            <a:r>
              <a:rPr lang="en-US"/>
              <a:t>Dùng thuốc hạ sốt đặt hậu môn 15-20mg/kg.</a:t>
            </a:r>
          </a:p>
          <a:p>
            <a:pPr marL="0" indent="0">
              <a:buNone/>
            </a:pPr>
            <a:endParaRPr lang="en-US"/>
          </a:p>
        </p:txBody>
      </p:sp>
    </p:spTree>
    <p:extLst>
      <p:ext uri="{BB962C8B-B14F-4D97-AF65-F5344CB8AC3E}">
        <p14:creationId xmlns:p14="http://schemas.microsoft.com/office/powerpoint/2010/main" val="20034092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2024" y="1600200"/>
            <a:ext cx="5839952" cy="4525963"/>
          </a:xfrm>
        </p:spPr>
      </p:pic>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7038312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Câu</a:t>
            </a:r>
            <a:r>
              <a:rPr lang="en-US" dirty="0" smtClean="0"/>
              <a:t> </a:t>
            </a:r>
            <a:r>
              <a:rPr lang="en-US" dirty="0" err="1" smtClean="0"/>
              <a:t>hỏi</a:t>
            </a:r>
            <a:r>
              <a:rPr lang="en-US" dirty="0" smtClean="0"/>
              <a:t> </a:t>
            </a:r>
            <a:r>
              <a:rPr lang="en-US" dirty="0" err="1" smtClean="0"/>
              <a:t>lượng</a:t>
            </a:r>
            <a:r>
              <a:rPr lang="en-US" dirty="0" smtClean="0"/>
              <a:t> </a:t>
            </a:r>
            <a:r>
              <a:rPr lang="en-US" dirty="0" err="1" smtClean="0"/>
              <a:t>giá</a:t>
            </a:r>
            <a:endParaRPr lang="en-US" dirty="0"/>
          </a:p>
        </p:txBody>
      </p:sp>
      <p:sp>
        <p:nvSpPr>
          <p:cNvPr id="3" name="Content Placeholder 2"/>
          <p:cNvSpPr>
            <a:spLocks noGrp="1"/>
          </p:cNvSpPr>
          <p:nvPr>
            <p:ph idx="1"/>
          </p:nvPr>
        </p:nvSpPr>
        <p:spPr/>
        <p:txBody>
          <a:bodyPr/>
          <a:lstStyle/>
          <a:p>
            <a:pPr marL="0" indent="0">
              <a:buNone/>
            </a:pPr>
            <a:r>
              <a:rPr lang="en-US" err="1" smtClean="0"/>
              <a:t>Câu</a:t>
            </a:r>
            <a:r>
              <a:rPr lang="en-US" smtClean="0"/>
              <a:t> </a:t>
            </a:r>
            <a:r>
              <a:rPr lang="en-US" smtClean="0"/>
              <a:t>1. </a:t>
            </a:r>
            <a:r>
              <a:rPr lang="en-US" dirty="0" err="1" smtClean="0"/>
              <a:t>Sốt</a:t>
            </a:r>
            <a:r>
              <a:rPr lang="en-US" dirty="0" smtClean="0"/>
              <a:t> </a:t>
            </a:r>
            <a:r>
              <a:rPr lang="en-US" dirty="0" err="1" smtClean="0"/>
              <a:t>cao</a:t>
            </a:r>
            <a:r>
              <a:rPr lang="en-US" dirty="0" smtClean="0"/>
              <a:t> co </a:t>
            </a:r>
            <a:r>
              <a:rPr lang="en-US" dirty="0" err="1" smtClean="0"/>
              <a:t>giật</a:t>
            </a:r>
            <a:r>
              <a:rPr lang="en-US" dirty="0" smtClean="0"/>
              <a:t> </a:t>
            </a:r>
            <a:r>
              <a:rPr lang="en-US" dirty="0" err="1" smtClean="0"/>
              <a:t>đơn</a:t>
            </a:r>
            <a:r>
              <a:rPr lang="en-US" dirty="0" smtClean="0"/>
              <a:t> </a:t>
            </a:r>
            <a:r>
              <a:rPr lang="en-US" dirty="0" err="1" smtClean="0"/>
              <a:t>giản</a:t>
            </a:r>
            <a:r>
              <a:rPr lang="en-US" dirty="0" smtClean="0"/>
              <a:t> </a:t>
            </a:r>
            <a:r>
              <a:rPr lang="en-US" dirty="0" err="1" smtClean="0"/>
              <a:t>có</a:t>
            </a:r>
            <a:r>
              <a:rPr lang="en-US" dirty="0" smtClean="0"/>
              <a:t> </a:t>
            </a:r>
            <a:r>
              <a:rPr lang="en-US" dirty="0" err="1" smtClean="0"/>
              <a:t>tính</a:t>
            </a:r>
            <a:r>
              <a:rPr lang="en-US" dirty="0" smtClean="0"/>
              <a:t> </a:t>
            </a:r>
            <a:r>
              <a:rPr lang="en-US" dirty="0" err="1" smtClean="0"/>
              <a:t>chất</a:t>
            </a:r>
            <a:r>
              <a:rPr lang="en-US" dirty="0" smtClean="0"/>
              <a:t> </a:t>
            </a:r>
            <a:r>
              <a:rPr lang="en-US" dirty="0" err="1" smtClean="0"/>
              <a:t>sau</a:t>
            </a:r>
            <a:r>
              <a:rPr lang="en-US" dirty="0" smtClean="0"/>
              <a:t> </a:t>
            </a:r>
            <a:r>
              <a:rPr lang="en-US" dirty="0" err="1" smtClean="0"/>
              <a:t>đây</a:t>
            </a:r>
            <a:r>
              <a:rPr lang="en-US" dirty="0"/>
              <a:t> </a:t>
            </a:r>
            <a:r>
              <a:rPr lang="en-US" dirty="0" smtClean="0"/>
              <a:t>: </a:t>
            </a:r>
          </a:p>
          <a:p>
            <a:pPr marL="514350" indent="-514350">
              <a:buFont typeface="+mj-lt"/>
              <a:buAutoNum type="alphaUcPeriod"/>
            </a:pPr>
            <a:r>
              <a:rPr lang="en-US" dirty="0" err="1" smtClean="0"/>
              <a:t>Tuổi</a:t>
            </a:r>
            <a:r>
              <a:rPr lang="en-US" dirty="0" smtClean="0"/>
              <a:t> </a:t>
            </a:r>
            <a:r>
              <a:rPr lang="en-US" dirty="0" err="1" smtClean="0"/>
              <a:t>dễ</a:t>
            </a:r>
            <a:r>
              <a:rPr lang="en-US" dirty="0" smtClean="0"/>
              <a:t> </a:t>
            </a:r>
            <a:r>
              <a:rPr lang="en-US" dirty="0" err="1" smtClean="0"/>
              <a:t>bị</a:t>
            </a:r>
            <a:r>
              <a:rPr lang="en-US" dirty="0" smtClean="0"/>
              <a:t> </a:t>
            </a:r>
            <a:r>
              <a:rPr lang="en-US" dirty="0" err="1" smtClean="0"/>
              <a:t>bệnh</a:t>
            </a:r>
            <a:r>
              <a:rPr lang="en-US" dirty="0" smtClean="0"/>
              <a:t> </a:t>
            </a:r>
            <a:r>
              <a:rPr lang="en-US" dirty="0" err="1" smtClean="0"/>
              <a:t>này</a:t>
            </a:r>
            <a:r>
              <a:rPr lang="en-US" dirty="0" smtClean="0"/>
              <a:t> </a:t>
            </a:r>
            <a:r>
              <a:rPr lang="en-US" dirty="0" err="1" smtClean="0"/>
              <a:t>là</a:t>
            </a:r>
            <a:r>
              <a:rPr lang="en-US" dirty="0" smtClean="0"/>
              <a:t> </a:t>
            </a:r>
            <a:r>
              <a:rPr lang="en-US" dirty="0" err="1" smtClean="0"/>
              <a:t>nhỏ</a:t>
            </a:r>
            <a:r>
              <a:rPr lang="en-US" dirty="0" smtClean="0"/>
              <a:t> </a:t>
            </a:r>
            <a:r>
              <a:rPr lang="en-US" dirty="0" err="1" smtClean="0"/>
              <a:t>hơn</a:t>
            </a:r>
            <a:r>
              <a:rPr lang="en-US" dirty="0" smtClean="0"/>
              <a:t> 6 </a:t>
            </a:r>
            <a:r>
              <a:rPr lang="en-US" dirty="0" err="1" smtClean="0"/>
              <a:t>tháng</a:t>
            </a:r>
            <a:r>
              <a:rPr lang="en-US" dirty="0" smtClean="0"/>
              <a:t>.</a:t>
            </a:r>
          </a:p>
          <a:p>
            <a:pPr marL="514350" indent="-514350">
              <a:buFont typeface="+mj-lt"/>
              <a:buAutoNum type="alphaUcPeriod"/>
            </a:pPr>
            <a:r>
              <a:rPr lang="en-US" dirty="0" err="1" smtClean="0"/>
              <a:t>Thuốc</a:t>
            </a:r>
            <a:r>
              <a:rPr lang="en-US" dirty="0" smtClean="0"/>
              <a:t> </a:t>
            </a:r>
            <a:r>
              <a:rPr lang="en-US" dirty="0" err="1" smtClean="0"/>
              <a:t>chống</a:t>
            </a:r>
            <a:r>
              <a:rPr lang="en-US" dirty="0" smtClean="0"/>
              <a:t> co </a:t>
            </a:r>
            <a:r>
              <a:rPr lang="en-US" dirty="0" err="1" smtClean="0"/>
              <a:t>giật</a:t>
            </a:r>
            <a:r>
              <a:rPr lang="en-US" dirty="0" smtClean="0"/>
              <a:t> </a:t>
            </a:r>
            <a:r>
              <a:rPr lang="en-US" dirty="0" err="1" smtClean="0"/>
              <a:t>ưu</a:t>
            </a:r>
            <a:r>
              <a:rPr lang="en-US" dirty="0" smtClean="0"/>
              <a:t> </a:t>
            </a:r>
            <a:r>
              <a:rPr lang="en-US" dirty="0" err="1" smtClean="0"/>
              <a:t>tiên</a:t>
            </a:r>
            <a:r>
              <a:rPr lang="en-US" dirty="0" smtClean="0"/>
              <a:t> </a:t>
            </a:r>
            <a:r>
              <a:rPr lang="en-US" dirty="0" err="1" smtClean="0"/>
              <a:t>sử</a:t>
            </a:r>
            <a:r>
              <a:rPr lang="en-US" dirty="0" smtClean="0"/>
              <a:t> </a:t>
            </a:r>
            <a:r>
              <a:rPr lang="en-US" dirty="0" err="1" smtClean="0"/>
              <a:t>dụng</a:t>
            </a:r>
            <a:r>
              <a:rPr lang="en-US" dirty="0" smtClean="0"/>
              <a:t> ở </a:t>
            </a:r>
            <a:r>
              <a:rPr lang="en-US" dirty="0" err="1" smtClean="0"/>
              <a:t>bệnh</a:t>
            </a:r>
            <a:r>
              <a:rPr lang="en-US" dirty="0" smtClean="0"/>
              <a:t> </a:t>
            </a:r>
            <a:r>
              <a:rPr lang="en-US" dirty="0" err="1" smtClean="0"/>
              <a:t>này</a:t>
            </a:r>
            <a:r>
              <a:rPr lang="en-US" dirty="0" smtClean="0"/>
              <a:t> </a:t>
            </a:r>
            <a:r>
              <a:rPr lang="en-US" dirty="0" err="1" smtClean="0"/>
              <a:t>là</a:t>
            </a:r>
            <a:r>
              <a:rPr lang="en-US" dirty="0" smtClean="0"/>
              <a:t> phenobarbital.</a:t>
            </a:r>
          </a:p>
          <a:p>
            <a:pPr marL="514350" indent="-514350">
              <a:buFont typeface="+mj-lt"/>
              <a:buAutoNum type="alphaUcPeriod"/>
            </a:pPr>
            <a:r>
              <a:rPr lang="en-US" dirty="0" err="1" smtClean="0"/>
              <a:t>Không</a:t>
            </a:r>
            <a:r>
              <a:rPr lang="en-US" dirty="0" smtClean="0"/>
              <a:t> </a:t>
            </a:r>
            <a:r>
              <a:rPr lang="en-US" dirty="0" err="1" smtClean="0"/>
              <a:t>cần</a:t>
            </a:r>
            <a:r>
              <a:rPr lang="en-US" dirty="0" smtClean="0"/>
              <a:t> </a:t>
            </a:r>
            <a:r>
              <a:rPr lang="en-US" dirty="0" err="1" smtClean="0"/>
              <a:t>phải</a:t>
            </a:r>
            <a:r>
              <a:rPr lang="en-US" dirty="0" smtClean="0"/>
              <a:t> </a:t>
            </a:r>
            <a:r>
              <a:rPr lang="en-US" dirty="0" err="1" smtClean="0"/>
              <a:t>điều</a:t>
            </a:r>
            <a:r>
              <a:rPr lang="en-US" dirty="0" smtClean="0"/>
              <a:t> </a:t>
            </a:r>
            <a:r>
              <a:rPr lang="en-US" dirty="0" err="1" smtClean="0"/>
              <a:t>trị</a:t>
            </a:r>
            <a:r>
              <a:rPr lang="en-US" dirty="0" smtClean="0"/>
              <a:t> </a:t>
            </a:r>
            <a:r>
              <a:rPr lang="en-US" dirty="0" err="1" smtClean="0"/>
              <a:t>phòng</a:t>
            </a:r>
            <a:r>
              <a:rPr lang="en-US" dirty="0" smtClean="0"/>
              <a:t> </a:t>
            </a:r>
            <a:r>
              <a:rPr lang="en-US" dirty="0" err="1" smtClean="0"/>
              <a:t>ngừa</a:t>
            </a:r>
            <a:r>
              <a:rPr lang="en-US" dirty="0" smtClean="0"/>
              <a:t>.</a:t>
            </a:r>
          </a:p>
          <a:p>
            <a:pPr marL="514350" indent="-514350">
              <a:buFont typeface="+mj-lt"/>
              <a:buAutoNum type="alphaUcPeriod"/>
            </a:pPr>
            <a:r>
              <a:rPr lang="en-US" dirty="0" err="1" smtClean="0"/>
              <a:t>Có</a:t>
            </a:r>
            <a:r>
              <a:rPr lang="en-US" dirty="0" smtClean="0"/>
              <a:t> </a:t>
            </a:r>
            <a:r>
              <a:rPr lang="en-US" dirty="0" err="1" smtClean="0"/>
              <a:t>chỉ</a:t>
            </a:r>
            <a:r>
              <a:rPr lang="en-US" dirty="0" smtClean="0"/>
              <a:t> </a:t>
            </a:r>
            <a:r>
              <a:rPr lang="en-US" dirty="0" err="1" smtClean="0"/>
              <a:t>định</a:t>
            </a:r>
            <a:r>
              <a:rPr lang="en-US" dirty="0" smtClean="0"/>
              <a:t> </a:t>
            </a:r>
            <a:r>
              <a:rPr lang="en-US" dirty="0" err="1" smtClean="0"/>
              <a:t>đo</a:t>
            </a:r>
            <a:r>
              <a:rPr lang="en-US" dirty="0" smtClean="0"/>
              <a:t> EEG.</a:t>
            </a:r>
          </a:p>
          <a:p>
            <a:pPr marL="514350" indent="-514350">
              <a:buFont typeface="+mj-lt"/>
              <a:buAutoNum type="alphaUcPeriod"/>
            </a:pPr>
            <a:r>
              <a:rPr lang="en-US" dirty="0" err="1" smtClean="0"/>
              <a:t>Phải</a:t>
            </a:r>
            <a:r>
              <a:rPr lang="en-US" dirty="0" smtClean="0"/>
              <a:t> </a:t>
            </a:r>
            <a:r>
              <a:rPr lang="en-US" dirty="0" err="1" smtClean="0"/>
              <a:t>chọc</a:t>
            </a:r>
            <a:r>
              <a:rPr lang="en-US" dirty="0" smtClean="0"/>
              <a:t> </a:t>
            </a:r>
            <a:r>
              <a:rPr lang="en-US" dirty="0" err="1" smtClean="0"/>
              <a:t>dò</a:t>
            </a:r>
            <a:r>
              <a:rPr lang="en-US" dirty="0" smtClean="0"/>
              <a:t> </a:t>
            </a:r>
            <a:r>
              <a:rPr lang="en-US" dirty="0" err="1" smtClean="0"/>
              <a:t>tủy</a:t>
            </a:r>
            <a:r>
              <a:rPr lang="en-US" dirty="0" smtClean="0"/>
              <a:t> </a:t>
            </a:r>
            <a:r>
              <a:rPr lang="en-US" dirty="0" err="1" smtClean="0"/>
              <a:t>sống</a:t>
            </a:r>
            <a:r>
              <a:rPr lang="en-US" dirty="0" smtClean="0"/>
              <a:t>.</a:t>
            </a:r>
          </a:p>
          <a:p>
            <a:pPr marL="514350" indent="-514350">
              <a:buFont typeface="+mj-lt"/>
              <a:buAutoNum type="alphaUcPeriod"/>
            </a:pPr>
            <a:endParaRPr lang="en-US" dirty="0" smtClean="0"/>
          </a:p>
        </p:txBody>
      </p:sp>
    </p:spTree>
    <p:extLst>
      <p:ext uri="{BB962C8B-B14F-4D97-AF65-F5344CB8AC3E}">
        <p14:creationId xmlns:p14="http://schemas.microsoft.com/office/powerpoint/2010/main" val="37698401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Câu</a:t>
            </a:r>
            <a:r>
              <a:rPr lang="en-US" dirty="0" smtClean="0"/>
              <a:t> </a:t>
            </a:r>
            <a:r>
              <a:rPr lang="en-US" dirty="0" err="1" smtClean="0"/>
              <a:t>hỏi</a:t>
            </a:r>
            <a:r>
              <a:rPr lang="en-US" dirty="0" smtClean="0"/>
              <a:t> </a:t>
            </a:r>
            <a:r>
              <a:rPr lang="en-US" dirty="0" err="1" smtClean="0"/>
              <a:t>lượng</a:t>
            </a:r>
            <a:r>
              <a:rPr lang="en-US" dirty="0" smtClean="0"/>
              <a:t> </a:t>
            </a:r>
            <a:r>
              <a:rPr lang="en-US" dirty="0" err="1" smtClean="0"/>
              <a:t>giá</a:t>
            </a:r>
            <a:endParaRPr lang="en-US" dirty="0"/>
          </a:p>
        </p:txBody>
      </p:sp>
      <p:sp>
        <p:nvSpPr>
          <p:cNvPr id="3" name="Content Placeholder 2"/>
          <p:cNvSpPr>
            <a:spLocks noGrp="1"/>
          </p:cNvSpPr>
          <p:nvPr>
            <p:ph idx="1"/>
          </p:nvPr>
        </p:nvSpPr>
        <p:spPr/>
        <p:txBody>
          <a:bodyPr/>
          <a:lstStyle/>
          <a:p>
            <a:pPr marL="0" indent="0">
              <a:buNone/>
            </a:pPr>
            <a:r>
              <a:rPr lang="en-US" err="1" smtClean="0"/>
              <a:t>Câu</a:t>
            </a:r>
            <a:r>
              <a:rPr lang="en-US" smtClean="0"/>
              <a:t> </a:t>
            </a:r>
            <a:r>
              <a:rPr lang="en-US" smtClean="0"/>
              <a:t>2 </a:t>
            </a:r>
            <a:r>
              <a:rPr lang="en-US" dirty="0" smtClean="0"/>
              <a:t>: </a:t>
            </a:r>
            <a:r>
              <a:rPr lang="en-US" dirty="0" err="1" smtClean="0"/>
              <a:t>Một</a:t>
            </a:r>
            <a:r>
              <a:rPr lang="en-US" dirty="0" smtClean="0"/>
              <a:t> </a:t>
            </a:r>
            <a:r>
              <a:rPr lang="en-US" dirty="0" err="1" smtClean="0"/>
              <a:t>trong</a:t>
            </a:r>
            <a:r>
              <a:rPr lang="en-US" dirty="0" smtClean="0"/>
              <a:t> 5 </a:t>
            </a:r>
            <a:r>
              <a:rPr lang="en-US" dirty="0" err="1" smtClean="0"/>
              <a:t>chỉ</a:t>
            </a:r>
            <a:r>
              <a:rPr lang="en-US" dirty="0" smtClean="0"/>
              <a:t> </a:t>
            </a:r>
            <a:r>
              <a:rPr lang="en-US" dirty="0" err="1" smtClean="0"/>
              <a:t>định</a:t>
            </a:r>
            <a:r>
              <a:rPr lang="en-US" dirty="0" smtClean="0"/>
              <a:t> </a:t>
            </a:r>
            <a:r>
              <a:rPr lang="en-US" dirty="0" err="1" smtClean="0"/>
              <a:t>chọc</a:t>
            </a:r>
            <a:r>
              <a:rPr lang="en-US" dirty="0" smtClean="0"/>
              <a:t> </a:t>
            </a:r>
            <a:r>
              <a:rPr lang="en-US" dirty="0" err="1" smtClean="0"/>
              <a:t>dò</a:t>
            </a:r>
            <a:r>
              <a:rPr lang="en-US" dirty="0" smtClean="0"/>
              <a:t> </a:t>
            </a:r>
            <a:r>
              <a:rPr lang="en-US" dirty="0" err="1" smtClean="0"/>
              <a:t>tủy</a:t>
            </a:r>
            <a:r>
              <a:rPr lang="en-US" dirty="0"/>
              <a:t> </a:t>
            </a:r>
            <a:r>
              <a:rPr lang="en-US" dirty="0" err="1" smtClean="0"/>
              <a:t>sống</a:t>
            </a:r>
            <a:r>
              <a:rPr lang="en-US" dirty="0" smtClean="0"/>
              <a:t> </a:t>
            </a:r>
            <a:r>
              <a:rPr lang="en-US" dirty="0" err="1" smtClean="0"/>
              <a:t>trong</a:t>
            </a:r>
            <a:r>
              <a:rPr lang="en-US" dirty="0" smtClean="0"/>
              <a:t> co </a:t>
            </a:r>
            <a:r>
              <a:rPr lang="en-US" dirty="0" err="1" smtClean="0"/>
              <a:t>giật</a:t>
            </a:r>
            <a:r>
              <a:rPr lang="en-US" dirty="0" smtClean="0"/>
              <a:t> ở </a:t>
            </a:r>
            <a:r>
              <a:rPr lang="en-US" dirty="0" err="1" smtClean="0"/>
              <a:t>trẻ</a:t>
            </a:r>
            <a:r>
              <a:rPr lang="en-US" dirty="0" smtClean="0"/>
              <a:t> </a:t>
            </a:r>
            <a:r>
              <a:rPr lang="en-US" dirty="0" err="1" smtClean="0"/>
              <a:t>em</a:t>
            </a:r>
            <a:endParaRPr lang="en-US" dirty="0" smtClean="0"/>
          </a:p>
          <a:p>
            <a:pPr marL="514350" indent="-514350">
              <a:buFont typeface="+mj-lt"/>
              <a:buAutoNum type="alphaUcPeriod"/>
            </a:pPr>
            <a:r>
              <a:rPr lang="en-US" dirty="0" err="1" smtClean="0"/>
              <a:t>Trẻ</a:t>
            </a:r>
            <a:r>
              <a:rPr lang="en-US" dirty="0" smtClean="0"/>
              <a:t> </a:t>
            </a:r>
            <a:r>
              <a:rPr lang="en-US" dirty="0" err="1" smtClean="0"/>
              <a:t>dưới</a:t>
            </a:r>
            <a:r>
              <a:rPr lang="en-US" dirty="0" smtClean="0"/>
              <a:t> </a:t>
            </a:r>
            <a:r>
              <a:rPr lang="en-US" dirty="0" err="1" smtClean="0"/>
              <a:t>một</a:t>
            </a:r>
            <a:r>
              <a:rPr lang="en-US" dirty="0" smtClean="0"/>
              <a:t> </a:t>
            </a:r>
            <a:r>
              <a:rPr lang="en-US" dirty="0" err="1" smtClean="0"/>
              <a:t>tuổi</a:t>
            </a:r>
            <a:endParaRPr lang="en-US" dirty="0" smtClean="0"/>
          </a:p>
          <a:p>
            <a:pPr marL="514350" indent="-514350">
              <a:buFont typeface="+mj-lt"/>
              <a:buAutoNum type="alphaUcPeriod"/>
            </a:pPr>
            <a:r>
              <a:rPr lang="en-US" dirty="0" err="1" smtClean="0"/>
              <a:t>Trẻ</a:t>
            </a:r>
            <a:r>
              <a:rPr lang="en-US" dirty="0" smtClean="0"/>
              <a:t> </a:t>
            </a:r>
            <a:r>
              <a:rPr lang="en-US" dirty="0" err="1" smtClean="0"/>
              <a:t>trên</a:t>
            </a:r>
            <a:r>
              <a:rPr lang="en-US" dirty="0" smtClean="0"/>
              <a:t> </a:t>
            </a:r>
            <a:r>
              <a:rPr lang="en-US" dirty="0" err="1" smtClean="0"/>
              <a:t>một</a:t>
            </a:r>
            <a:r>
              <a:rPr lang="en-US" dirty="0" smtClean="0"/>
              <a:t> </a:t>
            </a:r>
            <a:r>
              <a:rPr lang="en-US" dirty="0" err="1" smtClean="0"/>
              <a:t>tuổi</a:t>
            </a:r>
            <a:r>
              <a:rPr lang="en-US" dirty="0" smtClean="0"/>
              <a:t> </a:t>
            </a:r>
            <a:r>
              <a:rPr lang="en-US" dirty="0" err="1" smtClean="0"/>
              <a:t>có</a:t>
            </a:r>
            <a:r>
              <a:rPr lang="en-US" dirty="0" smtClean="0"/>
              <a:t> </a:t>
            </a:r>
            <a:r>
              <a:rPr lang="en-US" dirty="0" err="1" smtClean="0"/>
              <a:t>tiền</a:t>
            </a:r>
            <a:r>
              <a:rPr lang="en-US" dirty="0" smtClean="0"/>
              <a:t> </a:t>
            </a:r>
            <a:r>
              <a:rPr lang="en-US" dirty="0" err="1" smtClean="0"/>
              <a:t>căn</a:t>
            </a:r>
            <a:r>
              <a:rPr lang="en-US" dirty="0" smtClean="0"/>
              <a:t> </a:t>
            </a:r>
            <a:r>
              <a:rPr lang="en-US" dirty="0" err="1" smtClean="0"/>
              <a:t>sốt</a:t>
            </a:r>
            <a:r>
              <a:rPr lang="en-US" dirty="0" smtClean="0"/>
              <a:t> co </a:t>
            </a:r>
            <a:r>
              <a:rPr lang="en-US" dirty="0" err="1" smtClean="0"/>
              <a:t>giật</a:t>
            </a:r>
            <a:r>
              <a:rPr lang="en-US" dirty="0" smtClean="0"/>
              <a:t> </a:t>
            </a:r>
          </a:p>
          <a:p>
            <a:pPr marL="514350" indent="-514350">
              <a:buFont typeface="+mj-lt"/>
              <a:buAutoNum type="alphaUcPeriod"/>
            </a:pPr>
            <a:r>
              <a:rPr lang="en-US" dirty="0" err="1" smtClean="0"/>
              <a:t>Sốt</a:t>
            </a:r>
            <a:r>
              <a:rPr lang="en-US" dirty="0" smtClean="0"/>
              <a:t> </a:t>
            </a:r>
            <a:r>
              <a:rPr lang="en-US" dirty="0" err="1" smtClean="0"/>
              <a:t>cao</a:t>
            </a:r>
            <a:r>
              <a:rPr lang="en-US" dirty="0" smtClean="0"/>
              <a:t> </a:t>
            </a:r>
            <a:r>
              <a:rPr lang="en-US" err="1" smtClean="0"/>
              <a:t>trên</a:t>
            </a:r>
            <a:r>
              <a:rPr lang="en-US" smtClean="0"/>
              <a:t> 38,5 độ C</a:t>
            </a:r>
            <a:endParaRPr lang="en-US" dirty="0" smtClean="0"/>
          </a:p>
          <a:p>
            <a:pPr marL="514350" indent="-514350">
              <a:buFont typeface="+mj-lt"/>
              <a:buAutoNum type="alphaUcPeriod"/>
            </a:pPr>
            <a:r>
              <a:rPr lang="en-US" dirty="0" err="1" smtClean="0"/>
              <a:t>Tái</a:t>
            </a:r>
            <a:r>
              <a:rPr lang="en-US" dirty="0" smtClean="0"/>
              <a:t> </a:t>
            </a:r>
            <a:r>
              <a:rPr lang="en-US" dirty="0" err="1" smtClean="0"/>
              <a:t>phát</a:t>
            </a:r>
            <a:r>
              <a:rPr lang="en-US" dirty="0" smtClean="0"/>
              <a:t> </a:t>
            </a:r>
            <a:r>
              <a:rPr lang="en-US" dirty="0" err="1" smtClean="0"/>
              <a:t>thường</a:t>
            </a:r>
            <a:r>
              <a:rPr lang="en-US" dirty="0" smtClean="0"/>
              <a:t> </a:t>
            </a:r>
            <a:r>
              <a:rPr lang="en-US" dirty="0" err="1" smtClean="0"/>
              <a:t>xuyên</a:t>
            </a:r>
            <a:endParaRPr lang="en-US" dirty="0" smtClean="0"/>
          </a:p>
          <a:p>
            <a:pPr marL="514350" indent="-514350">
              <a:buFont typeface="+mj-lt"/>
              <a:buAutoNum type="alphaUcPeriod"/>
            </a:pPr>
            <a:r>
              <a:rPr lang="en-US" dirty="0" err="1" smtClean="0"/>
              <a:t>Trẻ</a:t>
            </a:r>
            <a:r>
              <a:rPr lang="en-US" dirty="0" smtClean="0"/>
              <a:t> </a:t>
            </a:r>
            <a:r>
              <a:rPr lang="en-US" dirty="0" err="1" smtClean="0"/>
              <a:t>tỉnh</a:t>
            </a:r>
            <a:r>
              <a:rPr lang="en-US" dirty="0" smtClean="0"/>
              <a:t> </a:t>
            </a:r>
            <a:r>
              <a:rPr lang="en-US" dirty="0" err="1" smtClean="0"/>
              <a:t>sau</a:t>
            </a:r>
            <a:r>
              <a:rPr lang="en-US" dirty="0" smtClean="0"/>
              <a:t> 15 </a:t>
            </a:r>
            <a:r>
              <a:rPr lang="en-US" dirty="0" err="1" smtClean="0"/>
              <a:t>phút</a:t>
            </a:r>
            <a:endParaRPr lang="en-US" dirty="0"/>
          </a:p>
        </p:txBody>
      </p:sp>
    </p:spTree>
    <p:extLst>
      <p:ext uri="{BB962C8B-B14F-4D97-AF65-F5344CB8AC3E}">
        <p14:creationId xmlns:p14="http://schemas.microsoft.com/office/powerpoint/2010/main" val="28211666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Câu</a:t>
            </a:r>
            <a:r>
              <a:rPr lang="en-US" dirty="0" smtClean="0"/>
              <a:t> </a:t>
            </a:r>
            <a:r>
              <a:rPr lang="en-US" dirty="0" err="1" smtClean="0"/>
              <a:t>hỏi</a:t>
            </a:r>
            <a:r>
              <a:rPr lang="en-US" dirty="0" smtClean="0"/>
              <a:t> </a:t>
            </a:r>
            <a:r>
              <a:rPr lang="en-US" dirty="0" err="1" smtClean="0"/>
              <a:t>lượng</a:t>
            </a:r>
            <a:r>
              <a:rPr lang="en-US" dirty="0" smtClean="0"/>
              <a:t> </a:t>
            </a:r>
            <a:r>
              <a:rPr lang="en-US" dirty="0" err="1" smtClean="0"/>
              <a:t>giá</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err="1" smtClean="0"/>
              <a:t>Câu</a:t>
            </a:r>
            <a:r>
              <a:rPr lang="en-US" smtClean="0"/>
              <a:t> </a:t>
            </a:r>
            <a:r>
              <a:rPr lang="en-US" smtClean="0"/>
              <a:t>3. </a:t>
            </a:r>
            <a:r>
              <a:rPr lang="en-US" dirty="0" err="1" smtClean="0"/>
              <a:t>Nguyên</a:t>
            </a:r>
            <a:r>
              <a:rPr lang="en-US" dirty="0" smtClean="0"/>
              <a:t> </a:t>
            </a:r>
            <a:r>
              <a:rPr lang="en-US" dirty="0" err="1" smtClean="0"/>
              <a:t>tắc</a:t>
            </a:r>
            <a:r>
              <a:rPr lang="en-US" dirty="0" smtClean="0"/>
              <a:t> </a:t>
            </a:r>
            <a:r>
              <a:rPr lang="en-US" dirty="0" err="1" smtClean="0"/>
              <a:t>điều</a:t>
            </a:r>
            <a:r>
              <a:rPr lang="en-US" dirty="0" smtClean="0"/>
              <a:t> </a:t>
            </a:r>
            <a:r>
              <a:rPr lang="en-US" dirty="0" err="1" smtClean="0"/>
              <a:t>trị</a:t>
            </a:r>
            <a:r>
              <a:rPr lang="en-US" dirty="0" smtClean="0"/>
              <a:t> </a:t>
            </a:r>
            <a:r>
              <a:rPr lang="en-US" dirty="0" err="1" smtClean="0"/>
              <a:t>sốt</a:t>
            </a:r>
            <a:r>
              <a:rPr lang="en-US" dirty="0" smtClean="0"/>
              <a:t> </a:t>
            </a:r>
            <a:r>
              <a:rPr lang="en-US" dirty="0" err="1" smtClean="0"/>
              <a:t>cao</a:t>
            </a:r>
            <a:r>
              <a:rPr lang="en-US" dirty="0" smtClean="0"/>
              <a:t> co </a:t>
            </a:r>
            <a:r>
              <a:rPr lang="en-US" dirty="0" err="1" smtClean="0"/>
              <a:t>giật</a:t>
            </a:r>
            <a:endParaRPr lang="en-US" dirty="0" smtClean="0"/>
          </a:p>
          <a:p>
            <a:pPr marL="514350" indent="-514350">
              <a:buFont typeface="+mj-lt"/>
              <a:buAutoNum type="alphaUcPeriod"/>
            </a:pPr>
            <a:r>
              <a:rPr lang="en-US" dirty="0" err="1" smtClean="0"/>
              <a:t>Hỗ</a:t>
            </a:r>
            <a:r>
              <a:rPr lang="en-US" dirty="0" smtClean="0"/>
              <a:t> </a:t>
            </a:r>
            <a:r>
              <a:rPr lang="en-US" dirty="0" err="1" smtClean="0"/>
              <a:t>trợ</a:t>
            </a:r>
            <a:r>
              <a:rPr lang="en-US" dirty="0" smtClean="0"/>
              <a:t> </a:t>
            </a:r>
            <a:r>
              <a:rPr lang="en-US" dirty="0" err="1" smtClean="0"/>
              <a:t>hô</a:t>
            </a:r>
            <a:r>
              <a:rPr lang="en-US" dirty="0" smtClean="0"/>
              <a:t> </a:t>
            </a:r>
            <a:r>
              <a:rPr lang="en-US" dirty="0" err="1" smtClean="0"/>
              <a:t>hấp</a:t>
            </a:r>
            <a:r>
              <a:rPr lang="en-US" dirty="0" smtClean="0"/>
              <a:t>, </a:t>
            </a:r>
            <a:r>
              <a:rPr lang="en-US" dirty="0" err="1" smtClean="0"/>
              <a:t>điều</a:t>
            </a:r>
            <a:r>
              <a:rPr lang="en-US" dirty="0" smtClean="0"/>
              <a:t> </a:t>
            </a:r>
            <a:r>
              <a:rPr lang="en-US" dirty="0" err="1" smtClean="0"/>
              <a:t>trị</a:t>
            </a:r>
            <a:r>
              <a:rPr lang="en-US" dirty="0" smtClean="0"/>
              <a:t> </a:t>
            </a:r>
            <a:r>
              <a:rPr lang="en-US" dirty="0" err="1" smtClean="0"/>
              <a:t>nguyên</a:t>
            </a:r>
            <a:r>
              <a:rPr lang="en-US" dirty="0" smtClean="0"/>
              <a:t> </a:t>
            </a:r>
            <a:r>
              <a:rPr lang="en-US" dirty="0" err="1" smtClean="0"/>
              <a:t>nhân</a:t>
            </a:r>
            <a:r>
              <a:rPr lang="en-US" dirty="0" smtClean="0"/>
              <a:t>, </a:t>
            </a:r>
            <a:r>
              <a:rPr lang="en-US" dirty="0" err="1" smtClean="0"/>
              <a:t>cắt</a:t>
            </a:r>
            <a:r>
              <a:rPr lang="en-US" dirty="0" smtClean="0"/>
              <a:t> </a:t>
            </a:r>
            <a:r>
              <a:rPr lang="en-US" dirty="0" err="1" smtClean="0"/>
              <a:t>cơn</a:t>
            </a:r>
            <a:r>
              <a:rPr lang="en-US" dirty="0" smtClean="0"/>
              <a:t> co </a:t>
            </a:r>
            <a:r>
              <a:rPr lang="en-US" dirty="0" err="1" smtClean="0"/>
              <a:t>giật</a:t>
            </a:r>
            <a:r>
              <a:rPr lang="en-US" dirty="0" smtClean="0"/>
              <a:t>.</a:t>
            </a:r>
          </a:p>
          <a:p>
            <a:pPr marL="514350" indent="-514350">
              <a:buFont typeface="+mj-lt"/>
              <a:buAutoNum type="alphaUcPeriod"/>
            </a:pPr>
            <a:r>
              <a:rPr lang="en-US" dirty="0" err="1" smtClean="0"/>
              <a:t>Cắt</a:t>
            </a:r>
            <a:r>
              <a:rPr lang="en-US" dirty="0" smtClean="0"/>
              <a:t> </a:t>
            </a:r>
            <a:r>
              <a:rPr lang="en-US" dirty="0" err="1" smtClean="0"/>
              <a:t>cơn</a:t>
            </a:r>
            <a:r>
              <a:rPr lang="en-US" dirty="0" smtClean="0"/>
              <a:t> co </a:t>
            </a:r>
            <a:r>
              <a:rPr lang="en-US" dirty="0" err="1" smtClean="0"/>
              <a:t>giật</a:t>
            </a:r>
            <a:r>
              <a:rPr lang="en-US" dirty="0" smtClean="0"/>
              <a:t>, </a:t>
            </a:r>
            <a:r>
              <a:rPr lang="en-US" dirty="0" err="1" smtClean="0"/>
              <a:t>hỗ</a:t>
            </a:r>
            <a:r>
              <a:rPr lang="en-US" dirty="0" smtClean="0"/>
              <a:t> </a:t>
            </a:r>
            <a:r>
              <a:rPr lang="en-US" dirty="0" err="1" smtClean="0"/>
              <a:t>trợ</a:t>
            </a:r>
            <a:r>
              <a:rPr lang="en-US" dirty="0" smtClean="0"/>
              <a:t> </a:t>
            </a:r>
            <a:r>
              <a:rPr lang="en-US" dirty="0" err="1" smtClean="0"/>
              <a:t>hô</a:t>
            </a:r>
            <a:r>
              <a:rPr lang="en-US" dirty="0" smtClean="0"/>
              <a:t> </a:t>
            </a:r>
            <a:r>
              <a:rPr lang="en-US" dirty="0" err="1" smtClean="0"/>
              <a:t>hấp</a:t>
            </a:r>
            <a:r>
              <a:rPr lang="en-US" dirty="0" smtClean="0"/>
              <a:t>, </a:t>
            </a:r>
            <a:r>
              <a:rPr lang="en-US" dirty="0" err="1" smtClean="0"/>
              <a:t>điều</a:t>
            </a:r>
            <a:r>
              <a:rPr lang="en-US" dirty="0" smtClean="0"/>
              <a:t> </a:t>
            </a:r>
            <a:r>
              <a:rPr lang="en-US" dirty="0" err="1" smtClean="0"/>
              <a:t>trị</a:t>
            </a:r>
            <a:r>
              <a:rPr lang="en-US" dirty="0" smtClean="0"/>
              <a:t> </a:t>
            </a:r>
            <a:r>
              <a:rPr lang="en-US" dirty="0" err="1" smtClean="0"/>
              <a:t>nguyên</a:t>
            </a:r>
            <a:r>
              <a:rPr lang="en-US" dirty="0" smtClean="0"/>
              <a:t> </a:t>
            </a:r>
            <a:r>
              <a:rPr lang="en-US" dirty="0" err="1" smtClean="0"/>
              <a:t>nhân</a:t>
            </a:r>
            <a:endParaRPr lang="en-US" dirty="0" smtClean="0"/>
          </a:p>
          <a:p>
            <a:pPr marL="514350" indent="-514350">
              <a:buFont typeface="+mj-lt"/>
              <a:buAutoNum type="alphaUcPeriod"/>
            </a:pPr>
            <a:r>
              <a:rPr lang="en-US" dirty="0" err="1" smtClean="0"/>
              <a:t>Hỗ</a:t>
            </a:r>
            <a:r>
              <a:rPr lang="en-US" dirty="0" smtClean="0"/>
              <a:t> </a:t>
            </a:r>
            <a:r>
              <a:rPr lang="en-US" dirty="0" err="1" smtClean="0"/>
              <a:t>trợ</a:t>
            </a:r>
            <a:r>
              <a:rPr lang="en-US" dirty="0" smtClean="0"/>
              <a:t> </a:t>
            </a:r>
            <a:r>
              <a:rPr lang="en-US" dirty="0" err="1" smtClean="0"/>
              <a:t>hô</a:t>
            </a:r>
            <a:r>
              <a:rPr lang="en-US" dirty="0" smtClean="0"/>
              <a:t> </a:t>
            </a:r>
            <a:r>
              <a:rPr lang="en-US" dirty="0" err="1" smtClean="0"/>
              <a:t>hấp</a:t>
            </a:r>
            <a:r>
              <a:rPr lang="en-US" dirty="0" smtClean="0"/>
              <a:t>, </a:t>
            </a:r>
            <a:r>
              <a:rPr lang="en-US" dirty="0" err="1" smtClean="0"/>
              <a:t>cắt</a:t>
            </a:r>
            <a:r>
              <a:rPr lang="en-US" dirty="0" smtClean="0"/>
              <a:t> </a:t>
            </a:r>
            <a:r>
              <a:rPr lang="en-US" dirty="0" err="1" smtClean="0"/>
              <a:t>cơn</a:t>
            </a:r>
            <a:r>
              <a:rPr lang="en-US" dirty="0" smtClean="0"/>
              <a:t> co </a:t>
            </a:r>
            <a:r>
              <a:rPr lang="en-US" dirty="0" err="1" smtClean="0"/>
              <a:t>giật</a:t>
            </a:r>
            <a:r>
              <a:rPr lang="en-US" dirty="0" smtClean="0"/>
              <a:t>, </a:t>
            </a:r>
            <a:r>
              <a:rPr lang="en-US" dirty="0" err="1" smtClean="0"/>
              <a:t>điều</a:t>
            </a:r>
            <a:r>
              <a:rPr lang="en-US" dirty="0" smtClean="0"/>
              <a:t> </a:t>
            </a:r>
            <a:r>
              <a:rPr lang="en-US" dirty="0" err="1" smtClean="0"/>
              <a:t>trị</a:t>
            </a:r>
            <a:r>
              <a:rPr lang="en-US" dirty="0" smtClean="0"/>
              <a:t> </a:t>
            </a:r>
            <a:r>
              <a:rPr lang="en-US" dirty="0" err="1" smtClean="0"/>
              <a:t>nguyên</a:t>
            </a:r>
            <a:r>
              <a:rPr lang="en-US" dirty="0" smtClean="0"/>
              <a:t> </a:t>
            </a:r>
            <a:r>
              <a:rPr lang="en-US" dirty="0" err="1" smtClean="0"/>
              <a:t>nhân</a:t>
            </a:r>
            <a:endParaRPr lang="en-US" dirty="0" smtClean="0"/>
          </a:p>
          <a:p>
            <a:pPr marL="514350" indent="-514350">
              <a:buFont typeface="+mj-lt"/>
              <a:buAutoNum type="alphaUcPeriod"/>
            </a:pPr>
            <a:r>
              <a:rPr lang="en-US" dirty="0" err="1" smtClean="0"/>
              <a:t>Hỗ</a:t>
            </a:r>
            <a:r>
              <a:rPr lang="en-US" dirty="0" smtClean="0"/>
              <a:t> </a:t>
            </a:r>
            <a:r>
              <a:rPr lang="en-US" dirty="0" err="1" smtClean="0"/>
              <a:t>trợ</a:t>
            </a:r>
            <a:r>
              <a:rPr lang="en-US" dirty="0" smtClean="0"/>
              <a:t> </a:t>
            </a:r>
            <a:r>
              <a:rPr lang="en-US" dirty="0" err="1" smtClean="0"/>
              <a:t>hô</a:t>
            </a:r>
            <a:r>
              <a:rPr lang="en-US" dirty="0" smtClean="0"/>
              <a:t> </a:t>
            </a:r>
            <a:r>
              <a:rPr lang="en-US" dirty="0" err="1" smtClean="0"/>
              <a:t>hấp</a:t>
            </a:r>
            <a:r>
              <a:rPr lang="en-US" dirty="0" smtClean="0"/>
              <a:t>, </a:t>
            </a:r>
            <a:r>
              <a:rPr lang="en-US" dirty="0" err="1" smtClean="0"/>
              <a:t>cắt</a:t>
            </a:r>
            <a:r>
              <a:rPr lang="en-US" dirty="0" smtClean="0"/>
              <a:t> </a:t>
            </a:r>
            <a:r>
              <a:rPr lang="en-US" dirty="0" err="1" smtClean="0"/>
              <a:t>cơn</a:t>
            </a:r>
            <a:r>
              <a:rPr lang="en-US" dirty="0" smtClean="0"/>
              <a:t> co </a:t>
            </a:r>
            <a:r>
              <a:rPr lang="en-US" dirty="0" err="1" smtClean="0"/>
              <a:t>giật</a:t>
            </a:r>
            <a:r>
              <a:rPr lang="en-US" dirty="0" smtClean="0"/>
              <a:t>, </a:t>
            </a:r>
            <a:r>
              <a:rPr lang="en-US" dirty="0" err="1" smtClean="0"/>
              <a:t>lau</a:t>
            </a:r>
            <a:r>
              <a:rPr lang="en-US" dirty="0" smtClean="0"/>
              <a:t> </a:t>
            </a:r>
            <a:r>
              <a:rPr lang="en-US" dirty="0" err="1" smtClean="0"/>
              <a:t>mát</a:t>
            </a:r>
            <a:endParaRPr lang="en-US" dirty="0" smtClean="0"/>
          </a:p>
          <a:p>
            <a:pPr marL="514350" indent="-514350">
              <a:buFont typeface="+mj-lt"/>
              <a:buAutoNum type="alphaUcPeriod"/>
            </a:pPr>
            <a:r>
              <a:rPr lang="en-US" dirty="0" err="1" smtClean="0"/>
              <a:t>Hạ</a:t>
            </a:r>
            <a:r>
              <a:rPr lang="en-US" dirty="0" smtClean="0"/>
              <a:t> </a:t>
            </a:r>
            <a:r>
              <a:rPr lang="en-US" dirty="0" err="1" smtClean="0"/>
              <a:t>thân</a:t>
            </a:r>
            <a:r>
              <a:rPr lang="en-US" dirty="0" smtClean="0"/>
              <a:t> </a:t>
            </a:r>
            <a:r>
              <a:rPr lang="en-US" dirty="0" err="1" smtClean="0"/>
              <a:t>nhiệt</a:t>
            </a:r>
            <a:r>
              <a:rPr lang="en-US" dirty="0" smtClean="0"/>
              <a:t> </a:t>
            </a:r>
            <a:r>
              <a:rPr lang="en-US" dirty="0" err="1" smtClean="0"/>
              <a:t>bằng</a:t>
            </a:r>
            <a:r>
              <a:rPr lang="en-US" dirty="0" smtClean="0"/>
              <a:t> </a:t>
            </a:r>
            <a:r>
              <a:rPr lang="en-US" dirty="0" err="1" smtClean="0"/>
              <a:t>thuốc</a:t>
            </a:r>
            <a:r>
              <a:rPr lang="en-US" dirty="0" smtClean="0"/>
              <a:t>, </a:t>
            </a:r>
            <a:r>
              <a:rPr lang="en-US" dirty="0" err="1" smtClean="0"/>
              <a:t>hỗ</a:t>
            </a:r>
            <a:r>
              <a:rPr lang="en-US" dirty="0" smtClean="0"/>
              <a:t> </a:t>
            </a:r>
            <a:r>
              <a:rPr lang="en-US" dirty="0" err="1" smtClean="0"/>
              <a:t>trợ</a:t>
            </a:r>
            <a:r>
              <a:rPr lang="en-US" dirty="0" smtClean="0"/>
              <a:t> </a:t>
            </a:r>
            <a:r>
              <a:rPr lang="en-US" dirty="0" err="1" smtClean="0"/>
              <a:t>hô</a:t>
            </a:r>
            <a:r>
              <a:rPr lang="en-US" dirty="0" smtClean="0"/>
              <a:t> </a:t>
            </a:r>
            <a:r>
              <a:rPr lang="en-US" dirty="0" err="1" smtClean="0"/>
              <a:t>hấp</a:t>
            </a:r>
            <a:r>
              <a:rPr lang="en-US" dirty="0" smtClean="0"/>
              <a:t>, </a:t>
            </a:r>
            <a:r>
              <a:rPr lang="en-US" dirty="0" err="1" smtClean="0"/>
              <a:t>điều</a:t>
            </a:r>
            <a:r>
              <a:rPr lang="en-US" dirty="0" smtClean="0"/>
              <a:t> </a:t>
            </a:r>
            <a:r>
              <a:rPr lang="en-US" dirty="0" err="1" smtClean="0"/>
              <a:t>trị</a:t>
            </a:r>
            <a:r>
              <a:rPr lang="en-US" dirty="0" smtClean="0"/>
              <a:t> </a:t>
            </a:r>
            <a:r>
              <a:rPr lang="en-US" dirty="0" err="1" smtClean="0"/>
              <a:t>nguyên</a:t>
            </a:r>
            <a:r>
              <a:rPr lang="en-US" dirty="0" smtClean="0"/>
              <a:t> </a:t>
            </a:r>
            <a:r>
              <a:rPr lang="en-US" dirty="0" err="1" smtClean="0"/>
              <a:t>nhân</a:t>
            </a:r>
            <a:endParaRPr lang="en-US" dirty="0"/>
          </a:p>
        </p:txBody>
      </p:sp>
    </p:spTree>
    <p:extLst>
      <p:ext uri="{BB962C8B-B14F-4D97-AF65-F5344CB8AC3E}">
        <p14:creationId xmlns:p14="http://schemas.microsoft.com/office/powerpoint/2010/main" val="21039041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Câu</a:t>
            </a:r>
            <a:r>
              <a:rPr lang="en-US" dirty="0" smtClean="0"/>
              <a:t> </a:t>
            </a:r>
            <a:r>
              <a:rPr lang="en-US" dirty="0" err="1" smtClean="0"/>
              <a:t>hỏi</a:t>
            </a:r>
            <a:r>
              <a:rPr lang="en-US" dirty="0" smtClean="0"/>
              <a:t> </a:t>
            </a:r>
            <a:r>
              <a:rPr lang="en-US" dirty="0" err="1" smtClean="0"/>
              <a:t>lượng</a:t>
            </a:r>
            <a:r>
              <a:rPr lang="en-US" dirty="0" smtClean="0"/>
              <a:t> </a:t>
            </a:r>
            <a:r>
              <a:rPr lang="en-US" dirty="0" err="1" smtClean="0"/>
              <a:t>giá</a:t>
            </a:r>
            <a:endParaRPr lang="en-US" dirty="0"/>
          </a:p>
        </p:txBody>
      </p:sp>
      <p:sp>
        <p:nvSpPr>
          <p:cNvPr id="3" name="Content Placeholder 2"/>
          <p:cNvSpPr>
            <a:spLocks noGrp="1"/>
          </p:cNvSpPr>
          <p:nvPr>
            <p:ph idx="1"/>
          </p:nvPr>
        </p:nvSpPr>
        <p:spPr/>
        <p:txBody>
          <a:bodyPr/>
          <a:lstStyle/>
          <a:p>
            <a:pPr marL="0" indent="0">
              <a:buNone/>
            </a:pPr>
            <a:r>
              <a:rPr lang="en-US" err="1" smtClean="0"/>
              <a:t>Câu</a:t>
            </a:r>
            <a:r>
              <a:rPr lang="en-US" smtClean="0"/>
              <a:t> </a:t>
            </a:r>
            <a:r>
              <a:rPr lang="en-US" smtClean="0"/>
              <a:t>4: </a:t>
            </a:r>
            <a:r>
              <a:rPr lang="en-US" dirty="0" err="1" smtClean="0"/>
              <a:t>Trẻ</a:t>
            </a:r>
            <a:r>
              <a:rPr lang="en-US" dirty="0" smtClean="0"/>
              <a:t> 15 </a:t>
            </a:r>
            <a:r>
              <a:rPr lang="en-US" dirty="0" err="1" smtClean="0"/>
              <a:t>tháng</a:t>
            </a:r>
            <a:r>
              <a:rPr lang="en-US" dirty="0" smtClean="0"/>
              <a:t>, </a:t>
            </a:r>
            <a:r>
              <a:rPr lang="en-US" dirty="0" err="1" smtClean="0"/>
              <a:t>cân</a:t>
            </a:r>
            <a:r>
              <a:rPr lang="en-US" dirty="0" smtClean="0"/>
              <a:t> </a:t>
            </a:r>
            <a:r>
              <a:rPr lang="en-US" dirty="0" err="1" smtClean="0"/>
              <a:t>nặng</a:t>
            </a:r>
            <a:r>
              <a:rPr lang="en-US" dirty="0" smtClean="0"/>
              <a:t> 10 kg, </a:t>
            </a:r>
            <a:r>
              <a:rPr lang="en-US" dirty="0" err="1" smtClean="0"/>
              <a:t>đang</a:t>
            </a:r>
            <a:r>
              <a:rPr lang="en-US" dirty="0" smtClean="0"/>
              <a:t> </a:t>
            </a:r>
            <a:r>
              <a:rPr lang="en-US" dirty="0" err="1" smtClean="0"/>
              <a:t>sốt</a:t>
            </a:r>
            <a:r>
              <a:rPr lang="en-US" dirty="0" smtClean="0"/>
              <a:t> </a:t>
            </a:r>
            <a:r>
              <a:rPr lang="en-US" dirty="0" err="1" smtClean="0"/>
              <a:t>cao</a:t>
            </a:r>
            <a:r>
              <a:rPr lang="en-US" dirty="0" smtClean="0"/>
              <a:t> co </a:t>
            </a:r>
            <a:r>
              <a:rPr lang="en-US" dirty="0" err="1" smtClean="0"/>
              <a:t>giật</a:t>
            </a:r>
            <a:r>
              <a:rPr lang="en-US" dirty="0" smtClean="0"/>
              <a:t>. </a:t>
            </a:r>
            <a:r>
              <a:rPr lang="en-US" dirty="0" err="1" smtClean="0"/>
              <a:t>Để</a:t>
            </a:r>
            <a:r>
              <a:rPr lang="en-US" dirty="0" smtClean="0"/>
              <a:t> </a:t>
            </a:r>
            <a:r>
              <a:rPr lang="en-US" dirty="0" err="1" smtClean="0"/>
              <a:t>cắt</a:t>
            </a:r>
            <a:r>
              <a:rPr lang="en-US" dirty="0" smtClean="0"/>
              <a:t> </a:t>
            </a:r>
            <a:r>
              <a:rPr lang="en-US" dirty="0" err="1" smtClean="0"/>
              <a:t>cơn</a:t>
            </a:r>
            <a:r>
              <a:rPr lang="en-US" dirty="0" smtClean="0"/>
              <a:t> co </a:t>
            </a:r>
            <a:r>
              <a:rPr lang="en-US" dirty="0" err="1" smtClean="0"/>
              <a:t>giật</a:t>
            </a:r>
            <a:r>
              <a:rPr lang="en-US" dirty="0" smtClean="0"/>
              <a:t>, </a:t>
            </a:r>
            <a:r>
              <a:rPr lang="en-US" dirty="0" err="1" smtClean="0"/>
              <a:t>liều</a:t>
            </a:r>
            <a:r>
              <a:rPr lang="en-US" dirty="0" smtClean="0"/>
              <a:t> diazepam </a:t>
            </a:r>
            <a:r>
              <a:rPr lang="en-US" dirty="0" err="1" smtClean="0"/>
              <a:t>chích</a:t>
            </a:r>
            <a:r>
              <a:rPr lang="en-US" dirty="0" smtClean="0"/>
              <a:t> </a:t>
            </a:r>
            <a:r>
              <a:rPr lang="en-US" dirty="0" err="1" smtClean="0"/>
              <a:t>tĩnh</a:t>
            </a:r>
            <a:r>
              <a:rPr lang="en-US" dirty="0" smtClean="0"/>
              <a:t> </a:t>
            </a:r>
            <a:r>
              <a:rPr lang="en-US" dirty="0" err="1" smtClean="0"/>
              <a:t>mạch</a:t>
            </a:r>
            <a:r>
              <a:rPr lang="en-US" dirty="0" smtClean="0"/>
              <a:t>: </a:t>
            </a:r>
          </a:p>
          <a:p>
            <a:pPr marL="514350" indent="-514350">
              <a:buFont typeface="+mj-lt"/>
              <a:buAutoNum type="alphaUcPeriod"/>
            </a:pPr>
            <a:r>
              <a:rPr lang="en-US" dirty="0" smtClean="0"/>
              <a:t>1mg</a:t>
            </a:r>
          </a:p>
          <a:p>
            <a:pPr marL="514350" indent="-514350">
              <a:buFont typeface="+mj-lt"/>
              <a:buAutoNum type="alphaUcPeriod"/>
            </a:pPr>
            <a:r>
              <a:rPr lang="en-US" dirty="0" smtClean="0"/>
              <a:t>1,5mg</a:t>
            </a:r>
          </a:p>
          <a:p>
            <a:pPr marL="514350" indent="-514350">
              <a:buFont typeface="+mj-lt"/>
              <a:buAutoNum type="alphaUcPeriod"/>
            </a:pPr>
            <a:r>
              <a:rPr lang="en-US" dirty="0" smtClean="0"/>
              <a:t>2mg</a:t>
            </a:r>
          </a:p>
          <a:p>
            <a:pPr marL="514350" indent="-514350">
              <a:buFont typeface="+mj-lt"/>
              <a:buAutoNum type="alphaUcPeriod"/>
            </a:pPr>
            <a:r>
              <a:rPr lang="en-US" dirty="0" smtClean="0"/>
              <a:t>4mg</a:t>
            </a:r>
          </a:p>
          <a:p>
            <a:pPr marL="514350" indent="-514350">
              <a:buFont typeface="+mj-lt"/>
              <a:buAutoNum type="alphaUcPeriod"/>
            </a:pPr>
            <a:r>
              <a:rPr lang="en-US" dirty="0" smtClean="0"/>
              <a:t>5mg</a:t>
            </a:r>
            <a:endParaRPr lang="en-US" dirty="0"/>
          </a:p>
        </p:txBody>
      </p:sp>
    </p:spTree>
    <p:extLst>
      <p:ext uri="{BB962C8B-B14F-4D97-AF65-F5344CB8AC3E}">
        <p14:creationId xmlns:p14="http://schemas.microsoft.com/office/powerpoint/2010/main" val="23112056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Câu</a:t>
            </a:r>
            <a:r>
              <a:rPr lang="en-US" dirty="0"/>
              <a:t> </a:t>
            </a:r>
            <a:r>
              <a:rPr lang="en-US" dirty="0" err="1"/>
              <a:t>hỏi</a:t>
            </a:r>
            <a:r>
              <a:rPr lang="en-US" dirty="0"/>
              <a:t> </a:t>
            </a:r>
            <a:r>
              <a:rPr lang="en-US" dirty="0" err="1"/>
              <a:t>lượng</a:t>
            </a:r>
            <a:r>
              <a:rPr lang="en-US" dirty="0"/>
              <a:t> </a:t>
            </a:r>
            <a:r>
              <a:rPr lang="en-US" dirty="0" err="1"/>
              <a:t>giá</a:t>
            </a:r>
            <a:r>
              <a:rPr lang="en-US" dirty="0"/>
              <a:t> </a:t>
            </a:r>
          </a:p>
        </p:txBody>
      </p:sp>
      <p:sp>
        <p:nvSpPr>
          <p:cNvPr id="3" name="Content Placeholder 2"/>
          <p:cNvSpPr>
            <a:spLocks noGrp="1"/>
          </p:cNvSpPr>
          <p:nvPr>
            <p:ph idx="1"/>
          </p:nvPr>
        </p:nvSpPr>
        <p:spPr/>
        <p:txBody>
          <a:bodyPr/>
          <a:lstStyle/>
          <a:p>
            <a:pPr marL="0" indent="0">
              <a:buNone/>
            </a:pPr>
            <a:r>
              <a:rPr lang="en-US" err="1"/>
              <a:t>Câu</a:t>
            </a:r>
            <a:r>
              <a:rPr lang="en-US"/>
              <a:t> </a:t>
            </a:r>
            <a:r>
              <a:rPr lang="en-US" smtClean="0"/>
              <a:t>5: </a:t>
            </a:r>
            <a:r>
              <a:rPr lang="en-US" dirty="0"/>
              <a:t>Ở </a:t>
            </a:r>
            <a:r>
              <a:rPr lang="en-US" dirty="0" err="1"/>
              <a:t>trẻ</a:t>
            </a:r>
            <a:r>
              <a:rPr lang="en-US" dirty="0"/>
              <a:t> 10 kg, </a:t>
            </a:r>
            <a:r>
              <a:rPr lang="en-US" dirty="0" err="1"/>
              <a:t>đang</a:t>
            </a:r>
            <a:r>
              <a:rPr lang="en-US" dirty="0"/>
              <a:t> </a:t>
            </a:r>
            <a:r>
              <a:rPr lang="en-US" dirty="0" err="1"/>
              <a:t>bị</a:t>
            </a:r>
            <a:r>
              <a:rPr lang="en-US" dirty="0"/>
              <a:t> </a:t>
            </a:r>
            <a:r>
              <a:rPr lang="en-US" dirty="0" err="1"/>
              <a:t>sốt</a:t>
            </a:r>
            <a:r>
              <a:rPr lang="en-US" dirty="0"/>
              <a:t> </a:t>
            </a:r>
            <a:r>
              <a:rPr lang="en-US" dirty="0" err="1"/>
              <a:t>cao</a:t>
            </a:r>
            <a:r>
              <a:rPr lang="en-US" dirty="0"/>
              <a:t> co </a:t>
            </a:r>
            <a:r>
              <a:rPr lang="en-US" dirty="0" err="1"/>
              <a:t>giật</a:t>
            </a:r>
            <a:r>
              <a:rPr lang="en-US" dirty="0"/>
              <a:t> </a:t>
            </a:r>
            <a:r>
              <a:rPr lang="en-US" dirty="0" err="1"/>
              <a:t>để</a:t>
            </a:r>
            <a:r>
              <a:rPr lang="en-US" dirty="0"/>
              <a:t> </a:t>
            </a:r>
            <a:r>
              <a:rPr lang="en-US" dirty="0" err="1"/>
              <a:t>hạ</a:t>
            </a:r>
            <a:r>
              <a:rPr lang="en-US" dirty="0"/>
              <a:t> </a:t>
            </a:r>
            <a:r>
              <a:rPr lang="en-US" dirty="0" err="1"/>
              <a:t>sốt</a:t>
            </a:r>
            <a:r>
              <a:rPr lang="en-US" dirty="0"/>
              <a:t> </a:t>
            </a:r>
            <a:r>
              <a:rPr lang="en-US" dirty="0" err="1"/>
              <a:t>dùng</a:t>
            </a:r>
            <a:r>
              <a:rPr lang="en-US" dirty="0"/>
              <a:t>:</a:t>
            </a:r>
          </a:p>
          <a:p>
            <a:pPr marL="514350" indent="-514350">
              <a:buFont typeface="+mj-lt"/>
              <a:buAutoNum type="alphaUcPeriod"/>
            </a:pPr>
            <a:r>
              <a:rPr lang="en-US" dirty="0" err="1"/>
              <a:t>Uống</a:t>
            </a:r>
            <a:r>
              <a:rPr lang="en-US" dirty="0"/>
              <a:t> </a:t>
            </a:r>
            <a:r>
              <a:rPr lang="en-US" dirty="0" err="1"/>
              <a:t>efferalgan</a:t>
            </a:r>
            <a:r>
              <a:rPr lang="en-US" dirty="0"/>
              <a:t> 100mg</a:t>
            </a:r>
          </a:p>
          <a:p>
            <a:pPr marL="514350" indent="-514350">
              <a:buFont typeface="+mj-lt"/>
              <a:buAutoNum type="alphaUcPeriod"/>
            </a:pPr>
            <a:r>
              <a:rPr lang="en-US" dirty="0" err="1"/>
              <a:t>Uống</a:t>
            </a:r>
            <a:r>
              <a:rPr lang="en-US" dirty="0"/>
              <a:t> </a:t>
            </a:r>
            <a:r>
              <a:rPr lang="en-US" dirty="0" err="1"/>
              <a:t>efferalgan</a:t>
            </a:r>
            <a:r>
              <a:rPr lang="en-US" dirty="0"/>
              <a:t> 150mg</a:t>
            </a:r>
          </a:p>
          <a:p>
            <a:pPr marL="514350" indent="-514350">
              <a:buFont typeface="+mj-lt"/>
              <a:buAutoNum type="alphaUcPeriod"/>
            </a:pPr>
            <a:r>
              <a:rPr lang="en-US" dirty="0" err="1"/>
              <a:t>Nhiệt</a:t>
            </a:r>
            <a:r>
              <a:rPr lang="en-US" dirty="0"/>
              <a:t> </a:t>
            </a:r>
            <a:r>
              <a:rPr lang="en-US" dirty="0" err="1"/>
              <a:t>hậu</a:t>
            </a:r>
            <a:r>
              <a:rPr lang="en-US" dirty="0"/>
              <a:t> </a:t>
            </a:r>
            <a:r>
              <a:rPr lang="en-US" dirty="0" err="1"/>
              <a:t>môn</a:t>
            </a:r>
            <a:r>
              <a:rPr lang="en-US" dirty="0"/>
              <a:t> 150 mg </a:t>
            </a:r>
            <a:r>
              <a:rPr lang="en-US" dirty="0" err="1"/>
              <a:t>efferalgan</a:t>
            </a:r>
            <a:endParaRPr lang="en-US" dirty="0"/>
          </a:p>
          <a:p>
            <a:pPr marL="514350" indent="-514350">
              <a:buFont typeface="+mj-lt"/>
              <a:buAutoNum type="alphaUcPeriod"/>
            </a:pPr>
            <a:r>
              <a:rPr lang="en-US" dirty="0" err="1"/>
              <a:t>Nhiệt</a:t>
            </a:r>
            <a:r>
              <a:rPr lang="en-US" dirty="0"/>
              <a:t> </a:t>
            </a:r>
            <a:r>
              <a:rPr lang="en-US" dirty="0" err="1"/>
              <a:t>hậu</a:t>
            </a:r>
            <a:r>
              <a:rPr lang="en-US" dirty="0"/>
              <a:t> </a:t>
            </a:r>
            <a:r>
              <a:rPr lang="en-US" dirty="0" err="1"/>
              <a:t>môn</a:t>
            </a:r>
            <a:r>
              <a:rPr lang="en-US" dirty="0"/>
              <a:t> 200 mg </a:t>
            </a:r>
            <a:r>
              <a:rPr lang="en-US" dirty="0" err="1"/>
              <a:t>efferalgan</a:t>
            </a:r>
            <a:endParaRPr lang="en-US" dirty="0"/>
          </a:p>
          <a:p>
            <a:pPr marL="514350" indent="-514350">
              <a:buFont typeface="+mj-lt"/>
              <a:buAutoNum type="alphaUcPeriod"/>
            </a:pPr>
            <a:r>
              <a:rPr lang="en-US" dirty="0"/>
              <a:t> </a:t>
            </a:r>
            <a:r>
              <a:rPr lang="en-US" dirty="0" err="1"/>
              <a:t>Nhiệt</a:t>
            </a:r>
            <a:r>
              <a:rPr lang="en-US" dirty="0"/>
              <a:t> </a:t>
            </a:r>
            <a:r>
              <a:rPr lang="en-US" dirty="0" err="1"/>
              <a:t>hậu</a:t>
            </a:r>
            <a:r>
              <a:rPr lang="en-US" dirty="0"/>
              <a:t> </a:t>
            </a:r>
            <a:r>
              <a:rPr lang="en-US" dirty="0" err="1"/>
              <a:t>môn</a:t>
            </a:r>
            <a:r>
              <a:rPr lang="en-US" dirty="0"/>
              <a:t> 300 mg </a:t>
            </a:r>
            <a:r>
              <a:rPr lang="en-US" dirty="0" err="1"/>
              <a:t>efferalgan</a:t>
            </a:r>
            <a:endParaRPr lang="en-US" dirty="0"/>
          </a:p>
          <a:p>
            <a:endParaRPr lang="en-US" dirty="0"/>
          </a:p>
        </p:txBody>
      </p:sp>
    </p:spTree>
    <p:extLst>
      <p:ext uri="{BB962C8B-B14F-4D97-AF65-F5344CB8AC3E}">
        <p14:creationId xmlns:p14="http://schemas.microsoft.com/office/powerpoint/2010/main" val="1090537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Câu</a:t>
            </a:r>
            <a:r>
              <a:rPr lang="en-US" dirty="0"/>
              <a:t> </a:t>
            </a:r>
            <a:r>
              <a:rPr lang="en-US" dirty="0" err="1"/>
              <a:t>hỏi</a:t>
            </a:r>
            <a:r>
              <a:rPr lang="en-US" dirty="0"/>
              <a:t> </a:t>
            </a:r>
            <a:r>
              <a:rPr lang="en-US" dirty="0" err="1"/>
              <a:t>lượng</a:t>
            </a:r>
            <a:r>
              <a:rPr lang="en-US" dirty="0"/>
              <a:t> </a:t>
            </a:r>
            <a:r>
              <a:rPr lang="en-US" dirty="0" err="1"/>
              <a:t>giá</a:t>
            </a:r>
            <a:endParaRPr lang="en-US" dirty="0"/>
          </a:p>
        </p:txBody>
      </p:sp>
      <p:sp>
        <p:nvSpPr>
          <p:cNvPr id="3" name="Content Placeholder 2"/>
          <p:cNvSpPr>
            <a:spLocks noGrp="1"/>
          </p:cNvSpPr>
          <p:nvPr>
            <p:ph idx="1"/>
          </p:nvPr>
        </p:nvSpPr>
        <p:spPr/>
        <p:txBody>
          <a:bodyPr/>
          <a:lstStyle/>
          <a:p>
            <a:pPr marL="0" indent="0">
              <a:buNone/>
            </a:pPr>
            <a:r>
              <a:rPr lang="en-US" err="1"/>
              <a:t>Câu</a:t>
            </a:r>
            <a:r>
              <a:rPr lang="en-US"/>
              <a:t> </a:t>
            </a:r>
            <a:r>
              <a:rPr lang="en-US" smtClean="0"/>
              <a:t>6 </a:t>
            </a:r>
            <a:r>
              <a:rPr lang="en-US" smtClean="0"/>
              <a:t>: </a:t>
            </a:r>
            <a:r>
              <a:rPr lang="en-US" dirty="0" err="1"/>
              <a:t>Hạ</a:t>
            </a:r>
            <a:r>
              <a:rPr lang="en-US" dirty="0"/>
              <a:t> </a:t>
            </a:r>
            <a:r>
              <a:rPr lang="en-US" dirty="0" err="1"/>
              <a:t>nhiệt</a:t>
            </a:r>
            <a:r>
              <a:rPr lang="en-US" dirty="0"/>
              <a:t> </a:t>
            </a:r>
            <a:r>
              <a:rPr lang="en-US" dirty="0" err="1"/>
              <a:t>trong</a:t>
            </a:r>
            <a:r>
              <a:rPr lang="en-US" dirty="0"/>
              <a:t> </a:t>
            </a:r>
            <a:r>
              <a:rPr lang="en-US" dirty="0" err="1"/>
              <a:t>sốt</a:t>
            </a:r>
            <a:r>
              <a:rPr lang="en-US" dirty="0"/>
              <a:t> </a:t>
            </a:r>
            <a:r>
              <a:rPr lang="en-US" dirty="0" err="1"/>
              <a:t>cao</a:t>
            </a:r>
            <a:r>
              <a:rPr lang="en-US" dirty="0"/>
              <a:t> co </a:t>
            </a:r>
            <a:r>
              <a:rPr lang="en-US" dirty="0" err="1"/>
              <a:t>giật</a:t>
            </a:r>
            <a:r>
              <a:rPr lang="en-US" dirty="0"/>
              <a:t>: </a:t>
            </a:r>
          </a:p>
          <a:p>
            <a:pPr marL="514350" indent="-514350">
              <a:buFont typeface="+mj-lt"/>
              <a:buAutoNum type="alphaUcPeriod"/>
            </a:pPr>
            <a:r>
              <a:rPr lang="en-US" dirty="0" err="1"/>
              <a:t>Nên</a:t>
            </a:r>
            <a:r>
              <a:rPr lang="en-US" dirty="0"/>
              <a:t> </a:t>
            </a:r>
            <a:r>
              <a:rPr lang="en-US" dirty="0" err="1"/>
              <a:t>lau</a:t>
            </a:r>
            <a:r>
              <a:rPr lang="en-US" dirty="0"/>
              <a:t> </a:t>
            </a:r>
            <a:r>
              <a:rPr lang="en-US" dirty="0" err="1"/>
              <a:t>mát</a:t>
            </a:r>
            <a:r>
              <a:rPr lang="en-US" dirty="0"/>
              <a:t> </a:t>
            </a:r>
            <a:r>
              <a:rPr lang="en-US" dirty="0" err="1"/>
              <a:t>bằng</a:t>
            </a:r>
            <a:r>
              <a:rPr lang="en-US" dirty="0"/>
              <a:t> </a:t>
            </a:r>
            <a:r>
              <a:rPr lang="en-US" dirty="0" err="1"/>
              <a:t>nước</a:t>
            </a:r>
            <a:r>
              <a:rPr lang="en-US" dirty="0"/>
              <a:t> </a:t>
            </a:r>
            <a:r>
              <a:rPr lang="en-US" dirty="0" err="1"/>
              <a:t>đá</a:t>
            </a:r>
            <a:endParaRPr lang="en-US" dirty="0"/>
          </a:p>
          <a:p>
            <a:pPr marL="514350" indent="-514350">
              <a:buFont typeface="+mj-lt"/>
              <a:buAutoNum type="alphaUcPeriod"/>
            </a:pPr>
            <a:r>
              <a:rPr lang="en-US" dirty="0" err="1"/>
              <a:t>Nên</a:t>
            </a:r>
            <a:r>
              <a:rPr lang="en-US" dirty="0"/>
              <a:t> </a:t>
            </a:r>
            <a:r>
              <a:rPr lang="en-US" dirty="0" err="1"/>
              <a:t>lau</a:t>
            </a:r>
            <a:r>
              <a:rPr lang="en-US" dirty="0"/>
              <a:t> </a:t>
            </a:r>
            <a:r>
              <a:rPr lang="en-US" dirty="0" err="1"/>
              <a:t>mát</a:t>
            </a:r>
            <a:r>
              <a:rPr lang="en-US" dirty="0"/>
              <a:t> </a:t>
            </a:r>
            <a:r>
              <a:rPr lang="en-US" dirty="0" err="1"/>
              <a:t>bằng</a:t>
            </a:r>
            <a:r>
              <a:rPr lang="en-US" dirty="0"/>
              <a:t> </a:t>
            </a:r>
            <a:r>
              <a:rPr lang="en-US" dirty="0" err="1"/>
              <a:t>nước</a:t>
            </a:r>
            <a:r>
              <a:rPr lang="en-US" dirty="0"/>
              <a:t> </a:t>
            </a:r>
            <a:r>
              <a:rPr lang="en-US" dirty="0" err="1"/>
              <a:t>ấm</a:t>
            </a:r>
            <a:endParaRPr lang="en-US" dirty="0"/>
          </a:p>
          <a:p>
            <a:pPr marL="514350" indent="-514350">
              <a:buFont typeface="+mj-lt"/>
              <a:buAutoNum type="alphaUcPeriod"/>
            </a:pPr>
            <a:r>
              <a:rPr lang="en-US" dirty="0" err="1"/>
              <a:t>Nên</a:t>
            </a:r>
            <a:r>
              <a:rPr lang="en-US" dirty="0"/>
              <a:t> </a:t>
            </a:r>
            <a:r>
              <a:rPr lang="en-US" dirty="0" err="1"/>
              <a:t>dùng</a:t>
            </a:r>
            <a:r>
              <a:rPr lang="en-US" dirty="0"/>
              <a:t> </a:t>
            </a:r>
            <a:r>
              <a:rPr lang="en-US" dirty="0" err="1"/>
              <a:t>nước</a:t>
            </a:r>
            <a:r>
              <a:rPr lang="en-US" dirty="0"/>
              <a:t> </a:t>
            </a:r>
            <a:r>
              <a:rPr lang="en-US" dirty="0" err="1"/>
              <a:t>pha</a:t>
            </a:r>
            <a:r>
              <a:rPr lang="en-US" dirty="0"/>
              <a:t> </a:t>
            </a:r>
            <a:r>
              <a:rPr lang="en-US" dirty="0" err="1"/>
              <a:t>rượu</a:t>
            </a:r>
            <a:endParaRPr lang="en-US" dirty="0"/>
          </a:p>
          <a:p>
            <a:pPr marL="514350" indent="-514350">
              <a:buFont typeface="+mj-lt"/>
              <a:buAutoNum type="alphaUcPeriod"/>
            </a:pPr>
            <a:r>
              <a:rPr lang="en-US" dirty="0" err="1"/>
              <a:t>Nên</a:t>
            </a:r>
            <a:r>
              <a:rPr lang="en-US" dirty="0"/>
              <a:t> </a:t>
            </a:r>
            <a:r>
              <a:rPr lang="en-US" dirty="0" err="1"/>
              <a:t>lau</a:t>
            </a:r>
            <a:r>
              <a:rPr lang="en-US" dirty="0"/>
              <a:t> </a:t>
            </a:r>
            <a:r>
              <a:rPr lang="en-US" dirty="0" err="1"/>
              <a:t>bằng</a:t>
            </a:r>
            <a:r>
              <a:rPr lang="en-US" dirty="0"/>
              <a:t> </a:t>
            </a:r>
            <a:r>
              <a:rPr lang="en-US" dirty="0" err="1"/>
              <a:t>chanh</a:t>
            </a:r>
            <a:endParaRPr lang="en-US" dirty="0"/>
          </a:p>
          <a:p>
            <a:pPr marL="514350" indent="-514350">
              <a:buFont typeface="+mj-lt"/>
              <a:buAutoNum type="alphaUcPeriod"/>
            </a:pPr>
            <a:r>
              <a:rPr lang="en-US" dirty="0" err="1"/>
              <a:t>Chỉ</a:t>
            </a:r>
            <a:r>
              <a:rPr lang="en-US" dirty="0"/>
              <a:t> </a:t>
            </a:r>
            <a:r>
              <a:rPr lang="en-US" dirty="0" err="1"/>
              <a:t>lau</a:t>
            </a:r>
            <a:r>
              <a:rPr lang="en-US" dirty="0"/>
              <a:t> </a:t>
            </a:r>
            <a:r>
              <a:rPr lang="en-US" dirty="0" err="1"/>
              <a:t>mát</a:t>
            </a:r>
            <a:r>
              <a:rPr lang="en-US" dirty="0"/>
              <a:t> </a:t>
            </a:r>
            <a:r>
              <a:rPr lang="en-US" dirty="0" err="1"/>
              <a:t>khi</a:t>
            </a:r>
            <a:r>
              <a:rPr lang="en-US" dirty="0"/>
              <a:t> </a:t>
            </a:r>
            <a:r>
              <a:rPr lang="en-US" dirty="0" err="1"/>
              <a:t>trẻ</a:t>
            </a:r>
            <a:r>
              <a:rPr lang="en-US" dirty="0"/>
              <a:t> </a:t>
            </a:r>
            <a:r>
              <a:rPr lang="en-US" dirty="0" err="1"/>
              <a:t>chưa</a:t>
            </a:r>
            <a:r>
              <a:rPr lang="en-US" dirty="0"/>
              <a:t> co </a:t>
            </a:r>
            <a:r>
              <a:rPr lang="en-US" dirty="0" err="1"/>
              <a:t>giật</a:t>
            </a:r>
            <a:endParaRPr lang="en-US" dirty="0"/>
          </a:p>
        </p:txBody>
      </p:sp>
    </p:spTree>
    <p:extLst>
      <p:ext uri="{BB962C8B-B14F-4D97-AF65-F5344CB8AC3E}">
        <p14:creationId xmlns:p14="http://schemas.microsoft.com/office/powerpoint/2010/main" val="3114572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880</TotalTime>
  <Words>2503</Words>
  <Application>Microsoft Office PowerPoint</Application>
  <PresentationFormat>On-screen Show (4:3)</PresentationFormat>
  <Paragraphs>240</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 CO GIẬT DO SỐT</vt:lpstr>
      <vt:lpstr>NỘI DUNG</vt:lpstr>
      <vt:lpstr> ĐẠI CƯƠNG</vt:lpstr>
      <vt:lpstr>ĐẠI CƯƠNG</vt:lpstr>
      <vt:lpstr>ĐẠI CƯƠNG</vt:lpstr>
      <vt:lpstr>ĐẠI CƯƠNG</vt:lpstr>
      <vt:lpstr>CƠ CHẾ BỆNH SINH</vt:lpstr>
      <vt:lpstr>CƠ CHẾ BỆNH SINH</vt:lpstr>
      <vt:lpstr>CƠ CHẾ BỆNH SINH</vt:lpstr>
      <vt:lpstr>PowerPoint Presentation</vt:lpstr>
      <vt:lpstr>Sốt cao</vt:lpstr>
      <vt:lpstr>Nhiễm trùng</vt:lpstr>
      <vt:lpstr>Tiêm chủng</vt:lpstr>
      <vt:lpstr>Nhạy cảm di truyền</vt:lpstr>
      <vt:lpstr>Các yếu tố khác</vt:lpstr>
      <vt:lpstr>CHẨN ĐOÁN</vt:lpstr>
      <vt:lpstr>CHẨN ĐOÁN</vt:lpstr>
      <vt:lpstr>CHẨN ĐOÁN PHÂN BIỆT</vt:lpstr>
      <vt:lpstr>XÉT NGHIỆM</vt:lpstr>
      <vt:lpstr>XÉT NGHIỆM</vt:lpstr>
      <vt:lpstr>PowerPoint Presentation</vt:lpstr>
      <vt:lpstr>XÉT NGHIỆM</vt:lpstr>
      <vt:lpstr>XÉT NGHIỆM</vt:lpstr>
      <vt:lpstr>PowerPoint Presentation</vt:lpstr>
      <vt:lpstr>ĐIỀU TRỊ</vt:lpstr>
      <vt:lpstr>ĐIỀU TRỊ</vt:lpstr>
      <vt:lpstr>PowerPoint Presentation</vt:lpstr>
      <vt:lpstr>ĐIỀU TRỊ</vt:lpstr>
      <vt:lpstr>PowerPoint Presentation</vt:lpstr>
      <vt:lpstr>PowerPoint Presentation</vt:lpstr>
      <vt:lpstr>PowerPoint Presentation</vt:lpstr>
      <vt:lpstr>TIÊN LƯỢNG</vt:lpstr>
      <vt:lpstr>Tư vấn</vt:lpstr>
      <vt:lpstr>PowerPoint Presentation</vt:lpstr>
      <vt:lpstr>Câu hỏi lượng giá</vt:lpstr>
      <vt:lpstr>Câu hỏi lượng giá</vt:lpstr>
      <vt:lpstr>Câu hỏi lượng giá</vt:lpstr>
      <vt:lpstr>Câu hỏi lượng giá</vt:lpstr>
      <vt:lpstr>Câu hỏi lượng giá </vt:lpstr>
      <vt:lpstr>Câu hỏi lượng giá</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sốt ca</dc:title>
  <dc:creator>Admin</dc:creator>
  <cp:lastModifiedBy>Administrator</cp:lastModifiedBy>
  <cp:revision>39</cp:revision>
  <dcterms:created xsi:type="dcterms:W3CDTF">2020-03-01T02:30:53Z</dcterms:created>
  <dcterms:modified xsi:type="dcterms:W3CDTF">2020-03-11T06:12:45Z</dcterms:modified>
</cp:coreProperties>
</file>