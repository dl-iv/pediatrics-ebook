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 id="2147483696" r:id="rId5"/>
  </p:sldMasterIdLst>
  <p:notesMasterIdLst>
    <p:notesMasterId r:id="rId45"/>
  </p:notesMasterIdLst>
  <p:sldIdLst>
    <p:sldId id="273" r:id="rId6"/>
    <p:sldId id="274" r:id="rId7"/>
    <p:sldId id="256" r:id="rId8"/>
    <p:sldId id="277" r:id="rId9"/>
    <p:sldId id="257" r:id="rId10"/>
    <p:sldId id="259" r:id="rId11"/>
    <p:sldId id="278" r:id="rId12"/>
    <p:sldId id="270" r:id="rId13"/>
    <p:sldId id="279" r:id="rId14"/>
    <p:sldId id="291" r:id="rId15"/>
    <p:sldId id="289" r:id="rId16"/>
    <p:sldId id="292" r:id="rId17"/>
    <p:sldId id="293" r:id="rId18"/>
    <p:sldId id="294" r:id="rId19"/>
    <p:sldId id="295" r:id="rId20"/>
    <p:sldId id="296" r:id="rId21"/>
    <p:sldId id="286" r:id="rId22"/>
    <p:sldId id="297" r:id="rId23"/>
    <p:sldId id="298" r:id="rId24"/>
    <p:sldId id="299" r:id="rId25"/>
    <p:sldId id="302" r:id="rId26"/>
    <p:sldId id="303" r:id="rId27"/>
    <p:sldId id="304" r:id="rId28"/>
    <p:sldId id="309" r:id="rId29"/>
    <p:sldId id="310" r:id="rId30"/>
    <p:sldId id="311" r:id="rId31"/>
    <p:sldId id="312" r:id="rId32"/>
    <p:sldId id="308" r:id="rId33"/>
    <p:sldId id="313" r:id="rId34"/>
    <p:sldId id="319" r:id="rId35"/>
    <p:sldId id="320" r:id="rId36"/>
    <p:sldId id="321" r:id="rId37"/>
    <p:sldId id="317" r:id="rId38"/>
    <p:sldId id="322" r:id="rId39"/>
    <p:sldId id="323" r:id="rId40"/>
    <p:sldId id="326" r:id="rId41"/>
    <p:sldId id="327" r:id="rId42"/>
    <p:sldId id="328" r:id="rId43"/>
    <p:sldId id="330"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374" autoAdjust="0"/>
  </p:normalViewPr>
  <p:slideViewPr>
    <p:cSldViewPr>
      <p:cViewPr varScale="1">
        <p:scale>
          <a:sx n="70" d="100"/>
          <a:sy n="70" d="100"/>
        </p:scale>
        <p:origin x="-1386"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heme" Target="theme/theme1.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BC62DB7-C8F5-40FA-B512-F18C0E671107}" type="datetimeFigureOut">
              <a:rPr lang="en-US" smtClean="0"/>
              <a:t>9/11/2019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7A7E65D-18CF-4D59-A6F1-BB78B0E4A628}" type="slidenum">
              <a:rPr lang="en-US" smtClean="0"/>
              <a:t>‹#›</a:t>
            </a:fld>
            <a:endParaRPr lang="en-US"/>
          </a:p>
        </p:txBody>
      </p:sp>
    </p:spTree>
    <p:extLst>
      <p:ext uri="{BB962C8B-B14F-4D97-AF65-F5344CB8AC3E}">
        <p14:creationId xmlns:p14="http://schemas.microsoft.com/office/powerpoint/2010/main" val="3859612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1</a:t>
            </a:fld>
            <a:endParaRPr lang="en-US"/>
          </a:p>
        </p:txBody>
      </p:sp>
    </p:spTree>
    <p:extLst>
      <p:ext uri="{BB962C8B-B14F-4D97-AF65-F5344CB8AC3E}">
        <p14:creationId xmlns:p14="http://schemas.microsoft.com/office/powerpoint/2010/main" val="1723219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2</a:t>
            </a:fld>
            <a:endParaRPr lang="en-US"/>
          </a:p>
        </p:txBody>
      </p:sp>
    </p:spTree>
    <p:extLst>
      <p:ext uri="{BB962C8B-B14F-4D97-AF65-F5344CB8AC3E}">
        <p14:creationId xmlns:p14="http://schemas.microsoft.com/office/powerpoint/2010/main" val="785396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A7E65D-18CF-4D59-A6F1-BB78B0E4A628}" type="slidenum">
              <a:rPr lang="en-US" smtClean="0"/>
              <a:t>3</a:t>
            </a:fld>
            <a:endParaRPr lang="en-US"/>
          </a:p>
        </p:txBody>
      </p:sp>
    </p:spTree>
    <p:extLst>
      <p:ext uri="{BB962C8B-B14F-4D97-AF65-F5344CB8AC3E}">
        <p14:creationId xmlns:p14="http://schemas.microsoft.com/office/powerpoint/2010/main" val="2254264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4</a:t>
            </a:fld>
            <a:endParaRPr lang="en-US"/>
          </a:p>
        </p:txBody>
      </p:sp>
    </p:spTree>
    <p:extLst>
      <p:ext uri="{BB962C8B-B14F-4D97-AF65-F5344CB8AC3E}">
        <p14:creationId xmlns:p14="http://schemas.microsoft.com/office/powerpoint/2010/main" val="4199316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5</a:t>
            </a:fld>
            <a:endParaRPr lang="en-US"/>
          </a:p>
        </p:txBody>
      </p:sp>
    </p:spTree>
    <p:extLst>
      <p:ext uri="{BB962C8B-B14F-4D97-AF65-F5344CB8AC3E}">
        <p14:creationId xmlns:p14="http://schemas.microsoft.com/office/powerpoint/2010/main" val="19622820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6</a:t>
            </a:fld>
            <a:endParaRPr lang="en-US"/>
          </a:p>
        </p:txBody>
      </p:sp>
    </p:spTree>
    <p:extLst>
      <p:ext uri="{BB962C8B-B14F-4D97-AF65-F5344CB8AC3E}">
        <p14:creationId xmlns:p14="http://schemas.microsoft.com/office/powerpoint/2010/main" val="15716854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7</a:t>
            </a:fld>
            <a:endParaRPr lang="en-US"/>
          </a:p>
        </p:txBody>
      </p:sp>
    </p:spTree>
    <p:extLst>
      <p:ext uri="{BB962C8B-B14F-4D97-AF65-F5344CB8AC3E}">
        <p14:creationId xmlns:p14="http://schemas.microsoft.com/office/powerpoint/2010/main" val="7990974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8</a:t>
            </a:fld>
            <a:endParaRPr lang="en-US"/>
          </a:p>
        </p:txBody>
      </p:sp>
    </p:spTree>
    <p:extLst>
      <p:ext uri="{BB962C8B-B14F-4D97-AF65-F5344CB8AC3E}">
        <p14:creationId xmlns:p14="http://schemas.microsoft.com/office/powerpoint/2010/main" val="37663043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9</a:t>
            </a:fld>
            <a:endParaRPr lang="en-US"/>
          </a:p>
        </p:txBody>
      </p:sp>
    </p:spTree>
    <p:extLst>
      <p:ext uri="{BB962C8B-B14F-4D97-AF65-F5344CB8AC3E}">
        <p14:creationId xmlns:p14="http://schemas.microsoft.com/office/powerpoint/2010/main" val="41422733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10</a:t>
            </a:fld>
            <a:endParaRPr lang="en-US"/>
          </a:p>
        </p:txBody>
      </p:sp>
    </p:spTree>
    <p:extLst>
      <p:ext uri="{BB962C8B-B14F-4D97-AF65-F5344CB8AC3E}">
        <p14:creationId xmlns:p14="http://schemas.microsoft.com/office/powerpoint/2010/main" val="26792726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11</a:t>
            </a:fld>
            <a:endParaRPr lang="en-US"/>
          </a:p>
        </p:txBody>
      </p:sp>
    </p:spTree>
    <p:extLst>
      <p:ext uri="{BB962C8B-B14F-4D97-AF65-F5344CB8AC3E}">
        <p14:creationId xmlns:p14="http://schemas.microsoft.com/office/powerpoint/2010/main" val="31335096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12</a:t>
            </a:fld>
            <a:endParaRPr lang="en-US"/>
          </a:p>
        </p:txBody>
      </p:sp>
    </p:spTree>
    <p:extLst>
      <p:ext uri="{BB962C8B-B14F-4D97-AF65-F5344CB8AC3E}">
        <p14:creationId xmlns:p14="http://schemas.microsoft.com/office/powerpoint/2010/main" val="21258821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13</a:t>
            </a:fld>
            <a:endParaRPr lang="en-US"/>
          </a:p>
        </p:txBody>
      </p:sp>
    </p:spTree>
    <p:extLst>
      <p:ext uri="{BB962C8B-B14F-4D97-AF65-F5344CB8AC3E}">
        <p14:creationId xmlns:p14="http://schemas.microsoft.com/office/powerpoint/2010/main" val="14885039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14</a:t>
            </a:fld>
            <a:endParaRPr lang="en-US"/>
          </a:p>
        </p:txBody>
      </p:sp>
    </p:spTree>
    <p:extLst>
      <p:ext uri="{BB962C8B-B14F-4D97-AF65-F5344CB8AC3E}">
        <p14:creationId xmlns:p14="http://schemas.microsoft.com/office/powerpoint/2010/main" val="38461852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15</a:t>
            </a:fld>
            <a:endParaRPr lang="en-US"/>
          </a:p>
        </p:txBody>
      </p:sp>
    </p:spTree>
    <p:extLst>
      <p:ext uri="{BB962C8B-B14F-4D97-AF65-F5344CB8AC3E}">
        <p14:creationId xmlns:p14="http://schemas.microsoft.com/office/powerpoint/2010/main" val="23466249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16</a:t>
            </a:fld>
            <a:endParaRPr lang="en-US"/>
          </a:p>
        </p:txBody>
      </p:sp>
    </p:spTree>
    <p:extLst>
      <p:ext uri="{BB962C8B-B14F-4D97-AF65-F5344CB8AC3E}">
        <p14:creationId xmlns:p14="http://schemas.microsoft.com/office/powerpoint/2010/main" val="42109023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17</a:t>
            </a:fld>
            <a:endParaRPr lang="en-US"/>
          </a:p>
        </p:txBody>
      </p:sp>
    </p:spTree>
    <p:extLst>
      <p:ext uri="{BB962C8B-B14F-4D97-AF65-F5344CB8AC3E}">
        <p14:creationId xmlns:p14="http://schemas.microsoft.com/office/powerpoint/2010/main" val="2165634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18</a:t>
            </a:fld>
            <a:endParaRPr lang="en-US"/>
          </a:p>
        </p:txBody>
      </p:sp>
    </p:spTree>
    <p:extLst>
      <p:ext uri="{BB962C8B-B14F-4D97-AF65-F5344CB8AC3E}">
        <p14:creationId xmlns:p14="http://schemas.microsoft.com/office/powerpoint/2010/main" val="8749453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19</a:t>
            </a:fld>
            <a:endParaRPr lang="en-US"/>
          </a:p>
        </p:txBody>
      </p:sp>
    </p:spTree>
    <p:extLst>
      <p:ext uri="{BB962C8B-B14F-4D97-AF65-F5344CB8AC3E}">
        <p14:creationId xmlns:p14="http://schemas.microsoft.com/office/powerpoint/2010/main" val="30399469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20</a:t>
            </a:fld>
            <a:endParaRPr lang="en-US"/>
          </a:p>
        </p:txBody>
      </p:sp>
    </p:spTree>
    <p:extLst>
      <p:ext uri="{BB962C8B-B14F-4D97-AF65-F5344CB8AC3E}">
        <p14:creationId xmlns:p14="http://schemas.microsoft.com/office/powerpoint/2010/main" val="11261130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21</a:t>
            </a:fld>
            <a:endParaRPr lang="en-US"/>
          </a:p>
        </p:txBody>
      </p:sp>
    </p:spTree>
    <p:extLst>
      <p:ext uri="{BB962C8B-B14F-4D97-AF65-F5344CB8AC3E}">
        <p14:creationId xmlns:p14="http://schemas.microsoft.com/office/powerpoint/2010/main" val="27971393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22</a:t>
            </a:fld>
            <a:endParaRPr lang="en-US"/>
          </a:p>
        </p:txBody>
      </p:sp>
    </p:spTree>
    <p:extLst>
      <p:ext uri="{BB962C8B-B14F-4D97-AF65-F5344CB8AC3E}">
        <p14:creationId xmlns:p14="http://schemas.microsoft.com/office/powerpoint/2010/main" val="24151787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23</a:t>
            </a:fld>
            <a:endParaRPr lang="en-US"/>
          </a:p>
        </p:txBody>
      </p:sp>
    </p:spTree>
    <p:extLst>
      <p:ext uri="{BB962C8B-B14F-4D97-AF65-F5344CB8AC3E}">
        <p14:creationId xmlns:p14="http://schemas.microsoft.com/office/powerpoint/2010/main" val="27120186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24</a:t>
            </a:fld>
            <a:endParaRPr lang="en-US"/>
          </a:p>
        </p:txBody>
      </p:sp>
    </p:spTree>
    <p:extLst>
      <p:ext uri="{BB962C8B-B14F-4D97-AF65-F5344CB8AC3E}">
        <p14:creationId xmlns:p14="http://schemas.microsoft.com/office/powerpoint/2010/main" val="18249119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25</a:t>
            </a:fld>
            <a:endParaRPr lang="en-US"/>
          </a:p>
        </p:txBody>
      </p:sp>
    </p:spTree>
    <p:extLst>
      <p:ext uri="{BB962C8B-B14F-4D97-AF65-F5344CB8AC3E}">
        <p14:creationId xmlns:p14="http://schemas.microsoft.com/office/powerpoint/2010/main" val="14137689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26</a:t>
            </a:fld>
            <a:endParaRPr lang="en-US"/>
          </a:p>
        </p:txBody>
      </p:sp>
    </p:spTree>
    <p:extLst>
      <p:ext uri="{BB962C8B-B14F-4D97-AF65-F5344CB8AC3E}">
        <p14:creationId xmlns:p14="http://schemas.microsoft.com/office/powerpoint/2010/main" val="8004394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27</a:t>
            </a:fld>
            <a:endParaRPr lang="en-US"/>
          </a:p>
        </p:txBody>
      </p:sp>
    </p:spTree>
    <p:extLst>
      <p:ext uri="{BB962C8B-B14F-4D97-AF65-F5344CB8AC3E}">
        <p14:creationId xmlns:p14="http://schemas.microsoft.com/office/powerpoint/2010/main" val="28352441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28</a:t>
            </a:fld>
            <a:endParaRPr lang="en-US"/>
          </a:p>
        </p:txBody>
      </p:sp>
    </p:spTree>
    <p:extLst>
      <p:ext uri="{BB962C8B-B14F-4D97-AF65-F5344CB8AC3E}">
        <p14:creationId xmlns:p14="http://schemas.microsoft.com/office/powerpoint/2010/main" val="33143259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29</a:t>
            </a:fld>
            <a:endParaRPr lang="en-US"/>
          </a:p>
        </p:txBody>
      </p:sp>
    </p:spTree>
    <p:extLst>
      <p:ext uri="{BB962C8B-B14F-4D97-AF65-F5344CB8AC3E}">
        <p14:creationId xmlns:p14="http://schemas.microsoft.com/office/powerpoint/2010/main" val="42755416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30</a:t>
            </a:fld>
            <a:endParaRPr lang="en-US"/>
          </a:p>
        </p:txBody>
      </p:sp>
    </p:spTree>
    <p:extLst>
      <p:ext uri="{BB962C8B-B14F-4D97-AF65-F5344CB8AC3E}">
        <p14:creationId xmlns:p14="http://schemas.microsoft.com/office/powerpoint/2010/main" val="17492066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31</a:t>
            </a:fld>
            <a:endParaRPr lang="en-US"/>
          </a:p>
        </p:txBody>
      </p:sp>
    </p:spTree>
    <p:extLst>
      <p:ext uri="{BB962C8B-B14F-4D97-AF65-F5344CB8AC3E}">
        <p14:creationId xmlns:p14="http://schemas.microsoft.com/office/powerpoint/2010/main" val="26638360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32</a:t>
            </a:fld>
            <a:endParaRPr lang="en-US"/>
          </a:p>
        </p:txBody>
      </p:sp>
    </p:spTree>
    <p:extLst>
      <p:ext uri="{BB962C8B-B14F-4D97-AF65-F5344CB8AC3E}">
        <p14:creationId xmlns:p14="http://schemas.microsoft.com/office/powerpoint/2010/main" val="22759849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33</a:t>
            </a:fld>
            <a:endParaRPr lang="en-US"/>
          </a:p>
        </p:txBody>
      </p:sp>
    </p:spTree>
    <p:extLst>
      <p:ext uri="{BB962C8B-B14F-4D97-AF65-F5344CB8AC3E}">
        <p14:creationId xmlns:p14="http://schemas.microsoft.com/office/powerpoint/2010/main" val="25982693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34</a:t>
            </a:fld>
            <a:endParaRPr lang="en-US"/>
          </a:p>
        </p:txBody>
      </p:sp>
    </p:spTree>
    <p:extLst>
      <p:ext uri="{BB962C8B-B14F-4D97-AF65-F5344CB8AC3E}">
        <p14:creationId xmlns:p14="http://schemas.microsoft.com/office/powerpoint/2010/main" val="40428810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35</a:t>
            </a:fld>
            <a:endParaRPr lang="en-US"/>
          </a:p>
        </p:txBody>
      </p:sp>
    </p:spTree>
    <p:extLst>
      <p:ext uri="{BB962C8B-B14F-4D97-AF65-F5344CB8AC3E}">
        <p14:creationId xmlns:p14="http://schemas.microsoft.com/office/powerpoint/2010/main" val="34083608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36</a:t>
            </a:fld>
            <a:endParaRPr lang="en-US"/>
          </a:p>
        </p:txBody>
      </p:sp>
    </p:spTree>
    <p:extLst>
      <p:ext uri="{BB962C8B-B14F-4D97-AF65-F5344CB8AC3E}">
        <p14:creationId xmlns:p14="http://schemas.microsoft.com/office/powerpoint/2010/main" val="42533153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37</a:t>
            </a:fld>
            <a:endParaRPr lang="en-US"/>
          </a:p>
        </p:txBody>
      </p:sp>
    </p:spTree>
    <p:extLst>
      <p:ext uri="{BB962C8B-B14F-4D97-AF65-F5344CB8AC3E}">
        <p14:creationId xmlns:p14="http://schemas.microsoft.com/office/powerpoint/2010/main" val="25240692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A7E65D-18CF-4D59-A6F1-BB78B0E4A628}" type="slidenum">
              <a:rPr lang="en-US" smtClean="0"/>
              <a:t>38</a:t>
            </a:fld>
            <a:endParaRPr lang="en-US"/>
          </a:p>
        </p:txBody>
      </p:sp>
    </p:spTree>
    <p:extLst>
      <p:ext uri="{BB962C8B-B14F-4D97-AF65-F5344CB8AC3E}">
        <p14:creationId xmlns:p14="http://schemas.microsoft.com/office/powerpoint/2010/main" val="11957341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C1B6B2F-E7A2-4F88-8EEA-C9553A691B49}" type="slidenum">
              <a:rPr lang="en-US" smtClean="0"/>
              <a:t>39</a:t>
            </a:fld>
            <a:endParaRPr lang="en-US"/>
          </a:p>
        </p:txBody>
      </p:sp>
    </p:spTree>
    <p:extLst>
      <p:ext uri="{BB962C8B-B14F-4D97-AF65-F5344CB8AC3E}">
        <p14:creationId xmlns:p14="http://schemas.microsoft.com/office/powerpoint/2010/main" val="3245277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9260B5C-FDD8-4270-A5A1-B2E3E66F03B8}" type="datetimeFigureOut">
              <a:rPr lang="en-US" smtClean="0"/>
              <a:t>9/11/2019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214E12-6169-4942-B8A3-946ECE461BA7}" type="slidenum">
              <a:rPr lang="en-US" smtClean="0"/>
              <a:t>‹#›</a:t>
            </a:fld>
            <a:endParaRPr lang="en-US"/>
          </a:p>
        </p:txBody>
      </p:sp>
    </p:spTree>
    <p:extLst>
      <p:ext uri="{BB962C8B-B14F-4D97-AF65-F5344CB8AC3E}">
        <p14:creationId xmlns:p14="http://schemas.microsoft.com/office/powerpoint/2010/main" val="1842238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260B5C-FDD8-4270-A5A1-B2E3E66F03B8}" type="datetimeFigureOut">
              <a:rPr lang="en-US" smtClean="0"/>
              <a:t>9/11/2019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214E12-6169-4942-B8A3-946ECE461BA7}" type="slidenum">
              <a:rPr lang="en-US" smtClean="0"/>
              <a:t>‹#›</a:t>
            </a:fld>
            <a:endParaRPr lang="en-US"/>
          </a:p>
        </p:txBody>
      </p:sp>
    </p:spTree>
    <p:extLst>
      <p:ext uri="{BB962C8B-B14F-4D97-AF65-F5344CB8AC3E}">
        <p14:creationId xmlns:p14="http://schemas.microsoft.com/office/powerpoint/2010/main" val="4201210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9260B5C-FDD8-4270-A5A1-B2E3E66F03B8}" type="datetimeFigureOut">
              <a:rPr lang="en-US" smtClean="0"/>
              <a:t>9/11/2019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214E12-6169-4942-B8A3-946ECE461BA7}" type="slidenum">
              <a:rPr lang="en-US" smtClean="0"/>
              <a:t>‹#›</a:t>
            </a:fld>
            <a:endParaRPr lang="en-US"/>
          </a:p>
        </p:txBody>
      </p:sp>
    </p:spTree>
    <p:extLst>
      <p:ext uri="{BB962C8B-B14F-4D97-AF65-F5344CB8AC3E}">
        <p14:creationId xmlns:p14="http://schemas.microsoft.com/office/powerpoint/2010/main" val="2943978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9260B5C-FDD8-4270-A5A1-B2E3E66F03B8}" type="datetimeFigureOut">
              <a:rPr lang="en-US" smtClean="0"/>
              <a:t>9/11/2019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214E12-6169-4942-B8A3-946ECE461BA7}" type="slidenum">
              <a:rPr lang="en-US" smtClean="0"/>
              <a:t>‹#›</a:t>
            </a:fld>
            <a:endParaRPr lang="en-US"/>
          </a:p>
        </p:txBody>
      </p:sp>
    </p:spTree>
    <p:extLst>
      <p:ext uri="{BB962C8B-B14F-4D97-AF65-F5344CB8AC3E}">
        <p14:creationId xmlns:p14="http://schemas.microsoft.com/office/powerpoint/2010/main" val="2165602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9260B5C-FDD8-4270-A5A1-B2E3E66F03B8}" type="datetimeFigureOut">
              <a:rPr lang="en-US" smtClean="0"/>
              <a:t>9/11/2019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214E12-6169-4942-B8A3-946ECE461BA7}" type="slidenum">
              <a:rPr lang="en-US" smtClean="0"/>
              <a:t>‹#›</a:t>
            </a:fld>
            <a:endParaRPr lang="en-US"/>
          </a:p>
        </p:txBody>
      </p:sp>
    </p:spTree>
    <p:extLst>
      <p:ext uri="{BB962C8B-B14F-4D97-AF65-F5344CB8AC3E}">
        <p14:creationId xmlns:p14="http://schemas.microsoft.com/office/powerpoint/2010/main" val="3454018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9260B5C-FDD8-4270-A5A1-B2E3E66F03B8}" type="datetimeFigureOut">
              <a:rPr lang="en-US" smtClean="0"/>
              <a:t>9/11/2019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214E12-6169-4942-B8A3-946ECE461BA7}" type="slidenum">
              <a:rPr lang="en-US" smtClean="0"/>
              <a:t>‹#›</a:t>
            </a:fld>
            <a:endParaRPr lang="en-US"/>
          </a:p>
        </p:txBody>
      </p:sp>
    </p:spTree>
    <p:extLst>
      <p:ext uri="{BB962C8B-B14F-4D97-AF65-F5344CB8AC3E}">
        <p14:creationId xmlns:p14="http://schemas.microsoft.com/office/powerpoint/2010/main" val="3729627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260B5C-FDD8-4270-A5A1-B2E3E66F03B8}" type="datetimeFigureOut">
              <a:rPr lang="en-US" smtClean="0"/>
              <a:t>9/11/2019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1214E12-6169-4942-B8A3-946ECE461BA7}" type="slidenum">
              <a:rPr lang="en-US" smtClean="0"/>
              <a:t>‹#›</a:t>
            </a:fld>
            <a:endParaRPr lang="en-US"/>
          </a:p>
        </p:txBody>
      </p:sp>
    </p:spTree>
    <p:extLst>
      <p:ext uri="{BB962C8B-B14F-4D97-AF65-F5344CB8AC3E}">
        <p14:creationId xmlns:p14="http://schemas.microsoft.com/office/powerpoint/2010/main" val="3757314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9260B5C-FDD8-4270-A5A1-B2E3E66F03B8}" type="datetimeFigureOut">
              <a:rPr lang="en-US" smtClean="0"/>
              <a:t>9/11/2019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214E12-6169-4942-B8A3-946ECE461BA7}" type="slidenum">
              <a:rPr lang="en-US" smtClean="0"/>
              <a:t>‹#›</a:t>
            </a:fld>
            <a:endParaRPr lang="en-US"/>
          </a:p>
        </p:txBody>
      </p:sp>
    </p:spTree>
    <p:extLst>
      <p:ext uri="{BB962C8B-B14F-4D97-AF65-F5344CB8AC3E}">
        <p14:creationId xmlns:p14="http://schemas.microsoft.com/office/powerpoint/2010/main" val="3659962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9260B5C-FDD8-4270-A5A1-B2E3E66F03B8}" type="datetimeFigureOut">
              <a:rPr lang="en-US" smtClean="0"/>
              <a:t>9/11/2019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214E12-6169-4942-B8A3-946ECE461BA7}" type="slidenum">
              <a:rPr lang="en-US" smtClean="0"/>
              <a:t>‹#›</a:t>
            </a:fld>
            <a:endParaRPr lang="en-US"/>
          </a:p>
        </p:txBody>
      </p:sp>
    </p:spTree>
    <p:extLst>
      <p:ext uri="{BB962C8B-B14F-4D97-AF65-F5344CB8AC3E}">
        <p14:creationId xmlns:p14="http://schemas.microsoft.com/office/powerpoint/2010/main" val="20783528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260B5C-FDD8-4270-A5A1-B2E3E66F03B8}" type="datetimeFigureOut">
              <a:rPr lang="en-US" smtClean="0"/>
              <a:t>9/11/2019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214E12-6169-4942-B8A3-946ECE461BA7}" type="slidenum">
              <a:rPr lang="en-US" smtClean="0"/>
              <a:t>‹#›</a:t>
            </a:fld>
            <a:endParaRPr lang="en-US"/>
          </a:p>
        </p:txBody>
      </p:sp>
    </p:spTree>
    <p:extLst>
      <p:ext uri="{BB962C8B-B14F-4D97-AF65-F5344CB8AC3E}">
        <p14:creationId xmlns:p14="http://schemas.microsoft.com/office/powerpoint/2010/main" val="434911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260B5C-FDD8-4270-A5A1-B2E3E66F03B8}" type="datetimeFigureOut">
              <a:rPr lang="en-US" smtClean="0"/>
              <a:t>9/11/2019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214E12-6169-4942-B8A3-946ECE461BA7}" type="slidenum">
              <a:rPr lang="en-US" smtClean="0"/>
              <a:t>‹#›</a:t>
            </a:fld>
            <a:endParaRPr lang="en-US"/>
          </a:p>
        </p:txBody>
      </p:sp>
    </p:spTree>
    <p:extLst>
      <p:ext uri="{BB962C8B-B14F-4D97-AF65-F5344CB8AC3E}">
        <p14:creationId xmlns:p14="http://schemas.microsoft.com/office/powerpoint/2010/main" val="7934132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29260B5C-FDD8-4270-A5A1-B2E3E66F03B8}" type="datetimeFigureOut">
              <a:rPr lang="en-US" smtClean="0"/>
              <a:t>9/11/2019</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41214E12-6169-4942-B8A3-946ECE461BA7}"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9260B5C-FDD8-4270-A5A1-B2E3E66F03B8}" type="datetimeFigureOut">
              <a:rPr lang="en-US" smtClean="0"/>
              <a:t>9/11/2019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41214E12-6169-4942-B8A3-946ECE461BA7}" type="slidenum">
              <a:rPr lang="en-US" smtClean="0"/>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29260B5C-FDD8-4270-A5A1-B2E3E66F03B8}" type="datetimeFigureOut">
              <a:rPr lang="en-US" smtClean="0"/>
              <a:t>9/11/2019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41214E12-6169-4942-B8A3-946ECE461BA7}" type="slidenum">
              <a:rPr lang="en-US" smtClean="0"/>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29260B5C-FDD8-4270-A5A1-B2E3E66F03B8}" type="datetimeFigureOut">
              <a:rPr lang="en-US" smtClean="0"/>
              <a:t>9/11/2019</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41214E12-6169-4942-B8A3-946ECE461BA7}" type="slidenum">
              <a:rPr lang="en-US" smtClean="0"/>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29260B5C-FDD8-4270-A5A1-B2E3E66F03B8}" type="datetimeFigureOut">
              <a:rPr lang="en-US" smtClean="0"/>
              <a:t>9/11/2019</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41214E12-6169-4942-B8A3-946ECE461BA7}"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29260B5C-FDD8-4270-A5A1-B2E3E66F03B8}" type="datetimeFigureOut">
              <a:rPr lang="en-US" smtClean="0"/>
              <a:t>9/11/2019</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41214E12-6169-4942-B8A3-946ECE461BA7}" type="slidenum">
              <a:rPr lang="en-US" smtClean="0"/>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29260B5C-FDD8-4270-A5A1-B2E3E66F03B8}" type="datetimeFigureOut">
              <a:rPr lang="en-US" smtClean="0"/>
              <a:t>9/11/2019</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41214E12-6169-4942-B8A3-946ECE461BA7}"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29260B5C-FDD8-4270-A5A1-B2E3E66F03B8}" type="datetimeFigureOut">
              <a:rPr lang="en-US" smtClean="0"/>
              <a:t>9/11/2019</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41214E12-6169-4942-B8A3-946ECE461BA7}"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29260B5C-FDD8-4270-A5A1-B2E3E66F03B8}" type="datetimeFigureOut">
              <a:rPr lang="en-US" smtClean="0"/>
              <a:t>9/11/2019</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41214E12-6169-4942-B8A3-946ECE461BA7}" type="slidenum">
              <a:rPr lang="en-US" smtClean="0"/>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9260B5C-FDD8-4270-A5A1-B2E3E66F03B8}" type="datetimeFigureOut">
              <a:rPr lang="en-US" smtClean="0"/>
              <a:t>9/11/2019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41214E12-6169-4942-B8A3-946ECE461BA7}"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9260B5C-FDD8-4270-A5A1-B2E3E66F03B8}" type="datetimeFigureOut">
              <a:rPr lang="en-US" smtClean="0"/>
              <a:t>9/11/2019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41214E12-6169-4942-B8A3-946ECE461BA7}"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en-US" smtClean="0"/>
              <a:t>Click to edit Master title style</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9260B5C-FDD8-4270-A5A1-B2E3E66F03B8}" type="datetimeFigureOut">
              <a:rPr lang="en-US" smtClean="0"/>
              <a:t>9/11/2019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9260B5C-FDD8-4270-A5A1-B2E3E66F03B8}" type="datetimeFigureOut">
              <a:rPr lang="en-US" smtClean="0"/>
              <a:t>9/11/2019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text styles</a:t>
            </a:r>
          </a:p>
        </p:txBody>
      </p:sp>
      <p:sp>
        <p:nvSpPr>
          <p:cNvPr id="4" name="Date Placeholder 3"/>
          <p:cNvSpPr>
            <a:spLocks noGrp="1"/>
          </p:cNvSpPr>
          <p:nvPr>
            <p:ph type="dt" sz="half" idx="10"/>
          </p:nvPr>
        </p:nvSpPr>
        <p:spPr/>
        <p:txBody>
          <a:bodyPr/>
          <a:lstStyle/>
          <a:p>
            <a:fld id="{29260B5C-FDD8-4270-A5A1-B2E3E66F03B8}" type="datetimeFigureOut">
              <a:rPr lang="en-US" smtClean="0"/>
              <a:t>9/11/2019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9260B5C-FDD8-4270-A5A1-B2E3E66F03B8}" type="datetimeFigureOut">
              <a:rPr lang="en-US" smtClean="0"/>
              <a:t>9/11/2019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214E12-6169-4942-B8A3-946ECE461BA7}" type="slidenum">
              <a:rPr lang="en-US" smtClean="0"/>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9260B5C-FDD8-4270-A5A1-B2E3E66F03B8}" type="datetimeFigureOut">
              <a:rPr lang="en-US" smtClean="0"/>
              <a:t>9/11/2019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9260B5C-FDD8-4270-A5A1-B2E3E66F03B8}" type="datetimeFigureOut">
              <a:rPr lang="en-US" smtClean="0"/>
              <a:t>9/11/2019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260B5C-FDD8-4270-A5A1-B2E3E66F03B8}" type="datetimeFigureOut">
              <a:rPr lang="en-US" smtClean="0"/>
              <a:t>9/11/2019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en-US" smtClean="0"/>
              <a:t>Click to edit Master text styles</a:t>
            </a:r>
          </a:p>
        </p:txBody>
      </p:sp>
      <p:sp>
        <p:nvSpPr>
          <p:cNvPr id="5" name="Date Placeholder 4"/>
          <p:cNvSpPr>
            <a:spLocks noGrp="1"/>
          </p:cNvSpPr>
          <p:nvPr>
            <p:ph type="dt" sz="half" idx="10"/>
          </p:nvPr>
        </p:nvSpPr>
        <p:spPr/>
        <p:txBody>
          <a:bodyPr/>
          <a:lstStyle/>
          <a:p>
            <a:fld id="{29260B5C-FDD8-4270-A5A1-B2E3E66F03B8}" type="datetimeFigureOut">
              <a:rPr lang="en-US" smtClean="0"/>
              <a:t>9/11/2019</a:t>
            </a:fld>
            <a:endParaRPr 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41214E12-6169-4942-B8A3-946ECE461BA7}" type="slidenum">
              <a:rPr lang="en-US" smtClean="0"/>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en-US" smtClean="0"/>
              <a:t>Click icon to add picture</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9260B5C-FDD8-4270-A5A1-B2E3E66F03B8}" type="datetimeFigureOut">
              <a:rPr lang="en-US" smtClean="0"/>
              <a:t>9/11/2019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260B5C-FDD8-4270-A5A1-B2E3E66F03B8}" type="datetimeFigureOut">
              <a:rPr lang="en-US" smtClean="0"/>
              <a:t>9/11/2019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260B5C-FDD8-4270-A5A1-B2E3E66F03B8}" type="datetimeFigureOut">
              <a:rPr lang="en-US" smtClean="0"/>
              <a:t>9/11/2019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en-US" smtClean="0"/>
              <a:t>Click to edit Master title style</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9260B5C-FDD8-4270-A5A1-B2E3E66F03B8}" type="datetimeFigureOut">
              <a:rPr lang="en-US" smtClean="0"/>
              <a:t>9/11/2019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9260B5C-FDD8-4270-A5A1-B2E3E66F03B8}" type="datetimeFigureOut">
              <a:rPr lang="en-US" smtClean="0"/>
              <a:t>9/11/2019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text styles</a:t>
            </a:r>
          </a:p>
        </p:txBody>
      </p:sp>
      <p:sp>
        <p:nvSpPr>
          <p:cNvPr id="4" name="Date Placeholder 3"/>
          <p:cNvSpPr>
            <a:spLocks noGrp="1"/>
          </p:cNvSpPr>
          <p:nvPr>
            <p:ph type="dt" sz="half" idx="10"/>
          </p:nvPr>
        </p:nvSpPr>
        <p:spPr/>
        <p:txBody>
          <a:bodyPr/>
          <a:lstStyle/>
          <a:p>
            <a:fld id="{29260B5C-FDD8-4270-A5A1-B2E3E66F03B8}" type="datetimeFigureOut">
              <a:rPr lang="en-US" smtClean="0"/>
              <a:t>9/11/2019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9260B5C-FDD8-4270-A5A1-B2E3E66F03B8}" type="datetimeFigureOut">
              <a:rPr lang="en-US" smtClean="0"/>
              <a:t>9/11/2019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214E12-6169-4942-B8A3-946ECE461BA7}" type="slidenum">
              <a:rPr lang="en-US" smtClean="0"/>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9260B5C-FDD8-4270-A5A1-B2E3E66F03B8}" type="datetimeFigureOut">
              <a:rPr lang="en-US" smtClean="0"/>
              <a:t>9/11/2019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9260B5C-FDD8-4270-A5A1-B2E3E66F03B8}" type="datetimeFigureOut">
              <a:rPr lang="en-US" smtClean="0"/>
              <a:t>9/11/2019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260B5C-FDD8-4270-A5A1-B2E3E66F03B8}" type="datetimeFigureOut">
              <a:rPr lang="en-US" smtClean="0"/>
              <a:t>9/11/2019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en-US" smtClean="0"/>
              <a:t>Click to edit Master text styles</a:t>
            </a:r>
          </a:p>
        </p:txBody>
      </p:sp>
      <p:sp>
        <p:nvSpPr>
          <p:cNvPr id="5" name="Date Placeholder 4"/>
          <p:cNvSpPr>
            <a:spLocks noGrp="1"/>
          </p:cNvSpPr>
          <p:nvPr>
            <p:ph type="dt" sz="half" idx="10"/>
          </p:nvPr>
        </p:nvSpPr>
        <p:spPr/>
        <p:txBody>
          <a:bodyPr/>
          <a:lstStyle/>
          <a:p>
            <a:fld id="{29260B5C-FDD8-4270-A5A1-B2E3E66F03B8}" type="datetimeFigureOut">
              <a:rPr lang="en-US" smtClean="0"/>
              <a:t>9/11/2019</a:t>
            </a:fld>
            <a:endParaRPr 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41214E12-6169-4942-B8A3-946ECE461BA7}" type="slidenum">
              <a:rPr lang="en-US" smtClean="0"/>
              <a:t>‹#›</a:t>
            </a:fld>
            <a:endParaRPr 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en-US" smtClean="0"/>
              <a:t>Click icon to add picture</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9260B5C-FDD8-4270-A5A1-B2E3E66F03B8}" type="datetimeFigureOut">
              <a:rPr lang="en-US" smtClean="0"/>
              <a:t>9/11/2019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260B5C-FDD8-4270-A5A1-B2E3E66F03B8}" type="datetimeFigureOut">
              <a:rPr lang="en-US" smtClean="0"/>
              <a:t>9/11/2019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260B5C-FDD8-4270-A5A1-B2E3E66F03B8}" type="datetimeFigureOut">
              <a:rPr lang="en-US" smtClean="0"/>
              <a:t>9/11/2019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smtClean="0"/>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29260B5C-FDD8-4270-A5A1-B2E3E66F03B8}" type="datetimeFigureOut">
              <a:rPr lang="en-US" smtClean="0"/>
              <a:t>9/11/2019</a:t>
            </a:fld>
            <a:endParaRPr lang="en-US"/>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US"/>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41214E12-6169-4942-B8A3-946ECE461BA7}" type="slidenum">
              <a:rPr lang="en-US" smtClean="0"/>
              <a:t>‹#›</a:t>
            </a:fld>
            <a:endParaRPr lang="en-US"/>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9260B5C-FDD8-4270-A5A1-B2E3E66F03B8}" type="datetimeFigureOut">
              <a:rPr lang="en-US" smtClean="0"/>
              <a:t>9/11/2019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9260B5C-FDD8-4270-A5A1-B2E3E66F03B8}" type="datetimeFigureOut">
              <a:rPr lang="en-US" smtClean="0"/>
              <a:t>9/11/2019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29260B5C-FDD8-4270-A5A1-B2E3E66F03B8}" type="datetimeFigureOut">
              <a:rPr lang="en-US" smtClean="0"/>
              <a:t>9/11/2019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214E12-6169-4942-B8A3-946ECE461BA7}" type="slidenum">
              <a:rPr lang="en-US" smtClean="0"/>
              <a:t>‹#›</a:t>
            </a:fld>
            <a:endParaRPr lang="en-US"/>
          </a:p>
        </p:txBody>
      </p:sp>
      <p:sp>
        <p:nvSpPr>
          <p:cNvPr id="9" name="Content Placeholder 8"/>
          <p:cNvSpPr>
            <a:spLocks noGrp="1"/>
          </p:cNvSpPr>
          <p:nvPr>
            <p:ph sz="quarter" idx="13"/>
          </p:nvPr>
        </p:nvSpPr>
        <p:spPr>
          <a:xfrm>
            <a:off x="1042416" y="2313432"/>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9260B5C-FDD8-4270-A5A1-B2E3E66F03B8}" type="datetimeFigureOut">
              <a:rPr lang="en-US" smtClean="0"/>
              <a:t>9/11/2019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9260B5C-FDD8-4270-A5A1-B2E3E66F03B8}" type="datetimeFigureOut">
              <a:rPr lang="en-US" smtClean="0"/>
              <a:t>9/11/2019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260B5C-FDD8-4270-A5A1-B2E3E66F03B8}" type="datetimeFigureOut">
              <a:rPr lang="en-US" smtClean="0"/>
              <a:t>9/11/2019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29260B5C-FDD8-4270-A5A1-B2E3E66F03B8}" type="datetimeFigureOut">
              <a:rPr lang="en-US" smtClean="0"/>
              <a:t>9/11/2019</a:t>
            </a:fld>
            <a:endParaRPr lang="en-US"/>
          </a:p>
        </p:txBody>
      </p:sp>
      <p:sp>
        <p:nvSpPr>
          <p:cNvPr id="7" name="Slide Number Placeholder 6"/>
          <p:cNvSpPr>
            <a:spLocks noGrp="1"/>
          </p:cNvSpPr>
          <p:nvPr>
            <p:ph type="sldNum" sz="quarter" idx="12"/>
          </p:nvPr>
        </p:nvSpPr>
        <p:spPr/>
        <p:txBody>
          <a:bodyPr/>
          <a:lstStyle/>
          <a:p>
            <a:fld id="{41214E12-6169-4942-B8A3-946ECE461BA7}" type="slidenum">
              <a:rPr lang="en-US" smtClean="0"/>
              <a:t>‹#›</a:t>
            </a:fld>
            <a:endParaRPr lang="en-US"/>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smtClean="0"/>
              <a:t>Click to edit Master title style</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9260B5C-FDD8-4270-A5A1-B2E3E66F03B8}" type="datetimeFigureOut">
              <a:rPr lang="en-US" smtClean="0"/>
              <a:t>9/11/2019</a:t>
            </a:fld>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p>
        </p:txBody>
      </p:sp>
      <p:sp>
        <p:nvSpPr>
          <p:cNvPr id="7" name="Slide Number Placeholder 6"/>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260B5C-FDD8-4270-A5A1-B2E3E66F03B8}" type="datetimeFigureOut">
              <a:rPr lang="en-US" smtClean="0"/>
              <a:t>9/11/2019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smtClean="0"/>
              <a:t>Click to edit Master title style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260B5C-FDD8-4270-A5A1-B2E3E66F03B8}" type="datetimeFigureOut">
              <a:rPr lang="en-US" smtClean="0"/>
              <a:t>9/11/2019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214E12-6169-4942-B8A3-946ECE461BA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260B5C-FDD8-4270-A5A1-B2E3E66F03B8}" type="datetimeFigureOut">
              <a:rPr lang="en-US" smtClean="0"/>
              <a:t>9/11/2019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214E12-6169-4942-B8A3-946ECE461BA7}" type="slidenum">
              <a:rPr lang="en-US" smtClean="0"/>
              <a:t>‹#›</a:t>
            </a:fld>
            <a:endParaRPr lang="en-US"/>
          </a:p>
        </p:txBody>
      </p:sp>
    </p:spTree>
    <p:extLst>
      <p:ext uri="{BB962C8B-B14F-4D97-AF65-F5344CB8AC3E}">
        <p14:creationId xmlns:p14="http://schemas.microsoft.com/office/powerpoint/2010/main" val="30155825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29260B5C-FDD8-4270-A5A1-B2E3E66F03B8}" type="datetimeFigureOut">
              <a:rPr lang="en-US" smtClean="0"/>
              <a:t>9/11/2019</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41214E12-6169-4942-B8A3-946ECE461BA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5050633"/>
            <a:ext cx="3574257" cy="1807368"/>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5051292"/>
            <a:ext cx="9146380" cy="1806709"/>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9140000">
            <a:off x="201168" y="5870448"/>
            <a:ext cx="2176272" cy="201168"/>
          </a:xfrm>
          <a:prstGeom prst="rect">
            <a:avLst/>
          </a:prstGeom>
        </p:spPr>
        <p:txBody>
          <a:bodyPr vert="horz" lIns="91440" tIns="45720" rIns="91440" bIns="45720" rtlCol="0" anchor="ctr"/>
          <a:lstStyle>
            <a:lvl1pPr algn="l">
              <a:defRPr sz="1200">
                <a:solidFill>
                  <a:srgbClr val="FFFFFF"/>
                </a:solidFill>
              </a:defRPr>
            </a:lvl1pPr>
          </a:lstStyle>
          <a:p>
            <a:fld id="{29260B5C-FDD8-4270-A5A1-B2E3E66F03B8}" type="datetimeFigureOut">
              <a:rPr lang="en-US" smtClean="0"/>
              <a:t>9/11/2019</a:t>
            </a:fld>
            <a:endParaRPr lang="en-US"/>
          </a:p>
        </p:txBody>
      </p:sp>
      <p:sp>
        <p:nvSpPr>
          <p:cNvPr id="5" name="Footer Placeholder 4"/>
          <p:cNvSpPr>
            <a:spLocks noGrp="1"/>
          </p:cNvSpPr>
          <p:nvPr>
            <p:ph type="ftr" sz="quarter" idx="3"/>
          </p:nvPr>
        </p:nvSpPr>
        <p:spPr>
          <a:xfrm>
            <a:off x="3517514" y="6285122"/>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en-US"/>
          </a:p>
        </p:txBody>
      </p:sp>
      <p:sp>
        <p:nvSpPr>
          <p:cNvPr id="6" name="Slide Number Placeholder 5"/>
          <p:cNvSpPr>
            <a:spLocks noGrp="1"/>
          </p:cNvSpPr>
          <p:nvPr>
            <p:ph type="sldNum" sz="quarter" idx="4"/>
          </p:nvPr>
        </p:nvSpPr>
        <p:spPr>
          <a:xfrm>
            <a:off x="8401038" y="6170822"/>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41214E12-6169-4942-B8A3-946ECE461BA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5050633"/>
            <a:ext cx="3574257" cy="1807368"/>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5051292"/>
            <a:ext cx="9146380" cy="1806709"/>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9140000">
            <a:off x="201168" y="5870448"/>
            <a:ext cx="2176272" cy="201168"/>
          </a:xfrm>
          <a:prstGeom prst="rect">
            <a:avLst/>
          </a:prstGeom>
        </p:spPr>
        <p:txBody>
          <a:bodyPr vert="horz" lIns="91440" tIns="45720" rIns="91440" bIns="45720" rtlCol="0" anchor="ctr"/>
          <a:lstStyle>
            <a:lvl1pPr algn="l">
              <a:defRPr sz="1200">
                <a:solidFill>
                  <a:srgbClr val="FFFFFF"/>
                </a:solidFill>
              </a:defRPr>
            </a:lvl1pPr>
          </a:lstStyle>
          <a:p>
            <a:fld id="{29260B5C-FDD8-4270-A5A1-B2E3E66F03B8}" type="datetimeFigureOut">
              <a:rPr lang="en-US" smtClean="0"/>
              <a:t>9/11/2019</a:t>
            </a:fld>
            <a:endParaRPr lang="en-US"/>
          </a:p>
        </p:txBody>
      </p:sp>
      <p:sp>
        <p:nvSpPr>
          <p:cNvPr id="5" name="Footer Placeholder 4"/>
          <p:cNvSpPr>
            <a:spLocks noGrp="1"/>
          </p:cNvSpPr>
          <p:nvPr>
            <p:ph type="ftr" sz="quarter" idx="3"/>
          </p:nvPr>
        </p:nvSpPr>
        <p:spPr>
          <a:xfrm>
            <a:off x="3517514" y="6285122"/>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en-US"/>
          </a:p>
        </p:txBody>
      </p:sp>
      <p:sp>
        <p:nvSpPr>
          <p:cNvPr id="6" name="Slide Number Placeholder 5"/>
          <p:cNvSpPr>
            <a:spLocks noGrp="1"/>
          </p:cNvSpPr>
          <p:nvPr>
            <p:ph type="sldNum" sz="quarter" idx="4"/>
          </p:nvPr>
        </p:nvSpPr>
        <p:spPr>
          <a:xfrm>
            <a:off x="8401038" y="6170822"/>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41214E12-6169-4942-B8A3-946ECE461BA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29260B5C-FDD8-4270-A5A1-B2E3E66F03B8}" type="datetimeFigureOut">
              <a:rPr lang="en-US" smtClean="0"/>
              <a:t>9/11/2019</a:t>
            </a:fld>
            <a:endParaRPr lang="en-US"/>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41214E12-6169-4942-B8A3-946ECE461BA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9.xml"/><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533400"/>
            <a:ext cx="7772400" cy="1470025"/>
          </a:xfrm>
        </p:spPr>
        <p:style>
          <a:lnRef idx="2">
            <a:schemeClr val="accent1"/>
          </a:lnRef>
          <a:fillRef idx="1">
            <a:schemeClr val="lt1"/>
          </a:fillRef>
          <a:effectRef idx="0">
            <a:schemeClr val="accent1"/>
          </a:effectRef>
          <a:fontRef idx="minor">
            <a:schemeClr val="dk1"/>
          </a:fontRef>
        </p:style>
        <p:txBody>
          <a:bodyPr>
            <a:normAutofit fontScale="90000"/>
          </a:bodyPr>
          <a:lstStyle/>
          <a:p>
            <a:pPr algn="ctr"/>
            <a:r>
              <a:rPr lang="en-US" b="1" dirty="0" smtClean="0">
                <a:solidFill>
                  <a:srgbClr val="FF0000"/>
                </a:solidFill>
                <a:latin typeface="Arial" panose="020B0604020202020204" pitchFamily="34" charset="0"/>
                <a:cs typeface="Arial" panose="020B0604020202020204" pitchFamily="34" charset="0"/>
              </a:rPr>
              <a:t>CƠ BẢN VỀ KHÍ DUNG Ở TRẺ EM</a:t>
            </a:r>
            <a:endParaRPr lang="en-US" b="1" dirty="0">
              <a:solidFill>
                <a:srgbClr val="FF0000"/>
              </a:solidFill>
              <a:latin typeface="Arial" panose="020B0604020202020204" pitchFamily="34" charset="0"/>
              <a:cs typeface="Arial" panose="020B0604020202020204" pitchFamily="34" charset="0"/>
            </a:endParaRPr>
          </a:p>
        </p:txBody>
      </p:sp>
      <p:sp>
        <p:nvSpPr>
          <p:cNvPr id="4" name="TextBox 3"/>
          <p:cNvSpPr txBox="1"/>
          <p:nvPr/>
        </p:nvSpPr>
        <p:spPr>
          <a:xfrm>
            <a:off x="2819400" y="3048000"/>
            <a:ext cx="6477000" cy="523220"/>
          </a:xfrm>
          <a:prstGeom prst="rect">
            <a:avLst/>
          </a:prstGeom>
          <a:noFill/>
        </p:spPr>
        <p:txBody>
          <a:bodyPr wrap="square" rtlCol="0">
            <a:spAutoFit/>
          </a:bodyPr>
          <a:lstStyle/>
          <a:p>
            <a:r>
              <a:rPr lang="en-US" sz="2800" i="1" dirty="0" smtClean="0">
                <a:latin typeface="Arial" panose="020B0604020202020204" pitchFamily="34" charset="0"/>
                <a:cs typeface="Arial" panose="020B0604020202020204" pitchFamily="34" charset="0"/>
              </a:rPr>
              <a:t>Nhóm Hô Hấp- CLB Nhi khoa HUMP</a:t>
            </a:r>
            <a:endParaRPr lang="en-US" sz="28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87945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00" y="60278"/>
            <a:ext cx="5181600" cy="533400"/>
          </a:xfrm>
          <a:solidFill>
            <a:schemeClr val="accent2">
              <a:lumMod val="20000"/>
              <a:lumOff val="80000"/>
            </a:schemeClr>
          </a:solidFill>
        </p:spPr>
        <p:txBody>
          <a:bodyPr>
            <a:noAutofit/>
          </a:bodyPr>
          <a:lstStyle/>
          <a:p>
            <a:r>
              <a:rPr lang="en-US" sz="3200" b="1" dirty="0" smtClean="0">
                <a:latin typeface="Arial" panose="020B0604020202020204" pitchFamily="34" charset="0"/>
                <a:cs typeface="Arial" panose="020B0604020202020204" pitchFamily="34" charset="0"/>
              </a:rPr>
              <a:t>Đường dẫn khí</a:t>
            </a:r>
            <a:r>
              <a:rPr lang="en-US" sz="3200" b="1" dirty="0">
                <a:latin typeface="Arial" panose="020B0604020202020204" pitchFamily="34" charset="0"/>
                <a:cs typeface="Arial" panose="020B0604020202020204" pitchFamily="34" charset="0"/>
              </a:rPr>
              <a:t>?</a:t>
            </a:r>
          </a:p>
        </p:txBody>
      </p:sp>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6200" y="685800"/>
            <a:ext cx="9180538" cy="5994234"/>
          </a:xfrm>
        </p:spPr>
      </p:pic>
    </p:spTree>
    <p:extLst>
      <p:ext uri="{BB962C8B-B14F-4D97-AF65-F5344CB8AC3E}">
        <p14:creationId xmlns:p14="http://schemas.microsoft.com/office/powerpoint/2010/main" val="36606405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ttps://aneskey.com/wp-content/uploads/2016/07/B9781455706051001688_f168-001-9781455706051.jpg"/>
          <p:cNvPicPr/>
          <p:nvPr/>
        </p:nvPicPr>
        <p:blipFill>
          <a:blip r:embed="rId3">
            <a:extLst>
              <a:ext uri="{28A0092B-C50C-407E-A947-70E740481C1C}">
                <a14:useLocalDpi xmlns:a14="http://schemas.microsoft.com/office/drawing/2010/main" val="0"/>
              </a:ext>
            </a:extLst>
          </a:blip>
          <a:srcRect/>
          <a:stretch>
            <a:fillRect/>
          </a:stretch>
        </p:blipFill>
        <p:spPr bwMode="auto">
          <a:xfrm>
            <a:off x="4343400" y="1066800"/>
            <a:ext cx="6858000" cy="5419670"/>
          </a:xfrm>
          <a:prstGeom prst="rect">
            <a:avLst/>
          </a:prstGeom>
          <a:noFill/>
          <a:ln>
            <a:noFill/>
          </a:ln>
        </p:spPr>
      </p:pic>
      <p:sp>
        <p:nvSpPr>
          <p:cNvPr id="5" name="TextBox 4"/>
          <p:cNvSpPr txBox="1"/>
          <p:nvPr/>
        </p:nvSpPr>
        <p:spPr>
          <a:xfrm>
            <a:off x="1724736" y="87579"/>
            <a:ext cx="5867400" cy="523220"/>
          </a:xfrm>
          <a:prstGeom prst="rect">
            <a:avLst/>
          </a:prstGeom>
          <a:solidFill>
            <a:schemeClr val="accent2">
              <a:lumMod val="20000"/>
              <a:lumOff val="80000"/>
            </a:schemeClr>
          </a:solidFill>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sz="2800" b="1" dirty="0" smtClean="0">
                <a:solidFill>
                  <a:schemeClr val="tx1"/>
                </a:solidFill>
                <a:latin typeface="Arial" panose="020B0604020202020204" pitchFamily="34" charset="0"/>
                <a:cs typeface="Arial" panose="020B0604020202020204" pitchFamily="34" charset="0"/>
              </a:rPr>
              <a:t>Cấu trúc đường </a:t>
            </a:r>
            <a:r>
              <a:rPr lang="en-US" sz="2800" b="1" dirty="0" err="1" smtClean="0">
                <a:solidFill>
                  <a:schemeClr val="tx1"/>
                </a:solidFill>
                <a:latin typeface="Arial" panose="020B0604020202020204" pitchFamily="34" charset="0"/>
                <a:cs typeface="Arial" panose="020B0604020202020204" pitchFamily="34" charset="0"/>
              </a:rPr>
              <a:t>dẫn</a:t>
            </a:r>
            <a:r>
              <a:rPr lang="en-US" sz="2800" b="1" dirty="0" smtClean="0">
                <a:solidFill>
                  <a:schemeClr val="tx1"/>
                </a:solidFill>
                <a:latin typeface="Arial" panose="020B0604020202020204" pitchFamily="34" charset="0"/>
                <a:cs typeface="Arial" panose="020B0604020202020204" pitchFamily="34" charset="0"/>
              </a:rPr>
              <a:t> </a:t>
            </a:r>
            <a:r>
              <a:rPr lang="en-US" sz="2800" b="1" dirty="0" err="1" smtClean="0">
                <a:solidFill>
                  <a:schemeClr val="tx1"/>
                </a:solidFill>
                <a:latin typeface="Arial" panose="020B0604020202020204" pitchFamily="34" charset="0"/>
                <a:cs typeface="Arial" panose="020B0604020202020204" pitchFamily="34" charset="0"/>
              </a:rPr>
              <a:t>khí</a:t>
            </a:r>
            <a:endParaRPr lang="en-US" sz="2800" b="1" dirty="0">
              <a:solidFill>
                <a:schemeClr val="tx1"/>
              </a:solidFill>
              <a:latin typeface="Arial" panose="020B0604020202020204" pitchFamily="34" charset="0"/>
              <a:cs typeface="Arial" panose="020B0604020202020204" pitchFamily="34" charset="0"/>
            </a:endParaRPr>
          </a:p>
        </p:txBody>
      </p:sp>
      <p:sp>
        <p:nvSpPr>
          <p:cNvPr id="6" name="TextBox 5"/>
          <p:cNvSpPr txBox="1"/>
          <p:nvPr/>
        </p:nvSpPr>
        <p:spPr>
          <a:xfrm>
            <a:off x="0" y="891956"/>
            <a:ext cx="5410200" cy="1323439"/>
          </a:xfrm>
          <a:prstGeom prst="rect">
            <a:avLst/>
          </a:prstGeom>
          <a:noFill/>
        </p:spPr>
        <p:txBody>
          <a:bodyPr wrap="square" rtlCol="0">
            <a:spAutoFit/>
          </a:bodyPr>
          <a:lstStyle/>
          <a:p>
            <a:r>
              <a:rPr lang="en-US" sz="2000" b="1" dirty="0" smtClean="0">
                <a:latin typeface="Arial" panose="020B0604020202020204" pitchFamily="34" charset="0"/>
                <a:cs typeface="Arial" panose="020B0604020202020204" pitchFamily="34" charset="0"/>
              </a:rPr>
              <a:t>Sự khác nhau giữa đường thở ở trẻ em và người lớn</a:t>
            </a:r>
          </a:p>
          <a:p>
            <a:endParaRPr lang="en-US" sz="2000" b="1" dirty="0" smtClean="0">
              <a:latin typeface="Arial" panose="020B0604020202020204" pitchFamily="34" charset="0"/>
              <a:cs typeface="Arial" panose="020B0604020202020204" pitchFamily="34" charset="0"/>
            </a:endParaRPr>
          </a:p>
          <a:p>
            <a:pPr marL="285750" indent="-285750">
              <a:buFontTx/>
              <a:buChar char="-"/>
            </a:pPr>
            <a:endParaRPr lang="en-US" sz="2000" dirty="0">
              <a:latin typeface="Arial" panose="020B0604020202020204" pitchFamily="34" charset="0"/>
              <a:cs typeface="Arial" panose="020B0604020202020204" pitchFamily="34" charset="0"/>
            </a:endParaRPr>
          </a:p>
        </p:txBody>
      </p:sp>
      <p:sp>
        <p:nvSpPr>
          <p:cNvPr id="2" name="TextBox 1"/>
          <p:cNvSpPr txBox="1"/>
          <p:nvPr/>
        </p:nvSpPr>
        <p:spPr>
          <a:xfrm>
            <a:off x="0" y="1540119"/>
            <a:ext cx="5029200" cy="1938992"/>
          </a:xfrm>
          <a:prstGeom prst="rect">
            <a:avLst/>
          </a:prstGeom>
          <a:noFill/>
        </p:spPr>
        <p:txBody>
          <a:bodyPr wrap="square" rtlCol="0">
            <a:spAutoFit/>
          </a:bodyPr>
          <a:lstStyle/>
          <a:p>
            <a:r>
              <a:rPr lang="en-US" sz="2000" dirty="0" smtClean="0">
                <a:latin typeface="Arial" panose="020B0604020202020204" pitchFamily="34" charset="0"/>
                <a:cs typeface="Arial" panose="020B0604020202020204" pitchFamily="34" charset="0"/>
              </a:rPr>
              <a:t>- Vùng </a:t>
            </a:r>
            <a:r>
              <a:rPr lang="en-US" sz="2000" dirty="0">
                <a:latin typeface="Arial" panose="020B0604020202020204" pitchFamily="34" charset="0"/>
                <a:cs typeface="Arial" panose="020B0604020202020204" pitchFamily="34" charset="0"/>
              </a:rPr>
              <a:t>chẩm ở đầu trẻ to, nhô rõ hơn người lớn =&gt; </a:t>
            </a:r>
            <a:r>
              <a:rPr lang="en-US" sz="2000" dirty="0" smtClean="0">
                <a:latin typeface="Arial" panose="020B0604020202020204" pitchFamily="34" charset="0"/>
                <a:cs typeface="Arial" panose="020B0604020202020204" pitchFamily="34" charset="0"/>
              </a:rPr>
              <a:t> ở tư </a:t>
            </a:r>
            <a:r>
              <a:rPr lang="en-US" sz="2000" dirty="0">
                <a:latin typeface="Arial" panose="020B0604020202020204" pitchFamily="34" charset="0"/>
                <a:cs typeface="Arial" panose="020B0604020202020204" pitchFamily="34" charset="0"/>
              </a:rPr>
              <a:t>thế nằm </a:t>
            </a:r>
            <a:r>
              <a:rPr lang="en-US" sz="2000" dirty="0" smtClean="0">
                <a:latin typeface="Arial" panose="020B0604020202020204" pitchFamily="34" charset="0"/>
                <a:cs typeface="Arial" panose="020B0604020202020204" pitchFamily="34" charset="0"/>
              </a:rPr>
              <a:t>ngửa, trẻ dễ </a:t>
            </a:r>
            <a:r>
              <a:rPr lang="en-US" sz="2000" dirty="0">
                <a:latin typeface="Arial" panose="020B0604020202020204" pitchFamily="34" charset="0"/>
                <a:cs typeface="Arial" panose="020B0604020202020204" pitchFamily="34" charset="0"/>
              </a:rPr>
              <a:t>gập đường </a:t>
            </a:r>
            <a:r>
              <a:rPr lang="en-US" sz="2000" dirty="0" smtClean="0">
                <a:latin typeface="Arial" panose="020B0604020202020204" pitchFamily="34" charset="0"/>
                <a:cs typeface="Arial" panose="020B0604020202020204" pitchFamily="34" charset="0"/>
              </a:rPr>
              <a:t>thở</a:t>
            </a: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làm tăng </a:t>
            </a:r>
            <a:r>
              <a:rPr lang="en-US" sz="2000" dirty="0">
                <a:latin typeface="Arial" panose="020B0604020202020204" pitchFamily="34" charset="0"/>
                <a:cs typeface="Arial" panose="020B0604020202020204" pitchFamily="34" charset="0"/>
              </a:rPr>
              <a:t>nguy cơ hẹp, tắc đường thở =&gt; Lâm sàng : khò khè hoặc tiếng rale??</a:t>
            </a:r>
          </a:p>
          <a:p>
            <a:endParaRPr lang="en-US" sz="2000" dirty="0">
              <a:latin typeface="Arial" panose="020B0604020202020204" pitchFamily="34" charset="0"/>
              <a:cs typeface="Arial" panose="020B0604020202020204" pitchFamily="34" charset="0"/>
            </a:endParaRPr>
          </a:p>
        </p:txBody>
      </p:sp>
      <p:sp>
        <p:nvSpPr>
          <p:cNvPr id="7" name="TextBox 6"/>
          <p:cNvSpPr txBox="1"/>
          <p:nvPr/>
        </p:nvSpPr>
        <p:spPr>
          <a:xfrm>
            <a:off x="-23446" y="3276600"/>
            <a:ext cx="4724400" cy="2554545"/>
          </a:xfrm>
          <a:prstGeom prst="rect">
            <a:avLst/>
          </a:prstGeom>
          <a:noFill/>
        </p:spPr>
        <p:txBody>
          <a:bodyPr wrap="square" rtlCol="0">
            <a:spAutoFit/>
          </a:bodyPr>
          <a:lstStyle/>
          <a:p>
            <a:r>
              <a:rPr lang="en-US" sz="2000" dirty="0" smtClean="0">
                <a:latin typeface="Arial" panose="020B0604020202020204" pitchFamily="34" charset="0"/>
                <a:cs typeface="Arial" panose="020B0604020202020204" pitchFamily="34" charset="0"/>
              </a:rPr>
              <a:t>- Thanh </a:t>
            </a:r>
            <a:r>
              <a:rPr lang="en-US" sz="2000" dirty="0">
                <a:latin typeface="Arial" panose="020B0604020202020204" pitchFamily="34" charset="0"/>
                <a:cs typeface="Arial" panose="020B0604020202020204" pitchFamily="34" charset="0"/>
              </a:rPr>
              <a:t>khí quản cao hơn , ngả </a:t>
            </a:r>
            <a:r>
              <a:rPr lang="en-US" sz="2000" dirty="0" smtClean="0">
                <a:latin typeface="Arial" panose="020B0604020202020204" pitchFamily="34" charset="0"/>
                <a:cs typeface="Arial" panose="020B0604020202020204" pitchFamily="34" charset="0"/>
              </a:rPr>
              <a:t>trước</a:t>
            </a:r>
          </a:p>
          <a:p>
            <a:r>
              <a:rPr lang="en-US" sz="2000" dirty="0" smtClean="0">
                <a:latin typeface="Arial" panose="020B0604020202020204" pitchFamily="34" charset="0"/>
                <a:cs typeface="Arial" panose="020B0604020202020204" pitchFamily="34" charset="0"/>
              </a:rPr>
              <a:t>(tránh </a:t>
            </a:r>
            <a:r>
              <a:rPr lang="en-US" sz="2000" dirty="0">
                <a:latin typeface="Arial" panose="020B0604020202020204" pitchFamily="34" charset="0"/>
                <a:cs typeface="Arial" panose="020B0604020202020204" pitchFamily="34" charset="0"/>
              </a:rPr>
              <a:t>hít thức ăn) </a:t>
            </a:r>
            <a:endParaRPr lang="en-US" sz="2000" dirty="0" smtClean="0">
              <a:latin typeface="Arial" panose="020B0604020202020204" pitchFamily="34" charset="0"/>
              <a:cs typeface="Arial" panose="020B0604020202020204" pitchFamily="34" charset="0"/>
            </a:endParaRPr>
          </a:p>
          <a:p>
            <a:pPr lvl="0"/>
            <a:endParaRPr lang="en-US" sz="2000" dirty="0">
              <a:latin typeface="Arial" panose="020B0604020202020204" pitchFamily="34" charset="0"/>
              <a:cs typeface="Arial" panose="020B0604020202020204" pitchFamily="34" charset="0"/>
            </a:endParaRPr>
          </a:p>
          <a:p>
            <a:pPr lvl="0"/>
            <a:r>
              <a:rPr lang="en-US" sz="2000" dirty="0" smtClean="0">
                <a:latin typeface="Arial" panose="020B0604020202020204" pitchFamily="34" charset="0"/>
                <a:cs typeface="Arial" panose="020B0604020202020204" pitchFamily="34" charset="0"/>
              </a:rPr>
              <a:t>- Khí </a:t>
            </a:r>
            <a:r>
              <a:rPr lang="en-US" sz="2000" dirty="0">
                <a:latin typeface="Arial" panose="020B0604020202020204" pitchFamily="34" charset="0"/>
                <a:cs typeface="Arial" panose="020B0604020202020204" pitchFamily="34" charset="0"/>
              </a:rPr>
              <a:t>quản mềm, hẹp hình phễu ở </a:t>
            </a:r>
            <a:r>
              <a:rPr lang="en-US" sz="2000" dirty="0" smtClean="0">
                <a:latin typeface="Arial" panose="020B0604020202020204" pitchFamily="34" charset="0"/>
                <a:cs typeface="Arial" panose="020B0604020202020204" pitchFamily="34" charset="0"/>
              </a:rPr>
              <a:t>sụn </a:t>
            </a:r>
            <a:r>
              <a:rPr lang="en-US" sz="2000" dirty="0" smtClean="0">
                <a:solidFill>
                  <a:prstClr val="black"/>
                </a:solidFill>
                <a:latin typeface="Arial" panose="020B0604020202020204" pitchFamily="34" charset="0"/>
                <a:cs typeface="Arial" panose="020B0604020202020204" pitchFamily="34" charset="0"/>
              </a:rPr>
              <a:t>nhẫn  </a:t>
            </a:r>
            <a:r>
              <a:rPr lang="en-US" sz="2000" dirty="0">
                <a:solidFill>
                  <a:prstClr val="black"/>
                </a:solidFill>
                <a:latin typeface="Arial" panose="020B0604020202020204" pitchFamily="34" charset="0"/>
                <a:cs typeface="Arial" panose="020B0604020202020204" pitchFamily="34" charset="0"/>
              </a:rPr>
              <a:t>=&gt; Một sự phù nề rất nhẹ đã có thể gây hẹp, bít tắc đường thở =&gt; khó thở cấp.</a:t>
            </a:r>
          </a:p>
          <a:p>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64992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510" y="1595021"/>
            <a:ext cx="4114800" cy="5262979"/>
          </a:xfrm>
          <a:prstGeom prst="rect">
            <a:avLst/>
          </a:prstGeom>
        </p:spPr>
        <p:txBody>
          <a:bodyPr wrap="square">
            <a:spAutoFit/>
          </a:bodyPr>
          <a:lstStyle/>
          <a:p>
            <a:pPr marL="342900" indent="-342900" algn="just">
              <a:buFontTx/>
              <a:buChar char="-"/>
            </a:pPr>
            <a:r>
              <a:rPr lang="en-US" sz="2400" dirty="0" smtClean="0">
                <a:latin typeface="Arial" panose="020B0604020202020204" pitchFamily="34" charset="0"/>
                <a:cs typeface="Arial" panose="020B0604020202020204" pitchFamily="34" charset="0"/>
              </a:rPr>
              <a:t>Lưỡi </a:t>
            </a:r>
            <a:r>
              <a:rPr lang="en-US" sz="2400" dirty="0">
                <a:latin typeface="Arial" panose="020B0604020202020204" pitchFamily="34" charset="0"/>
                <a:cs typeface="Arial" panose="020B0604020202020204" pitchFamily="34" charset="0"/>
              </a:rPr>
              <a:t>chiếm thể tích lớn trong miệng =&gt; chỉ thở mũi </a:t>
            </a:r>
            <a:r>
              <a:rPr lang="en-US" sz="2400" dirty="0">
                <a:solidFill>
                  <a:srgbClr val="FF0000"/>
                </a:solidFill>
                <a:latin typeface="Arial" panose="020B0604020202020204" pitchFamily="34" charset="0"/>
                <a:cs typeface="Arial" panose="020B0604020202020204" pitchFamily="34" charset="0"/>
              </a:rPr>
              <a:t>NHƯNG</a:t>
            </a:r>
            <a:r>
              <a:rPr lang="en-US" sz="2400" dirty="0">
                <a:latin typeface="Arial" panose="020B0604020202020204" pitchFamily="34" charset="0"/>
                <a:cs typeface="Arial" panose="020B0604020202020204" pitchFamily="34" charset="0"/>
              </a:rPr>
              <a:t> mũi trẻ em ngắn hơn, hẹp =&gt; </a:t>
            </a:r>
            <a:r>
              <a:rPr lang="en-US" sz="2400" dirty="0" smtClean="0">
                <a:latin typeface="Arial" panose="020B0604020202020204" pitchFamily="34" charset="0"/>
                <a:cs typeface="Arial" panose="020B0604020202020204" pitchFamily="34" charset="0"/>
              </a:rPr>
              <a:t>dễ </a:t>
            </a:r>
            <a:r>
              <a:rPr lang="en-US" sz="2400" dirty="0">
                <a:latin typeface="Arial" panose="020B0604020202020204" pitchFamily="34" charset="0"/>
                <a:cs typeface="Arial" panose="020B0604020202020204" pitchFamily="34" charset="0"/>
              </a:rPr>
              <a:t>bị tắc mũi do phù nề, nhầy trong viêm. </a:t>
            </a:r>
            <a:endParaRPr lang="en-US" sz="2400" dirty="0" smtClean="0">
              <a:latin typeface="Arial" panose="020B0604020202020204" pitchFamily="34" charset="0"/>
              <a:cs typeface="Arial" panose="020B0604020202020204" pitchFamily="34" charset="0"/>
            </a:endParaRPr>
          </a:p>
          <a:p>
            <a:pPr marL="342900" indent="-342900" algn="just">
              <a:buFontTx/>
              <a:buChar char="-"/>
            </a:pPr>
            <a:r>
              <a:rPr lang="en-US" sz="2400" dirty="0" smtClean="0">
                <a:latin typeface="Arial" panose="020B0604020202020204" pitchFamily="34" charset="0"/>
                <a:cs typeface="Arial" panose="020B0604020202020204" pitchFamily="34" charset="0"/>
              </a:rPr>
              <a:t>Trẻ </a:t>
            </a:r>
            <a:r>
              <a:rPr lang="en-US" sz="2400" dirty="0">
                <a:latin typeface="Arial" panose="020B0604020202020204" pitchFamily="34" charset="0"/>
                <a:cs typeface="Arial" panose="020B0604020202020204" pitchFamily="34" charset="0"/>
              </a:rPr>
              <a:t>phải chuyển sang thở bằng miệng =&gt; thở khó khăn. không khí không đc lọc qua mũi dễ xâm nhập các dị nguyên, các vi khuẩn vào phổi =&gt; dễ viêm đường thở.</a:t>
            </a:r>
          </a:p>
          <a:p>
            <a:pPr marL="285750" indent="-285750" algn="just">
              <a:buFontTx/>
              <a:buChar char="-"/>
            </a:pPr>
            <a:endParaRPr lang="en-US" sz="2400" dirty="0">
              <a:latin typeface="Arial" panose="020B0604020202020204" pitchFamily="34" charset="0"/>
              <a:cs typeface="Arial" panose="020B0604020202020204" pitchFamily="34" charset="0"/>
            </a:endParaRPr>
          </a:p>
        </p:txBody>
      </p:sp>
      <p:sp>
        <p:nvSpPr>
          <p:cNvPr id="5" name="TextBox 4"/>
          <p:cNvSpPr txBox="1"/>
          <p:nvPr/>
        </p:nvSpPr>
        <p:spPr>
          <a:xfrm>
            <a:off x="1724736" y="87579"/>
            <a:ext cx="5867400" cy="523220"/>
          </a:xfrm>
          <a:prstGeom prst="rect">
            <a:avLst/>
          </a:prstGeom>
          <a:solidFill>
            <a:schemeClr val="accent2">
              <a:lumMod val="20000"/>
              <a:lumOff val="80000"/>
            </a:schemeClr>
          </a:solidFill>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sz="2800" b="1" dirty="0" smtClean="0">
                <a:solidFill>
                  <a:schemeClr val="tx1"/>
                </a:solidFill>
                <a:latin typeface="Arial" panose="020B0604020202020204" pitchFamily="34" charset="0"/>
                <a:cs typeface="Arial" panose="020B0604020202020204" pitchFamily="34" charset="0"/>
              </a:rPr>
              <a:t>Cấu trúc đường </a:t>
            </a:r>
            <a:r>
              <a:rPr lang="en-US" sz="2800" b="1" dirty="0" err="1" smtClean="0">
                <a:solidFill>
                  <a:schemeClr val="tx1"/>
                </a:solidFill>
                <a:latin typeface="Arial" panose="020B0604020202020204" pitchFamily="34" charset="0"/>
                <a:cs typeface="Arial" panose="020B0604020202020204" pitchFamily="34" charset="0"/>
              </a:rPr>
              <a:t>dẫn</a:t>
            </a:r>
            <a:r>
              <a:rPr lang="en-US" sz="2800" b="1" dirty="0" smtClean="0">
                <a:solidFill>
                  <a:schemeClr val="tx1"/>
                </a:solidFill>
                <a:latin typeface="Arial" panose="020B0604020202020204" pitchFamily="34" charset="0"/>
                <a:cs typeface="Arial" panose="020B0604020202020204" pitchFamily="34" charset="0"/>
              </a:rPr>
              <a:t> </a:t>
            </a:r>
            <a:r>
              <a:rPr lang="en-US" sz="2800" b="1" dirty="0" err="1" smtClean="0">
                <a:solidFill>
                  <a:schemeClr val="tx1"/>
                </a:solidFill>
                <a:latin typeface="Arial" panose="020B0604020202020204" pitchFamily="34" charset="0"/>
                <a:cs typeface="Arial" panose="020B0604020202020204" pitchFamily="34" charset="0"/>
              </a:rPr>
              <a:t>khí</a:t>
            </a:r>
            <a:endParaRPr lang="en-US" sz="2800" b="1" dirty="0">
              <a:solidFill>
                <a:schemeClr val="tx1"/>
              </a:solidFill>
              <a:latin typeface="Arial" panose="020B0604020202020204" pitchFamily="34" charset="0"/>
              <a:cs typeface="Arial" panose="020B0604020202020204" pitchFamily="34" charset="0"/>
            </a:endParaRPr>
          </a:p>
        </p:txBody>
      </p:sp>
      <p:pic>
        <p:nvPicPr>
          <p:cNvPr id="6" name="Picture 5" descr="https://aneskey.com/wp-content/uploads/2016/07/B9781455706051001688_f168-001-9781455706051.jpg"/>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066800"/>
            <a:ext cx="7086600" cy="5419670"/>
          </a:xfrm>
          <a:prstGeom prst="rect">
            <a:avLst/>
          </a:prstGeom>
          <a:noFill/>
          <a:ln>
            <a:noFill/>
          </a:ln>
        </p:spPr>
      </p:pic>
      <p:sp>
        <p:nvSpPr>
          <p:cNvPr id="7" name="TextBox 6"/>
          <p:cNvSpPr txBox="1"/>
          <p:nvPr/>
        </p:nvSpPr>
        <p:spPr>
          <a:xfrm>
            <a:off x="0" y="891956"/>
            <a:ext cx="5410200" cy="1015663"/>
          </a:xfrm>
          <a:prstGeom prst="rect">
            <a:avLst/>
          </a:prstGeom>
          <a:noFill/>
        </p:spPr>
        <p:txBody>
          <a:bodyPr wrap="square" rtlCol="0">
            <a:spAutoFit/>
          </a:bodyPr>
          <a:lstStyle/>
          <a:p>
            <a:r>
              <a:rPr lang="en-US" sz="2000" b="1" dirty="0" smtClean="0">
                <a:latin typeface="Arial" panose="020B0604020202020204" pitchFamily="34" charset="0"/>
                <a:cs typeface="Arial" panose="020B0604020202020204" pitchFamily="34" charset="0"/>
              </a:rPr>
              <a:t>Sự khác nhau giữa đường thở ở trẻ em và người lớn</a:t>
            </a:r>
          </a:p>
          <a:p>
            <a:pPr marL="285750" indent="-285750">
              <a:buFontTx/>
              <a:buChar char="-"/>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15178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989385" y="65669"/>
            <a:ext cx="4191000" cy="523220"/>
          </a:xfrm>
          <a:prstGeom prst="rect">
            <a:avLst/>
          </a:prstGeom>
          <a:solidFill>
            <a:schemeClr val="accent2">
              <a:lumMod val="20000"/>
              <a:lumOff val="80000"/>
            </a:schemeClr>
          </a:solidFill>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sz="2800" b="1" dirty="0" smtClean="0">
                <a:latin typeface="Arial" panose="020B0604020202020204" pitchFamily="34" charset="0"/>
                <a:cs typeface="Arial" panose="020B0604020202020204" pitchFamily="34" charset="0"/>
              </a:rPr>
              <a:t>Hệ thống cây phế quản </a:t>
            </a:r>
            <a:endParaRPr lang="en-US" sz="2800" b="1" dirty="0">
              <a:latin typeface="Arial" panose="020B0604020202020204" pitchFamily="34" charset="0"/>
              <a:cs typeface="Arial" panose="020B0604020202020204" pitchFamily="34" charset="0"/>
            </a:endParaRPr>
          </a:p>
        </p:txBody>
      </p:sp>
      <p:pic>
        <p:nvPicPr>
          <p:cNvPr id="1026" name="Picture 2" descr="C:\Users\Thu Nguyen\Desktop\cay_ph1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838200"/>
            <a:ext cx="4170485" cy="581254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52400" y="928314"/>
            <a:ext cx="4953000" cy="5632311"/>
          </a:xfrm>
          <a:prstGeom prst="rect">
            <a:avLst/>
          </a:prstGeom>
          <a:noFill/>
        </p:spPr>
        <p:txBody>
          <a:bodyPr wrap="square" rtlCol="0">
            <a:spAutoFit/>
          </a:bodyPr>
          <a:lstStyle/>
          <a:p>
            <a:pPr marL="342900" indent="-342900">
              <a:buFontTx/>
              <a:buChar char="-"/>
            </a:pPr>
            <a:r>
              <a:rPr lang="en-US" sz="2000" b="1" dirty="0" smtClean="0">
                <a:latin typeface="Arial" panose="020B0604020202020204" pitchFamily="34" charset="0"/>
                <a:cs typeface="Arial" panose="020B0604020202020204" pitchFamily="34" charset="0"/>
              </a:rPr>
              <a:t>Hệ </a:t>
            </a:r>
            <a:r>
              <a:rPr lang="en-US" sz="2000" b="1" dirty="0">
                <a:latin typeface="Arial" panose="020B0604020202020204" pitchFamily="34" charset="0"/>
                <a:cs typeface="Arial" panose="020B0604020202020204" pitchFamily="34" charset="0"/>
              </a:rPr>
              <a:t>thống cây phế quản </a:t>
            </a:r>
            <a:r>
              <a:rPr lang="en-US" sz="2000" dirty="0">
                <a:latin typeface="Arial" panose="020B0604020202020204" pitchFamily="34" charset="0"/>
                <a:cs typeface="Arial" panose="020B0604020202020204" pitchFamily="34" charset="0"/>
              </a:rPr>
              <a:t>được phân chia thành 23 thế hệ, trong đó phân chia thành 2 phần chính là</a:t>
            </a:r>
            <a:r>
              <a:rPr lang="en-US" sz="2000" i="1" dirty="0">
                <a:solidFill>
                  <a:srgbClr val="FF0000"/>
                </a:solidFill>
                <a:latin typeface="Arial" panose="020B0604020202020204" pitchFamily="34" charset="0"/>
                <a:cs typeface="Arial" panose="020B0604020202020204" pitchFamily="34" charset="0"/>
              </a:rPr>
              <a:t>: bộ phận đường dẫn khí </a:t>
            </a:r>
            <a:r>
              <a:rPr lang="en-US" sz="2000" dirty="0">
                <a:latin typeface="Arial" panose="020B0604020202020204" pitchFamily="34" charset="0"/>
                <a:cs typeface="Arial" panose="020B0604020202020204" pitchFamily="34" charset="0"/>
              </a:rPr>
              <a:t>( thế hệ đầu tiên đến thế hệ 16) và </a:t>
            </a:r>
            <a:r>
              <a:rPr lang="en-US" sz="2000" i="1" dirty="0">
                <a:solidFill>
                  <a:srgbClr val="FF0000"/>
                </a:solidFill>
                <a:latin typeface="Arial" panose="020B0604020202020204" pitchFamily="34" charset="0"/>
                <a:cs typeface="Arial" panose="020B0604020202020204" pitchFamily="34" charset="0"/>
              </a:rPr>
              <a:t>phần thực hiện chức năng trao đổi khí </a:t>
            </a:r>
            <a:r>
              <a:rPr lang="en-US" sz="2000" dirty="0">
                <a:latin typeface="Arial" panose="020B0604020202020204" pitchFamily="34" charset="0"/>
                <a:cs typeface="Arial" panose="020B0604020202020204" pitchFamily="34" charset="0"/>
              </a:rPr>
              <a:t>( từ thế hệ 16 xuống tới thế hệ 23). Do đó, theo bệnh học phổi, chúng ta có 2 nhóm bệnh chính là </a:t>
            </a:r>
            <a:r>
              <a:rPr lang="en-US" sz="2000" i="1" dirty="0">
                <a:latin typeface="Arial" panose="020B0604020202020204" pitchFamily="34" charset="0"/>
                <a:cs typeface="Arial" panose="020B0604020202020204" pitchFamily="34" charset="0"/>
              </a:rPr>
              <a:t>nhóm bệnh đường dẫn khí </a:t>
            </a:r>
            <a:r>
              <a:rPr lang="en-US" sz="2000" dirty="0">
                <a:latin typeface="Arial" panose="020B0604020202020204" pitchFamily="34" charset="0"/>
                <a:cs typeface="Arial" panose="020B0604020202020204" pitchFamily="34" charset="0"/>
              </a:rPr>
              <a:t>và </a:t>
            </a:r>
            <a:r>
              <a:rPr lang="en-US" sz="2000" i="1" dirty="0">
                <a:solidFill>
                  <a:srgbClr val="FF0000"/>
                </a:solidFill>
                <a:latin typeface="Arial" panose="020B0604020202020204" pitchFamily="34" charset="0"/>
                <a:cs typeface="Arial" panose="020B0604020202020204" pitchFamily="34" charset="0"/>
              </a:rPr>
              <a:t>nhóm bệnh của nhu mô phổi. </a:t>
            </a:r>
            <a:endParaRPr lang="en-US" sz="2000" i="1" dirty="0" smtClean="0">
              <a:solidFill>
                <a:srgbClr val="FF0000"/>
              </a:solidFill>
              <a:latin typeface="Arial" panose="020B0604020202020204" pitchFamily="34" charset="0"/>
              <a:cs typeface="Arial" panose="020B0604020202020204" pitchFamily="34" charset="0"/>
            </a:endParaRPr>
          </a:p>
          <a:p>
            <a:pPr marL="342900" indent="-342900">
              <a:buFontTx/>
              <a:buChar char="-"/>
            </a:pPr>
            <a:endParaRPr lang="en-US" sz="2000" i="1" dirty="0">
              <a:solidFill>
                <a:srgbClr val="FF0000"/>
              </a:solidFill>
              <a:latin typeface="Arial" panose="020B0604020202020204" pitchFamily="34" charset="0"/>
              <a:cs typeface="Arial" panose="020B0604020202020204" pitchFamily="34" charset="0"/>
            </a:endParaRPr>
          </a:p>
          <a:p>
            <a:pPr marL="285750" indent="-285750">
              <a:buFontTx/>
              <a:buChar char="-"/>
            </a:pPr>
            <a:r>
              <a:rPr lang="en-US" sz="2000" dirty="0" smtClean="0">
                <a:latin typeface="Arial" panose="020B0604020202020204" pitchFamily="34" charset="0"/>
                <a:cs typeface="Arial" panose="020B0604020202020204" pitchFamily="34" charset="0"/>
              </a:rPr>
              <a:t>Viêm phế quản ( 1-3)</a:t>
            </a:r>
          </a:p>
          <a:p>
            <a:endParaRPr lang="en-US" sz="2000" dirty="0" smtClean="0">
              <a:latin typeface="Arial" panose="020B0604020202020204" pitchFamily="34" charset="0"/>
              <a:cs typeface="Arial" panose="020B0604020202020204" pitchFamily="34" charset="0"/>
            </a:endParaRPr>
          </a:p>
          <a:p>
            <a:pPr marL="285750" indent="-285750">
              <a:buFontTx/>
              <a:buChar char="-"/>
            </a:pPr>
            <a:r>
              <a:rPr lang="en-US" sz="2000" dirty="0" smtClean="0">
                <a:latin typeface="Arial" panose="020B0604020202020204" pitchFamily="34" charset="0"/>
                <a:cs typeface="Arial" panose="020B0604020202020204" pitchFamily="34" charset="0"/>
              </a:rPr>
              <a:t>Viêm tiểu phế quản ( 4-16)</a:t>
            </a:r>
          </a:p>
          <a:p>
            <a:pPr marL="285750" indent="-285750">
              <a:buFontTx/>
              <a:buChar char="-"/>
            </a:pPr>
            <a:endParaRPr lang="en-US" sz="2000" dirty="0" smtClean="0">
              <a:latin typeface="Arial" panose="020B0604020202020204" pitchFamily="34" charset="0"/>
              <a:cs typeface="Arial" panose="020B0604020202020204" pitchFamily="34" charset="0"/>
            </a:endParaRPr>
          </a:p>
          <a:p>
            <a:pPr marL="285750" indent="-285750">
              <a:buFontTx/>
              <a:buChar char="-"/>
            </a:pPr>
            <a:r>
              <a:rPr lang="en-US" sz="2000" dirty="0" smtClean="0">
                <a:latin typeface="Arial" panose="020B0604020202020204" pitchFamily="34" charset="0"/>
                <a:cs typeface="Arial" panose="020B0604020202020204" pitchFamily="34" charset="0"/>
              </a:rPr>
              <a:t>Viêm phổi ( 17-23)</a:t>
            </a:r>
          </a:p>
          <a:p>
            <a:endParaRPr lang="en-US" sz="2000" dirty="0">
              <a:latin typeface="Arial" panose="020B0604020202020204" pitchFamily="34" charset="0"/>
              <a:cs typeface="Arial" panose="020B0604020202020204" pitchFamily="34" charset="0"/>
            </a:endParaRPr>
          </a:p>
          <a:p>
            <a:endParaRPr lang="en-US" sz="20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203604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Thu Nguyen\Desktop\cay_ph1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5453" y="660679"/>
            <a:ext cx="4572000" cy="619732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 y="622042"/>
            <a:ext cx="4625453" cy="4708981"/>
          </a:xfrm>
          <a:prstGeom prst="rect">
            <a:avLst/>
          </a:prstGeom>
          <a:noFill/>
        </p:spPr>
        <p:txBody>
          <a:bodyPr wrap="square" rtlCol="0">
            <a:spAutoFit/>
          </a:bodyPr>
          <a:lstStyle/>
          <a:p>
            <a:pPr marL="342900" lvl="0" indent="-342900" algn="just">
              <a:buFontTx/>
              <a:buChar char="-"/>
            </a:pPr>
            <a:r>
              <a:rPr lang="en-US" sz="2000" dirty="0" smtClean="0">
                <a:latin typeface="Arial" panose="020B0604020202020204" pitchFamily="34" charset="0"/>
                <a:cs typeface="Arial" panose="020B0604020202020204" pitchFamily="34" charset="0"/>
              </a:rPr>
              <a:t>Lòng ống dẫn khí luôn cần mở rộng. </a:t>
            </a:r>
            <a:r>
              <a:rPr lang="en-US" sz="2000" dirty="0">
                <a:latin typeface="Arial" panose="020B0604020202020204" pitchFamily="34" charset="0"/>
                <a:cs typeface="Arial" panose="020B0604020202020204" pitchFamily="34" charset="0"/>
              </a:rPr>
              <a:t>Có những vòng sụn bao </a:t>
            </a:r>
            <a:r>
              <a:rPr lang="en-US" sz="2000" dirty="0" err="1">
                <a:latin typeface="Arial" panose="020B0604020202020204" pitchFamily="34" charset="0"/>
                <a:cs typeface="Arial" panose="020B0604020202020204" pitchFamily="34" charset="0"/>
              </a:rPr>
              <a:t>quanh</a:t>
            </a:r>
            <a:r>
              <a:rPr lang="en-US" sz="2000" dirty="0">
                <a:latin typeface="Arial" panose="020B0604020202020204" pitchFamily="34" charset="0"/>
                <a:cs typeface="Arial" panose="020B0604020202020204" pitchFamily="34" charset="0"/>
              </a:rPr>
              <a:t> </a:t>
            </a:r>
            <a:r>
              <a:rPr lang="en-US" sz="2000" dirty="0" smtClean="0">
                <a:solidFill>
                  <a:srgbClr val="FF0000"/>
                </a:solidFill>
                <a:latin typeface="Arial" panose="020B0604020202020204" pitchFamily="34" charset="0"/>
                <a:cs typeface="Arial" panose="020B0604020202020204" pitchFamily="34" charset="0"/>
              </a:rPr>
              <a:t>5/6</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chu</a:t>
            </a:r>
            <a:r>
              <a:rPr lang="en-US" sz="2000" dirty="0" smtClean="0">
                <a:latin typeface="Arial" panose="020B0604020202020204" pitchFamily="34" charset="0"/>
                <a:cs typeface="Arial" panose="020B0604020202020204" pitchFamily="34" charset="0"/>
              </a:rPr>
              <a:t> vi </a:t>
            </a:r>
            <a:r>
              <a:rPr lang="en-US" sz="2000" dirty="0" err="1" smtClean="0">
                <a:latin typeface="Arial" panose="020B0604020202020204" pitchFamily="34" charset="0"/>
                <a:cs typeface="Arial" panose="020B0604020202020204" pitchFamily="34" charset="0"/>
              </a:rPr>
              <a:t>khí</a:t>
            </a:r>
            <a:r>
              <a:rPr lang="en-US" sz="2000" dirty="0" smtClean="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quản</a:t>
            </a: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Ở phế quản, vòng sụn ngắn hơn, và đến tiểu phế quản thì hoàn toàn biến mất. Các tiểu phế quản có đường </a:t>
            </a:r>
            <a:r>
              <a:rPr lang="en-US" sz="2000" dirty="0" err="1">
                <a:latin typeface="Arial" panose="020B0604020202020204" pitchFamily="34" charset="0"/>
                <a:cs typeface="Arial" panose="020B0604020202020204" pitchFamily="34" charset="0"/>
              </a:rPr>
              <a:t>kính</a:t>
            </a:r>
            <a:r>
              <a:rPr lang="en-US" sz="2000" dirty="0">
                <a:latin typeface="Arial" panose="020B0604020202020204" pitchFamily="34" charset="0"/>
                <a:cs typeface="Arial" panose="020B0604020202020204" pitchFamily="34" charset="0"/>
              </a:rPr>
              <a:t> </a:t>
            </a:r>
            <a:r>
              <a:rPr lang="en-US" sz="2000" dirty="0" smtClean="0">
                <a:solidFill>
                  <a:srgbClr val="FF0000"/>
                </a:solidFill>
                <a:latin typeface="Arial" panose="020B0604020202020204" pitchFamily="34" charset="0"/>
                <a:cs typeface="Arial" panose="020B0604020202020204" pitchFamily="34" charset="0"/>
              </a:rPr>
              <a:t>≤ 1 mm </a:t>
            </a:r>
            <a:r>
              <a:rPr lang="en-US" sz="2000" dirty="0">
                <a:latin typeface="Arial" panose="020B0604020202020204" pitchFamily="34" charset="0"/>
                <a:cs typeface="Arial" panose="020B0604020202020204" pitchFamily="34" charset="0"/>
              </a:rPr>
              <a:t>không có vách sụn cứng giữ cho khỏi xẹp. Do đó, chúng </a:t>
            </a:r>
            <a:r>
              <a:rPr lang="en-US" sz="2000" dirty="0" smtClean="0">
                <a:latin typeface="Arial" panose="020B0604020202020204" pitchFamily="34" charset="0"/>
                <a:cs typeface="Arial" panose="020B0604020202020204" pitchFamily="34" charset="0"/>
              </a:rPr>
              <a:t>nở ra hay hẹp lại dưới áp lực xuyên phổi (transpulmonary pressure)  khi hít vào và thở ra.</a:t>
            </a:r>
          </a:p>
          <a:p>
            <a:pPr lvl="0" algn="just"/>
            <a:endParaRPr lang="en-US" sz="2000" dirty="0" smtClean="0">
              <a:latin typeface="Arial" panose="020B0604020202020204" pitchFamily="34" charset="0"/>
              <a:cs typeface="Arial" panose="020B0604020202020204" pitchFamily="34" charset="0"/>
            </a:endParaRPr>
          </a:p>
          <a:p>
            <a:pPr marL="342900" lvl="0" indent="-342900" algn="just">
              <a:buFontTx/>
              <a:buChar char="-"/>
            </a:pPr>
            <a:r>
              <a:rPr lang="en-US" sz="2000" dirty="0" smtClean="0">
                <a:latin typeface="Arial" panose="020B0604020202020204" pitchFamily="34" charset="0"/>
                <a:cs typeface="Arial" panose="020B0604020202020204" pitchFamily="34" charset="0"/>
              </a:rPr>
              <a:t>Xung quanh tiểu phế quản còn có 1 lớp cơ</a:t>
            </a: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khá phát triển. </a:t>
            </a:r>
            <a:r>
              <a:rPr lang="en-US" sz="2000" dirty="0" err="1" smtClean="0">
                <a:latin typeface="Arial" panose="020B0604020202020204" pitchFamily="34" charset="0"/>
                <a:cs typeface="Arial" panose="020B0604020202020204" pitchFamily="34" charset="0"/>
              </a:rPr>
              <a:t>Trong</a:t>
            </a:r>
            <a:r>
              <a:rPr lang="en-US" sz="2000" dirty="0" smtClean="0">
                <a:latin typeface="Arial" panose="020B0604020202020204" pitchFamily="34" charset="0"/>
                <a:cs typeface="Arial" panose="020B0604020202020204" pitchFamily="34" charset="0"/>
              </a:rPr>
              <a:t> 1 </a:t>
            </a:r>
            <a:r>
              <a:rPr lang="en-US" sz="2000" dirty="0" err="1" smtClean="0">
                <a:latin typeface="Arial" panose="020B0604020202020204" pitchFamily="34" charset="0"/>
                <a:cs typeface="Arial" panose="020B0604020202020204" pitchFamily="34" charset="0"/>
              </a:rPr>
              <a:t>số</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bệnh</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lý</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như</a:t>
            </a:r>
            <a:r>
              <a:rPr lang="en-US" sz="2000" dirty="0" smtClean="0">
                <a:latin typeface="Arial" panose="020B0604020202020204" pitchFamily="34" charset="0"/>
                <a:cs typeface="Arial" panose="020B0604020202020204" pitchFamily="34" charset="0"/>
              </a:rPr>
              <a:t> Hen </a:t>
            </a:r>
            <a:r>
              <a:rPr lang="en-US" sz="2000" dirty="0" err="1" smtClean="0">
                <a:latin typeface="Arial" panose="020B0604020202020204" pitchFamily="34" charset="0"/>
                <a:cs typeface="Arial" panose="020B0604020202020204" pitchFamily="34" charset="0"/>
              </a:rPr>
              <a:t>gây</a:t>
            </a:r>
            <a:r>
              <a:rPr lang="en-US" sz="2000" dirty="0" smtClean="0">
                <a:latin typeface="Arial" panose="020B0604020202020204" pitchFamily="34" charset="0"/>
                <a:cs typeface="Arial" panose="020B0604020202020204" pitchFamily="34" charset="0"/>
              </a:rPr>
              <a:t> co </a:t>
            </a:r>
            <a:r>
              <a:rPr lang="en-US" sz="2000" dirty="0" err="1" smtClean="0">
                <a:latin typeface="Arial" panose="020B0604020202020204" pitchFamily="34" charset="0"/>
                <a:cs typeface="Arial" panose="020B0604020202020204" pitchFamily="34" charset="0"/>
              </a:rPr>
              <a:t>thắt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khó</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thở</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thì</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thở</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ra</a:t>
            </a:r>
            <a:endParaRPr lang="en-US" sz="2000" dirty="0" smtClean="0">
              <a:latin typeface="Arial" panose="020B0604020202020204" pitchFamily="34" charset="0"/>
              <a:cs typeface="Arial" panose="020B0604020202020204" pitchFamily="34" charset="0"/>
            </a:endParaRPr>
          </a:p>
        </p:txBody>
      </p:sp>
      <p:sp>
        <p:nvSpPr>
          <p:cNvPr id="2" name="TextBox 1"/>
          <p:cNvSpPr txBox="1"/>
          <p:nvPr/>
        </p:nvSpPr>
        <p:spPr>
          <a:xfrm>
            <a:off x="0" y="5638800"/>
            <a:ext cx="4625452" cy="1015663"/>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000" i="1" dirty="0" smtClean="0">
                <a:solidFill>
                  <a:srgbClr val="FF0000"/>
                </a:solidFill>
                <a:latin typeface="Arial" panose="020B0604020202020204" pitchFamily="34" charset="0"/>
                <a:cs typeface="Arial" panose="020B0604020202020204" pitchFamily="34" charset="0"/>
              </a:rPr>
              <a:t>=&gt; Một số bệnh lý gây co thắt tiểu phế quản (hen) hoặc phù nề, cản trở</a:t>
            </a:r>
            <a:r>
              <a:rPr lang="en-US" sz="2000" i="1" dirty="0">
                <a:solidFill>
                  <a:srgbClr val="FF0000"/>
                </a:solidFill>
                <a:latin typeface="Arial" panose="020B0604020202020204" pitchFamily="34" charset="0"/>
                <a:cs typeface="Arial" panose="020B0604020202020204" pitchFamily="34" charset="0"/>
              </a:rPr>
              <a:t> </a:t>
            </a:r>
            <a:r>
              <a:rPr lang="en-US" sz="2000" i="1" dirty="0" smtClean="0">
                <a:solidFill>
                  <a:srgbClr val="FF0000"/>
                </a:solidFill>
                <a:latin typeface="Arial" panose="020B0604020202020204" pitchFamily="34" charset="0"/>
                <a:cs typeface="Arial" panose="020B0604020202020204" pitchFamily="34" charset="0"/>
              </a:rPr>
              <a:t>long TPQ dễ gây nguy hiểm</a:t>
            </a:r>
            <a:r>
              <a:rPr lang="en-US" sz="2000" i="1" dirty="0">
                <a:solidFill>
                  <a:srgbClr val="FF0000"/>
                </a:solidFill>
                <a:latin typeface="Arial" panose="020B0604020202020204" pitchFamily="34" charset="0"/>
                <a:cs typeface="Arial" panose="020B0604020202020204" pitchFamily="34" charset="0"/>
              </a:rPr>
              <a:t>.</a:t>
            </a:r>
          </a:p>
        </p:txBody>
      </p:sp>
      <p:sp>
        <p:nvSpPr>
          <p:cNvPr id="4" name="Rectangle 3"/>
          <p:cNvSpPr/>
          <p:nvPr/>
        </p:nvSpPr>
        <p:spPr>
          <a:xfrm>
            <a:off x="2971800" y="-4465"/>
            <a:ext cx="3651962" cy="461665"/>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algn="ctr"/>
            <a:r>
              <a:rPr lang="en-US" sz="2400" b="1" dirty="0">
                <a:latin typeface="Arial" panose="020B0604020202020204" pitchFamily="34" charset="0"/>
                <a:cs typeface="Arial" panose="020B0604020202020204" pitchFamily="34" charset="0"/>
              </a:rPr>
              <a:t>Hệ thống cây phế quản </a:t>
            </a:r>
          </a:p>
        </p:txBody>
      </p:sp>
    </p:spTree>
    <p:extLst>
      <p:ext uri="{BB962C8B-B14F-4D97-AF65-F5344CB8AC3E}">
        <p14:creationId xmlns:p14="http://schemas.microsoft.com/office/powerpoint/2010/main" val="1086880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088" y="71651"/>
            <a:ext cx="7162800" cy="53095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838200" y="5381199"/>
            <a:ext cx="7384576" cy="1323439"/>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US" sz="2000" i="1" dirty="0">
                <a:solidFill>
                  <a:srgbClr val="FF0000"/>
                </a:solidFill>
                <a:latin typeface="Arial" panose="020B0604020202020204" pitchFamily="34" charset="0"/>
                <a:cs typeface="Arial" panose="020B0604020202020204" pitchFamily="34" charset="0"/>
              </a:rPr>
              <a:t>=&gt; Liệu pháp khí dung thường áp dụng với các bệnh lý thuộc đường dẫn khí để tạo ra các hạt kích thước phù hợp đưa tới vị trí mong </a:t>
            </a:r>
            <a:r>
              <a:rPr lang="en-US" sz="2000" i="1" dirty="0" smtClean="0">
                <a:solidFill>
                  <a:srgbClr val="FF0000"/>
                </a:solidFill>
                <a:latin typeface="Arial" panose="020B0604020202020204" pitchFamily="34" charset="0"/>
                <a:cs typeface="Arial" panose="020B0604020202020204" pitchFamily="34" charset="0"/>
              </a:rPr>
              <a:t>muốn.</a:t>
            </a:r>
            <a:endParaRPr lang="en-US" sz="2000" i="1" dirty="0">
              <a:solidFill>
                <a:srgbClr val="FF0000"/>
              </a:solidFill>
              <a:latin typeface="Arial" panose="020B0604020202020204" pitchFamily="34" charset="0"/>
              <a:cs typeface="Arial" panose="020B0604020202020204" pitchFamily="34" charset="0"/>
            </a:endParaRPr>
          </a:p>
          <a:p>
            <a:endParaRPr lang="en-US" sz="2000" i="1"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99506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250" fill="hold"/>
                                        <p:tgtEl>
                                          <p:spTgt spid="5"/>
                                        </p:tgtEl>
                                        <p:attrNameLst>
                                          <p:attrName>ppt_x</p:attrName>
                                        </p:attrNameLst>
                                      </p:cBhvr>
                                      <p:tavLst>
                                        <p:tav tm="0">
                                          <p:val>
                                            <p:strVal val="#ppt_x"/>
                                          </p:val>
                                        </p:tav>
                                        <p:tav tm="100000">
                                          <p:val>
                                            <p:strVal val="#ppt_x"/>
                                          </p:val>
                                        </p:tav>
                                      </p:tavLst>
                                    </p:anim>
                                    <p:anim calcmode="lin" valueType="num">
                                      <p:cBhvr additive="base">
                                        <p:cTn id="13" dur="25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685801"/>
            <a:ext cx="8305800" cy="3962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371600" y="164266"/>
            <a:ext cx="6705600" cy="523220"/>
          </a:xfrm>
          <a:prstGeom prst="rect">
            <a:avLst/>
          </a:prstGeom>
          <a:solidFill>
            <a:schemeClr val="accent2">
              <a:lumMod val="20000"/>
              <a:lumOff val="80000"/>
            </a:schemeClr>
          </a:solidFill>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sz="2800" b="1" dirty="0" smtClean="0">
                <a:latin typeface="Arial" panose="020B0604020202020204" pitchFamily="34" charset="0"/>
                <a:cs typeface="Arial" panose="020B0604020202020204" pitchFamily="34" charset="0"/>
              </a:rPr>
              <a:t>Hệ thần kinh thực vật trên hệ hô hấp </a:t>
            </a:r>
            <a:endParaRPr lang="en-US" sz="2800" b="1" dirty="0">
              <a:latin typeface="Arial" panose="020B0604020202020204" pitchFamily="34" charset="0"/>
              <a:cs typeface="Arial" panose="020B0604020202020204" pitchFamily="34" charset="0"/>
            </a:endParaRPr>
          </a:p>
        </p:txBody>
      </p:sp>
      <p:sp>
        <p:nvSpPr>
          <p:cNvPr id="3" name="Rectangle 2"/>
          <p:cNvSpPr/>
          <p:nvPr/>
        </p:nvSpPr>
        <p:spPr>
          <a:xfrm>
            <a:off x="0" y="4343400"/>
            <a:ext cx="8789158" cy="2246769"/>
          </a:xfrm>
          <a:prstGeom prst="rect">
            <a:avLst/>
          </a:prstGeom>
        </p:spPr>
        <p:txBody>
          <a:bodyPr wrap="square">
            <a:spAutoFit/>
          </a:bodyPr>
          <a:lstStyle/>
          <a:p>
            <a:pPr algn="just"/>
            <a:r>
              <a:rPr lang="vi-VN" sz="2000" i="1" dirty="0">
                <a:solidFill>
                  <a:srgbClr val="FF0000"/>
                </a:solidFill>
              </a:rPr>
              <a:t>Hệ thần kinh giao cảm </a:t>
            </a:r>
            <a:r>
              <a:rPr lang="vi-VN" sz="2000" dirty="0"/>
              <a:t>trực tiếp điều hành cơ trơn tiểu phế quản thuộc hạch giao cảm ngực từ T2-T4. Chúng được hình thành từ nhưng đám rối quanh rốn phổi và từ đó sinh ra các sợi chi phối cây PQ và mạch máu trong phổi Kích thích giao cảm làm sản sinh epinephrine ( adrenalin) và norepinephrine (noradrenalin). Cả hai chất này, nhất là epinephrine tác động lên thụ thể beta-2 gây dãn phế quản. ( Ứng dụng lâm sàng là thuốc tác dụng trên hệ adrenergic : adrenalin và thuốc ưu thế chọn lọc trên beta-2 salbutamol)</a:t>
            </a:r>
            <a:endParaRPr lang="en-US" sz="20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897853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48670" y="162580"/>
            <a:ext cx="6537367" cy="523220"/>
          </a:xfrm>
          <a:prstGeom prst="rect">
            <a:avLst/>
          </a:prstGeom>
          <a:solidFill>
            <a:schemeClr val="accent2">
              <a:lumMod val="20000"/>
              <a:lumOff val="80000"/>
            </a:schemeClr>
          </a:solidFill>
        </p:spPr>
        <p:style>
          <a:lnRef idx="1">
            <a:schemeClr val="accent2"/>
          </a:lnRef>
          <a:fillRef idx="2">
            <a:schemeClr val="accent2"/>
          </a:fillRef>
          <a:effectRef idx="1">
            <a:schemeClr val="accent2"/>
          </a:effectRef>
          <a:fontRef idx="minor">
            <a:schemeClr val="dk1"/>
          </a:fontRef>
        </p:style>
        <p:txBody>
          <a:bodyPr wrap="none">
            <a:spAutoFit/>
          </a:bodyPr>
          <a:lstStyle/>
          <a:p>
            <a:pPr algn="ctr"/>
            <a:r>
              <a:rPr lang="en-US" sz="2800" b="1" dirty="0">
                <a:latin typeface="Arial" panose="020B0604020202020204" pitchFamily="34" charset="0"/>
                <a:cs typeface="Arial" panose="020B0604020202020204" pitchFamily="34" charset="0"/>
              </a:rPr>
              <a:t>Hệ thần kinh thực vật trên hệ hô hấp </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685801"/>
            <a:ext cx="8305800" cy="3962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152400" y="4953000"/>
            <a:ext cx="8763000" cy="1323439"/>
          </a:xfrm>
          <a:prstGeom prst="rect">
            <a:avLst/>
          </a:prstGeom>
        </p:spPr>
        <p:txBody>
          <a:bodyPr wrap="square">
            <a:spAutoFit/>
          </a:bodyPr>
          <a:lstStyle/>
          <a:p>
            <a:pPr algn="just"/>
            <a:r>
              <a:rPr lang="en-US" sz="2000" i="1" dirty="0">
                <a:solidFill>
                  <a:srgbClr val="FF0000"/>
                </a:solidFill>
                <a:latin typeface="Arial" panose="020B0604020202020204" pitchFamily="34" charset="0"/>
                <a:cs typeface="Arial" panose="020B0604020202020204" pitchFamily="34" charset="0"/>
              </a:rPr>
              <a:t>Hệ thần kinh phó giao cảm </a:t>
            </a:r>
            <a:r>
              <a:rPr lang="en-US" sz="2000" dirty="0">
                <a:latin typeface="Arial" panose="020B0604020202020204" pitchFamily="34" charset="0"/>
                <a:cs typeface="Arial" panose="020B0604020202020204" pitchFamily="34" charset="0"/>
              </a:rPr>
              <a:t>có các nhánh đi từ dây X vào mô phổi. Các dây thần kinh này tiết acetylcholin và khi kích thích sẽ làm co thắt tiểu phế quản ở mức độ nhẹ đến trung bình. Hệ thần kinh phó giao cảm đôi khi bị kích thích bởi những phản xạ phát sinh trong phổi. </a:t>
            </a:r>
          </a:p>
        </p:txBody>
      </p:sp>
    </p:spTree>
    <p:extLst>
      <p:ext uri="{BB962C8B-B14F-4D97-AF65-F5344CB8AC3E}">
        <p14:creationId xmlns:p14="http://schemas.microsoft.com/office/powerpoint/2010/main" val="343249606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8218" y="2057400"/>
            <a:ext cx="8598829" cy="1015663"/>
          </a:xfrm>
          <a:prstGeom prst="rect">
            <a:avLst/>
          </a:prstGeom>
        </p:spPr>
        <p:style>
          <a:lnRef idx="2">
            <a:schemeClr val="accent2"/>
          </a:lnRef>
          <a:fillRef idx="1">
            <a:schemeClr val="lt1"/>
          </a:fillRef>
          <a:effectRef idx="0">
            <a:schemeClr val="accent2"/>
          </a:effectRef>
          <a:fontRef idx="minor">
            <a:schemeClr val="dk1"/>
          </a:fontRef>
        </p:style>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60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cs typeface="Arial" panose="020B0604020202020204" pitchFamily="34" charset="0"/>
              </a:rPr>
              <a:t>Tổng quan về khí dung</a:t>
            </a:r>
            <a:endParaRPr lang="en-US" sz="6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1267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6031" y="584775"/>
            <a:ext cx="9067800" cy="2754600"/>
          </a:xfrm>
          <a:prstGeom prst="rect">
            <a:avLst/>
          </a:prstGeom>
          <a:noFill/>
        </p:spPr>
        <p:txBody>
          <a:bodyPr wrap="square" rtlCol="0">
            <a:spAutoFit/>
          </a:bodyPr>
          <a:lstStyle/>
          <a:p>
            <a:r>
              <a:rPr lang="en-US" sz="2000" b="1" dirty="0" smtClean="0">
                <a:latin typeface="Arial" panose="020B0604020202020204" pitchFamily="34" charset="0"/>
                <a:cs typeface="Arial" panose="020B0604020202020204" pitchFamily="34" charset="0"/>
              </a:rPr>
              <a:t>1) </a:t>
            </a:r>
            <a:r>
              <a:rPr lang="en-US" sz="2000" b="1" dirty="0" err="1" smtClean="0">
                <a:latin typeface="Arial" panose="020B0604020202020204" pitchFamily="34" charset="0"/>
                <a:cs typeface="Arial" panose="020B0604020202020204" pitchFamily="34" charset="0"/>
              </a:rPr>
              <a:t>Khái</a:t>
            </a:r>
            <a:r>
              <a:rPr lang="en-US" sz="2000" b="1" dirty="0" smtClean="0">
                <a:latin typeface="Arial" panose="020B0604020202020204" pitchFamily="34" charset="0"/>
                <a:cs typeface="Arial" panose="020B0604020202020204" pitchFamily="34" charset="0"/>
              </a:rPr>
              <a:t> </a:t>
            </a:r>
            <a:r>
              <a:rPr lang="en-US" sz="2000" b="1" dirty="0" err="1" smtClean="0">
                <a:latin typeface="Arial" panose="020B0604020202020204" pitchFamily="34" charset="0"/>
                <a:cs typeface="Arial" panose="020B0604020202020204" pitchFamily="34" charset="0"/>
              </a:rPr>
              <a:t>niệm</a:t>
            </a:r>
            <a:r>
              <a:rPr lang="en-US" b="1" dirty="0" smtClean="0">
                <a:latin typeface="Arial" panose="020B0604020202020204" pitchFamily="34" charset="0"/>
                <a:cs typeface="Arial" panose="020B0604020202020204" pitchFamily="34" charset="0"/>
              </a:rPr>
              <a:t>:</a:t>
            </a:r>
          </a:p>
          <a:p>
            <a:pPr>
              <a:lnSpc>
                <a:spcPct val="150000"/>
              </a:lnSpc>
            </a:pPr>
            <a:r>
              <a:rPr lang="en-US" b="1" dirty="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Phương</a:t>
            </a:r>
            <a:r>
              <a:rPr lang="en-US" dirty="0" smtClean="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pháp khí dung là sử dụng dụng cụ bơm đẩy mạnh dung dịch thuốc được pha chế sẵn, chuyển thành các hạt khí nhỏ khoảng 50 µ vào xoang mũi của người bệnh. </a:t>
            </a:r>
            <a:endParaRPr lang="en-US" dirty="0" smtClean="0">
              <a:latin typeface="Arial" panose="020B0604020202020204" pitchFamily="34" charset="0"/>
              <a:cs typeface="Arial" panose="020B0604020202020204" pitchFamily="34" charset="0"/>
            </a:endParaRPr>
          </a:p>
          <a:p>
            <a:pPr>
              <a:lnSpc>
                <a:spcPct val="150000"/>
              </a:lnSpc>
            </a:pPr>
            <a:r>
              <a:rPr lang="en-US" dirty="0">
                <a:latin typeface="Arial" panose="020B0604020202020204" pitchFamily="34" charset="0"/>
                <a:cs typeface="Arial" panose="020B0604020202020204" pitchFamily="34" charset="0"/>
              </a:rPr>
              <a:t> </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Các</a:t>
            </a:r>
            <a:r>
              <a:rPr lang="en-US" dirty="0" smtClean="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hạt khí thuốc này bay trong khí hít thở để đến được mọi khe ngách ở mũi, vào được các xoang dễ dàng, thấm qua niêm mạc mũi xoang</a:t>
            </a:r>
            <a:r>
              <a:rPr lang="en-US" dirty="0" smtClean="0">
                <a:latin typeface="Arial" panose="020B0604020202020204" pitchFamily="34" charset="0"/>
                <a:cs typeface="Arial" panose="020B0604020202020204" pitchFamily="34" charset="0"/>
              </a:rPr>
              <a:t>.</a:t>
            </a:r>
          </a:p>
          <a:p>
            <a:pPr marL="285750" indent="-285750">
              <a:buFontTx/>
              <a:buChar char="-"/>
            </a:pPr>
            <a:endParaRPr lang="en-US" dirty="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3"/>
          <a:stretch>
            <a:fillRect/>
          </a:stretch>
        </p:blipFill>
        <p:spPr>
          <a:xfrm>
            <a:off x="685800" y="3556575"/>
            <a:ext cx="7429857" cy="3275624"/>
          </a:xfrm>
          <a:prstGeom prst="rect">
            <a:avLst/>
          </a:prstGeom>
        </p:spPr>
      </p:pic>
      <p:sp>
        <p:nvSpPr>
          <p:cNvPr id="4" name="Rectangle 3"/>
          <p:cNvSpPr/>
          <p:nvPr/>
        </p:nvSpPr>
        <p:spPr>
          <a:xfrm>
            <a:off x="2297401" y="0"/>
            <a:ext cx="4665060" cy="584775"/>
          </a:xfrm>
          <a:prstGeom prst="rect">
            <a:avLst/>
          </a:prstGeom>
        </p:spPr>
        <p:style>
          <a:lnRef idx="2">
            <a:schemeClr val="accent6"/>
          </a:lnRef>
          <a:fillRef idx="1">
            <a:schemeClr val="lt1"/>
          </a:fillRef>
          <a:effectRef idx="0">
            <a:schemeClr val="accent6"/>
          </a:effectRef>
          <a:fontRef idx="minor">
            <a:schemeClr val="dk1"/>
          </a:fontRef>
        </p:style>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32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cs typeface="Arial" panose="020B0604020202020204" pitchFamily="34" charset="0"/>
              </a:rPr>
              <a:t>Tổng quan về khí dung</a:t>
            </a:r>
            <a:endParaRPr lang="en-US" sz="32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cs typeface="Arial" panose="020B0604020202020204" pitchFamily="34" charset="0"/>
            </a:endParaRPr>
          </a:p>
        </p:txBody>
      </p:sp>
      <p:sp>
        <p:nvSpPr>
          <p:cNvPr id="2" name="TextBox 1"/>
          <p:cNvSpPr txBox="1"/>
          <p:nvPr/>
        </p:nvSpPr>
        <p:spPr>
          <a:xfrm>
            <a:off x="-21610" y="2971800"/>
            <a:ext cx="8590769" cy="1169551"/>
          </a:xfrm>
          <a:prstGeom prst="rect">
            <a:avLst/>
          </a:prstGeom>
          <a:noFill/>
        </p:spPr>
        <p:txBody>
          <a:bodyPr wrap="square" rtlCol="0">
            <a:spAutoFit/>
          </a:bodyPr>
          <a:lstStyle/>
          <a:p>
            <a:pPr>
              <a:lnSpc>
                <a:spcPct val="150000"/>
              </a:lnSpc>
            </a:pPr>
            <a:r>
              <a:rPr lang="en-US" sz="2000" b="1" dirty="0">
                <a:latin typeface="Arial" panose="020B0604020202020204" pitchFamily="34" charset="0"/>
                <a:cs typeface="Arial" panose="020B0604020202020204" pitchFamily="34" charset="0"/>
              </a:rPr>
              <a:t>2) Nguyên lí hoạt động của khí dung</a:t>
            </a:r>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5158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9"/>
                                          </p:stCondLst>
                                        </p:cTn>
                                        <p:tgtEl>
                                          <p:spTgt spid="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animBg="1"/>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6996545" cy="685800"/>
          </a:xfrm>
        </p:spPr>
        <p:txBody>
          <a:bodyPr>
            <a:noAutofit/>
          </a:bodyPr>
          <a:lstStyle/>
          <a:p>
            <a:r>
              <a:rPr lang="en-US" sz="2400" b="1" dirty="0" smtClean="0">
                <a:latin typeface="Arial" panose="020B0604020202020204" pitchFamily="34" charset="0"/>
                <a:cs typeface="Arial" panose="020B0604020202020204" pitchFamily="34" charset="0"/>
              </a:rPr>
              <a:t>3) Ưu, nhược điểm của sử</a:t>
            </a:r>
            <a:r>
              <a:rPr lang="en-US" sz="2400" b="1" dirty="0">
                <a:latin typeface="Arial" panose="020B0604020202020204" pitchFamily="34" charset="0"/>
                <a:cs typeface="Arial" panose="020B0604020202020204" pitchFamily="34" charset="0"/>
              </a:rPr>
              <a:t> </a:t>
            </a:r>
            <a:r>
              <a:rPr lang="en-US" sz="2400" b="1" dirty="0" smtClean="0">
                <a:latin typeface="Arial" panose="020B0604020202020204" pitchFamily="34" charset="0"/>
                <a:cs typeface="Arial" panose="020B0604020202020204" pitchFamily="34" charset="0"/>
              </a:rPr>
              <a:t>dụng khí dung</a:t>
            </a:r>
            <a:endParaRPr lang="en-US" sz="2400" b="1" dirty="0">
              <a:latin typeface="Arial" panose="020B0604020202020204" pitchFamily="34" charset="0"/>
              <a:cs typeface="Arial" panose="020B0604020202020204" pitchFamily="34"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705730503"/>
              </p:ext>
            </p:extLst>
          </p:nvPr>
        </p:nvGraphicFramePr>
        <p:xfrm>
          <a:off x="228600" y="762000"/>
          <a:ext cx="8596746" cy="5803389"/>
        </p:xfrm>
        <a:graphic>
          <a:graphicData uri="http://schemas.openxmlformats.org/drawingml/2006/table">
            <a:tbl>
              <a:tblPr firstRow="1" bandRow="1">
                <a:tableStyleId>{5C22544A-7EE6-4342-B048-85BDC9FD1C3A}</a:tableStyleId>
              </a:tblPr>
              <a:tblGrid>
                <a:gridCol w="4298373">
                  <a:extLst>
                    <a:ext uri="{9D8B030D-6E8A-4147-A177-3AD203B41FA5}">
                      <a16:colId xmlns:a16="http://schemas.microsoft.com/office/drawing/2014/main" xmlns="" val="2430768432"/>
                    </a:ext>
                  </a:extLst>
                </a:gridCol>
                <a:gridCol w="4298373">
                  <a:extLst>
                    <a:ext uri="{9D8B030D-6E8A-4147-A177-3AD203B41FA5}">
                      <a16:colId xmlns:a16="http://schemas.microsoft.com/office/drawing/2014/main" xmlns="" val="2052640287"/>
                    </a:ext>
                  </a:extLst>
                </a:gridCol>
              </a:tblGrid>
              <a:tr h="776088">
                <a:tc>
                  <a:txBody>
                    <a:bodyPr/>
                    <a:lstStyle/>
                    <a:p>
                      <a:pPr algn="l">
                        <a:lnSpc>
                          <a:spcPct val="150000"/>
                        </a:lnSpc>
                      </a:pPr>
                      <a:r>
                        <a:rPr lang="en-US" sz="2000" dirty="0" smtClean="0">
                          <a:latin typeface="Arial" panose="020B0604020202020204" pitchFamily="34" charset="0"/>
                          <a:cs typeface="Arial" panose="020B0604020202020204" pitchFamily="34" charset="0"/>
                        </a:rPr>
                        <a:t>               </a:t>
                      </a:r>
                      <a:r>
                        <a:rPr lang="en-US" sz="2400" dirty="0" smtClean="0">
                          <a:latin typeface="Arial" panose="020B0604020202020204" pitchFamily="34" charset="0"/>
                          <a:cs typeface="Arial" panose="020B0604020202020204" pitchFamily="34" charset="0"/>
                        </a:rPr>
                        <a:t>Ưu</a:t>
                      </a:r>
                      <a:r>
                        <a:rPr lang="en-US" sz="2400" baseline="0" dirty="0" smtClean="0">
                          <a:latin typeface="Arial" panose="020B0604020202020204" pitchFamily="34" charset="0"/>
                          <a:cs typeface="Arial" panose="020B0604020202020204" pitchFamily="34" charset="0"/>
                        </a:rPr>
                        <a:t> điểm</a:t>
                      </a:r>
                      <a:endParaRPr lang="en-US" sz="2400" dirty="0">
                        <a:latin typeface="Arial" panose="020B0604020202020204" pitchFamily="34" charset="0"/>
                        <a:cs typeface="Arial" panose="020B0604020202020204" pitchFamily="34" charset="0"/>
                      </a:endParaRPr>
                    </a:p>
                  </a:txBody>
                  <a:tcPr/>
                </a:tc>
                <a:tc>
                  <a:txBody>
                    <a:bodyPr/>
                    <a:lstStyle/>
                    <a:p>
                      <a:pPr>
                        <a:lnSpc>
                          <a:spcPct val="150000"/>
                        </a:lnSpc>
                      </a:pPr>
                      <a:r>
                        <a:rPr lang="en-US" sz="20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Nhược</a:t>
                      </a:r>
                      <a:r>
                        <a:rPr lang="en-US" sz="2400" baseline="0" dirty="0" smtClean="0">
                          <a:latin typeface="Arial" panose="020B0604020202020204" pitchFamily="34" charset="0"/>
                          <a:cs typeface="Arial" panose="020B0604020202020204" pitchFamily="34" charset="0"/>
                        </a:rPr>
                        <a:t> </a:t>
                      </a:r>
                      <a:r>
                        <a:rPr lang="en-US" sz="2400" baseline="0" dirty="0" err="1" smtClean="0">
                          <a:latin typeface="Arial" panose="020B0604020202020204" pitchFamily="34" charset="0"/>
                          <a:cs typeface="Arial" panose="020B0604020202020204" pitchFamily="34" charset="0"/>
                        </a:rPr>
                        <a:t>điểm</a:t>
                      </a:r>
                      <a:endParaRPr lang="en-US" sz="2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xmlns="" val="2535014159"/>
                  </a:ext>
                </a:extLst>
              </a:tr>
              <a:tr h="1141028">
                <a:tc>
                  <a:txBody>
                    <a:bodyPr/>
                    <a:lstStyle/>
                    <a:p>
                      <a:r>
                        <a:rPr lang="en-US" sz="2000" dirty="0" smtClean="0">
                          <a:latin typeface="Arial" panose="020B0604020202020204" pitchFamily="34" charset="0"/>
                          <a:cs typeface="Arial" panose="020B0604020202020204" pitchFamily="34" charset="0"/>
                        </a:rPr>
                        <a:t>Tác</a:t>
                      </a:r>
                      <a:r>
                        <a:rPr lang="en-US" sz="2000" baseline="0" dirty="0" smtClean="0">
                          <a:latin typeface="Arial" panose="020B0604020202020204" pitchFamily="34" charset="0"/>
                          <a:cs typeface="Arial" panose="020B0604020202020204" pitchFamily="34" charset="0"/>
                        </a:rPr>
                        <a:t> dụng vào vị trí trực tiếp cần tác dụng với liều thấp hơn nhưng hiệu quả cao hơn</a:t>
                      </a:r>
                    </a:p>
                    <a:p>
                      <a:endParaRPr lang="en-US" sz="2000" dirty="0">
                        <a:latin typeface="Arial" panose="020B0604020202020204" pitchFamily="34" charset="0"/>
                        <a:cs typeface="Arial" panose="020B0604020202020204" pitchFamily="34" charset="0"/>
                      </a:endParaRPr>
                    </a:p>
                  </a:txBody>
                  <a:tcPr/>
                </a:tc>
                <a:tc>
                  <a:txBody>
                    <a:bodyPr/>
                    <a:lstStyle/>
                    <a:p>
                      <a:r>
                        <a:rPr lang="en-US" sz="2000" dirty="0" err="1" smtClean="0">
                          <a:latin typeface="Arial" panose="020B0604020202020204" pitchFamily="34" charset="0"/>
                          <a:cs typeface="Arial" panose="020B0604020202020204" pitchFamily="34" charset="0"/>
                        </a:rPr>
                        <a:t>Tắc</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nghẽn</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đường</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thở</a:t>
                      </a:r>
                      <a:r>
                        <a:rPr lang="en-US" sz="2000" baseline="0" dirty="0" smtClean="0">
                          <a:latin typeface="Arial" panose="020B0604020202020204" pitchFamily="34" charset="0"/>
                          <a:cs typeface="Arial" panose="020B0604020202020204" pitchFamily="34" charset="0"/>
                        </a:rPr>
                        <a:t> do </a:t>
                      </a:r>
                      <a:r>
                        <a:rPr lang="en-US" sz="2000" baseline="0" dirty="0" err="1" smtClean="0">
                          <a:latin typeface="Arial" panose="020B0604020202020204" pitchFamily="34" charset="0"/>
                          <a:cs typeface="Arial" panose="020B0604020202020204" pitchFamily="34" charset="0"/>
                        </a:rPr>
                        <a:t>nút</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nhày</a:t>
                      </a:r>
                      <a:endParaRPr 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xmlns="" val="4022512524"/>
                  </a:ext>
                </a:extLst>
              </a:tr>
              <a:tr h="539326">
                <a:tc>
                  <a:txBody>
                    <a:bodyPr/>
                    <a:lstStyle/>
                    <a:p>
                      <a:r>
                        <a:rPr lang="en-US" sz="2000" dirty="0" err="1" smtClean="0">
                          <a:latin typeface="Arial" panose="020B0604020202020204" pitchFamily="34" charset="0"/>
                          <a:cs typeface="Arial" panose="020B0604020202020204" pitchFamily="34" charset="0"/>
                        </a:rPr>
                        <a:t>Tác</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dụng</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nhanh</a:t>
                      </a:r>
                      <a:endParaRPr lang="en-US" sz="2000" dirty="0">
                        <a:latin typeface="Arial" panose="020B0604020202020204" pitchFamily="34" charset="0"/>
                        <a:cs typeface="Arial" panose="020B0604020202020204" pitchFamily="34" charset="0"/>
                      </a:endParaRPr>
                    </a:p>
                  </a:txBody>
                  <a:tcPr/>
                </a:tc>
                <a:tc>
                  <a:txBody>
                    <a:bodyPr/>
                    <a:lstStyle/>
                    <a:p>
                      <a:r>
                        <a:rPr lang="en-US" sz="2000" dirty="0" err="1" smtClean="0">
                          <a:latin typeface="Arial" panose="020B0604020202020204" pitchFamily="34" charset="0"/>
                          <a:cs typeface="Arial" panose="020B0604020202020204" pitchFamily="34" charset="0"/>
                        </a:rPr>
                        <a:t>Nhiễm</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trùng</a:t>
                      </a:r>
                      <a:endParaRPr 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xmlns="" val="4015203447"/>
                  </a:ext>
                </a:extLst>
              </a:tr>
              <a:tr h="875673">
                <a:tc>
                  <a:txBody>
                    <a:bodyPr/>
                    <a:lstStyle/>
                    <a:p>
                      <a:r>
                        <a:rPr lang="en-US" sz="2000" dirty="0" smtClean="0">
                          <a:latin typeface="Arial" panose="020B0604020202020204" pitchFamily="34" charset="0"/>
                          <a:cs typeface="Arial" panose="020B0604020202020204" pitchFamily="34" charset="0"/>
                        </a:rPr>
                        <a:t>Giảm</a:t>
                      </a:r>
                      <a:r>
                        <a:rPr lang="en-US" sz="2000" baseline="0" dirty="0" smtClean="0">
                          <a:latin typeface="Arial" panose="020B0604020202020204" pitchFamily="34" charset="0"/>
                          <a:cs typeface="Arial" panose="020B0604020202020204" pitchFamily="34" charset="0"/>
                        </a:rPr>
                        <a:t> tối thiểu tác dụng phụ toàn thân</a:t>
                      </a:r>
                    </a:p>
                    <a:p>
                      <a:endParaRPr lang="en-US" sz="2000" dirty="0">
                        <a:latin typeface="Arial" panose="020B0604020202020204" pitchFamily="34" charset="0"/>
                        <a:cs typeface="Arial" panose="020B0604020202020204" pitchFamily="34" charset="0"/>
                      </a:endParaRPr>
                    </a:p>
                  </a:txBody>
                  <a:tcPr/>
                </a:tc>
                <a:tc>
                  <a:txBody>
                    <a:bodyPr/>
                    <a:lstStyle/>
                    <a:p>
                      <a:r>
                        <a:rPr lang="en-US" sz="2000" dirty="0" smtClean="0">
                          <a:latin typeface="Arial" panose="020B0604020202020204" pitchFamily="34" charset="0"/>
                          <a:cs typeface="Arial" panose="020B0604020202020204" pitchFamily="34" charset="0"/>
                        </a:rPr>
                        <a:t>Co </a:t>
                      </a:r>
                      <a:r>
                        <a:rPr lang="en-US" sz="2000" dirty="0" err="1" smtClean="0">
                          <a:latin typeface="Arial" panose="020B0604020202020204" pitchFamily="34" charset="0"/>
                          <a:cs typeface="Arial" panose="020B0604020202020204" pitchFamily="34" charset="0"/>
                        </a:rPr>
                        <a:t>thắt</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phế</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quản</a:t>
                      </a:r>
                      <a:endParaRPr 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xmlns="" val="4167000133"/>
                  </a:ext>
                </a:extLst>
              </a:tr>
              <a:tr h="1141028">
                <a:tc>
                  <a:txBody>
                    <a:bodyPr/>
                    <a:lstStyle/>
                    <a:p>
                      <a:r>
                        <a:rPr lang="en-US" sz="2000" dirty="0" err="1" smtClean="0">
                          <a:latin typeface="Arial" panose="020B0604020202020204" pitchFamily="34" charset="0"/>
                          <a:cs typeface="Arial" panose="020B0604020202020204" pitchFamily="34" charset="0"/>
                        </a:rPr>
                        <a:t>Vai</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trò</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trong</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điều</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trị</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một</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số</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bệnh</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đực</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biệt</a:t>
                      </a:r>
                      <a:endParaRPr lang="en-US" sz="2000" dirty="0">
                        <a:latin typeface="Arial" panose="020B0604020202020204" pitchFamily="34" charset="0"/>
                        <a:cs typeface="Arial" panose="020B0604020202020204" pitchFamily="34" charset="0"/>
                      </a:endParaRPr>
                    </a:p>
                  </a:txBody>
                  <a:tcPr/>
                </a:tc>
                <a:tc>
                  <a:txBody>
                    <a:bodyPr/>
                    <a:lstStyle/>
                    <a:p>
                      <a:r>
                        <a:rPr lang="en-US" sz="2000" dirty="0" smtClean="0">
                          <a:latin typeface="Arial" panose="020B0604020202020204" pitchFamily="34" charset="0"/>
                          <a:cs typeface="Arial" panose="020B0604020202020204" pitchFamily="34" charset="0"/>
                        </a:rPr>
                        <a:t>Các</a:t>
                      </a:r>
                      <a:r>
                        <a:rPr lang="en-US" sz="2000" baseline="0" dirty="0" smtClean="0">
                          <a:latin typeface="Arial" panose="020B0604020202020204" pitchFamily="34" charset="0"/>
                          <a:cs typeface="Arial" panose="020B0604020202020204" pitchFamily="34" charset="0"/>
                        </a:rPr>
                        <a:t> hạt khí dung có đường kính quá nhỏ, không thể lắng đọng sẽ bị thải ra ngoài</a:t>
                      </a:r>
                    </a:p>
                    <a:p>
                      <a:endParaRPr 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xmlns="" val="2083917171"/>
                  </a:ext>
                </a:extLst>
              </a:tr>
              <a:tr h="860855">
                <a:tc>
                  <a:txBody>
                    <a:bodyPr/>
                    <a:lstStyle/>
                    <a:p>
                      <a:endParaRPr lang="en-US" sz="2000">
                        <a:latin typeface="Arial" panose="020B0604020202020204" pitchFamily="34" charset="0"/>
                        <a:cs typeface="Arial" panose="020B0604020202020204" pitchFamily="34" charset="0"/>
                      </a:endParaRPr>
                    </a:p>
                  </a:txBody>
                  <a:tcPr/>
                </a:tc>
                <a:tc>
                  <a:txBody>
                    <a:bodyPr/>
                    <a:lstStyle/>
                    <a:p>
                      <a:r>
                        <a:rPr lang="en-US" sz="2000" dirty="0" err="1" smtClean="0">
                          <a:latin typeface="Arial" panose="020B0604020202020204" pitchFamily="34" charset="0"/>
                          <a:cs typeface="Arial" panose="020B0604020202020204" pitchFamily="34" charset="0"/>
                        </a:rPr>
                        <a:t>Tác</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dụng</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phụ</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của</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một</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số</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loại</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khí</a:t>
                      </a:r>
                      <a:r>
                        <a:rPr lang="en-US" sz="2000" baseline="0" dirty="0" smtClean="0">
                          <a:latin typeface="Arial" panose="020B0604020202020204" pitchFamily="34" charset="0"/>
                          <a:cs typeface="Arial" panose="020B0604020202020204" pitchFamily="34" charset="0"/>
                        </a:rPr>
                        <a:t> dung</a:t>
                      </a:r>
                      <a:endParaRPr 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xmlns="" val="3979937886"/>
                  </a:ext>
                </a:extLst>
              </a:tr>
            </a:tbl>
          </a:graphicData>
        </a:graphic>
      </p:graphicFrame>
    </p:spTree>
    <p:extLst>
      <p:ext uri="{BB962C8B-B14F-4D97-AF65-F5344CB8AC3E}">
        <p14:creationId xmlns:p14="http://schemas.microsoft.com/office/powerpoint/2010/main" val="29489546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09600"/>
            <a:ext cx="5646376" cy="457200"/>
          </a:xfrm>
        </p:spPr>
        <p:txBody>
          <a:bodyPr>
            <a:noAutofit/>
          </a:bodyPr>
          <a:lstStyle/>
          <a:p>
            <a:r>
              <a:rPr lang="en-US" sz="2800" b="1" dirty="0">
                <a:latin typeface="Arial" panose="020B0604020202020204" pitchFamily="34" charset="0"/>
                <a:cs typeface="Arial" panose="020B0604020202020204" pitchFamily="34" charset="0"/>
              </a:rPr>
              <a:t>4</a:t>
            </a:r>
            <a:r>
              <a:rPr lang="en-US" sz="2800" b="1" dirty="0" smtClean="0">
                <a:latin typeface="Arial" panose="020B0604020202020204" pitchFamily="34" charset="0"/>
                <a:cs typeface="Arial" panose="020B0604020202020204" pitchFamily="34" charset="0"/>
              </a:rPr>
              <a:t>)</a:t>
            </a:r>
            <a:r>
              <a:rPr lang="vi-VN" sz="2800" b="1" dirty="0" smtClean="0">
                <a:latin typeface="Arial" panose="020B0604020202020204" pitchFamily="34" charset="0"/>
                <a:cs typeface="Arial" panose="020B0604020202020204" pitchFamily="34" charset="0"/>
              </a:rPr>
              <a:t> </a:t>
            </a:r>
            <a:r>
              <a:rPr lang="en-US" sz="2800" b="1" dirty="0" smtClean="0">
                <a:latin typeface="Arial" panose="020B0604020202020204" pitchFamily="34" charset="0"/>
                <a:cs typeface="Arial" panose="020B0604020202020204" pitchFamily="34" charset="0"/>
              </a:rPr>
              <a:t>Các dụng cụ khí dung </a:t>
            </a:r>
            <a:br>
              <a:rPr lang="en-US" sz="2800" b="1" dirty="0" smtClean="0">
                <a:latin typeface="Arial" panose="020B0604020202020204" pitchFamily="34" charset="0"/>
                <a:cs typeface="Arial" panose="020B0604020202020204" pitchFamily="34" charset="0"/>
              </a:rPr>
            </a:br>
            <a:endParaRPr lang="en-US" sz="2800" b="1" dirty="0">
              <a:latin typeface="Arial" panose="020B0604020202020204" pitchFamily="34" charset="0"/>
              <a:cs typeface="Arial" panose="020B0604020202020204" pitchFamily="34" charset="0"/>
            </a:endParaRPr>
          </a:p>
        </p:txBody>
      </p:sp>
      <p:pic>
        <p:nvPicPr>
          <p:cNvPr id="4" name="Content Placeholder 3"/>
          <p:cNvPicPr>
            <a:picLocks noGrp="1" noChangeAspect="1"/>
          </p:cNvPicPr>
          <p:nvPr>
            <p:ph idx="1"/>
          </p:nvPr>
        </p:nvPicPr>
        <p:blipFill>
          <a:blip r:embed="rId3"/>
          <a:stretch>
            <a:fillRect/>
          </a:stretch>
        </p:blipFill>
        <p:spPr>
          <a:xfrm>
            <a:off x="152400" y="2505964"/>
            <a:ext cx="4927863" cy="4352036"/>
          </a:xfrm>
          <a:prstGeom prst="rect">
            <a:avLst/>
          </a:prstGeom>
        </p:spPr>
      </p:pic>
      <p:pic>
        <p:nvPicPr>
          <p:cNvPr id="5" name="Picture 4"/>
          <p:cNvPicPr>
            <a:picLocks noChangeAspect="1"/>
          </p:cNvPicPr>
          <p:nvPr/>
        </p:nvPicPr>
        <p:blipFill>
          <a:blip r:embed="rId4"/>
          <a:stretch>
            <a:fillRect/>
          </a:stretch>
        </p:blipFill>
        <p:spPr>
          <a:xfrm>
            <a:off x="6019800" y="2505964"/>
            <a:ext cx="2590800" cy="2104292"/>
          </a:xfrm>
          <a:prstGeom prst="rect">
            <a:avLst/>
          </a:prstGeom>
        </p:spPr>
      </p:pic>
      <p:pic>
        <p:nvPicPr>
          <p:cNvPr id="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51176" y="4953000"/>
            <a:ext cx="3057525" cy="1362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228600" y="1038237"/>
            <a:ext cx="8382000" cy="1107996"/>
          </a:xfrm>
          <a:prstGeom prst="rect">
            <a:avLst/>
          </a:prstGeom>
          <a:noFill/>
        </p:spPr>
        <p:txBody>
          <a:bodyPr wrap="square" rtlCol="0">
            <a:spAutoFit/>
          </a:bodyPr>
          <a:lstStyle/>
          <a:p>
            <a:pPr algn="just"/>
            <a:r>
              <a:rPr lang="en-US" sz="2200" dirty="0" smtClean="0">
                <a:latin typeface="Arial" panose="020B0604020202020204" pitchFamily="34" charset="0"/>
                <a:cs typeface="Arial" panose="020B0604020202020204" pitchFamily="34" charset="0"/>
              </a:rPr>
              <a:t>C</a:t>
            </a:r>
            <a:r>
              <a:rPr lang="vi-VN" sz="2200" dirty="0" smtClean="0">
                <a:latin typeface="Arial" panose="020B0604020202020204" pitchFamily="34" charset="0"/>
                <a:cs typeface="Arial" panose="020B0604020202020204" pitchFamily="34" charset="0"/>
              </a:rPr>
              <a:t>ác </a:t>
            </a:r>
            <a:r>
              <a:rPr lang="vi-VN" sz="2200" dirty="0">
                <a:latin typeface="Arial" panose="020B0604020202020204" pitchFamily="34" charset="0"/>
                <a:cs typeface="Arial" panose="020B0604020202020204" pitchFamily="34" charset="0"/>
              </a:rPr>
              <a:t>thuốc xông-hít được sử dụng dưới 4 hình thức chính: bình</a:t>
            </a:r>
          </a:p>
          <a:p>
            <a:pPr algn="just"/>
            <a:r>
              <a:rPr lang="vi-VN" sz="2200" dirty="0">
                <a:latin typeface="Arial" panose="020B0604020202020204" pitchFamily="34" charset="0"/>
                <a:cs typeface="Arial" panose="020B0604020202020204" pitchFamily="34" charset="0"/>
              </a:rPr>
              <a:t>xịt định liều (MDI), bình hít hạt mịn Respimat, bình hít bột khô (DPI) và máy phun </a:t>
            </a:r>
            <a:r>
              <a:rPr lang="vi-VN" sz="2200" dirty="0" smtClean="0">
                <a:latin typeface="Arial" panose="020B0604020202020204" pitchFamily="34" charset="0"/>
                <a:cs typeface="Arial" panose="020B0604020202020204" pitchFamily="34" charset="0"/>
              </a:rPr>
              <a:t>khí</a:t>
            </a:r>
            <a:r>
              <a:rPr lang="en-US" sz="2200" dirty="0" smtClean="0">
                <a:latin typeface="Arial" panose="020B0604020202020204" pitchFamily="34" charset="0"/>
                <a:cs typeface="Arial" panose="020B0604020202020204" pitchFamily="34" charset="0"/>
              </a:rPr>
              <a:t> dung.</a:t>
            </a:r>
            <a:endParaRPr lang="vi-VN"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792352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0"/>
            <a:ext cx="891540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304562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573" y="152400"/>
            <a:ext cx="9067800" cy="6705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9806491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47767"/>
            <a:ext cx="8686800" cy="6340197"/>
          </a:xfrm>
          <a:prstGeom prst="rect">
            <a:avLst/>
          </a:prstGeom>
          <a:noFill/>
        </p:spPr>
        <p:txBody>
          <a:bodyPr wrap="square" rtlCol="0">
            <a:spAutoFit/>
          </a:bodyPr>
          <a:lstStyle/>
          <a:p>
            <a:endParaRPr lang="en-US" sz="2000" b="1" dirty="0" smtClean="0">
              <a:latin typeface="Arial" panose="020B0604020202020204" pitchFamily="34" charset="0"/>
              <a:cs typeface="Arial" panose="020B0604020202020204" pitchFamily="34" charset="0"/>
            </a:endParaRPr>
          </a:p>
          <a:p>
            <a:endParaRPr lang="en-US" sz="2000" b="1" dirty="0">
              <a:latin typeface="Arial" panose="020B0604020202020204" pitchFamily="34" charset="0"/>
              <a:cs typeface="Arial" panose="020B0604020202020204" pitchFamily="34" charset="0"/>
            </a:endParaRPr>
          </a:p>
          <a:p>
            <a:r>
              <a:rPr lang="en-US" sz="2400" b="1" dirty="0" smtClean="0">
                <a:latin typeface="Arial" panose="020B0604020202020204" pitchFamily="34" charset="0"/>
                <a:cs typeface="Arial" panose="020B0604020202020204" pitchFamily="34" charset="0"/>
              </a:rPr>
              <a:t>5) Chỉ định của máy phun khí dung</a:t>
            </a:r>
          </a:p>
          <a:p>
            <a:endParaRPr lang="en-US" sz="2400" b="1" dirty="0" smtClean="0">
              <a:latin typeface="Arial" panose="020B0604020202020204" pitchFamily="34" charset="0"/>
              <a:cs typeface="Arial" panose="020B0604020202020204" pitchFamily="34" charset="0"/>
            </a:endParaRPr>
          </a:p>
          <a:p>
            <a:pPr lvl="0">
              <a:lnSpc>
                <a:spcPct val="150000"/>
              </a:lnSpc>
            </a:pPr>
            <a:r>
              <a:rPr lang="en-US" sz="2000" dirty="0" smtClean="0">
                <a:latin typeface="Arial" panose="020B0604020202020204" pitchFamily="34" charset="0"/>
                <a:cs typeface="Arial" panose="020B0604020202020204" pitchFamily="34" charset="0"/>
              </a:rPr>
              <a:t>-Dùng </a:t>
            </a:r>
            <a:r>
              <a:rPr lang="en-US" sz="2000" dirty="0">
                <a:latin typeface="Arial" panose="020B0604020202020204" pitchFamily="34" charset="0"/>
                <a:cs typeface="Arial" panose="020B0604020202020204" pitchFamily="34" charset="0"/>
              </a:rPr>
              <a:t>cho </a:t>
            </a:r>
            <a:r>
              <a:rPr lang="en-US" sz="2000" dirty="0" smtClean="0">
                <a:latin typeface="Arial" panose="020B0604020202020204" pitchFamily="34" charset="0"/>
                <a:cs typeface="Arial" panose="020B0604020202020204" pitchFamily="34" charset="0"/>
              </a:rPr>
              <a:t>trẻ </a:t>
            </a:r>
            <a:r>
              <a:rPr lang="en-US" sz="2000" dirty="0">
                <a:latin typeface="Arial" panose="020B0604020202020204" pitchFamily="34" charset="0"/>
                <a:cs typeface="Arial" panose="020B0604020202020204" pitchFamily="34" charset="0"/>
              </a:rPr>
              <a:t>quá yếu hoặc quá nhỏ để sử dụng thiết bị cầm tay và trong tình huống cần dùng liều thuốc lớn. </a:t>
            </a:r>
          </a:p>
          <a:p>
            <a:pPr lvl="0">
              <a:lnSpc>
                <a:spcPct val="150000"/>
              </a:lnSpc>
            </a:pPr>
            <a:r>
              <a:rPr lang="en-US" sz="2000" dirty="0" smtClean="0">
                <a:latin typeface="Arial" panose="020B0604020202020204" pitchFamily="34" charset="0"/>
                <a:cs typeface="Arial" panose="020B0604020202020204" pitchFamily="34" charset="0"/>
              </a:rPr>
              <a:t>-</a:t>
            </a:r>
            <a:r>
              <a:rPr lang="en-US" sz="2000" dirty="0" err="1">
                <a:latin typeface="Arial" panose="020B0604020202020204" pitchFamily="34" charset="0"/>
                <a:cs typeface="Arial" panose="020B0604020202020204" pitchFamily="34" charset="0"/>
              </a:rPr>
              <a:t>M</a:t>
            </a:r>
            <a:r>
              <a:rPr lang="en-US" sz="2000" dirty="0" err="1" smtClean="0">
                <a:latin typeface="Arial" panose="020B0604020202020204" pitchFamily="34" charset="0"/>
                <a:cs typeface="Arial" panose="020B0604020202020204" pitchFamily="34" charset="0"/>
              </a:rPr>
              <a:t>ột</a:t>
            </a: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số thuốc chỉ có ở dạng lỏng : dịch ưu trương, pentamidine, ribavirin</a:t>
            </a:r>
            <a:r>
              <a:rPr lang="en-US" sz="2000" dirty="0" smtClean="0">
                <a:latin typeface="Arial" panose="020B0604020202020204" pitchFamily="34" charset="0"/>
                <a:cs typeface="Arial" panose="020B0604020202020204" pitchFamily="34" charset="0"/>
              </a:rPr>
              <a:t>,….</a:t>
            </a:r>
          </a:p>
          <a:p>
            <a:pPr lvl="0">
              <a:lnSpc>
                <a:spcPct val="150000"/>
              </a:lnSpc>
            </a:pPr>
            <a:r>
              <a:rPr lang="en-US" sz="2000" dirty="0" smtClean="0">
                <a:latin typeface="Arial" panose="020B0604020202020204" pitchFamily="34" charset="0"/>
                <a:cs typeface="Arial" panose="020B0604020202020204" pitchFamily="34" charset="0"/>
              </a:rPr>
              <a:t>-Dùng khí dung trong: Croup( viêm thanh khí phế quản cấp), Hen, Viêm tiểu phế quản, viêm phổi khò khè.</a:t>
            </a:r>
          </a:p>
          <a:p>
            <a:pPr lvl="0">
              <a:lnSpc>
                <a:spcPct val="150000"/>
              </a:lnSpc>
            </a:pPr>
            <a:r>
              <a:rPr lang="en-US" sz="2000" dirty="0" smtClean="0">
                <a:latin typeface="Arial" panose="020B0604020202020204" pitchFamily="34" charset="0"/>
                <a:cs typeface="Arial" panose="020B0604020202020204" pitchFamily="34" charset="0"/>
              </a:rPr>
              <a:t>-Loại </a:t>
            </a:r>
            <a:r>
              <a:rPr lang="en-US" sz="2000" dirty="0">
                <a:latin typeface="Arial" panose="020B0604020202020204" pitchFamily="34" charset="0"/>
                <a:cs typeface="Arial" panose="020B0604020202020204" pitchFamily="34" charset="0"/>
              </a:rPr>
              <a:t>khí dung thường gặp trên lâm sàng ( ở bv Nhi Hải Phòng) ở trẻ dưới 5 tuổi là máy phun khí dung. Máy PKD thường gặp là </a:t>
            </a:r>
            <a:r>
              <a:rPr lang="en-US" sz="2000" dirty="0" smtClean="0">
                <a:latin typeface="Arial" panose="020B0604020202020204" pitchFamily="34" charset="0"/>
                <a:cs typeface="Arial" panose="020B0604020202020204" pitchFamily="34" charset="0"/>
              </a:rPr>
              <a:t>máy </a:t>
            </a:r>
            <a:r>
              <a:rPr lang="en-US" sz="2000" dirty="0">
                <a:latin typeface="Arial" panose="020B0604020202020204" pitchFamily="34" charset="0"/>
                <a:cs typeface="Arial" panose="020B0604020202020204" pitchFamily="34" charset="0"/>
              </a:rPr>
              <a:t>phun khí dung khí nén </a:t>
            </a:r>
            <a:r>
              <a:rPr lang="en-US" sz="2000" dirty="0" smtClean="0">
                <a:latin typeface="Arial" panose="020B0604020202020204" pitchFamily="34" charset="0"/>
                <a:cs typeface="Arial" panose="020B0604020202020204" pitchFamily="34" charset="0"/>
              </a:rPr>
              <a:t>(nguồn </a:t>
            </a:r>
            <a:r>
              <a:rPr lang="en-US" sz="2000" dirty="0">
                <a:latin typeface="Arial" panose="020B0604020202020204" pitchFamily="34" charset="0"/>
                <a:cs typeface="Arial" panose="020B0604020202020204" pitchFamily="34" charset="0"/>
              </a:rPr>
              <a:t>phun là khí nén ). Ngoài ra còn 2 loại khác là máy PKD dùng siêu âm và PKD dùng màng lưới rung.</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8397175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Content Placeholder 3"/>
          <p:cNvPicPr>
            <a:picLocks noChangeAspect="1"/>
          </p:cNvPicPr>
          <p:nvPr/>
        </p:nvPicPr>
        <p:blipFill>
          <a:blip r:embed="rId3"/>
          <a:stretch>
            <a:fillRect/>
          </a:stretch>
        </p:blipFill>
        <p:spPr>
          <a:xfrm>
            <a:off x="245712" y="0"/>
            <a:ext cx="8652575" cy="6705600"/>
          </a:xfrm>
          <a:prstGeom prst="rect">
            <a:avLst/>
          </a:prstGeom>
        </p:spPr>
      </p:pic>
    </p:spTree>
    <p:extLst>
      <p:ext uri="{BB962C8B-B14F-4D97-AF65-F5344CB8AC3E}">
        <p14:creationId xmlns:p14="http://schemas.microsoft.com/office/powerpoint/2010/main" val="7951765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09600" y="152400"/>
            <a:ext cx="7924800"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6</a:t>
            </a:r>
            <a:r>
              <a:rPr lang="en-US" sz="2400" b="1" dirty="0" smtClean="0">
                <a:latin typeface="Arial" panose="020B0604020202020204" pitchFamily="34" charset="0"/>
                <a:cs typeface="Arial" panose="020B0604020202020204" pitchFamily="34" charset="0"/>
              </a:rPr>
              <a:t>) Các yếu tố ảnh hưởng đến hiệu quả của MPKD</a:t>
            </a:r>
            <a:endParaRPr lang="en-US" sz="2400" b="1" dirty="0">
              <a:latin typeface="Arial" panose="020B0604020202020204" pitchFamily="34" charset="0"/>
              <a:cs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3794927274"/>
              </p:ext>
            </p:extLst>
          </p:nvPr>
        </p:nvGraphicFramePr>
        <p:xfrm>
          <a:off x="460612" y="1066800"/>
          <a:ext cx="8077200" cy="5181600"/>
        </p:xfrm>
        <a:graphic>
          <a:graphicData uri="http://schemas.openxmlformats.org/drawingml/2006/table">
            <a:tbl>
              <a:tblPr firstRow="1" bandRow="1">
                <a:tableStyleId>{F5AB1C69-6EDB-4FF4-983F-18BD219EF322}</a:tableStyleId>
              </a:tblPr>
              <a:tblGrid>
                <a:gridCol w="4038600"/>
                <a:gridCol w="4038600"/>
              </a:tblGrid>
              <a:tr h="498362">
                <a:tc>
                  <a:txBody>
                    <a:bodyPr/>
                    <a:lstStyle/>
                    <a:p>
                      <a:pPr algn="ctr"/>
                      <a:r>
                        <a:rPr lang="en-US" sz="2000" dirty="0" smtClean="0">
                          <a:latin typeface="Arial" panose="020B0604020202020204" pitchFamily="34" charset="0"/>
                          <a:cs typeface="Arial" panose="020B0604020202020204" pitchFamily="34" charset="0"/>
                        </a:rPr>
                        <a:t>Đặc</a:t>
                      </a:r>
                      <a:r>
                        <a:rPr lang="en-US" sz="2000" baseline="0" dirty="0" smtClean="0">
                          <a:latin typeface="Arial" panose="020B0604020202020204" pitchFamily="34" charset="0"/>
                          <a:cs typeface="Arial" panose="020B0604020202020204" pitchFamily="34" charset="0"/>
                        </a:rPr>
                        <a:t> điểm hạt khí dung</a:t>
                      </a:r>
                      <a:endParaRPr lang="en-US" sz="2000" dirty="0">
                        <a:latin typeface="Arial" panose="020B0604020202020204" pitchFamily="34" charset="0"/>
                        <a:cs typeface="Arial" panose="020B0604020202020204" pitchFamily="34" charset="0"/>
                      </a:endParaRPr>
                    </a:p>
                  </a:txBody>
                  <a:tcPr/>
                </a:tc>
                <a:tc>
                  <a:txBody>
                    <a:bodyPr/>
                    <a:lstStyle/>
                    <a:p>
                      <a:pPr algn="ctr"/>
                      <a:r>
                        <a:rPr lang="en-US" sz="2000" dirty="0" smtClean="0">
                          <a:latin typeface="Arial" panose="020B0604020202020204" pitchFamily="34" charset="0"/>
                          <a:cs typeface="Arial" panose="020B0604020202020204" pitchFamily="34" charset="0"/>
                        </a:rPr>
                        <a:t>Đặc</a:t>
                      </a:r>
                      <a:r>
                        <a:rPr lang="en-US" sz="2000" baseline="0" dirty="0" smtClean="0">
                          <a:latin typeface="Arial" panose="020B0604020202020204" pitchFamily="34" charset="0"/>
                          <a:cs typeface="Arial" panose="020B0604020202020204" pitchFamily="34" charset="0"/>
                        </a:rPr>
                        <a:t> điểm của bệnh nhân</a:t>
                      </a:r>
                      <a:endParaRPr lang="en-US" sz="2000" dirty="0">
                        <a:latin typeface="Arial" panose="020B0604020202020204" pitchFamily="34" charset="0"/>
                        <a:cs typeface="Arial" panose="020B0604020202020204" pitchFamily="34" charset="0"/>
                      </a:endParaRPr>
                    </a:p>
                  </a:txBody>
                  <a:tcPr/>
                </a:tc>
              </a:tr>
              <a:tr h="498362">
                <a:tc>
                  <a:txBody>
                    <a:bodyPr/>
                    <a:lstStyle/>
                    <a:p>
                      <a:pPr algn="just"/>
                      <a:r>
                        <a:rPr lang="en-US" sz="2000" dirty="0" smtClean="0">
                          <a:latin typeface="Arial" panose="020B0604020202020204" pitchFamily="34" charset="0"/>
                          <a:cs typeface="Arial" panose="020B0604020202020204" pitchFamily="34" charset="0"/>
                        </a:rPr>
                        <a:t>Kích</a:t>
                      </a:r>
                      <a:r>
                        <a:rPr lang="en-US" sz="2000" baseline="0" dirty="0" smtClean="0">
                          <a:latin typeface="Arial" panose="020B0604020202020204" pitchFamily="34" charset="0"/>
                          <a:cs typeface="Arial" panose="020B0604020202020204" pitchFamily="34" charset="0"/>
                        </a:rPr>
                        <a:t> thước hạt</a:t>
                      </a:r>
                      <a:endParaRPr lang="en-US" sz="2000" dirty="0">
                        <a:latin typeface="Arial" panose="020B0604020202020204" pitchFamily="34" charset="0"/>
                        <a:cs typeface="Arial" panose="020B0604020202020204" pitchFamily="34" charset="0"/>
                      </a:endParaRPr>
                    </a:p>
                  </a:txBody>
                  <a:tcPr/>
                </a:tc>
                <a:tc>
                  <a:txBody>
                    <a:bodyPr/>
                    <a:lstStyle/>
                    <a:p>
                      <a:pPr algn="just"/>
                      <a:r>
                        <a:rPr lang="en-US" sz="2000" dirty="0" smtClean="0">
                          <a:latin typeface="Arial" panose="020B0604020202020204" pitchFamily="34" charset="0"/>
                          <a:cs typeface="Arial" panose="020B0604020202020204" pitchFamily="34" charset="0"/>
                        </a:rPr>
                        <a:t>Tuổi</a:t>
                      </a:r>
                      <a:endParaRPr lang="en-US" sz="2000" dirty="0">
                        <a:latin typeface="Arial" panose="020B0604020202020204" pitchFamily="34" charset="0"/>
                        <a:cs typeface="Arial" panose="020B0604020202020204" pitchFamily="34" charset="0"/>
                      </a:endParaRPr>
                    </a:p>
                  </a:txBody>
                  <a:tcPr/>
                </a:tc>
              </a:tr>
              <a:tr h="498362">
                <a:tc>
                  <a:txBody>
                    <a:bodyPr/>
                    <a:lstStyle/>
                    <a:p>
                      <a:pPr algn="just"/>
                      <a:r>
                        <a:rPr lang="en-US" sz="2000" dirty="0" smtClean="0">
                          <a:latin typeface="Arial" panose="020B0604020202020204" pitchFamily="34" charset="0"/>
                          <a:cs typeface="Arial" panose="020B0604020202020204" pitchFamily="34" charset="0"/>
                        </a:rPr>
                        <a:t>Tỷ</a:t>
                      </a:r>
                      <a:r>
                        <a:rPr lang="en-US" sz="2000" baseline="0" dirty="0" smtClean="0">
                          <a:latin typeface="Arial" panose="020B0604020202020204" pitchFamily="34" charset="0"/>
                          <a:cs typeface="Arial" panose="020B0604020202020204" pitchFamily="34" charset="0"/>
                        </a:rPr>
                        <a:t> trọng</a:t>
                      </a:r>
                      <a:endParaRPr lang="en-US" sz="2000" dirty="0">
                        <a:latin typeface="Arial" panose="020B0604020202020204" pitchFamily="34" charset="0"/>
                        <a:cs typeface="Arial" panose="020B0604020202020204" pitchFamily="34" charset="0"/>
                      </a:endParaRPr>
                    </a:p>
                  </a:txBody>
                  <a:tcPr/>
                </a:tc>
                <a:tc>
                  <a:txBody>
                    <a:bodyPr/>
                    <a:lstStyle/>
                    <a:p>
                      <a:pPr algn="just"/>
                      <a:r>
                        <a:rPr lang="en-US" sz="2000" dirty="0" smtClean="0">
                          <a:latin typeface="Arial" panose="020B0604020202020204" pitchFamily="34" charset="0"/>
                          <a:cs typeface="Arial" panose="020B0604020202020204" pitchFamily="34" charset="0"/>
                        </a:rPr>
                        <a:t>Tần</a:t>
                      </a:r>
                      <a:r>
                        <a:rPr lang="en-US" sz="2000" baseline="0" dirty="0" smtClean="0">
                          <a:latin typeface="Arial" panose="020B0604020202020204" pitchFamily="34" charset="0"/>
                          <a:cs typeface="Arial" panose="020B0604020202020204" pitchFamily="34" charset="0"/>
                        </a:rPr>
                        <a:t> số thở</a:t>
                      </a:r>
                      <a:endParaRPr lang="en-US" sz="2000" dirty="0">
                        <a:latin typeface="Arial" panose="020B0604020202020204" pitchFamily="34" charset="0"/>
                        <a:cs typeface="Arial" panose="020B0604020202020204" pitchFamily="34" charset="0"/>
                      </a:endParaRPr>
                    </a:p>
                  </a:txBody>
                  <a:tcPr/>
                </a:tc>
              </a:tr>
              <a:tr h="860187">
                <a:tc>
                  <a:txBody>
                    <a:bodyPr/>
                    <a:lstStyle/>
                    <a:p>
                      <a:pPr algn="just"/>
                      <a:r>
                        <a:rPr lang="en-US" sz="2000" dirty="0" smtClean="0">
                          <a:latin typeface="Arial" panose="020B0604020202020204" pitchFamily="34" charset="0"/>
                          <a:cs typeface="Arial" panose="020B0604020202020204" pitchFamily="34" charset="0"/>
                        </a:rPr>
                        <a:t>Độ</a:t>
                      </a:r>
                      <a:r>
                        <a:rPr lang="en-US" sz="2000" baseline="0" dirty="0" smtClean="0">
                          <a:latin typeface="Arial" panose="020B0604020202020204" pitchFamily="34" charset="0"/>
                          <a:cs typeface="Arial" panose="020B0604020202020204" pitchFamily="34" charset="0"/>
                        </a:rPr>
                        <a:t> ẩm</a:t>
                      </a:r>
                      <a:endParaRPr lang="en-US" sz="2000" dirty="0">
                        <a:latin typeface="Arial" panose="020B0604020202020204" pitchFamily="34" charset="0"/>
                        <a:cs typeface="Arial" panose="020B0604020202020204" pitchFamily="34" charset="0"/>
                      </a:endParaRPr>
                    </a:p>
                  </a:txBody>
                  <a:tcPr/>
                </a:tc>
                <a:tc>
                  <a:txBody>
                    <a:bodyPr/>
                    <a:lstStyle/>
                    <a:p>
                      <a:pPr algn="just"/>
                      <a:r>
                        <a:rPr lang="en-US" sz="2000" dirty="0" smtClean="0">
                          <a:latin typeface="Arial" panose="020B0604020202020204" pitchFamily="34" charset="0"/>
                          <a:cs typeface="Arial" panose="020B0604020202020204" pitchFamily="34" charset="0"/>
                        </a:rPr>
                        <a:t>Kiểu</a:t>
                      </a:r>
                      <a:r>
                        <a:rPr lang="en-US" sz="2000" baseline="0" dirty="0" smtClean="0">
                          <a:latin typeface="Arial" panose="020B0604020202020204" pitchFamily="34" charset="0"/>
                          <a:cs typeface="Arial" panose="020B0604020202020204" pitchFamily="34" charset="0"/>
                        </a:rPr>
                        <a:t> thở (thể tích hít vào, tần số thở)</a:t>
                      </a:r>
                      <a:endParaRPr lang="en-US" sz="2000" dirty="0">
                        <a:latin typeface="Arial" panose="020B0604020202020204" pitchFamily="34" charset="0"/>
                        <a:cs typeface="Arial" panose="020B0604020202020204" pitchFamily="34" charset="0"/>
                      </a:endParaRPr>
                    </a:p>
                  </a:txBody>
                  <a:tcPr/>
                </a:tc>
              </a:tr>
              <a:tr h="860187">
                <a:tc>
                  <a:txBody>
                    <a:bodyPr/>
                    <a:lstStyle/>
                    <a:p>
                      <a:pPr algn="just"/>
                      <a:r>
                        <a:rPr lang="en-US" sz="2000" dirty="0" smtClean="0">
                          <a:latin typeface="Arial" panose="020B0604020202020204" pitchFamily="34" charset="0"/>
                          <a:cs typeface="Arial" panose="020B0604020202020204" pitchFamily="34" charset="0"/>
                        </a:rPr>
                        <a:t>Độ</a:t>
                      </a:r>
                      <a:r>
                        <a:rPr lang="en-US" sz="2000" baseline="0" dirty="0" smtClean="0">
                          <a:latin typeface="Arial" panose="020B0604020202020204" pitchFamily="34" charset="0"/>
                          <a:cs typeface="Arial" panose="020B0604020202020204" pitchFamily="34" charset="0"/>
                        </a:rPr>
                        <a:t> nhớt của thuốc và sức căng bề mặt</a:t>
                      </a:r>
                      <a:endParaRPr lang="en-US" sz="2000" dirty="0">
                        <a:latin typeface="Arial" panose="020B0604020202020204" pitchFamily="34" charset="0"/>
                        <a:cs typeface="Arial" panose="020B0604020202020204" pitchFamily="34" charset="0"/>
                      </a:endParaRPr>
                    </a:p>
                  </a:txBody>
                  <a:tcPr/>
                </a:tc>
                <a:tc>
                  <a:txBody>
                    <a:bodyPr/>
                    <a:lstStyle/>
                    <a:p>
                      <a:pPr algn="just"/>
                      <a:r>
                        <a:rPr lang="en-US" sz="2000" dirty="0" smtClean="0">
                          <a:latin typeface="Arial" panose="020B0604020202020204" pitchFamily="34" charset="0"/>
                          <a:cs typeface="Arial" panose="020B0604020202020204" pitchFamily="34" charset="0"/>
                        </a:rPr>
                        <a:t>Thở</a:t>
                      </a:r>
                      <a:r>
                        <a:rPr lang="en-US" sz="2000" baseline="0" dirty="0" smtClean="0">
                          <a:latin typeface="Arial" panose="020B0604020202020204" pitchFamily="34" charset="0"/>
                          <a:cs typeface="Arial" panose="020B0604020202020204" pitchFamily="34" charset="0"/>
                        </a:rPr>
                        <a:t> bằng mũi hay miệng</a:t>
                      </a:r>
                      <a:endParaRPr lang="en-US" sz="2000" dirty="0">
                        <a:latin typeface="Arial" panose="020B0604020202020204" pitchFamily="34" charset="0"/>
                        <a:cs typeface="Arial" panose="020B0604020202020204" pitchFamily="34" charset="0"/>
                      </a:endParaRPr>
                    </a:p>
                  </a:txBody>
                  <a:tcPr/>
                </a:tc>
              </a:tr>
              <a:tr h="1966140">
                <a:tc>
                  <a:txBody>
                    <a:bodyPr/>
                    <a:lstStyle/>
                    <a:p>
                      <a:pPr algn="just"/>
                      <a:r>
                        <a:rPr lang="en-US" sz="2000" dirty="0" smtClean="0">
                          <a:latin typeface="Arial" panose="020B0604020202020204" pitchFamily="34" charset="0"/>
                          <a:cs typeface="Arial" panose="020B0604020202020204" pitchFamily="34" charset="0"/>
                        </a:rPr>
                        <a:t>Huyền</a:t>
                      </a:r>
                      <a:r>
                        <a:rPr lang="en-US" sz="2000" baseline="0" dirty="0" smtClean="0">
                          <a:latin typeface="Arial" panose="020B0604020202020204" pitchFamily="34" charset="0"/>
                          <a:cs typeface="Arial" panose="020B0604020202020204" pitchFamily="34" charset="0"/>
                        </a:rPr>
                        <a:t> dịch hay dung dịch</a:t>
                      </a:r>
                      <a:endParaRPr lang="en-US" sz="2000" dirty="0">
                        <a:latin typeface="Arial" panose="020B0604020202020204" pitchFamily="34" charset="0"/>
                        <a:cs typeface="Arial" panose="020B0604020202020204" pitchFamily="34" charset="0"/>
                      </a:endParaRPr>
                    </a:p>
                  </a:txBody>
                  <a:tcPr/>
                </a:tc>
                <a:tc>
                  <a:txBody>
                    <a:bodyPr/>
                    <a:lstStyle/>
                    <a:p>
                      <a:pPr algn="just"/>
                      <a:r>
                        <a:rPr lang="en-US" sz="2000" dirty="0" smtClean="0">
                          <a:latin typeface="Arial" panose="020B0604020202020204" pitchFamily="34" charset="0"/>
                          <a:cs typeface="Arial" panose="020B0604020202020204" pitchFamily="34" charset="0"/>
                        </a:rPr>
                        <a:t>Giải</a:t>
                      </a:r>
                      <a:r>
                        <a:rPr lang="en-US" sz="2000" baseline="0" dirty="0" smtClean="0">
                          <a:latin typeface="Arial" panose="020B0604020202020204" pitchFamily="34" charset="0"/>
                          <a:cs typeface="Arial" panose="020B0604020202020204" pitchFamily="34" charset="0"/>
                        </a:rPr>
                        <a:t> phẫu (đường thở trên hay dưới)</a:t>
                      </a:r>
                    </a:p>
                    <a:p>
                      <a:pPr algn="just"/>
                      <a:r>
                        <a:rPr lang="en-US" sz="2000" baseline="0" dirty="0" smtClean="0">
                          <a:latin typeface="Arial" panose="020B0604020202020204" pitchFamily="34" charset="0"/>
                          <a:cs typeface="Arial" panose="020B0604020202020204" pitchFamily="34" charset="0"/>
                        </a:rPr>
                        <a:t>Mức độ nặng của bệnh</a:t>
                      </a:r>
                    </a:p>
                    <a:p>
                      <a:pPr algn="just"/>
                      <a:r>
                        <a:rPr lang="en-US" sz="2000" baseline="0" dirty="0" smtClean="0">
                          <a:latin typeface="Arial" panose="020B0604020202020204" pitchFamily="34" charset="0"/>
                          <a:cs typeface="Arial" panose="020B0604020202020204" pitchFamily="34" charset="0"/>
                        </a:rPr>
                        <a:t>Nhận thức và khả năng hợp tác của bệnh nhân </a:t>
                      </a:r>
                      <a:endParaRPr lang="en-US" sz="2000" dirty="0">
                        <a:latin typeface="Arial" panose="020B0604020202020204" pitchFamily="34" charset="0"/>
                        <a:cs typeface="Arial" panose="020B0604020202020204" pitchFamily="34" charset="0"/>
                      </a:endParaRPr>
                    </a:p>
                  </a:txBody>
                  <a:tcPr/>
                </a:tc>
              </a:tr>
            </a:tbl>
          </a:graphicData>
        </a:graphic>
      </p:graphicFrame>
    </p:spTree>
    <p:extLst>
      <p:ext uri="{BB962C8B-B14F-4D97-AF65-F5344CB8AC3E}">
        <p14:creationId xmlns:p14="http://schemas.microsoft.com/office/powerpoint/2010/main" val="250502097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2400" y="13648"/>
            <a:ext cx="8839200" cy="6691952"/>
          </a:xfrm>
        </p:spPr>
      </p:pic>
    </p:spTree>
    <p:extLst>
      <p:ext uri="{BB962C8B-B14F-4D97-AF65-F5344CB8AC3E}">
        <p14:creationId xmlns:p14="http://schemas.microsoft.com/office/powerpoint/2010/main" val="104564902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81000" y="1587688"/>
            <a:ext cx="8153400" cy="2585323"/>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anose="020B0604020202020204" pitchFamily="34" charset="0"/>
                <a:cs typeface="Arial" panose="020B0604020202020204" pitchFamily="34" charset="0"/>
              </a:rPr>
              <a:t>Sơ lược về các thuốc khí dung thường dùng trên lâm sàng </a:t>
            </a:r>
            <a:endParaRPr lang="en-U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extLst>
      <p:ext uri="{BB962C8B-B14F-4D97-AF65-F5344CB8AC3E}">
        <p14:creationId xmlns:p14="http://schemas.microsoft.com/office/powerpoint/2010/main" val="31733891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685800"/>
            <a:ext cx="7924800" cy="5867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303135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981200" y="151192"/>
            <a:ext cx="4876800" cy="461665"/>
          </a:xfrm>
          <a:prstGeom prst="rect">
            <a:avLst/>
          </a:prstGeom>
          <a:solidFill>
            <a:schemeClr val="accent2">
              <a:lumMod val="20000"/>
              <a:lumOff val="80000"/>
            </a:schemeClr>
          </a:solidFill>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US" sz="2400" dirty="0" smtClean="0">
                <a:solidFill>
                  <a:schemeClr val="tx1"/>
                </a:solidFill>
              </a:rPr>
              <a:t>Thuốc tác dụng trên hệ adrenergic</a:t>
            </a:r>
            <a:endParaRPr lang="en-US" sz="2400" dirty="0">
              <a:solidFill>
                <a:schemeClr val="tx1"/>
              </a:solidFill>
            </a:endParaRPr>
          </a:p>
        </p:txBody>
      </p:sp>
      <p:cxnSp>
        <p:nvCxnSpPr>
          <p:cNvPr id="7" name="Straight Arrow Connector 6"/>
          <p:cNvCxnSpPr/>
          <p:nvPr/>
        </p:nvCxnSpPr>
        <p:spPr>
          <a:xfrm flipH="1">
            <a:off x="3048000" y="737401"/>
            <a:ext cx="1254457" cy="710399"/>
          </a:xfrm>
          <a:prstGeom prst="straightConnector1">
            <a:avLst/>
          </a:prstGeom>
          <a:ln>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4695967" y="737401"/>
            <a:ext cx="1371600" cy="685800"/>
          </a:xfrm>
          <a:prstGeom prst="straightConnector1">
            <a:avLst/>
          </a:prstGeom>
          <a:ln>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28600" y="1491734"/>
            <a:ext cx="3657600" cy="461665"/>
          </a:xfrm>
          <a:prstGeom prst="rect">
            <a:avLst/>
          </a:prstGeom>
          <a:solidFill>
            <a:schemeClr val="accent2">
              <a:lumMod val="20000"/>
              <a:lumOff val="80000"/>
            </a:schemeClr>
          </a:solidFill>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US" sz="2400" dirty="0" smtClean="0">
                <a:solidFill>
                  <a:schemeClr val="tx1"/>
                </a:solidFill>
                <a:latin typeface="Arial" panose="020B0604020202020204" pitchFamily="34" charset="0"/>
                <a:cs typeface="Arial" panose="020B0604020202020204" pitchFamily="34" charset="0"/>
              </a:rPr>
              <a:t>Epinephrine(adrenalin)</a:t>
            </a:r>
            <a:endParaRPr lang="en-US" sz="2400" dirty="0">
              <a:solidFill>
                <a:schemeClr val="tx1"/>
              </a:solidFill>
              <a:latin typeface="Arial" panose="020B0604020202020204" pitchFamily="34" charset="0"/>
              <a:cs typeface="Arial" panose="020B0604020202020204" pitchFamily="34" charset="0"/>
            </a:endParaRPr>
          </a:p>
        </p:txBody>
      </p:sp>
      <p:sp>
        <p:nvSpPr>
          <p:cNvPr id="11" name="TextBox 10"/>
          <p:cNvSpPr txBox="1"/>
          <p:nvPr/>
        </p:nvSpPr>
        <p:spPr>
          <a:xfrm>
            <a:off x="5152030" y="1491734"/>
            <a:ext cx="2514600" cy="461665"/>
          </a:xfrm>
          <a:prstGeom prst="rect">
            <a:avLst/>
          </a:prstGeom>
          <a:solidFill>
            <a:schemeClr val="accent2">
              <a:lumMod val="20000"/>
              <a:lumOff val="80000"/>
            </a:schemeClr>
          </a:solidFill>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US" sz="2400" dirty="0" smtClean="0">
                <a:solidFill>
                  <a:schemeClr val="tx1"/>
                </a:solidFill>
                <a:latin typeface="Arial" panose="020B0604020202020204" pitchFamily="34" charset="0"/>
                <a:cs typeface="Arial" panose="020B0604020202020204" pitchFamily="34" charset="0"/>
              </a:rPr>
              <a:t>Salbutamol </a:t>
            </a:r>
            <a:endParaRPr lang="en-US" sz="2400" dirty="0">
              <a:solidFill>
                <a:schemeClr val="tx1"/>
              </a:solidFill>
              <a:latin typeface="Arial" panose="020B0604020202020204" pitchFamily="34" charset="0"/>
              <a:cs typeface="Arial" panose="020B0604020202020204" pitchFamily="34" charset="0"/>
            </a:endParaRPr>
          </a:p>
        </p:txBody>
      </p:sp>
      <p:graphicFrame>
        <p:nvGraphicFramePr>
          <p:cNvPr id="15" name="Table 14"/>
          <p:cNvGraphicFramePr>
            <a:graphicFrameLocks noGrp="1"/>
          </p:cNvGraphicFramePr>
          <p:nvPr>
            <p:extLst>
              <p:ext uri="{D42A27DB-BD31-4B8C-83A1-F6EECF244321}">
                <p14:modId xmlns:p14="http://schemas.microsoft.com/office/powerpoint/2010/main" val="2679782583"/>
              </p:ext>
            </p:extLst>
          </p:nvPr>
        </p:nvGraphicFramePr>
        <p:xfrm>
          <a:off x="428767" y="2536619"/>
          <a:ext cx="8534400" cy="4226757"/>
        </p:xfrm>
        <a:graphic>
          <a:graphicData uri="http://schemas.openxmlformats.org/drawingml/2006/table">
            <a:tbl>
              <a:tblPr firstRow="1" bandRow="1">
                <a:tableStyleId>{5C22544A-7EE6-4342-B048-85BDC9FD1C3A}</a:tableStyleId>
              </a:tblPr>
              <a:tblGrid>
                <a:gridCol w="2489200"/>
                <a:gridCol w="3200400"/>
                <a:gridCol w="2844800"/>
              </a:tblGrid>
              <a:tr h="380689">
                <a:tc>
                  <a:txBody>
                    <a:bodyPr/>
                    <a:lstStyle/>
                    <a:p>
                      <a:endParaRPr lang="en-US" sz="2000" dirty="0">
                        <a:latin typeface="Arial" panose="020B0604020202020204" pitchFamily="34" charset="0"/>
                        <a:cs typeface="Arial" panose="020B0604020202020204" pitchFamily="34" charset="0"/>
                      </a:endParaRPr>
                    </a:p>
                  </a:txBody>
                  <a:tcPr/>
                </a:tc>
                <a:tc>
                  <a:txBody>
                    <a:bodyPr/>
                    <a:lstStyle/>
                    <a:p>
                      <a:pPr algn="ctr"/>
                      <a:r>
                        <a:rPr lang="en-US" sz="2000" b="1" dirty="0" smtClean="0">
                          <a:latin typeface="Arial" panose="020B0604020202020204" pitchFamily="34" charset="0"/>
                          <a:cs typeface="Arial" panose="020B0604020202020204" pitchFamily="34" charset="0"/>
                        </a:rPr>
                        <a:t>Adrenalin</a:t>
                      </a:r>
                      <a:endParaRPr lang="en-US" sz="2000" b="1" dirty="0">
                        <a:latin typeface="Arial" panose="020B0604020202020204" pitchFamily="34" charset="0"/>
                        <a:cs typeface="Arial" panose="020B0604020202020204" pitchFamily="34" charset="0"/>
                      </a:endParaRPr>
                    </a:p>
                  </a:txBody>
                  <a:tcPr/>
                </a:tc>
                <a:tc>
                  <a:txBody>
                    <a:bodyPr/>
                    <a:lstStyle/>
                    <a:p>
                      <a:pPr algn="ctr"/>
                      <a:r>
                        <a:rPr lang="en-US" sz="2000" dirty="0" smtClean="0">
                          <a:latin typeface="Arial" panose="020B0604020202020204" pitchFamily="34" charset="0"/>
                          <a:cs typeface="Arial" panose="020B0604020202020204" pitchFamily="34" charset="0"/>
                        </a:rPr>
                        <a:t>Salbutamol ( SABA)</a:t>
                      </a:r>
                      <a:endParaRPr lang="en-US" sz="2000" dirty="0">
                        <a:latin typeface="Arial" panose="020B0604020202020204" pitchFamily="34" charset="0"/>
                        <a:cs typeface="Arial" panose="020B0604020202020204" pitchFamily="34" charset="0"/>
                      </a:endParaRPr>
                    </a:p>
                  </a:txBody>
                  <a:tcPr/>
                </a:tc>
              </a:tr>
              <a:tr h="380689">
                <a:tc>
                  <a:txBody>
                    <a:bodyPr/>
                    <a:lstStyle/>
                    <a:p>
                      <a:r>
                        <a:rPr lang="en-US" sz="2000" b="1" dirty="0" smtClean="0">
                          <a:latin typeface="Arial" panose="020B0604020202020204" pitchFamily="34" charset="0"/>
                          <a:cs typeface="Arial" panose="020B0604020202020204" pitchFamily="34" charset="0"/>
                        </a:rPr>
                        <a:t>Vị</a:t>
                      </a:r>
                      <a:r>
                        <a:rPr lang="en-US" sz="2000" b="1" baseline="0" dirty="0" smtClean="0">
                          <a:latin typeface="Arial" panose="020B0604020202020204" pitchFamily="34" charset="0"/>
                          <a:cs typeface="Arial" panose="020B0604020202020204" pitchFamily="34" charset="0"/>
                        </a:rPr>
                        <a:t> trí tác dụng</a:t>
                      </a:r>
                      <a:endParaRPr lang="en-US" sz="2000" b="1" dirty="0">
                        <a:latin typeface="Arial" panose="020B0604020202020204" pitchFamily="34" charset="0"/>
                        <a:cs typeface="Arial" panose="020B0604020202020204" pitchFamily="34" charset="0"/>
                      </a:endParaRPr>
                    </a:p>
                  </a:txBody>
                  <a:tcPr/>
                </a:tc>
                <a:tc>
                  <a:txBody>
                    <a:bodyPr/>
                    <a:lstStyle/>
                    <a:p>
                      <a:r>
                        <a:rPr lang="en-US" sz="2000" dirty="0" smtClean="0">
                          <a:latin typeface="Arial" panose="020B0604020202020204" pitchFamily="34" charset="0"/>
                          <a:cs typeface="Arial" panose="020B0604020202020204" pitchFamily="34" charset="0"/>
                        </a:rPr>
                        <a:t>Alpha, beta</a:t>
                      </a:r>
                      <a:endParaRPr lang="en-US" sz="2000" dirty="0">
                        <a:latin typeface="Arial" panose="020B0604020202020204" pitchFamily="34" charset="0"/>
                        <a:cs typeface="Arial" panose="020B0604020202020204" pitchFamily="34" charset="0"/>
                      </a:endParaRPr>
                    </a:p>
                  </a:txBody>
                  <a:tcPr/>
                </a:tc>
                <a:tc>
                  <a:txBody>
                    <a:bodyPr/>
                    <a:lstStyle/>
                    <a:p>
                      <a:r>
                        <a:rPr lang="en-US" sz="2000" dirty="0" smtClean="0">
                          <a:latin typeface="Arial" panose="020B0604020202020204" pitchFamily="34" charset="0"/>
                          <a:cs typeface="Arial" panose="020B0604020202020204" pitchFamily="34" charset="0"/>
                        </a:rPr>
                        <a:t>Beta2</a:t>
                      </a:r>
                      <a:endParaRPr lang="en-US" sz="2000" dirty="0">
                        <a:latin typeface="Arial" panose="020B0604020202020204" pitchFamily="34" charset="0"/>
                        <a:cs typeface="Arial" panose="020B0604020202020204" pitchFamily="34" charset="0"/>
                      </a:endParaRPr>
                    </a:p>
                  </a:txBody>
                  <a:tcPr/>
                </a:tc>
              </a:tr>
              <a:tr h="1259203">
                <a:tc>
                  <a:txBody>
                    <a:bodyPr/>
                    <a:lstStyle/>
                    <a:p>
                      <a:r>
                        <a:rPr lang="en-US" sz="2000" b="1" dirty="0" smtClean="0">
                          <a:latin typeface="Arial" panose="020B0604020202020204" pitchFamily="34" charset="0"/>
                          <a:cs typeface="Arial" panose="020B0604020202020204" pitchFamily="34" charset="0"/>
                        </a:rPr>
                        <a:t>Tác</a:t>
                      </a:r>
                      <a:r>
                        <a:rPr lang="en-US" sz="2000" b="1" baseline="0" dirty="0" smtClean="0">
                          <a:latin typeface="Arial" panose="020B0604020202020204" pitchFamily="34" charset="0"/>
                          <a:cs typeface="Arial" panose="020B0604020202020204" pitchFamily="34" charset="0"/>
                        </a:rPr>
                        <a:t> dụng</a:t>
                      </a:r>
                      <a:endParaRPr lang="en-US" sz="2000" b="1" dirty="0">
                        <a:latin typeface="Arial" panose="020B0604020202020204" pitchFamily="34" charset="0"/>
                        <a:cs typeface="Arial" panose="020B0604020202020204" pitchFamily="34" charset="0"/>
                      </a:endParaRPr>
                    </a:p>
                  </a:txBody>
                  <a:tcPr/>
                </a:tc>
                <a:tc>
                  <a:txBody>
                    <a:bodyPr/>
                    <a:lstStyle/>
                    <a:p>
                      <a:r>
                        <a:rPr lang="en-US" sz="2000" dirty="0" smtClean="0">
                          <a:latin typeface="Arial" panose="020B0604020202020204" pitchFamily="34" charset="0"/>
                          <a:cs typeface="Arial" panose="020B0604020202020204" pitchFamily="34" charset="0"/>
                        </a:rPr>
                        <a:t>Alpha: co</a:t>
                      </a:r>
                      <a:r>
                        <a:rPr lang="en-US" sz="2000" baseline="0" dirty="0" smtClean="0">
                          <a:latin typeface="Arial" panose="020B0604020202020204" pitchFamily="34" charset="0"/>
                          <a:cs typeface="Arial" panose="020B0604020202020204" pitchFamily="34" charset="0"/>
                        </a:rPr>
                        <a:t> mạch niêm mạc phế quản =&gt; giảm phù nề </a:t>
                      </a:r>
                    </a:p>
                    <a:p>
                      <a:r>
                        <a:rPr lang="en-US" sz="2000" baseline="0" dirty="0" smtClean="0">
                          <a:latin typeface="Arial" panose="020B0604020202020204" pitchFamily="34" charset="0"/>
                          <a:cs typeface="Arial" panose="020B0604020202020204" pitchFamily="34" charset="0"/>
                        </a:rPr>
                        <a:t>Beta 2: giãn cơ trơn phế quản =&gt; giảm co thắt </a:t>
                      </a:r>
                      <a:endParaRPr lang="en-US" sz="2000" dirty="0">
                        <a:latin typeface="Arial" panose="020B0604020202020204" pitchFamily="34" charset="0"/>
                        <a:cs typeface="Arial" panose="020B0604020202020204" pitchFamily="34" charset="0"/>
                      </a:endParaRPr>
                    </a:p>
                  </a:txBody>
                  <a:tcPr/>
                </a:tc>
                <a:tc>
                  <a:txBody>
                    <a:bodyPr/>
                    <a:lstStyle/>
                    <a:p>
                      <a:r>
                        <a:rPr lang="vi-VN" sz="2000" dirty="0" smtClean="0">
                          <a:latin typeface="Arial" panose="020B0604020202020204" pitchFamily="34" charset="0"/>
                          <a:cs typeface="Arial" panose="020B0604020202020204" pitchFamily="34" charset="0"/>
                        </a:rPr>
                        <a:t>Ư</a:t>
                      </a:r>
                      <a:r>
                        <a:rPr lang="en-US" sz="2000" dirty="0" smtClean="0">
                          <a:latin typeface="Arial" panose="020B0604020202020204" pitchFamily="34" charset="0"/>
                          <a:cs typeface="Arial" panose="020B0604020202020204" pitchFamily="34" charset="0"/>
                        </a:rPr>
                        <a:t>u</a:t>
                      </a:r>
                      <a:r>
                        <a:rPr lang="en-US" sz="2000" baseline="0" dirty="0" smtClean="0">
                          <a:latin typeface="Arial" panose="020B0604020202020204" pitchFamily="34" charset="0"/>
                          <a:cs typeface="Arial" panose="020B0604020202020204" pitchFamily="34" charset="0"/>
                        </a:rPr>
                        <a:t> thế chọn lọc trên beta 2 =&gt; giãn cơ trơn phế quản =&gt; giảm co thắt </a:t>
                      </a:r>
                      <a:endParaRPr lang="en-US" sz="2000" dirty="0">
                        <a:latin typeface="Arial" panose="020B0604020202020204" pitchFamily="34" charset="0"/>
                        <a:cs typeface="Arial" panose="020B0604020202020204" pitchFamily="34" charset="0"/>
                      </a:endParaRPr>
                    </a:p>
                  </a:txBody>
                  <a:tcPr/>
                </a:tc>
              </a:tr>
              <a:tr h="1259203">
                <a:tc>
                  <a:txBody>
                    <a:bodyPr/>
                    <a:lstStyle/>
                    <a:p>
                      <a:r>
                        <a:rPr lang="en-US" sz="2000" b="1" dirty="0" smtClean="0">
                          <a:latin typeface="Arial" panose="020B0604020202020204" pitchFamily="34" charset="0"/>
                          <a:cs typeface="Arial" panose="020B0604020202020204" pitchFamily="34" charset="0"/>
                        </a:rPr>
                        <a:t>Dược</a:t>
                      </a:r>
                      <a:r>
                        <a:rPr lang="en-US" sz="2000" b="1" baseline="0" dirty="0" smtClean="0">
                          <a:latin typeface="Arial" panose="020B0604020202020204" pitchFamily="34" charset="0"/>
                          <a:cs typeface="Arial" panose="020B0604020202020204" pitchFamily="34" charset="0"/>
                        </a:rPr>
                        <a:t> động học</a:t>
                      </a:r>
                      <a:endParaRPr lang="en-US" sz="2000" b="1" dirty="0">
                        <a:latin typeface="Arial" panose="020B0604020202020204" pitchFamily="34" charset="0"/>
                        <a:cs typeface="Arial" panose="020B0604020202020204" pitchFamily="34" charset="0"/>
                      </a:endParaRPr>
                    </a:p>
                  </a:txBody>
                  <a:tcPr/>
                </a:tc>
                <a:tc>
                  <a:txBody>
                    <a:bodyPr/>
                    <a:lstStyle/>
                    <a:p>
                      <a:r>
                        <a:rPr lang="en-US" sz="2000" dirty="0" smtClean="0">
                          <a:latin typeface="Arial" panose="020B0604020202020204" pitchFamily="34" charset="0"/>
                          <a:cs typeface="Arial" panose="020B0604020202020204" pitchFamily="34" charset="0"/>
                        </a:rPr>
                        <a:t>Tác</a:t>
                      </a:r>
                      <a:r>
                        <a:rPr lang="en-US" sz="2000" baseline="0" dirty="0" smtClean="0">
                          <a:latin typeface="Arial" panose="020B0604020202020204" pitchFamily="34" charset="0"/>
                          <a:cs typeface="Arial" panose="020B0604020202020204" pitchFamily="34" charset="0"/>
                        </a:rPr>
                        <a:t> dụng gần như ngay tức thì, kéo dài &gt;1h, hết tác dụng hoàn toàn sau 2h.</a:t>
                      </a:r>
                      <a:endParaRPr lang="en-US" sz="2000" dirty="0">
                        <a:latin typeface="Arial" panose="020B0604020202020204" pitchFamily="34" charset="0"/>
                        <a:cs typeface="Arial" panose="020B0604020202020204" pitchFamily="34" charset="0"/>
                      </a:endParaRPr>
                    </a:p>
                  </a:txBody>
                  <a:tcPr/>
                </a:tc>
                <a:tc>
                  <a:txBody>
                    <a:bodyPr/>
                    <a:lstStyle/>
                    <a:p>
                      <a:r>
                        <a:rPr lang="en-US" sz="2000" dirty="0" smtClean="0">
                          <a:latin typeface="Arial" panose="020B0604020202020204" pitchFamily="34" charset="0"/>
                          <a:cs typeface="Arial" panose="020B0604020202020204" pitchFamily="34" charset="0"/>
                        </a:rPr>
                        <a:t>Tác</a:t>
                      </a:r>
                      <a:r>
                        <a:rPr lang="en-US" sz="2000" baseline="0" dirty="0" smtClean="0">
                          <a:latin typeface="Arial" panose="020B0604020202020204" pitchFamily="34" charset="0"/>
                          <a:cs typeface="Arial" panose="020B0604020202020204" pitchFamily="34" charset="0"/>
                        </a:rPr>
                        <a:t> dụng sau 2-3’, đạt đỉnh sau 15’, hết tác dụng sau 4-6h</a:t>
                      </a:r>
                      <a:endParaRPr lang="en-US" sz="2000" dirty="0">
                        <a:latin typeface="Arial" panose="020B0604020202020204" pitchFamily="34" charset="0"/>
                        <a:cs typeface="Arial" panose="020B0604020202020204" pitchFamily="34" charset="0"/>
                      </a:endParaRPr>
                    </a:p>
                  </a:txBody>
                  <a:tcPr/>
                </a:tc>
              </a:tr>
              <a:tr h="812997">
                <a:tc>
                  <a:txBody>
                    <a:bodyPr/>
                    <a:lstStyle/>
                    <a:p>
                      <a:r>
                        <a:rPr lang="en-US" sz="2000" b="1" dirty="0" smtClean="0">
                          <a:latin typeface="Arial" panose="020B0604020202020204" pitchFamily="34" charset="0"/>
                          <a:cs typeface="Arial" panose="020B0604020202020204" pitchFamily="34" charset="0"/>
                        </a:rPr>
                        <a:t>Chế</a:t>
                      </a:r>
                      <a:r>
                        <a:rPr lang="en-US" sz="2000" b="1" baseline="0" dirty="0" smtClean="0">
                          <a:latin typeface="Arial" panose="020B0604020202020204" pitchFamily="34" charset="0"/>
                          <a:cs typeface="Arial" panose="020B0604020202020204" pitchFamily="34" charset="0"/>
                        </a:rPr>
                        <a:t> phẩm</a:t>
                      </a:r>
                      <a:endParaRPr lang="en-US" sz="2000" b="1" dirty="0">
                        <a:latin typeface="Arial" panose="020B0604020202020204" pitchFamily="34" charset="0"/>
                        <a:cs typeface="Arial" panose="020B0604020202020204" pitchFamily="34" charset="0"/>
                      </a:endParaRPr>
                    </a:p>
                  </a:txBody>
                  <a:tcPr/>
                </a:tc>
                <a:tc>
                  <a:txBody>
                    <a:bodyPr/>
                    <a:lstStyle/>
                    <a:p>
                      <a:r>
                        <a:rPr lang="en-US" sz="2000" dirty="0" smtClean="0">
                          <a:latin typeface="Arial" panose="020B0604020202020204" pitchFamily="34" charset="0"/>
                          <a:cs typeface="Arial" panose="020B0604020202020204" pitchFamily="34" charset="0"/>
                        </a:rPr>
                        <a:t>Adrenalin 0.1%</a:t>
                      </a:r>
                      <a:endParaRPr lang="en-US" sz="2000" dirty="0">
                        <a:latin typeface="Arial" panose="020B0604020202020204" pitchFamily="34" charset="0"/>
                        <a:cs typeface="Arial" panose="020B0604020202020204" pitchFamily="34" charset="0"/>
                      </a:endParaRPr>
                    </a:p>
                  </a:txBody>
                  <a:tcPr/>
                </a:tc>
                <a:tc>
                  <a:txBody>
                    <a:bodyPr/>
                    <a:lstStyle/>
                    <a:p>
                      <a:r>
                        <a:rPr lang="en-US" sz="2000" dirty="0" smtClean="0">
                          <a:latin typeface="Arial" panose="020B0604020202020204" pitchFamily="34" charset="0"/>
                          <a:cs typeface="Arial" panose="020B0604020202020204" pitchFamily="34" charset="0"/>
                        </a:rPr>
                        <a:t>Zensalbu</a:t>
                      </a:r>
                      <a:r>
                        <a:rPr lang="en-US" sz="2000" baseline="0" dirty="0" smtClean="0">
                          <a:latin typeface="Arial" panose="020B0604020202020204" pitchFamily="34" charset="0"/>
                          <a:cs typeface="Arial" panose="020B0604020202020204" pitchFamily="34" charset="0"/>
                        </a:rPr>
                        <a:t> 2.5mg </a:t>
                      </a:r>
                    </a:p>
                    <a:p>
                      <a:r>
                        <a:rPr lang="en-US" sz="2000" baseline="0" dirty="0" smtClean="0">
                          <a:latin typeface="Arial" panose="020B0604020202020204" pitchFamily="34" charset="0"/>
                          <a:cs typeface="Arial" panose="020B0604020202020204" pitchFamily="34" charset="0"/>
                        </a:rPr>
                        <a:t>Ventolin 2.5mg</a:t>
                      </a:r>
                      <a:endParaRPr lang="en-US" sz="2000" dirty="0">
                        <a:latin typeface="Arial" panose="020B0604020202020204" pitchFamily="34" charset="0"/>
                        <a:cs typeface="Arial" panose="020B0604020202020204" pitchFamily="34" charset="0"/>
                      </a:endParaRPr>
                    </a:p>
                  </a:txBody>
                  <a:tcPr/>
                </a:tc>
              </a:tr>
            </a:tbl>
          </a:graphicData>
        </a:graphic>
      </p:graphicFrame>
    </p:spTree>
    <p:extLst>
      <p:ext uri="{BB962C8B-B14F-4D97-AF65-F5344CB8AC3E}">
        <p14:creationId xmlns:p14="http://schemas.microsoft.com/office/powerpoint/2010/main" val="617714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58489"/>
            <a:ext cx="8229600" cy="5638800"/>
          </a:xfrm>
        </p:spPr>
        <p:txBody>
          <a:bodyPr>
            <a:noAutofit/>
          </a:bodyPr>
          <a:lstStyle/>
          <a:p>
            <a:pPr marL="0" indent="0">
              <a:buNone/>
            </a:pPr>
            <a:endParaRPr lang="en-US" sz="2200" dirty="0" smtClean="0">
              <a:latin typeface="Arial" panose="020B0604020202020204" pitchFamily="34" charset="0"/>
              <a:cs typeface="Arial" panose="020B0604020202020204" pitchFamily="34" charset="0"/>
            </a:endParaRPr>
          </a:p>
          <a:p>
            <a:pPr marL="0" indent="0">
              <a:buNone/>
            </a:pPr>
            <a:r>
              <a:rPr lang="en-US" sz="2200" dirty="0" smtClean="0">
                <a:latin typeface="Arial" panose="020B0604020202020204" pitchFamily="34" charset="0"/>
                <a:cs typeface="Arial" panose="020B0604020202020204" pitchFamily="34" charset="0"/>
              </a:rPr>
              <a:t>- </a:t>
            </a:r>
            <a:r>
              <a:rPr lang="vi-VN" sz="2200" dirty="0" smtClean="0">
                <a:latin typeface="Arial" panose="020B0604020202020204" pitchFamily="34" charset="0"/>
                <a:cs typeface="Arial" panose="020B0604020202020204" pitchFamily="34" charset="0"/>
              </a:rPr>
              <a:t>Ipratropium không khuếch tán đc vào </a:t>
            </a:r>
            <a:r>
              <a:rPr lang="en-US" sz="2200" dirty="0" smtClean="0">
                <a:latin typeface="Arial" panose="020B0604020202020204" pitchFamily="34" charset="0"/>
                <a:cs typeface="Arial" panose="020B0604020202020204" pitchFamily="34" charset="0"/>
              </a:rPr>
              <a:t>mạch máu </a:t>
            </a:r>
            <a:r>
              <a:rPr lang="vi-VN" sz="2200" dirty="0" smtClean="0">
                <a:latin typeface="Arial" panose="020B0604020202020204" pitchFamily="34" charset="0"/>
                <a:cs typeface="Arial" panose="020B0604020202020204" pitchFamily="34" charset="0"/>
              </a:rPr>
              <a:t>và không qua được hàng rào máu não khi dùng bằng cách khí dung.</a:t>
            </a:r>
            <a:endParaRPr lang="en-US" sz="2200" dirty="0" smtClean="0">
              <a:latin typeface="Arial" panose="020B0604020202020204" pitchFamily="34" charset="0"/>
              <a:cs typeface="Arial" panose="020B0604020202020204" pitchFamily="34" charset="0"/>
            </a:endParaRPr>
          </a:p>
          <a:p>
            <a:pPr marL="0" indent="0">
              <a:buNone/>
            </a:pPr>
            <a:endParaRPr lang="vi-VN" sz="2200" dirty="0">
              <a:latin typeface="Arial" panose="020B0604020202020204" pitchFamily="34" charset="0"/>
              <a:cs typeface="Arial" panose="020B0604020202020204" pitchFamily="34" charset="0"/>
            </a:endParaRPr>
          </a:p>
          <a:p>
            <a:pPr marL="0" indent="0">
              <a:buNone/>
            </a:pPr>
            <a:r>
              <a:rPr lang="vi-VN" sz="2200" b="1" dirty="0" smtClean="0">
                <a:solidFill>
                  <a:srgbClr val="FF0000"/>
                </a:solidFill>
                <a:latin typeface="Arial" panose="020B0604020202020204" pitchFamily="34" charset="0"/>
                <a:cs typeface="Arial" panose="020B0604020202020204" pitchFamily="34" charset="0"/>
              </a:rPr>
              <a:t>-Cơ </a:t>
            </a:r>
            <a:r>
              <a:rPr lang="vi-VN" sz="2200" b="1" dirty="0">
                <a:solidFill>
                  <a:srgbClr val="FF0000"/>
                </a:solidFill>
                <a:latin typeface="Arial" panose="020B0604020202020204" pitchFamily="34" charset="0"/>
                <a:cs typeface="Arial" panose="020B0604020202020204" pitchFamily="34" charset="0"/>
              </a:rPr>
              <a:t>chế</a:t>
            </a:r>
            <a:r>
              <a:rPr lang="vi-VN" sz="2200" dirty="0">
                <a:latin typeface="Arial" panose="020B0604020202020204" pitchFamily="34" charset="0"/>
                <a:cs typeface="Arial" panose="020B0604020202020204" pitchFamily="34" charset="0"/>
              </a:rPr>
              <a:t>: có tác dụng liệt đối giao cảm do đối kháng cạnh tranh với Acetylcholin tại các </a:t>
            </a:r>
            <a:r>
              <a:rPr lang="vi-VN" sz="2200" dirty="0" smtClean="0">
                <a:latin typeface="Arial" panose="020B0604020202020204" pitchFamily="34" charset="0"/>
                <a:cs typeface="Arial" panose="020B0604020202020204" pitchFamily="34" charset="0"/>
              </a:rPr>
              <a:t>th</a:t>
            </a:r>
            <a:r>
              <a:rPr lang="en-US" sz="2200" dirty="0">
                <a:latin typeface="Arial" panose="020B0604020202020204" pitchFamily="34" charset="0"/>
                <a:cs typeface="Arial" panose="020B0604020202020204" pitchFamily="34" charset="0"/>
              </a:rPr>
              <a:t>ụ</a:t>
            </a:r>
            <a:r>
              <a:rPr lang="vi-VN" sz="2200" dirty="0" smtClean="0">
                <a:latin typeface="Arial" panose="020B0604020202020204" pitchFamily="34" charset="0"/>
                <a:cs typeface="Arial" panose="020B0604020202020204" pitchFamily="34" charset="0"/>
              </a:rPr>
              <a:t> </a:t>
            </a:r>
            <a:r>
              <a:rPr lang="vi-VN" sz="2200" dirty="0">
                <a:latin typeface="Arial" panose="020B0604020202020204" pitchFamily="34" charset="0"/>
                <a:cs typeface="Arial" panose="020B0604020202020204" pitchFamily="34" charset="0"/>
              </a:rPr>
              <a:t>thể </a:t>
            </a:r>
            <a:r>
              <a:rPr lang="vi-VN" sz="2200" dirty="0" smtClean="0">
                <a:latin typeface="Arial" panose="020B0604020202020204" pitchFamily="34" charset="0"/>
                <a:cs typeface="Arial" panose="020B0604020202020204" pitchFamily="34" charset="0"/>
              </a:rPr>
              <a:t>cholinergic</a:t>
            </a:r>
            <a:r>
              <a:rPr lang="en-US" sz="2200" dirty="0" smtClean="0">
                <a:latin typeface="Arial" panose="020B0604020202020204" pitchFamily="34" charset="0"/>
                <a:cs typeface="Arial" panose="020B0604020202020204" pitchFamily="34" charset="0"/>
              </a:rPr>
              <a:t> trên</a:t>
            </a:r>
            <a:r>
              <a:rPr lang="vi-VN" sz="2200" dirty="0" smtClean="0">
                <a:latin typeface="Arial" panose="020B0604020202020204" pitchFamily="34" charset="0"/>
                <a:cs typeface="Arial" panose="020B0604020202020204" pitchFamily="34" charset="0"/>
              </a:rPr>
              <a:t> </a:t>
            </a:r>
            <a:r>
              <a:rPr lang="vi-VN" sz="2200" dirty="0">
                <a:latin typeface="Arial" panose="020B0604020202020204" pitchFamily="34" charset="0"/>
                <a:cs typeface="Arial" panose="020B0604020202020204" pitchFamily="34" charset="0"/>
              </a:rPr>
              <a:t>cơ trơn phế </a:t>
            </a:r>
            <a:r>
              <a:rPr lang="vi-VN" sz="2200" dirty="0" smtClean="0">
                <a:latin typeface="Arial" panose="020B0604020202020204" pitchFamily="34" charset="0"/>
                <a:cs typeface="Arial" panose="020B0604020202020204" pitchFamily="34" charset="0"/>
              </a:rPr>
              <a:t>quản</a:t>
            </a:r>
            <a:r>
              <a:rPr lang="en-US" sz="2200" dirty="0" smtClean="0">
                <a:latin typeface="Arial" panose="020B0604020202020204" pitchFamily="34" charset="0"/>
                <a:cs typeface="Arial" panose="020B0604020202020204" pitchFamily="34" charset="0"/>
              </a:rPr>
              <a:t>.</a:t>
            </a:r>
          </a:p>
          <a:p>
            <a:pPr marL="0" indent="0">
              <a:buNone/>
            </a:pPr>
            <a:endParaRPr lang="vi-VN" sz="2200" dirty="0" smtClean="0">
              <a:latin typeface="Arial" panose="020B0604020202020204" pitchFamily="34" charset="0"/>
              <a:cs typeface="Arial" panose="020B0604020202020204" pitchFamily="34" charset="0"/>
            </a:endParaRPr>
          </a:p>
          <a:p>
            <a:pPr marL="0" indent="0">
              <a:buNone/>
            </a:pPr>
            <a:r>
              <a:rPr lang="vi-VN" sz="2200" dirty="0" smtClean="0">
                <a:latin typeface="Arial" panose="020B0604020202020204" pitchFamily="34" charset="0"/>
                <a:cs typeface="Arial" panose="020B0604020202020204" pitchFamily="34" charset="0"/>
              </a:rPr>
              <a:t>-</a:t>
            </a:r>
            <a:r>
              <a:rPr lang="vi-VN" sz="2200" dirty="0">
                <a:latin typeface="Arial" panose="020B0604020202020204" pitchFamily="34" charset="0"/>
                <a:cs typeface="Arial" panose="020B0604020202020204" pitchFamily="34" charset="0"/>
              </a:rPr>
              <a:t>Tác động giãn </a:t>
            </a:r>
            <a:r>
              <a:rPr lang="en-US" sz="2200" dirty="0" smtClean="0">
                <a:latin typeface="Arial" panose="020B0604020202020204" pitchFamily="34" charset="0"/>
                <a:cs typeface="Arial" panose="020B0604020202020204" pitchFamily="34" charset="0"/>
              </a:rPr>
              <a:t>phế quản</a:t>
            </a:r>
            <a:r>
              <a:rPr lang="vi-VN" sz="2200" dirty="0" smtClean="0">
                <a:latin typeface="Arial" panose="020B0604020202020204" pitchFamily="34" charset="0"/>
                <a:cs typeface="Arial" panose="020B0604020202020204" pitchFamily="34" charset="0"/>
              </a:rPr>
              <a:t> </a:t>
            </a:r>
            <a:r>
              <a:rPr lang="vi-VN" sz="2200" dirty="0">
                <a:latin typeface="Arial" panose="020B0604020202020204" pitchFamily="34" charset="0"/>
                <a:cs typeface="Arial" panose="020B0604020202020204" pitchFamily="34" charset="0"/>
              </a:rPr>
              <a:t>của </a:t>
            </a:r>
            <a:r>
              <a:rPr lang="en-US" sz="2200" dirty="0" smtClean="0">
                <a:latin typeface="Arial" panose="020B0604020202020204" pitchFamily="34" charset="0"/>
                <a:cs typeface="Arial" panose="020B0604020202020204" pitchFamily="34" charset="0"/>
              </a:rPr>
              <a:t>Ipratropium bromide</a:t>
            </a:r>
            <a:r>
              <a:rPr lang="vi-VN" sz="2200" dirty="0" smtClean="0">
                <a:latin typeface="Arial" panose="020B0604020202020204" pitchFamily="34" charset="0"/>
                <a:cs typeface="Arial" panose="020B0604020202020204" pitchFamily="34" charset="0"/>
              </a:rPr>
              <a:t> </a:t>
            </a:r>
            <a:r>
              <a:rPr lang="vi-VN" sz="2200" dirty="0">
                <a:latin typeface="Arial" panose="020B0604020202020204" pitchFamily="34" charset="0"/>
                <a:cs typeface="Arial" panose="020B0604020202020204" pitchFamily="34" charset="0"/>
              </a:rPr>
              <a:t>xảy ra ngay từ phút </a:t>
            </a:r>
            <a:r>
              <a:rPr lang="vi-VN" sz="2200" dirty="0" smtClean="0">
                <a:latin typeface="Arial" panose="020B0604020202020204" pitchFamily="34" charset="0"/>
                <a:cs typeface="Arial" panose="020B0604020202020204" pitchFamily="34" charset="0"/>
              </a:rPr>
              <a:t>t</a:t>
            </a:r>
            <a:r>
              <a:rPr lang="en-US" sz="2200" dirty="0" smtClean="0">
                <a:latin typeface="Arial" panose="020B0604020202020204" pitchFamily="34" charset="0"/>
                <a:cs typeface="Arial" panose="020B0604020202020204" pitchFamily="34" charset="0"/>
              </a:rPr>
              <a:t>hứ </a:t>
            </a:r>
            <a:r>
              <a:rPr lang="vi-VN" sz="2200" dirty="0" smtClean="0">
                <a:latin typeface="Arial" panose="020B0604020202020204" pitchFamily="34" charset="0"/>
                <a:cs typeface="Arial" panose="020B0604020202020204" pitchFamily="34" charset="0"/>
              </a:rPr>
              <a:t>3 </a:t>
            </a:r>
            <a:r>
              <a:rPr lang="vi-VN" sz="2200" dirty="0">
                <a:latin typeface="Arial" panose="020B0604020202020204" pitchFamily="34" charset="0"/>
                <a:cs typeface="Arial" panose="020B0604020202020204" pitchFamily="34" charset="0"/>
              </a:rPr>
              <a:t>sau khi dùng thuốc, tác dụng  tối đa sau 30-60p và kéo </a:t>
            </a:r>
            <a:r>
              <a:rPr lang="vi-VN" sz="2200" dirty="0" smtClean="0">
                <a:latin typeface="Arial" panose="020B0604020202020204" pitchFamily="34" charset="0"/>
                <a:cs typeface="Arial" panose="020B0604020202020204" pitchFamily="34" charset="0"/>
              </a:rPr>
              <a:t>d</a:t>
            </a:r>
            <a:r>
              <a:rPr lang="en-US" sz="2200" dirty="0" smtClean="0">
                <a:latin typeface="Arial" panose="020B0604020202020204" pitchFamily="34" charset="0"/>
                <a:cs typeface="Arial" panose="020B0604020202020204" pitchFamily="34" charset="0"/>
              </a:rPr>
              <a:t>ài </a:t>
            </a:r>
            <a:r>
              <a:rPr lang="vi-VN" sz="2200" dirty="0" smtClean="0">
                <a:latin typeface="Arial" panose="020B0604020202020204" pitchFamily="34" charset="0"/>
                <a:cs typeface="Arial" panose="020B0604020202020204" pitchFamily="34" charset="0"/>
              </a:rPr>
              <a:t>trong 6-8h</a:t>
            </a:r>
            <a:r>
              <a:rPr lang="en-US" sz="2200" dirty="0" smtClean="0">
                <a:latin typeface="Arial" panose="020B0604020202020204" pitchFamily="34" charset="0"/>
                <a:cs typeface="Arial" panose="020B0604020202020204" pitchFamily="34" charset="0"/>
              </a:rPr>
              <a:t>.</a:t>
            </a:r>
          </a:p>
          <a:p>
            <a:pPr marL="0" indent="0">
              <a:buNone/>
            </a:pPr>
            <a:endParaRPr lang="en-US" sz="2200" dirty="0" smtClean="0">
              <a:latin typeface="Arial" panose="020B0604020202020204" pitchFamily="34" charset="0"/>
              <a:cs typeface="Arial" panose="020B0604020202020204" pitchFamily="34" charset="0"/>
            </a:endParaRPr>
          </a:p>
          <a:p>
            <a:pPr marL="0" indent="0">
              <a:buNone/>
            </a:pPr>
            <a:r>
              <a:rPr lang="en-US" sz="2200" dirty="0" smtClean="0">
                <a:latin typeface="Arial" panose="020B0604020202020204" pitchFamily="34" charset="0"/>
                <a:cs typeface="Arial" panose="020B0604020202020204" pitchFamily="34" charset="0"/>
              </a:rPr>
              <a:t>- Chế phẩm: Atrovent </a:t>
            </a:r>
          </a:p>
          <a:p>
            <a:pPr marL="0" indent="0">
              <a:buNone/>
            </a:pPr>
            <a:r>
              <a:rPr lang="en-US" sz="2200" dirty="0" smtClean="0">
                <a:latin typeface="Arial" panose="020B0604020202020204" pitchFamily="34" charset="0"/>
                <a:cs typeface="Arial" panose="020B0604020202020204" pitchFamily="34" charset="0"/>
              </a:rPr>
              <a:t>	         Combivent ( SABA + Ipratropium bromide)</a:t>
            </a:r>
            <a:endParaRPr lang="en-US" sz="2200" dirty="0">
              <a:latin typeface="Arial" panose="020B0604020202020204" pitchFamily="34" charset="0"/>
              <a:cs typeface="Arial" panose="020B0604020202020204" pitchFamily="34" charset="0"/>
            </a:endParaRPr>
          </a:p>
          <a:p>
            <a:pPr marL="0" indent="0">
              <a:buNone/>
            </a:pPr>
            <a:r>
              <a:rPr lang="vi-VN" sz="2200" dirty="0" smtClean="0">
                <a:latin typeface="Arial" panose="020B0604020202020204" pitchFamily="34" charset="0"/>
                <a:cs typeface="Arial" panose="020B0604020202020204" pitchFamily="34" charset="0"/>
              </a:rPr>
              <a:t> </a:t>
            </a:r>
            <a:endParaRPr lang="vi-VN" sz="2200" dirty="0">
              <a:latin typeface="Arial" panose="020B0604020202020204" pitchFamily="34" charset="0"/>
              <a:cs typeface="Arial" panose="020B0604020202020204" pitchFamily="34" charset="0"/>
            </a:endParaRPr>
          </a:p>
          <a:p>
            <a:endParaRPr lang="vi-VN" sz="2200" b="1" dirty="0" smtClean="0">
              <a:solidFill>
                <a:srgbClr val="FF0000"/>
              </a:solidFill>
              <a:latin typeface="Arial" panose="020B0604020202020204" pitchFamily="34" charset="0"/>
              <a:cs typeface="Arial" panose="020B0604020202020204" pitchFamily="34" charset="0"/>
            </a:endParaRPr>
          </a:p>
          <a:p>
            <a:endParaRPr lang="vi-VN" sz="2200" b="1" dirty="0">
              <a:solidFill>
                <a:srgbClr val="FF0000"/>
              </a:solidFill>
              <a:latin typeface="Arial" panose="020B0604020202020204" pitchFamily="34" charset="0"/>
              <a:cs typeface="Arial" panose="020B0604020202020204" pitchFamily="34" charset="0"/>
            </a:endParaRPr>
          </a:p>
          <a:p>
            <a:endParaRPr lang="vi-VN" sz="2200" b="1" dirty="0" smtClean="0">
              <a:solidFill>
                <a:srgbClr val="FF0000"/>
              </a:solidFill>
              <a:latin typeface="Arial" panose="020B0604020202020204" pitchFamily="34" charset="0"/>
              <a:cs typeface="Arial" panose="020B0604020202020204" pitchFamily="34" charset="0"/>
            </a:endParaRPr>
          </a:p>
          <a:p>
            <a:endParaRPr lang="vi-VN" sz="2200" b="1" dirty="0">
              <a:solidFill>
                <a:srgbClr val="FF0000"/>
              </a:solidFill>
              <a:latin typeface="Arial" panose="020B0604020202020204" pitchFamily="34" charset="0"/>
              <a:cs typeface="Arial" panose="020B0604020202020204" pitchFamily="34" charset="0"/>
            </a:endParaRPr>
          </a:p>
          <a:p>
            <a:endParaRPr lang="vi-VN" sz="2200" b="1" dirty="0" smtClean="0">
              <a:solidFill>
                <a:srgbClr val="FF0000"/>
              </a:solidFill>
              <a:latin typeface="Arial" panose="020B0604020202020204" pitchFamily="34" charset="0"/>
              <a:cs typeface="Arial" panose="020B0604020202020204" pitchFamily="34" charset="0"/>
            </a:endParaRPr>
          </a:p>
          <a:p>
            <a:endParaRPr lang="vi-VN" sz="2200" b="1" dirty="0">
              <a:solidFill>
                <a:srgbClr val="FF0000"/>
              </a:solidFill>
              <a:latin typeface="Arial" panose="020B0604020202020204" pitchFamily="34" charset="0"/>
              <a:cs typeface="Arial" panose="020B0604020202020204" pitchFamily="34" charset="0"/>
            </a:endParaRPr>
          </a:p>
          <a:p>
            <a:endParaRPr lang="vi-VN" sz="2200" b="1" dirty="0" smtClean="0">
              <a:solidFill>
                <a:srgbClr val="FF0000"/>
              </a:solidFill>
              <a:latin typeface="Arial" panose="020B0604020202020204" pitchFamily="34" charset="0"/>
              <a:cs typeface="Arial" panose="020B0604020202020204" pitchFamily="34" charset="0"/>
            </a:endParaRPr>
          </a:p>
          <a:p>
            <a:endParaRPr lang="vi-VN" sz="2200" b="1" dirty="0">
              <a:solidFill>
                <a:srgbClr val="FF0000"/>
              </a:solidFill>
              <a:latin typeface="Arial" panose="020B0604020202020204" pitchFamily="34" charset="0"/>
              <a:cs typeface="Arial" panose="020B0604020202020204" pitchFamily="34" charset="0"/>
            </a:endParaRPr>
          </a:p>
          <a:p>
            <a:endParaRPr lang="vi-VN" sz="2200" b="1" dirty="0" smtClean="0">
              <a:solidFill>
                <a:srgbClr val="FF0000"/>
              </a:solidFill>
              <a:latin typeface="Arial" panose="020B0604020202020204" pitchFamily="34" charset="0"/>
              <a:cs typeface="Arial" panose="020B0604020202020204" pitchFamily="34" charset="0"/>
            </a:endParaRPr>
          </a:p>
          <a:p>
            <a:endParaRPr lang="vi-VN" sz="2200" b="1" dirty="0">
              <a:solidFill>
                <a:srgbClr val="FF0000"/>
              </a:solidFill>
              <a:latin typeface="Arial" panose="020B0604020202020204" pitchFamily="34" charset="0"/>
              <a:cs typeface="Arial" panose="020B0604020202020204" pitchFamily="34" charset="0"/>
            </a:endParaRPr>
          </a:p>
          <a:p>
            <a:endParaRPr lang="vi-VN" sz="2200" b="1" dirty="0" smtClean="0">
              <a:solidFill>
                <a:srgbClr val="FF0000"/>
              </a:solidFill>
              <a:latin typeface="Arial" panose="020B0604020202020204" pitchFamily="34" charset="0"/>
              <a:cs typeface="Arial" panose="020B0604020202020204" pitchFamily="34" charset="0"/>
            </a:endParaRPr>
          </a:p>
          <a:p>
            <a:endParaRPr lang="vi-VN" sz="2200" b="1" dirty="0">
              <a:solidFill>
                <a:srgbClr val="FF0000"/>
              </a:solidFill>
              <a:latin typeface="Arial" panose="020B0604020202020204" pitchFamily="34" charset="0"/>
              <a:cs typeface="Arial" panose="020B0604020202020204" pitchFamily="34" charset="0"/>
            </a:endParaRPr>
          </a:p>
          <a:p>
            <a:endParaRPr lang="vi-VN" sz="2200" dirty="0" smtClean="0">
              <a:latin typeface="Arial" panose="020B0604020202020204" pitchFamily="34" charset="0"/>
              <a:cs typeface="Arial" panose="020B0604020202020204" pitchFamily="34" charset="0"/>
            </a:endParaRPr>
          </a:p>
          <a:p>
            <a:pPr marL="0" indent="0">
              <a:buNone/>
            </a:pPr>
            <a:endParaRPr lang="vi-VN" sz="2200" dirty="0" smtClean="0">
              <a:latin typeface="Arial" panose="020B0604020202020204" pitchFamily="34" charset="0"/>
              <a:cs typeface="Arial" panose="020B0604020202020204" pitchFamily="34" charset="0"/>
            </a:endParaRPr>
          </a:p>
          <a:p>
            <a:pPr marL="0" indent="0">
              <a:buNone/>
            </a:pPr>
            <a:endParaRPr lang="vi-VN" sz="2200" dirty="0">
              <a:latin typeface="Arial" panose="020B0604020202020204" pitchFamily="34" charset="0"/>
              <a:cs typeface="Arial" panose="020B0604020202020204" pitchFamily="34" charset="0"/>
            </a:endParaRPr>
          </a:p>
          <a:p>
            <a:pPr marL="0" indent="0">
              <a:buNone/>
            </a:pPr>
            <a:endParaRPr lang="vi-VN" sz="2200" dirty="0" smtClean="0">
              <a:latin typeface="Arial" panose="020B0604020202020204" pitchFamily="34" charset="0"/>
              <a:cs typeface="Arial" panose="020B0604020202020204" pitchFamily="34" charset="0"/>
            </a:endParaRPr>
          </a:p>
          <a:p>
            <a:pPr marL="0" indent="0">
              <a:buNone/>
            </a:pPr>
            <a:endParaRPr lang="vi-VN" sz="2200" dirty="0">
              <a:latin typeface="Arial" panose="020B0604020202020204" pitchFamily="34" charset="0"/>
              <a:cs typeface="Arial" panose="020B0604020202020204" pitchFamily="34" charset="0"/>
            </a:endParaRPr>
          </a:p>
          <a:p>
            <a:pPr marL="0" indent="0">
              <a:buNone/>
            </a:pPr>
            <a:endParaRPr lang="vi-VN" sz="2200" dirty="0" smtClean="0">
              <a:latin typeface="Arial" panose="020B0604020202020204" pitchFamily="34" charset="0"/>
              <a:cs typeface="Arial" panose="020B0604020202020204" pitchFamily="34" charset="0"/>
            </a:endParaRPr>
          </a:p>
          <a:p>
            <a:pPr marL="0" indent="0">
              <a:buNone/>
            </a:pPr>
            <a:endParaRPr lang="vi-VN" sz="2200" dirty="0">
              <a:latin typeface="Arial" panose="020B0604020202020204" pitchFamily="34" charset="0"/>
              <a:cs typeface="Arial" panose="020B0604020202020204" pitchFamily="34" charset="0"/>
            </a:endParaRPr>
          </a:p>
          <a:p>
            <a:pPr marL="0" indent="0">
              <a:buNone/>
            </a:pPr>
            <a:endParaRPr lang="vi-VN" sz="2200" dirty="0" smtClean="0">
              <a:latin typeface="Arial" panose="020B0604020202020204" pitchFamily="34" charset="0"/>
              <a:cs typeface="Arial" panose="020B0604020202020204" pitchFamily="34" charset="0"/>
            </a:endParaRPr>
          </a:p>
        </p:txBody>
      </p:sp>
      <p:sp>
        <p:nvSpPr>
          <p:cNvPr id="4" name="TextBox 3"/>
          <p:cNvSpPr txBox="1"/>
          <p:nvPr/>
        </p:nvSpPr>
        <p:spPr>
          <a:xfrm>
            <a:off x="304800" y="335269"/>
            <a:ext cx="8534400" cy="523220"/>
          </a:xfrm>
          <a:prstGeom prst="rect">
            <a:avLst/>
          </a:prstGeom>
          <a:solidFill>
            <a:schemeClr val="accent2">
              <a:lumMod val="20000"/>
              <a:lumOff val="80000"/>
            </a:schemeClr>
          </a:solidFill>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vi-VN" sz="2800" b="1" dirty="0" smtClean="0">
                <a:solidFill>
                  <a:schemeClr val="tx1"/>
                </a:solidFill>
              </a:rPr>
              <a:t>Thuốc kháng hệ cholinergic: Ipratropium</a:t>
            </a:r>
            <a:r>
              <a:rPr lang="en-US" sz="2800" b="1" dirty="0">
                <a:solidFill>
                  <a:schemeClr val="tx1"/>
                </a:solidFill>
              </a:rPr>
              <a:t> </a:t>
            </a:r>
            <a:r>
              <a:rPr lang="en-US" sz="2800" b="1" dirty="0" smtClean="0">
                <a:solidFill>
                  <a:schemeClr val="tx1"/>
                </a:solidFill>
              </a:rPr>
              <a:t>bromide</a:t>
            </a:r>
            <a:endParaRPr lang="en-US" sz="2800" b="1" dirty="0">
              <a:solidFill>
                <a:schemeClr val="tx1"/>
              </a:solidFill>
            </a:endParaRPr>
          </a:p>
        </p:txBody>
      </p:sp>
    </p:spTree>
    <p:extLst>
      <p:ext uri="{BB962C8B-B14F-4D97-AF65-F5344CB8AC3E}">
        <p14:creationId xmlns:p14="http://schemas.microsoft.com/office/powerpoint/2010/main" val="149238728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609600"/>
            <a:ext cx="41529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723900"/>
            <a:ext cx="42672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6565366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8322" y="224135"/>
            <a:ext cx="8382000" cy="461665"/>
          </a:xfrm>
          <a:prstGeom prst="rect">
            <a:avLst/>
          </a:prstGeom>
          <a:solidFill>
            <a:schemeClr val="accent2">
              <a:lumMod val="20000"/>
              <a:lumOff val="80000"/>
            </a:schemeClr>
          </a:solidFill>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vi-VN" sz="2400" b="1" dirty="0" smtClean="0">
                <a:solidFill>
                  <a:schemeClr val="tx1"/>
                </a:solidFill>
                <a:latin typeface="Arial" panose="020B0604020202020204" pitchFamily="34" charset="0"/>
                <a:cs typeface="Arial" panose="020B0604020202020204" pitchFamily="34" charset="0"/>
              </a:rPr>
              <a:t>Thuốc corticosteroid: Budesonide</a:t>
            </a:r>
            <a:r>
              <a:rPr lang="en-US" sz="2400" b="1" dirty="0" smtClean="0">
                <a:solidFill>
                  <a:schemeClr val="tx1"/>
                </a:solidFill>
                <a:latin typeface="Arial" panose="020B0604020202020204" pitchFamily="34" charset="0"/>
                <a:cs typeface="Arial" panose="020B0604020202020204" pitchFamily="34" charset="0"/>
              </a:rPr>
              <a:t> </a:t>
            </a:r>
            <a:r>
              <a:rPr lang="vi-VN" sz="2400" b="1" dirty="0" smtClean="0">
                <a:solidFill>
                  <a:schemeClr val="tx1"/>
                </a:solidFill>
                <a:latin typeface="Arial" panose="020B0604020202020204" pitchFamily="34" charset="0"/>
                <a:cs typeface="Arial" panose="020B0604020202020204" pitchFamily="34" charset="0"/>
              </a:rPr>
              <a:t>(Pulmicort</a:t>
            </a:r>
            <a:r>
              <a:rPr lang="en-US" sz="2400" b="1" dirty="0" smtClean="0">
                <a:solidFill>
                  <a:schemeClr val="tx1"/>
                </a:solidFill>
                <a:latin typeface="Arial" panose="020B0604020202020204" pitchFamily="34" charset="0"/>
                <a:cs typeface="Arial" panose="020B0604020202020204" pitchFamily="34" charset="0"/>
              </a:rPr>
              <a:t> </a:t>
            </a:r>
            <a:r>
              <a:rPr lang="vi-VN" sz="2400" b="1" dirty="0" smtClean="0">
                <a:solidFill>
                  <a:schemeClr val="tx1"/>
                </a:solidFill>
                <a:latin typeface="Arial" panose="020B0604020202020204" pitchFamily="34" charset="0"/>
                <a:cs typeface="Arial" panose="020B0604020202020204" pitchFamily="34" charset="0"/>
              </a:rPr>
              <a:t>0.5mg)</a:t>
            </a:r>
            <a:endParaRPr lang="en-US" sz="2400" b="1" dirty="0">
              <a:solidFill>
                <a:schemeClr val="tx1"/>
              </a:solidFill>
              <a:latin typeface="Arial" panose="020B0604020202020204" pitchFamily="34" charset="0"/>
              <a:cs typeface="Arial" panose="020B0604020202020204" pitchFamily="34" charset="0"/>
            </a:endParaRPr>
          </a:p>
        </p:txBody>
      </p:sp>
      <p:pic>
        <p:nvPicPr>
          <p:cNvPr id="5" name="Picture 4" descr="Káº¿t quáº£ hÃ¬nh áº£nh cho cÆ¡ cháº¿ chá»ng viÃªm cá»§a corticoid"/>
          <p:cNvPicPr/>
          <p:nvPr/>
        </p:nvPicPr>
        <p:blipFill>
          <a:blip r:embed="rId3">
            <a:extLst>
              <a:ext uri="{28A0092B-C50C-407E-A947-70E740481C1C}">
                <a14:useLocalDpi xmlns:a14="http://schemas.microsoft.com/office/drawing/2010/main" val="0"/>
              </a:ext>
            </a:extLst>
          </a:blip>
          <a:srcRect/>
          <a:stretch>
            <a:fillRect/>
          </a:stretch>
        </p:blipFill>
        <p:spPr bwMode="auto">
          <a:xfrm>
            <a:off x="609600" y="1295400"/>
            <a:ext cx="7940722" cy="4953000"/>
          </a:xfrm>
          <a:prstGeom prst="rect">
            <a:avLst/>
          </a:prstGeom>
          <a:noFill/>
          <a:ln>
            <a:noFill/>
          </a:ln>
        </p:spPr>
      </p:pic>
    </p:spTree>
    <p:extLst>
      <p:ext uri="{BB962C8B-B14F-4D97-AF65-F5344CB8AC3E}">
        <p14:creationId xmlns:p14="http://schemas.microsoft.com/office/powerpoint/2010/main" val="8618466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057400" y="152400"/>
            <a:ext cx="4876800" cy="523220"/>
          </a:xfrm>
          <a:prstGeom prst="rect">
            <a:avLst/>
          </a:prstGeom>
          <a:solidFill>
            <a:schemeClr val="accent2">
              <a:lumMod val="20000"/>
              <a:lumOff val="80000"/>
            </a:schemeClr>
          </a:solidFill>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vi-VN" sz="2800" b="1" dirty="0" smtClean="0">
                <a:solidFill>
                  <a:schemeClr val="tx1"/>
                </a:solidFill>
                <a:latin typeface="Arial" panose="020B0604020202020204" pitchFamily="34" charset="0"/>
                <a:cs typeface="Arial" panose="020B0604020202020204" pitchFamily="34" charset="0"/>
              </a:rPr>
              <a:t>Nước muối ưu trương</a:t>
            </a:r>
            <a:endParaRPr lang="en-US" sz="2800" b="1" dirty="0">
              <a:solidFill>
                <a:schemeClr val="tx1"/>
              </a:solidFill>
              <a:latin typeface="Arial" panose="020B0604020202020204" pitchFamily="34" charset="0"/>
              <a:cs typeface="Arial" panose="020B0604020202020204" pitchFamily="34" charset="0"/>
            </a:endParaRPr>
          </a:p>
        </p:txBody>
      </p:sp>
      <p:sp>
        <p:nvSpPr>
          <p:cNvPr id="6" name="TextBox 5"/>
          <p:cNvSpPr txBox="1"/>
          <p:nvPr/>
        </p:nvSpPr>
        <p:spPr>
          <a:xfrm>
            <a:off x="152400" y="1195516"/>
            <a:ext cx="8915400" cy="550920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just"/>
            <a:r>
              <a:rPr lang="vi-VN" sz="2200" dirty="0" smtClean="0"/>
              <a:t>- Các loại: NaCl 1.8%, 2.7%, 3%, 5%, 7% nhưng thường sử dụng NaCl 3%</a:t>
            </a:r>
          </a:p>
          <a:p>
            <a:pPr marL="285750" indent="-285750" algn="just">
              <a:buFontTx/>
              <a:buChar char="-"/>
            </a:pPr>
            <a:r>
              <a:rPr lang="vi-VN" sz="2200" b="1" dirty="0" smtClean="0">
                <a:solidFill>
                  <a:srgbClr val="FF0000"/>
                </a:solidFill>
              </a:rPr>
              <a:t>Ưu điểm </a:t>
            </a:r>
            <a:r>
              <a:rPr lang="vi-VN" sz="2200" dirty="0" smtClean="0"/>
              <a:t>của muối NaCl 3% so với NaCl 0.9%</a:t>
            </a:r>
          </a:p>
          <a:p>
            <a:pPr algn="just"/>
            <a:r>
              <a:rPr lang="vi-VN" sz="2200" dirty="0" smtClean="0"/>
              <a:t>+</a:t>
            </a:r>
            <a:r>
              <a:rPr lang="en-US" sz="2200" dirty="0"/>
              <a:t> </a:t>
            </a:r>
            <a:r>
              <a:rPr lang="vi-VN" sz="2200" dirty="0" smtClean="0"/>
              <a:t>khả </a:t>
            </a:r>
            <a:r>
              <a:rPr lang="vi-VN" sz="2200" dirty="0"/>
              <a:t>năng kháng khuẩn của muối ưu trương tốt hơn muối sinh lý. Hàm lượng muối càng cao thì khả năng kháng khuẩn càng </a:t>
            </a:r>
            <a:r>
              <a:rPr lang="vi-VN" sz="2200" dirty="0" smtClean="0"/>
              <a:t>tốt</a:t>
            </a:r>
          </a:p>
          <a:p>
            <a:pPr algn="just"/>
            <a:r>
              <a:rPr lang="vi-VN" sz="2200" dirty="0" smtClean="0"/>
              <a:t>+</a:t>
            </a:r>
            <a:r>
              <a:rPr lang="vi-VN" sz="2200" dirty="0"/>
              <a:t> là muối ưu trương sẽ tăng cường hút nước vào để cân bằng lại môi trường. Đây là đặc tính đem lại hiệu quả vượt trội của muối ưu trương so với muối sinh lý trên đường hô hấp trên, đặc biệt là tại mũi</a:t>
            </a:r>
            <a:r>
              <a:rPr lang="vi-VN" sz="2200" dirty="0" smtClean="0"/>
              <a:t>.</a:t>
            </a:r>
          </a:p>
          <a:p>
            <a:pPr marL="285750" indent="-285750" algn="just">
              <a:buFontTx/>
              <a:buChar char="-"/>
            </a:pPr>
            <a:r>
              <a:rPr lang="vi-VN" sz="2200" b="1" dirty="0" smtClean="0">
                <a:solidFill>
                  <a:srgbClr val="FF0000"/>
                </a:solidFill>
              </a:rPr>
              <a:t>Cơ chế tác dụng:</a:t>
            </a:r>
          </a:p>
          <a:p>
            <a:pPr algn="just"/>
            <a:r>
              <a:rPr lang="vi-VN" sz="2200" dirty="0" smtClean="0"/>
              <a:t>+ kích thích ho</a:t>
            </a:r>
          </a:p>
          <a:p>
            <a:pPr algn="just"/>
            <a:r>
              <a:rPr lang="vi-VN" sz="2200" dirty="0" smtClean="0"/>
              <a:t>+ giảm tiết đờm</a:t>
            </a:r>
          </a:p>
          <a:p>
            <a:pPr algn="just"/>
            <a:r>
              <a:rPr lang="vi-VN" sz="2200" dirty="0" smtClean="0"/>
              <a:t>+ giảm độ nhớt của đờm</a:t>
            </a:r>
          </a:p>
          <a:p>
            <a:pPr algn="just"/>
            <a:r>
              <a:rPr lang="vi-VN" sz="2200" dirty="0" smtClean="0"/>
              <a:t>-</a:t>
            </a:r>
            <a:r>
              <a:rPr lang="en-US" sz="2200" dirty="0" smtClean="0"/>
              <a:t> </a:t>
            </a:r>
            <a:r>
              <a:rPr lang="vi-VN" sz="2200" dirty="0" smtClean="0"/>
              <a:t>KD muối ưu trương có thể dùng 1 m</a:t>
            </a:r>
            <a:r>
              <a:rPr lang="en-US" sz="2200" dirty="0" smtClean="0">
                <a:latin typeface="Arial" panose="020B0604020202020204" pitchFamily="34" charset="0"/>
                <a:cs typeface="Arial" panose="020B0604020202020204" pitchFamily="34" charset="0"/>
              </a:rPr>
              <a:t>ình</a:t>
            </a:r>
            <a:r>
              <a:rPr lang="vi-VN" sz="2200" dirty="0" smtClean="0"/>
              <a:t> hoặc kết hợp với các thuốc khác</a:t>
            </a:r>
            <a:r>
              <a:rPr lang="en-US" sz="2200" dirty="0" smtClean="0"/>
              <a:t> </a:t>
            </a:r>
            <a:r>
              <a:rPr lang="vi-VN" sz="2200" dirty="0" smtClean="0"/>
              <a:t>(SABA, adrenalin), KD muối 3% được đánh giá là an toàn trong điều trị do có tỉ lệ tác dụng phụ thấp (1%), co thắt phế quản (0.3%), ho quá mức (0.5%)</a:t>
            </a:r>
            <a:r>
              <a:rPr lang="en-US" sz="2200" dirty="0" smtClean="0"/>
              <a:t>.</a:t>
            </a:r>
            <a:endParaRPr lang="en-US" sz="2200" dirty="0"/>
          </a:p>
        </p:txBody>
      </p:sp>
    </p:spTree>
    <p:extLst>
      <p:ext uri="{BB962C8B-B14F-4D97-AF65-F5344CB8AC3E}">
        <p14:creationId xmlns:p14="http://schemas.microsoft.com/office/powerpoint/2010/main" val="27459523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124200" y="4724400"/>
            <a:ext cx="5689956" cy="584775"/>
          </a:xfrm>
          <a:prstGeom prst="rect">
            <a:avLst/>
          </a:prstGeom>
        </p:spPr>
        <p:txBody>
          <a:bodyPr wrap="none">
            <a:spAutoFit/>
          </a:bodyPr>
          <a:lstStyle/>
          <a:p>
            <a:r>
              <a:rPr lang="en-US" sz="3200" i="1" dirty="0">
                <a:latin typeface="Arial" panose="020B0604020202020204" pitchFamily="34" charset="0"/>
                <a:cs typeface="Arial" panose="020B0604020202020204" pitchFamily="34" charset="0"/>
              </a:rPr>
              <a:t>_</a:t>
            </a:r>
            <a:r>
              <a:rPr lang="en-US" sz="3200" i="1" dirty="0" smtClean="0">
                <a:latin typeface="Arial" panose="020B0604020202020204" pitchFamily="34" charset="0"/>
                <a:cs typeface="Arial" panose="020B0604020202020204" pitchFamily="34" charset="0"/>
              </a:rPr>
              <a:t>Hội </a:t>
            </a:r>
            <a:r>
              <a:rPr lang="en-US" sz="3200" i="1" dirty="0">
                <a:latin typeface="Arial" panose="020B0604020202020204" pitchFamily="34" charset="0"/>
                <a:cs typeface="Arial" panose="020B0604020202020204" pitchFamily="34" charset="0"/>
              </a:rPr>
              <a:t>Hô Hấp Việt Nam </a:t>
            </a:r>
            <a:r>
              <a:rPr lang="en-US" sz="3200" i="1" dirty="0" smtClean="0">
                <a:latin typeface="Arial" panose="020B0604020202020204" pitchFamily="34" charset="0"/>
                <a:cs typeface="Arial" panose="020B0604020202020204" pitchFamily="34" charset="0"/>
              </a:rPr>
              <a:t>2019_ </a:t>
            </a:r>
            <a:endParaRPr lang="en-US" sz="3200" i="1" dirty="0">
              <a:latin typeface="Arial" panose="020B0604020202020204" pitchFamily="34" charset="0"/>
              <a:cs typeface="Arial" panose="020B0604020202020204" pitchFamily="34" charset="0"/>
            </a:endParaRPr>
          </a:p>
        </p:txBody>
      </p:sp>
      <p:sp>
        <p:nvSpPr>
          <p:cNvPr id="6" name="Rectangle 5"/>
          <p:cNvSpPr/>
          <p:nvPr/>
        </p:nvSpPr>
        <p:spPr>
          <a:xfrm>
            <a:off x="304800" y="914400"/>
            <a:ext cx="8720390" cy="3416320"/>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anose="020B0604020202020204" pitchFamily="34" charset="0"/>
                <a:cs typeface="Arial" panose="020B0604020202020204" pitchFamily="34" charset="0"/>
              </a:rPr>
              <a:t>Đồng thuận về liệu pháp khí dung trong điều trị bệnh lý hô hấp thường gặp ở trẻ em </a:t>
            </a:r>
            <a:endParaRPr lang="en-U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extLst>
      <p:ext uri="{BB962C8B-B14F-4D97-AF65-F5344CB8AC3E}">
        <p14:creationId xmlns:p14="http://schemas.microsoft.com/office/powerpoint/2010/main" val="222950854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05000" y="152400"/>
            <a:ext cx="4953000" cy="830997"/>
          </a:xfrm>
          <a:prstGeom prst="rect">
            <a:avLst/>
          </a:prstGeom>
          <a:solidFill>
            <a:schemeClr val="accent2">
              <a:lumMod val="20000"/>
              <a:lumOff val="80000"/>
            </a:schemeClr>
          </a:solidFill>
        </p:spPr>
        <p:txBody>
          <a:bodyPr wrap="square" rtlCol="0">
            <a:spAutoFit/>
          </a:bodyPr>
          <a:lstStyle/>
          <a:p>
            <a:pPr algn="ctr"/>
            <a:r>
              <a:rPr lang="en-US" sz="2400" b="1" dirty="0" smtClean="0">
                <a:latin typeface="Arial" panose="020B0604020202020204" pitchFamily="34" charset="0"/>
                <a:cs typeface="Arial" panose="020B0604020202020204" pitchFamily="34" charset="0"/>
              </a:rPr>
              <a:t>Liệu pháp khí dung trong viêm thanh khí phế quản cấp </a:t>
            </a:r>
            <a:endParaRPr lang="en-US" sz="2400" b="1" dirty="0">
              <a:latin typeface="Arial" panose="020B0604020202020204" pitchFamily="34" charset="0"/>
              <a:cs typeface="Arial" panose="020B0604020202020204" pitchFamily="34" charset="0"/>
            </a:endParaRPr>
          </a:p>
        </p:txBody>
      </p:sp>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524000"/>
            <a:ext cx="8610600" cy="5105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81209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p:cNvGraphicFramePr>
            <a:graphicFrameLocks noGrp="1"/>
          </p:cNvGraphicFramePr>
          <p:nvPr>
            <p:ph idx="1"/>
            <p:extLst>
              <p:ext uri="{D42A27DB-BD31-4B8C-83A1-F6EECF244321}">
                <p14:modId xmlns:p14="http://schemas.microsoft.com/office/powerpoint/2010/main" val="4239535900"/>
              </p:ext>
            </p:extLst>
          </p:nvPr>
        </p:nvGraphicFramePr>
        <p:xfrm>
          <a:off x="152400" y="152400"/>
          <a:ext cx="8839200" cy="6177334"/>
        </p:xfrm>
        <a:graphic>
          <a:graphicData uri="http://schemas.openxmlformats.org/drawingml/2006/table">
            <a:tbl>
              <a:tblPr firstRow="1" bandRow="1">
                <a:tableStyleId>{5C22544A-7EE6-4342-B048-85BDC9FD1C3A}</a:tableStyleId>
              </a:tblPr>
              <a:tblGrid>
                <a:gridCol w="1391356"/>
                <a:gridCol w="7447844"/>
              </a:tblGrid>
              <a:tr h="340458">
                <a:tc>
                  <a:txBody>
                    <a:bodyPr/>
                    <a:lstStyle/>
                    <a:p>
                      <a:pPr algn="ctr"/>
                      <a:r>
                        <a:rPr lang="en-US" sz="1800" dirty="0" smtClean="0">
                          <a:latin typeface="Arial" panose="020B0604020202020204" pitchFamily="34" charset="0"/>
                          <a:cs typeface="Arial" panose="020B0604020202020204" pitchFamily="34" charset="0"/>
                        </a:rPr>
                        <a:t>S</a:t>
                      </a:r>
                      <a:r>
                        <a:rPr lang="vi-VN" sz="1800" dirty="0" smtClean="0">
                          <a:latin typeface="Arial" panose="020B0604020202020204" pitchFamily="34" charset="0"/>
                          <a:cs typeface="Arial" panose="020B0604020202020204" pitchFamily="34" charset="0"/>
                        </a:rPr>
                        <a:t>everity</a:t>
                      </a:r>
                      <a:endParaRPr lang="en-US" sz="1800" dirty="0">
                        <a:latin typeface="Arial" panose="020B0604020202020204" pitchFamily="34" charset="0"/>
                        <a:cs typeface="Arial" panose="020B0604020202020204" pitchFamily="34" charset="0"/>
                      </a:endParaRPr>
                    </a:p>
                  </a:txBody>
                  <a:tcPr/>
                </a:tc>
                <a:tc>
                  <a:txBody>
                    <a:bodyPr/>
                    <a:lstStyle/>
                    <a:p>
                      <a:pPr algn="ctr"/>
                      <a:r>
                        <a:rPr lang="en-US" sz="1800" dirty="0" smtClean="0">
                          <a:latin typeface="Arial" panose="020B0604020202020204" pitchFamily="34" charset="0"/>
                          <a:cs typeface="Arial" panose="020B0604020202020204" pitchFamily="34" charset="0"/>
                        </a:rPr>
                        <a:t>M</a:t>
                      </a:r>
                      <a:r>
                        <a:rPr lang="vi-VN" sz="1800" dirty="0" smtClean="0">
                          <a:latin typeface="Arial" panose="020B0604020202020204" pitchFamily="34" charset="0"/>
                          <a:cs typeface="Arial" panose="020B0604020202020204" pitchFamily="34" charset="0"/>
                        </a:rPr>
                        <a:t>anagement</a:t>
                      </a:r>
                      <a:endParaRPr lang="en-US" sz="1800" dirty="0">
                        <a:latin typeface="Arial" panose="020B0604020202020204" pitchFamily="34" charset="0"/>
                        <a:cs typeface="Arial" panose="020B0604020202020204" pitchFamily="34" charset="0"/>
                      </a:endParaRPr>
                    </a:p>
                  </a:txBody>
                  <a:tcPr/>
                </a:tc>
              </a:tr>
              <a:tr h="1253425">
                <a:tc>
                  <a:txBody>
                    <a:bodyPr/>
                    <a:lstStyle/>
                    <a:p>
                      <a:r>
                        <a:rPr lang="vi-VN" sz="1800" dirty="0" smtClean="0">
                          <a:latin typeface="Arial" panose="020B0604020202020204" pitchFamily="34" charset="0"/>
                          <a:cs typeface="Arial" panose="020B0604020202020204" pitchFamily="34" charset="0"/>
                        </a:rPr>
                        <a:t>Mild</a:t>
                      </a:r>
                    </a:p>
                    <a:p>
                      <a:endParaRPr lang="en-US" sz="1800" dirty="0">
                        <a:latin typeface="Arial" panose="020B0604020202020204" pitchFamily="34" charset="0"/>
                        <a:cs typeface="Arial" panose="020B0604020202020204" pitchFamily="34" charset="0"/>
                      </a:endParaRPr>
                    </a:p>
                  </a:txBody>
                  <a:tcPr/>
                </a:tc>
                <a:tc>
                  <a:txBody>
                    <a:bodyPr/>
                    <a:lstStyle/>
                    <a:p>
                      <a:r>
                        <a:rPr lang="en-US" sz="1800" b="0" i="0" kern="1200" dirty="0" smtClean="0">
                          <a:solidFill>
                            <a:schemeClr val="dk1"/>
                          </a:solidFill>
                          <a:effectLst/>
                          <a:latin typeface="Arial" panose="020B0604020202020204" pitchFamily="34" charset="0"/>
                          <a:ea typeface="+mn-ea"/>
                          <a:cs typeface="Arial" panose="020B0604020202020204" pitchFamily="34" charset="0"/>
                        </a:rPr>
                        <a:t>Home treatment: Symptomatic care including antipyretics, mist, and oral fluids</a:t>
                      </a:r>
                    </a:p>
                    <a:p>
                      <a:r>
                        <a:rPr lang="en-US" sz="1800" b="0" i="0" kern="1200" dirty="0" smtClean="0">
                          <a:solidFill>
                            <a:schemeClr val="dk1"/>
                          </a:solidFill>
                          <a:effectLst/>
                          <a:latin typeface="Arial" panose="020B0604020202020204" pitchFamily="34" charset="0"/>
                          <a:ea typeface="+mn-ea"/>
                          <a:cs typeface="Arial" panose="020B0604020202020204" pitchFamily="34" charset="0"/>
                        </a:rPr>
                        <a:t>Outpatient treatment: Single dose of oral dexamethasone 0.15 to 0.6 mg/kg (maximum 16 mg)*</a:t>
                      </a:r>
                      <a:endParaRPr lang="en-US" sz="1800" dirty="0">
                        <a:latin typeface="Arial" panose="020B0604020202020204" pitchFamily="34" charset="0"/>
                        <a:cs typeface="Arial" panose="020B0604020202020204" pitchFamily="34" charset="0"/>
                      </a:endParaRPr>
                    </a:p>
                  </a:txBody>
                  <a:tcPr/>
                </a:tc>
              </a:tr>
              <a:tr h="1542677">
                <a:tc>
                  <a:txBody>
                    <a:bodyPr/>
                    <a:lstStyle/>
                    <a:p>
                      <a:r>
                        <a:rPr lang="vi-VN" sz="1800" dirty="0" smtClean="0">
                          <a:latin typeface="Arial" panose="020B0604020202020204" pitchFamily="34" charset="0"/>
                          <a:cs typeface="Arial" panose="020B0604020202020204" pitchFamily="34" charset="0"/>
                        </a:rPr>
                        <a:t>moderate</a:t>
                      </a:r>
                      <a:endParaRPr lang="en-US" sz="1800" dirty="0">
                        <a:latin typeface="Arial" panose="020B0604020202020204" pitchFamily="34" charset="0"/>
                        <a:cs typeface="Arial" panose="020B0604020202020204" pitchFamily="34" charset="0"/>
                      </a:endParaRPr>
                    </a:p>
                  </a:txBody>
                  <a:tcPr/>
                </a:tc>
                <a:tc>
                  <a:txBody>
                    <a:bodyPr/>
                    <a:lstStyle/>
                    <a:p>
                      <a:r>
                        <a:rPr lang="en-US" sz="1800" b="0" i="0" kern="1200" dirty="0" smtClean="0">
                          <a:solidFill>
                            <a:schemeClr val="dk1"/>
                          </a:solidFill>
                          <a:effectLst/>
                          <a:latin typeface="Arial" panose="020B0604020202020204" pitchFamily="34" charset="0"/>
                          <a:ea typeface="+mn-ea"/>
                          <a:cs typeface="Arial" panose="020B0604020202020204" pitchFamily="34" charset="0"/>
                        </a:rPr>
                        <a:t>Single dose of oral dexamethasone 0.6 mg/kg (maximum 16 mg)*</a:t>
                      </a:r>
                    </a:p>
                    <a:p>
                      <a:r>
                        <a:rPr lang="en-US" sz="1800" b="0" i="0" kern="1200" dirty="0" smtClean="0">
                          <a:solidFill>
                            <a:schemeClr val="dk1"/>
                          </a:solidFill>
                          <a:effectLst/>
                          <a:latin typeface="Arial" panose="020B0604020202020204" pitchFamily="34" charset="0"/>
                          <a:ea typeface="+mn-ea"/>
                          <a:cs typeface="Arial" panose="020B0604020202020204" pitchFamily="34" charset="0"/>
                        </a:rPr>
                        <a:t>Nebulized epinephrine</a:t>
                      </a:r>
                      <a:r>
                        <a:rPr lang="en-US" sz="1800" b="0" i="0" kern="1200" baseline="30000" dirty="0" smtClean="0">
                          <a:solidFill>
                            <a:schemeClr val="dk1"/>
                          </a:solidFill>
                          <a:effectLst/>
                          <a:latin typeface="Arial" panose="020B0604020202020204" pitchFamily="34" charset="0"/>
                          <a:ea typeface="+mn-ea"/>
                          <a:cs typeface="Arial" panose="020B0604020202020204" pitchFamily="34" charset="0"/>
                        </a:rPr>
                        <a:t>¶</a:t>
                      </a:r>
                      <a:endParaRPr lang="en-US" sz="1800" b="0" i="0" kern="1200" dirty="0" smtClean="0">
                        <a:solidFill>
                          <a:schemeClr val="dk1"/>
                        </a:solidFill>
                        <a:effectLst/>
                        <a:latin typeface="Arial" panose="020B0604020202020204" pitchFamily="34" charset="0"/>
                        <a:ea typeface="+mn-ea"/>
                        <a:cs typeface="Arial" panose="020B0604020202020204" pitchFamily="34" charset="0"/>
                      </a:endParaRPr>
                    </a:p>
                    <a:p>
                      <a:r>
                        <a:rPr lang="en-US" sz="1800" b="0" i="0" kern="1200" dirty="0" smtClean="0">
                          <a:solidFill>
                            <a:schemeClr val="dk1"/>
                          </a:solidFill>
                          <a:effectLst/>
                          <a:latin typeface="Arial" panose="020B0604020202020204" pitchFamily="34" charset="0"/>
                          <a:ea typeface="+mn-ea"/>
                          <a:cs typeface="Arial" panose="020B0604020202020204" pitchFamily="34" charset="0"/>
                        </a:rPr>
                        <a:t>Hospitalization is generally not needed, but may be warranted for persistent or worsening symptoms after treatment with glucocorticoid and nebulized epinephrine</a:t>
                      </a:r>
                      <a:endParaRPr lang="en-US" sz="1800" dirty="0">
                        <a:latin typeface="Arial" panose="020B0604020202020204" pitchFamily="34" charset="0"/>
                        <a:cs typeface="Arial" panose="020B0604020202020204" pitchFamily="34" charset="0"/>
                      </a:endParaRPr>
                    </a:p>
                  </a:txBody>
                  <a:tcPr/>
                </a:tc>
              </a:tr>
              <a:tr h="1542677">
                <a:tc>
                  <a:txBody>
                    <a:bodyPr/>
                    <a:lstStyle/>
                    <a:p>
                      <a:r>
                        <a:rPr lang="vi-VN" sz="1800" dirty="0" smtClean="0">
                          <a:latin typeface="Arial" panose="020B0604020202020204" pitchFamily="34" charset="0"/>
                          <a:cs typeface="Arial" panose="020B0604020202020204" pitchFamily="34" charset="0"/>
                        </a:rPr>
                        <a:t>severe</a:t>
                      </a:r>
                      <a:endParaRPr lang="en-US" sz="1800" dirty="0">
                        <a:latin typeface="Arial" panose="020B0604020202020204" pitchFamily="34" charset="0"/>
                        <a:cs typeface="Arial" panose="020B0604020202020204" pitchFamily="34" charset="0"/>
                      </a:endParaRPr>
                    </a:p>
                  </a:txBody>
                  <a:tcPr/>
                </a:tc>
                <a:tc>
                  <a:txBody>
                    <a:bodyPr/>
                    <a:lstStyle/>
                    <a:p>
                      <a:r>
                        <a:rPr lang="vi-VN" sz="1800" b="0" i="0" kern="1200" dirty="0" smtClean="0">
                          <a:solidFill>
                            <a:schemeClr val="dk1"/>
                          </a:solidFill>
                          <a:effectLst/>
                          <a:latin typeface="Arial" panose="020B0604020202020204" pitchFamily="34" charset="0"/>
                          <a:ea typeface="+mn-ea"/>
                          <a:cs typeface="Arial" panose="020B0604020202020204" pitchFamily="34" charset="0"/>
                        </a:rPr>
                        <a:t>S</a:t>
                      </a:r>
                      <a:r>
                        <a:rPr lang="en-US" sz="1800" b="0" i="0" kern="1200" dirty="0" smtClean="0">
                          <a:solidFill>
                            <a:schemeClr val="dk1"/>
                          </a:solidFill>
                          <a:effectLst/>
                          <a:latin typeface="Arial" panose="020B0604020202020204" pitchFamily="34" charset="0"/>
                          <a:ea typeface="+mn-ea"/>
                          <a:cs typeface="Arial" panose="020B0604020202020204" pitchFamily="34" charset="0"/>
                        </a:rPr>
                        <a:t>ingle dose of oral/IM/IV dexamethasone 0.6 mg/kg (maximum 16 mg)*</a:t>
                      </a:r>
                    </a:p>
                    <a:p>
                      <a:r>
                        <a:rPr lang="en-US" sz="1800" b="0" i="0" kern="1200" dirty="0" smtClean="0">
                          <a:solidFill>
                            <a:schemeClr val="dk1"/>
                          </a:solidFill>
                          <a:effectLst/>
                          <a:latin typeface="Arial" panose="020B0604020202020204" pitchFamily="34" charset="0"/>
                          <a:ea typeface="+mn-ea"/>
                          <a:cs typeface="Arial" panose="020B0604020202020204" pitchFamily="34" charset="0"/>
                        </a:rPr>
                        <a:t>Repeated doses of nebulized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epinephrine</a:t>
                      </a:r>
                      <a:r>
                        <a:rPr lang="en-US" sz="1800" b="0" i="0" kern="1200" baseline="30000" dirty="0" err="1" smtClean="0">
                          <a:solidFill>
                            <a:schemeClr val="dk1"/>
                          </a:solidFill>
                          <a:effectLst/>
                          <a:latin typeface="Arial" panose="020B0604020202020204" pitchFamily="34" charset="0"/>
                          <a:ea typeface="+mn-ea"/>
                          <a:cs typeface="Arial" panose="020B0604020202020204" pitchFamily="34" charset="0"/>
                        </a:rPr>
                        <a:t>¶</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may</a:t>
                      </a:r>
                      <a:r>
                        <a:rPr lang="en-US" sz="1800" b="0" i="0" kern="1200" dirty="0" smtClean="0">
                          <a:solidFill>
                            <a:schemeClr val="dk1"/>
                          </a:solidFill>
                          <a:effectLst/>
                          <a:latin typeface="Arial" panose="020B0604020202020204" pitchFamily="34" charset="0"/>
                          <a:ea typeface="+mn-ea"/>
                          <a:cs typeface="Arial" panose="020B0604020202020204" pitchFamily="34" charset="0"/>
                        </a:rPr>
                        <a:t> be needed</a:t>
                      </a:r>
                    </a:p>
                    <a:p>
                      <a:r>
                        <a:rPr lang="en-US" sz="1800" b="0" i="0" kern="1200" dirty="0" smtClean="0">
                          <a:solidFill>
                            <a:schemeClr val="dk1"/>
                          </a:solidFill>
                          <a:effectLst/>
                          <a:latin typeface="Arial" panose="020B0604020202020204" pitchFamily="34" charset="0"/>
                          <a:ea typeface="+mn-ea"/>
                          <a:cs typeface="Arial" panose="020B0604020202020204" pitchFamily="34" charset="0"/>
                        </a:rPr>
                        <a:t>Inpatient admission is generally required unless marked improvement occurs after treatment with glucocorticoid and nebulized epinephrine</a:t>
                      </a:r>
                      <a:endParaRPr lang="en-US" sz="1800" dirty="0">
                        <a:latin typeface="Arial" panose="020B0604020202020204" pitchFamily="34" charset="0"/>
                        <a:cs typeface="Arial" panose="020B0604020202020204" pitchFamily="34" charset="0"/>
                      </a:endParaRPr>
                    </a:p>
                  </a:txBody>
                  <a:tcPr/>
                </a:tc>
              </a:tr>
              <a:tr h="1472795">
                <a:tc>
                  <a:txBody>
                    <a:bodyPr/>
                    <a:lstStyle/>
                    <a:p>
                      <a:r>
                        <a:rPr lang="vi-VN" sz="1800" dirty="0" smtClean="0">
                          <a:latin typeface="Arial" panose="020B0604020202020204" pitchFamily="34" charset="0"/>
                          <a:cs typeface="Arial" panose="020B0604020202020204" pitchFamily="34" charset="0"/>
                        </a:rPr>
                        <a:t>Impending respiratory</a:t>
                      </a:r>
                      <a:r>
                        <a:rPr lang="vi-VN" sz="1800" baseline="0" dirty="0" smtClean="0">
                          <a:latin typeface="Arial" panose="020B0604020202020204" pitchFamily="34" charset="0"/>
                          <a:cs typeface="Arial" panose="020B0604020202020204" pitchFamily="34" charset="0"/>
                        </a:rPr>
                        <a:t> failure</a:t>
                      </a:r>
                      <a:endParaRPr lang="en-US" sz="1800" dirty="0">
                        <a:latin typeface="Arial" panose="020B0604020202020204" pitchFamily="34" charset="0"/>
                        <a:cs typeface="Arial" panose="020B0604020202020204" pitchFamily="34" charset="0"/>
                      </a:endParaRPr>
                    </a:p>
                  </a:txBody>
                  <a:tcPr/>
                </a:tc>
                <a:tc>
                  <a:txBody>
                    <a:bodyPr/>
                    <a:lstStyle/>
                    <a:p>
                      <a:r>
                        <a:rPr lang="en-US" sz="1800" b="0" i="0" kern="1200" dirty="0" smtClean="0">
                          <a:solidFill>
                            <a:schemeClr val="dk1"/>
                          </a:solidFill>
                          <a:effectLst/>
                          <a:latin typeface="Arial" panose="020B0604020202020204" pitchFamily="34" charset="0"/>
                          <a:ea typeface="+mn-ea"/>
                          <a:cs typeface="Arial" panose="020B0604020202020204" pitchFamily="34" charset="0"/>
                        </a:rPr>
                        <a:t>Single dose of IM/IV dexamethasone 0.6 mg/kg (maximum 16 mg)</a:t>
                      </a:r>
                    </a:p>
                    <a:p>
                      <a:r>
                        <a:rPr lang="en-US" sz="1800" b="0" i="0" kern="1200" dirty="0" smtClean="0">
                          <a:solidFill>
                            <a:schemeClr val="dk1"/>
                          </a:solidFill>
                          <a:effectLst/>
                          <a:latin typeface="Arial" panose="020B0604020202020204" pitchFamily="34" charset="0"/>
                          <a:ea typeface="+mn-ea"/>
                          <a:cs typeface="Arial" panose="020B0604020202020204" pitchFamily="34" charset="0"/>
                        </a:rPr>
                        <a:t>Repeated doses of nebulized epinephrine</a:t>
                      </a:r>
                      <a:r>
                        <a:rPr lang="en-US" sz="1800" b="0" i="0" kern="1200" baseline="300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smtClean="0">
                          <a:solidFill>
                            <a:schemeClr val="dk1"/>
                          </a:solidFill>
                          <a:effectLst/>
                          <a:latin typeface="Arial" panose="020B0604020202020204" pitchFamily="34" charset="0"/>
                          <a:ea typeface="+mn-ea"/>
                          <a:cs typeface="Arial" panose="020B0604020202020204" pitchFamily="34" charset="0"/>
                        </a:rPr>
                        <a:t>may be needed</a:t>
                      </a:r>
                    </a:p>
                    <a:p>
                      <a:r>
                        <a:rPr lang="en-US" sz="1800" b="0" i="0" kern="1200" dirty="0" smtClean="0">
                          <a:solidFill>
                            <a:schemeClr val="dk1"/>
                          </a:solidFill>
                          <a:effectLst/>
                          <a:latin typeface="Arial" panose="020B0604020202020204" pitchFamily="34" charset="0"/>
                          <a:ea typeface="+mn-ea"/>
                          <a:cs typeface="Arial" panose="020B0604020202020204" pitchFamily="34" charset="0"/>
                        </a:rPr>
                        <a:t>Intensive care unit admission is generally required</a:t>
                      </a:r>
                    </a:p>
                    <a:p>
                      <a:r>
                        <a:rPr lang="en-US" sz="1800" b="0" i="0" kern="1200" dirty="0" smtClean="0">
                          <a:solidFill>
                            <a:schemeClr val="dk1"/>
                          </a:solidFill>
                          <a:effectLst/>
                          <a:latin typeface="Arial" panose="020B0604020202020204" pitchFamily="34" charset="0"/>
                          <a:ea typeface="+mn-ea"/>
                          <a:cs typeface="Arial" panose="020B0604020202020204" pitchFamily="34" charset="0"/>
                        </a:rPr>
                        <a:t>Consultation with anesthesiologist or ENT surgeon may be warranted to arrange for intubation in a controlled setting</a:t>
                      </a:r>
                      <a:endParaRPr lang="en-US" sz="1800" dirty="0">
                        <a:latin typeface="Arial" panose="020B0604020202020204" pitchFamily="34" charset="0"/>
                        <a:cs typeface="Arial" panose="020B0604020202020204" pitchFamily="34" charset="0"/>
                      </a:endParaRPr>
                    </a:p>
                  </a:txBody>
                  <a:tcPr/>
                </a:tc>
              </a:tr>
            </a:tbl>
          </a:graphicData>
        </a:graphic>
      </p:graphicFrame>
    </p:spTree>
    <p:extLst>
      <p:ext uri="{BB962C8B-B14F-4D97-AF65-F5344CB8AC3E}">
        <p14:creationId xmlns:p14="http://schemas.microsoft.com/office/powerpoint/2010/main" val="288541893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0800" y="274638"/>
            <a:ext cx="4724400" cy="715962"/>
          </a:xfrm>
          <a:solidFill>
            <a:schemeClr val="accent2">
              <a:lumMod val="20000"/>
              <a:lumOff val="80000"/>
            </a:schemeClr>
          </a:solidFill>
        </p:spPr>
        <p:style>
          <a:lnRef idx="3">
            <a:schemeClr val="lt1"/>
          </a:lnRef>
          <a:fillRef idx="1">
            <a:schemeClr val="accent5"/>
          </a:fillRef>
          <a:effectRef idx="1">
            <a:schemeClr val="accent5"/>
          </a:effectRef>
          <a:fontRef idx="minor">
            <a:schemeClr val="lt1"/>
          </a:fontRef>
        </p:style>
        <p:txBody>
          <a:bodyPr>
            <a:normAutofit/>
          </a:bodyPr>
          <a:lstStyle/>
          <a:p>
            <a:r>
              <a:rPr lang="vi-VN" sz="3200" b="1" dirty="0" smtClean="0">
                <a:solidFill>
                  <a:schemeClr val="tx1"/>
                </a:solidFill>
                <a:latin typeface="Arial" panose="020B0604020202020204" pitchFamily="34" charset="0"/>
                <a:cs typeface="Arial" panose="020B0604020202020204" pitchFamily="34" charset="0"/>
              </a:rPr>
              <a:t>Liệu pháp khí dung</a:t>
            </a:r>
            <a:endParaRPr lang="en-US" sz="3200"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600200"/>
            <a:ext cx="8382000" cy="5029200"/>
          </a:xfrm>
        </p:spPr>
        <p:style>
          <a:lnRef idx="1">
            <a:schemeClr val="accent4"/>
          </a:lnRef>
          <a:fillRef idx="2">
            <a:schemeClr val="accent4"/>
          </a:fillRef>
          <a:effectRef idx="1">
            <a:schemeClr val="accent4"/>
          </a:effectRef>
          <a:fontRef idx="minor">
            <a:schemeClr val="dk1"/>
          </a:fontRef>
        </p:style>
        <p:txBody>
          <a:bodyPr>
            <a:noAutofit/>
          </a:bodyPr>
          <a:lstStyle/>
          <a:p>
            <a:pPr marL="0" indent="0">
              <a:buNone/>
            </a:pPr>
            <a:r>
              <a:rPr lang="vi-VN" sz="2000" b="1" dirty="0" smtClean="0">
                <a:solidFill>
                  <a:srgbClr val="FF0000"/>
                </a:solidFill>
                <a:latin typeface="Arial" panose="020B0604020202020204" pitchFamily="34" charset="0"/>
                <a:cs typeface="Arial" panose="020B0604020202020204" pitchFamily="34" charset="0"/>
              </a:rPr>
              <a:t>1. Budesonide( Pulmicort 0.5mg)</a:t>
            </a:r>
          </a:p>
          <a:p>
            <a:pPr marL="0" indent="0">
              <a:buNone/>
            </a:pPr>
            <a:r>
              <a:rPr lang="en-US" sz="2000" dirty="0" smtClean="0">
                <a:latin typeface="Arial" panose="020B0604020202020204" pitchFamily="34" charset="0"/>
                <a:cs typeface="Arial" panose="020B0604020202020204" pitchFamily="34" charset="0"/>
              </a:rPr>
              <a:t>- T</a:t>
            </a:r>
            <a:r>
              <a:rPr lang="vi-VN" sz="2000" dirty="0" smtClean="0">
                <a:latin typeface="Arial" panose="020B0604020202020204" pitchFamily="34" charset="0"/>
                <a:cs typeface="Arial" panose="020B0604020202020204" pitchFamily="34" charset="0"/>
              </a:rPr>
              <a:t>rẻ nôn nhiều, uống không hiệu quả</a:t>
            </a:r>
          </a:p>
          <a:p>
            <a:pPr marL="0" indent="0">
              <a:buNone/>
            </a:pPr>
            <a:r>
              <a:rPr lang="en-US" sz="2000" dirty="0" smtClean="0">
                <a:latin typeface="Arial" panose="020B0604020202020204" pitchFamily="34" charset="0"/>
                <a:cs typeface="Arial" panose="020B0604020202020204" pitchFamily="34" charset="0"/>
              </a:rPr>
              <a:t>- </a:t>
            </a:r>
            <a:r>
              <a:rPr lang="vi-VN" sz="2000" dirty="0" smtClean="0">
                <a:latin typeface="Arial" panose="020B0604020202020204" pitchFamily="34" charset="0"/>
                <a:cs typeface="Arial" panose="020B0604020202020204" pitchFamily="34" charset="0"/>
              </a:rPr>
              <a:t>Croup TB nhập viện liều 1-2mg/lần</a:t>
            </a:r>
          </a:p>
          <a:p>
            <a:pPr marL="0" indent="0">
              <a:buNone/>
            </a:pPr>
            <a:r>
              <a:rPr lang="en-US" sz="2000" dirty="0" smtClean="0">
                <a:latin typeface="Arial" panose="020B0604020202020204" pitchFamily="34" charset="0"/>
                <a:cs typeface="Arial" panose="020B0604020202020204" pitchFamily="34" charset="0"/>
              </a:rPr>
              <a:t>- </a:t>
            </a:r>
            <a:r>
              <a:rPr lang="vi-VN" sz="2000" dirty="0" smtClean="0">
                <a:latin typeface="Arial" panose="020B0604020202020204" pitchFamily="34" charset="0"/>
                <a:cs typeface="Arial" panose="020B0604020202020204" pitchFamily="34" charset="0"/>
              </a:rPr>
              <a:t>Croup nặng/đe dọa SHH: phun </a:t>
            </a:r>
            <a:r>
              <a:rPr lang="en-US" sz="2000" i="1" dirty="0" smtClean="0">
                <a:latin typeface="Arial" panose="020B0604020202020204" pitchFamily="34" charset="0"/>
                <a:cs typeface="Arial" panose="020B0604020202020204" pitchFamily="34" charset="0"/>
              </a:rPr>
              <a:t>KD</a:t>
            </a:r>
            <a:r>
              <a:rPr lang="vi-VN" sz="2000" i="1" dirty="0" smtClean="0">
                <a:latin typeface="Arial" panose="020B0604020202020204" pitchFamily="34" charset="0"/>
                <a:cs typeface="Arial" panose="020B0604020202020204" pitchFamily="34" charset="0"/>
              </a:rPr>
              <a:t> budesonide </a:t>
            </a:r>
            <a:r>
              <a:rPr lang="en-US" sz="2000" i="1" dirty="0" smtClean="0">
                <a:latin typeface="Arial" panose="020B0604020202020204" pitchFamily="34" charset="0"/>
                <a:cs typeface="Arial" panose="020B0604020202020204" pitchFamily="34" charset="0"/>
              </a:rPr>
              <a:t> </a:t>
            </a:r>
            <a:r>
              <a:rPr lang="vi-VN" sz="2000" dirty="0" smtClean="0">
                <a:latin typeface="Arial" panose="020B0604020202020204" pitchFamily="34" charset="0"/>
                <a:cs typeface="Arial" panose="020B0604020202020204" pitchFamily="34" charset="0"/>
              </a:rPr>
              <a:t>vs </a:t>
            </a:r>
            <a:r>
              <a:rPr lang="en-US" sz="2000" dirty="0" smtClean="0">
                <a:latin typeface="Arial" panose="020B0604020202020204" pitchFamily="34" charset="0"/>
                <a:cs typeface="Arial" panose="020B0604020202020204" pitchFamily="34" charset="0"/>
              </a:rPr>
              <a:t> </a:t>
            </a:r>
            <a:r>
              <a:rPr lang="vi-VN" sz="2000" i="1" dirty="0" smtClean="0">
                <a:latin typeface="Arial" panose="020B0604020202020204" pitchFamily="34" charset="0"/>
                <a:cs typeface="Arial" panose="020B0604020202020204" pitchFamily="34" charset="0"/>
              </a:rPr>
              <a:t>Adrenalin</a:t>
            </a:r>
            <a:r>
              <a:rPr lang="vi-VN" sz="2000" dirty="0" smtClean="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 </a:t>
            </a:r>
            <a:r>
              <a:rPr lang="vi-VN" sz="2000" u="sng" dirty="0" smtClean="0">
                <a:latin typeface="Arial" panose="020B0604020202020204" pitchFamily="34" charset="0"/>
                <a:cs typeface="Arial" panose="020B0604020202020204" pitchFamily="34" charset="0"/>
              </a:rPr>
              <a:t>hiệu</a:t>
            </a:r>
            <a:r>
              <a:rPr lang="en-US" sz="2000" u="sng" dirty="0" smtClean="0">
                <a:latin typeface="Arial" panose="020B0604020202020204" pitchFamily="34" charset="0"/>
                <a:cs typeface="Arial" panose="020B0604020202020204" pitchFamily="34" charset="0"/>
              </a:rPr>
              <a:t> </a:t>
            </a:r>
            <a:r>
              <a:rPr lang="vi-VN" sz="2000" u="sng" dirty="0" smtClean="0">
                <a:latin typeface="Arial" panose="020B0604020202020204" pitchFamily="34" charset="0"/>
                <a:cs typeface="Arial" panose="020B0604020202020204" pitchFamily="34" charset="0"/>
              </a:rPr>
              <a:t>quả hơn </a:t>
            </a:r>
            <a:r>
              <a:rPr lang="vi-VN" sz="2000" i="1" dirty="0" smtClean="0">
                <a:latin typeface="Arial" panose="020B0604020202020204" pitchFamily="34" charset="0"/>
                <a:cs typeface="Arial" panose="020B0604020202020204" pitchFamily="34" charset="0"/>
              </a:rPr>
              <a:t>Adrenalin đơn thuần</a:t>
            </a:r>
            <a:r>
              <a:rPr lang="en-US" sz="2000" i="1" dirty="0" smtClean="0">
                <a:latin typeface="Arial" panose="020B0604020202020204" pitchFamily="34" charset="0"/>
                <a:cs typeface="Arial" panose="020B0604020202020204" pitchFamily="34" charset="0"/>
              </a:rPr>
              <a:t> </a:t>
            </a:r>
            <a:r>
              <a:rPr lang="vi-VN" sz="2000" i="1" dirty="0" smtClean="0">
                <a:latin typeface="Arial" panose="020B0604020202020204" pitchFamily="34" charset="0"/>
                <a:cs typeface="Arial" panose="020B0604020202020204" pitchFamily="34" charset="0"/>
              </a:rPr>
              <a:t> </a:t>
            </a:r>
            <a:r>
              <a:rPr lang="vi-VN" sz="2000" dirty="0" smtClean="0">
                <a:latin typeface="Arial" panose="020B0604020202020204" pitchFamily="34" charset="0"/>
                <a:cs typeface="Arial" panose="020B0604020202020204" pitchFamily="34" charset="0"/>
              </a:rPr>
              <a:t>và có thể có hiệu quả tương tự Dexamethsone IM hoặc đường uống</a:t>
            </a:r>
            <a:r>
              <a:rPr lang="en-US" sz="2000" dirty="0" smtClean="0">
                <a:latin typeface="Arial" panose="020B0604020202020204" pitchFamily="34" charset="0"/>
                <a:cs typeface="Arial" panose="020B0604020202020204" pitchFamily="34" charset="0"/>
              </a:rPr>
              <a:t> </a:t>
            </a:r>
            <a:r>
              <a:rPr lang="vi-VN" sz="2000" i="1" dirty="0" smtClean="0">
                <a:latin typeface="Arial" panose="020B0604020202020204" pitchFamily="34" charset="0"/>
                <a:cs typeface="Arial" panose="020B0604020202020204" pitchFamily="34" charset="0"/>
              </a:rPr>
              <a:t>(</a:t>
            </a:r>
            <a:r>
              <a:rPr lang="en-US" sz="2000" i="1" dirty="0" smtClean="0">
                <a:latin typeface="Arial" panose="020B0604020202020204" pitchFamily="34" charset="0"/>
                <a:cs typeface="Arial" panose="020B0604020202020204" pitchFamily="34" charset="0"/>
              </a:rPr>
              <a:t>U</a:t>
            </a:r>
            <a:r>
              <a:rPr lang="vi-VN" sz="2000" i="1" dirty="0" smtClean="0">
                <a:latin typeface="Arial" panose="020B0604020202020204" pitchFamily="34" charset="0"/>
                <a:cs typeface="Arial" panose="020B0604020202020204" pitchFamily="34" charset="0"/>
              </a:rPr>
              <a:t>ptodate: pharmacologic and supportive interventions)</a:t>
            </a:r>
          </a:p>
          <a:p>
            <a:pPr marL="0" indent="0">
              <a:buNone/>
            </a:pPr>
            <a:r>
              <a:rPr lang="vi-VN" sz="2000" b="1" dirty="0" smtClean="0">
                <a:solidFill>
                  <a:srgbClr val="FF0000"/>
                </a:solidFill>
                <a:latin typeface="Arial" panose="020B0604020202020204" pitchFamily="34" charset="0"/>
                <a:cs typeface="Arial" panose="020B0604020202020204" pitchFamily="34" charset="0"/>
              </a:rPr>
              <a:t>2. Adrenalin 1mg/ml</a:t>
            </a:r>
          </a:p>
          <a:p>
            <a:pPr marL="0" indent="0">
              <a:buNone/>
            </a:pPr>
            <a:r>
              <a:rPr lang="vi-VN" sz="2000" dirty="0" smtClean="0">
                <a:latin typeface="Arial" panose="020B0604020202020204" pitchFamily="34" charset="0"/>
                <a:cs typeface="Arial" panose="020B0604020202020204" pitchFamily="34" charset="0"/>
              </a:rPr>
              <a:t>-</a:t>
            </a:r>
            <a:r>
              <a:rPr lang="en-US" sz="2000" dirty="0" smtClean="0">
                <a:latin typeface="Arial" panose="020B0604020202020204" pitchFamily="34" charset="0"/>
                <a:cs typeface="Arial" panose="020B0604020202020204" pitchFamily="34" charset="0"/>
              </a:rPr>
              <a:t> C</a:t>
            </a:r>
            <a:r>
              <a:rPr lang="vi-VN" sz="2000" dirty="0" smtClean="0">
                <a:latin typeface="Arial" panose="020B0604020202020204" pitchFamily="34" charset="0"/>
                <a:cs typeface="Arial" panose="020B0604020202020204" pitchFamily="34" charset="0"/>
              </a:rPr>
              <a:t>hỉ định:</a:t>
            </a:r>
          </a:p>
          <a:p>
            <a:pPr marL="0" indent="0">
              <a:buNone/>
            </a:pPr>
            <a:r>
              <a:rPr lang="vi-VN" sz="2000" dirty="0" smtClean="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C</a:t>
            </a:r>
            <a:r>
              <a:rPr lang="vi-VN" sz="2000" dirty="0" smtClean="0">
                <a:latin typeface="Arial" panose="020B0604020202020204" pitchFamily="34" charset="0"/>
                <a:cs typeface="Arial" panose="020B0604020202020204" pitchFamily="34" charset="0"/>
              </a:rPr>
              <a:t>roup </a:t>
            </a:r>
            <a:r>
              <a:rPr lang="en-US" sz="2000" dirty="0" smtClean="0">
                <a:latin typeface="Arial" panose="020B0604020202020204" pitchFamily="34" charset="0"/>
                <a:cs typeface="Arial" panose="020B0604020202020204" pitchFamily="34" charset="0"/>
              </a:rPr>
              <a:t>TB</a:t>
            </a:r>
            <a:r>
              <a:rPr lang="vi-VN" sz="2000" dirty="0" smtClean="0">
                <a:latin typeface="Arial" panose="020B0604020202020204" pitchFamily="34" charset="0"/>
                <a:cs typeface="Arial" panose="020B0604020202020204" pitchFamily="34" charset="0"/>
              </a:rPr>
              <a:t> không/ít cải thiện sau 2h dùng</a:t>
            </a:r>
            <a:r>
              <a:rPr lang="en-US" sz="2000" dirty="0" smtClean="0">
                <a:latin typeface="Arial" panose="020B0604020202020204" pitchFamily="34" charset="0"/>
                <a:cs typeface="Arial" panose="020B0604020202020204" pitchFamily="34" charset="0"/>
              </a:rPr>
              <a:t> </a:t>
            </a:r>
            <a:r>
              <a:rPr lang="vi-VN" sz="2000" dirty="0" smtClean="0">
                <a:latin typeface="Arial" panose="020B0604020202020204" pitchFamily="34" charset="0"/>
                <a:cs typeface="Arial" panose="020B0604020202020204" pitchFamily="34" charset="0"/>
              </a:rPr>
              <a:t>Dexamethasone/Prednisolon uống hoặc Budesonide khí dung</a:t>
            </a:r>
          </a:p>
          <a:p>
            <a:pPr marL="0" indent="0">
              <a:buNone/>
            </a:pPr>
            <a:r>
              <a:rPr lang="vi-VN" sz="2000" dirty="0" smtClean="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C</a:t>
            </a:r>
            <a:r>
              <a:rPr lang="vi-VN" sz="2000" dirty="0" smtClean="0">
                <a:latin typeface="Arial" panose="020B0604020202020204" pitchFamily="34" charset="0"/>
                <a:cs typeface="Arial" panose="020B0604020202020204" pitchFamily="34" charset="0"/>
              </a:rPr>
              <a:t>roup mức độ nhập cấp cứu hoặc mức độ dọa SHH nhập hồi sức</a:t>
            </a:r>
          </a:p>
          <a:p>
            <a:pPr>
              <a:buFontTx/>
              <a:buChar char="-"/>
            </a:pPr>
            <a:r>
              <a:rPr lang="vi-VN" sz="2000" dirty="0" smtClean="0">
                <a:latin typeface="Arial" panose="020B0604020202020204" pitchFamily="34" charset="0"/>
                <a:cs typeface="Arial" panose="020B0604020202020204" pitchFamily="34" charset="0"/>
              </a:rPr>
              <a:t>liều: +0.5mg/lần( max: 5ml</a:t>
            </a:r>
            <a:r>
              <a:rPr lang="en-US" sz="2000" dirty="0" smtClean="0">
                <a:latin typeface="Arial" panose="020B0604020202020204" pitchFamily="34" charset="0"/>
                <a:cs typeface="Arial" panose="020B0604020202020204" pitchFamily="34" charset="0"/>
              </a:rPr>
              <a:t>) </a:t>
            </a:r>
            <a:r>
              <a:rPr lang="vi-VN" sz="2000" dirty="0" smtClean="0">
                <a:latin typeface="Arial" panose="020B0604020202020204" pitchFamily="34" charset="0"/>
                <a:cs typeface="Arial" panose="020B0604020202020204" pitchFamily="34" charset="0"/>
              </a:rPr>
              <a:t>-epinepdrine</a:t>
            </a:r>
          </a:p>
          <a:p>
            <a:pPr marL="0" indent="0">
              <a:buNone/>
            </a:pP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    </a:t>
            </a:r>
            <a:r>
              <a:rPr lang="vi-VN" sz="2000" dirty="0" smtClean="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R</a:t>
            </a:r>
            <a:r>
              <a:rPr lang="vi-VN" sz="2000" dirty="0" smtClean="0">
                <a:latin typeface="Arial" panose="020B0604020202020204" pitchFamily="34" charset="0"/>
                <a:cs typeface="Arial" panose="020B0604020202020204" pitchFamily="34" charset="0"/>
              </a:rPr>
              <a:t>acemic epinephrine: 0.05ml/kg/lần, max 0,05ml</a:t>
            </a:r>
          </a:p>
          <a:p>
            <a:pPr marL="0" indent="0">
              <a:buNone/>
            </a:pPr>
            <a:endParaRPr lang="vi-VN" sz="2000" dirty="0" smtClean="0">
              <a:latin typeface="Arial" panose="020B0604020202020204" pitchFamily="34" charset="0"/>
              <a:cs typeface="Arial" panose="020B0604020202020204" pitchFamily="34" charset="0"/>
            </a:endParaRPr>
          </a:p>
          <a:p>
            <a:pPr marL="0" indent="0">
              <a:buNone/>
            </a:pPr>
            <a:endParaRPr lang="vi-VN" sz="2000" dirty="0" smtClean="0">
              <a:latin typeface="Arial" panose="020B0604020202020204" pitchFamily="34" charset="0"/>
              <a:cs typeface="Arial" panose="020B0604020202020204" pitchFamily="34" charset="0"/>
            </a:endParaRPr>
          </a:p>
          <a:p>
            <a:pPr marL="0" indent="0">
              <a:buNone/>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8027267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8229600" cy="4495800"/>
          </a:xfrm>
        </p:spPr>
        <p:style>
          <a:lnRef idx="1">
            <a:schemeClr val="accent4"/>
          </a:lnRef>
          <a:fillRef idx="2">
            <a:schemeClr val="accent4"/>
          </a:fillRef>
          <a:effectRef idx="1">
            <a:schemeClr val="accent4"/>
          </a:effectRef>
          <a:fontRef idx="minor">
            <a:schemeClr val="dk1"/>
          </a:fontRef>
        </p:style>
        <p:txBody>
          <a:bodyPr>
            <a:noAutofit/>
          </a:bodyPr>
          <a:lstStyle/>
          <a:p>
            <a:pPr marL="0" indent="0">
              <a:buNone/>
            </a:pPr>
            <a:r>
              <a:rPr lang="vi-VN" sz="2400" b="1" i="1" dirty="0" smtClean="0">
                <a:solidFill>
                  <a:srgbClr val="FF0000"/>
                </a:solidFill>
                <a:latin typeface="Arial" panose="020B0604020202020204" pitchFamily="34" charset="0"/>
                <a:cs typeface="Arial" panose="020B0604020202020204" pitchFamily="34" charset="0"/>
              </a:rPr>
              <a:t>*</a:t>
            </a:r>
            <a:r>
              <a:rPr lang="en-US" sz="2400" b="1" i="1" dirty="0" smtClean="0">
                <a:solidFill>
                  <a:srgbClr val="FF0000"/>
                </a:solidFill>
                <a:latin typeface="Arial" panose="020B0604020202020204" pitchFamily="34" charset="0"/>
                <a:cs typeface="Arial" panose="020B0604020202020204" pitchFamily="34" charset="0"/>
              </a:rPr>
              <a:t>M</a:t>
            </a:r>
            <a:r>
              <a:rPr lang="vi-VN" sz="2400" b="1" i="1" dirty="0" smtClean="0">
                <a:solidFill>
                  <a:srgbClr val="FF0000"/>
                </a:solidFill>
                <a:latin typeface="Arial" panose="020B0604020202020204" pitchFamily="34" charset="0"/>
                <a:cs typeface="Arial" panose="020B0604020202020204" pitchFamily="34" charset="0"/>
              </a:rPr>
              <a:t>echanism of adrenalin to croup</a:t>
            </a:r>
            <a:endParaRPr lang="en-US" sz="2400" b="1" i="1" dirty="0" smtClean="0">
              <a:solidFill>
                <a:srgbClr val="FF0000"/>
              </a:solidFill>
              <a:latin typeface="Arial" panose="020B0604020202020204" pitchFamily="34" charset="0"/>
              <a:cs typeface="Arial" panose="020B0604020202020204" pitchFamily="34" charset="0"/>
            </a:endParaRPr>
          </a:p>
          <a:p>
            <a:pPr marL="0" indent="0">
              <a:buNone/>
            </a:pPr>
            <a:r>
              <a:rPr lang="vi-VN" sz="2400" b="1" i="1" dirty="0" smtClean="0">
                <a:solidFill>
                  <a:srgbClr val="FF0000"/>
                </a:solidFill>
                <a:latin typeface="Arial" panose="020B0604020202020204" pitchFamily="34" charset="0"/>
                <a:cs typeface="Arial" panose="020B0604020202020204" pitchFamily="34" charset="0"/>
              </a:rPr>
              <a:t> </a:t>
            </a:r>
            <a:r>
              <a:rPr lang="en-US" sz="2400" b="1" i="1" dirty="0" smtClean="0">
                <a:solidFill>
                  <a:schemeClr val="tx1"/>
                </a:solidFill>
                <a:latin typeface="Arial" panose="020B0604020202020204" pitchFamily="34" charset="0"/>
                <a:cs typeface="Arial" panose="020B0604020202020204" pitchFamily="34" charset="0"/>
              </a:rPr>
              <a:t>- </a:t>
            </a:r>
            <a:r>
              <a:rPr lang="en-US" sz="2400" dirty="0" smtClean="0">
                <a:latin typeface="Arial" panose="020B0604020202020204" pitchFamily="34" charset="0"/>
                <a:cs typeface="Arial" panose="020B0604020202020204" pitchFamily="34" charset="0"/>
              </a:rPr>
              <a:t>Often </a:t>
            </a:r>
            <a:r>
              <a:rPr lang="vi-VN" sz="2400" dirty="0">
                <a:latin typeface="Arial" panose="020B0604020202020204" pitchFamily="34" charset="0"/>
                <a:cs typeface="Arial" panose="020B0604020202020204" pitchFamily="34" charset="0"/>
              </a:rPr>
              <a:t>results in rapid improvement of upper airway obstruction. Adrenalin constricts precapillary arterioles in the upper airway mucosa and decreases capillary hydrostatic pressure, leading to fluid resorption and improvemnet in airway edema. Even a small increase in airway diameter can lead to significant clinical </a:t>
            </a:r>
            <a:r>
              <a:rPr lang="vi-VN" sz="2400" dirty="0" smtClean="0">
                <a:latin typeface="Arial" panose="020B0604020202020204" pitchFamily="34" charset="0"/>
                <a:cs typeface="Arial" panose="020B0604020202020204" pitchFamily="34" charset="0"/>
              </a:rPr>
              <a:t>improvement</a:t>
            </a:r>
            <a:r>
              <a:rPr lang="en-US" sz="2400" dirty="0" smtClean="0">
                <a:latin typeface="Arial" panose="020B0604020202020204" pitchFamily="34" charset="0"/>
                <a:cs typeface="Arial" panose="020B0604020202020204" pitchFamily="34" charset="0"/>
              </a:rPr>
              <a:t> </a:t>
            </a:r>
            <a:r>
              <a:rPr lang="en-US" sz="2400" i="1" dirty="0" smtClean="0">
                <a:latin typeface="Arial" panose="020B0604020202020204" pitchFamily="34" charset="0"/>
                <a:cs typeface="Arial" panose="020B0604020202020204" pitchFamily="34" charset="0"/>
              </a:rPr>
              <a:t>(U</a:t>
            </a:r>
            <a:r>
              <a:rPr lang="vi-VN" sz="2400" i="1" dirty="0" smtClean="0">
                <a:latin typeface="Arial" panose="020B0604020202020204" pitchFamily="34" charset="0"/>
                <a:cs typeface="Arial" panose="020B0604020202020204" pitchFamily="34" charset="0"/>
              </a:rPr>
              <a:t>ptodate)</a:t>
            </a:r>
          </a:p>
          <a:p>
            <a:pPr marL="0" indent="0">
              <a:buNone/>
            </a:pPr>
            <a:r>
              <a:rPr lang="vi-VN" sz="2400" dirty="0" smtClean="0">
                <a:solidFill>
                  <a:srgbClr val="FF0000"/>
                </a:solidFill>
                <a:latin typeface="Arial" panose="020B0604020202020204" pitchFamily="34" charset="0"/>
                <a:cs typeface="Arial" panose="020B0604020202020204" pitchFamily="34" charset="0"/>
              </a:rPr>
              <a:t>* </a:t>
            </a:r>
            <a:r>
              <a:rPr lang="vi-VN" sz="2400" dirty="0" smtClean="0">
                <a:latin typeface="Arial" panose="020B0604020202020204" pitchFamily="34" charset="0"/>
                <a:cs typeface="Arial" panose="020B0604020202020204" pitchFamily="34" charset="0"/>
              </a:rPr>
              <a:t>Nebulized dexamethasone appears to be less effective than oral dexamethasone in reducing the need for additional treatments and preventing return visit</a:t>
            </a:r>
            <a:r>
              <a:rPr lang="en-US" sz="2400" dirty="0" smtClean="0">
                <a:latin typeface="Arial" panose="020B0604020202020204" pitchFamily="34" charset="0"/>
                <a:cs typeface="Arial" panose="020B0604020202020204" pitchFamily="34" charset="0"/>
              </a:rPr>
              <a:t> </a:t>
            </a:r>
            <a:r>
              <a:rPr lang="en-US" sz="2400" i="1" dirty="0" smtClean="0">
                <a:latin typeface="Arial" panose="020B0604020202020204" pitchFamily="34" charset="0"/>
                <a:cs typeface="Arial" panose="020B0604020202020204" pitchFamily="34" charset="0"/>
              </a:rPr>
              <a:t>(</a:t>
            </a:r>
            <a:r>
              <a:rPr lang="en-US" sz="2400" i="1" dirty="0">
                <a:latin typeface="Arial" panose="020B0604020202020204" pitchFamily="34" charset="0"/>
                <a:cs typeface="Arial" panose="020B0604020202020204" pitchFamily="34" charset="0"/>
              </a:rPr>
              <a:t>U</a:t>
            </a:r>
            <a:r>
              <a:rPr lang="vi-VN" sz="2400" i="1" dirty="0" smtClean="0">
                <a:latin typeface="Arial" panose="020B0604020202020204" pitchFamily="34" charset="0"/>
                <a:cs typeface="Arial" panose="020B0604020202020204" pitchFamily="34" charset="0"/>
              </a:rPr>
              <a:t>ptodate)</a:t>
            </a:r>
            <a:endParaRPr lang="en-US" sz="24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9363539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162800" cy="685800"/>
          </a:xfrm>
          <a:solidFill>
            <a:schemeClr val="accent2">
              <a:lumMod val="20000"/>
              <a:lumOff val="80000"/>
            </a:schemeClr>
          </a:solidFill>
        </p:spPr>
        <p:style>
          <a:lnRef idx="3">
            <a:schemeClr val="lt1"/>
          </a:lnRef>
          <a:fillRef idx="1">
            <a:schemeClr val="accent5"/>
          </a:fillRef>
          <a:effectRef idx="1">
            <a:schemeClr val="accent5"/>
          </a:effectRef>
          <a:fontRef idx="minor">
            <a:schemeClr val="lt1"/>
          </a:fontRef>
        </p:style>
        <p:txBody>
          <a:bodyPr>
            <a:normAutofit/>
          </a:bodyPr>
          <a:lstStyle/>
          <a:p>
            <a:r>
              <a:rPr lang="vi-VN" sz="2800" b="1" dirty="0" smtClean="0">
                <a:solidFill>
                  <a:schemeClr val="tx1"/>
                </a:solidFill>
              </a:rPr>
              <a:t>Liệu pháp khí dung trong VTPQ</a:t>
            </a:r>
            <a:endParaRPr lang="en-US" sz="2800" b="1" dirty="0">
              <a:solidFill>
                <a:schemeClr val="tx1"/>
              </a:solidFill>
            </a:endParaRPr>
          </a:p>
        </p:txBody>
      </p:sp>
      <p:sp>
        <p:nvSpPr>
          <p:cNvPr id="3" name="Content Placeholder 2"/>
          <p:cNvSpPr>
            <a:spLocks noGrp="1"/>
          </p:cNvSpPr>
          <p:nvPr>
            <p:ph idx="1"/>
          </p:nvPr>
        </p:nvSpPr>
        <p:spPr>
          <a:xfrm>
            <a:off x="0" y="1143000"/>
            <a:ext cx="8915400" cy="5257800"/>
          </a:xfrm>
        </p:spPr>
        <p:style>
          <a:lnRef idx="1">
            <a:schemeClr val="accent4"/>
          </a:lnRef>
          <a:fillRef idx="2">
            <a:schemeClr val="accent4"/>
          </a:fillRef>
          <a:effectRef idx="1">
            <a:schemeClr val="accent4"/>
          </a:effectRef>
          <a:fontRef idx="minor">
            <a:schemeClr val="dk1"/>
          </a:fontRef>
        </p:style>
        <p:txBody>
          <a:bodyPr>
            <a:noAutofit/>
          </a:bodyPr>
          <a:lstStyle/>
          <a:p>
            <a:pPr marL="0" indent="0">
              <a:buNone/>
            </a:pPr>
            <a:r>
              <a:rPr lang="vi-VN" sz="2400" b="1" dirty="0" smtClean="0">
                <a:solidFill>
                  <a:srgbClr val="FF0000"/>
                </a:solidFill>
                <a:latin typeface="Arial" panose="020B0604020202020204" pitchFamily="34" charset="0"/>
                <a:cs typeface="Arial" panose="020B0604020202020204" pitchFamily="34" charset="0"/>
              </a:rPr>
              <a:t>1. SABA</a:t>
            </a:r>
          </a:p>
          <a:p>
            <a:pPr>
              <a:buFontTx/>
              <a:buChar char="-"/>
            </a:pPr>
            <a:r>
              <a:rPr lang="vi-VN" sz="2400" i="1" u="sng" dirty="0" smtClean="0">
                <a:latin typeface="Arial" panose="020B0604020202020204" pitchFamily="34" charset="0"/>
                <a:cs typeface="Arial" panose="020B0604020202020204" pitchFamily="34" charset="0"/>
              </a:rPr>
              <a:t>Không sử dụng thường quy </a:t>
            </a:r>
            <a:r>
              <a:rPr lang="vi-VN" sz="2400" dirty="0" smtClean="0">
                <a:latin typeface="Arial" panose="020B0604020202020204" pitchFamily="34" charset="0"/>
                <a:cs typeface="Arial" panose="020B0604020202020204" pitchFamily="34" charset="0"/>
              </a:rPr>
              <a:t>đối với VTPQ lần đầu ở trẻ &lt;12 tháng tuổi</a:t>
            </a:r>
            <a:r>
              <a:rPr lang="vi-VN" sz="2400" b="1" dirty="0" smtClean="0">
                <a:latin typeface="Arial" panose="020B0604020202020204" pitchFamily="34" charset="0"/>
                <a:cs typeface="Arial" panose="020B0604020202020204" pitchFamily="34" charset="0"/>
              </a:rPr>
              <a:t>( KC: A, CC: mạnh)</a:t>
            </a:r>
          </a:p>
          <a:p>
            <a:pPr>
              <a:buFontTx/>
              <a:buChar char="-"/>
            </a:pPr>
            <a:r>
              <a:rPr lang="vi-VN" sz="2400" dirty="0">
                <a:latin typeface="Arial" panose="020B0604020202020204" pitchFamily="34" charset="0"/>
                <a:cs typeface="Arial" panose="020B0604020202020204" pitchFamily="34" charset="0"/>
              </a:rPr>
              <a:t>Trẻ có khò khè+khó thở=&gt; xem xét SABA </a:t>
            </a:r>
            <a:r>
              <a:rPr lang="vi-VN" sz="2400" b="1" dirty="0">
                <a:latin typeface="Arial" panose="020B0604020202020204" pitchFamily="34" charset="0"/>
                <a:cs typeface="Arial" panose="020B0604020202020204" pitchFamily="34" charset="0"/>
              </a:rPr>
              <a:t>(KC: B, CC: yếu)</a:t>
            </a:r>
            <a:r>
              <a:rPr lang="vi-VN" sz="2400" dirty="0">
                <a:latin typeface="Arial" panose="020B0604020202020204" pitchFamily="34" charset="0"/>
                <a:cs typeface="Arial" panose="020B0604020202020204" pitchFamily="34" charset="0"/>
              </a:rPr>
              <a:t>,</a:t>
            </a:r>
            <a:r>
              <a:rPr lang="vi-VN" sz="2400" b="1" dirty="0">
                <a:latin typeface="Arial" panose="020B0604020202020204" pitchFamily="34" charset="0"/>
                <a:cs typeface="Arial" panose="020B0604020202020204" pitchFamily="34" charset="0"/>
              </a:rPr>
              <a:t> </a:t>
            </a:r>
            <a:r>
              <a:rPr lang="vi-VN" sz="2400" dirty="0">
                <a:latin typeface="Arial" panose="020B0604020202020204" pitchFamily="34" charset="0"/>
                <a:cs typeface="Arial" panose="020B0604020202020204" pitchFamily="34" charset="0"/>
              </a:rPr>
              <a:t>nhất là khi: </a:t>
            </a:r>
            <a:endParaRPr lang="vi-VN" sz="2400" dirty="0" smtClean="0">
              <a:latin typeface="Arial" panose="020B0604020202020204" pitchFamily="34" charset="0"/>
              <a:cs typeface="Arial" panose="020B0604020202020204" pitchFamily="34" charset="0"/>
            </a:endParaRPr>
          </a:p>
          <a:p>
            <a:pPr marL="0" indent="0">
              <a:buNone/>
            </a:pPr>
            <a:r>
              <a:rPr lang="vi-VN" sz="2400" dirty="0" smtClean="0">
                <a:latin typeface="Arial" panose="020B0604020202020204" pitchFamily="34" charset="0"/>
                <a:cs typeface="Arial" panose="020B0604020202020204" pitchFamily="34" charset="0"/>
              </a:rPr>
              <a:t>+(</a:t>
            </a:r>
            <a:r>
              <a:rPr lang="vi-VN" sz="2400" dirty="0">
                <a:latin typeface="Arial" panose="020B0604020202020204" pitchFamily="34" charset="0"/>
                <a:cs typeface="Arial" panose="020B0604020202020204" pitchFamily="34" charset="0"/>
              </a:rPr>
              <a:t>1) Trẻ &gt; 6 tháng </a:t>
            </a:r>
            <a:r>
              <a:rPr lang="vi-VN" sz="2400" dirty="0" smtClean="0">
                <a:latin typeface="Arial" panose="020B0604020202020204" pitchFamily="34" charset="0"/>
                <a:cs typeface="Arial" panose="020B0604020202020204" pitchFamily="34" charset="0"/>
              </a:rPr>
              <a:t>tuổi </a:t>
            </a:r>
          </a:p>
          <a:p>
            <a:pPr marL="0" indent="0">
              <a:buNone/>
            </a:pPr>
            <a:r>
              <a:rPr lang="vi-VN" sz="2400" dirty="0">
                <a:latin typeface="Arial" panose="020B0604020202020204" pitchFamily="34" charset="0"/>
                <a:cs typeface="Arial" panose="020B0604020202020204" pitchFamily="34" charset="0"/>
              </a:rPr>
              <a:t>+</a:t>
            </a:r>
            <a:r>
              <a:rPr lang="vi-VN" sz="2400" dirty="0" smtClean="0">
                <a:latin typeface="Arial" panose="020B0604020202020204" pitchFamily="34" charset="0"/>
                <a:cs typeface="Arial" panose="020B0604020202020204" pitchFamily="34" charset="0"/>
              </a:rPr>
              <a:t>(</a:t>
            </a:r>
            <a:r>
              <a:rPr lang="vi-VN" sz="2400" dirty="0">
                <a:latin typeface="Arial" panose="020B0604020202020204" pitchFamily="34" charset="0"/>
                <a:cs typeface="Arial" panose="020B0604020202020204" pitchFamily="34" charset="0"/>
              </a:rPr>
              <a:t>2) Khò khè tái </a:t>
            </a:r>
            <a:r>
              <a:rPr lang="vi-VN" sz="2400" dirty="0" smtClean="0">
                <a:latin typeface="Arial" panose="020B0604020202020204" pitchFamily="34" charset="0"/>
                <a:cs typeface="Arial" panose="020B0604020202020204" pitchFamily="34" charset="0"/>
              </a:rPr>
              <a:t>phát </a:t>
            </a:r>
            <a:br>
              <a:rPr lang="vi-VN" sz="2400" dirty="0" smtClean="0">
                <a:latin typeface="Arial" panose="020B0604020202020204" pitchFamily="34" charset="0"/>
                <a:cs typeface="Arial" panose="020B0604020202020204" pitchFamily="34" charset="0"/>
              </a:rPr>
            </a:br>
            <a:r>
              <a:rPr lang="vi-VN" sz="2400" dirty="0" smtClean="0">
                <a:latin typeface="Arial" panose="020B0604020202020204" pitchFamily="34" charset="0"/>
                <a:cs typeface="Arial" panose="020B0604020202020204" pitchFamily="34" charset="0"/>
              </a:rPr>
              <a:t>+(</a:t>
            </a:r>
            <a:r>
              <a:rPr lang="vi-VN" sz="2400" dirty="0">
                <a:latin typeface="Arial" panose="020B0604020202020204" pitchFamily="34" charset="0"/>
                <a:cs typeface="Arial" panose="020B0604020202020204" pitchFamily="34" charset="0"/>
              </a:rPr>
              <a:t>3) Cơ địa dị ứng bản thân/gia đình </a:t>
            </a:r>
            <a:endParaRPr lang="vi-VN" sz="2400" dirty="0" smtClean="0">
              <a:latin typeface="Arial" panose="020B0604020202020204" pitchFamily="34" charset="0"/>
              <a:cs typeface="Arial" panose="020B0604020202020204" pitchFamily="34" charset="0"/>
            </a:endParaRPr>
          </a:p>
          <a:p>
            <a:pPr>
              <a:buFontTx/>
              <a:buChar char="-"/>
            </a:pPr>
            <a:r>
              <a:rPr lang="vi-VN" sz="2400" dirty="0" smtClean="0">
                <a:latin typeface="Arial" panose="020B0604020202020204" pitchFamily="34" charset="0"/>
                <a:cs typeface="Arial" panose="020B0604020202020204" pitchFamily="34" charset="0"/>
              </a:rPr>
              <a:t>Liều</a:t>
            </a:r>
            <a:r>
              <a:rPr lang="en-US" sz="2400" dirty="0" smtClean="0">
                <a:latin typeface="Arial" panose="020B0604020202020204" pitchFamily="34" charset="0"/>
                <a:cs typeface="Arial" panose="020B0604020202020204" pitchFamily="34" charset="0"/>
              </a:rPr>
              <a:t> Salbutamol KD: </a:t>
            </a:r>
            <a:r>
              <a:rPr lang="vi-VN" sz="2400" dirty="0" smtClean="0">
                <a:latin typeface="Arial" panose="020B0604020202020204" pitchFamily="34" charset="0"/>
                <a:cs typeface="Arial" panose="020B0604020202020204" pitchFamily="34" charset="0"/>
              </a:rPr>
              <a:t> </a:t>
            </a:r>
            <a:r>
              <a:rPr lang="vi-VN" sz="2400" dirty="0" smtClean="0">
                <a:solidFill>
                  <a:srgbClr val="FF0000"/>
                </a:solidFill>
                <a:latin typeface="Arial" panose="020B0604020202020204" pitchFamily="34" charset="0"/>
                <a:cs typeface="Arial" panose="020B0604020202020204" pitchFamily="34" charset="0"/>
              </a:rPr>
              <a:t>0.15mg/kg/lần</a:t>
            </a:r>
            <a:r>
              <a:rPr lang="vi-VN" sz="2400" dirty="0" smtClean="0">
                <a:latin typeface="Arial" panose="020B0604020202020204" pitchFamily="34" charset="0"/>
                <a:cs typeface="Arial" panose="020B0604020202020204" pitchFamily="34" charset="0"/>
              </a:rPr>
              <a:t> pha với 2.5-3ml NaCl 0.9%</a:t>
            </a:r>
          </a:p>
          <a:p>
            <a:pPr>
              <a:buFontTx/>
              <a:buChar char="-"/>
            </a:pPr>
            <a:r>
              <a:rPr lang="vi-VN" sz="2400" dirty="0">
                <a:latin typeface="Arial" panose="020B0604020202020204" pitchFamily="34" charset="0"/>
                <a:cs typeface="Arial" panose="020B0604020202020204" pitchFamily="34" charset="0"/>
              </a:rPr>
              <a:t> Tím, RLLNnặng, TST&gt;70 lần/phút, SpO2 &lt; 92%:phun KD với nguồn oxy 6 l/ph. </a:t>
            </a:r>
            <a:r>
              <a:rPr lang="vi-VN" sz="2400" dirty="0" smtClean="0">
                <a:latin typeface="Arial" panose="020B0604020202020204" pitchFamily="34" charset="0"/>
                <a:cs typeface="Arial" panose="020B0604020202020204" pitchFamily="34" charset="0"/>
              </a:rPr>
              <a:t> </a:t>
            </a:r>
            <a:endParaRPr lang="vi-VN" sz="2400" dirty="0">
              <a:latin typeface="Arial" panose="020B0604020202020204" pitchFamily="34" charset="0"/>
              <a:cs typeface="Arial" panose="020B0604020202020204" pitchFamily="34" charset="0"/>
            </a:endParaRPr>
          </a:p>
          <a:p>
            <a:pPr>
              <a:buFontTx/>
              <a:buChar char="-"/>
            </a:pPr>
            <a:r>
              <a:rPr lang="vi-VN" sz="2400" dirty="0">
                <a:latin typeface="Arial" panose="020B0604020202020204" pitchFamily="34" charset="0"/>
                <a:cs typeface="Arial" panose="020B0604020202020204" pitchFamily="34" charset="0"/>
              </a:rPr>
              <a:t>Có đáp ứng sau 1 giờ </a:t>
            </a:r>
            <a:r>
              <a:rPr lang="vi-VN" sz="2400" dirty="0" smtClean="0">
                <a:latin typeface="Arial" panose="020B0604020202020204" pitchFamily="34" charset="0"/>
                <a:cs typeface="Arial" panose="020B0604020202020204" pitchFamily="34" charset="0"/>
              </a:rPr>
              <a:t>=&gt; </a:t>
            </a:r>
            <a:r>
              <a:rPr lang="vi-VN" sz="2400" dirty="0">
                <a:latin typeface="Arial" panose="020B0604020202020204" pitchFamily="34" charset="0"/>
                <a:cs typeface="Arial" panose="020B0604020202020204" pitchFamily="34" charset="0"/>
              </a:rPr>
              <a:t>dùng </a:t>
            </a:r>
            <a:r>
              <a:rPr lang="vi-VN" sz="2400" dirty="0" smtClean="0">
                <a:latin typeface="Arial" panose="020B0604020202020204" pitchFamily="34" charset="0"/>
                <a:cs typeface="Arial" panose="020B0604020202020204" pitchFamily="34" charset="0"/>
              </a:rPr>
              <a:t>tiếp.</a:t>
            </a:r>
          </a:p>
          <a:p>
            <a:pPr marL="0" indent="0">
              <a:buNone/>
            </a:pPr>
            <a:endParaRPr lang="vi-VN" sz="2400" dirty="0" smtClean="0">
              <a:latin typeface="Arial" panose="020B0604020202020204" pitchFamily="34" charset="0"/>
              <a:cs typeface="Arial" panose="020B0604020202020204" pitchFamily="34" charset="0"/>
            </a:endParaRPr>
          </a:p>
          <a:p>
            <a:pPr marL="0" indent="0">
              <a:buNone/>
            </a:pPr>
            <a:endParaRPr lang="vi-VN" sz="2400" dirty="0">
              <a:latin typeface="Arial" panose="020B0604020202020204" pitchFamily="34" charset="0"/>
              <a:cs typeface="Arial" panose="020B0604020202020204" pitchFamily="34" charset="0"/>
            </a:endParaRPr>
          </a:p>
          <a:p>
            <a:pPr marL="0" indent="0">
              <a:buNone/>
            </a:pPr>
            <a:endParaRPr lang="vi-VN" sz="24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253368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1447800"/>
            <a:ext cx="8153400" cy="4524315"/>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vi-VN" sz="2400" b="1" dirty="0">
                <a:solidFill>
                  <a:srgbClr val="FF0000"/>
                </a:solidFill>
                <a:latin typeface="Arial" panose="020B0604020202020204" pitchFamily="34" charset="0"/>
                <a:cs typeface="Arial" panose="020B0604020202020204" pitchFamily="34" charset="0"/>
              </a:rPr>
              <a:t>2. Khí dung Adrenaline: </a:t>
            </a:r>
            <a:endParaRPr lang="en-US" sz="2400" b="1" dirty="0" smtClean="0">
              <a:solidFill>
                <a:srgbClr val="FF0000"/>
              </a:solidFill>
              <a:latin typeface="Arial" panose="020B0604020202020204" pitchFamily="34" charset="0"/>
              <a:cs typeface="Arial" panose="020B0604020202020204" pitchFamily="34" charset="0"/>
            </a:endParaRPr>
          </a:p>
          <a:p>
            <a:endParaRPr lang="vi-VN" sz="2400" b="1" dirty="0">
              <a:solidFill>
                <a:srgbClr val="FF0000"/>
              </a:solidFill>
              <a:latin typeface="Arial" panose="020B0604020202020204" pitchFamily="34" charset="0"/>
              <a:cs typeface="Arial" panose="020B0604020202020204" pitchFamily="34" charset="0"/>
            </a:endParaRPr>
          </a:p>
          <a:p>
            <a:pPr>
              <a:buFontTx/>
              <a:buChar char="-"/>
            </a:pPr>
            <a:r>
              <a:rPr lang="vi-VN" sz="2400" i="1" u="sng" dirty="0">
                <a:latin typeface="Arial" panose="020B0604020202020204" pitchFamily="34" charset="0"/>
                <a:cs typeface="Arial" panose="020B0604020202020204" pitchFamily="34" charset="0"/>
              </a:rPr>
              <a:t>Không khuyến cáo thường quy </a:t>
            </a:r>
            <a:r>
              <a:rPr lang="vi-VN" sz="2400" b="1" dirty="0">
                <a:latin typeface="Arial" panose="020B0604020202020204" pitchFamily="34" charset="0"/>
                <a:cs typeface="Arial" panose="020B0604020202020204" pitchFamily="34" charset="0"/>
              </a:rPr>
              <a:t>(KC: A, CC: mạnh) </a:t>
            </a:r>
            <a:endParaRPr lang="en-US" sz="2400" b="1" dirty="0" smtClean="0">
              <a:latin typeface="Arial" panose="020B0604020202020204" pitchFamily="34" charset="0"/>
              <a:cs typeface="Arial" panose="020B0604020202020204" pitchFamily="34" charset="0"/>
            </a:endParaRPr>
          </a:p>
          <a:p>
            <a:endParaRPr lang="vi-VN" sz="2400" b="1" dirty="0">
              <a:latin typeface="Arial" panose="020B0604020202020204" pitchFamily="34" charset="0"/>
              <a:cs typeface="Arial" panose="020B0604020202020204" pitchFamily="34" charset="0"/>
            </a:endParaRPr>
          </a:p>
          <a:p>
            <a:pPr>
              <a:buFontTx/>
              <a:buChar char="-"/>
            </a:pPr>
            <a:r>
              <a:rPr lang="vi-VN" sz="2400" dirty="0">
                <a:latin typeface="Arial" panose="020B0604020202020204" pitchFamily="34" charset="0"/>
                <a:cs typeface="Arial" panose="020B0604020202020204" pitchFamily="34" charset="0"/>
              </a:rPr>
              <a:t>Trẻ VTPQ nhập viện vì SHHTB-nặng, không đáp ứng với KD </a:t>
            </a:r>
            <a:r>
              <a:rPr lang="vi-VN" sz="2400" dirty="0" smtClean="0">
                <a:latin typeface="Arial" panose="020B0604020202020204" pitchFamily="34" charset="0"/>
                <a:cs typeface="Arial" panose="020B0604020202020204" pitchFamily="34" charset="0"/>
              </a:rPr>
              <a:t>SABA</a:t>
            </a:r>
            <a:r>
              <a:rPr lang="en-US" sz="2400" dirty="0" smtClean="0">
                <a:latin typeface="Arial" panose="020B0604020202020204" pitchFamily="34" charset="0"/>
                <a:cs typeface="Arial" panose="020B0604020202020204" pitchFamily="34" charset="0"/>
              </a:rPr>
              <a:t> </a:t>
            </a:r>
            <a:r>
              <a:rPr lang="vi-VN" sz="2400" dirty="0" smtClean="0">
                <a:latin typeface="Arial" panose="020B0604020202020204" pitchFamily="34" charset="0"/>
                <a:cs typeface="Arial" panose="020B0604020202020204" pitchFamily="34" charset="0"/>
              </a:rPr>
              <a:t>=&gt;</a:t>
            </a:r>
            <a:r>
              <a:rPr lang="en-US" sz="2400" dirty="0" smtClean="0">
                <a:latin typeface="Arial" panose="020B0604020202020204" pitchFamily="34" charset="0"/>
                <a:cs typeface="Arial" panose="020B0604020202020204" pitchFamily="34" charset="0"/>
              </a:rPr>
              <a:t> </a:t>
            </a:r>
            <a:r>
              <a:rPr lang="vi-VN" sz="2400" dirty="0" smtClean="0">
                <a:latin typeface="Arial" panose="020B0604020202020204" pitchFamily="34" charset="0"/>
                <a:cs typeface="Arial" panose="020B0604020202020204" pitchFamily="34" charset="0"/>
              </a:rPr>
              <a:t>cân </a:t>
            </a:r>
            <a:r>
              <a:rPr lang="vi-VN" sz="2400" dirty="0">
                <a:latin typeface="Arial" panose="020B0604020202020204" pitchFamily="34" charset="0"/>
                <a:cs typeface="Arial" panose="020B0604020202020204" pitchFamily="34" charset="0"/>
              </a:rPr>
              <a:t>nhắc 1 liều Adrenaline KD </a:t>
            </a:r>
            <a:r>
              <a:rPr lang="vi-VN" sz="2400" b="1" dirty="0">
                <a:latin typeface="Arial" panose="020B0604020202020204" pitchFamily="34" charset="0"/>
                <a:cs typeface="Arial" panose="020B0604020202020204" pitchFamily="34" charset="0"/>
              </a:rPr>
              <a:t>(KC: C, CC: TB</a:t>
            </a:r>
            <a:r>
              <a:rPr lang="vi-VN" sz="2400" b="1" dirty="0" smtClean="0">
                <a:latin typeface="Arial" panose="020B0604020202020204" pitchFamily="34" charset="0"/>
                <a:cs typeface="Arial" panose="020B0604020202020204" pitchFamily="34" charset="0"/>
              </a:rPr>
              <a:t>)</a:t>
            </a:r>
            <a:endParaRPr lang="vi-VN" sz="2400" b="1" dirty="0">
              <a:latin typeface="Arial" panose="020B0604020202020204" pitchFamily="34" charset="0"/>
              <a:cs typeface="Arial" panose="020B0604020202020204" pitchFamily="34" charset="0"/>
            </a:endParaRPr>
          </a:p>
          <a:p>
            <a:r>
              <a:rPr lang="vi-VN" sz="2400" dirty="0">
                <a:latin typeface="Arial" panose="020B0604020202020204" pitchFamily="34" charset="0"/>
                <a:cs typeface="Arial" panose="020B0604020202020204" pitchFamily="34" charset="0"/>
              </a:rPr>
              <a:t> + CĐ từng liều khi cần, không </a:t>
            </a:r>
            <a:r>
              <a:rPr lang="vi-VN" sz="2400" dirty="0" smtClean="0">
                <a:latin typeface="Arial" panose="020B0604020202020204" pitchFamily="34" charset="0"/>
                <a:cs typeface="Arial" panose="020B0604020202020204" pitchFamily="34" charset="0"/>
              </a:rPr>
              <a:t>CĐ</a:t>
            </a:r>
            <a:r>
              <a:rPr lang="en-US" sz="2400" dirty="0" smtClean="0">
                <a:latin typeface="Arial" panose="020B0604020202020204" pitchFamily="34" charset="0"/>
                <a:cs typeface="Arial" panose="020B0604020202020204" pitchFamily="34" charset="0"/>
              </a:rPr>
              <a:t> </a:t>
            </a:r>
            <a:r>
              <a:rPr lang="vi-VN" sz="2400" dirty="0" smtClean="0">
                <a:latin typeface="Arial" panose="020B0604020202020204" pitchFamily="34" charset="0"/>
                <a:cs typeface="Arial" panose="020B0604020202020204" pitchFamily="34" charset="0"/>
              </a:rPr>
              <a:t>thường </a:t>
            </a:r>
            <a:r>
              <a:rPr lang="vi-VN" sz="2400" dirty="0">
                <a:latin typeface="Arial" panose="020B0604020202020204" pitchFamily="34" charset="0"/>
                <a:cs typeface="Arial" panose="020B0604020202020204" pitchFamily="34" charset="0"/>
              </a:rPr>
              <a:t>xuyên.</a:t>
            </a:r>
          </a:p>
          <a:p>
            <a:r>
              <a:rPr lang="vi-VN" sz="2400" dirty="0">
                <a:latin typeface="Arial" panose="020B0604020202020204" pitchFamily="34" charset="0"/>
                <a:cs typeface="Arial" panose="020B0604020202020204" pitchFamily="34" charset="0"/>
              </a:rPr>
              <a:t> + Đánh giá sau 15-30 phút: không đáp ứng =&gt; không dùng tiếp</a:t>
            </a:r>
          </a:p>
          <a:p>
            <a:r>
              <a:rPr lang="vi-VN" sz="2400" dirty="0">
                <a:latin typeface="Arial" panose="020B0604020202020204" pitchFamily="34" charset="0"/>
                <a:cs typeface="Arial" panose="020B0604020202020204" pitchFamily="34" charset="0"/>
              </a:rPr>
              <a:t> + Liều lượng: </a:t>
            </a:r>
            <a:r>
              <a:rPr lang="vi-VN" sz="2400" dirty="0">
                <a:solidFill>
                  <a:srgbClr val="FF0000"/>
                </a:solidFill>
                <a:latin typeface="Arial" panose="020B0604020202020204" pitchFamily="34" charset="0"/>
                <a:cs typeface="Arial" panose="020B0604020202020204" pitchFamily="34" charset="0"/>
              </a:rPr>
              <a:t>Adrenalin 0,1%: 0,4-0,5 ml/kg/lần (tối đa: 4ml/lần)</a:t>
            </a:r>
          </a:p>
        </p:txBody>
      </p:sp>
      <p:sp>
        <p:nvSpPr>
          <p:cNvPr id="5" name="Title 1"/>
          <p:cNvSpPr>
            <a:spLocks noGrp="1"/>
          </p:cNvSpPr>
          <p:nvPr>
            <p:ph type="title"/>
          </p:nvPr>
        </p:nvSpPr>
        <p:spPr>
          <a:xfrm>
            <a:off x="914400" y="152400"/>
            <a:ext cx="7162800" cy="685800"/>
          </a:xfrm>
          <a:solidFill>
            <a:schemeClr val="accent2">
              <a:lumMod val="20000"/>
              <a:lumOff val="80000"/>
            </a:schemeClr>
          </a:solidFill>
        </p:spPr>
        <p:style>
          <a:lnRef idx="3">
            <a:schemeClr val="lt1"/>
          </a:lnRef>
          <a:fillRef idx="1">
            <a:schemeClr val="accent5"/>
          </a:fillRef>
          <a:effectRef idx="1">
            <a:schemeClr val="accent5"/>
          </a:effectRef>
          <a:fontRef idx="minor">
            <a:schemeClr val="lt1"/>
          </a:fontRef>
        </p:style>
        <p:txBody>
          <a:bodyPr>
            <a:normAutofit/>
          </a:bodyPr>
          <a:lstStyle/>
          <a:p>
            <a:r>
              <a:rPr lang="vi-VN" sz="2800" b="1" dirty="0" smtClean="0">
                <a:solidFill>
                  <a:schemeClr val="tx1"/>
                </a:solidFill>
              </a:rPr>
              <a:t>Liệu pháp khí dung trong VTPQ</a:t>
            </a:r>
            <a:endParaRPr lang="en-US" sz="2800" b="1" dirty="0">
              <a:solidFill>
                <a:schemeClr val="tx1"/>
              </a:solidFill>
            </a:endParaRPr>
          </a:p>
        </p:txBody>
      </p:sp>
    </p:spTree>
    <p:extLst>
      <p:ext uri="{BB962C8B-B14F-4D97-AF65-F5344CB8AC3E}">
        <p14:creationId xmlns:p14="http://schemas.microsoft.com/office/powerpoint/2010/main" val="19566108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752600"/>
            <a:ext cx="8229600" cy="4114800"/>
          </a:xfrm>
        </p:spPr>
        <p:style>
          <a:lnRef idx="1">
            <a:schemeClr val="accent4"/>
          </a:lnRef>
          <a:fillRef idx="2">
            <a:schemeClr val="accent4"/>
          </a:fillRef>
          <a:effectRef idx="1">
            <a:schemeClr val="accent4"/>
          </a:effectRef>
          <a:fontRef idx="minor">
            <a:schemeClr val="dk1"/>
          </a:fontRef>
        </p:style>
        <p:txBody>
          <a:bodyPr>
            <a:normAutofit/>
          </a:bodyPr>
          <a:lstStyle/>
          <a:p>
            <a:pPr marL="0" indent="0">
              <a:buNone/>
            </a:pPr>
            <a:r>
              <a:rPr lang="vi-VN" sz="2400" b="1" dirty="0">
                <a:solidFill>
                  <a:srgbClr val="FF0000"/>
                </a:solidFill>
                <a:latin typeface="Arial" panose="020B0604020202020204" pitchFamily="34" charset="0"/>
                <a:cs typeface="Arial" panose="020B0604020202020204" pitchFamily="34" charset="0"/>
              </a:rPr>
              <a:t>3</a:t>
            </a:r>
            <a:r>
              <a:rPr lang="vi-VN" sz="2400" b="1" dirty="0" smtClean="0">
                <a:solidFill>
                  <a:srgbClr val="FF0000"/>
                </a:solidFill>
                <a:latin typeface="Arial" panose="020B0604020202020204" pitchFamily="34" charset="0"/>
                <a:cs typeface="Arial" panose="020B0604020202020204" pitchFamily="34" charset="0"/>
              </a:rPr>
              <a:t>. Muối ưu trương</a:t>
            </a:r>
          </a:p>
          <a:p>
            <a:pPr marL="0" indent="0">
              <a:buNone/>
            </a:pPr>
            <a:r>
              <a:rPr lang="vi-VN" sz="2400" dirty="0" smtClean="0">
                <a:latin typeface="Arial" panose="020B0604020202020204" pitchFamily="34" charset="0"/>
                <a:cs typeface="Arial" panose="020B0604020202020204" pitchFamily="34" charset="0"/>
              </a:rPr>
              <a:t>-</a:t>
            </a:r>
            <a:r>
              <a:rPr lang="en-US" sz="2400" dirty="0" smtClean="0">
                <a:latin typeface="Arial" panose="020B0604020202020204" pitchFamily="34" charset="0"/>
                <a:cs typeface="Arial" panose="020B0604020202020204" pitchFamily="34" charset="0"/>
              </a:rPr>
              <a:t> C</a:t>
            </a:r>
            <a:r>
              <a:rPr lang="vi-VN" sz="2400" dirty="0" smtClean="0">
                <a:latin typeface="Arial" panose="020B0604020202020204" pitchFamily="34" charset="0"/>
                <a:cs typeface="Arial" panose="020B0604020202020204" pitchFamily="34" charset="0"/>
              </a:rPr>
              <a:t>ó thể chỉ định ở trẻ nhập viện vì VTPQ</a:t>
            </a:r>
            <a:r>
              <a:rPr lang="en-US" sz="2400" dirty="0" smtClean="0">
                <a:latin typeface="Arial" panose="020B0604020202020204" pitchFamily="34" charset="0"/>
                <a:cs typeface="Arial" panose="020B0604020202020204" pitchFamily="34" charset="0"/>
              </a:rPr>
              <a:t> </a:t>
            </a:r>
            <a:r>
              <a:rPr lang="vi-VN" sz="2400" b="1" dirty="0" smtClean="0">
                <a:latin typeface="Arial" panose="020B0604020202020204" pitchFamily="34" charset="0"/>
                <a:cs typeface="Arial" panose="020B0604020202020204" pitchFamily="34" charset="0"/>
              </a:rPr>
              <a:t>(KC:C, CC: TB)</a:t>
            </a:r>
          </a:p>
          <a:p>
            <a:pPr marL="0" indent="0">
              <a:buNone/>
            </a:pPr>
            <a:r>
              <a:rPr lang="vi-VN" sz="2400" dirty="0" smtClean="0">
                <a:latin typeface="Arial" panose="020B0604020202020204" pitchFamily="34" charset="0"/>
                <a:cs typeface="Arial" panose="020B0604020202020204" pitchFamily="34" charset="0"/>
              </a:rPr>
              <a:t>-</a:t>
            </a:r>
            <a:r>
              <a:rPr lang="en-US" sz="2400" dirty="0" smtClean="0">
                <a:latin typeface="Arial" panose="020B0604020202020204" pitchFamily="34" charset="0"/>
                <a:cs typeface="Arial" panose="020B0604020202020204" pitchFamily="34" charset="0"/>
              </a:rPr>
              <a:t> </a:t>
            </a:r>
            <a:r>
              <a:rPr lang="vi-VN" sz="2400" dirty="0" smtClean="0">
                <a:latin typeface="Arial" panose="020B0604020202020204" pitchFamily="34" charset="0"/>
                <a:cs typeface="Arial" panose="020B0604020202020204" pitchFamily="34" charset="0"/>
              </a:rPr>
              <a:t>Liều: 4ml/lần, có thể lặp lại mỗi 8h</a:t>
            </a:r>
          </a:p>
          <a:p>
            <a:pPr>
              <a:buFontTx/>
              <a:buChar char="-"/>
            </a:pPr>
            <a:r>
              <a:rPr lang="en-US" sz="2400" dirty="0" smtClean="0">
                <a:latin typeface="Arial" panose="020B0604020202020204" pitchFamily="34" charset="0"/>
                <a:cs typeface="Arial" panose="020B0604020202020204" pitchFamily="34" charset="0"/>
              </a:rPr>
              <a:t>C</a:t>
            </a:r>
            <a:r>
              <a:rPr lang="vi-VN" sz="2400" dirty="0" smtClean="0">
                <a:latin typeface="Arial" panose="020B0604020202020204" pitchFamily="34" charset="0"/>
                <a:cs typeface="Arial" panose="020B0604020202020204" pitchFamily="34" charset="0"/>
              </a:rPr>
              <a:t>ó thể dùng một mình hay phối hợp với Sa</a:t>
            </a:r>
            <a:r>
              <a:rPr lang="en-US" sz="2400" dirty="0" smtClean="0">
                <a:latin typeface="Arial" panose="020B0604020202020204" pitchFamily="34" charset="0"/>
                <a:cs typeface="Arial" panose="020B0604020202020204" pitchFamily="34" charset="0"/>
              </a:rPr>
              <a:t>l</a:t>
            </a:r>
            <a:r>
              <a:rPr lang="vi-VN" sz="2400" dirty="0" smtClean="0">
                <a:latin typeface="Arial" panose="020B0604020202020204" pitchFamily="34" charset="0"/>
                <a:cs typeface="Arial" panose="020B0604020202020204" pitchFamily="34" charset="0"/>
              </a:rPr>
              <a:t>butamol</a:t>
            </a:r>
            <a:endParaRPr lang="en-US" sz="2400" dirty="0" smtClean="0">
              <a:latin typeface="Arial" panose="020B0604020202020204" pitchFamily="34" charset="0"/>
              <a:cs typeface="Arial" panose="020B0604020202020204" pitchFamily="34" charset="0"/>
            </a:endParaRPr>
          </a:p>
          <a:p>
            <a:pPr marL="0" indent="0">
              <a:buNone/>
            </a:pPr>
            <a:endParaRPr lang="vi-VN" sz="2400" dirty="0" smtClean="0">
              <a:latin typeface="Arial" panose="020B0604020202020204" pitchFamily="34" charset="0"/>
              <a:cs typeface="Arial" panose="020B0604020202020204" pitchFamily="34" charset="0"/>
            </a:endParaRPr>
          </a:p>
          <a:p>
            <a:pPr marL="0" indent="0">
              <a:buNone/>
            </a:pPr>
            <a:r>
              <a:rPr lang="en-US" sz="2400" i="1" dirty="0" smtClean="0">
                <a:latin typeface="Arial" panose="020B0604020202020204" pitchFamily="34" charset="0"/>
                <a:cs typeface="Arial" panose="020B0604020202020204" pitchFamily="34" charset="0"/>
              </a:rPr>
              <a:t>* </a:t>
            </a:r>
            <a:r>
              <a:rPr lang="vi-VN" sz="2400" i="1" dirty="0" smtClean="0">
                <a:latin typeface="Arial" panose="020B0604020202020204" pitchFamily="34" charset="0"/>
                <a:cs typeface="Arial" panose="020B0604020202020204" pitchFamily="34" charset="0"/>
              </a:rPr>
              <a:t>In a </a:t>
            </a:r>
            <a:r>
              <a:rPr lang="en-US" sz="2400" i="1" dirty="0" smtClean="0">
                <a:latin typeface="Arial" panose="020B0604020202020204" pitchFamily="34" charset="0"/>
                <a:cs typeface="Arial" panose="020B0604020202020204" pitchFamily="34" charset="0"/>
              </a:rPr>
              <a:t>2018 meta analysis of 8 randomized trials evaluating administration of hypertonic saline in the ED, hypertonic saline reduced the rate of hospitalization among chidren with bronchiolitis  (</a:t>
            </a:r>
            <a:r>
              <a:rPr lang="en-US" sz="2400" i="1" dirty="0">
                <a:latin typeface="Arial" panose="020B0604020202020204" pitchFamily="34" charset="0"/>
                <a:cs typeface="Arial" panose="020B0604020202020204" pitchFamily="34" charset="0"/>
              </a:rPr>
              <a:t>U</a:t>
            </a:r>
            <a:r>
              <a:rPr lang="en-US" sz="2400" i="1" dirty="0" smtClean="0">
                <a:latin typeface="Arial" panose="020B0604020202020204" pitchFamily="34" charset="0"/>
                <a:cs typeface="Arial" panose="020B0604020202020204" pitchFamily="34" charset="0"/>
              </a:rPr>
              <a:t>ptodate)</a:t>
            </a:r>
          </a:p>
          <a:p>
            <a:pPr marL="0" indent="0">
              <a:buNone/>
            </a:pPr>
            <a:endParaRPr lang="vi-VN" sz="2400" dirty="0" smtClean="0">
              <a:latin typeface="Arial" panose="020B0604020202020204" pitchFamily="34" charset="0"/>
              <a:cs typeface="Arial" panose="020B0604020202020204" pitchFamily="34" charset="0"/>
            </a:endParaRPr>
          </a:p>
          <a:p>
            <a:pPr marL="0" indent="0">
              <a:buNone/>
            </a:pPr>
            <a:endParaRPr lang="en-US" sz="2400" dirty="0">
              <a:latin typeface="Arial" panose="020B0604020202020204" pitchFamily="34" charset="0"/>
              <a:cs typeface="Arial" panose="020B0604020202020204" pitchFamily="34" charset="0"/>
            </a:endParaRPr>
          </a:p>
        </p:txBody>
      </p:sp>
      <p:sp>
        <p:nvSpPr>
          <p:cNvPr id="5" name="Title 1"/>
          <p:cNvSpPr txBox="1">
            <a:spLocks/>
          </p:cNvSpPr>
          <p:nvPr/>
        </p:nvSpPr>
        <p:spPr>
          <a:xfrm>
            <a:off x="914400" y="152400"/>
            <a:ext cx="7162800" cy="685800"/>
          </a:xfrm>
          <a:prstGeom prst="rect">
            <a:avLst/>
          </a:prstGeom>
          <a:solidFill>
            <a:schemeClr val="accent2">
              <a:lumMod val="20000"/>
              <a:lumOff val="80000"/>
            </a:schemeClr>
          </a:solidFill>
        </p:spPr>
        <p:style>
          <a:lnRef idx="3">
            <a:schemeClr val="lt1"/>
          </a:lnRef>
          <a:fillRef idx="1">
            <a:schemeClr val="accent5"/>
          </a:fillRef>
          <a:effectRef idx="1">
            <a:schemeClr val="accent5"/>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vi-VN" sz="2800" b="1" dirty="0" smtClean="0">
                <a:solidFill>
                  <a:schemeClr val="tx1"/>
                </a:solidFill>
              </a:rPr>
              <a:t>Liệu pháp khí dung trong VTPQ</a:t>
            </a:r>
            <a:endParaRPr lang="en-US" sz="2800" b="1" dirty="0">
              <a:solidFill>
                <a:schemeClr val="tx1"/>
              </a:solidFill>
            </a:endParaRPr>
          </a:p>
        </p:txBody>
      </p:sp>
    </p:spTree>
    <p:extLst>
      <p:ext uri="{BB962C8B-B14F-4D97-AF65-F5344CB8AC3E}">
        <p14:creationId xmlns:p14="http://schemas.microsoft.com/office/powerpoint/2010/main" val="211335967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495424"/>
            <a:ext cx="8305800" cy="5057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itle 1"/>
          <p:cNvSpPr txBox="1">
            <a:spLocks/>
          </p:cNvSpPr>
          <p:nvPr/>
        </p:nvSpPr>
        <p:spPr>
          <a:xfrm>
            <a:off x="914400" y="152400"/>
            <a:ext cx="7162800" cy="685800"/>
          </a:xfrm>
          <a:prstGeom prst="rect">
            <a:avLst/>
          </a:prstGeom>
          <a:solidFill>
            <a:schemeClr val="accent2">
              <a:lumMod val="20000"/>
              <a:lumOff val="80000"/>
            </a:schemeClr>
          </a:solidFill>
        </p:spPr>
        <p:style>
          <a:lnRef idx="3">
            <a:schemeClr val="lt1"/>
          </a:lnRef>
          <a:fillRef idx="1">
            <a:schemeClr val="accent5"/>
          </a:fillRef>
          <a:effectRef idx="1">
            <a:schemeClr val="accent5"/>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vi-VN" sz="2800" b="1" dirty="0" smtClean="0">
                <a:solidFill>
                  <a:schemeClr val="tx1"/>
                </a:solidFill>
              </a:rPr>
              <a:t>Liệu pháp khí dung trong VTPQ</a:t>
            </a:r>
            <a:endParaRPr lang="en-US" sz="2800" b="1" dirty="0">
              <a:solidFill>
                <a:schemeClr val="tx1"/>
              </a:solidFill>
            </a:endParaRPr>
          </a:p>
        </p:txBody>
      </p:sp>
    </p:spTree>
    <p:extLst>
      <p:ext uri="{BB962C8B-B14F-4D97-AF65-F5344CB8AC3E}">
        <p14:creationId xmlns:p14="http://schemas.microsoft.com/office/powerpoint/2010/main" val="376245549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7696200" cy="944562"/>
          </a:xfrm>
          <a:solidFill>
            <a:schemeClr val="accent2">
              <a:lumMod val="20000"/>
              <a:lumOff val="80000"/>
            </a:schemeClr>
          </a:solidFill>
        </p:spPr>
        <p:style>
          <a:lnRef idx="3">
            <a:schemeClr val="lt1"/>
          </a:lnRef>
          <a:fillRef idx="1">
            <a:schemeClr val="accent5"/>
          </a:fillRef>
          <a:effectRef idx="1">
            <a:schemeClr val="accent5"/>
          </a:effectRef>
          <a:fontRef idx="minor">
            <a:schemeClr val="lt1"/>
          </a:fontRef>
        </p:style>
        <p:txBody>
          <a:bodyPr>
            <a:normAutofit/>
          </a:bodyPr>
          <a:lstStyle/>
          <a:p>
            <a:r>
              <a:rPr lang="vi-VN" sz="3200" b="1" dirty="0" smtClean="0">
                <a:solidFill>
                  <a:schemeClr val="tx1"/>
                </a:solidFill>
              </a:rPr>
              <a:t>Liệu pháp khí dung trong cơn hen cấp</a:t>
            </a:r>
            <a:endParaRPr lang="en-US" sz="3200" b="1" dirty="0">
              <a:solidFill>
                <a:schemeClr val="tx1"/>
              </a:solidFill>
            </a:endParaRPr>
          </a:p>
        </p:txBody>
      </p:sp>
      <p:sp>
        <p:nvSpPr>
          <p:cNvPr id="3" name="Content Placeholder 2"/>
          <p:cNvSpPr>
            <a:spLocks noGrp="1"/>
          </p:cNvSpPr>
          <p:nvPr>
            <p:ph idx="1"/>
          </p:nvPr>
        </p:nvSpPr>
        <p:spPr>
          <a:xfrm>
            <a:off x="457200" y="1600200"/>
            <a:ext cx="8229600" cy="4953000"/>
          </a:xfrm>
        </p:spPr>
        <p:style>
          <a:lnRef idx="1">
            <a:schemeClr val="accent4"/>
          </a:lnRef>
          <a:fillRef idx="2">
            <a:schemeClr val="accent4"/>
          </a:fillRef>
          <a:effectRef idx="1">
            <a:schemeClr val="accent4"/>
          </a:effectRef>
          <a:fontRef idx="minor">
            <a:schemeClr val="dk1"/>
          </a:fontRef>
        </p:style>
        <p:txBody>
          <a:bodyPr>
            <a:noAutofit/>
          </a:bodyPr>
          <a:lstStyle/>
          <a:p>
            <a:r>
              <a:rPr lang="vi-VN" sz="2400" b="1" dirty="0" smtClean="0">
                <a:solidFill>
                  <a:srgbClr val="FF0000"/>
                </a:solidFill>
                <a:latin typeface="Arial" panose="020B0604020202020204" pitchFamily="34" charset="0"/>
                <a:cs typeface="Arial" panose="020B0604020202020204" pitchFamily="34" charset="0"/>
              </a:rPr>
              <a:t>Cơn hen cấp nhẹ</a:t>
            </a:r>
          </a:p>
          <a:p>
            <a:pPr marL="0" indent="0">
              <a:buNone/>
            </a:pPr>
            <a:r>
              <a:rPr lang="vi-VN" sz="2400" dirty="0">
                <a:latin typeface="Arial" panose="020B0604020202020204" pitchFamily="34" charset="0"/>
                <a:cs typeface="Arial" panose="020B0604020202020204" pitchFamily="34" charset="0"/>
              </a:rPr>
              <a:t> -</a:t>
            </a:r>
            <a:r>
              <a:rPr lang="vi-VN" sz="2400" dirty="0" smtClean="0">
                <a:latin typeface="Arial" panose="020B0604020202020204" pitchFamily="34" charset="0"/>
                <a:cs typeface="Arial" panose="020B0604020202020204" pitchFamily="34" charset="0"/>
              </a:rPr>
              <a:t> </a:t>
            </a:r>
            <a:r>
              <a:rPr lang="vi-VN" sz="2400" dirty="0">
                <a:latin typeface="Arial" panose="020B0604020202020204" pitchFamily="34" charset="0"/>
                <a:cs typeface="Arial" panose="020B0604020202020204" pitchFamily="34" charset="0"/>
              </a:rPr>
              <a:t>Điều trị ban đầu </a:t>
            </a:r>
            <a:r>
              <a:rPr lang="vi-VN" sz="2400" dirty="0" smtClean="0">
                <a:latin typeface="Arial" panose="020B0604020202020204" pitchFamily="34" charset="0"/>
                <a:cs typeface="Arial" panose="020B0604020202020204" pitchFamily="34" charset="0"/>
              </a:rPr>
              <a:t>SABA</a:t>
            </a:r>
          </a:p>
          <a:p>
            <a:pPr marL="0" indent="0">
              <a:buNone/>
            </a:pPr>
            <a:r>
              <a:rPr lang="vi-VN" sz="2400" dirty="0" smtClean="0">
                <a:latin typeface="Arial" panose="020B0604020202020204" pitchFamily="34" charset="0"/>
                <a:cs typeface="Arial" panose="020B0604020202020204" pitchFamily="34" charset="0"/>
              </a:rPr>
              <a:t> - </a:t>
            </a:r>
            <a:r>
              <a:rPr lang="vi-VN" sz="2400" dirty="0">
                <a:latin typeface="Arial" panose="020B0604020202020204" pitchFamily="34" charset="0"/>
                <a:cs typeface="Arial" panose="020B0604020202020204" pitchFamily="34" charset="0"/>
              </a:rPr>
              <a:t>Có 1trong các yếu tố nguy cơ lên cơn hen nặng trong tương lai: </a:t>
            </a:r>
            <a:r>
              <a:rPr lang="vi-VN" sz="2400" dirty="0" smtClean="0">
                <a:latin typeface="Arial" panose="020B0604020202020204" pitchFamily="34" charset="0"/>
                <a:cs typeface="Arial" panose="020B0604020202020204" pitchFamily="34" charset="0"/>
              </a:rPr>
              <a:t>=&gt; </a:t>
            </a:r>
            <a:r>
              <a:rPr lang="vi-VN" sz="2400" dirty="0">
                <a:latin typeface="Arial" panose="020B0604020202020204" pitchFamily="34" charset="0"/>
                <a:cs typeface="Arial" panose="020B0604020202020204" pitchFamily="34" charset="0"/>
              </a:rPr>
              <a:t>kết </a:t>
            </a:r>
            <a:r>
              <a:rPr lang="vi-VN" sz="2400" dirty="0" smtClean="0">
                <a:latin typeface="Arial" panose="020B0604020202020204" pitchFamily="34" charset="0"/>
                <a:cs typeface="Arial" panose="020B0604020202020204" pitchFamily="34" charset="0"/>
              </a:rPr>
              <a:t>hợp (Budesonide </a:t>
            </a:r>
            <a:r>
              <a:rPr lang="vi-VN" sz="2400" dirty="0">
                <a:latin typeface="Arial" panose="020B0604020202020204" pitchFamily="34" charset="0"/>
                <a:cs typeface="Arial" panose="020B0604020202020204" pitchFamily="34" charset="0"/>
              </a:rPr>
              <a:t>KD 0,5-1mg; hoặc Prednisone uống</a:t>
            </a:r>
            <a:r>
              <a:rPr lang="vi-VN" sz="2400" dirty="0" smtClean="0">
                <a:latin typeface="Arial" panose="020B0604020202020204" pitchFamily="34" charset="0"/>
                <a:cs typeface="Arial" panose="020B0604020202020204" pitchFamily="34" charset="0"/>
              </a:rPr>
              <a:t>).</a:t>
            </a:r>
          </a:p>
          <a:p>
            <a:r>
              <a:rPr lang="vi-VN" sz="2400" b="1" dirty="0">
                <a:solidFill>
                  <a:srgbClr val="FF0000"/>
                </a:solidFill>
                <a:latin typeface="Arial" panose="020B0604020202020204" pitchFamily="34" charset="0"/>
                <a:cs typeface="Arial" panose="020B0604020202020204" pitchFamily="34" charset="0"/>
              </a:rPr>
              <a:t>Cơn hen cấp trung bình</a:t>
            </a:r>
          </a:p>
          <a:p>
            <a:pPr marL="0" indent="0">
              <a:buNone/>
            </a:pPr>
            <a:r>
              <a:rPr lang="vi-VN" sz="2400" dirty="0">
                <a:latin typeface="Arial" panose="020B0604020202020204" pitchFamily="34" charset="0"/>
                <a:cs typeface="Arial" panose="020B0604020202020204" pitchFamily="34" charset="0"/>
              </a:rPr>
              <a:t>– Sau SABA 1 lần thất bại </a:t>
            </a:r>
            <a:r>
              <a:rPr lang="vi-VN" sz="2400" i="1" dirty="0" smtClean="0">
                <a:latin typeface="Arial" panose="020B0604020202020204" pitchFamily="34" charset="0"/>
                <a:cs typeface="Arial" panose="020B0604020202020204" pitchFamily="34" charset="0"/>
              </a:rPr>
              <a:t>SABA</a:t>
            </a:r>
            <a:r>
              <a:rPr lang="vi-VN" sz="2400" i="1" dirty="0">
                <a:latin typeface="Arial" panose="020B0604020202020204" pitchFamily="34" charset="0"/>
                <a:cs typeface="Arial" panose="020B0604020202020204" pitchFamily="34" charset="0"/>
              </a:rPr>
              <a:t>+ Ipratropium bromide + Prednisone</a:t>
            </a:r>
            <a:r>
              <a:rPr lang="vi-VN" sz="2400" dirty="0">
                <a:latin typeface="Arial" panose="020B0604020202020204" pitchFamily="34" charset="0"/>
                <a:cs typeface="Arial" panose="020B0604020202020204" pitchFamily="34" charset="0"/>
              </a:rPr>
              <a:t>; HOẶC</a:t>
            </a:r>
          </a:p>
          <a:p>
            <a:pPr marL="0" indent="0">
              <a:buNone/>
            </a:pPr>
            <a:r>
              <a:rPr lang="vi-VN" sz="2400" dirty="0">
                <a:latin typeface="Arial" panose="020B0604020202020204" pitchFamily="34" charset="0"/>
                <a:cs typeface="Arial" panose="020B0604020202020204" pitchFamily="34" charset="0"/>
              </a:rPr>
              <a:t> – </a:t>
            </a:r>
            <a:r>
              <a:rPr lang="vi-VN" sz="2400" i="1" dirty="0">
                <a:latin typeface="Arial" panose="020B0604020202020204" pitchFamily="34" charset="0"/>
                <a:cs typeface="Arial" panose="020B0604020202020204" pitchFamily="34" charset="0"/>
              </a:rPr>
              <a:t>SABA + ICS liều cao</a:t>
            </a:r>
            <a:r>
              <a:rPr lang="vi-VN" sz="2400" dirty="0">
                <a:latin typeface="Arial" panose="020B0604020202020204" pitchFamily="34" charset="0"/>
                <a:cs typeface="Arial" panose="020B0604020202020204" pitchFamily="34" charset="0"/>
              </a:rPr>
              <a:t>; </a:t>
            </a:r>
            <a:r>
              <a:rPr lang="vi-VN" sz="2400" dirty="0" smtClean="0">
                <a:latin typeface="Arial" panose="020B0604020202020204" pitchFamily="34" charset="0"/>
                <a:cs typeface="Arial" panose="020B0604020202020204" pitchFamily="34" charset="0"/>
              </a:rPr>
              <a:t>HOẶC </a:t>
            </a:r>
            <a:r>
              <a:rPr lang="en-US" sz="2400" dirty="0" smtClean="0">
                <a:latin typeface="Arial" panose="020B0604020202020204" pitchFamily="34" charset="0"/>
                <a:cs typeface="Arial" panose="020B0604020202020204" pitchFamily="34" charset="0"/>
              </a:rPr>
              <a:t>c</a:t>
            </a:r>
            <a:r>
              <a:rPr lang="vi-VN" sz="2400" dirty="0" smtClean="0">
                <a:latin typeface="Arial" panose="020B0604020202020204" pitchFamily="34" charset="0"/>
                <a:cs typeface="Arial" panose="020B0604020202020204" pitchFamily="34" charset="0"/>
              </a:rPr>
              <a:t>ó 1</a:t>
            </a:r>
            <a:r>
              <a:rPr lang="en-US" sz="2400" dirty="0" smtClean="0">
                <a:latin typeface="Arial" panose="020B0604020202020204" pitchFamily="34" charset="0"/>
                <a:cs typeface="Arial" panose="020B0604020202020204" pitchFamily="34" charset="0"/>
              </a:rPr>
              <a:t> </a:t>
            </a:r>
            <a:r>
              <a:rPr lang="vi-VN" sz="2400" dirty="0" smtClean="0">
                <a:latin typeface="Arial" panose="020B0604020202020204" pitchFamily="34" charset="0"/>
                <a:cs typeface="Arial" panose="020B0604020202020204" pitchFamily="34" charset="0"/>
              </a:rPr>
              <a:t>trong </a:t>
            </a:r>
            <a:r>
              <a:rPr lang="vi-VN" sz="2400" dirty="0">
                <a:latin typeface="Arial" panose="020B0604020202020204" pitchFamily="34" charset="0"/>
                <a:cs typeface="Arial" panose="020B0604020202020204" pitchFamily="34" charset="0"/>
              </a:rPr>
              <a:t>các yếu tố nguy cơ lên cơn hen nặng trong tương lai: </a:t>
            </a:r>
            <a:r>
              <a:rPr lang="vi-VN" sz="2400" dirty="0" smtClean="0">
                <a:latin typeface="Arial" panose="020B0604020202020204" pitchFamily="34" charset="0"/>
                <a:cs typeface="Arial" panose="020B0604020202020204" pitchFamily="34" charset="0"/>
              </a:rPr>
              <a:t>=&gt;</a:t>
            </a:r>
            <a:r>
              <a:rPr lang="en-US" sz="2400" dirty="0" smtClean="0">
                <a:latin typeface="Arial" panose="020B0604020202020204" pitchFamily="34" charset="0"/>
                <a:cs typeface="Arial" panose="020B0604020202020204" pitchFamily="34" charset="0"/>
              </a:rPr>
              <a:t> </a:t>
            </a:r>
            <a:r>
              <a:rPr lang="vi-VN" sz="2400" i="1" dirty="0" smtClean="0">
                <a:latin typeface="Arial" panose="020B0604020202020204" pitchFamily="34" charset="0"/>
                <a:cs typeface="Arial" panose="020B0604020202020204" pitchFamily="34" charset="0"/>
              </a:rPr>
              <a:t>SABA </a:t>
            </a:r>
            <a:r>
              <a:rPr lang="vi-VN" sz="2400" i="1" dirty="0">
                <a:latin typeface="Arial" panose="020B0604020202020204" pitchFamily="34" charset="0"/>
                <a:cs typeface="Arial" panose="020B0604020202020204" pitchFamily="34" charset="0"/>
              </a:rPr>
              <a:t>+ ICS liều cao ngay từ </a:t>
            </a:r>
            <a:r>
              <a:rPr lang="vi-VN" sz="2400" i="1" dirty="0" smtClean="0">
                <a:latin typeface="Arial" panose="020B0604020202020204" pitchFamily="34" charset="0"/>
                <a:cs typeface="Arial" panose="020B0604020202020204" pitchFamily="34" charset="0"/>
              </a:rPr>
              <a:t>đầu</a:t>
            </a:r>
            <a:r>
              <a:rPr lang="en-US" sz="2400" i="1" dirty="0" smtClean="0">
                <a:latin typeface="Arial" panose="020B0604020202020204" pitchFamily="34" charset="0"/>
                <a:cs typeface="Arial" panose="020B0604020202020204" pitchFamily="34" charset="0"/>
              </a:rPr>
              <a:t>.</a:t>
            </a:r>
            <a:endParaRPr lang="en-US" sz="2400" i="1" dirty="0">
              <a:latin typeface="Arial" panose="020B0604020202020204" pitchFamily="34" charset="0"/>
              <a:cs typeface="Arial" panose="020B0604020202020204" pitchFamily="34" charset="0"/>
            </a:endParaRPr>
          </a:p>
          <a:p>
            <a:pPr marL="0" indent="0">
              <a:buNone/>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122617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953000"/>
          </a:xfrm>
        </p:spPr>
        <p:style>
          <a:lnRef idx="1">
            <a:schemeClr val="accent4"/>
          </a:lnRef>
          <a:fillRef idx="2">
            <a:schemeClr val="accent4"/>
          </a:fillRef>
          <a:effectRef idx="1">
            <a:schemeClr val="accent4"/>
          </a:effectRef>
          <a:fontRef idx="minor">
            <a:schemeClr val="dk1"/>
          </a:fontRef>
        </p:style>
        <p:txBody>
          <a:bodyPr>
            <a:noAutofit/>
          </a:bodyPr>
          <a:lstStyle/>
          <a:p>
            <a:pPr marL="0" indent="0">
              <a:buNone/>
            </a:pPr>
            <a:r>
              <a:rPr lang="en-US" sz="2400" b="1" dirty="0" smtClean="0">
                <a:solidFill>
                  <a:srgbClr val="FF0000"/>
                </a:solidFill>
                <a:latin typeface="Arial" panose="020B0604020202020204" pitchFamily="34" charset="0"/>
                <a:cs typeface="Arial" panose="020B0604020202020204" pitchFamily="34" charset="0"/>
              </a:rPr>
              <a:t>* </a:t>
            </a:r>
            <a:r>
              <a:rPr lang="vi-VN" sz="2400" b="1" dirty="0" smtClean="0">
                <a:solidFill>
                  <a:srgbClr val="FF0000"/>
                </a:solidFill>
                <a:latin typeface="Arial" panose="020B0604020202020204" pitchFamily="34" charset="0"/>
                <a:cs typeface="Arial" panose="020B0604020202020204" pitchFamily="34" charset="0"/>
              </a:rPr>
              <a:t>Cơn hen cấp nặng</a:t>
            </a:r>
          </a:p>
          <a:p>
            <a:pPr marL="0" indent="0">
              <a:buNone/>
            </a:pPr>
            <a:r>
              <a:rPr lang="vi-VN" sz="2400" dirty="0" smtClean="0">
                <a:latin typeface="Arial" panose="020B0604020202020204" pitchFamily="34" charset="0"/>
                <a:cs typeface="Arial" panose="020B0604020202020204" pitchFamily="34" charset="0"/>
              </a:rPr>
              <a:t>-SABA </a:t>
            </a:r>
            <a:r>
              <a:rPr lang="vi-VN" sz="2400" dirty="0">
                <a:latin typeface="Arial" panose="020B0604020202020204" pitchFamily="34" charset="0"/>
                <a:cs typeface="Arial" panose="020B0604020202020204" pitchFamily="34" charset="0"/>
              </a:rPr>
              <a:t>mỗi 20 phút trong giờ đầu + ICS liều cao (nhắc lại ICS liều cao lần 2 sau 30-60 phút khi không/đáp ứng kém) + CS toàn thân ngay từ đầu. – </a:t>
            </a:r>
            <a:r>
              <a:rPr lang="vi-VN" sz="2400" dirty="0" smtClean="0">
                <a:latin typeface="Arial" panose="020B0604020202020204" pitchFamily="34" charset="0"/>
                <a:cs typeface="Arial" panose="020B0604020202020204" pitchFamily="34" charset="0"/>
              </a:rPr>
              <a:t>-Nếu </a:t>
            </a:r>
            <a:r>
              <a:rPr lang="vi-VN" sz="2400" dirty="0">
                <a:latin typeface="Arial" panose="020B0604020202020204" pitchFamily="34" charset="0"/>
                <a:cs typeface="Arial" panose="020B0604020202020204" pitchFamily="34" charset="0"/>
              </a:rPr>
              <a:t>có điều kiện: KD liên tục SABA. </a:t>
            </a:r>
            <a:endParaRPr lang="vi-VN" sz="2400" dirty="0" smtClean="0">
              <a:latin typeface="Arial" panose="020B0604020202020204" pitchFamily="34" charset="0"/>
              <a:cs typeface="Arial" panose="020B0604020202020204" pitchFamily="34" charset="0"/>
            </a:endParaRPr>
          </a:p>
          <a:p>
            <a:pPr marL="0" indent="0">
              <a:buNone/>
            </a:pPr>
            <a:r>
              <a:rPr lang="en-US" sz="2400" b="1" dirty="0" smtClean="0">
                <a:solidFill>
                  <a:srgbClr val="FF0000"/>
                </a:solidFill>
                <a:latin typeface="Arial" panose="020B0604020202020204" pitchFamily="34" charset="0"/>
                <a:cs typeface="Arial" panose="020B0604020202020204" pitchFamily="34" charset="0"/>
              </a:rPr>
              <a:t>* </a:t>
            </a:r>
            <a:r>
              <a:rPr lang="vi-VN" sz="2400" b="1" dirty="0" smtClean="0">
                <a:solidFill>
                  <a:srgbClr val="FF0000"/>
                </a:solidFill>
                <a:latin typeface="Arial" panose="020B0604020202020204" pitchFamily="34" charset="0"/>
                <a:cs typeface="Arial" panose="020B0604020202020204" pitchFamily="34" charset="0"/>
              </a:rPr>
              <a:t>Cơn </a:t>
            </a:r>
            <a:r>
              <a:rPr lang="vi-VN" sz="2400" b="1" dirty="0">
                <a:solidFill>
                  <a:srgbClr val="FF0000"/>
                </a:solidFill>
                <a:latin typeface="Arial" panose="020B0604020202020204" pitchFamily="34" charset="0"/>
                <a:cs typeface="Arial" panose="020B0604020202020204" pitchFamily="34" charset="0"/>
              </a:rPr>
              <a:t>hen cấp đe dọa tính </a:t>
            </a:r>
            <a:r>
              <a:rPr lang="vi-VN" sz="2400" b="1" dirty="0" smtClean="0">
                <a:solidFill>
                  <a:srgbClr val="FF0000"/>
                </a:solidFill>
                <a:latin typeface="Arial" panose="020B0604020202020204" pitchFamily="34" charset="0"/>
                <a:cs typeface="Arial" panose="020B0604020202020204" pitchFamily="34" charset="0"/>
              </a:rPr>
              <a:t>mạng</a:t>
            </a:r>
          </a:p>
          <a:p>
            <a:pPr marL="0" indent="0">
              <a:buNone/>
            </a:pPr>
            <a:r>
              <a:rPr lang="vi-VN" sz="2400" dirty="0" smtClean="0">
                <a:latin typeface="Arial" panose="020B0604020202020204" pitchFamily="34" charset="0"/>
                <a:cs typeface="Arial" panose="020B0604020202020204" pitchFamily="34" charset="0"/>
              </a:rPr>
              <a:t> </a:t>
            </a:r>
            <a:r>
              <a:rPr lang="vi-VN" sz="2400" dirty="0">
                <a:latin typeface="Arial" panose="020B0604020202020204" pitchFamily="34" charset="0"/>
                <a:cs typeface="Arial" panose="020B0604020202020204" pitchFamily="34" charset="0"/>
              </a:rPr>
              <a:t>– SABA+ Ipratropium bromide + CS TM + ICS liều cao. Nhắc lại ICS liều cao lần 2 sau 30-60 phút (khi không/ đáp ứng kém) + SABA mỗi 20 phút trong giờ đầu. </a:t>
            </a:r>
            <a:endParaRPr lang="vi-VN" sz="2400" dirty="0" smtClean="0">
              <a:latin typeface="Arial" panose="020B0604020202020204" pitchFamily="34" charset="0"/>
              <a:cs typeface="Arial" panose="020B0604020202020204" pitchFamily="34" charset="0"/>
            </a:endParaRPr>
          </a:p>
          <a:p>
            <a:pPr marL="0" indent="0">
              <a:buNone/>
            </a:pPr>
            <a:r>
              <a:rPr lang="vi-VN" sz="2400" dirty="0" smtClean="0">
                <a:latin typeface="Arial" panose="020B0604020202020204" pitchFamily="34" charset="0"/>
                <a:cs typeface="Arial" panose="020B0604020202020204" pitchFamily="34" charset="0"/>
              </a:rPr>
              <a:t>– </a:t>
            </a:r>
            <a:r>
              <a:rPr lang="vi-VN" sz="2400" dirty="0">
                <a:latin typeface="Arial" panose="020B0604020202020204" pitchFamily="34" charset="0"/>
                <a:cs typeface="Arial" panose="020B0604020202020204" pitchFamily="34" charset="0"/>
              </a:rPr>
              <a:t>Nếu có điều kiện: KD liên tục SABA</a:t>
            </a:r>
            <a:r>
              <a:rPr lang="vi-VN" sz="2400" dirty="0" smtClean="0">
                <a:latin typeface="Arial" panose="020B0604020202020204" pitchFamily="34" charset="0"/>
                <a:cs typeface="Arial" panose="020B0604020202020204" pitchFamily="34" charset="0"/>
              </a:rPr>
              <a:t>.</a:t>
            </a:r>
          </a:p>
          <a:p>
            <a:pPr marL="0" indent="0">
              <a:buNone/>
            </a:pPr>
            <a:r>
              <a:rPr lang="vi-VN" sz="2400" dirty="0" smtClean="0">
                <a:latin typeface="Arial" panose="020B0604020202020204" pitchFamily="34" charset="0"/>
                <a:cs typeface="Arial" panose="020B0604020202020204" pitchFamily="34" charset="0"/>
              </a:rPr>
              <a:t> - </a:t>
            </a:r>
            <a:r>
              <a:rPr lang="vi-VN" sz="2400" dirty="0">
                <a:latin typeface="Arial" panose="020B0604020202020204" pitchFamily="34" charset="0"/>
                <a:cs typeface="Arial" panose="020B0604020202020204" pitchFamily="34" charset="0"/>
              </a:rPr>
              <a:t>Sau cắt cơn: duy trì ICS 1mg (Budesonide) x 2 lần/ngày trong 5 ngày; hoặc Prednisone uống trong 5 ngày.</a:t>
            </a:r>
          </a:p>
          <a:p>
            <a:endParaRPr lang="en-US" sz="2400" dirty="0">
              <a:latin typeface="Arial" panose="020B0604020202020204" pitchFamily="34" charset="0"/>
              <a:cs typeface="Arial" panose="020B0604020202020204" pitchFamily="34" charset="0"/>
            </a:endParaRPr>
          </a:p>
        </p:txBody>
      </p:sp>
      <p:sp>
        <p:nvSpPr>
          <p:cNvPr id="4" name="Title 1"/>
          <p:cNvSpPr txBox="1">
            <a:spLocks/>
          </p:cNvSpPr>
          <p:nvPr/>
        </p:nvSpPr>
        <p:spPr>
          <a:xfrm>
            <a:off x="609600" y="228600"/>
            <a:ext cx="7696200" cy="944562"/>
          </a:xfrm>
          <a:prstGeom prst="rect">
            <a:avLst/>
          </a:prstGeom>
          <a:solidFill>
            <a:schemeClr val="accent2">
              <a:lumMod val="20000"/>
              <a:lumOff val="80000"/>
            </a:schemeClr>
          </a:solidFill>
        </p:spPr>
        <p:style>
          <a:lnRef idx="3">
            <a:schemeClr val="lt1"/>
          </a:lnRef>
          <a:fillRef idx="1">
            <a:schemeClr val="accent5"/>
          </a:fillRef>
          <a:effectRef idx="1">
            <a:schemeClr val="accent5"/>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vi-VN" sz="3200" b="1" smtClean="0">
                <a:solidFill>
                  <a:schemeClr val="tx1"/>
                </a:solidFill>
              </a:rPr>
              <a:t>Liệu pháp khí dung trong cơn hen cấp</a:t>
            </a:r>
            <a:endParaRPr lang="en-US" sz="3200" b="1" dirty="0">
              <a:solidFill>
                <a:schemeClr val="tx1"/>
              </a:solidFill>
            </a:endParaRPr>
          </a:p>
        </p:txBody>
      </p:sp>
    </p:spTree>
    <p:extLst>
      <p:ext uri="{BB962C8B-B14F-4D97-AF65-F5344CB8AC3E}">
        <p14:creationId xmlns:p14="http://schemas.microsoft.com/office/powerpoint/2010/main" val="101083332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2400" y="304800"/>
            <a:ext cx="8839200" cy="6172200"/>
          </a:xfrm>
        </p:spPr>
      </p:pic>
    </p:spTree>
    <p:extLst>
      <p:ext uri="{BB962C8B-B14F-4D97-AF65-F5344CB8AC3E}">
        <p14:creationId xmlns:p14="http://schemas.microsoft.com/office/powerpoint/2010/main" val="57474216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C:\Users\Thu Nguyen\Desktop\top-25-slide-cam-on-dep-cho-powerpoint-1484118755-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128713"/>
            <a:ext cx="8077200" cy="511968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4953000" y="36385"/>
            <a:ext cx="3048000" cy="400110"/>
          </a:xfrm>
          <a:prstGeom prst="rect">
            <a:avLst/>
          </a:prstGeom>
          <a:noFill/>
        </p:spPr>
        <p:txBody>
          <a:bodyPr wrap="square" rtlCol="0">
            <a:spAutoFit/>
          </a:bodyPr>
          <a:lstStyle/>
          <a:p>
            <a:r>
              <a:rPr lang="en-US" sz="2000" b="1" dirty="0" smtClean="0">
                <a:solidFill>
                  <a:schemeClr val="bg1"/>
                </a:solidFill>
                <a:latin typeface="Arial" panose="020B0604020202020204" pitchFamily="34" charset="0"/>
                <a:cs typeface="Arial" panose="020B0604020202020204" pitchFamily="34" charset="0"/>
              </a:rPr>
              <a:t>Nhóm Hô Hấp HUMP</a:t>
            </a:r>
            <a:endParaRPr lang="en-US" sz="2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4797129"/>
      </p:ext>
    </p:extLst>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image" Target="../media/image2.jpeg"/></Relationships>
</file>

<file path=ppt/theme/_rels/them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image" Target="../media/image2.jpeg"/></Relationships>
</file>

<file path=ppt/theme/_rels/theme5.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Angles">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4.xml><?xml version="1.0" encoding="utf-8"?>
<a:theme xmlns:a="http://schemas.openxmlformats.org/drawingml/2006/main" name="1_Angles">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5.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1070</TotalTime>
  <Words>2563</Words>
  <Application>Microsoft Office PowerPoint</Application>
  <PresentationFormat>On-screen Show (4:3)</PresentationFormat>
  <Paragraphs>253</Paragraphs>
  <Slides>39</Slides>
  <Notes>39</Notes>
  <HiddenSlides>0</HiddenSlides>
  <MMClips>0</MMClips>
  <ScaleCrop>false</ScaleCrop>
  <HeadingPairs>
    <vt:vector size="4" baseType="variant">
      <vt:variant>
        <vt:lpstr>Theme</vt:lpstr>
      </vt:variant>
      <vt:variant>
        <vt:i4>5</vt:i4>
      </vt:variant>
      <vt:variant>
        <vt:lpstr>Slide Titles</vt:lpstr>
      </vt:variant>
      <vt:variant>
        <vt:i4>39</vt:i4>
      </vt:variant>
    </vt:vector>
  </HeadingPairs>
  <TitlesOfParts>
    <vt:vector size="44" baseType="lpstr">
      <vt:lpstr>Office Theme</vt:lpstr>
      <vt:lpstr>Concourse</vt:lpstr>
      <vt:lpstr>Angles</vt:lpstr>
      <vt:lpstr>1_Angles</vt:lpstr>
      <vt:lpstr>Austin</vt:lpstr>
      <vt:lpstr>CƠ BẢN VỀ KHÍ DUNG Ở TRẺ EM</vt:lpstr>
      <vt:lpstr>Đường dẫn khí?</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Ưu, nhược điểm của sử dụng khí dung</vt:lpstr>
      <vt:lpstr>4) Các dụng cụ khí dung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Liệu pháp khí dung</vt:lpstr>
      <vt:lpstr>PowerPoint Presentation</vt:lpstr>
      <vt:lpstr>Liệu pháp khí dung trong VTPQ</vt:lpstr>
      <vt:lpstr>Liệu pháp khí dung trong VTPQ</vt:lpstr>
      <vt:lpstr>PowerPoint Presentation</vt:lpstr>
      <vt:lpstr>PowerPoint Presentation</vt:lpstr>
      <vt:lpstr>Liệu pháp khí dung trong cơn hen cấp</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Thu Nguyen</dc:creator>
  <cp:lastModifiedBy>Thu Nguyen</cp:lastModifiedBy>
  <cp:revision>56</cp:revision>
  <dcterms:created xsi:type="dcterms:W3CDTF">2019-09-10T09:32:26Z</dcterms:created>
  <dcterms:modified xsi:type="dcterms:W3CDTF">2019-09-11T13:56:27Z</dcterms:modified>
</cp:coreProperties>
</file>