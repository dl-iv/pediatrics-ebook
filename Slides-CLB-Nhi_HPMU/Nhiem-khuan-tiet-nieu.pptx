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303" r:id="rId5"/>
    <p:sldId id="304" r:id="rId6"/>
    <p:sldId id="305" r:id="rId7"/>
    <p:sldId id="259" r:id="rId8"/>
    <p:sldId id="260" r:id="rId9"/>
    <p:sldId id="306" r:id="rId10"/>
    <p:sldId id="262" r:id="rId11"/>
    <p:sldId id="263" r:id="rId12"/>
    <p:sldId id="264" r:id="rId13"/>
    <p:sldId id="308" r:id="rId14"/>
    <p:sldId id="307" r:id="rId15"/>
    <p:sldId id="265" r:id="rId16"/>
    <p:sldId id="268" r:id="rId17"/>
    <p:sldId id="311" r:id="rId18"/>
    <p:sldId id="269" r:id="rId19"/>
    <p:sldId id="270" r:id="rId20"/>
    <p:sldId id="312" r:id="rId21"/>
    <p:sldId id="271" r:id="rId22"/>
    <p:sldId id="272" r:id="rId23"/>
    <p:sldId id="296" r:id="rId24"/>
    <p:sldId id="313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95" r:id="rId34"/>
    <p:sldId id="282" r:id="rId35"/>
    <p:sldId id="288" r:id="rId36"/>
    <p:sldId id="314" r:id="rId37"/>
    <p:sldId id="315" r:id="rId38"/>
    <p:sldId id="316" r:id="rId39"/>
    <p:sldId id="317" r:id="rId40"/>
    <p:sldId id="318" r:id="rId41"/>
    <p:sldId id="289" r:id="rId42"/>
    <p:sldId id="319" r:id="rId43"/>
    <p:sldId id="320" r:id="rId44"/>
    <p:sldId id="321" r:id="rId45"/>
    <p:sldId id="322" r:id="rId46"/>
    <p:sldId id="299" r:id="rId47"/>
    <p:sldId id="300" r:id="rId48"/>
    <p:sldId id="283" r:id="rId49"/>
    <p:sldId id="285" r:id="rId50"/>
    <p:sldId id="284" r:id="rId51"/>
    <p:sldId id="290" r:id="rId52"/>
    <p:sldId id="291" r:id="rId53"/>
    <p:sldId id="292" r:id="rId54"/>
    <p:sldId id="293" r:id="rId55"/>
    <p:sldId id="302" r:id="rId56"/>
    <p:sldId id="286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4" autoAdjust="0"/>
    <p:restoredTop sz="94660"/>
  </p:normalViewPr>
  <p:slideViewPr>
    <p:cSldViewPr>
      <p:cViewPr>
        <p:scale>
          <a:sx n="76" d="100"/>
          <a:sy n="76" d="100"/>
        </p:scale>
        <p:origin x="-120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976984-E146-4B17-A4A0-CB4D69976DC1}" type="doc">
      <dgm:prSet loTypeId="urn:microsoft.com/office/officeart/2005/8/layout/p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772409-6C7C-4EF3-8944-AB58120970D3}">
      <dgm:prSet/>
      <dgm:spPr/>
      <dgm:t>
        <a:bodyPr/>
        <a:lstStyle/>
        <a:p>
          <a:pPr rtl="0"/>
          <a:r>
            <a:rPr lang="en-US" smtClean="0"/>
            <a:t>Giải phẫu</a:t>
          </a:r>
          <a:endParaRPr lang="en-US"/>
        </a:p>
      </dgm:t>
    </dgm:pt>
    <dgm:pt modelId="{72BD10E6-3DE7-441F-AEC0-A1014E998AD6}" type="parTrans" cxnId="{B9C92F52-E5DE-4F3F-A87D-3565D33B7429}">
      <dgm:prSet/>
      <dgm:spPr/>
      <dgm:t>
        <a:bodyPr/>
        <a:lstStyle/>
        <a:p>
          <a:endParaRPr lang="en-US"/>
        </a:p>
      </dgm:t>
    </dgm:pt>
    <dgm:pt modelId="{24105FCD-7B1D-4DFC-919F-F402A0AC6EF7}" type="sibTrans" cxnId="{B9C92F52-E5DE-4F3F-A87D-3565D33B7429}">
      <dgm:prSet/>
      <dgm:spPr/>
      <dgm:t>
        <a:bodyPr/>
        <a:lstStyle/>
        <a:p>
          <a:endParaRPr lang="en-US"/>
        </a:p>
      </dgm:t>
    </dgm:pt>
    <dgm:pt modelId="{BF23EBE8-F4BE-49C2-BD5C-8242A5CCA1B9}">
      <dgm:prSet/>
      <dgm:spPr/>
      <dgm:t>
        <a:bodyPr/>
        <a:lstStyle/>
        <a:p>
          <a:pPr rtl="0"/>
          <a:r>
            <a:rPr lang="en-US" smtClean="0"/>
            <a:t>Sinh lí </a:t>
          </a:r>
          <a:endParaRPr lang="en-US"/>
        </a:p>
      </dgm:t>
    </dgm:pt>
    <dgm:pt modelId="{E5F78005-8669-4F6B-B566-CD6324F5DF2F}" type="parTrans" cxnId="{C3A63444-C94D-44E3-BBA9-4B8076CD158D}">
      <dgm:prSet/>
      <dgm:spPr/>
      <dgm:t>
        <a:bodyPr/>
        <a:lstStyle/>
        <a:p>
          <a:endParaRPr lang="en-US"/>
        </a:p>
      </dgm:t>
    </dgm:pt>
    <dgm:pt modelId="{9EEBE98E-82B9-4D08-8705-B61871F7AD18}" type="sibTrans" cxnId="{C3A63444-C94D-44E3-BBA9-4B8076CD158D}">
      <dgm:prSet/>
      <dgm:spPr/>
      <dgm:t>
        <a:bodyPr/>
        <a:lstStyle/>
        <a:p>
          <a:endParaRPr lang="en-US"/>
        </a:p>
      </dgm:t>
    </dgm:pt>
    <dgm:pt modelId="{DD98EDC0-156D-4DF9-B83B-210E82C2396B}">
      <dgm:prSet/>
      <dgm:spPr/>
      <dgm:t>
        <a:bodyPr/>
        <a:lstStyle/>
        <a:p>
          <a:pPr rtl="0"/>
          <a:r>
            <a:rPr lang="en-US" smtClean="0"/>
            <a:t>Miễn dịch</a:t>
          </a:r>
          <a:endParaRPr lang="en-US"/>
        </a:p>
      </dgm:t>
    </dgm:pt>
    <dgm:pt modelId="{E7477575-2F11-4213-BE26-016376B7E9F8}" type="parTrans" cxnId="{67CDB947-047A-4AB9-962E-6B8BB986E660}">
      <dgm:prSet/>
      <dgm:spPr/>
      <dgm:t>
        <a:bodyPr/>
        <a:lstStyle/>
        <a:p>
          <a:endParaRPr lang="en-US"/>
        </a:p>
      </dgm:t>
    </dgm:pt>
    <dgm:pt modelId="{7EF55B1E-BC87-49E0-991A-A37BD5A5C089}" type="sibTrans" cxnId="{67CDB947-047A-4AB9-962E-6B8BB986E660}">
      <dgm:prSet/>
      <dgm:spPr/>
      <dgm:t>
        <a:bodyPr/>
        <a:lstStyle/>
        <a:p>
          <a:endParaRPr lang="en-US"/>
        </a:p>
      </dgm:t>
    </dgm:pt>
    <dgm:pt modelId="{462AFAD0-C423-4EA9-8226-AB9DE118221C}" type="pres">
      <dgm:prSet presAssocID="{5B976984-E146-4B17-A4A0-CB4D69976DC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3F32C6-91F4-4CAD-8771-85D846EE54AC}" type="pres">
      <dgm:prSet presAssocID="{4C772409-6C7C-4EF3-8944-AB58120970D3}" presName="compNode" presStyleCnt="0"/>
      <dgm:spPr/>
    </dgm:pt>
    <dgm:pt modelId="{7045E237-8CE4-48F4-A6F9-33BDDA8D7358}" type="pres">
      <dgm:prSet presAssocID="{4C772409-6C7C-4EF3-8944-AB58120970D3}" presName="pictRect" presStyleLbl="node1" presStyleIdx="0" presStyleCnt="3" custScaleX="157312" custScaleY="190129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B351CE09-56E6-49A6-93DB-5D145D18DFEF}" type="pres">
      <dgm:prSet presAssocID="{4C772409-6C7C-4EF3-8944-AB58120970D3}" presName="textRect" presStyleLbl="revTx" presStyleIdx="0" presStyleCnt="3" custLinFactNeighborX="2258" custLinFactNeighborY="651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A758A5-4469-4FB9-B4A8-922C8483CBB9}" type="pres">
      <dgm:prSet presAssocID="{24105FCD-7B1D-4DFC-919F-F402A0AC6EF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D69DEB5-257A-4126-B4EC-CE41B9024134}" type="pres">
      <dgm:prSet presAssocID="{BF23EBE8-F4BE-49C2-BD5C-8242A5CCA1B9}" presName="compNode" presStyleCnt="0"/>
      <dgm:spPr/>
    </dgm:pt>
    <dgm:pt modelId="{72F35500-1A1C-482A-BD7E-A8E6DBA4D582}" type="pres">
      <dgm:prSet presAssocID="{BF23EBE8-F4BE-49C2-BD5C-8242A5CCA1B9}" presName="pictRect" presStyleLbl="node1" presStyleIdx="1" presStyleCnt="3" custScaleX="162334" custScaleY="183830" custLinFactNeighborX="2606" custLinFactNeighborY="-6482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E31B1EE6-DB7C-4A11-9A94-6FCF685B8AD1}" type="pres">
      <dgm:prSet presAssocID="{BF23EBE8-F4BE-49C2-BD5C-8242A5CCA1B9}" presName="textRect" presStyleLbl="revTx" presStyleIdx="1" presStyleCnt="3" custLinFactNeighborX="1605" custLinFactNeighborY="530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8A8534-E162-47A6-8056-2157017A4E8F}" type="pres">
      <dgm:prSet presAssocID="{9EEBE98E-82B9-4D08-8705-B61871F7AD1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DA3EE61-7013-495C-B064-FC524E956958}" type="pres">
      <dgm:prSet presAssocID="{DD98EDC0-156D-4DF9-B83B-210E82C2396B}" presName="compNode" presStyleCnt="0"/>
      <dgm:spPr/>
    </dgm:pt>
    <dgm:pt modelId="{C2F0F2DF-17B6-4439-9C74-BDA54DBE9D15}" type="pres">
      <dgm:prSet presAssocID="{DD98EDC0-156D-4DF9-B83B-210E82C2396B}" presName="pictRect" presStyleLbl="node1" presStyleIdx="2" presStyleCnt="3" custScaleX="142113" custScaleY="144785" custLinFactNeighborX="18002" custLinFactNeighborY="-5081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B93E5307-2466-4BCD-842E-18371CBB59E4}" type="pres">
      <dgm:prSet presAssocID="{DD98EDC0-156D-4DF9-B83B-210E82C2396B}" presName="textRect" presStyleLbl="revTx" presStyleIdx="2" presStyleCnt="3" custLinFactNeighborX="735" custLinFactNeighborY="-120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9C92F52-E5DE-4F3F-A87D-3565D33B7429}" srcId="{5B976984-E146-4B17-A4A0-CB4D69976DC1}" destId="{4C772409-6C7C-4EF3-8944-AB58120970D3}" srcOrd="0" destOrd="0" parTransId="{72BD10E6-3DE7-441F-AEC0-A1014E998AD6}" sibTransId="{24105FCD-7B1D-4DFC-919F-F402A0AC6EF7}"/>
    <dgm:cxn modelId="{FC74CFA7-B215-4B24-956A-1CE876EE6719}" type="presOf" srcId="{DD98EDC0-156D-4DF9-B83B-210E82C2396B}" destId="{B93E5307-2466-4BCD-842E-18371CBB59E4}" srcOrd="0" destOrd="0" presId="urn:microsoft.com/office/officeart/2005/8/layout/pList1"/>
    <dgm:cxn modelId="{93A1F1FC-5C15-4AF4-A4D8-4B550B041C65}" type="presOf" srcId="{5B976984-E146-4B17-A4A0-CB4D69976DC1}" destId="{462AFAD0-C423-4EA9-8226-AB9DE118221C}" srcOrd="0" destOrd="0" presId="urn:microsoft.com/office/officeart/2005/8/layout/pList1"/>
    <dgm:cxn modelId="{3F196B1E-6CE7-4133-9FEF-34C9F7598302}" type="presOf" srcId="{BF23EBE8-F4BE-49C2-BD5C-8242A5CCA1B9}" destId="{E31B1EE6-DB7C-4A11-9A94-6FCF685B8AD1}" srcOrd="0" destOrd="0" presId="urn:microsoft.com/office/officeart/2005/8/layout/pList1"/>
    <dgm:cxn modelId="{C3A63444-C94D-44E3-BBA9-4B8076CD158D}" srcId="{5B976984-E146-4B17-A4A0-CB4D69976DC1}" destId="{BF23EBE8-F4BE-49C2-BD5C-8242A5CCA1B9}" srcOrd="1" destOrd="0" parTransId="{E5F78005-8669-4F6B-B566-CD6324F5DF2F}" sibTransId="{9EEBE98E-82B9-4D08-8705-B61871F7AD18}"/>
    <dgm:cxn modelId="{2D028620-4C58-4C3F-96F2-DF29F1899E62}" type="presOf" srcId="{9EEBE98E-82B9-4D08-8705-B61871F7AD18}" destId="{378A8534-E162-47A6-8056-2157017A4E8F}" srcOrd="0" destOrd="0" presId="urn:microsoft.com/office/officeart/2005/8/layout/pList1"/>
    <dgm:cxn modelId="{8A7347CF-50D2-4578-92C1-1BA536E14CDF}" type="presOf" srcId="{24105FCD-7B1D-4DFC-919F-F402A0AC6EF7}" destId="{15A758A5-4469-4FB9-B4A8-922C8483CBB9}" srcOrd="0" destOrd="0" presId="urn:microsoft.com/office/officeart/2005/8/layout/pList1"/>
    <dgm:cxn modelId="{CB453E2D-299C-4170-99F3-CF2BED08E6A4}" type="presOf" srcId="{4C772409-6C7C-4EF3-8944-AB58120970D3}" destId="{B351CE09-56E6-49A6-93DB-5D145D18DFEF}" srcOrd="0" destOrd="0" presId="urn:microsoft.com/office/officeart/2005/8/layout/pList1"/>
    <dgm:cxn modelId="{67CDB947-047A-4AB9-962E-6B8BB986E660}" srcId="{5B976984-E146-4B17-A4A0-CB4D69976DC1}" destId="{DD98EDC0-156D-4DF9-B83B-210E82C2396B}" srcOrd="2" destOrd="0" parTransId="{E7477575-2F11-4213-BE26-016376B7E9F8}" sibTransId="{7EF55B1E-BC87-49E0-991A-A37BD5A5C089}"/>
    <dgm:cxn modelId="{4ACE46E0-4012-4111-A3A3-007B99F78A95}" type="presParOf" srcId="{462AFAD0-C423-4EA9-8226-AB9DE118221C}" destId="{D13F32C6-91F4-4CAD-8771-85D846EE54AC}" srcOrd="0" destOrd="0" presId="urn:microsoft.com/office/officeart/2005/8/layout/pList1"/>
    <dgm:cxn modelId="{FA029683-2B1A-41D5-8856-CCC2F667D373}" type="presParOf" srcId="{D13F32C6-91F4-4CAD-8771-85D846EE54AC}" destId="{7045E237-8CE4-48F4-A6F9-33BDDA8D7358}" srcOrd="0" destOrd="0" presId="urn:microsoft.com/office/officeart/2005/8/layout/pList1"/>
    <dgm:cxn modelId="{FB9E8CAD-3E25-4E6B-AC0C-8A7E7B780D13}" type="presParOf" srcId="{D13F32C6-91F4-4CAD-8771-85D846EE54AC}" destId="{B351CE09-56E6-49A6-93DB-5D145D18DFEF}" srcOrd="1" destOrd="0" presId="urn:microsoft.com/office/officeart/2005/8/layout/pList1"/>
    <dgm:cxn modelId="{CF16FA8F-1B3F-4286-B70B-0A2FD05D27F3}" type="presParOf" srcId="{462AFAD0-C423-4EA9-8226-AB9DE118221C}" destId="{15A758A5-4469-4FB9-B4A8-922C8483CBB9}" srcOrd="1" destOrd="0" presId="urn:microsoft.com/office/officeart/2005/8/layout/pList1"/>
    <dgm:cxn modelId="{5B06AEA6-AAEB-4B37-B9EF-66E3A3D2A1C7}" type="presParOf" srcId="{462AFAD0-C423-4EA9-8226-AB9DE118221C}" destId="{7D69DEB5-257A-4126-B4EC-CE41B9024134}" srcOrd="2" destOrd="0" presId="urn:microsoft.com/office/officeart/2005/8/layout/pList1"/>
    <dgm:cxn modelId="{C92D0844-1A45-45EE-9456-B2E6BB2F48EA}" type="presParOf" srcId="{7D69DEB5-257A-4126-B4EC-CE41B9024134}" destId="{72F35500-1A1C-482A-BD7E-A8E6DBA4D582}" srcOrd="0" destOrd="0" presId="urn:microsoft.com/office/officeart/2005/8/layout/pList1"/>
    <dgm:cxn modelId="{0E48B497-6CA7-4E0A-8AE8-03BF7CDE6976}" type="presParOf" srcId="{7D69DEB5-257A-4126-B4EC-CE41B9024134}" destId="{E31B1EE6-DB7C-4A11-9A94-6FCF685B8AD1}" srcOrd="1" destOrd="0" presId="urn:microsoft.com/office/officeart/2005/8/layout/pList1"/>
    <dgm:cxn modelId="{1158DFC1-37EA-40A6-9C81-AC5644C30E53}" type="presParOf" srcId="{462AFAD0-C423-4EA9-8226-AB9DE118221C}" destId="{378A8534-E162-47A6-8056-2157017A4E8F}" srcOrd="3" destOrd="0" presId="urn:microsoft.com/office/officeart/2005/8/layout/pList1"/>
    <dgm:cxn modelId="{9925B201-9D78-4A12-AE99-8B95AAE6B634}" type="presParOf" srcId="{462AFAD0-C423-4EA9-8226-AB9DE118221C}" destId="{8DA3EE61-7013-495C-B064-FC524E956958}" srcOrd="4" destOrd="0" presId="urn:microsoft.com/office/officeart/2005/8/layout/pList1"/>
    <dgm:cxn modelId="{118805B6-24A9-4FB6-8E9E-6C576EE60DF0}" type="presParOf" srcId="{8DA3EE61-7013-495C-B064-FC524E956958}" destId="{C2F0F2DF-17B6-4439-9C74-BDA54DBE9D15}" srcOrd="0" destOrd="0" presId="urn:microsoft.com/office/officeart/2005/8/layout/pList1"/>
    <dgm:cxn modelId="{E08901F1-7FA2-4367-88AA-2A14876D8ADA}" type="presParOf" srcId="{8DA3EE61-7013-495C-B064-FC524E956958}" destId="{B93E5307-2466-4BCD-842E-18371CBB59E4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E3EC7B-AFE7-410C-A578-6551F93C291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F2782E-1D04-4B55-B60C-9EB868293032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rtl="0"/>
          <a:r>
            <a:rPr lang="en-US" smtClean="0"/>
            <a:t> </a:t>
          </a:r>
          <a:endParaRPr lang="en-US"/>
        </a:p>
      </dgm:t>
    </dgm:pt>
    <dgm:pt modelId="{5796F0B7-F9AA-4224-A074-6AC9F5CCA56F}" type="parTrans" cxnId="{41E143D0-72E5-4774-A7FF-360D10C363E9}">
      <dgm:prSet/>
      <dgm:spPr/>
      <dgm:t>
        <a:bodyPr/>
        <a:lstStyle/>
        <a:p>
          <a:endParaRPr lang="en-US"/>
        </a:p>
      </dgm:t>
    </dgm:pt>
    <dgm:pt modelId="{9C79D4B2-5563-4583-A8B6-54D777D53960}" type="sibTrans" cxnId="{41E143D0-72E5-4774-A7FF-360D10C363E9}">
      <dgm:prSet/>
      <dgm:spPr/>
      <dgm:t>
        <a:bodyPr/>
        <a:lstStyle/>
        <a:p>
          <a:endParaRPr lang="en-US"/>
        </a:p>
      </dgm:t>
    </dgm:pt>
    <dgm:pt modelId="{34DC2647-3B8B-49AD-A1EE-A8D2348E0080}">
      <dgm:prSet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pPr rtl="0"/>
          <a:endParaRPr lang="en-US"/>
        </a:p>
      </dgm:t>
    </dgm:pt>
    <dgm:pt modelId="{BA1DCB54-46A9-4862-980C-603EE002C5D0}" type="parTrans" cxnId="{42B1CD53-2434-4A1E-BB0E-46079A65C352}">
      <dgm:prSet/>
      <dgm:spPr/>
      <dgm:t>
        <a:bodyPr/>
        <a:lstStyle/>
        <a:p>
          <a:endParaRPr lang="en-US"/>
        </a:p>
      </dgm:t>
    </dgm:pt>
    <dgm:pt modelId="{1A410243-2C17-42CD-A9CF-15127B4AE389}" type="sibTrans" cxnId="{42B1CD53-2434-4A1E-BB0E-46079A65C352}">
      <dgm:prSet/>
      <dgm:spPr/>
      <dgm:t>
        <a:bodyPr/>
        <a:lstStyle/>
        <a:p>
          <a:endParaRPr lang="en-US"/>
        </a:p>
      </dgm:t>
    </dgm:pt>
    <dgm:pt modelId="{A10F9DF9-0E95-4954-A29E-0B8D099167CB}">
      <dgm:prSet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pPr rtl="0"/>
          <a:endParaRPr lang="en-US"/>
        </a:p>
      </dgm:t>
    </dgm:pt>
    <dgm:pt modelId="{DC9B1539-2227-4DC1-AB7A-62222D667932}" type="parTrans" cxnId="{879F519D-1FC1-4071-B4B8-81B71A21861E}">
      <dgm:prSet/>
      <dgm:spPr/>
      <dgm:t>
        <a:bodyPr/>
        <a:lstStyle/>
        <a:p>
          <a:endParaRPr lang="en-US"/>
        </a:p>
      </dgm:t>
    </dgm:pt>
    <dgm:pt modelId="{BEA0E3B3-4277-47C5-847E-218AA48C8DFD}" type="sibTrans" cxnId="{879F519D-1FC1-4071-B4B8-81B71A21861E}">
      <dgm:prSet/>
      <dgm:spPr/>
      <dgm:t>
        <a:bodyPr/>
        <a:lstStyle/>
        <a:p>
          <a:endParaRPr lang="en-US"/>
        </a:p>
      </dgm:t>
    </dgm:pt>
    <dgm:pt modelId="{6F47FADD-58D3-40AA-9D4D-2B5BB85A5F8C}" type="pres">
      <dgm:prSet presAssocID="{A5E3EC7B-AFE7-410C-A578-6551F93C2918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01B61A9-D526-49FE-B677-4F55C050E4B0}" type="pres">
      <dgm:prSet presAssocID="{9CF2782E-1D04-4B55-B60C-9EB868293032}" presName="circ1" presStyleLbl="vennNode1" presStyleIdx="0" presStyleCnt="3"/>
      <dgm:spPr/>
      <dgm:t>
        <a:bodyPr/>
        <a:lstStyle/>
        <a:p>
          <a:endParaRPr lang="en-US"/>
        </a:p>
      </dgm:t>
    </dgm:pt>
    <dgm:pt modelId="{3618DE92-D81B-47A7-ACB4-1CF3FF3823A3}" type="pres">
      <dgm:prSet presAssocID="{9CF2782E-1D04-4B55-B60C-9EB86829303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D21C7F-CA18-4FFE-98BB-4ACC7B7C30A3}" type="pres">
      <dgm:prSet presAssocID="{A10F9DF9-0E95-4954-A29E-0B8D099167CB}" presName="circ2" presStyleLbl="vennNode1" presStyleIdx="1" presStyleCnt="3" custLinFactNeighborX="16481" custLinFactNeighborY="2083"/>
      <dgm:spPr/>
      <dgm:t>
        <a:bodyPr/>
        <a:lstStyle/>
        <a:p>
          <a:endParaRPr lang="en-US"/>
        </a:p>
      </dgm:t>
    </dgm:pt>
    <dgm:pt modelId="{EA8787CE-3094-4FA7-A165-87EF1D859F05}" type="pres">
      <dgm:prSet presAssocID="{A10F9DF9-0E95-4954-A29E-0B8D099167C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B58B82-DDA7-406E-8BD8-B486B80CEBEC}" type="pres">
      <dgm:prSet presAssocID="{34DC2647-3B8B-49AD-A1EE-A8D2348E0080}" presName="circ3" presStyleLbl="vennNode1" presStyleIdx="2" presStyleCnt="3" custLinFactNeighborX="-19045" custLinFactNeighborY="-481"/>
      <dgm:spPr/>
      <dgm:t>
        <a:bodyPr/>
        <a:lstStyle/>
        <a:p>
          <a:endParaRPr lang="en-US"/>
        </a:p>
      </dgm:t>
    </dgm:pt>
    <dgm:pt modelId="{EACE332F-A1EE-4EFB-9B1B-53C61E597D5A}" type="pres">
      <dgm:prSet presAssocID="{34DC2647-3B8B-49AD-A1EE-A8D2348E008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C1D8EC-22DB-47FF-B23A-1C6AC00DC136}" type="presOf" srcId="{34DC2647-3B8B-49AD-A1EE-A8D2348E0080}" destId="{EACE332F-A1EE-4EFB-9B1B-53C61E597D5A}" srcOrd="1" destOrd="0" presId="urn:microsoft.com/office/officeart/2005/8/layout/venn1"/>
    <dgm:cxn modelId="{02E9D088-7125-4AAC-87BD-94271C5AB9E4}" type="presOf" srcId="{9CF2782E-1D04-4B55-B60C-9EB868293032}" destId="{701B61A9-D526-49FE-B677-4F55C050E4B0}" srcOrd="0" destOrd="0" presId="urn:microsoft.com/office/officeart/2005/8/layout/venn1"/>
    <dgm:cxn modelId="{A54B039C-85E5-482A-ACE1-873BD08B371C}" type="presOf" srcId="{34DC2647-3B8B-49AD-A1EE-A8D2348E0080}" destId="{60B58B82-DDA7-406E-8BD8-B486B80CEBEC}" srcOrd="0" destOrd="0" presId="urn:microsoft.com/office/officeart/2005/8/layout/venn1"/>
    <dgm:cxn modelId="{D75884AE-E73E-4795-972F-2150F15AB34D}" type="presOf" srcId="{A10F9DF9-0E95-4954-A29E-0B8D099167CB}" destId="{EA8787CE-3094-4FA7-A165-87EF1D859F05}" srcOrd="1" destOrd="0" presId="urn:microsoft.com/office/officeart/2005/8/layout/venn1"/>
    <dgm:cxn modelId="{A21E9687-1EBE-47FB-8D4F-45053261C497}" type="presOf" srcId="{9CF2782E-1D04-4B55-B60C-9EB868293032}" destId="{3618DE92-D81B-47A7-ACB4-1CF3FF3823A3}" srcOrd="1" destOrd="0" presId="urn:microsoft.com/office/officeart/2005/8/layout/venn1"/>
    <dgm:cxn modelId="{41E143D0-72E5-4774-A7FF-360D10C363E9}" srcId="{A5E3EC7B-AFE7-410C-A578-6551F93C2918}" destId="{9CF2782E-1D04-4B55-B60C-9EB868293032}" srcOrd="0" destOrd="0" parTransId="{5796F0B7-F9AA-4224-A074-6AC9F5CCA56F}" sibTransId="{9C79D4B2-5563-4583-A8B6-54D777D53960}"/>
    <dgm:cxn modelId="{42B1CD53-2434-4A1E-BB0E-46079A65C352}" srcId="{A5E3EC7B-AFE7-410C-A578-6551F93C2918}" destId="{34DC2647-3B8B-49AD-A1EE-A8D2348E0080}" srcOrd="2" destOrd="0" parTransId="{BA1DCB54-46A9-4862-980C-603EE002C5D0}" sibTransId="{1A410243-2C17-42CD-A9CF-15127B4AE389}"/>
    <dgm:cxn modelId="{879F519D-1FC1-4071-B4B8-81B71A21861E}" srcId="{A5E3EC7B-AFE7-410C-A578-6551F93C2918}" destId="{A10F9DF9-0E95-4954-A29E-0B8D099167CB}" srcOrd="1" destOrd="0" parTransId="{DC9B1539-2227-4DC1-AB7A-62222D667932}" sibTransId="{BEA0E3B3-4277-47C5-847E-218AA48C8DFD}"/>
    <dgm:cxn modelId="{2115F34E-4DD3-4050-A6DB-A52FD7F3127B}" type="presOf" srcId="{A10F9DF9-0E95-4954-A29E-0B8D099167CB}" destId="{3ED21C7F-CA18-4FFE-98BB-4ACC7B7C30A3}" srcOrd="0" destOrd="0" presId="urn:microsoft.com/office/officeart/2005/8/layout/venn1"/>
    <dgm:cxn modelId="{482E92DD-2DA0-46A9-B5E2-005E303C2333}" type="presOf" srcId="{A5E3EC7B-AFE7-410C-A578-6551F93C2918}" destId="{6F47FADD-58D3-40AA-9D4D-2B5BB85A5F8C}" srcOrd="0" destOrd="0" presId="urn:microsoft.com/office/officeart/2005/8/layout/venn1"/>
    <dgm:cxn modelId="{95540958-29AA-4B20-81F3-50F241D073A2}" type="presParOf" srcId="{6F47FADD-58D3-40AA-9D4D-2B5BB85A5F8C}" destId="{701B61A9-D526-49FE-B677-4F55C050E4B0}" srcOrd="0" destOrd="0" presId="urn:microsoft.com/office/officeart/2005/8/layout/venn1"/>
    <dgm:cxn modelId="{50AB398B-BFAC-4E6F-81A1-7B1C87D2504A}" type="presParOf" srcId="{6F47FADD-58D3-40AA-9D4D-2B5BB85A5F8C}" destId="{3618DE92-D81B-47A7-ACB4-1CF3FF3823A3}" srcOrd="1" destOrd="0" presId="urn:microsoft.com/office/officeart/2005/8/layout/venn1"/>
    <dgm:cxn modelId="{BBC79DD7-0D96-4F5D-8916-9BE9D41680F1}" type="presParOf" srcId="{6F47FADD-58D3-40AA-9D4D-2B5BB85A5F8C}" destId="{3ED21C7F-CA18-4FFE-98BB-4ACC7B7C30A3}" srcOrd="2" destOrd="0" presId="urn:microsoft.com/office/officeart/2005/8/layout/venn1"/>
    <dgm:cxn modelId="{80838E5C-91CE-4F94-84DB-6861FA9E3A40}" type="presParOf" srcId="{6F47FADD-58D3-40AA-9D4D-2B5BB85A5F8C}" destId="{EA8787CE-3094-4FA7-A165-87EF1D859F05}" srcOrd="3" destOrd="0" presId="urn:microsoft.com/office/officeart/2005/8/layout/venn1"/>
    <dgm:cxn modelId="{4266F66E-73E3-4F92-BE3B-4915E28D575B}" type="presParOf" srcId="{6F47FADD-58D3-40AA-9D4D-2B5BB85A5F8C}" destId="{60B58B82-DDA7-406E-8BD8-B486B80CEBEC}" srcOrd="4" destOrd="0" presId="urn:microsoft.com/office/officeart/2005/8/layout/venn1"/>
    <dgm:cxn modelId="{49E96EAF-07C3-45E0-A2D6-76E3D4A0E19D}" type="presParOf" srcId="{6F47FADD-58D3-40AA-9D4D-2B5BB85A5F8C}" destId="{EACE332F-A1EE-4EFB-9B1B-53C61E597D5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4537A5-A098-4A83-A4B4-444A102153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06022B-DA04-469D-A1B1-740497371B22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Vàng</a:t>
          </a:r>
          <a:r>
            <a:rPr lang="en-US" b="1" dirty="0" smtClean="0">
              <a:solidFill>
                <a:srgbClr val="FFFF00"/>
              </a:solidFill>
            </a:rPr>
            <a:t> da.</a:t>
          </a:r>
          <a:endParaRPr lang="en-US" b="1" dirty="0">
            <a:solidFill>
              <a:srgbClr val="FFFF00"/>
            </a:solidFill>
          </a:endParaRPr>
        </a:p>
      </dgm:t>
    </dgm:pt>
    <dgm:pt modelId="{38FF2D1E-5E2A-480C-B2D0-3068C9654776}" type="parTrans" cxnId="{F7264484-94B3-4E41-A6DA-87D7D3B2CF54}">
      <dgm:prSet/>
      <dgm:spPr/>
      <dgm:t>
        <a:bodyPr/>
        <a:lstStyle/>
        <a:p>
          <a:endParaRPr lang="en-US"/>
        </a:p>
      </dgm:t>
    </dgm:pt>
    <dgm:pt modelId="{CF9B1FF6-C1F7-48C4-9170-89D9169864D0}" type="sibTrans" cxnId="{F7264484-94B3-4E41-A6DA-87D7D3B2CF54}">
      <dgm:prSet/>
      <dgm:spPr/>
      <dgm:t>
        <a:bodyPr/>
        <a:lstStyle/>
        <a:p>
          <a:endParaRPr lang="en-US"/>
        </a:p>
      </dgm:t>
    </dgm:pt>
    <dgm:pt modelId="{4A667FEF-56E4-40D1-9881-092A65990ECB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Sốt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hoặc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hạ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nhiệt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độ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71FCAC8D-DECE-44AB-8A10-558C7E435936}" type="parTrans" cxnId="{2C98157A-2772-4289-9656-9EFC9A130511}">
      <dgm:prSet/>
      <dgm:spPr/>
      <dgm:t>
        <a:bodyPr/>
        <a:lstStyle/>
        <a:p>
          <a:endParaRPr lang="en-US"/>
        </a:p>
      </dgm:t>
    </dgm:pt>
    <dgm:pt modelId="{CCD7CE31-A381-4D0B-8DB0-6D2A78DFF600}" type="sibTrans" cxnId="{2C98157A-2772-4289-9656-9EFC9A130511}">
      <dgm:prSet/>
      <dgm:spPr/>
      <dgm:t>
        <a:bodyPr/>
        <a:lstStyle/>
        <a:p>
          <a:endParaRPr lang="en-US"/>
        </a:p>
      </dgm:t>
    </dgm:pt>
    <dgm:pt modelId="{62ED5088-B786-489B-A754-B62E32A0DB4F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Chậm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tăng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cân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7750CF05-9AFD-41FB-A026-2E30A5841922}" type="parTrans" cxnId="{F0C0F2B8-A561-4FB1-A1F9-821D7A0E71E3}">
      <dgm:prSet/>
      <dgm:spPr/>
      <dgm:t>
        <a:bodyPr/>
        <a:lstStyle/>
        <a:p>
          <a:endParaRPr lang="en-US"/>
        </a:p>
      </dgm:t>
    </dgm:pt>
    <dgm:pt modelId="{B38914D0-8875-4886-AC8C-CE7D17FA5AE8}" type="sibTrans" cxnId="{F0C0F2B8-A561-4FB1-A1F9-821D7A0E71E3}">
      <dgm:prSet/>
      <dgm:spPr/>
      <dgm:t>
        <a:bodyPr/>
        <a:lstStyle/>
        <a:p>
          <a:endParaRPr lang="en-US"/>
        </a:p>
      </dgm:t>
    </dgm:pt>
    <dgm:pt modelId="{DBBA0A65-7656-4CE3-B666-AC2D160916CC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Ăn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kém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ED30955E-5957-44F0-ADB6-42A5B74B2A48}" type="parTrans" cxnId="{7793B3DA-3E28-4B1D-A2F4-56F52FA467C9}">
      <dgm:prSet/>
      <dgm:spPr/>
      <dgm:t>
        <a:bodyPr/>
        <a:lstStyle/>
        <a:p>
          <a:endParaRPr lang="en-US"/>
        </a:p>
      </dgm:t>
    </dgm:pt>
    <dgm:pt modelId="{12B1FD4D-0384-40E4-8082-91771A8B5829}" type="sibTrans" cxnId="{7793B3DA-3E28-4B1D-A2F4-56F52FA467C9}">
      <dgm:prSet/>
      <dgm:spPr/>
      <dgm:t>
        <a:bodyPr/>
        <a:lstStyle/>
        <a:p>
          <a:endParaRPr lang="en-US"/>
        </a:p>
      </dgm:t>
    </dgm:pt>
    <dgm:pt modelId="{BB55643C-4C08-4C4A-BE0F-786330DA8807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Nôn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chớ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12FB0F5D-7518-4D7D-8227-DE1CE507261B}" type="parTrans" cxnId="{D55A7808-7AB2-40A2-A2E9-AEA443934FC7}">
      <dgm:prSet/>
      <dgm:spPr/>
      <dgm:t>
        <a:bodyPr/>
        <a:lstStyle/>
        <a:p>
          <a:endParaRPr lang="en-US"/>
        </a:p>
      </dgm:t>
    </dgm:pt>
    <dgm:pt modelId="{23AE73DB-A8FD-43BF-8BEB-77A522720D61}" type="sibTrans" cxnId="{D55A7808-7AB2-40A2-A2E9-AEA443934FC7}">
      <dgm:prSet/>
      <dgm:spPr/>
      <dgm:t>
        <a:bodyPr/>
        <a:lstStyle/>
        <a:p>
          <a:endParaRPr lang="en-US"/>
        </a:p>
      </dgm:t>
    </dgm:pt>
    <dgm:pt modelId="{F601BFF0-2615-4216-89EF-F3805EE38DD3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ỉa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chảy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E9ED9729-3936-4D96-A333-29CCF0F775EF}" type="parTrans" cxnId="{7B4F4FF0-1B75-44F2-B2B5-3287841C99C0}">
      <dgm:prSet/>
      <dgm:spPr/>
      <dgm:t>
        <a:bodyPr/>
        <a:lstStyle/>
        <a:p>
          <a:endParaRPr lang="en-US"/>
        </a:p>
      </dgm:t>
    </dgm:pt>
    <dgm:pt modelId="{B1ADDC88-A6DA-4B3C-B07C-73ED537187A9}" type="sibTrans" cxnId="{7B4F4FF0-1B75-44F2-B2B5-3287841C99C0}">
      <dgm:prSet/>
      <dgm:spPr/>
      <dgm:t>
        <a:bodyPr/>
        <a:lstStyle/>
        <a:p>
          <a:endParaRPr lang="en-US"/>
        </a:p>
      </dgm:t>
    </dgm:pt>
    <dgm:pt modelId="{2F42DA8A-F38A-4F4E-9DCE-C337A652AA2B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Quấy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khóc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nhất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là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khi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đi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tiểu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50FFBDAD-D6FB-40D5-ADFE-070FE5B2CBDB}" type="parTrans" cxnId="{445C2F9C-2105-4B7D-8774-F4C9ACDB7D2B}">
      <dgm:prSet/>
      <dgm:spPr/>
      <dgm:t>
        <a:bodyPr/>
        <a:lstStyle/>
        <a:p>
          <a:endParaRPr lang="en-US"/>
        </a:p>
      </dgm:t>
    </dgm:pt>
    <dgm:pt modelId="{C6D83DFC-2AB8-4B06-ADE0-0704D27E10A7}" type="sibTrans" cxnId="{445C2F9C-2105-4B7D-8774-F4C9ACDB7D2B}">
      <dgm:prSet/>
      <dgm:spPr/>
      <dgm:t>
        <a:bodyPr/>
        <a:lstStyle/>
        <a:p>
          <a:endParaRPr lang="en-US"/>
        </a:p>
      </dgm:t>
    </dgm:pt>
    <dgm:pt modelId="{6739624E-6765-4C06-881D-AF53B725CAE2}">
      <dgm:prSet/>
      <dgm:spPr/>
      <dgm:t>
        <a:bodyPr/>
        <a:lstStyle/>
        <a:p>
          <a:pPr rtl="0"/>
          <a:r>
            <a:rPr lang="en-US" b="1" dirty="0" err="1" smtClean="0">
              <a:solidFill>
                <a:srgbClr val="FFFF00"/>
              </a:solidFill>
            </a:rPr>
            <a:t>Đôi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khi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có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dấu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hiệu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của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nhiễm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khuẩn</a:t>
          </a:r>
          <a:r>
            <a:rPr lang="en-US" b="1" dirty="0" smtClean="0">
              <a:solidFill>
                <a:srgbClr val="FFFF00"/>
              </a:solidFill>
            </a:rPr>
            <a:t> </a:t>
          </a:r>
          <a:r>
            <a:rPr lang="en-US" b="1" dirty="0" err="1" smtClean="0">
              <a:solidFill>
                <a:srgbClr val="FFFF00"/>
              </a:solidFill>
            </a:rPr>
            <a:t>huyết</a:t>
          </a:r>
          <a:r>
            <a:rPr lang="en-US" b="1" dirty="0" smtClean="0">
              <a:solidFill>
                <a:srgbClr val="FFFF00"/>
              </a:solidFill>
            </a:rPr>
            <a:t>.</a:t>
          </a:r>
          <a:endParaRPr lang="en-US" b="1" dirty="0">
            <a:solidFill>
              <a:srgbClr val="FFFF00"/>
            </a:solidFill>
          </a:endParaRPr>
        </a:p>
      </dgm:t>
    </dgm:pt>
    <dgm:pt modelId="{7B73CD41-A619-4D1F-A14B-50BEAA63CCFC}" type="parTrans" cxnId="{BB02E0E8-27A4-4646-A22E-F082ABD4CAB8}">
      <dgm:prSet/>
      <dgm:spPr/>
      <dgm:t>
        <a:bodyPr/>
        <a:lstStyle/>
        <a:p>
          <a:endParaRPr lang="en-US"/>
        </a:p>
      </dgm:t>
    </dgm:pt>
    <dgm:pt modelId="{8CC4CA0C-DC97-42BD-9747-DA841CAACC24}" type="sibTrans" cxnId="{BB02E0E8-27A4-4646-A22E-F082ABD4CAB8}">
      <dgm:prSet/>
      <dgm:spPr/>
      <dgm:t>
        <a:bodyPr/>
        <a:lstStyle/>
        <a:p>
          <a:endParaRPr lang="en-US"/>
        </a:p>
      </dgm:t>
    </dgm:pt>
    <dgm:pt modelId="{DF0247B6-806E-466E-B5A8-09ED50508614}" type="pres">
      <dgm:prSet presAssocID="{974537A5-A098-4A83-A4B4-444A102153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35CAD2-0FDB-42CA-A87C-8979AE0B5D9D}" type="pres">
      <dgm:prSet presAssocID="{6006022B-DA04-469D-A1B1-740497371B22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5C81BC-7A15-455A-9467-F8864E7E52AD}" type="pres">
      <dgm:prSet presAssocID="{CF9B1FF6-C1F7-48C4-9170-89D9169864D0}" presName="spacer" presStyleCnt="0"/>
      <dgm:spPr/>
    </dgm:pt>
    <dgm:pt modelId="{0E9CE31E-F70C-41D6-828E-D1E13B81858D}" type="pres">
      <dgm:prSet presAssocID="{4A667FEF-56E4-40D1-9881-092A65990ECB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3FA728-9276-4636-8A73-D803BE4184ED}" type="pres">
      <dgm:prSet presAssocID="{CCD7CE31-A381-4D0B-8DB0-6D2A78DFF600}" presName="spacer" presStyleCnt="0"/>
      <dgm:spPr/>
    </dgm:pt>
    <dgm:pt modelId="{C0D2E0F4-0E86-4296-A3BA-7034399CD8DE}" type="pres">
      <dgm:prSet presAssocID="{62ED5088-B786-489B-A754-B62E32A0DB4F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69137C-1181-4F7D-93F1-2B0F58D75E69}" type="pres">
      <dgm:prSet presAssocID="{B38914D0-8875-4886-AC8C-CE7D17FA5AE8}" presName="spacer" presStyleCnt="0"/>
      <dgm:spPr/>
    </dgm:pt>
    <dgm:pt modelId="{DC4C8775-0274-4B53-9EAF-C36E8A96585A}" type="pres">
      <dgm:prSet presAssocID="{DBBA0A65-7656-4CE3-B666-AC2D160916CC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E0CC7D-37B8-4067-9466-C87B7371C3E3}" type="pres">
      <dgm:prSet presAssocID="{12B1FD4D-0384-40E4-8082-91771A8B5829}" presName="spacer" presStyleCnt="0"/>
      <dgm:spPr/>
    </dgm:pt>
    <dgm:pt modelId="{717EADFB-236F-4B01-8D91-1B62D7F93836}" type="pres">
      <dgm:prSet presAssocID="{BB55643C-4C08-4C4A-BE0F-786330DA8807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59693D-D998-483A-90AF-6DDE7DDD47CB}" type="pres">
      <dgm:prSet presAssocID="{23AE73DB-A8FD-43BF-8BEB-77A522720D61}" presName="spacer" presStyleCnt="0"/>
      <dgm:spPr/>
    </dgm:pt>
    <dgm:pt modelId="{CDFBCC32-FDCC-404B-AEB2-8CEF0651FB24}" type="pres">
      <dgm:prSet presAssocID="{F601BFF0-2615-4216-89EF-F3805EE38DD3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800768-986D-4C64-845F-EBE2577C7212}" type="pres">
      <dgm:prSet presAssocID="{B1ADDC88-A6DA-4B3C-B07C-73ED537187A9}" presName="spacer" presStyleCnt="0"/>
      <dgm:spPr/>
    </dgm:pt>
    <dgm:pt modelId="{BE40008F-B49B-4175-92C1-BBB4C859A731}" type="pres">
      <dgm:prSet presAssocID="{2F42DA8A-F38A-4F4E-9DCE-C337A652AA2B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986B8D-43FF-40E5-AD39-882CFA22CD08}" type="pres">
      <dgm:prSet presAssocID="{C6D83DFC-2AB8-4B06-ADE0-0704D27E10A7}" presName="spacer" presStyleCnt="0"/>
      <dgm:spPr/>
    </dgm:pt>
    <dgm:pt modelId="{C0E60CC7-9C8B-4029-96C4-BC45CF0EEB9B}" type="pres">
      <dgm:prSet presAssocID="{6739624E-6765-4C06-881D-AF53B725CAE2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6BDC4C9-B1F6-46D5-A847-B068AFB366A3}" type="presOf" srcId="{62ED5088-B786-489B-A754-B62E32A0DB4F}" destId="{C0D2E0F4-0E86-4296-A3BA-7034399CD8DE}" srcOrd="0" destOrd="0" presId="urn:microsoft.com/office/officeart/2005/8/layout/vList2"/>
    <dgm:cxn modelId="{7B4F4FF0-1B75-44F2-B2B5-3287841C99C0}" srcId="{974537A5-A098-4A83-A4B4-444A10215324}" destId="{F601BFF0-2615-4216-89EF-F3805EE38DD3}" srcOrd="5" destOrd="0" parTransId="{E9ED9729-3936-4D96-A333-29CCF0F775EF}" sibTransId="{B1ADDC88-A6DA-4B3C-B07C-73ED537187A9}"/>
    <dgm:cxn modelId="{274ED7FC-C9C8-4B76-9D9B-168DA5001801}" type="presOf" srcId="{2F42DA8A-F38A-4F4E-9DCE-C337A652AA2B}" destId="{BE40008F-B49B-4175-92C1-BBB4C859A731}" srcOrd="0" destOrd="0" presId="urn:microsoft.com/office/officeart/2005/8/layout/vList2"/>
    <dgm:cxn modelId="{2F14816C-159C-4EE1-8FAD-D9EABA84E5B3}" type="presOf" srcId="{974537A5-A098-4A83-A4B4-444A10215324}" destId="{DF0247B6-806E-466E-B5A8-09ED50508614}" srcOrd="0" destOrd="0" presId="urn:microsoft.com/office/officeart/2005/8/layout/vList2"/>
    <dgm:cxn modelId="{445C2F9C-2105-4B7D-8774-F4C9ACDB7D2B}" srcId="{974537A5-A098-4A83-A4B4-444A10215324}" destId="{2F42DA8A-F38A-4F4E-9DCE-C337A652AA2B}" srcOrd="6" destOrd="0" parTransId="{50FFBDAD-D6FB-40D5-ADFE-070FE5B2CBDB}" sibTransId="{C6D83DFC-2AB8-4B06-ADE0-0704D27E10A7}"/>
    <dgm:cxn modelId="{BB02E0E8-27A4-4646-A22E-F082ABD4CAB8}" srcId="{974537A5-A098-4A83-A4B4-444A10215324}" destId="{6739624E-6765-4C06-881D-AF53B725CAE2}" srcOrd="7" destOrd="0" parTransId="{7B73CD41-A619-4D1F-A14B-50BEAA63CCFC}" sibTransId="{8CC4CA0C-DC97-42BD-9747-DA841CAACC24}"/>
    <dgm:cxn modelId="{552EDF6A-6055-4916-8B57-FA97713AA89B}" type="presOf" srcId="{6739624E-6765-4C06-881D-AF53B725CAE2}" destId="{C0E60CC7-9C8B-4029-96C4-BC45CF0EEB9B}" srcOrd="0" destOrd="0" presId="urn:microsoft.com/office/officeart/2005/8/layout/vList2"/>
    <dgm:cxn modelId="{16CDE6C3-A133-4871-AE52-AEE757671987}" type="presOf" srcId="{DBBA0A65-7656-4CE3-B666-AC2D160916CC}" destId="{DC4C8775-0274-4B53-9EAF-C36E8A96585A}" srcOrd="0" destOrd="0" presId="urn:microsoft.com/office/officeart/2005/8/layout/vList2"/>
    <dgm:cxn modelId="{C9786456-4801-4ABD-8ADF-489FD5D551B2}" type="presOf" srcId="{4A667FEF-56E4-40D1-9881-092A65990ECB}" destId="{0E9CE31E-F70C-41D6-828E-D1E13B81858D}" srcOrd="0" destOrd="0" presId="urn:microsoft.com/office/officeart/2005/8/layout/vList2"/>
    <dgm:cxn modelId="{BC0AD7BB-CC06-4D27-9716-EE6E84228495}" type="presOf" srcId="{F601BFF0-2615-4216-89EF-F3805EE38DD3}" destId="{CDFBCC32-FDCC-404B-AEB2-8CEF0651FB24}" srcOrd="0" destOrd="0" presId="urn:microsoft.com/office/officeart/2005/8/layout/vList2"/>
    <dgm:cxn modelId="{D55A7808-7AB2-40A2-A2E9-AEA443934FC7}" srcId="{974537A5-A098-4A83-A4B4-444A10215324}" destId="{BB55643C-4C08-4C4A-BE0F-786330DA8807}" srcOrd="4" destOrd="0" parTransId="{12FB0F5D-7518-4D7D-8227-DE1CE507261B}" sibTransId="{23AE73DB-A8FD-43BF-8BEB-77A522720D61}"/>
    <dgm:cxn modelId="{7793B3DA-3E28-4B1D-A2F4-56F52FA467C9}" srcId="{974537A5-A098-4A83-A4B4-444A10215324}" destId="{DBBA0A65-7656-4CE3-B666-AC2D160916CC}" srcOrd="3" destOrd="0" parTransId="{ED30955E-5957-44F0-ADB6-42A5B74B2A48}" sibTransId="{12B1FD4D-0384-40E4-8082-91771A8B5829}"/>
    <dgm:cxn modelId="{F7264484-94B3-4E41-A6DA-87D7D3B2CF54}" srcId="{974537A5-A098-4A83-A4B4-444A10215324}" destId="{6006022B-DA04-469D-A1B1-740497371B22}" srcOrd="0" destOrd="0" parTransId="{38FF2D1E-5E2A-480C-B2D0-3068C9654776}" sibTransId="{CF9B1FF6-C1F7-48C4-9170-89D9169864D0}"/>
    <dgm:cxn modelId="{E450D271-DB5C-436D-98D5-612992B1CD14}" type="presOf" srcId="{BB55643C-4C08-4C4A-BE0F-786330DA8807}" destId="{717EADFB-236F-4B01-8D91-1B62D7F93836}" srcOrd="0" destOrd="0" presId="urn:microsoft.com/office/officeart/2005/8/layout/vList2"/>
    <dgm:cxn modelId="{F0C0F2B8-A561-4FB1-A1F9-821D7A0E71E3}" srcId="{974537A5-A098-4A83-A4B4-444A10215324}" destId="{62ED5088-B786-489B-A754-B62E32A0DB4F}" srcOrd="2" destOrd="0" parTransId="{7750CF05-9AFD-41FB-A026-2E30A5841922}" sibTransId="{B38914D0-8875-4886-AC8C-CE7D17FA5AE8}"/>
    <dgm:cxn modelId="{2C98157A-2772-4289-9656-9EFC9A130511}" srcId="{974537A5-A098-4A83-A4B4-444A10215324}" destId="{4A667FEF-56E4-40D1-9881-092A65990ECB}" srcOrd="1" destOrd="0" parTransId="{71FCAC8D-DECE-44AB-8A10-558C7E435936}" sibTransId="{CCD7CE31-A381-4D0B-8DB0-6D2A78DFF600}"/>
    <dgm:cxn modelId="{AEC5C4EB-8BCA-43B7-BCF6-EF28C9B66F48}" type="presOf" srcId="{6006022B-DA04-469D-A1B1-740497371B22}" destId="{5935CAD2-0FDB-42CA-A87C-8979AE0B5D9D}" srcOrd="0" destOrd="0" presId="urn:microsoft.com/office/officeart/2005/8/layout/vList2"/>
    <dgm:cxn modelId="{A4F7F639-FBF1-4627-8F03-E83516B9ABD5}" type="presParOf" srcId="{DF0247B6-806E-466E-B5A8-09ED50508614}" destId="{5935CAD2-0FDB-42CA-A87C-8979AE0B5D9D}" srcOrd="0" destOrd="0" presId="urn:microsoft.com/office/officeart/2005/8/layout/vList2"/>
    <dgm:cxn modelId="{48AD86D6-2F85-4D99-86BF-27091547F19D}" type="presParOf" srcId="{DF0247B6-806E-466E-B5A8-09ED50508614}" destId="{BC5C81BC-7A15-455A-9467-F8864E7E52AD}" srcOrd="1" destOrd="0" presId="urn:microsoft.com/office/officeart/2005/8/layout/vList2"/>
    <dgm:cxn modelId="{D9AA46FC-8AC3-452F-8096-6698F02EFF30}" type="presParOf" srcId="{DF0247B6-806E-466E-B5A8-09ED50508614}" destId="{0E9CE31E-F70C-41D6-828E-D1E13B81858D}" srcOrd="2" destOrd="0" presId="urn:microsoft.com/office/officeart/2005/8/layout/vList2"/>
    <dgm:cxn modelId="{440107A4-9DAF-4EC5-86F9-80AF5739B802}" type="presParOf" srcId="{DF0247B6-806E-466E-B5A8-09ED50508614}" destId="{853FA728-9276-4636-8A73-D803BE4184ED}" srcOrd="3" destOrd="0" presId="urn:microsoft.com/office/officeart/2005/8/layout/vList2"/>
    <dgm:cxn modelId="{571E3E49-AE59-4B16-8E4F-F7F3BA3778EF}" type="presParOf" srcId="{DF0247B6-806E-466E-B5A8-09ED50508614}" destId="{C0D2E0F4-0E86-4296-A3BA-7034399CD8DE}" srcOrd="4" destOrd="0" presId="urn:microsoft.com/office/officeart/2005/8/layout/vList2"/>
    <dgm:cxn modelId="{08998BF6-179E-49FB-84A5-7F26B6B422D6}" type="presParOf" srcId="{DF0247B6-806E-466E-B5A8-09ED50508614}" destId="{6869137C-1181-4F7D-93F1-2B0F58D75E69}" srcOrd="5" destOrd="0" presId="urn:microsoft.com/office/officeart/2005/8/layout/vList2"/>
    <dgm:cxn modelId="{F6CE176F-2966-4B0E-BDE8-DB51E327069D}" type="presParOf" srcId="{DF0247B6-806E-466E-B5A8-09ED50508614}" destId="{DC4C8775-0274-4B53-9EAF-C36E8A96585A}" srcOrd="6" destOrd="0" presId="urn:microsoft.com/office/officeart/2005/8/layout/vList2"/>
    <dgm:cxn modelId="{BE60C716-96C2-4DBC-8FB1-5084421A8BC3}" type="presParOf" srcId="{DF0247B6-806E-466E-B5A8-09ED50508614}" destId="{79E0CC7D-37B8-4067-9466-C87B7371C3E3}" srcOrd="7" destOrd="0" presId="urn:microsoft.com/office/officeart/2005/8/layout/vList2"/>
    <dgm:cxn modelId="{7EE52420-7D79-431F-95D0-F45779B33191}" type="presParOf" srcId="{DF0247B6-806E-466E-B5A8-09ED50508614}" destId="{717EADFB-236F-4B01-8D91-1B62D7F93836}" srcOrd="8" destOrd="0" presId="urn:microsoft.com/office/officeart/2005/8/layout/vList2"/>
    <dgm:cxn modelId="{DC3CAC55-7A54-4352-8F31-C705D92905EA}" type="presParOf" srcId="{DF0247B6-806E-466E-B5A8-09ED50508614}" destId="{C959693D-D998-483A-90AF-6DDE7DDD47CB}" srcOrd="9" destOrd="0" presId="urn:microsoft.com/office/officeart/2005/8/layout/vList2"/>
    <dgm:cxn modelId="{504F0168-5DC9-4995-9711-C9D3F7B7DEEC}" type="presParOf" srcId="{DF0247B6-806E-466E-B5A8-09ED50508614}" destId="{CDFBCC32-FDCC-404B-AEB2-8CEF0651FB24}" srcOrd="10" destOrd="0" presId="urn:microsoft.com/office/officeart/2005/8/layout/vList2"/>
    <dgm:cxn modelId="{399EE860-E0F2-44AA-9AEE-AB64DE30BD8E}" type="presParOf" srcId="{DF0247B6-806E-466E-B5A8-09ED50508614}" destId="{FA800768-986D-4C64-845F-EBE2577C7212}" srcOrd="11" destOrd="0" presId="urn:microsoft.com/office/officeart/2005/8/layout/vList2"/>
    <dgm:cxn modelId="{BB53481D-DB4A-4D00-AFFB-BE9A4EE07B86}" type="presParOf" srcId="{DF0247B6-806E-466E-B5A8-09ED50508614}" destId="{BE40008F-B49B-4175-92C1-BBB4C859A731}" srcOrd="12" destOrd="0" presId="urn:microsoft.com/office/officeart/2005/8/layout/vList2"/>
    <dgm:cxn modelId="{F859B104-1172-4AB6-A259-014B4D4676DC}" type="presParOf" srcId="{DF0247B6-806E-466E-B5A8-09ED50508614}" destId="{40986B8D-43FF-40E5-AD39-882CFA22CD08}" srcOrd="13" destOrd="0" presId="urn:microsoft.com/office/officeart/2005/8/layout/vList2"/>
    <dgm:cxn modelId="{B8EDED53-E825-4E61-931C-8E4DD2724250}" type="presParOf" srcId="{DF0247B6-806E-466E-B5A8-09ED50508614}" destId="{C0E60CC7-9C8B-4029-96C4-BC45CF0EEB9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5E237-8CE4-48F4-A6F9-33BDDA8D7358}">
      <dsp:nvSpPr>
        <dsp:cNvPr id="0" name=""/>
        <dsp:cNvSpPr/>
      </dsp:nvSpPr>
      <dsp:spPr>
        <a:xfrm>
          <a:off x="876773" y="2582"/>
          <a:ext cx="3163156" cy="2634064"/>
        </a:xfrm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51CE09-56E6-49A6-93DB-5D145D18DFEF}">
      <dsp:nvSpPr>
        <dsp:cNvPr id="0" name=""/>
        <dsp:cNvSpPr/>
      </dsp:nvSpPr>
      <dsp:spPr>
        <a:xfrm>
          <a:off x="1498378" y="2498487"/>
          <a:ext cx="2010753" cy="745989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Giải phẫu</a:t>
          </a:r>
          <a:endParaRPr lang="en-US" sz="3000" kern="1200"/>
        </a:p>
      </dsp:txBody>
      <dsp:txXfrm>
        <a:off x="1498378" y="2498487"/>
        <a:ext cx="2010753" cy="745989"/>
      </dsp:txXfrm>
    </dsp:sp>
    <dsp:sp modelId="{72F35500-1A1C-482A-BD7E-A8E6DBA4D582}">
      <dsp:nvSpPr>
        <dsp:cNvPr id="0" name=""/>
        <dsp:cNvSpPr/>
      </dsp:nvSpPr>
      <dsp:spPr>
        <a:xfrm>
          <a:off x="4293490" y="0"/>
          <a:ext cx="3264136" cy="2546797"/>
        </a:xfrm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1B1EE6-DB7C-4A11-9A94-6FCF685B8AD1}">
      <dsp:nvSpPr>
        <dsp:cNvPr id="0" name=""/>
        <dsp:cNvSpPr/>
      </dsp:nvSpPr>
      <dsp:spPr>
        <a:xfrm>
          <a:off x="4900053" y="2385988"/>
          <a:ext cx="2010753" cy="745989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Sinh lí </a:t>
          </a:r>
          <a:endParaRPr lang="en-US" sz="3000" kern="1200"/>
        </a:p>
      </dsp:txBody>
      <dsp:txXfrm>
        <a:off x="4900053" y="2385988"/>
        <a:ext cx="2010753" cy="745989"/>
      </dsp:txXfrm>
    </dsp:sp>
    <dsp:sp modelId="{C2F0F2DF-17B6-4439-9C74-BDA54DBE9D15}">
      <dsp:nvSpPr>
        <dsp:cNvPr id="0" name=""/>
        <dsp:cNvSpPr/>
      </dsp:nvSpPr>
      <dsp:spPr>
        <a:xfrm>
          <a:off x="3124204" y="2888990"/>
          <a:ext cx="2857541" cy="2005864"/>
        </a:xfrm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3E5307-2466-4BCD-842E-18371CBB59E4}">
      <dsp:nvSpPr>
        <dsp:cNvPr id="0" name=""/>
        <dsp:cNvSpPr/>
      </dsp:nvSpPr>
      <dsp:spPr>
        <a:xfrm>
          <a:off x="3200402" y="4565389"/>
          <a:ext cx="2010753" cy="745989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Miễn dịch</a:t>
          </a:r>
          <a:endParaRPr lang="en-US" sz="3000" kern="1200"/>
        </a:p>
      </dsp:txBody>
      <dsp:txXfrm>
        <a:off x="3200402" y="4565389"/>
        <a:ext cx="2010753" cy="745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B61A9-D526-49FE-B677-4F55C050E4B0}">
      <dsp:nvSpPr>
        <dsp:cNvPr id="0" name=""/>
        <dsp:cNvSpPr/>
      </dsp:nvSpPr>
      <dsp:spPr>
        <a:xfrm>
          <a:off x="2628899" y="61912"/>
          <a:ext cx="2971800" cy="2971800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smtClean="0"/>
            <a:t> </a:t>
          </a:r>
          <a:endParaRPr lang="en-US" sz="6500" kern="1200"/>
        </a:p>
      </dsp:txBody>
      <dsp:txXfrm>
        <a:off x="3025140" y="581977"/>
        <a:ext cx="2179320" cy="1337310"/>
      </dsp:txXfrm>
    </dsp:sp>
    <dsp:sp modelId="{3ED21C7F-CA18-4FFE-98BB-4ACC7B7C30A3}">
      <dsp:nvSpPr>
        <dsp:cNvPr id="0" name=""/>
        <dsp:cNvSpPr/>
      </dsp:nvSpPr>
      <dsp:spPr>
        <a:xfrm>
          <a:off x="4191006" y="1981190"/>
          <a:ext cx="2971800" cy="2971800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5099882" y="2748905"/>
        <a:ext cx="1783080" cy="1634490"/>
      </dsp:txXfrm>
    </dsp:sp>
    <dsp:sp modelId="{60B58B82-DDA7-406E-8BD8-B486B80CEBEC}">
      <dsp:nvSpPr>
        <dsp:cNvPr id="0" name=""/>
        <dsp:cNvSpPr/>
      </dsp:nvSpPr>
      <dsp:spPr>
        <a:xfrm>
          <a:off x="990596" y="1904993"/>
          <a:ext cx="2971800" cy="2971800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1270440" y="2672708"/>
        <a:ext cx="1783080" cy="1634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5CAD2-0FDB-42CA-A87C-8979AE0B5D9D}">
      <dsp:nvSpPr>
        <dsp:cNvPr id="0" name=""/>
        <dsp:cNvSpPr/>
      </dsp:nvSpPr>
      <dsp:spPr>
        <a:xfrm>
          <a:off x="0" y="15659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Vàng</a:t>
          </a:r>
          <a:r>
            <a:rPr lang="en-US" sz="2300" b="1" kern="1200" dirty="0" smtClean="0">
              <a:solidFill>
                <a:srgbClr val="FFFF00"/>
              </a:solidFill>
            </a:rPr>
            <a:t> da.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41932"/>
        <a:ext cx="8177054" cy="485654"/>
      </dsp:txXfrm>
    </dsp:sp>
    <dsp:sp modelId="{0E9CE31E-F70C-41D6-828E-D1E13B81858D}">
      <dsp:nvSpPr>
        <dsp:cNvPr id="0" name=""/>
        <dsp:cNvSpPr/>
      </dsp:nvSpPr>
      <dsp:spPr>
        <a:xfrm>
          <a:off x="0" y="620099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Sốt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hoặc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hạ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nhiệt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độ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646372"/>
        <a:ext cx="8177054" cy="485654"/>
      </dsp:txXfrm>
    </dsp:sp>
    <dsp:sp modelId="{C0D2E0F4-0E86-4296-A3BA-7034399CD8DE}">
      <dsp:nvSpPr>
        <dsp:cNvPr id="0" name=""/>
        <dsp:cNvSpPr/>
      </dsp:nvSpPr>
      <dsp:spPr>
        <a:xfrm>
          <a:off x="0" y="1224539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Chậm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tăng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cân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1250812"/>
        <a:ext cx="8177054" cy="485654"/>
      </dsp:txXfrm>
    </dsp:sp>
    <dsp:sp modelId="{DC4C8775-0274-4B53-9EAF-C36E8A96585A}">
      <dsp:nvSpPr>
        <dsp:cNvPr id="0" name=""/>
        <dsp:cNvSpPr/>
      </dsp:nvSpPr>
      <dsp:spPr>
        <a:xfrm>
          <a:off x="0" y="1828980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Ăn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kém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1855253"/>
        <a:ext cx="8177054" cy="485654"/>
      </dsp:txXfrm>
    </dsp:sp>
    <dsp:sp modelId="{717EADFB-236F-4B01-8D91-1B62D7F93836}">
      <dsp:nvSpPr>
        <dsp:cNvPr id="0" name=""/>
        <dsp:cNvSpPr/>
      </dsp:nvSpPr>
      <dsp:spPr>
        <a:xfrm>
          <a:off x="0" y="2433420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Nôn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chớ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2459693"/>
        <a:ext cx="8177054" cy="485654"/>
      </dsp:txXfrm>
    </dsp:sp>
    <dsp:sp modelId="{CDFBCC32-FDCC-404B-AEB2-8CEF0651FB24}">
      <dsp:nvSpPr>
        <dsp:cNvPr id="0" name=""/>
        <dsp:cNvSpPr/>
      </dsp:nvSpPr>
      <dsp:spPr>
        <a:xfrm>
          <a:off x="0" y="3037860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ỉa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chảy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3064133"/>
        <a:ext cx="8177054" cy="485654"/>
      </dsp:txXfrm>
    </dsp:sp>
    <dsp:sp modelId="{BE40008F-B49B-4175-92C1-BBB4C859A731}">
      <dsp:nvSpPr>
        <dsp:cNvPr id="0" name=""/>
        <dsp:cNvSpPr/>
      </dsp:nvSpPr>
      <dsp:spPr>
        <a:xfrm>
          <a:off x="0" y="3642300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Quấy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khóc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nhất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là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khi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đi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tiểu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3668573"/>
        <a:ext cx="8177054" cy="485654"/>
      </dsp:txXfrm>
    </dsp:sp>
    <dsp:sp modelId="{C0E60CC7-9C8B-4029-96C4-BC45CF0EEB9B}">
      <dsp:nvSpPr>
        <dsp:cNvPr id="0" name=""/>
        <dsp:cNvSpPr/>
      </dsp:nvSpPr>
      <dsp:spPr>
        <a:xfrm>
          <a:off x="0" y="4246740"/>
          <a:ext cx="82296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>
              <a:solidFill>
                <a:srgbClr val="FFFF00"/>
              </a:solidFill>
            </a:rPr>
            <a:t>Đôi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khi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có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dấu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hiệu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của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nhiễm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khuẩn</a:t>
          </a:r>
          <a:r>
            <a:rPr lang="en-US" sz="2300" b="1" kern="1200" dirty="0" smtClean="0">
              <a:solidFill>
                <a:srgbClr val="FFFF00"/>
              </a:solidFill>
            </a:rPr>
            <a:t> </a:t>
          </a:r>
          <a:r>
            <a:rPr lang="en-US" sz="2300" b="1" kern="1200" dirty="0" err="1" smtClean="0">
              <a:solidFill>
                <a:srgbClr val="FFFF00"/>
              </a:solidFill>
            </a:rPr>
            <a:t>huyết</a:t>
          </a:r>
          <a:r>
            <a:rPr lang="en-US" sz="2300" b="1" kern="1200" dirty="0" smtClean="0">
              <a:solidFill>
                <a:srgbClr val="FFFF00"/>
              </a:solidFill>
            </a:rPr>
            <a:t>.</a:t>
          </a:r>
          <a:endParaRPr lang="en-US" sz="2300" b="1" kern="1200" dirty="0">
            <a:solidFill>
              <a:srgbClr val="FFFF00"/>
            </a:solidFill>
          </a:endParaRPr>
        </a:p>
      </dsp:txBody>
      <dsp:txXfrm>
        <a:off x="26273" y="4273013"/>
        <a:ext cx="8177054" cy="485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5EFEDDD-4170-48D6-9B27-D120DC1E73FC}" type="datetimeFigureOut">
              <a:rPr lang="en-US" smtClean="0"/>
              <a:t>6/13/2018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901BC29-D9FD-4E93-B34C-29AD5C38E810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62000"/>
            <a:ext cx="7851648" cy="4495800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  <a:effectLst/>
              </a:rPr>
              <a:t>NHIỄM KHUẨN TIẾT NIỆU </a:t>
            </a:r>
            <a:br>
              <a:rPr lang="en-US" sz="7200" dirty="0" smtClean="0">
                <a:solidFill>
                  <a:srgbClr val="FFFF00"/>
                </a:solidFill>
                <a:effectLst/>
              </a:rPr>
            </a:br>
            <a:r>
              <a:rPr lang="en-US" sz="7200" dirty="0" smtClean="0">
                <a:solidFill>
                  <a:srgbClr val="FFFF00"/>
                </a:solidFill>
                <a:effectLst/>
              </a:rPr>
              <a:t>Ở TRẺ EM</a:t>
            </a:r>
            <a:br>
              <a:rPr lang="en-US" sz="7200" dirty="0" smtClean="0">
                <a:solidFill>
                  <a:srgbClr val="FFFF00"/>
                </a:solidFill>
                <a:effectLst/>
              </a:rPr>
            </a:br>
            <a:r>
              <a:rPr lang="en-US" sz="3600" dirty="0" smtClean="0">
                <a:solidFill>
                  <a:srgbClr val="FFFF00"/>
                </a:solidFill>
                <a:effectLst/>
              </a:rPr>
              <a:t>URINARY TRACT IFNECTION</a:t>
            </a:r>
            <a:endParaRPr lang="en-US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486400"/>
            <a:ext cx="830580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NHÓM THẬN MÁU </a:t>
            </a:r>
          </a:p>
          <a:p>
            <a:r>
              <a:rPr lang="en-US" dirty="0" smtClean="0"/>
              <a:t>CLB NHI-ĐH Y DƯỢC HẢI PHÒNG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9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1028700" indent="-1028700">
              <a:buFont typeface="+mj-lt"/>
              <a:buAutoNum type="romanUcPeriod"/>
            </a:pPr>
            <a:r>
              <a:rPr lang="en-US" b="1" dirty="0" smtClean="0">
                <a:solidFill>
                  <a:srgbClr val="FF0000"/>
                </a:solidFill>
              </a:rPr>
              <a:t>ĐẠI CƯƠNG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 smtClean="0"/>
              <a:t>1.Định </a:t>
            </a:r>
            <a:r>
              <a:rPr lang="en-US" sz="3200" b="1" dirty="0" err="1" smtClean="0"/>
              <a:t>nghĩa</a:t>
            </a:r>
            <a:r>
              <a:rPr lang="en-US" sz="3200" b="1" dirty="0" smtClean="0"/>
              <a:t> </a:t>
            </a:r>
          </a:p>
          <a:p>
            <a:pPr marL="0" indent="0">
              <a:buNone/>
            </a:pPr>
            <a:r>
              <a:rPr lang="en-US" sz="3200" dirty="0" err="1" smtClean="0"/>
              <a:t>Nhiễm</a:t>
            </a:r>
            <a:r>
              <a:rPr lang="en-US" sz="3200" dirty="0" smtClean="0"/>
              <a:t> </a:t>
            </a:r>
            <a:r>
              <a:rPr lang="en-US" sz="3200" dirty="0" err="1" smtClean="0"/>
              <a:t>khuẩn</a:t>
            </a:r>
            <a:r>
              <a:rPr lang="en-US" sz="3200" dirty="0" smtClean="0"/>
              <a:t> </a:t>
            </a:r>
            <a:r>
              <a:rPr lang="en-US" sz="3200" dirty="0" err="1" smtClean="0"/>
              <a:t>tiết</a:t>
            </a:r>
            <a:r>
              <a:rPr lang="en-US" sz="3200" dirty="0" smtClean="0"/>
              <a:t>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(NKTN) </a:t>
            </a:r>
            <a:r>
              <a:rPr lang="en-US" sz="3200" dirty="0" err="1" smtClean="0"/>
              <a:t>là</a:t>
            </a:r>
            <a:r>
              <a:rPr lang="en-US" sz="3200" dirty="0" smtClean="0"/>
              <a:t> </a:t>
            </a:r>
            <a:r>
              <a:rPr lang="en-US" sz="3200" dirty="0" err="1" smtClean="0"/>
              <a:t>một</a:t>
            </a:r>
            <a:r>
              <a:rPr lang="en-US" sz="3200" dirty="0" smtClean="0"/>
              <a:t> </a:t>
            </a:r>
            <a:r>
              <a:rPr lang="en-US" sz="3200" dirty="0" err="1" smtClean="0"/>
              <a:t>thuật</a:t>
            </a:r>
            <a:r>
              <a:rPr lang="en-US" sz="3200" dirty="0" smtClean="0"/>
              <a:t> </a:t>
            </a:r>
            <a:r>
              <a:rPr lang="en-US" sz="3200" dirty="0" err="1" smtClean="0"/>
              <a:t>ngữ</a:t>
            </a:r>
            <a:r>
              <a:rPr lang="en-US" sz="3200" dirty="0" smtClean="0"/>
              <a:t> </a:t>
            </a:r>
            <a:r>
              <a:rPr lang="en-US" sz="3200" dirty="0" err="1" smtClean="0"/>
              <a:t>để</a:t>
            </a:r>
            <a:r>
              <a:rPr lang="en-US" sz="3200" dirty="0" smtClean="0"/>
              <a:t> </a:t>
            </a:r>
            <a:r>
              <a:rPr lang="en-US" sz="3200" dirty="0" err="1" smtClean="0"/>
              <a:t>chỉ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tình</a:t>
            </a:r>
            <a:r>
              <a:rPr lang="en-US" sz="3200" dirty="0" smtClean="0"/>
              <a:t> </a:t>
            </a:r>
            <a:r>
              <a:rPr lang="en-US" sz="3200" dirty="0" err="1" smtClean="0"/>
              <a:t>trạng</a:t>
            </a:r>
            <a:r>
              <a:rPr lang="en-US" sz="3200" dirty="0" smtClean="0"/>
              <a:t> </a:t>
            </a:r>
            <a:r>
              <a:rPr lang="en-US" sz="3200" dirty="0" err="1" smtClean="0"/>
              <a:t>viêm</a:t>
            </a:r>
            <a:r>
              <a:rPr lang="en-US" sz="3200" dirty="0" smtClean="0"/>
              <a:t> </a:t>
            </a:r>
            <a:r>
              <a:rPr lang="en-US" sz="3200" dirty="0" err="1" smtClean="0"/>
              <a:t>nhiễm</a:t>
            </a:r>
            <a:r>
              <a:rPr lang="en-US" sz="3200" dirty="0" smtClean="0"/>
              <a:t> ở </a:t>
            </a:r>
            <a:r>
              <a:rPr lang="en-US" sz="3200" dirty="0" err="1" smtClean="0"/>
              <a:t>hệ</a:t>
            </a:r>
            <a:r>
              <a:rPr lang="en-US" sz="3200" dirty="0" smtClean="0"/>
              <a:t> </a:t>
            </a:r>
            <a:r>
              <a:rPr lang="en-US" sz="3200" dirty="0" err="1" smtClean="0"/>
              <a:t>thống</a:t>
            </a:r>
            <a:r>
              <a:rPr lang="en-US" sz="3200" dirty="0" smtClean="0"/>
              <a:t> </a:t>
            </a:r>
            <a:r>
              <a:rPr lang="en-US" sz="3200" dirty="0" err="1" smtClean="0"/>
              <a:t>tiết</a:t>
            </a:r>
            <a:r>
              <a:rPr lang="en-US" sz="3200" dirty="0" smtClean="0"/>
              <a:t> </a:t>
            </a:r>
            <a:r>
              <a:rPr lang="en-US" sz="3200" dirty="0" err="1" smtClean="0"/>
              <a:t>niệu</a:t>
            </a:r>
            <a:r>
              <a:rPr lang="en-US" sz="3200" dirty="0" smtClean="0"/>
              <a:t>, </a:t>
            </a:r>
            <a:r>
              <a:rPr lang="en-US" sz="3200" dirty="0" err="1" smtClean="0"/>
              <a:t>đặc</a:t>
            </a:r>
            <a:r>
              <a:rPr lang="en-US" sz="3200" dirty="0" smtClean="0"/>
              <a:t> </a:t>
            </a:r>
            <a:r>
              <a:rPr lang="en-US" sz="3200" dirty="0" err="1" smtClean="0"/>
              <a:t>trưng</a:t>
            </a:r>
            <a:r>
              <a:rPr lang="en-US" sz="3200" dirty="0" smtClean="0"/>
              <a:t> </a:t>
            </a:r>
            <a:r>
              <a:rPr lang="en-US" sz="3200" dirty="0" err="1" smtClean="0"/>
              <a:t>bởi</a:t>
            </a:r>
            <a:r>
              <a:rPr lang="en-US" sz="3200" dirty="0" smtClean="0"/>
              <a:t> </a:t>
            </a:r>
            <a:r>
              <a:rPr lang="en-US" sz="3200" dirty="0" err="1" smtClean="0"/>
              <a:t>sự</a:t>
            </a:r>
            <a:r>
              <a:rPr lang="en-US" sz="3200" dirty="0" smtClean="0"/>
              <a:t> </a:t>
            </a:r>
            <a:r>
              <a:rPr lang="en-US" sz="3200" dirty="0" err="1" smtClean="0"/>
              <a:t>tăng</a:t>
            </a:r>
            <a:r>
              <a:rPr lang="en-US" sz="3200" dirty="0" smtClean="0"/>
              <a:t> </a:t>
            </a:r>
            <a:r>
              <a:rPr lang="en-US" sz="3200" dirty="0" err="1" smtClean="0"/>
              <a:t>sinh</a:t>
            </a:r>
            <a:r>
              <a:rPr lang="en-US" sz="3200" dirty="0" smtClean="0"/>
              <a:t> </a:t>
            </a:r>
            <a:r>
              <a:rPr lang="en-US" sz="3200" dirty="0" err="1" smtClean="0"/>
              <a:t>số</a:t>
            </a:r>
            <a:r>
              <a:rPr lang="en-US" sz="3200" dirty="0" smtClean="0"/>
              <a:t> </a:t>
            </a:r>
            <a:r>
              <a:rPr lang="en-US" sz="3200" dirty="0" err="1" smtClean="0"/>
              <a:t>lượng</a:t>
            </a:r>
            <a:r>
              <a:rPr lang="en-US" sz="3200" dirty="0" smtClean="0"/>
              <a:t> vi </a:t>
            </a:r>
            <a:r>
              <a:rPr lang="en-US" sz="3200" dirty="0" err="1" smtClean="0"/>
              <a:t>khẩn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bạch</a:t>
            </a:r>
            <a:r>
              <a:rPr lang="en-US" sz="3200" dirty="0" smtClean="0"/>
              <a:t> </a:t>
            </a:r>
            <a:r>
              <a:rPr lang="en-US" sz="3200" dirty="0" err="1" smtClean="0"/>
              <a:t>cầu</a:t>
            </a:r>
            <a:r>
              <a:rPr lang="en-US" sz="3200" dirty="0" smtClean="0"/>
              <a:t>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</a:t>
            </a:r>
            <a:r>
              <a:rPr lang="en-US" sz="3200" dirty="0" err="1" smtClean="0"/>
              <a:t>một</a:t>
            </a:r>
            <a:r>
              <a:rPr lang="en-US" sz="3200" dirty="0" smtClean="0"/>
              <a:t> </a:t>
            </a:r>
            <a:r>
              <a:rPr lang="en-US" sz="3200" dirty="0" err="1" smtClean="0"/>
              <a:t>cách</a:t>
            </a:r>
            <a:r>
              <a:rPr lang="en-US" sz="3200" dirty="0" smtClean="0"/>
              <a:t> </a:t>
            </a:r>
            <a:r>
              <a:rPr lang="en-US" sz="3200" dirty="0" err="1" smtClean="0"/>
              <a:t>bất</a:t>
            </a:r>
            <a:r>
              <a:rPr lang="en-US" sz="3200" dirty="0" smtClean="0"/>
              <a:t> </a:t>
            </a:r>
            <a:r>
              <a:rPr lang="en-US" sz="3200" dirty="0" err="1" smtClean="0"/>
              <a:t>thường</a:t>
            </a:r>
            <a:r>
              <a:rPr lang="en-US" sz="3200" dirty="0" smtClean="0"/>
              <a:t>. </a:t>
            </a:r>
            <a:r>
              <a:rPr lang="en-US" sz="3200" dirty="0" err="1" smtClean="0"/>
              <a:t>Thuật</a:t>
            </a:r>
            <a:r>
              <a:rPr lang="en-US" sz="3200" dirty="0" smtClean="0"/>
              <a:t> </a:t>
            </a:r>
            <a:r>
              <a:rPr lang="en-US" sz="3200" dirty="0" err="1" smtClean="0"/>
              <a:t>ngữ</a:t>
            </a:r>
            <a:r>
              <a:rPr lang="en-US" sz="3200" dirty="0" smtClean="0"/>
              <a:t> </a:t>
            </a:r>
            <a:r>
              <a:rPr lang="en-US" sz="3200" dirty="0" err="1" smtClean="0"/>
              <a:t>không</a:t>
            </a:r>
            <a:r>
              <a:rPr lang="en-US" sz="3200" dirty="0" smtClean="0"/>
              <a:t> </a:t>
            </a:r>
            <a:r>
              <a:rPr lang="en-US" sz="3200" dirty="0" err="1" smtClean="0"/>
              <a:t>bao</a:t>
            </a:r>
            <a:r>
              <a:rPr lang="en-US" sz="3200" dirty="0" smtClean="0"/>
              <a:t> </a:t>
            </a:r>
            <a:r>
              <a:rPr lang="en-US" sz="3200" dirty="0" err="1" smtClean="0"/>
              <a:t>gồm</a:t>
            </a:r>
            <a:r>
              <a:rPr lang="en-US" sz="3200" dirty="0" smtClean="0"/>
              <a:t> </a:t>
            </a:r>
            <a:r>
              <a:rPr lang="en-US" sz="3200" dirty="0" err="1" smtClean="0"/>
              <a:t>bệnh</a:t>
            </a:r>
            <a:r>
              <a:rPr lang="en-US" sz="3200" dirty="0" smtClean="0"/>
              <a:t> </a:t>
            </a:r>
            <a:r>
              <a:rPr lang="en-US" sz="3200" dirty="0" err="1" smtClean="0"/>
              <a:t>hoa</a:t>
            </a:r>
            <a:r>
              <a:rPr lang="en-US" sz="3200" dirty="0" smtClean="0"/>
              <a:t> </a:t>
            </a:r>
            <a:r>
              <a:rPr lang="en-US" sz="3200" dirty="0" err="1" smtClean="0"/>
              <a:t>liễu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 </a:t>
            </a:r>
            <a:r>
              <a:rPr lang="en-US" sz="3200" dirty="0" err="1" smtClean="0"/>
              <a:t>lậu</a:t>
            </a:r>
            <a:r>
              <a:rPr lang="en-US" sz="3200" dirty="0" smtClean="0"/>
              <a:t>, </a:t>
            </a:r>
            <a:r>
              <a:rPr lang="en-US" sz="3200" dirty="0" err="1" smtClean="0"/>
              <a:t>giang</a:t>
            </a:r>
            <a:r>
              <a:rPr lang="en-US" sz="3200" dirty="0" smtClean="0"/>
              <a:t> </a:t>
            </a:r>
            <a:r>
              <a:rPr lang="en-US" sz="3200" dirty="0" err="1" smtClean="0"/>
              <a:t>mai</a:t>
            </a:r>
            <a:r>
              <a:rPr lang="en-US" sz="3200" dirty="0" smtClean="0"/>
              <a:t>…</a:t>
            </a:r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66002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144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GIẢI PHẪU ĐƯỜNG TIẾT NIỆU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4" name="Picture 3" descr="RÃ©sultat de recherche d'images pour &quot;urinary tract&quot;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52600"/>
            <a:ext cx="3962400" cy="441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089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6388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GB" sz="3600" b="1" dirty="0" err="1">
                <a:solidFill>
                  <a:srgbClr val="FF0000"/>
                </a:solidFill>
              </a:rPr>
              <a:t>Thận</a:t>
            </a:r>
            <a:r>
              <a:rPr lang="en-GB" sz="3600" b="1" dirty="0">
                <a:solidFill>
                  <a:srgbClr val="FF0000"/>
                </a:solidFill>
              </a:rPr>
              <a:t>:</a:t>
            </a:r>
            <a:r>
              <a:rPr lang="en-GB" sz="3600" b="1" dirty="0"/>
              <a:t> </a:t>
            </a:r>
            <a:r>
              <a:rPr lang="en-GB" sz="3600" dirty="0" err="1"/>
              <a:t>Trẻ</a:t>
            </a:r>
            <a:r>
              <a:rPr lang="en-GB" sz="3600" dirty="0"/>
              <a:t> </a:t>
            </a:r>
            <a:r>
              <a:rPr lang="en-GB" sz="3600" dirty="0" err="1"/>
              <a:t>nhỏ</a:t>
            </a:r>
            <a:r>
              <a:rPr lang="en-GB" sz="3600" dirty="0"/>
              <a:t> </a:t>
            </a:r>
            <a:r>
              <a:rPr lang="en-GB" sz="3600" dirty="0" err="1" smtClean="0"/>
              <a:t>thấp</a:t>
            </a:r>
            <a:r>
              <a:rPr lang="en-GB" sz="3600" dirty="0" smtClean="0"/>
              <a:t> </a:t>
            </a:r>
            <a:r>
              <a:rPr lang="en-GB" sz="3600" dirty="0" err="1"/>
              <a:t>hơn</a:t>
            </a:r>
            <a:r>
              <a:rPr lang="en-GB" sz="3600" dirty="0"/>
              <a:t> so </a:t>
            </a:r>
            <a:r>
              <a:rPr lang="en-GB" sz="3600" dirty="0" err="1"/>
              <a:t>với</a:t>
            </a:r>
            <a:r>
              <a:rPr lang="en-GB" sz="3600" dirty="0"/>
              <a:t> </a:t>
            </a:r>
            <a:r>
              <a:rPr lang="en-GB" sz="3600" dirty="0" err="1"/>
              <a:t>trẻ</a:t>
            </a:r>
            <a:r>
              <a:rPr lang="en-GB" sz="3600" dirty="0"/>
              <a:t> </a:t>
            </a:r>
            <a:r>
              <a:rPr lang="en-GB" sz="3600" dirty="0" err="1"/>
              <a:t>lớn</a:t>
            </a:r>
            <a:r>
              <a:rPr lang="en-GB" sz="3600" dirty="0"/>
              <a:t> </a:t>
            </a:r>
            <a:r>
              <a:rPr lang="en-GB" sz="3600" dirty="0" err="1"/>
              <a:t>và</a:t>
            </a:r>
            <a:r>
              <a:rPr lang="en-GB" sz="3600" dirty="0"/>
              <a:t> </a:t>
            </a:r>
            <a:r>
              <a:rPr lang="en-GB" sz="3600" dirty="0" err="1"/>
              <a:t>người</a:t>
            </a:r>
            <a:r>
              <a:rPr lang="en-GB" sz="3600" dirty="0"/>
              <a:t> </a:t>
            </a:r>
            <a:r>
              <a:rPr lang="en-GB" sz="3600" dirty="0" err="1"/>
              <a:t>lớn</a:t>
            </a:r>
            <a:r>
              <a:rPr lang="en-GB" sz="3600" dirty="0"/>
              <a:t>, </a:t>
            </a:r>
            <a:r>
              <a:rPr lang="en-GB" sz="3600" dirty="0" err="1"/>
              <a:t>cực</a:t>
            </a:r>
            <a:r>
              <a:rPr lang="en-GB" sz="3600" dirty="0"/>
              <a:t> </a:t>
            </a:r>
            <a:r>
              <a:rPr lang="en-GB" sz="3600" dirty="0" err="1"/>
              <a:t>dưới</a:t>
            </a:r>
            <a:r>
              <a:rPr lang="en-GB" sz="3600" dirty="0"/>
              <a:t> </a:t>
            </a:r>
            <a:r>
              <a:rPr lang="en-GB" sz="3600" dirty="0" err="1" smtClean="0"/>
              <a:t>ngang</a:t>
            </a:r>
            <a:r>
              <a:rPr lang="en-GB" sz="3600" dirty="0" smtClean="0"/>
              <a:t> </a:t>
            </a:r>
            <a:r>
              <a:rPr lang="en-GB" sz="3600" dirty="0" err="1"/>
              <a:t>đốt</a:t>
            </a:r>
            <a:r>
              <a:rPr lang="en-GB" sz="3600" dirty="0"/>
              <a:t> </a:t>
            </a:r>
            <a:r>
              <a:rPr lang="en-GB" sz="3600" dirty="0" err="1"/>
              <a:t>sống</a:t>
            </a:r>
            <a:r>
              <a:rPr lang="en-GB" sz="3600" dirty="0"/>
              <a:t> </a:t>
            </a:r>
            <a:r>
              <a:rPr lang="en-GB" sz="3600" dirty="0" err="1"/>
              <a:t>thắt</a:t>
            </a:r>
            <a:r>
              <a:rPr lang="en-GB" sz="3600" dirty="0"/>
              <a:t> </a:t>
            </a:r>
            <a:r>
              <a:rPr lang="en-GB" sz="3600" dirty="0" err="1"/>
              <a:t>lưng</a:t>
            </a:r>
            <a:r>
              <a:rPr lang="en-GB" sz="3600" dirty="0"/>
              <a:t> IV -V.</a:t>
            </a:r>
            <a:endParaRPr lang="en-US" sz="3600" dirty="0"/>
          </a:p>
          <a:p>
            <a:pPr lvl="0"/>
            <a:r>
              <a:rPr lang="en-GB" sz="3600" b="1" dirty="0" err="1">
                <a:solidFill>
                  <a:srgbClr val="FF0000"/>
                </a:solidFill>
              </a:rPr>
              <a:t>Niệu</a:t>
            </a:r>
            <a:r>
              <a:rPr lang="en-GB" sz="3600" b="1" dirty="0">
                <a:solidFill>
                  <a:srgbClr val="FF0000"/>
                </a:solidFill>
              </a:rPr>
              <a:t> </a:t>
            </a:r>
            <a:r>
              <a:rPr lang="en-GB" sz="3600" b="1" dirty="0" err="1">
                <a:solidFill>
                  <a:srgbClr val="FF0000"/>
                </a:solidFill>
              </a:rPr>
              <a:t>quản</a:t>
            </a:r>
            <a:r>
              <a:rPr lang="en-GB" sz="3600" b="1" dirty="0">
                <a:solidFill>
                  <a:srgbClr val="FF0000"/>
                </a:solidFill>
              </a:rPr>
              <a:t> </a:t>
            </a:r>
            <a:r>
              <a:rPr lang="en-GB" sz="3600" dirty="0"/>
              <a:t>ở </a:t>
            </a:r>
            <a:r>
              <a:rPr lang="en-GB" sz="3600" dirty="0" err="1"/>
              <a:t>trẻ</a:t>
            </a:r>
            <a:r>
              <a:rPr lang="en-GB" sz="3600" dirty="0"/>
              <a:t> </a:t>
            </a:r>
            <a:r>
              <a:rPr lang="en-GB" sz="3600" dirty="0" err="1"/>
              <a:t>em</a:t>
            </a:r>
            <a:r>
              <a:rPr lang="en-GB" sz="3600" dirty="0"/>
              <a:t> </a:t>
            </a:r>
            <a:r>
              <a:rPr lang="en-GB" sz="3600" dirty="0" err="1"/>
              <a:t>tương</a:t>
            </a:r>
            <a:r>
              <a:rPr lang="en-GB" sz="3600" dirty="0"/>
              <a:t> </a:t>
            </a:r>
            <a:r>
              <a:rPr lang="en-GB" sz="3600" dirty="0" err="1"/>
              <a:t>đối</a:t>
            </a:r>
            <a:r>
              <a:rPr lang="en-GB" sz="3600" dirty="0"/>
              <a:t> to </a:t>
            </a:r>
            <a:r>
              <a:rPr lang="en-GB" sz="3600" dirty="0" err="1"/>
              <a:t>và</a:t>
            </a:r>
            <a:r>
              <a:rPr lang="en-GB" sz="3600" dirty="0"/>
              <a:t> </a:t>
            </a:r>
            <a:r>
              <a:rPr lang="en-GB" sz="3600" dirty="0" err="1"/>
              <a:t>dài</a:t>
            </a:r>
            <a:r>
              <a:rPr lang="en-GB" sz="3600" dirty="0"/>
              <a:t> </a:t>
            </a:r>
            <a:r>
              <a:rPr lang="en-GB" sz="3600" dirty="0" smtClean="0">
                <a:sym typeface="Wingdings" panose="05000000000000000000" pitchFamily="2" charset="2"/>
              </a:rPr>
              <a:t> </a:t>
            </a:r>
            <a:r>
              <a:rPr lang="en-GB" sz="3600" dirty="0" err="1" smtClean="0"/>
              <a:t>dễ</a:t>
            </a:r>
            <a:r>
              <a:rPr lang="en-GB" sz="3600" dirty="0" smtClean="0"/>
              <a:t> </a:t>
            </a:r>
            <a:r>
              <a:rPr lang="en-GB" sz="3600" dirty="0" err="1"/>
              <a:t>bị</a:t>
            </a:r>
            <a:r>
              <a:rPr lang="en-GB" sz="3600" dirty="0"/>
              <a:t> </a:t>
            </a:r>
            <a:r>
              <a:rPr lang="en-GB" sz="3600" dirty="0" err="1"/>
              <a:t>gấp</a:t>
            </a:r>
            <a:r>
              <a:rPr lang="en-GB" sz="3600" dirty="0"/>
              <a:t> </a:t>
            </a:r>
            <a:r>
              <a:rPr lang="en-GB" sz="3600" dirty="0" err="1"/>
              <a:t>khúc</a:t>
            </a:r>
            <a:r>
              <a:rPr lang="en-GB" sz="3600" dirty="0"/>
              <a:t>.</a:t>
            </a:r>
            <a:endParaRPr lang="en-US" sz="3600" dirty="0"/>
          </a:p>
          <a:p>
            <a:pPr lvl="1"/>
            <a:r>
              <a:rPr lang="en-GB" sz="3400" i="1" dirty="0" err="1" smtClean="0"/>
              <a:t>Trẻ</a:t>
            </a:r>
            <a:r>
              <a:rPr lang="en-GB" sz="3400" i="1" dirty="0" smtClean="0"/>
              <a:t> </a:t>
            </a:r>
            <a:r>
              <a:rPr lang="en-GB" sz="3400" i="1" dirty="0" err="1"/>
              <a:t>nhỏ</a:t>
            </a:r>
            <a:r>
              <a:rPr lang="en-GB" sz="3400" dirty="0"/>
              <a:t>: </a:t>
            </a:r>
            <a:r>
              <a:rPr lang="en-GB" sz="3400" dirty="0" err="1"/>
              <a:t>Niệu</a:t>
            </a:r>
            <a:r>
              <a:rPr lang="en-GB" sz="3400" dirty="0"/>
              <a:t> </a:t>
            </a:r>
            <a:r>
              <a:rPr lang="en-GB" sz="3400" dirty="0" err="1"/>
              <a:t>quản</a:t>
            </a:r>
            <a:r>
              <a:rPr lang="en-GB" sz="3400" dirty="0"/>
              <a:t> </a:t>
            </a:r>
            <a:r>
              <a:rPr lang="en-GB" sz="3400" dirty="0" err="1"/>
              <a:t>đi</a:t>
            </a:r>
            <a:r>
              <a:rPr lang="en-GB" sz="3400" dirty="0"/>
              <a:t> </a:t>
            </a:r>
            <a:r>
              <a:rPr lang="en-GB" sz="3400" dirty="0" err="1"/>
              <a:t>ra</a:t>
            </a:r>
            <a:r>
              <a:rPr lang="en-GB" sz="3400" dirty="0"/>
              <a:t> </a:t>
            </a:r>
            <a:r>
              <a:rPr lang="en-GB" sz="3400" dirty="0" err="1"/>
              <a:t>từ</a:t>
            </a:r>
            <a:r>
              <a:rPr lang="en-GB" sz="3400" dirty="0"/>
              <a:t> </a:t>
            </a:r>
            <a:r>
              <a:rPr lang="en-GB" sz="3400" dirty="0" err="1"/>
              <a:t>bể</a:t>
            </a:r>
            <a:r>
              <a:rPr lang="en-GB" sz="3400" dirty="0"/>
              <a:t> </a:t>
            </a:r>
            <a:r>
              <a:rPr lang="en-GB" sz="3400" dirty="0" err="1"/>
              <a:t>thận</a:t>
            </a:r>
            <a:r>
              <a:rPr lang="en-GB" sz="3400" dirty="0"/>
              <a:t> </a:t>
            </a:r>
            <a:r>
              <a:rPr lang="en-GB" sz="3400" dirty="0" err="1"/>
              <a:t>tạo</a:t>
            </a:r>
            <a:r>
              <a:rPr lang="en-GB" sz="3400" dirty="0"/>
              <a:t> </a:t>
            </a:r>
            <a:r>
              <a:rPr lang="en-GB" sz="3400" dirty="0" err="1"/>
              <a:t>thành</a:t>
            </a:r>
            <a:r>
              <a:rPr lang="en-GB" sz="3400" dirty="0"/>
              <a:t> </a:t>
            </a:r>
            <a:r>
              <a:rPr lang="en-GB" sz="3400" dirty="0" err="1"/>
              <a:t>một</a:t>
            </a:r>
            <a:r>
              <a:rPr lang="en-GB" sz="3400" dirty="0"/>
              <a:t> </a:t>
            </a:r>
            <a:r>
              <a:rPr lang="en-GB" sz="3400" dirty="0" err="1"/>
              <a:t>góc</a:t>
            </a:r>
            <a:r>
              <a:rPr lang="en-GB" sz="3400" dirty="0"/>
              <a:t> </a:t>
            </a:r>
            <a:r>
              <a:rPr lang="en-GB" sz="3400" dirty="0" err="1" smtClean="0"/>
              <a:t>vuông</a:t>
            </a:r>
            <a:r>
              <a:rPr lang="en-GB" sz="3400" dirty="0" smtClean="0"/>
              <a:t> </a:t>
            </a:r>
            <a:r>
              <a:rPr lang="en-GB" sz="3400" dirty="0" smtClean="0">
                <a:sym typeface="Wingdings" panose="05000000000000000000" pitchFamily="2" charset="2"/>
              </a:rPr>
              <a:t> </a:t>
            </a:r>
            <a:r>
              <a:rPr lang="en-GB" sz="3400" dirty="0" err="1" smtClean="0"/>
              <a:t>rất</a:t>
            </a:r>
            <a:r>
              <a:rPr lang="en-GB" sz="3400" dirty="0" smtClean="0"/>
              <a:t> </a:t>
            </a:r>
            <a:r>
              <a:rPr lang="en-GB" sz="3400" dirty="0" err="1"/>
              <a:t>dễ</a:t>
            </a:r>
            <a:r>
              <a:rPr lang="en-GB" sz="3400" dirty="0"/>
              <a:t> </a:t>
            </a:r>
            <a:r>
              <a:rPr lang="en-GB" sz="3400" dirty="0" err="1"/>
              <a:t>bị</a:t>
            </a:r>
            <a:r>
              <a:rPr lang="en-GB" sz="3400" dirty="0"/>
              <a:t> ứ </a:t>
            </a:r>
            <a:r>
              <a:rPr lang="en-GB" sz="3400" dirty="0" err="1"/>
              <a:t>đọng</a:t>
            </a:r>
            <a:r>
              <a:rPr lang="en-GB" sz="3400" dirty="0"/>
              <a:t> </a:t>
            </a:r>
            <a:r>
              <a:rPr lang="en-GB" sz="3400" dirty="0" err="1"/>
              <a:t>nước</a:t>
            </a:r>
            <a:r>
              <a:rPr lang="en-GB" sz="3400" dirty="0"/>
              <a:t> </a:t>
            </a:r>
            <a:r>
              <a:rPr lang="en-GB" sz="3400" dirty="0" err="1"/>
              <a:t>tiểu</a:t>
            </a:r>
            <a:r>
              <a:rPr lang="en-GB" sz="3400" dirty="0"/>
              <a:t> ở </a:t>
            </a:r>
            <a:r>
              <a:rPr lang="en-GB" sz="3400" dirty="0" err="1"/>
              <a:t>đài</a:t>
            </a:r>
            <a:r>
              <a:rPr lang="en-GB" sz="3400" dirty="0"/>
              <a:t> </a:t>
            </a:r>
            <a:r>
              <a:rPr lang="en-GB" sz="3400" dirty="0" err="1"/>
              <a:t>bể</a:t>
            </a:r>
            <a:r>
              <a:rPr lang="en-GB" sz="3400" dirty="0"/>
              <a:t> </a:t>
            </a:r>
            <a:r>
              <a:rPr lang="en-GB" sz="3400" dirty="0" err="1"/>
              <a:t>thận</a:t>
            </a:r>
            <a:r>
              <a:rPr lang="en-GB" sz="3400" dirty="0"/>
              <a:t>.</a:t>
            </a:r>
            <a:endParaRPr lang="en-US" sz="3400" dirty="0"/>
          </a:p>
          <a:p>
            <a:pPr lvl="0"/>
            <a:r>
              <a:rPr lang="en-GB" sz="3600" b="1" dirty="0" err="1">
                <a:solidFill>
                  <a:srgbClr val="FF0000"/>
                </a:solidFill>
              </a:rPr>
              <a:t>Bàng</a:t>
            </a:r>
            <a:r>
              <a:rPr lang="en-GB" sz="3600" b="1" dirty="0">
                <a:solidFill>
                  <a:srgbClr val="FF0000"/>
                </a:solidFill>
              </a:rPr>
              <a:t> </a:t>
            </a:r>
            <a:r>
              <a:rPr lang="en-GB" sz="3600" b="1" dirty="0" err="1">
                <a:solidFill>
                  <a:srgbClr val="FF0000"/>
                </a:solidFill>
              </a:rPr>
              <a:t>quang</a:t>
            </a:r>
            <a:r>
              <a:rPr lang="en-GB" sz="3600" b="1" dirty="0">
                <a:solidFill>
                  <a:srgbClr val="FF0000"/>
                </a:solidFill>
              </a:rPr>
              <a:t> </a:t>
            </a:r>
            <a:r>
              <a:rPr lang="en-GB" sz="3600" dirty="0"/>
              <a:t>ở </a:t>
            </a:r>
            <a:r>
              <a:rPr lang="en-GB" sz="3600" dirty="0" err="1"/>
              <a:t>trẻ</a:t>
            </a:r>
            <a:r>
              <a:rPr lang="en-GB" sz="3600" dirty="0"/>
              <a:t> </a:t>
            </a:r>
            <a:r>
              <a:rPr lang="en-GB" sz="3600" dirty="0" err="1"/>
              <a:t>em</a:t>
            </a:r>
            <a:r>
              <a:rPr lang="en-GB" sz="3600" dirty="0"/>
              <a:t> </a:t>
            </a:r>
            <a:r>
              <a:rPr lang="en-GB" sz="3600" dirty="0" err="1"/>
              <a:t>nằm</a:t>
            </a:r>
            <a:r>
              <a:rPr lang="en-GB" sz="3600" dirty="0"/>
              <a:t> </a:t>
            </a:r>
            <a:r>
              <a:rPr lang="en-GB" sz="3600" dirty="0" err="1" smtClean="0"/>
              <a:t>cao</a:t>
            </a:r>
            <a:r>
              <a:rPr lang="en-GB" sz="3600" dirty="0" smtClean="0"/>
              <a:t> </a:t>
            </a:r>
            <a:r>
              <a:rPr lang="en-GB" sz="3600" dirty="0" smtClean="0">
                <a:sym typeface="Wingdings" panose="05000000000000000000" pitchFamily="2" charset="2"/>
              </a:rPr>
              <a:t> </a:t>
            </a:r>
            <a:r>
              <a:rPr lang="en-GB" sz="3600" dirty="0" err="1" smtClean="0"/>
              <a:t>khi</a:t>
            </a:r>
            <a:r>
              <a:rPr lang="en-GB" sz="3600" dirty="0" smtClean="0"/>
              <a:t> </a:t>
            </a:r>
            <a:r>
              <a:rPr lang="en-GB" sz="3600" dirty="0" err="1" smtClean="0"/>
              <a:t>chứa</a:t>
            </a:r>
            <a:r>
              <a:rPr lang="en-GB" sz="3600" dirty="0" smtClean="0"/>
              <a:t> </a:t>
            </a:r>
            <a:r>
              <a:rPr lang="en-GB" sz="3600" dirty="0" err="1"/>
              <a:t>đầy</a:t>
            </a:r>
            <a:r>
              <a:rPr lang="en-GB" sz="3600" dirty="0"/>
              <a:t> </a:t>
            </a:r>
            <a:r>
              <a:rPr lang="en-GB" sz="3600" dirty="0" err="1"/>
              <a:t>nước</a:t>
            </a:r>
            <a:r>
              <a:rPr lang="en-GB" sz="3600" dirty="0"/>
              <a:t> </a:t>
            </a:r>
            <a:r>
              <a:rPr lang="en-GB" sz="3600" dirty="0" err="1"/>
              <a:t>tiểu</a:t>
            </a:r>
            <a:r>
              <a:rPr lang="en-GB" sz="3600" dirty="0"/>
              <a:t> </a:t>
            </a:r>
            <a:r>
              <a:rPr lang="en-GB" sz="3600" dirty="0" err="1"/>
              <a:t>thì</a:t>
            </a:r>
            <a:r>
              <a:rPr lang="en-GB" sz="3600" dirty="0"/>
              <a:t> </a:t>
            </a:r>
            <a:r>
              <a:rPr lang="en-GB" sz="3600" dirty="0" err="1"/>
              <a:t>dễ</a:t>
            </a:r>
            <a:r>
              <a:rPr lang="en-GB" sz="3600" dirty="0"/>
              <a:t> </a:t>
            </a:r>
            <a:r>
              <a:rPr lang="en-GB" sz="3600" dirty="0" err="1"/>
              <a:t>sờ</a:t>
            </a:r>
            <a:r>
              <a:rPr lang="en-GB" sz="3600" dirty="0"/>
              <a:t> </a:t>
            </a:r>
            <a:r>
              <a:rPr lang="en-GB" sz="3600" dirty="0" err="1"/>
              <a:t>thấy</a:t>
            </a:r>
            <a:r>
              <a:rPr lang="en-GB" sz="3600" dirty="0"/>
              <a:t> </a:t>
            </a:r>
            <a:r>
              <a:rPr lang="en-GB" sz="3600" dirty="0" err="1"/>
              <a:t>cầu</a:t>
            </a:r>
            <a:r>
              <a:rPr lang="en-GB" sz="3600" dirty="0"/>
              <a:t> </a:t>
            </a:r>
            <a:r>
              <a:rPr lang="en-GB" sz="3600" dirty="0" err="1"/>
              <a:t>bàng</a:t>
            </a:r>
            <a:r>
              <a:rPr lang="en-GB" sz="3600" dirty="0"/>
              <a:t> </a:t>
            </a:r>
            <a:r>
              <a:rPr lang="en-GB" sz="3600" dirty="0" err="1"/>
              <a:t>quang</a:t>
            </a:r>
            <a:r>
              <a:rPr lang="en-GB" sz="3600" dirty="0"/>
              <a:t>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63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458200" cy="5486400"/>
          </a:xfrm>
        </p:spPr>
        <p:txBody>
          <a:bodyPr>
            <a:normAutofit lnSpcReduction="10000"/>
          </a:bodyPr>
          <a:lstStyle/>
          <a:p>
            <a:pPr lvl="0"/>
            <a:r>
              <a:rPr lang="en-GB" sz="3200" b="1" dirty="0" err="1">
                <a:solidFill>
                  <a:srgbClr val="FF0000"/>
                </a:solidFill>
              </a:rPr>
              <a:t>Niệu</a:t>
            </a:r>
            <a:r>
              <a:rPr lang="en-GB" sz="3200" b="1" dirty="0">
                <a:solidFill>
                  <a:srgbClr val="FF0000"/>
                </a:solidFill>
              </a:rPr>
              <a:t> </a:t>
            </a:r>
            <a:r>
              <a:rPr lang="en-GB" sz="3200" b="1" dirty="0" err="1">
                <a:solidFill>
                  <a:srgbClr val="FF0000"/>
                </a:solidFill>
              </a:rPr>
              <a:t>đạo</a:t>
            </a:r>
            <a:endParaRPr lang="en-US" sz="3200" b="1" dirty="0">
              <a:solidFill>
                <a:srgbClr val="FF0000"/>
              </a:solidFill>
            </a:endParaRPr>
          </a:p>
          <a:p>
            <a:r>
              <a:rPr lang="en-GB" sz="3200" dirty="0" smtClean="0"/>
              <a:t> </a:t>
            </a:r>
            <a:r>
              <a:rPr lang="en-GB" sz="3200" dirty="0" err="1"/>
              <a:t>Kích</a:t>
            </a:r>
            <a:r>
              <a:rPr lang="en-GB" sz="3200" dirty="0"/>
              <a:t> </a:t>
            </a:r>
            <a:r>
              <a:rPr lang="en-GB" sz="3200" dirty="0" err="1"/>
              <a:t>thước</a:t>
            </a:r>
            <a:r>
              <a:rPr lang="en-GB" sz="3200" dirty="0"/>
              <a:t> </a:t>
            </a:r>
            <a:r>
              <a:rPr lang="en-GB" sz="3200" dirty="0" err="1"/>
              <a:t>niệu</a:t>
            </a:r>
            <a:r>
              <a:rPr lang="en-GB" sz="3200" dirty="0"/>
              <a:t> </a:t>
            </a:r>
            <a:r>
              <a:rPr lang="en-GB" sz="3200" dirty="0" err="1"/>
              <a:t>đạo</a:t>
            </a:r>
            <a:r>
              <a:rPr lang="en-GB" sz="3200" dirty="0"/>
              <a:t> </a:t>
            </a:r>
            <a:r>
              <a:rPr lang="en-GB" sz="3200" dirty="0" err="1"/>
              <a:t>của</a:t>
            </a:r>
            <a:r>
              <a:rPr lang="en-GB" sz="3200" dirty="0"/>
              <a:t> </a:t>
            </a:r>
            <a:r>
              <a:rPr lang="en-GB" sz="3200" dirty="0" err="1"/>
              <a:t>trẻ</a:t>
            </a:r>
            <a:r>
              <a:rPr lang="en-GB" sz="3200" dirty="0"/>
              <a:t> </a:t>
            </a:r>
            <a:r>
              <a:rPr lang="en-GB" sz="3200" dirty="0" err="1"/>
              <a:t>em</a:t>
            </a:r>
            <a:r>
              <a:rPr lang="en-GB" sz="3200" dirty="0"/>
              <a:t> </a:t>
            </a:r>
            <a:r>
              <a:rPr lang="en-GB" sz="3200" dirty="0" err="1" smtClean="0"/>
              <a:t>phụ</a:t>
            </a:r>
            <a:r>
              <a:rPr lang="en-GB" sz="3200" dirty="0" smtClean="0"/>
              <a:t> </a:t>
            </a:r>
            <a:r>
              <a:rPr lang="en-GB" sz="3200" dirty="0" err="1"/>
              <a:t>thuộc</a:t>
            </a:r>
            <a:r>
              <a:rPr lang="en-GB" sz="3200" dirty="0"/>
              <a:t> </a:t>
            </a:r>
            <a:r>
              <a:rPr lang="en-GB" sz="3200" dirty="0" err="1"/>
              <a:t>vào</a:t>
            </a:r>
            <a:r>
              <a:rPr lang="en-GB" sz="3200" dirty="0"/>
              <a:t> </a:t>
            </a:r>
            <a:r>
              <a:rPr lang="en-GB" sz="3200" dirty="0" err="1" smtClean="0"/>
              <a:t>tuổi</a:t>
            </a:r>
            <a:r>
              <a:rPr lang="en-GB" sz="3200" dirty="0" smtClean="0"/>
              <a:t>, </a:t>
            </a:r>
            <a:r>
              <a:rPr lang="en-GB" sz="3200" dirty="0" err="1" smtClean="0"/>
              <a:t>giới</a:t>
            </a:r>
            <a:r>
              <a:rPr lang="en-GB" sz="3200" dirty="0"/>
              <a:t>.</a:t>
            </a:r>
            <a:endParaRPr lang="en-US" sz="3200" dirty="0"/>
          </a:p>
          <a:p>
            <a:pPr lvl="1"/>
            <a:r>
              <a:rPr lang="en-GB" sz="3000" dirty="0" smtClean="0"/>
              <a:t> </a:t>
            </a:r>
            <a:r>
              <a:rPr lang="en-GB" sz="3000" dirty="0" err="1"/>
              <a:t>Trẻ</a:t>
            </a:r>
            <a:r>
              <a:rPr lang="en-GB" sz="3000" dirty="0"/>
              <a:t> </a:t>
            </a:r>
            <a:r>
              <a:rPr lang="en-GB" sz="3000" dirty="0" err="1"/>
              <a:t>gái</a:t>
            </a:r>
            <a:r>
              <a:rPr lang="en-GB" sz="3000" dirty="0"/>
              <a:t>: </a:t>
            </a:r>
            <a:r>
              <a:rPr lang="en-GB" sz="3000" dirty="0" err="1" smtClean="0"/>
              <a:t>rộng</a:t>
            </a:r>
            <a:r>
              <a:rPr lang="en-GB" sz="3000" dirty="0" smtClean="0"/>
              <a:t> </a:t>
            </a:r>
            <a:r>
              <a:rPr lang="en-GB" sz="3000" dirty="0" err="1"/>
              <a:t>nhưng</a:t>
            </a:r>
            <a:r>
              <a:rPr lang="en-GB" sz="3000" dirty="0"/>
              <a:t> </a:t>
            </a:r>
            <a:r>
              <a:rPr lang="en-GB" sz="3000" dirty="0" err="1"/>
              <a:t>ngắn</a:t>
            </a:r>
            <a:r>
              <a:rPr lang="en-GB" sz="3000" dirty="0"/>
              <a:t>: 2 - 4 cm.</a:t>
            </a:r>
            <a:endParaRPr lang="en-US" sz="3000" dirty="0"/>
          </a:p>
          <a:p>
            <a:pPr lvl="1"/>
            <a:r>
              <a:rPr lang="en-GB" sz="3000" dirty="0" smtClean="0"/>
              <a:t> </a:t>
            </a:r>
            <a:r>
              <a:rPr lang="en-GB" sz="3000" dirty="0" err="1"/>
              <a:t>Trẻ</a:t>
            </a:r>
            <a:r>
              <a:rPr lang="en-GB" sz="3000" dirty="0"/>
              <a:t> </a:t>
            </a:r>
            <a:r>
              <a:rPr lang="en-GB" sz="3000" dirty="0" err="1"/>
              <a:t>trai</a:t>
            </a:r>
            <a:r>
              <a:rPr lang="en-GB" sz="3000" dirty="0"/>
              <a:t>: </a:t>
            </a:r>
            <a:r>
              <a:rPr lang="en-GB" sz="3000" dirty="0" err="1" smtClean="0"/>
              <a:t>hẹp</a:t>
            </a:r>
            <a:r>
              <a:rPr lang="en-GB" sz="3000" dirty="0" smtClean="0"/>
              <a:t> </a:t>
            </a:r>
            <a:r>
              <a:rPr lang="en-GB" sz="3000" dirty="0" err="1"/>
              <a:t>nhưng</a:t>
            </a:r>
            <a:r>
              <a:rPr lang="en-GB" sz="3000" dirty="0"/>
              <a:t> </a:t>
            </a:r>
            <a:r>
              <a:rPr lang="en-GB" sz="3000" dirty="0" err="1"/>
              <a:t>dài</a:t>
            </a:r>
            <a:r>
              <a:rPr lang="en-GB" sz="3000" dirty="0"/>
              <a:t>: 6 - 15 cm.</a:t>
            </a:r>
            <a:endParaRPr lang="en-US" sz="3000" dirty="0"/>
          </a:p>
          <a:p>
            <a:r>
              <a:rPr lang="en-GB" sz="3200" dirty="0" smtClean="0"/>
              <a:t>Do </a:t>
            </a:r>
            <a:r>
              <a:rPr lang="en-GB" sz="3200" dirty="0" err="1"/>
              <a:t>vây</a:t>
            </a:r>
            <a:r>
              <a:rPr lang="en-GB" sz="3200" dirty="0"/>
              <a:t>, </a:t>
            </a:r>
            <a:r>
              <a:rPr lang="en-GB" sz="3200" dirty="0" err="1"/>
              <a:t>trẻ</a:t>
            </a:r>
            <a:r>
              <a:rPr lang="en-GB" sz="3200" dirty="0"/>
              <a:t> </a:t>
            </a:r>
            <a:r>
              <a:rPr lang="en-GB" sz="3200" dirty="0" err="1"/>
              <a:t>gái</a:t>
            </a:r>
            <a:r>
              <a:rPr lang="en-GB" sz="3200" dirty="0"/>
              <a:t> hay </a:t>
            </a:r>
            <a:r>
              <a:rPr lang="en-GB" sz="3200" dirty="0" err="1"/>
              <a:t>bị</a:t>
            </a:r>
            <a:r>
              <a:rPr lang="en-GB" sz="3200" dirty="0"/>
              <a:t> </a:t>
            </a:r>
            <a:r>
              <a:rPr lang="en-GB" sz="3200" dirty="0" err="1"/>
              <a:t>nhiễm</a:t>
            </a:r>
            <a:r>
              <a:rPr lang="en-GB" sz="3200" dirty="0"/>
              <a:t> </a:t>
            </a:r>
            <a:r>
              <a:rPr lang="en-GB" sz="3200" dirty="0" err="1"/>
              <a:t>trùng</a:t>
            </a:r>
            <a:r>
              <a:rPr lang="en-GB" sz="3200" dirty="0"/>
              <a:t> </a:t>
            </a:r>
            <a:r>
              <a:rPr lang="en-GB" sz="3200" dirty="0" err="1"/>
              <a:t>đường</a:t>
            </a:r>
            <a:r>
              <a:rPr lang="en-GB" sz="3200" dirty="0"/>
              <a:t> </a:t>
            </a:r>
            <a:r>
              <a:rPr lang="en-GB" sz="3200" dirty="0" err="1"/>
              <a:t>tiết</a:t>
            </a:r>
            <a:r>
              <a:rPr lang="en-GB" sz="3200" dirty="0"/>
              <a:t> </a:t>
            </a:r>
            <a:r>
              <a:rPr lang="en-GB" sz="3200" dirty="0" err="1"/>
              <a:t>niệu</a:t>
            </a:r>
            <a:r>
              <a:rPr lang="en-GB" sz="3200" dirty="0"/>
              <a:t> </a:t>
            </a:r>
            <a:r>
              <a:rPr lang="en-GB" sz="3200" dirty="0" err="1"/>
              <a:t>hơn</a:t>
            </a:r>
            <a:r>
              <a:rPr lang="en-GB" sz="3200" dirty="0"/>
              <a:t> </a:t>
            </a:r>
            <a:r>
              <a:rPr lang="en-GB" sz="3200" dirty="0" err="1"/>
              <a:t>trẻ</a:t>
            </a:r>
            <a:r>
              <a:rPr lang="en-GB" sz="3200" dirty="0"/>
              <a:t> </a:t>
            </a:r>
            <a:r>
              <a:rPr lang="en-GB" sz="3200" dirty="0" err="1"/>
              <a:t>trai</a:t>
            </a:r>
            <a:r>
              <a:rPr lang="en-GB" sz="3200" dirty="0"/>
              <a:t>.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09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pPr lvl="0"/>
            <a:r>
              <a:rPr lang="en-GB" sz="3200" dirty="0" smtClean="0">
                <a:solidFill>
                  <a:srgbClr val="FF0000"/>
                </a:solidFill>
              </a:rPr>
              <a:t>NKTN </a:t>
            </a:r>
            <a:r>
              <a:rPr lang="en-GB" sz="3200" dirty="0" err="1">
                <a:solidFill>
                  <a:srgbClr val="FF0000"/>
                </a:solidFill>
              </a:rPr>
              <a:t>T</a:t>
            </a:r>
            <a:r>
              <a:rPr lang="en-GB" sz="3200" dirty="0" err="1" smtClean="0">
                <a:solidFill>
                  <a:srgbClr val="FF0000"/>
                </a:solidFill>
              </a:rPr>
              <a:t>rên</a:t>
            </a:r>
            <a:r>
              <a:rPr lang="en-GB" sz="3200" dirty="0">
                <a:solidFill>
                  <a:srgbClr val="FF0000"/>
                </a:solidFill>
              </a:rPr>
              <a:t>: </a:t>
            </a:r>
            <a:r>
              <a:rPr lang="en-GB" sz="3200" dirty="0" err="1"/>
              <a:t>T</a:t>
            </a:r>
            <a:r>
              <a:rPr lang="en-GB" sz="3200" dirty="0" err="1" smtClean="0"/>
              <a:t>ừ</a:t>
            </a:r>
            <a:r>
              <a:rPr lang="en-GB" sz="3200" dirty="0" smtClean="0"/>
              <a:t> </a:t>
            </a:r>
            <a:r>
              <a:rPr lang="en-GB" sz="3200" dirty="0" err="1"/>
              <a:t>thận</a:t>
            </a:r>
            <a:r>
              <a:rPr lang="en-GB" sz="3200" dirty="0"/>
              <a:t> </a:t>
            </a:r>
            <a:r>
              <a:rPr lang="en-GB" sz="3200" dirty="0" err="1"/>
              <a:t>cho</a:t>
            </a:r>
            <a:r>
              <a:rPr lang="en-GB" sz="3200" dirty="0"/>
              <a:t> </a:t>
            </a:r>
            <a:r>
              <a:rPr lang="en-GB" sz="3200" dirty="0" err="1"/>
              <a:t>tới</a:t>
            </a:r>
            <a:r>
              <a:rPr lang="en-GB" sz="3200" dirty="0"/>
              <a:t> </a:t>
            </a:r>
            <a:r>
              <a:rPr lang="en-GB" sz="3200" dirty="0" err="1"/>
              <a:t>lỗ</a:t>
            </a:r>
            <a:r>
              <a:rPr lang="en-GB" sz="3200" dirty="0"/>
              <a:t> </a:t>
            </a:r>
            <a:r>
              <a:rPr lang="en-GB" sz="3200" dirty="0" err="1"/>
              <a:t>niệu</a:t>
            </a:r>
            <a:r>
              <a:rPr lang="en-GB" sz="3200" dirty="0"/>
              <a:t> </a:t>
            </a:r>
            <a:r>
              <a:rPr lang="en-GB" sz="3200" dirty="0" err="1"/>
              <a:t>quản</a:t>
            </a:r>
            <a:r>
              <a:rPr lang="en-GB" sz="3200" dirty="0"/>
              <a:t> </a:t>
            </a:r>
            <a:r>
              <a:rPr lang="en-GB" sz="3200" dirty="0" err="1"/>
              <a:t>trong</a:t>
            </a:r>
            <a:r>
              <a:rPr lang="en-GB" sz="3200" dirty="0"/>
              <a:t> </a:t>
            </a:r>
            <a:r>
              <a:rPr lang="en-GB" sz="3200" dirty="0" err="1"/>
              <a:t>thành</a:t>
            </a:r>
            <a:r>
              <a:rPr lang="en-GB" sz="3200" dirty="0"/>
              <a:t> </a:t>
            </a:r>
            <a:r>
              <a:rPr lang="en-GB" sz="3200" dirty="0" err="1"/>
              <a:t>bàng</a:t>
            </a:r>
            <a:r>
              <a:rPr lang="en-GB" sz="3200" dirty="0"/>
              <a:t> </a:t>
            </a:r>
            <a:r>
              <a:rPr lang="en-GB" sz="3200" dirty="0" err="1"/>
              <a:t>quang</a:t>
            </a:r>
            <a:r>
              <a:rPr lang="en-GB" sz="3200" dirty="0"/>
              <a:t>, </a:t>
            </a:r>
            <a:r>
              <a:rPr lang="en-GB" sz="3200" dirty="0" err="1"/>
              <a:t>mà</a:t>
            </a:r>
            <a:r>
              <a:rPr lang="en-GB" sz="3200" dirty="0"/>
              <a:t> </a:t>
            </a:r>
            <a:r>
              <a:rPr lang="en-GB" sz="3200" dirty="0" err="1"/>
              <a:t>chủ</a:t>
            </a:r>
            <a:r>
              <a:rPr lang="en-GB" sz="3200" dirty="0"/>
              <a:t> </a:t>
            </a:r>
            <a:r>
              <a:rPr lang="en-GB" sz="3200" dirty="0" err="1"/>
              <a:t>yếu</a:t>
            </a:r>
            <a:r>
              <a:rPr lang="en-GB" sz="3200" dirty="0"/>
              <a:t> </a:t>
            </a:r>
            <a:r>
              <a:rPr lang="en-GB" sz="3200" dirty="0" err="1"/>
              <a:t>là</a:t>
            </a:r>
            <a:r>
              <a:rPr lang="en-GB" sz="3200" dirty="0"/>
              <a:t> </a:t>
            </a:r>
            <a:r>
              <a:rPr lang="en-GB" sz="3200" dirty="0" err="1"/>
              <a:t>tổn</a:t>
            </a:r>
            <a:r>
              <a:rPr lang="en-GB" sz="3200" dirty="0"/>
              <a:t> </a:t>
            </a:r>
            <a:r>
              <a:rPr lang="en-GB" sz="3200" dirty="0" err="1"/>
              <a:t>thương</a:t>
            </a:r>
            <a:r>
              <a:rPr lang="en-GB" sz="3200" dirty="0"/>
              <a:t> </a:t>
            </a:r>
            <a:r>
              <a:rPr lang="en-GB" sz="3200" dirty="0" err="1"/>
              <a:t>tại</a:t>
            </a:r>
            <a:r>
              <a:rPr lang="en-GB" sz="3200" dirty="0"/>
              <a:t> </a:t>
            </a:r>
            <a:r>
              <a:rPr lang="en-GB" sz="3200" dirty="0" err="1"/>
              <a:t>thận</a:t>
            </a:r>
            <a:r>
              <a:rPr lang="en-GB" sz="3200" dirty="0"/>
              <a:t> (</a:t>
            </a:r>
            <a:r>
              <a:rPr lang="en-GB" sz="3200" dirty="0" err="1"/>
              <a:t>viêm</a:t>
            </a:r>
            <a:r>
              <a:rPr lang="en-GB" sz="3200" dirty="0"/>
              <a:t> </a:t>
            </a:r>
            <a:r>
              <a:rPr lang="en-GB" sz="3200" dirty="0" err="1"/>
              <a:t>đài-bể</a:t>
            </a:r>
            <a:r>
              <a:rPr lang="en-GB" sz="3200" dirty="0"/>
              <a:t> </a:t>
            </a:r>
            <a:r>
              <a:rPr lang="en-GB" sz="3200" dirty="0" err="1"/>
              <a:t>thận</a:t>
            </a:r>
            <a:r>
              <a:rPr lang="en-GB" sz="3200" dirty="0"/>
              <a:t> </a:t>
            </a:r>
            <a:r>
              <a:rPr lang="en-GB" sz="3200" dirty="0" err="1"/>
              <a:t>cấp</a:t>
            </a:r>
            <a:r>
              <a:rPr lang="en-GB" sz="3200" dirty="0" smtClean="0"/>
              <a:t>). </a:t>
            </a:r>
            <a:endParaRPr lang="en-GB" sz="3200" dirty="0" smtClean="0"/>
          </a:p>
          <a:p>
            <a:pPr lvl="0"/>
            <a:r>
              <a:rPr lang="en-GB" sz="3200" dirty="0" smtClean="0">
                <a:solidFill>
                  <a:srgbClr val="FF0000"/>
                </a:solidFill>
              </a:rPr>
              <a:t>NKTN </a:t>
            </a:r>
            <a:r>
              <a:rPr lang="en-GB" sz="3200" dirty="0" err="1">
                <a:solidFill>
                  <a:srgbClr val="FF0000"/>
                </a:solidFill>
              </a:rPr>
              <a:t>D</a:t>
            </a:r>
            <a:r>
              <a:rPr lang="en-GB" sz="3200" dirty="0" err="1" smtClean="0">
                <a:solidFill>
                  <a:srgbClr val="FF0000"/>
                </a:solidFill>
              </a:rPr>
              <a:t>ưới</a:t>
            </a:r>
            <a:r>
              <a:rPr lang="en-GB" sz="3200" dirty="0"/>
              <a:t>: </a:t>
            </a:r>
            <a:r>
              <a:rPr lang="en-GB" sz="3200" dirty="0" err="1"/>
              <a:t>Từ</a:t>
            </a:r>
            <a:r>
              <a:rPr lang="en-GB" sz="3200" dirty="0"/>
              <a:t> </a:t>
            </a:r>
            <a:r>
              <a:rPr lang="en-GB" sz="3200" dirty="0" err="1"/>
              <a:t>bàng</a:t>
            </a:r>
            <a:r>
              <a:rPr lang="en-GB" sz="3200" dirty="0"/>
              <a:t> </a:t>
            </a:r>
            <a:r>
              <a:rPr lang="en-GB" sz="3200" dirty="0" err="1"/>
              <a:t>quang</a:t>
            </a:r>
            <a:r>
              <a:rPr lang="en-GB" sz="3200" dirty="0"/>
              <a:t> </a:t>
            </a:r>
            <a:r>
              <a:rPr lang="en-GB" sz="3200" dirty="0" err="1"/>
              <a:t>tới</a:t>
            </a:r>
            <a:r>
              <a:rPr lang="en-GB" sz="3200" dirty="0"/>
              <a:t> </a:t>
            </a:r>
            <a:r>
              <a:rPr lang="en-GB" sz="3200" dirty="0" err="1"/>
              <a:t>miệng</a:t>
            </a:r>
            <a:r>
              <a:rPr lang="en-GB" sz="3200" dirty="0"/>
              <a:t> </a:t>
            </a:r>
            <a:r>
              <a:rPr lang="en-GB" sz="3200" dirty="0" err="1"/>
              <a:t>sáo</a:t>
            </a:r>
            <a:r>
              <a:rPr lang="en-GB" sz="3200" dirty="0"/>
              <a:t> </a:t>
            </a:r>
            <a:r>
              <a:rPr lang="en-GB" sz="3200" dirty="0" err="1"/>
              <a:t>niệu</a:t>
            </a:r>
            <a:r>
              <a:rPr lang="en-GB" sz="3200" dirty="0"/>
              <a:t> </a:t>
            </a:r>
            <a:r>
              <a:rPr lang="en-GB" sz="3200" dirty="0" err="1"/>
              <a:t>đạo</a:t>
            </a:r>
            <a:r>
              <a:rPr lang="en-GB" sz="3200" dirty="0"/>
              <a:t>, </a:t>
            </a:r>
            <a:r>
              <a:rPr lang="en-GB" sz="3200" dirty="0" err="1"/>
              <a:t>kể</a:t>
            </a:r>
            <a:r>
              <a:rPr lang="en-GB" sz="3200" dirty="0"/>
              <a:t> </a:t>
            </a:r>
            <a:r>
              <a:rPr lang="en-GB" sz="3200" dirty="0" err="1"/>
              <a:t>cả</a:t>
            </a:r>
            <a:r>
              <a:rPr lang="en-GB" sz="3200" dirty="0"/>
              <a:t> </a:t>
            </a:r>
            <a:r>
              <a:rPr lang="en-GB" sz="3200" dirty="0" err="1"/>
              <a:t>cơ</a:t>
            </a:r>
            <a:r>
              <a:rPr lang="en-GB" sz="3200" dirty="0"/>
              <a:t> </a:t>
            </a:r>
            <a:r>
              <a:rPr lang="en-GB" sz="3200" dirty="0" err="1"/>
              <a:t>quan</a:t>
            </a:r>
            <a:r>
              <a:rPr lang="en-GB" sz="3200" dirty="0"/>
              <a:t> </a:t>
            </a:r>
            <a:r>
              <a:rPr lang="en-GB" sz="3200" dirty="0" err="1"/>
              <a:t>sinh</a:t>
            </a:r>
            <a:r>
              <a:rPr lang="en-GB" sz="3200" dirty="0"/>
              <a:t> </a:t>
            </a:r>
            <a:r>
              <a:rPr lang="en-GB" sz="3200" dirty="0" err="1"/>
              <a:t>dục</a:t>
            </a:r>
            <a:r>
              <a:rPr lang="en-GB" sz="3200" dirty="0"/>
              <a:t> </a:t>
            </a:r>
            <a:r>
              <a:rPr lang="en-GB" sz="3200" dirty="0" err="1"/>
              <a:t>nam</a:t>
            </a:r>
            <a:r>
              <a:rPr lang="en-GB" sz="3200" dirty="0" smtClean="0"/>
              <a:t>.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95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2. </a:t>
            </a:r>
            <a:r>
              <a:rPr lang="en-US" dirty="0" err="1" smtClean="0">
                <a:solidFill>
                  <a:srgbClr val="FF0000"/>
                </a:solidFill>
              </a:rPr>
              <a:t>Dịch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tễ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 err="1" smtClean="0"/>
              <a:t>Là</a:t>
            </a:r>
            <a:r>
              <a:rPr lang="en-US" sz="3200" dirty="0" smtClean="0"/>
              <a:t> </a:t>
            </a:r>
            <a:r>
              <a:rPr lang="en-US" sz="3200" dirty="0" err="1" smtClean="0"/>
              <a:t>một</a:t>
            </a:r>
            <a:r>
              <a:rPr lang="en-US" sz="3200" dirty="0" smtClean="0"/>
              <a:t> </a:t>
            </a:r>
            <a:r>
              <a:rPr lang="en-US" sz="3200" dirty="0" err="1" smtClean="0"/>
              <a:t>bệnh</a:t>
            </a:r>
            <a:r>
              <a:rPr lang="en-US" sz="3200" dirty="0" smtClean="0"/>
              <a:t> </a:t>
            </a:r>
            <a:r>
              <a:rPr lang="en-US" sz="3200" dirty="0" err="1" smtClean="0"/>
              <a:t>thường</a:t>
            </a:r>
            <a:r>
              <a:rPr lang="en-US" sz="3200" dirty="0" smtClean="0"/>
              <a:t> </a:t>
            </a:r>
            <a:r>
              <a:rPr lang="en-US" sz="3200" dirty="0" err="1" smtClean="0"/>
              <a:t>gặp</a:t>
            </a:r>
            <a:r>
              <a:rPr lang="en-US" sz="3200" dirty="0" smtClean="0"/>
              <a:t> ở </a:t>
            </a:r>
            <a:r>
              <a:rPr lang="en-US" sz="3200" dirty="0" err="1" smtClean="0"/>
              <a:t>trẻ</a:t>
            </a:r>
            <a:r>
              <a:rPr lang="en-US" sz="3200" dirty="0" smtClean="0"/>
              <a:t> </a:t>
            </a:r>
            <a:r>
              <a:rPr lang="en-US" sz="3200" dirty="0" err="1" smtClean="0"/>
              <a:t>em</a:t>
            </a:r>
            <a:r>
              <a:rPr lang="en-US" sz="3200" dirty="0" smtClean="0"/>
              <a:t>, </a:t>
            </a:r>
            <a:r>
              <a:rPr lang="en-US" sz="3200" dirty="0" err="1" smtClean="0"/>
              <a:t>đứng</a:t>
            </a:r>
            <a:r>
              <a:rPr lang="en-US" sz="3200" dirty="0" smtClean="0"/>
              <a:t> </a:t>
            </a:r>
            <a:r>
              <a:rPr lang="en-US" sz="3200" dirty="0" err="1" smtClean="0"/>
              <a:t>thứ</a:t>
            </a:r>
            <a:r>
              <a:rPr lang="en-US" sz="3200" dirty="0" smtClean="0"/>
              <a:t> 3 </a:t>
            </a:r>
            <a:r>
              <a:rPr lang="en-US" sz="3200" dirty="0" err="1" smtClean="0"/>
              <a:t>sau</a:t>
            </a:r>
            <a:r>
              <a:rPr lang="en-US" sz="3200" dirty="0" smtClean="0"/>
              <a:t> </a:t>
            </a:r>
            <a:r>
              <a:rPr lang="en-US" sz="3200" dirty="0" err="1" smtClean="0"/>
              <a:t>nhiễm</a:t>
            </a:r>
            <a:r>
              <a:rPr lang="en-US" sz="3200" dirty="0" smtClean="0"/>
              <a:t> </a:t>
            </a:r>
            <a:r>
              <a:rPr lang="en-US" sz="3200" dirty="0" err="1" smtClean="0"/>
              <a:t>khuẩn</a:t>
            </a:r>
            <a:r>
              <a:rPr lang="en-US" sz="3200" dirty="0" smtClean="0"/>
              <a:t> </a:t>
            </a:r>
            <a:r>
              <a:rPr lang="en-US" sz="3200" dirty="0" err="1" smtClean="0"/>
              <a:t>hô</a:t>
            </a:r>
            <a:r>
              <a:rPr lang="en-US" sz="3200" dirty="0" smtClean="0"/>
              <a:t> </a:t>
            </a:r>
            <a:r>
              <a:rPr lang="en-US" sz="3200" dirty="0" err="1" smtClean="0"/>
              <a:t>hấp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nhiễm</a:t>
            </a:r>
            <a:r>
              <a:rPr lang="en-US" sz="3200" dirty="0" smtClean="0"/>
              <a:t> </a:t>
            </a:r>
            <a:r>
              <a:rPr lang="en-US" sz="3200" dirty="0" err="1" smtClean="0"/>
              <a:t>khuẩn</a:t>
            </a:r>
            <a:r>
              <a:rPr lang="en-US" sz="3200" dirty="0" smtClean="0"/>
              <a:t> </a:t>
            </a:r>
            <a:r>
              <a:rPr lang="en-US" sz="3200" dirty="0" err="1" smtClean="0"/>
              <a:t>tiêu</a:t>
            </a:r>
            <a:r>
              <a:rPr lang="en-US" sz="3200" dirty="0" smtClean="0"/>
              <a:t> </a:t>
            </a:r>
            <a:r>
              <a:rPr lang="en-US" sz="3200" dirty="0" err="1" smtClean="0"/>
              <a:t>hóa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Theo </a:t>
            </a:r>
            <a:r>
              <a:rPr lang="en-US" sz="3200" dirty="0" err="1" smtClean="0"/>
              <a:t>Hiệp</a:t>
            </a:r>
            <a:r>
              <a:rPr lang="en-US" sz="3200" dirty="0" smtClean="0"/>
              <a:t> </a:t>
            </a:r>
            <a:r>
              <a:rPr lang="en-US" sz="3200" dirty="0" err="1" smtClean="0"/>
              <a:t>hội</a:t>
            </a:r>
            <a:r>
              <a:rPr lang="en-US" sz="3200" dirty="0" smtClean="0"/>
              <a:t> </a:t>
            </a:r>
            <a:r>
              <a:rPr lang="en-US" sz="3200" dirty="0" err="1" smtClean="0"/>
              <a:t>Tiết</a:t>
            </a:r>
            <a:r>
              <a:rPr lang="en-US" sz="3200" dirty="0" smtClean="0"/>
              <a:t>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</a:t>
            </a:r>
            <a:r>
              <a:rPr lang="en-US" sz="3200" dirty="0" err="1" smtClean="0"/>
              <a:t>Hoa</a:t>
            </a:r>
            <a:r>
              <a:rPr lang="en-US" sz="3200" dirty="0" smtClean="0"/>
              <a:t> </a:t>
            </a:r>
            <a:r>
              <a:rPr lang="en-US" sz="3200" dirty="0" err="1" smtClean="0"/>
              <a:t>Kì</a:t>
            </a:r>
            <a:r>
              <a:rPr lang="en-US" sz="3200" dirty="0" smtClean="0"/>
              <a:t> 2016, NKTN </a:t>
            </a:r>
            <a:r>
              <a:rPr lang="en-US" sz="3200" dirty="0" err="1" smtClean="0"/>
              <a:t>ảnh</a:t>
            </a:r>
            <a:r>
              <a:rPr lang="en-US" sz="3200" dirty="0" smtClean="0"/>
              <a:t> </a:t>
            </a:r>
            <a:r>
              <a:rPr lang="en-US" sz="3200" dirty="0" err="1" smtClean="0"/>
              <a:t>hưởng</a:t>
            </a:r>
            <a:r>
              <a:rPr lang="en-US" sz="3200" dirty="0" smtClean="0"/>
              <a:t> 3% </a:t>
            </a:r>
            <a:r>
              <a:rPr lang="en-US" sz="3200" dirty="0" err="1" smtClean="0"/>
              <a:t>trẻ</a:t>
            </a:r>
            <a:r>
              <a:rPr lang="en-US" sz="3200" dirty="0" smtClean="0"/>
              <a:t> </a:t>
            </a:r>
            <a:r>
              <a:rPr lang="en-US" sz="3200" dirty="0" err="1" smtClean="0"/>
              <a:t>em</a:t>
            </a:r>
            <a:r>
              <a:rPr lang="en-US" sz="3200" dirty="0" smtClean="0"/>
              <a:t> </a:t>
            </a:r>
            <a:r>
              <a:rPr lang="en-US" sz="3200" dirty="0" err="1" smtClean="0"/>
              <a:t>mỗi</a:t>
            </a:r>
            <a:r>
              <a:rPr lang="en-US" sz="3200" dirty="0" smtClean="0"/>
              <a:t> </a:t>
            </a:r>
            <a:r>
              <a:rPr lang="en-US" sz="3200" dirty="0" err="1" smtClean="0"/>
              <a:t>năm</a:t>
            </a:r>
            <a:r>
              <a:rPr lang="en-US" sz="3200" dirty="0" smtClean="0"/>
              <a:t>, 1triệu </a:t>
            </a:r>
            <a:r>
              <a:rPr lang="en-US" sz="3200" dirty="0" err="1" smtClean="0"/>
              <a:t>lượt</a:t>
            </a:r>
            <a:r>
              <a:rPr lang="en-US" sz="3200" dirty="0" smtClean="0"/>
              <a:t> </a:t>
            </a:r>
            <a:r>
              <a:rPr lang="en-US" sz="3200" dirty="0" err="1" smtClean="0"/>
              <a:t>khám</a:t>
            </a:r>
            <a:r>
              <a:rPr lang="en-US" sz="3200" dirty="0" smtClean="0"/>
              <a:t>, 13000 </a:t>
            </a:r>
            <a:r>
              <a:rPr lang="en-US" sz="3200" dirty="0" err="1" smtClean="0"/>
              <a:t>trẻ</a:t>
            </a:r>
            <a:r>
              <a:rPr lang="en-US" sz="3200" dirty="0" smtClean="0"/>
              <a:t> </a:t>
            </a:r>
            <a:r>
              <a:rPr lang="en-US" sz="3200" dirty="0" err="1" smtClean="0"/>
              <a:t>nhập</a:t>
            </a:r>
            <a:r>
              <a:rPr lang="en-US" sz="3200" dirty="0" smtClean="0"/>
              <a:t> </a:t>
            </a:r>
            <a:r>
              <a:rPr lang="en-US" sz="3200" dirty="0" err="1" smtClean="0"/>
              <a:t>viện</a:t>
            </a:r>
            <a:r>
              <a:rPr lang="en-US" sz="3200" dirty="0" smtClean="0"/>
              <a:t> </a:t>
            </a:r>
            <a:r>
              <a:rPr lang="en-US" sz="3200" dirty="0" err="1" smtClean="0"/>
              <a:t>vì</a:t>
            </a:r>
            <a:r>
              <a:rPr lang="en-US" sz="3200" dirty="0" smtClean="0"/>
              <a:t> </a:t>
            </a:r>
            <a:r>
              <a:rPr lang="en-US" sz="3200" dirty="0" err="1" smtClean="0"/>
              <a:t>viêm</a:t>
            </a:r>
            <a:r>
              <a:rPr lang="en-US" sz="3200" dirty="0" smtClean="0"/>
              <a:t> </a:t>
            </a:r>
            <a:r>
              <a:rPr lang="en-US" sz="3200" dirty="0" err="1" smtClean="0"/>
              <a:t>bể</a:t>
            </a:r>
            <a:r>
              <a:rPr lang="en-US" sz="3200" dirty="0" smtClean="0"/>
              <a:t> </a:t>
            </a:r>
            <a:r>
              <a:rPr lang="en-US" sz="3200" dirty="0" err="1" smtClean="0"/>
              <a:t>thận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Theo WHO </a:t>
            </a:r>
            <a:r>
              <a:rPr lang="en-US" sz="3200" dirty="0" err="1" smtClean="0"/>
              <a:t>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tính</a:t>
            </a:r>
            <a:r>
              <a:rPr lang="en-US" sz="3200" dirty="0" smtClean="0"/>
              <a:t> 19/1000 </a:t>
            </a:r>
            <a:r>
              <a:rPr lang="en-US" sz="3200" dirty="0" err="1" smtClean="0"/>
              <a:t>trẻ</a:t>
            </a:r>
            <a:r>
              <a:rPr lang="en-US" sz="3200" dirty="0" smtClean="0"/>
              <a:t> NKTN </a:t>
            </a:r>
            <a:r>
              <a:rPr lang="en-US" sz="3200" dirty="0" err="1" smtClean="0"/>
              <a:t>mỗi</a:t>
            </a:r>
            <a:r>
              <a:rPr lang="en-US" sz="3200" dirty="0" smtClean="0"/>
              <a:t> </a:t>
            </a:r>
            <a:r>
              <a:rPr lang="en-US" sz="3200" dirty="0" err="1" smtClean="0"/>
              <a:t>năm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6830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229600" cy="44196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Ở </a:t>
            </a:r>
            <a:r>
              <a:rPr lang="en-US" sz="3600" dirty="0" err="1" smtClean="0"/>
              <a:t>Việt</a:t>
            </a:r>
            <a:r>
              <a:rPr lang="en-US" sz="3600" dirty="0" smtClean="0"/>
              <a:t> Nam, </a:t>
            </a:r>
            <a:r>
              <a:rPr lang="en-US" sz="3600" dirty="0" err="1" smtClean="0"/>
              <a:t>tỷ</a:t>
            </a:r>
            <a:r>
              <a:rPr lang="en-US" sz="3600" dirty="0" smtClean="0"/>
              <a:t> </a:t>
            </a:r>
            <a:r>
              <a:rPr lang="en-US" sz="3600" dirty="0" err="1" smtClean="0"/>
              <a:t>lệ</a:t>
            </a:r>
            <a:r>
              <a:rPr lang="en-US" sz="3600" dirty="0" smtClean="0"/>
              <a:t> </a:t>
            </a:r>
            <a:r>
              <a:rPr lang="en-US" sz="3600" dirty="0" err="1" smtClean="0"/>
              <a:t>còn</a:t>
            </a:r>
            <a:r>
              <a:rPr lang="en-US" sz="3600" dirty="0" smtClean="0"/>
              <a:t> </a:t>
            </a:r>
            <a:r>
              <a:rPr lang="en-US" sz="3600" dirty="0" err="1" smtClean="0"/>
              <a:t>khá</a:t>
            </a:r>
            <a:r>
              <a:rPr lang="en-US" sz="3600" dirty="0" smtClean="0"/>
              <a:t> </a:t>
            </a:r>
            <a:r>
              <a:rPr lang="en-US" sz="3600" dirty="0" err="1" smtClean="0"/>
              <a:t>cao</a:t>
            </a:r>
            <a:r>
              <a:rPr lang="en-US" sz="3600" dirty="0" smtClean="0"/>
              <a:t>.</a:t>
            </a:r>
          </a:p>
          <a:p>
            <a:pPr algn="just"/>
            <a:r>
              <a:rPr lang="en-US" sz="3600" dirty="0" smtClean="0"/>
              <a:t>Ở </a:t>
            </a:r>
            <a:r>
              <a:rPr lang="en-US" sz="3600" dirty="0" err="1" smtClean="0"/>
              <a:t>Hải</a:t>
            </a:r>
            <a:r>
              <a:rPr lang="en-US" sz="3600" dirty="0" smtClean="0"/>
              <a:t> </a:t>
            </a:r>
            <a:r>
              <a:rPr lang="en-US" sz="3600" dirty="0" err="1" smtClean="0"/>
              <a:t>Phòng</a:t>
            </a:r>
            <a:r>
              <a:rPr lang="en-US" sz="3600" dirty="0" smtClean="0"/>
              <a:t>, </a:t>
            </a:r>
            <a:r>
              <a:rPr lang="en-US" sz="3600" dirty="0" err="1" smtClean="0"/>
              <a:t>theo</a:t>
            </a:r>
            <a:r>
              <a:rPr lang="en-US" sz="3600" dirty="0" smtClean="0"/>
              <a:t> </a:t>
            </a:r>
            <a:r>
              <a:rPr lang="en-US" sz="3600" dirty="0" err="1" smtClean="0"/>
              <a:t>Nguyễn</a:t>
            </a:r>
            <a:r>
              <a:rPr lang="en-US" sz="3600" dirty="0" smtClean="0"/>
              <a:t> </a:t>
            </a:r>
            <a:r>
              <a:rPr lang="en-US" sz="3600" dirty="0" err="1" smtClean="0"/>
              <a:t>Ngọc</a:t>
            </a:r>
            <a:r>
              <a:rPr lang="en-US" sz="3600" dirty="0" smtClean="0"/>
              <a:t> </a:t>
            </a:r>
            <a:r>
              <a:rPr lang="en-US" sz="3600" dirty="0" err="1" smtClean="0"/>
              <a:t>Sáng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Đặng</a:t>
            </a:r>
            <a:r>
              <a:rPr lang="en-US" sz="3600" dirty="0" smtClean="0"/>
              <a:t> </a:t>
            </a:r>
            <a:r>
              <a:rPr lang="en-US" sz="3600" dirty="0" err="1" smtClean="0"/>
              <a:t>Văn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 (2009) </a:t>
            </a:r>
            <a:r>
              <a:rPr lang="en-US" sz="3600" dirty="0" err="1" smtClean="0"/>
              <a:t>tỷ</a:t>
            </a:r>
            <a:r>
              <a:rPr lang="en-US" sz="3600" dirty="0" smtClean="0"/>
              <a:t> </a:t>
            </a:r>
            <a:r>
              <a:rPr lang="en-US" sz="3600" dirty="0" err="1" smtClean="0"/>
              <a:t>lệ</a:t>
            </a:r>
            <a:r>
              <a:rPr lang="en-US" sz="3600" dirty="0" smtClean="0"/>
              <a:t> NKTN ở </a:t>
            </a:r>
            <a:r>
              <a:rPr lang="en-US" sz="3600" dirty="0" err="1" smtClean="0"/>
              <a:t>trẻ</a:t>
            </a:r>
            <a:r>
              <a:rPr lang="en-US" sz="3600" dirty="0" smtClean="0"/>
              <a:t> 2-6m </a:t>
            </a: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2,8%; </a:t>
            </a:r>
            <a:r>
              <a:rPr lang="en-US" sz="3600" dirty="0" err="1" smtClean="0"/>
              <a:t>nữ</a:t>
            </a:r>
            <a:r>
              <a:rPr lang="en-US" sz="3600" dirty="0" smtClean="0"/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3,3% </a:t>
            </a:r>
            <a:r>
              <a:rPr lang="en-US" sz="3600" dirty="0" err="1" smtClean="0"/>
              <a:t>cao</a:t>
            </a:r>
            <a:r>
              <a:rPr lang="en-US" sz="3600" dirty="0" smtClean="0"/>
              <a:t> </a:t>
            </a:r>
            <a:r>
              <a:rPr lang="en-US" sz="3600" dirty="0" err="1" smtClean="0"/>
              <a:t>hơn</a:t>
            </a:r>
            <a:r>
              <a:rPr lang="en-US" sz="3600" dirty="0" smtClean="0"/>
              <a:t> </a:t>
            </a:r>
            <a:r>
              <a:rPr lang="en-US" sz="3600" dirty="0" err="1" smtClean="0"/>
              <a:t>nam</a:t>
            </a:r>
            <a:r>
              <a:rPr lang="en-US" sz="36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2,2%.</a:t>
            </a:r>
          </a:p>
        </p:txBody>
      </p:sp>
    </p:spTree>
    <p:extLst>
      <p:ext uri="{BB962C8B-B14F-4D97-AF65-F5344CB8AC3E}">
        <p14:creationId xmlns:p14="http://schemas.microsoft.com/office/powerpoint/2010/main" val="69368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153400" cy="5181600"/>
          </a:xfrm>
        </p:spPr>
        <p:txBody>
          <a:bodyPr/>
          <a:lstStyle/>
          <a:p>
            <a:pPr algn="just"/>
            <a:r>
              <a:rPr lang="en-US" sz="2800" dirty="0" err="1"/>
              <a:t>Thường</a:t>
            </a:r>
            <a:r>
              <a:rPr lang="en-US" sz="2800" dirty="0"/>
              <a:t> </a:t>
            </a:r>
            <a:r>
              <a:rPr lang="en-US" sz="2800" dirty="0" err="1"/>
              <a:t>gặp</a:t>
            </a:r>
            <a:r>
              <a:rPr lang="en-US" sz="2800" dirty="0"/>
              <a:t> ở </a:t>
            </a:r>
            <a:r>
              <a:rPr lang="en-US" sz="2800" dirty="0" err="1"/>
              <a:t>trẻ</a:t>
            </a:r>
            <a:r>
              <a:rPr lang="en-US" sz="2800" dirty="0"/>
              <a:t> </a:t>
            </a:r>
            <a:r>
              <a:rPr lang="en-US" sz="2800" dirty="0" err="1"/>
              <a:t>bú</a:t>
            </a:r>
            <a:r>
              <a:rPr lang="en-US" sz="2800" dirty="0"/>
              <a:t> </a:t>
            </a:r>
            <a:r>
              <a:rPr lang="en-US" sz="2800" dirty="0" err="1"/>
              <a:t>mẹ</a:t>
            </a:r>
            <a:r>
              <a:rPr lang="en-US" sz="2800" dirty="0"/>
              <a:t> </a:t>
            </a:r>
            <a:r>
              <a:rPr lang="en-US" sz="2800" dirty="0" err="1"/>
              <a:t>dưới</a:t>
            </a:r>
            <a:r>
              <a:rPr lang="en-US" sz="2800" dirty="0"/>
              <a:t> 2 </a:t>
            </a:r>
            <a:r>
              <a:rPr lang="en-US" sz="2800" dirty="0" err="1"/>
              <a:t>tuổi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err="1"/>
              <a:t>Trẻ</a:t>
            </a:r>
            <a:r>
              <a:rPr lang="en-US" sz="2800" dirty="0"/>
              <a:t> </a:t>
            </a:r>
            <a:r>
              <a:rPr lang="en-US" sz="2800" dirty="0" err="1"/>
              <a:t>sơ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, </a:t>
            </a:r>
            <a:r>
              <a:rPr lang="en-US" sz="2800" dirty="0" err="1"/>
              <a:t>trẻ</a:t>
            </a:r>
            <a:r>
              <a:rPr lang="en-US" sz="2800" dirty="0"/>
              <a:t> </a:t>
            </a:r>
            <a:r>
              <a:rPr lang="en-US" sz="2800" dirty="0" err="1"/>
              <a:t>nhỏ</a:t>
            </a:r>
            <a:r>
              <a:rPr lang="en-US" sz="2800" dirty="0"/>
              <a:t>: con </a:t>
            </a:r>
            <a:r>
              <a:rPr lang="en-US" sz="2800" dirty="0" err="1"/>
              <a:t>trai</a:t>
            </a:r>
            <a:r>
              <a:rPr lang="en-US" sz="2800" dirty="0"/>
              <a:t> &gt;con </a:t>
            </a:r>
            <a:r>
              <a:rPr lang="en-US" sz="2800" dirty="0" err="1"/>
              <a:t>gái</a:t>
            </a:r>
            <a:r>
              <a:rPr lang="en-US" sz="2800" dirty="0"/>
              <a:t>.(5-8 </a:t>
            </a:r>
            <a:r>
              <a:rPr lang="en-US" sz="2800" dirty="0" err="1"/>
              <a:t>lần</a:t>
            </a:r>
            <a:r>
              <a:rPr lang="en-US" sz="2800" dirty="0"/>
              <a:t>).</a:t>
            </a:r>
          </a:p>
          <a:p>
            <a:pPr algn="just"/>
            <a:r>
              <a:rPr lang="en-US" sz="2800" dirty="0" err="1"/>
              <a:t>Trẻ</a:t>
            </a:r>
            <a:r>
              <a:rPr lang="en-US" sz="2800" dirty="0"/>
              <a:t> </a:t>
            </a:r>
            <a:r>
              <a:rPr lang="en-US" sz="2800" dirty="0" err="1"/>
              <a:t>lớn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2 </a:t>
            </a:r>
            <a:r>
              <a:rPr lang="en-US" sz="2800" dirty="0" err="1"/>
              <a:t>tuổi</a:t>
            </a:r>
            <a:r>
              <a:rPr lang="en-US" sz="2800" dirty="0"/>
              <a:t>: con </a:t>
            </a:r>
            <a:r>
              <a:rPr lang="en-US" sz="2800" dirty="0" err="1"/>
              <a:t>gái</a:t>
            </a:r>
            <a:r>
              <a:rPr lang="en-US" sz="2800" dirty="0"/>
              <a:t> &gt; con </a:t>
            </a:r>
            <a:r>
              <a:rPr lang="en-US" sz="2800" dirty="0" err="1"/>
              <a:t>trai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err="1"/>
              <a:t>Trẻ</a:t>
            </a:r>
            <a:r>
              <a:rPr lang="en-US" sz="2800" dirty="0"/>
              <a:t> da </a:t>
            </a:r>
            <a:r>
              <a:rPr lang="en-US" sz="2800" dirty="0" err="1"/>
              <a:t>trắng</a:t>
            </a:r>
            <a:r>
              <a:rPr lang="en-US" sz="2800" dirty="0"/>
              <a:t> </a:t>
            </a:r>
            <a:r>
              <a:rPr lang="en-US" sz="2800" dirty="0" err="1"/>
              <a:t>tỷ</a:t>
            </a:r>
            <a:r>
              <a:rPr lang="en-US" sz="2800" dirty="0"/>
              <a:t> </a:t>
            </a:r>
            <a:r>
              <a:rPr lang="en-US" sz="2800" dirty="0" err="1"/>
              <a:t>lệ</a:t>
            </a:r>
            <a:r>
              <a:rPr lang="en-US" sz="2800" dirty="0"/>
              <a:t> NKTN </a:t>
            </a:r>
            <a:r>
              <a:rPr lang="en-US" sz="2800" dirty="0" err="1"/>
              <a:t>gấp</a:t>
            </a:r>
            <a:r>
              <a:rPr lang="en-US" sz="2800" dirty="0"/>
              <a:t> 2-4 </a:t>
            </a:r>
            <a:r>
              <a:rPr lang="en-US" sz="2800" dirty="0" err="1"/>
              <a:t>lần</a:t>
            </a:r>
            <a:r>
              <a:rPr lang="en-US" sz="2800" dirty="0"/>
              <a:t> </a:t>
            </a:r>
            <a:r>
              <a:rPr lang="en-US" sz="2800" dirty="0" err="1"/>
              <a:t>trẻ</a:t>
            </a:r>
            <a:r>
              <a:rPr lang="en-US" sz="2800" dirty="0"/>
              <a:t> da </a:t>
            </a:r>
            <a:r>
              <a:rPr lang="en-US" sz="2800" dirty="0" err="1"/>
              <a:t>đen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Ứ </a:t>
            </a:r>
            <a:r>
              <a:rPr lang="en-US" sz="2800" dirty="0" err="1"/>
              <a:t>đọng</a:t>
            </a:r>
            <a:r>
              <a:rPr lang="en-US" sz="2800" dirty="0"/>
              <a:t> </a:t>
            </a:r>
            <a:r>
              <a:rPr lang="en-US" sz="2800" dirty="0" err="1"/>
              <a:t>nước</a:t>
            </a:r>
            <a:r>
              <a:rPr lang="en-US" sz="2800" dirty="0"/>
              <a:t> </a:t>
            </a:r>
            <a:r>
              <a:rPr lang="en-US" sz="2800" dirty="0" err="1"/>
              <a:t>tiểu</a:t>
            </a:r>
            <a:r>
              <a:rPr lang="en-US" sz="2800" dirty="0"/>
              <a:t>: </a:t>
            </a:r>
            <a:r>
              <a:rPr lang="en-US" sz="2800" dirty="0" err="1"/>
              <a:t>dị</a:t>
            </a:r>
            <a:r>
              <a:rPr lang="en-US" sz="2800" dirty="0"/>
              <a:t> </a:t>
            </a:r>
            <a:r>
              <a:rPr lang="en-US" sz="2800" dirty="0" err="1"/>
              <a:t>tật</a:t>
            </a:r>
            <a:r>
              <a:rPr lang="en-US" sz="2800" dirty="0"/>
              <a:t> </a:t>
            </a:r>
            <a:r>
              <a:rPr lang="en-US" sz="2800" dirty="0" err="1"/>
              <a:t>đường</a:t>
            </a:r>
            <a:r>
              <a:rPr lang="en-US" sz="2800" dirty="0"/>
              <a:t> </a:t>
            </a:r>
            <a:r>
              <a:rPr lang="en-US" sz="2800" dirty="0" err="1"/>
              <a:t>niệu</a:t>
            </a:r>
            <a:r>
              <a:rPr lang="en-US" sz="2800" dirty="0"/>
              <a:t>, can </a:t>
            </a:r>
            <a:r>
              <a:rPr lang="en-US" sz="2800" dirty="0" err="1"/>
              <a:t>thiệp</a:t>
            </a:r>
            <a:r>
              <a:rPr lang="en-US" sz="2800" dirty="0"/>
              <a:t> </a:t>
            </a:r>
            <a:r>
              <a:rPr lang="en-US" sz="2800" dirty="0" err="1"/>
              <a:t>thủ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tiết</a:t>
            </a:r>
            <a:r>
              <a:rPr lang="en-US" sz="2800" dirty="0"/>
              <a:t> </a:t>
            </a:r>
            <a:r>
              <a:rPr lang="en-US" sz="2800" dirty="0" err="1"/>
              <a:t>niệu</a:t>
            </a:r>
            <a:r>
              <a:rPr lang="en-US" sz="2800" dirty="0"/>
              <a:t> </a:t>
            </a:r>
            <a:r>
              <a:rPr lang="en-US" sz="2800" dirty="0" err="1"/>
              <a:t>tỷ</a:t>
            </a:r>
            <a:r>
              <a:rPr lang="en-US" sz="2800" dirty="0"/>
              <a:t> </a:t>
            </a:r>
            <a:r>
              <a:rPr lang="en-US" sz="2800" dirty="0" err="1"/>
              <a:t>lệ</a:t>
            </a:r>
            <a:r>
              <a:rPr lang="en-US" sz="2800" dirty="0"/>
              <a:t> NKTN </a:t>
            </a:r>
            <a:r>
              <a:rPr lang="en-US" sz="2800" dirty="0" err="1"/>
              <a:t>tăng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58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435" y="252156"/>
            <a:ext cx="83058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3. </a:t>
            </a:r>
            <a:r>
              <a:rPr lang="en-US" sz="4000" dirty="0" err="1" smtClean="0">
                <a:solidFill>
                  <a:srgbClr val="FF0000"/>
                </a:solidFill>
              </a:rPr>
              <a:t>phân</a:t>
            </a:r>
            <a:r>
              <a:rPr lang="en-US" sz="4000" dirty="0" smtClean="0">
                <a:solidFill>
                  <a:srgbClr val="FF0000"/>
                </a:solidFill>
              </a:rPr>
              <a:t> loại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61735" y="914400"/>
            <a:ext cx="1981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>
                <a:solidFill>
                  <a:srgbClr val="FFFF00"/>
                </a:solidFill>
              </a:rPr>
              <a:t>Phân</a:t>
            </a:r>
            <a:r>
              <a:rPr lang="en-US" sz="2800" b="1" dirty="0" smtClean="0">
                <a:solidFill>
                  <a:srgbClr val="FFFF00"/>
                </a:solidFill>
              </a:rPr>
              <a:t> loại</a:t>
            </a:r>
            <a:endParaRPr lang="en-US" sz="2800" b="1" dirty="0">
              <a:solidFill>
                <a:srgbClr val="FFFF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133600" y="2057400"/>
            <a:ext cx="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133601" y="1524000"/>
            <a:ext cx="2418734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2"/>
          </p:cNvCxnSpPr>
          <p:nvPr/>
        </p:nvCxnSpPr>
        <p:spPr>
          <a:xfrm>
            <a:off x="4552335" y="1524000"/>
            <a:ext cx="2305665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295400" y="2097140"/>
            <a:ext cx="190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Theo TCLS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42934" y="2057400"/>
            <a:ext cx="2839065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Theo </a:t>
            </a:r>
            <a:r>
              <a:rPr lang="en-US" sz="2400" b="1" dirty="0" err="1" smtClean="0">
                <a:solidFill>
                  <a:srgbClr val="FFFF00"/>
                </a:solidFill>
              </a:rPr>
              <a:t>nguyên</a:t>
            </a:r>
            <a:r>
              <a:rPr lang="en-US" sz="2400" b="1" dirty="0" smtClean="0">
                <a:solidFill>
                  <a:srgbClr val="FFFF00"/>
                </a:solidFill>
              </a:rPr>
              <a:t> </a:t>
            </a:r>
            <a:r>
              <a:rPr lang="en-US" sz="2400" b="1" dirty="0" err="1" smtClean="0">
                <a:solidFill>
                  <a:srgbClr val="FFFF00"/>
                </a:solidFill>
              </a:rPr>
              <a:t>nhân</a:t>
            </a:r>
            <a:endParaRPr lang="en-US" sz="2400" b="1" dirty="0">
              <a:solidFill>
                <a:srgbClr val="FFFF00"/>
              </a:solidFill>
            </a:endParaRPr>
          </a:p>
        </p:txBody>
      </p:sp>
      <p:cxnSp>
        <p:nvCxnSpPr>
          <p:cNvPr id="15" name="Elbow Connector 14"/>
          <p:cNvCxnSpPr>
            <a:stCxn id="12" idx="2"/>
          </p:cNvCxnSpPr>
          <p:nvPr/>
        </p:nvCxnSpPr>
        <p:spPr>
          <a:xfrm rot="5400000">
            <a:off x="1543050" y="2382890"/>
            <a:ext cx="457200" cy="9525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>
            <a:off x="2247900" y="3048000"/>
            <a:ext cx="952500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>
            <a:off x="6962466" y="2590800"/>
            <a:ext cx="124134" cy="12700"/>
          </a:xfrm>
          <a:prstGeom prst="bentConnector3">
            <a:avLst>
              <a:gd name="adj1" fmla="val 737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 rot="16200000" flipH="1">
            <a:off x="7284883" y="2255684"/>
            <a:ext cx="469900" cy="11147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3" idx="2"/>
          </p:cNvCxnSpPr>
          <p:nvPr/>
        </p:nvCxnSpPr>
        <p:spPr>
          <a:xfrm rot="5400000">
            <a:off x="6218084" y="2316317"/>
            <a:ext cx="469900" cy="101886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295400" y="3054350"/>
            <a:ext cx="0" cy="2984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00400" y="3060701"/>
            <a:ext cx="0" cy="2920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943600" y="3060701"/>
            <a:ext cx="0" cy="4444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077200" y="3060701"/>
            <a:ext cx="0" cy="4444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85801" y="3357716"/>
            <a:ext cx="14478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NKTN </a:t>
            </a:r>
            <a:r>
              <a:rPr lang="en-US" sz="2400" b="1" dirty="0" err="1" smtClean="0">
                <a:solidFill>
                  <a:srgbClr val="FFFF00"/>
                </a:solidFill>
              </a:rPr>
              <a:t>không</a:t>
            </a:r>
            <a:r>
              <a:rPr lang="en-US" sz="2400" b="1" dirty="0" smtClean="0">
                <a:solidFill>
                  <a:srgbClr val="FFFF00"/>
                </a:solidFill>
              </a:rPr>
              <a:t> </a:t>
            </a:r>
            <a:r>
              <a:rPr lang="en-US" sz="2400" b="1" dirty="0" err="1" smtClean="0">
                <a:solidFill>
                  <a:srgbClr val="FFFF00"/>
                </a:solidFill>
              </a:rPr>
              <a:t>có</a:t>
            </a:r>
            <a:r>
              <a:rPr lang="en-US" sz="2400" b="1" dirty="0" smtClean="0">
                <a:solidFill>
                  <a:srgbClr val="FFFF00"/>
                </a:solidFill>
              </a:rPr>
              <a:t> TCLS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52700" y="3352800"/>
            <a:ext cx="12954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NKTN</a:t>
            </a:r>
          </a:p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 </a:t>
            </a:r>
            <a:r>
              <a:rPr lang="en-US" sz="2400" b="1" dirty="0" err="1" smtClean="0">
                <a:solidFill>
                  <a:srgbClr val="FFFF00"/>
                </a:solidFill>
              </a:rPr>
              <a:t>có</a:t>
            </a:r>
            <a:r>
              <a:rPr lang="en-US" sz="2400" b="1" dirty="0" smtClean="0">
                <a:solidFill>
                  <a:srgbClr val="FFFF00"/>
                </a:solidFill>
              </a:rPr>
              <a:t> TCLS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599470" y="3519948"/>
            <a:ext cx="1086466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NKTN </a:t>
            </a:r>
            <a:r>
              <a:rPr lang="en-US" sz="2400" b="1" dirty="0" err="1" smtClean="0">
                <a:solidFill>
                  <a:srgbClr val="FFFF00"/>
                </a:solidFill>
              </a:rPr>
              <a:t>kết</a:t>
            </a:r>
            <a:r>
              <a:rPr lang="en-US" sz="2400" b="1" dirty="0" smtClean="0">
                <a:solidFill>
                  <a:srgbClr val="FFFF00"/>
                </a:solidFill>
              </a:rPr>
              <a:t> </a:t>
            </a:r>
            <a:r>
              <a:rPr lang="en-US" sz="2400" b="1" dirty="0" err="1" smtClean="0">
                <a:solidFill>
                  <a:srgbClr val="FFFF00"/>
                </a:solidFill>
              </a:rPr>
              <a:t>hợp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519833" y="3505200"/>
            <a:ext cx="1090767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NKTN </a:t>
            </a:r>
            <a:r>
              <a:rPr lang="en-US" sz="2400" b="1" dirty="0" err="1" smtClean="0">
                <a:solidFill>
                  <a:srgbClr val="FFFF00"/>
                </a:solidFill>
              </a:rPr>
              <a:t>tiên</a:t>
            </a:r>
            <a:r>
              <a:rPr lang="en-US" sz="2400" b="1" dirty="0" smtClean="0">
                <a:solidFill>
                  <a:srgbClr val="FFFF00"/>
                </a:solidFill>
              </a:rPr>
              <a:t> </a:t>
            </a:r>
            <a:r>
              <a:rPr lang="en-US" sz="2400" b="1" dirty="0" err="1" smtClean="0">
                <a:solidFill>
                  <a:srgbClr val="FFFF00"/>
                </a:solidFill>
              </a:rPr>
              <a:t>phát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991032" y="5257800"/>
            <a:ext cx="990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FF00"/>
                </a:solidFill>
              </a:rPr>
              <a:t>NKTN </a:t>
            </a:r>
            <a:r>
              <a:rPr lang="en-US" sz="2000" b="1" dirty="0" err="1" smtClean="0">
                <a:solidFill>
                  <a:srgbClr val="FFFF00"/>
                </a:solidFill>
              </a:rPr>
              <a:t>dưới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61735" y="5257800"/>
            <a:ext cx="990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FF00"/>
                </a:solidFill>
              </a:rPr>
              <a:t>NKTN </a:t>
            </a:r>
            <a:r>
              <a:rPr lang="en-US" sz="2000" b="1" dirty="0" err="1" smtClean="0">
                <a:solidFill>
                  <a:srgbClr val="FFFF00"/>
                </a:solidFill>
              </a:rPr>
              <a:t>trên</a:t>
            </a:r>
            <a:endParaRPr lang="en-US" sz="2000" b="1" dirty="0">
              <a:solidFill>
                <a:srgbClr val="FFFF00"/>
              </a:solidFill>
            </a:endParaRPr>
          </a:p>
        </p:txBody>
      </p:sp>
      <p:cxnSp>
        <p:nvCxnSpPr>
          <p:cNvPr id="41" name="Straight Arrow Connector 40"/>
          <p:cNvCxnSpPr>
            <a:endCxn id="38" idx="0"/>
          </p:cNvCxnSpPr>
          <p:nvPr/>
        </p:nvCxnSpPr>
        <p:spPr>
          <a:xfrm flipH="1">
            <a:off x="2486332" y="4724400"/>
            <a:ext cx="7239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9" idx="0"/>
          </p:cNvCxnSpPr>
          <p:nvPr/>
        </p:nvCxnSpPr>
        <p:spPr>
          <a:xfrm>
            <a:off x="3200400" y="4724400"/>
            <a:ext cx="856635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3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3.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>
                <a:solidFill>
                  <a:srgbClr val="FF0000"/>
                </a:solidFill>
              </a:rPr>
              <a:t> loại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 err="1" smtClean="0"/>
              <a:t>Ngoài</a:t>
            </a:r>
            <a:r>
              <a:rPr lang="en-US" sz="3200" dirty="0" smtClean="0"/>
              <a:t> </a:t>
            </a:r>
            <a:r>
              <a:rPr lang="en-US" sz="3200" dirty="0" err="1" smtClean="0"/>
              <a:t>ra</a:t>
            </a:r>
            <a:r>
              <a:rPr lang="en-US" sz="3200" dirty="0" smtClean="0"/>
              <a:t> </a:t>
            </a:r>
            <a:r>
              <a:rPr lang="en-US" sz="3200" dirty="0" err="1" smtClean="0"/>
              <a:t>còn</a:t>
            </a:r>
            <a:r>
              <a:rPr lang="en-US" sz="3200" dirty="0" smtClean="0"/>
              <a:t> </a:t>
            </a:r>
            <a:r>
              <a:rPr lang="en-US" sz="3200" dirty="0" err="1" smtClean="0"/>
              <a:t>phân</a:t>
            </a:r>
            <a:r>
              <a:rPr lang="en-US" sz="3200" dirty="0" smtClean="0"/>
              <a:t> </a:t>
            </a:r>
            <a:r>
              <a:rPr lang="en-US" sz="3200" dirty="0" err="1" smtClean="0"/>
              <a:t>theo</a:t>
            </a:r>
            <a:r>
              <a:rPr lang="en-US" sz="3200" dirty="0" smtClean="0"/>
              <a:t> NKTN </a:t>
            </a:r>
            <a:r>
              <a:rPr lang="en-US" sz="3200" dirty="0" err="1" smtClean="0"/>
              <a:t>mới</a:t>
            </a:r>
            <a:r>
              <a:rPr lang="en-US" sz="3200" dirty="0" smtClean="0"/>
              <a:t> </a:t>
            </a:r>
            <a:r>
              <a:rPr lang="en-US" sz="3200" dirty="0" err="1" smtClean="0"/>
              <a:t>mắc</a:t>
            </a:r>
            <a:r>
              <a:rPr lang="en-US" sz="3200" dirty="0" smtClean="0"/>
              <a:t> </a:t>
            </a:r>
            <a:r>
              <a:rPr lang="en-US" sz="3200" dirty="0" err="1" smtClean="0"/>
              <a:t>lần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NKTN </a:t>
            </a:r>
            <a:r>
              <a:rPr lang="en-US" sz="3200" dirty="0" err="1" smtClean="0"/>
              <a:t>tái</a:t>
            </a:r>
            <a:r>
              <a:rPr lang="en-US" sz="3200" dirty="0" smtClean="0"/>
              <a:t> </a:t>
            </a:r>
            <a:r>
              <a:rPr lang="en-US" sz="3200" dirty="0" err="1" smtClean="0"/>
              <a:t>phát</a:t>
            </a:r>
            <a:r>
              <a:rPr lang="en-US" sz="3200" dirty="0" smtClean="0"/>
              <a:t>. </a:t>
            </a:r>
          </a:p>
          <a:p>
            <a:r>
              <a:rPr lang="en-US" sz="3200" dirty="0" smtClean="0"/>
              <a:t>NKTN </a:t>
            </a:r>
            <a:r>
              <a:rPr lang="en-US" sz="3200" dirty="0" err="1" smtClean="0"/>
              <a:t>tái</a:t>
            </a:r>
            <a:r>
              <a:rPr lang="en-US" sz="3200" dirty="0" smtClean="0"/>
              <a:t> </a:t>
            </a:r>
            <a:r>
              <a:rPr lang="en-US" sz="3200" dirty="0" err="1" smtClean="0"/>
              <a:t>phát</a:t>
            </a:r>
            <a:r>
              <a:rPr lang="en-US" sz="3200" dirty="0" smtClean="0"/>
              <a:t> chia 3 loại:</a:t>
            </a:r>
          </a:p>
          <a:p>
            <a:pPr>
              <a:buFontTx/>
              <a:buChar char="-"/>
            </a:pPr>
            <a:r>
              <a:rPr lang="en-US" sz="3200" dirty="0" smtClean="0"/>
              <a:t>VK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</a:t>
            </a:r>
            <a:r>
              <a:rPr lang="en-US" sz="3200" dirty="0" err="1" smtClean="0"/>
              <a:t>chưa</a:t>
            </a:r>
            <a:r>
              <a:rPr lang="en-US" sz="3200" dirty="0" smtClean="0"/>
              <a:t> </a:t>
            </a:r>
            <a:r>
              <a:rPr lang="en-US" sz="3200" dirty="0" err="1" smtClean="0"/>
              <a:t>được</a:t>
            </a:r>
            <a:r>
              <a:rPr lang="en-US" sz="3200" dirty="0" smtClean="0"/>
              <a:t> </a:t>
            </a:r>
            <a:r>
              <a:rPr lang="en-US" sz="3200" dirty="0" err="1" smtClean="0"/>
              <a:t>giải</a:t>
            </a:r>
            <a:r>
              <a:rPr lang="en-US" sz="3200" dirty="0" smtClean="0"/>
              <a:t> </a:t>
            </a:r>
            <a:r>
              <a:rPr lang="en-US" sz="3200" dirty="0" err="1" smtClean="0"/>
              <a:t>quyết</a:t>
            </a:r>
            <a:r>
              <a:rPr lang="en-US" sz="3200" dirty="0" smtClean="0"/>
              <a:t>.</a:t>
            </a:r>
          </a:p>
          <a:p>
            <a:pPr>
              <a:buFontTx/>
              <a:buChar char="-"/>
            </a:pPr>
            <a:r>
              <a:rPr lang="en-US" sz="3200" dirty="0" smtClean="0"/>
              <a:t>VK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</a:t>
            </a:r>
            <a:r>
              <a:rPr lang="en-US" sz="3200" dirty="0" err="1" smtClean="0"/>
              <a:t>dai</a:t>
            </a:r>
            <a:r>
              <a:rPr lang="en-US" sz="3200" dirty="0" smtClean="0"/>
              <a:t> </a:t>
            </a:r>
            <a:r>
              <a:rPr lang="en-US" sz="3200" dirty="0" err="1" smtClean="0"/>
              <a:t>dẳng</a:t>
            </a:r>
            <a:r>
              <a:rPr lang="en-US" sz="3200" dirty="0" smtClean="0"/>
              <a:t>.</a:t>
            </a:r>
          </a:p>
          <a:p>
            <a:pPr>
              <a:buFontTx/>
              <a:buChar char="-"/>
            </a:pPr>
            <a:r>
              <a:rPr lang="en-US" sz="3200" dirty="0" smtClean="0"/>
              <a:t>VK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</a:t>
            </a:r>
            <a:r>
              <a:rPr lang="en-US" sz="3200" dirty="0" err="1" smtClean="0"/>
              <a:t>tái</a:t>
            </a:r>
            <a:r>
              <a:rPr lang="en-US" sz="3200" dirty="0" smtClean="0"/>
              <a:t> </a:t>
            </a:r>
            <a:r>
              <a:rPr lang="en-US" sz="3200" dirty="0" err="1" smtClean="0"/>
              <a:t>nhiễm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5143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Căn</a:t>
            </a:r>
            <a:r>
              <a:rPr lang="en-US" sz="3200" dirty="0" smtClean="0"/>
              <a:t> </a:t>
            </a:r>
            <a:r>
              <a:rPr lang="en-US" sz="3200" dirty="0" err="1" smtClean="0"/>
              <a:t>nguyên</a:t>
            </a:r>
            <a:r>
              <a:rPr lang="en-US" sz="3200" dirty="0" smtClean="0"/>
              <a:t> </a:t>
            </a:r>
            <a:r>
              <a:rPr lang="en-US" sz="3200" dirty="0" err="1" smtClean="0"/>
              <a:t>chính</a:t>
            </a:r>
            <a:r>
              <a:rPr lang="en-US" sz="3200" dirty="0" smtClean="0"/>
              <a:t> </a:t>
            </a:r>
            <a:r>
              <a:rPr lang="en-US" sz="3200" dirty="0" err="1" smtClean="0"/>
              <a:t>nhóm</a:t>
            </a:r>
            <a:r>
              <a:rPr lang="en-US" sz="3200" dirty="0" smtClean="0"/>
              <a:t> VK gram </a:t>
            </a:r>
            <a:r>
              <a:rPr lang="en-US" sz="3200" dirty="0" err="1" smtClean="0"/>
              <a:t>âm</a:t>
            </a:r>
            <a:r>
              <a:rPr lang="en-US" sz="3200" dirty="0" smtClean="0"/>
              <a:t>, </a:t>
            </a:r>
            <a:r>
              <a:rPr lang="en-US" sz="3200" dirty="0" err="1" smtClean="0"/>
              <a:t>từ</a:t>
            </a:r>
            <a:r>
              <a:rPr lang="en-US" sz="3200" dirty="0" smtClean="0"/>
              <a:t> vi </a:t>
            </a:r>
            <a:r>
              <a:rPr lang="en-US" sz="3200" dirty="0" err="1" smtClean="0"/>
              <a:t>khuẩn</a:t>
            </a:r>
            <a:r>
              <a:rPr lang="en-US" sz="3200" dirty="0" smtClean="0"/>
              <a:t> </a:t>
            </a:r>
            <a:r>
              <a:rPr lang="en-US" sz="3200" dirty="0" err="1" smtClean="0"/>
              <a:t>chí</a:t>
            </a:r>
            <a:r>
              <a:rPr lang="en-US" sz="3200" dirty="0" smtClean="0"/>
              <a:t> </a:t>
            </a:r>
            <a:r>
              <a:rPr lang="en-US" sz="3200" dirty="0" err="1" smtClean="0"/>
              <a:t>trong</a:t>
            </a:r>
            <a:r>
              <a:rPr lang="en-US" sz="3200" dirty="0" smtClean="0"/>
              <a:t> </a:t>
            </a:r>
            <a:r>
              <a:rPr lang="en-US" sz="3200" dirty="0" err="1" smtClean="0"/>
              <a:t>phân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vùng</a:t>
            </a:r>
            <a:r>
              <a:rPr lang="en-US" sz="3200" dirty="0" smtClean="0"/>
              <a:t> </a:t>
            </a:r>
            <a:r>
              <a:rPr lang="en-US" sz="3200" dirty="0" err="1" smtClean="0"/>
              <a:t>đáy</a:t>
            </a:r>
            <a:r>
              <a:rPr lang="en-US" sz="3200" dirty="0" smtClean="0"/>
              <a:t> </a:t>
            </a:r>
            <a:r>
              <a:rPr lang="en-US" sz="3200" dirty="0" err="1" smtClean="0"/>
              <a:t>chậu</a:t>
            </a:r>
            <a:r>
              <a:rPr lang="en-US" sz="3200" dirty="0"/>
              <a:t> </a:t>
            </a:r>
            <a:r>
              <a:rPr lang="en-US" sz="3200" dirty="0" smtClean="0"/>
              <a:t>Escherichia Coli </a:t>
            </a:r>
            <a:r>
              <a:rPr lang="en-US" sz="3200" dirty="0" err="1" smtClean="0"/>
              <a:t>chiếm</a:t>
            </a:r>
            <a:r>
              <a:rPr lang="en-US" sz="3200" dirty="0" smtClean="0"/>
              <a:t> </a:t>
            </a:r>
            <a:r>
              <a:rPr lang="en-US" sz="3200" smtClean="0"/>
              <a:t>75-90%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91818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Pictures\E.col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6553200" cy="454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9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sz="3200" dirty="0" err="1"/>
              <a:t>T</a:t>
            </a:r>
            <a:r>
              <a:rPr lang="en-US" sz="3200" dirty="0" err="1" smtClean="0"/>
              <a:t>iếp</a:t>
            </a:r>
            <a:r>
              <a:rPr lang="en-US" sz="3200" dirty="0" smtClean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là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smtClean="0"/>
              <a:t>VK </a:t>
            </a:r>
            <a:r>
              <a:rPr lang="en-US" sz="3200" dirty="0" err="1" smtClean="0"/>
              <a:t>đường</a:t>
            </a:r>
            <a:r>
              <a:rPr lang="en-US" sz="3200" dirty="0" smtClean="0"/>
              <a:t> </a:t>
            </a:r>
            <a:r>
              <a:rPr lang="en-US" sz="3200" dirty="0" err="1"/>
              <a:t>ruột</a:t>
            </a:r>
            <a:r>
              <a:rPr lang="en-US" sz="3200" dirty="0"/>
              <a:t> </a:t>
            </a:r>
            <a:r>
              <a:rPr lang="en-US" sz="3200" dirty="0" err="1"/>
              <a:t>khác</a:t>
            </a:r>
            <a:r>
              <a:rPr lang="en-US" sz="3200" dirty="0"/>
              <a:t>, </a:t>
            </a: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biệt</a:t>
            </a:r>
            <a:r>
              <a:rPr lang="en-US" sz="3200" dirty="0"/>
              <a:t> </a:t>
            </a:r>
            <a:r>
              <a:rPr lang="en-US" sz="3200" dirty="0" err="1"/>
              <a:t>là</a:t>
            </a:r>
            <a:r>
              <a:rPr lang="en-US" sz="3200" dirty="0"/>
              <a:t> </a:t>
            </a:r>
            <a:r>
              <a:rPr lang="en-US" sz="3200" dirty="0" err="1"/>
              <a:t>Klebsiella</a:t>
            </a:r>
            <a:r>
              <a:rPr lang="en-US" sz="3200" dirty="0"/>
              <a:t>, Proteus </a:t>
            </a:r>
            <a:r>
              <a:rPr lang="en-US" sz="3200" dirty="0" err="1"/>
              <a:t>và</a:t>
            </a:r>
            <a:r>
              <a:rPr lang="en-US" sz="3200" dirty="0"/>
              <a:t> Pseudomonas.</a:t>
            </a:r>
          </a:p>
          <a:p>
            <a:r>
              <a:rPr lang="en-US" sz="3200" dirty="0" err="1"/>
              <a:t>Ngoài</a:t>
            </a:r>
            <a:r>
              <a:rPr lang="en-US" sz="3200" dirty="0"/>
              <a:t> </a:t>
            </a:r>
            <a:r>
              <a:rPr lang="en-US" sz="3200" dirty="0" err="1"/>
              <a:t>ra</a:t>
            </a:r>
            <a:r>
              <a:rPr lang="en-US" sz="3200" dirty="0"/>
              <a:t>, </a:t>
            </a:r>
            <a:r>
              <a:rPr lang="en-US" sz="3200" dirty="0" err="1"/>
              <a:t>còn</a:t>
            </a:r>
            <a:r>
              <a:rPr lang="en-US" sz="3200" dirty="0"/>
              <a:t> </a:t>
            </a:r>
            <a:r>
              <a:rPr lang="en-US" sz="3200" dirty="0" err="1"/>
              <a:t>gặp</a:t>
            </a:r>
            <a:r>
              <a:rPr lang="en-US" sz="3200" dirty="0"/>
              <a:t> VK gram </a:t>
            </a:r>
            <a:r>
              <a:rPr lang="en-US" sz="3200" dirty="0" smtClean="0"/>
              <a:t>(+) </a:t>
            </a:r>
            <a:r>
              <a:rPr lang="en-US" sz="3200" dirty="0" err="1"/>
              <a:t>gây</a:t>
            </a:r>
            <a:r>
              <a:rPr lang="en-US" sz="3200" dirty="0"/>
              <a:t> NKTN </a:t>
            </a:r>
            <a:r>
              <a:rPr lang="en-US" sz="3200" dirty="0" smtClean="0"/>
              <a:t>ở TE. </a:t>
            </a:r>
          </a:p>
          <a:p>
            <a:r>
              <a:rPr lang="en-US" sz="3200" dirty="0" err="1" smtClean="0"/>
              <a:t>Virut</a:t>
            </a:r>
            <a:r>
              <a:rPr lang="en-US" sz="3200" dirty="0" smtClean="0"/>
              <a:t> </a:t>
            </a:r>
            <a:r>
              <a:rPr lang="en-US" sz="3200" dirty="0"/>
              <a:t>(</a:t>
            </a:r>
            <a:r>
              <a:rPr lang="en-US" sz="3200" dirty="0" err="1"/>
              <a:t>adenovirut</a:t>
            </a:r>
            <a:r>
              <a:rPr lang="en-US" sz="3200" dirty="0"/>
              <a:t>, </a:t>
            </a:r>
            <a:r>
              <a:rPr lang="en-US" sz="3200" dirty="0" err="1"/>
              <a:t>enterovirut</a:t>
            </a:r>
            <a:r>
              <a:rPr lang="en-US" sz="3200" dirty="0"/>
              <a:t>,..), </a:t>
            </a:r>
            <a:r>
              <a:rPr lang="en-US" sz="3200" dirty="0" err="1"/>
              <a:t>nấm</a:t>
            </a:r>
            <a:r>
              <a:rPr lang="en-US" sz="3200" dirty="0"/>
              <a:t>  </a:t>
            </a:r>
            <a:r>
              <a:rPr lang="en-US" sz="3200" dirty="0" err="1"/>
              <a:t>là</a:t>
            </a:r>
            <a:r>
              <a:rPr lang="en-US" sz="3200" dirty="0"/>
              <a:t> NN </a:t>
            </a:r>
            <a:r>
              <a:rPr lang="en-US" sz="3200" dirty="0" err="1"/>
              <a:t>không</a:t>
            </a:r>
            <a:r>
              <a:rPr lang="en-US" sz="3200" dirty="0"/>
              <a:t> </a:t>
            </a:r>
            <a:r>
              <a:rPr lang="en-US" sz="3200" dirty="0" err="1"/>
              <a:t>phổ</a:t>
            </a:r>
            <a:r>
              <a:rPr lang="en-US" sz="3200" dirty="0"/>
              <a:t> </a:t>
            </a:r>
            <a:r>
              <a:rPr lang="en-US" sz="3200" dirty="0" err="1"/>
              <a:t>biến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NKTN.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1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5.Cơ </a:t>
            </a:r>
            <a:r>
              <a:rPr lang="en-US" b="1" dirty="0" err="1" smtClean="0">
                <a:solidFill>
                  <a:srgbClr val="FF0000"/>
                </a:solidFill>
              </a:rPr>
              <a:t>chế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bệnh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sinh</a:t>
            </a: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47968"/>
              </p:ext>
            </p:extLst>
          </p:nvPr>
        </p:nvGraphicFramePr>
        <p:xfrm>
          <a:off x="228600" y="1759208"/>
          <a:ext cx="8382000" cy="540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1990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5.1.Các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cơ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chế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tự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bảo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vệ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đường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niệu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không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bị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NK</a:t>
            </a:r>
          </a:p>
        </p:txBody>
      </p:sp>
    </p:spTree>
    <p:extLst>
      <p:ext uri="{BB962C8B-B14F-4D97-AF65-F5344CB8AC3E}">
        <p14:creationId xmlns:p14="http://schemas.microsoft.com/office/powerpoint/2010/main" val="209151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8991600" cy="838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5.2</a:t>
            </a:r>
            <a:r>
              <a:rPr lang="en-US" sz="3200" dirty="0"/>
              <a:t> </a:t>
            </a:r>
            <a:r>
              <a:rPr lang="en-US" sz="3200" dirty="0" err="1" smtClean="0"/>
              <a:t>Cơ</a:t>
            </a:r>
            <a:r>
              <a:rPr lang="en-US" sz="3200" dirty="0" smtClean="0"/>
              <a:t> </a:t>
            </a:r>
            <a:r>
              <a:rPr lang="en-US" sz="3200" dirty="0" err="1" smtClean="0"/>
              <a:t>chế</a:t>
            </a:r>
            <a:r>
              <a:rPr lang="en-US" sz="3200" dirty="0" smtClean="0"/>
              <a:t> </a:t>
            </a:r>
            <a:r>
              <a:rPr lang="en-US" sz="3200" dirty="0" err="1" smtClean="0"/>
              <a:t>xâm</a:t>
            </a:r>
            <a:r>
              <a:rPr lang="en-US" sz="3200" dirty="0" smtClean="0"/>
              <a:t> </a:t>
            </a:r>
            <a:r>
              <a:rPr lang="en-US" sz="3200" dirty="0" err="1" smtClean="0"/>
              <a:t>nhập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VK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đường</a:t>
            </a:r>
            <a:r>
              <a:rPr lang="en-US" sz="3200" dirty="0" smtClean="0"/>
              <a:t> </a:t>
            </a:r>
            <a:r>
              <a:rPr lang="en-US" sz="3200" dirty="0" err="1" smtClean="0"/>
              <a:t>niệu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983052"/>
              </p:ext>
            </p:extLst>
          </p:nvPr>
        </p:nvGraphicFramePr>
        <p:xfrm>
          <a:off x="457200" y="1371600"/>
          <a:ext cx="82296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892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Vi khuẩn E.coli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048378"/>
            <a:ext cx="6477000" cy="4581022"/>
          </a:xfrm>
        </p:spPr>
      </p:pic>
    </p:spTree>
    <p:extLst>
      <p:ext uri="{BB962C8B-B14F-4D97-AF65-F5344CB8AC3E}">
        <p14:creationId xmlns:p14="http://schemas.microsoft.com/office/powerpoint/2010/main" val="312366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028700" indent="-1028700">
              <a:buFont typeface="+mj-lt"/>
              <a:buAutoNum type="romanUcPeriod" startAt="2"/>
            </a:pPr>
            <a:r>
              <a:rPr lang="en-US" dirty="0" err="1" smtClean="0"/>
              <a:t>Triệu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</a:t>
            </a:r>
            <a:r>
              <a:rPr lang="en-US" dirty="0" err="1" smtClean="0"/>
              <a:t>lâm</a:t>
            </a:r>
            <a:r>
              <a:rPr lang="en-US" dirty="0" smtClean="0"/>
              <a:t> </a:t>
            </a:r>
            <a:r>
              <a:rPr lang="en-US" dirty="0" err="1" smtClean="0"/>
              <a:t>sàng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 smtClean="0"/>
              <a:t>Bệnh</a:t>
            </a:r>
            <a:r>
              <a:rPr lang="en-US" sz="3200" dirty="0" smtClean="0"/>
              <a:t> </a:t>
            </a:r>
            <a:r>
              <a:rPr lang="en-US" sz="3200" dirty="0" err="1" smtClean="0"/>
              <a:t>cảnh</a:t>
            </a:r>
            <a:r>
              <a:rPr lang="en-US" sz="3200" dirty="0" smtClean="0"/>
              <a:t> </a:t>
            </a:r>
            <a:r>
              <a:rPr lang="en-US" sz="3200" dirty="0" err="1" smtClean="0"/>
              <a:t>lâm</a:t>
            </a:r>
            <a:r>
              <a:rPr lang="en-US" sz="3200" dirty="0" smtClean="0"/>
              <a:t> </a:t>
            </a:r>
            <a:r>
              <a:rPr lang="en-US" sz="3200" dirty="0" err="1" smtClean="0"/>
              <a:t>sàng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NKTN </a:t>
            </a:r>
            <a:r>
              <a:rPr lang="en-US" sz="3200" dirty="0" err="1" smtClean="0"/>
              <a:t>rất</a:t>
            </a:r>
            <a:r>
              <a:rPr lang="en-US" sz="3200" dirty="0" smtClean="0"/>
              <a:t> </a:t>
            </a:r>
            <a:r>
              <a:rPr lang="en-US" sz="3200" dirty="0" err="1" smtClean="0"/>
              <a:t>khác</a:t>
            </a:r>
            <a:r>
              <a:rPr lang="en-US" sz="3200" dirty="0" smtClean="0"/>
              <a:t> </a:t>
            </a:r>
            <a:r>
              <a:rPr lang="en-US" sz="3200" dirty="0" err="1" smtClean="0"/>
              <a:t>nhau</a:t>
            </a:r>
            <a:r>
              <a:rPr lang="en-US" sz="3200" dirty="0" smtClean="0"/>
              <a:t> </a:t>
            </a:r>
            <a:r>
              <a:rPr lang="en-US" sz="3200" dirty="0" err="1" smtClean="0"/>
              <a:t>tùy</a:t>
            </a:r>
            <a:r>
              <a:rPr lang="en-US" sz="3200" dirty="0" smtClean="0"/>
              <a:t> </a:t>
            </a:r>
            <a:r>
              <a:rPr lang="en-US" sz="3200" dirty="0" err="1" smtClean="0"/>
              <a:t>từng</a:t>
            </a:r>
            <a:r>
              <a:rPr lang="en-US" sz="3200" dirty="0" smtClean="0"/>
              <a:t> </a:t>
            </a:r>
            <a:r>
              <a:rPr lang="en-US" sz="3200" dirty="0" err="1" smtClean="0"/>
              <a:t>lứa</a:t>
            </a:r>
            <a:r>
              <a:rPr lang="en-US" sz="3200" dirty="0" smtClean="0"/>
              <a:t> </a:t>
            </a:r>
            <a:r>
              <a:rPr lang="en-US" sz="3200" dirty="0" err="1" smtClean="0"/>
              <a:t>tuổi</a:t>
            </a:r>
            <a:r>
              <a:rPr lang="en-US" sz="3200" dirty="0" smtClean="0"/>
              <a:t>, hay </a:t>
            </a:r>
            <a:r>
              <a:rPr lang="en-US" sz="3200" dirty="0" err="1" smtClean="0"/>
              <a:t>từng</a:t>
            </a:r>
            <a:r>
              <a:rPr lang="en-US" sz="3200" dirty="0" smtClean="0"/>
              <a:t> </a:t>
            </a:r>
            <a:r>
              <a:rPr lang="en-US" sz="3200" dirty="0" err="1" smtClean="0"/>
              <a:t>cá</a:t>
            </a:r>
            <a:r>
              <a:rPr lang="en-US" sz="3200" dirty="0" smtClean="0"/>
              <a:t> </a:t>
            </a:r>
            <a:r>
              <a:rPr lang="en-US" sz="3200" dirty="0" err="1" smtClean="0"/>
              <a:t>thế</a:t>
            </a:r>
            <a:r>
              <a:rPr lang="en-US" sz="3200" dirty="0" smtClean="0"/>
              <a:t> </a:t>
            </a:r>
            <a:r>
              <a:rPr lang="en-US" sz="3200" dirty="0" err="1" smtClean="0"/>
              <a:t>mà</a:t>
            </a:r>
            <a:r>
              <a:rPr lang="en-US" sz="3200" dirty="0" smtClean="0"/>
              <a:t> </a:t>
            </a:r>
            <a:r>
              <a:rPr lang="en-US" sz="3200" dirty="0" err="1" smtClean="0"/>
              <a:t>biểu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không</a:t>
            </a:r>
            <a:r>
              <a:rPr lang="en-US" sz="3200" dirty="0" smtClean="0"/>
              <a:t> </a:t>
            </a:r>
            <a:r>
              <a:rPr lang="en-US" sz="3200" dirty="0" err="1" smtClean="0"/>
              <a:t>có</a:t>
            </a:r>
            <a:r>
              <a:rPr lang="en-US" sz="3200" dirty="0" smtClean="0"/>
              <a:t> </a:t>
            </a:r>
            <a:r>
              <a:rPr lang="en-US" sz="3200" dirty="0" err="1" smtClean="0"/>
              <a:t>biểu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lâm</a:t>
            </a:r>
            <a:r>
              <a:rPr lang="en-US" sz="3200" dirty="0" smtClean="0"/>
              <a:t> </a:t>
            </a:r>
            <a:r>
              <a:rPr lang="en-US" sz="3200" dirty="0" err="1" smtClean="0"/>
              <a:t>sàng</a:t>
            </a:r>
            <a:r>
              <a:rPr lang="en-US" sz="3200" dirty="0" smtClean="0"/>
              <a:t> </a:t>
            </a:r>
            <a:r>
              <a:rPr lang="en-US" sz="3200" dirty="0" err="1" smtClean="0"/>
              <a:t>đến</a:t>
            </a:r>
            <a:r>
              <a:rPr lang="en-US" sz="3200" dirty="0" smtClean="0"/>
              <a:t> </a:t>
            </a:r>
            <a:r>
              <a:rPr lang="en-US" sz="3200" dirty="0" err="1" smtClean="0"/>
              <a:t>tình</a:t>
            </a:r>
            <a:r>
              <a:rPr lang="en-US" sz="3200" dirty="0" smtClean="0"/>
              <a:t> </a:t>
            </a:r>
            <a:r>
              <a:rPr lang="en-US" sz="3200" dirty="0" err="1" smtClean="0"/>
              <a:t>trạng</a:t>
            </a:r>
            <a:r>
              <a:rPr lang="en-US" sz="3200" dirty="0" smtClean="0"/>
              <a:t> </a:t>
            </a:r>
            <a:r>
              <a:rPr lang="en-US" sz="3200" dirty="0" err="1" smtClean="0"/>
              <a:t>nguy</a:t>
            </a:r>
            <a:r>
              <a:rPr lang="en-US" sz="3200" dirty="0" smtClean="0"/>
              <a:t> </a:t>
            </a:r>
            <a:r>
              <a:rPr lang="en-US" sz="3200" dirty="0" err="1" smtClean="0"/>
              <a:t>kịch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688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II. </a:t>
            </a:r>
            <a:r>
              <a:rPr lang="en-US" dirty="0" err="1" smtClean="0"/>
              <a:t>Triệu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</a:t>
            </a:r>
            <a:r>
              <a:rPr lang="en-US" dirty="0" err="1" smtClean="0"/>
              <a:t>lâm</a:t>
            </a:r>
            <a:r>
              <a:rPr lang="en-US" dirty="0" smtClean="0"/>
              <a:t> </a:t>
            </a:r>
            <a:r>
              <a:rPr lang="en-US" dirty="0" err="1" smtClean="0"/>
              <a:t>sàng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1.1 Ở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trẻ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sơ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sinh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trẻ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dưới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tháng</a:t>
            </a:r>
            <a:endParaRPr lang="en-US" sz="32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3200" dirty="0" smtClean="0"/>
          </a:p>
          <a:p>
            <a:pPr marL="514350" indent="-514350">
              <a:buAutoNum type="arabicPeriod"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51" name="Picture 3" descr="C:\Users\ADMIN\Pictures\tre_bi_so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14600"/>
            <a:ext cx="571500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17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533400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Ngoài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ra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trẻ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có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thể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có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các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triệu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chứng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</a:rPr>
              <a:t>sau</a:t>
            </a:r>
            <a:r>
              <a:rPr lang="en-US" sz="3200" dirty="0" smtClean="0">
                <a:solidFill>
                  <a:srgbClr val="FF0000"/>
                </a:solidFill>
              </a:rPr>
              <a:t>: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603726"/>
              </p:ext>
            </p:extLst>
          </p:nvPr>
        </p:nvGraphicFramePr>
        <p:xfrm>
          <a:off x="457200" y="1524000"/>
          <a:ext cx="8229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984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106680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lang="en-US" sz="4800" dirty="0" err="1">
                <a:solidFill>
                  <a:schemeClr val="accent1">
                    <a:lumMod val="75000"/>
                  </a:schemeClr>
                </a:solidFill>
              </a:rPr>
              <a:t>Trẻ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800" dirty="0" err="1">
                <a:solidFill>
                  <a:schemeClr val="accent1">
                    <a:lumMod val="75000"/>
                  </a:schemeClr>
                </a:solidFill>
              </a:rPr>
              <a:t>em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800" dirty="0" err="1">
                <a:solidFill>
                  <a:schemeClr val="accent1">
                    <a:lumMod val="75000"/>
                  </a:schemeClr>
                </a:solidFill>
              </a:rPr>
              <a:t>từ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sz="4800" dirty="0" err="1">
                <a:solidFill>
                  <a:schemeClr val="accent1">
                    <a:lumMod val="75000"/>
                  </a:schemeClr>
                </a:solidFill>
              </a:rPr>
              <a:t>tháng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800" dirty="0" err="1">
                <a:solidFill>
                  <a:schemeClr val="accent1">
                    <a:lumMod val="75000"/>
                  </a:schemeClr>
                </a:solidFill>
              </a:rPr>
              <a:t>đến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sz="4800" dirty="0" err="1">
                <a:solidFill>
                  <a:schemeClr val="accent1">
                    <a:lumMod val="75000"/>
                  </a:schemeClr>
                </a:solidFill>
              </a:rPr>
              <a:t>tuổi</a:t>
            </a:r>
            <a:r>
              <a:rPr lang="en-US" sz="4800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err="1"/>
              <a:t>Sốt</a:t>
            </a:r>
            <a:r>
              <a:rPr lang="en-US" sz="3200" dirty="0"/>
              <a:t> </a:t>
            </a:r>
            <a:r>
              <a:rPr lang="en-US" sz="3200" dirty="0" err="1"/>
              <a:t>kéo</a:t>
            </a:r>
            <a:r>
              <a:rPr lang="en-US" sz="3200" dirty="0"/>
              <a:t> </a:t>
            </a:r>
            <a:r>
              <a:rPr lang="en-US" sz="3200" dirty="0" err="1"/>
              <a:t>dài</a:t>
            </a:r>
            <a:r>
              <a:rPr lang="en-US" sz="3200" dirty="0"/>
              <a:t> </a:t>
            </a:r>
            <a:r>
              <a:rPr lang="en-US" sz="3200" dirty="0" err="1"/>
              <a:t>không</a:t>
            </a:r>
            <a:r>
              <a:rPr lang="en-US" sz="3200" dirty="0"/>
              <a:t> </a:t>
            </a:r>
            <a:r>
              <a:rPr lang="en-US" sz="3200" dirty="0" err="1"/>
              <a:t>rõ</a:t>
            </a:r>
            <a:r>
              <a:rPr lang="en-US" sz="3200" dirty="0"/>
              <a:t> </a:t>
            </a:r>
            <a:r>
              <a:rPr lang="en-US" sz="3200" dirty="0" err="1"/>
              <a:t>nguyên</a:t>
            </a:r>
            <a:r>
              <a:rPr lang="en-US" sz="3200" dirty="0"/>
              <a:t> </a:t>
            </a:r>
            <a:r>
              <a:rPr lang="en-US" sz="3200" dirty="0" err="1"/>
              <a:t>nhân</a:t>
            </a:r>
            <a:endParaRPr lang="en-US" sz="3200" dirty="0"/>
          </a:p>
          <a:p>
            <a:r>
              <a:rPr lang="en-US" sz="3200" dirty="0" err="1" smtClean="0"/>
              <a:t>Nôn</a:t>
            </a:r>
            <a:r>
              <a:rPr lang="en-US" sz="3200" dirty="0" smtClean="0"/>
              <a:t> </a:t>
            </a:r>
            <a:r>
              <a:rPr lang="en-US" sz="3200" dirty="0" err="1" smtClean="0"/>
              <a:t>mửa</a:t>
            </a:r>
            <a:endParaRPr lang="en-US" sz="3200" dirty="0" smtClean="0"/>
          </a:p>
          <a:p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có</a:t>
            </a:r>
            <a:r>
              <a:rPr lang="en-US" sz="3200" dirty="0" smtClean="0"/>
              <a:t> </a:t>
            </a:r>
            <a:r>
              <a:rPr lang="en-US" sz="3200" dirty="0" err="1" smtClean="0"/>
              <a:t>mùi</a:t>
            </a:r>
            <a:r>
              <a:rPr lang="en-US" sz="3200" dirty="0" smtClean="0"/>
              <a:t> </a:t>
            </a:r>
            <a:r>
              <a:rPr lang="en-US" sz="3200" dirty="0" err="1" smtClean="0"/>
              <a:t>mạnh</a:t>
            </a:r>
            <a:endParaRPr lang="en-US" sz="3200" dirty="0" smtClean="0"/>
          </a:p>
          <a:p>
            <a:r>
              <a:rPr lang="en-US" sz="3200" dirty="0" err="1" smtClean="0"/>
              <a:t>Đau</a:t>
            </a:r>
            <a:r>
              <a:rPr lang="en-US" sz="3200" dirty="0" smtClean="0"/>
              <a:t> </a:t>
            </a:r>
            <a:r>
              <a:rPr lang="en-US" sz="3200" dirty="0" err="1" smtClean="0"/>
              <a:t>bụng</a:t>
            </a:r>
            <a:endParaRPr lang="en-US" sz="3200" dirty="0" smtClean="0"/>
          </a:p>
          <a:p>
            <a:r>
              <a:rPr lang="en-US" sz="3200" dirty="0" err="1" smtClean="0"/>
              <a:t>Ăn</a:t>
            </a:r>
            <a:r>
              <a:rPr lang="en-US" sz="3200" dirty="0" smtClean="0"/>
              <a:t> </a:t>
            </a:r>
            <a:r>
              <a:rPr lang="en-US" sz="3200" dirty="0" err="1" smtClean="0"/>
              <a:t>kém</a:t>
            </a:r>
            <a:endParaRPr lang="en-US" sz="3200" dirty="0" smtClean="0"/>
          </a:p>
          <a:p>
            <a:r>
              <a:rPr lang="en-US" sz="3200" dirty="0" err="1" smtClean="0"/>
              <a:t>Ỉa</a:t>
            </a:r>
            <a:r>
              <a:rPr lang="en-US" sz="3200" dirty="0" smtClean="0"/>
              <a:t> </a:t>
            </a:r>
            <a:r>
              <a:rPr lang="en-US" sz="3200" dirty="0" err="1" smtClean="0"/>
              <a:t>chảy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957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Trẻ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 smtClean="0"/>
              <a:t>Triệu</a:t>
            </a:r>
            <a:r>
              <a:rPr lang="en-US" sz="3200" dirty="0" smtClean="0"/>
              <a:t> </a:t>
            </a:r>
            <a:r>
              <a:rPr lang="en-US" sz="3200" dirty="0" err="1" smtClean="0"/>
              <a:t>chứng</a:t>
            </a:r>
            <a:r>
              <a:rPr lang="en-US" sz="3200" dirty="0" smtClean="0"/>
              <a:t> </a:t>
            </a:r>
            <a:r>
              <a:rPr lang="en-US" sz="3200" dirty="0" err="1" smtClean="0"/>
              <a:t>khá</a:t>
            </a:r>
            <a:r>
              <a:rPr lang="en-US" sz="3200" dirty="0" smtClean="0"/>
              <a:t> </a:t>
            </a:r>
            <a:r>
              <a:rPr lang="en-US" sz="3200" dirty="0" err="1" smtClean="0"/>
              <a:t>điển</a:t>
            </a:r>
            <a:r>
              <a:rPr lang="en-US" sz="3200" dirty="0" smtClean="0"/>
              <a:t> </a:t>
            </a:r>
            <a:r>
              <a:rPr lang="en-US" sz="3200" dirty="0" err="1" smtClean="0"/>
              <a:t>hình</a:t>
            </a:r>
            <a:r>
              <a:rPr lang="en-US" sz="3200" dirty="0" smtClean="0"/>
              <a:t>:</a:t>
            </a:r>
          </a:p>
          <a:p>
            <a:r>
              <a:rPr lang="en-US" sz="3200" dirty="0" err="1" smtClean="0"/>
              <a:t>Sốt</a:t>
            </a:r>
            <a:r>
              <a:rPr lang="en-US" sz="3200" dirty="0" smtClean="0"/>
              <a:t> </a:t>
            </a:r>
            <a:r>
              <a:rPr lang="en-US" sz="3200" dirty="0" err="1" smtClean="0"/>
              <a:t>cao</a:t>
            </a:r>
            <a:r>
              <a:rPr lang="en-US" sz="3200" dirty="0" smtClean="0"/>
              <a:t> </a:t>
            </a:r>
            <a:r>
              <a:rPr lang="en-US" sz="3200" dirty="0" err="1" smtClean="0"/>
              <a:t>rét</a:t>
            </a:r>
            <a:r>
              <a:rPr lang="en-US" sz="3200" dirty="0" smtClean="0"/>
              <a:t> run</a:t>
            </a:r>
          </a:p>
          <a:p>
            <a:r>
              <a:rPr lang="en-US" sz="3200" dirty="0" err="1" smtClean="0"/>
              <a:t>Đau</a:t>
            </a:r>
            <a:r>
              <a:rPr lang="en-US" sz="3200" dirty="0" smtClean="0"/>
              <a:t> </a:t>
            </a:r>
            <a:r>
              <a:rPr lang="en-US" sz="3200" dirty="0" err="1" smtClean="0"/>
              <a:t>bụng</a:t>
            </a:r>
            <a:r>
              <a:rPr lang="en-US" sz="3200" dirty="0" smtClean="0"/>
              <a:t> </a:t>
            </a:r>
            <a:r>
              <a:rPr lang="en-US" sz="3200" dirty="0" err="1" smtClean="0"/>
              <a:t>hoặc</a:t>
            </a:r>
            <a:r>
              <a:rPr lang="en-US" sz="3200" dirty="0" smtClean="0"/>
              <a:t> </a:t>
            </a:r>
            <a:r>
              <a:rPr lang="en-US" sz="3200" dirty="0" err="1" smtClean="0"/>
              <a:t>đau</a:t>
            </a:r>
            <a:r>
              <a:rPr lang="en-US" sz="3200" dirty="0" smtClean="0"/>
              <a:t> </a:t>
            </a:r>
            <a:r>
              <a:rPr lang="en-US" sz="3200" dirty="0" err="1" smtClean="0"/>
              <a:t>vùng</a:t>
            </a:r>
            <a:r>
              <a:rPr lang="en-US" sz="3200" dirty="0" smtClean="0"/>
              <a:t> </a:t>
            </a:r>
            <a:r>
              <a:rPr lang="en-US" sz="3200" dirty="0" err="1" smtClean="0"/>
              <a:t>thắt</a:t>
            </a:r>
            <a:r>
              <a:rPr lang="en-US" sz="3200" dirty="0" smtClean="0"/>
              <a:t> </a:t>
            </a:r>
            <a:r>
              <a:rPr lang="en-US" sz="3200" dirty="0" err="1" smtClean="0"/>
              <a:t>lưng</a:t>
            </a:r>
            <a:endParaRPr lang="en-US" sz="3200" dirty="0" smtClean="0"/>
          </a:p>
          <a:p>
            <a:r>
              <a:rPr lang="en-US" sz="3200" dirty="0" err="1" smtClean="0"/>
              <a:t>Rối</a:t>
            </a:r>
            <a:r>
              <a:rPr lang="en-US" sz="3200" dirty="0" smtClean="0"/>
              <a:t> </a:t>
            </a:r>
            <a:r>
              <a:rPr lang="en-US" sz="3200" dirty="0" err="1" smtClean="0"/>
              <a:t>loạn</a:t>
            </a:r>
            <a:r>
              <a:rPr lang="en-US" sz="3200" dirty="0" smtClean="0"/>
              <a:t> </a:t>
            </a:r>
            <a:r>
              <a:rPr lang="en-US" sz="3200" dirty="0" err="1" smtClean="0"/>
              <a:t>đại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tiện</a:t>
            </a:r>
            <a:r>
              <a:rPr lang="en-US" sz="3200" dirty="0" smtClean="0"/>
              <a:t> : </a:t>
            </a:r>
            <a:r>
              <a:rPr lang="en-US" sz="3200" dirty="0" err="1" smtClean="0"/>
              <a:t>đái</a:t>
            </a:r>
            <a:r>
              <a:rPr lang="en-US" sz="3200" dirty="0" smtClean="0"/>
              <a:t> </a:t>
            </a:r>
            <a:r>
              <a:rPr lang="en-US" sz="3200" dirty="0" err="1" smtClean="0"/>
              <a:t>buốt</a:t>
            </a:r>
            <a:r>
              <a:rPr lang="en-US" sz="3200" dirty="0" smtClean="0"/>
              <a:t> ,</a:t>
            </a:r>
            <a:r>
              <a:rPr lang="en-US" sz="3200" dirty="0" err="1" smtClean="0"/>
              <a:t>đái</a:t>
            </a:r>
            <a:r>
              <a:rPr lang="en-US" sz="3200" dirty="0" smtClean="0"/>
              <a:t> </a:t>
            </a:r>
            <a:r>
              <a:rPr lang="en-US" sz="3200" dirty="0" err="1" smtClean="0"/>
              <a:t>rắt</a:t>
            </a:r>
            <a:r>
              <a:rPr lang="en-US" sz="3200" dirty="0" smtClean="0"/>
              <a:t> ,</a:t>
            </a:r>
            <a:r>
              <a:rPr lang="en-US" sz="3200" dirty="0" err="1" smtClean="0"/>
              <a:t>đái</a:t>
            </a:r>
            <a:r>
              <a:rPr lang="en-US" sz="3200" dirty="0" smtClean="0"/>
              <a:t> </a:t>
            </a:r>
            <a:r>
              <a:rPr lang="en-US" sz="3200" dirty="0" err="1" smtClean="0"/>
              <a:t>dầm</a:t>
            </a:r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444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0568"/>
            <a:ext cx="8229600" cy="957314"/>
          </a:xfrm>
        </p:spPr>
        <p:txBody>
          <a:bodyPr/>
          <a:lstStyle/>
          <a:p>
            <a:r>
              <a:rPr lang="en-US" dirty="0" smtClean="0"/>
              <a:t>II. </a:t>
            </a:r>
            <a:r>
              <a:rPr lang="en-US" dirty="0" err="1" smtClean="0"/>
              <a:t>Triệu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</a:t>
            </a:r>
            <a:r>
              <a:rPr lang="en-US" dirty="0" err="1" smtClean="0"/>
              <a:t>lâm</a:t>
            </a:r>
            <a:r>
              <a:rPr lang="en-US" dirty="0" smtClean="0"/>
              <a:t> </a:t>
            </a:r>
            <a:r>
              <a:rPr lang="en-US" dirty="0" err="1" smtClean="0"/>
              <a:t>sàng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362200"/>
            <a:ext cx="8229600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          </a:t>
            </a:r>
            <a:r>
              <a:rPr lang="en-US" sz="3200" dirty="0" err="1" smtClean="0"/>
              <a:t>Giá</a:t>
            </a:r>
            <a:r>
              <a:rPr lang="en-US" sz="3200" dirty="0" smtClean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lâm</a:t>
            </a:r>
            <a:r>
              <a:rPr lang="en-US" sz="3200" dirty="0"/>
              <a:t> </a:t>
            </a:r>
            <a:r>
              <a:rPr lang="en-US" sz="3200" dirty="0" err="1"/>
              <a:t>sàng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NKTN </a:t>
            </a:r>
            <a:r>
              <a:rPr lang="en-US" sz="3200" dirty="0" err="1"/>
              <a:t>rất</a:t>
            </a:r>
            <a:r>
              <a:rPr lang="en-US" sz="3200" dirty="0"/>
              <a:t> </a:t>
            </a:r>
            <a:r>
              <a:rPr lang="en-US" sz="3200" dirty="0" err="1"/>
              <a:t>hạn</a:t>
            </a:r>
            <a:r>
              <a:rPr lang="en-US" sz="3200" dirty="0"/>
              <a:t> </a:t>
            </a:r>
            <a:r>
              <a:rPr lang="en-US" sz="3200" dirty="0" err="1"/>
              <a:t>chế</a:t>
            </a:r>
            <a:r>
              <a:rPr lang="en-US" sz="3200" dirty="0"/>
              <a:t> </a:t>
            </a:r>
            <a:r>
              <a:rPr lang="en-US" sz="3200" dirty="0" err="1"/>
              <a:t>vì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quả</a:t>
            </a:r>
            <a:r>
              <a:rPr lang="en-US" sz="3200" dirty="0"/>
              <a:t> </a:t>
            </a:r>
            <a:r>
              <a:rPr lang="en-US" sz="3200" dirty="0" err="1"/>
              <a:t>khám</a:t>
            </a:r>
            <a:r>
              <a:rPr lang="en-US" sz="3200" dirty="0"/>
              <a:t> </a:t>
            </a:r>
            <a:r>
              <a:rPr lang="en-US" sz="3200" dirty="0" err="1"/>
              <a:t>lâm</a:t>
            </a:r>
            <a:r>
              <a:rPr lang="en-US" sz="3200" dirty="0"/>
              <a:t> </a:t>
            </a:r>
            <a:r>
              <a:rPr lang="en-US" sz="3200" dirty="0" err="1"/>
              <a:t>sàng</a:t>
            </a:r>
            <a:r>
              <a:rPr lang="en-US" sz="3200" dirty="0"/>
              <a:t> </a:t>
            </a:r>
            <a:r>
              <a:rPr lang="en-US" sz="3200" dirty="0" err="1"/>
              <a:t>nghèo</a:t>
            </a:r>
            <a:r>
              <a:rPr lang="en-US" sz="3200" dirty="0"/>
              <a:t> </a:t>
            </a:r>
            <a:r>
              <a:rPr lang="en-US" sz="3200" dirty="0" err="1"/>
              <a:t>nàn</a:t>
            </a:r>
            <a:r>
              <a:rPr lang="en-US" sz="3200" dirty="0"/>
              <a:t> , </a:t>
            </a:r>
            <a:r>
              <a:rPr lang="en-US" sz="3200" dirty="0" err="1"/>
              <a:t>ít</a:t>
            </a:r>
            <a:r>
              <a:rPr lang="en-US" sz="3200" dirty="0"/>
              <a:t> tin </a:t>
            </a:r>
            <a:r>
              <a:rPr lang="en-US" sz="3200" dirty="0" err="1"/>
              <a:t>cậy</a:t>
            </a:r>
            <a:r>
              <a:rPr lang="en-US" sz="3200" dirty="0"/>
              <a:t> ở </a:t>
            </a:r>
            <a:r>
              <a:rPr lang="en-US" sz="3200" dirty="0" err="1"/>
              <a:t>trẻ</a:t>
            </a:r>
            <a:r>
              <a:rPr lang="en-US" sz="3200" dirty="0"/>
              <a:t> </a:t>
            </a:r>
            <a:r>
              <a:rPr lang="en-US" sz="3200" dirty="0" err="1"/>
              <a:t>nhỏ</a:t>
            </a:r>
            <a:r>
              <a:rPr lang="en-US" sz="3200" dirty="0"/>
              <a:t> </a:t>
            </a:r>
            <a:r>
              <a:rPr lang="en-US" sz="3200" dirty="0" err="1"/>
              <a:t>hơn</a:t>
            </a:r>
            <a:r>
              <a:rPr lang="en-US" sz="3200" dirty="0"/>
              <a:t> </a:t>
            </a:r>
            <a:r>
              <a:rPr lang="en-US" sz="3200" dirty="0" err="1"/>
              <a:t>nữa</a:t>
            </a:r>
            <a:r>
              <a:rPr lang="en-US" sz="3200" dirty="0"/>
              <a:t> </a:t>
            </a:r>
            <a:r>
              <a:rPr lang="en-US" sz="3200" dirty="0" err="1"/>
              <a:t>biểu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LS </a:t>
            </a:r>
            <a:r>
              <a:rPr lang="en-US" sz="3200" dirty="0" err="1"/>
              <a:t>thay</a:t>
            </a:r>
            <a:r>
              <a:rPr lang="en-US" sz="3200" dirty="0"/>
              <a:t> </a:t>
            </a:r>
            <a:r>
              <a:rPr lang="en-US" sz="3200" dirty="0" err="1"/>
              <a:t>đổi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lứa</a:t>
            </a:r>
            <a:r>
              <a:rPr lang="en-US" sz="3200" dirty="0"/>
              <a:t> </a:t>
            </a:r>
            <a:r>
              <a:rPr lang="en-US" sz="3200" dirty="0" err="1" smtClean="0"/>
              <a:t>tuổi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3196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</a:rPr>
              <a:t>TCLS </a:t>
            </a:r>
            <a:r>
              <a:rPr lang="en-US" sz="2800" dirty="0" err="1">
                <a:solidFill>
                  <a:srgbClr val="FF0000"/>
                </a:solidFill>
              </a:rPr>
              <a:t>chỉ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điểm</a:t>
            </a:r>
            <a:r>
              <a:rPr lang="en-US" sz="2800" dirty="0">
                <a:solidFill>
                  <a:srgbClr val="FF0000"/>
                </a:solidFill>
              </a:rPr>
              <a:t> NKTN </a:t>
            </a:r>
            <a:r>
              <a:rPr lang="en-US" sz="2800" dirty="0" err="1">
                <a:solidFill>
                  <a:srgbClr val="FF0000"/>
                </a:solidFill>
              </a:rPr>
              <a:t>dưới</a:t>
            </a:r>
            <a:r>
              <a:rPr lang="en-US" sz="2800" dirty="0"/>
              <a:t>:  </a:t>
            </a:r>
            <a:r>
              <a:rPr lang="en-US" sz="2800" dirty="0" smtClean="0"/>
              <a:t>HCNT </a:t>
            </a:r>
            <a:r>
              <a:rPr lang="en-US" sz="2800" dirty="0" err="1"/>
              <a:t>nhẹ</a:t>
            </a:r>
            <a:r>
              <a:rPr lang="en-US" sz="2800" dirty="0"/>
              <a:t> +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hiệu</a:t>
            </a:r>
            <a:r>
              <a:rPr lang="en-US" sz="2800" dirty="0"/>
              <a:t> </a:t>
            </a:r>
            <a:r>
              <a:rPr lang="en-US" sz="2800" dirty="0" err="1"/>
              <a:t>viêm</a:t>
            </a:r>
            <a:r>
              <a:rPr lang="en-US" sz="2800" dirty="0"/>
              <a:t> </a:t>
            </a:r>
            <a:r>
              <a:rPr lang="en-US" sz="2800" dirty="0" err="1"/>
              <a:t>bàng</a:t>
            </a:r>
            <a:r>
              <a:rPr lang="en-US" sz="2800" dirty="0"/>
              <a:t> </a:t>
            </a:r>
            <a:r>
              <a:rPr lang="en-US" sz="2800" dirty="0" err="1"/>
              <a:t>quang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tiểu</a:t>
            </a:r>
            <a:r>
              <a:rPr lang="en-US" sz="2800" dirty="0"/>
              <a:t> </a:t>
            </a:r>
            <a:r>
              <a:rPr lang="en-US" sz="2800" dirty="0" err="1"/>
              <a:t>buốt</a:t>
            </a:r>
            <a:r>
              <a:rPr lang="en-US" sz="2800" dirty="0"/>
              <a:t>, </a:t>
            </a:r>
            <a:r>
              <a:rPr lang="en-US" sz="2800" dirty="0" err="1"/>
              <a:t>tiểu</a:t>
            </a:r>
            <a:r>
              <a:rPr lang="en-US" sz="2800" dirty="0"/>
              <a:t> </a:t>
            </a:r>
            <a:r>
              <a:rPr lang="en-US" sz="2800" dirty="0" err="1" smtClean="0"/>
              <a:t>rắt</a:t>
            </a:r>
            <a:r>
              <a:rPr lang="en-US" sz="2800" dirty="0" smtClean="0"/>
              <a:t> </a:t>
            </a:r>
            <a:r>
              <a:rPr lang="en-US" sz="2800" dirty="0" err="1" smtClean="0"/>
              <a:t>hoặc</a:t>
            </a:r>
            <a:r>
              <a:rPr lang="en-US" sz="2800" dirty="0" smtClean="0"/>
              <a:t> </a:t>
            </a:r>
            <a:r>
              <a:rPr lang="en-US" sz="2800" dirty="0" err="1"/>
              <a:t>quấy</a:t>
            </a:r>
            <a:r>
              <a:rPr lang="en-US" sz="2800" dirty="0"/>
              <a:t> </a:t>
            </a:r>
            <a:r>
              <a:rPr lang="en-US" sz="2800" dirty="0" err="1"/>
              <a:t>khóc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tiểu</a:t>
            </a:r>
            <a:r>
              <a:rPr lang="en-US" sz="2800" dirty="0"/>
              <a:t> </a:t>
            </a:r>
            <a:r>
              <a:rPr lang="en-US" sz="2800" dirty="0" err="1"/>
              <a:t>tiện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trẻ</a:t>
            </a:r>
            <a:r>
              <a:rPr lang="en-US" sz="2800" dirty="0"/>
              <a:t> </a:t>
            </a:r>
            <a:r>
              <a:rPr lang="en-US" sz="2800" dirty="0" err="1"/>
              <a:t>nhỏ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NKTN </a:t>
            </a:r>
            <a:r>
              <a:rPr lang="en-US" sz="2800" dirty="0" err="1" smtClean="0">
                <a:solidFill>
                  <a:srgbClr val="FF0000"/>
                </a:solidFill>
              </a:rPr>
              <a:t>trên</a:t>
            </a:r>
            <a:r>
              <a:rPr lang="en-US" sz="2800" dirty="0" smtClean="0"/>
              <a:t>: </a:t>
            </a:r>
            <a:r>
              <a:rPr lang="en-US" sz="2800" dirty="0" smtClean="0"/>
              <a:t>HCNT </a:t>
            </a:r>
            <a:r>
              <a:rPr lang="en-US" sz="2800" dirty="0" err="1" smtClean="0"/>
              <a:t>rõ</a:t>
            </a:r>
            <a:r>
              <a:rPr lang="en-US" sz="2800" dirty="0" smtClean="0"/>
              <a:t> </a:t>
            </a:r>
            <a:r>
              <a:rPr lang="en-US" sz="2800" dirty="0" err="1"/>
              <a:t>rệt</a:t>
            </a:r>
            <a:r>
              <a:rPr lang="en-US" sz="2800" dirty="0"/>
              <a:t>, </a:t>
            </a:r>
            <a:r>
              <a:rPr lang="en-US" sz="2800" dirty="0" err="1" smtClean="0"/>
              <a:t>trẻ</a:t>
            </a:r>
            <a:r>
              <a:rPr lang="en-US" sz="2800" dirty="0" smtClean="0"/>
              <a:t> </a:t>
            </a:r>
            <a:r>
              <a:rPr lang="en-US" sz="2800" dirty="0" err="1"/>
              <a:t>nhỏ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NKH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sốc</a:t>
            </a:r>
            <a:r>
              <a:rPr lang="en-US" sz="2800" dirty="0"/>
              <a:t> </a:t>
            </a:r>
            <a:r>
              <a:rPr lang="en-US" sz="2800" dirty="0" err="1"/>
              <a:t>nhiễm</a:t>
            </a:r>
            <a:r>
              <a:rPr lang="en-US" sz="2800" dirty="0"/>
              <a:t> </a:t>
            </a:r>
            <a:r>
              <a:rPr lang="en-US" sz="2800" dirty="0" err="1"/>
              <a:t>khuẩn</a:t>
            </a:r>
            <a:r>
              <a:rPr lang="en-US" sz="2800" dirty="0"/>
              <a:t>. </a:t>
            </a:r>
            <a:r>
              <a:rPr lang="en-US" sz="2800" dirty="0" err="1"/>
              <a:t>Kèm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dh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chỗ</a:t>
            </a:r>
            <a:r>
              <a:rPr lang="en-US" sz="2800" dirty="0"/>
              <a:t>: </a:t>
            </a:r>
            <a:r>
              <a:rPr lang="en-US" sz="2800" dirty="0" err="1"/>
              <a:t>sưng</a:t>
            </a:r>
            <a:r>
              <a:rPr lang="en-US" sz="2800" dirty="0"/>
              <a:t> </a:t>
            </a:r>
            <a:r>
              <a:rPr lang="en-US" sz="2800" dirty="0" err="1"/>
              <a:t>đau</a:t>
            </a:r>
            <a:r>
              <a:rPr lang="en-US" sz="2800" dirty="0"/>
              <a:t> </a:t>
            </a:r>
            <a:r>
              <a:rPr lang="en-US" sz="2800" dirty="0" err="1"/>
              <a:t>vùng</a:t>
            </a:r>
            <a:r>
              <a:rPr lang="en-US" sz="2800" dirty="0"/>
              <a:t> </a:t>
            </a:r>
            <a:r>
              <a:rPr lang="en-US" sz="2800" dirty="0" err="1"/>
              <a:t>thận</a:t>
            </a:r>
            <a:r>
              <a:rPr lang="en-US" sz="2800" dirty="0"/>
              <a:t>, </a:t>
            </a:r>
            <a:r>
              <a:rPr lang="en-US" sz="2800" dirty="0" err="1"/>
              <a:t>đau</a:t>
            </a:r>
            <a:r>
              <a:rPr lang="en-US" sz="2800" dirty="0"/>
              <a:t> </a:t>
            </a:r>
            <a:r>
              <a:rPr lang="en-US" sz="2800" dirty="0" err="1"/>
              <a:t>bụng</a:t>
            </a:r>
            <a:r>
              <a:rPr lang="en-US" sz="2800" dirty="0"/>
              <a:t>, </a:t>
            </a:r>
            <a:r>
              <a:rPr lang="en-US" sz="2800" dirty="0" err="1"/>
              <a:t>dau</a:t>
            </a:r>
            <a:r>
              <a:rPr lang="en-US" sz="2800" dirty="0"/>
              <a:t> </a:t>
            </a:r>
            <a:r>
              <a:rPr lang="en-US" sz="2800" dirty="0" err="1"/>
              <a:t>vùng</a:t>
            </a:r>
            <a:r>
              <a:rPr lang="en-US" sz="2800" dirty="0"/>
              <a:t> </a:t>
            </a:r>
            <a:r>
              <a:rPr lang="en-US" sz="2800" dirty="0" err="1"/>
              <a:t>thắt</a:t>
            </a:r>
            <a:r>
              <a:rPr lang="en-US" sz="2800" dirty="0"/>
              <a:t> </a:t>
            </a:r>
            <a:r>
              <a:rPr lang="en-US" sz="2800" dirty="0" err="1"/>
              <a:t>lưng</a:t>
            </a:r>
            <a:r>
              <a:rPr lang="en-US" sz="2800" dirty="0"/>
              <a:t>. Ở </a:t>
            </a:r>
            <a:r>
              <a:rPr lang="en-US" sz="2800" dirty="0" err="1"/>
              <a:t>trẻ</a:t>
            </a:r>
            <a:r>
              <a:rPr lang="en-US" sz="2800" dirty="0"/>
              <a:t> </a:t>
            </a:r>
            <a:r>
              <a:rPr lang="en-US" sz="2800" dirty="0" err="1"/>
              <a:t>nhỏ</a:t>
            </a:r>
            <a:r>
              <a:rPr lang="en-US" sz="2800" dirty="0"/>
              <a:t> dh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hiệu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rối</a:t>
            </a:r>
            <a:r>
              <a:rPr lang="en-US" sz="2800" dirty="0"/>
              <a:t> </a:t>
            </a:r>
            <a:r>
              <a:rPr lang="en-US" sz="2800" dirty="0" err="1"/>
              <a:t>loạn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r>
              <a:rPr lang="en-US" sz="2800" dirty="0"/>
              <a:t> </a:t>
            </a:r>
            <a:r>
              <a:rPr lang="en-US" sz="2800" dirty="0" err="1"/>
              <a:t>nghĩ</a:t>
            </a:r>
            <a:r>
              <a:rPr lang="en-US" sz="2800" dirty="0"/>
              <a:t> </a:t>
            </a:r>
            <a:r>
              <a:rPr lang="en-US" sz="2800" dirty="0" err="1" smtClean="0"/>
              <a:t>đến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9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III.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lâm</a:t>
            </a:r>
            <a:r>
              <a:rPr lang="en-US" dirty="0" smtClean="0"/>
              <a:t> </a:t>
            </a:r>
            <a:r>
              <a:rPr lang="en-US" dirty="0" err="1" smtClean="0"/>
              <a:t>sàng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sz="3200" dirty="0" err="1" smtClean="0">
                <a:solidFill>
                  <a:srgbClr val="00B0F0"/>
                </a:solidFill>
              </a:rPr>
              <a:t>Xét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nghiệm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nước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tiểu</a:t>
            </a:r>
            <a:endParaRPr lang="en-US" sz="3200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dirty="0" smtClean="0"/>
              <a:t>1.1 </a:t>
            </a:r>
            <a:r>
              <a:rPr lang="en-US" sz="3200" dirty="0" err="1" smtClean="0"/>
              <a:t>Cấy</a:t>
            </a:r>
            <a:r>
              <a:rPr lang="en-US" sz="3200" dirty="0" smtClean="0"/>
              <a:t> </a:t>
            </a:r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4 </a:t>
            </a:r>
            <a:r>
              <a:rPr lang="en-US" sz="3200" dirty="0" err="1" smtClean="0"/>
              <a:t>phương</a:t>
            </a:r>
            <a:r>
              <a:rPr lang="en-US" sz="3200" dirty="0" smtClean="0"/>
              <a:t> </a:t>
            </a:r>
            <a:r>
              <a:rPr lang="en-US" sz="3200" dirty="0" err="1" smtClean="0"/>
              <a:t>pháp</a:t>
            </a:r>
            <a:r>
              <a:rPr lang="en-US" sz="3200" dirty="0" smtClean="0"/>
              <a:t> </a:t>
            </a:r>
            <a:r>
              <a:rPr lang="en-US" sz="3200" dirty="0" err="1" smtClean="0"/>
              <a:t>lấy</a:t>
            </a:r>
            <a:r>
              <a:rPr lang="en-US" sz="3200" dirty="0" smtClean="0"/>
              <a:t> </a:t>
            </a:r>
            <a:r>
              <a:rPr lang="en-US" sz="3200" dirty="0" err="1" smtClean="0"/>
              <a:t>mẫu</a:t>
            </a:r>
            <a:r>
              <a:rPr lang="en-US" sz="3200" dirty="0" smtClean="0"/>
              <a:t> </a:t>
            </a:r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-</a:t>
            </a:r>
            <a:r>
              <a:rPr lang="en-US" sz="3200" dirty="0" smtClean="0"/>
              <a:t> </a:t>
            </a:r>
            <a:r>
              <a:rPr lang="en-US" sz="3200" dirty="0" err="1" smtClean="0"/>
              <a:t>Lấy</a:t>
            </a:r>
            <a:r>
              <a:rPr lang="en-US" sz="3200" dirty="0" smtClean="0"/>
              <a:t> </a:t>
            </a:r>
            <a:r>
              <a:rPr lang="en-US" sz="3200" dirty="0" err="1" smtClean="0"/>
              <a:t>mẫu</a:t>
            </a:r>
            <a:r>
              <a:rPr lang="en-US" sz="3200" dirty="0" smtClean="0"/>
              <a:t> </a:t>
            </a:r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giữa</a:t>
            </a:r>
            <a:r>
              <a:rPr lang="en-US" sz="3200" dirty="0" smtClean="0"/>
              <a:t> </a:t>
            </a:r>
            <a:r>
              <a:rPr lang="en-US" sz="3200" dirty="0" err="1" smtClean="0"/>
              <a:t>dòng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-</a:t>
            </a:r>
            <a:r>
              <a:rPr lang="en-US" sz="3200" dirty="0" smtClean="0"/>
              <a:t> </a:t>
            </a:r>
            <a:r>
              <a:rPr lang="en-US" sz="3200" dirty="0" err="1" smtClean="0"/>
              <a:t>Lấy</a:t>
            </a:r>
            <a:r>
              <a:rPr lang="en-US" sz="3200" dirty="0" smtClean="0"/>
              <a:t> </a:t>
            </a:r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bàng</a:t>
            </a:r>
            <a:r>
              <a:rPr lang="en-US" sz="3200" dirty="0" smtClean="0"/>
              <a:t> </a:t>
            </a:r>
            <a:r>
              <a:rPr lang="en-US" sz="3200" dirty="0" err="1" smtClean="0"/>
              <a:t>sond</a:t>
            </a:r>
            <a:r>
              <a:rPr lang="en-US" sz="3200" dirty="0" smtClean="0"/>
              <a:t> </a:t>
            </a:r>
            <a:r>
              <a:rPr lang="en-US" sz="3200" dirty="0" err="1" smtClean="0"/>
              <a:t>niệu</a:t>
            </a:r>
            <a:r>
              <a:rPr lang="en-US" sz="3200" dirty="0" smtClean="0"/>
              <a:t> </a:t>
            </a:r>
            <a:r>
              <a:rPr lang="en-US" sz="3200" dirty="0" err="1" smtClean="0"/>
              <a:t>đạo</a:t>
            </a:r>
            <a:r>
              <a:rPr lang="en-US" sz="3200" dirty="0" smtClean="0"/>
              <a:t> -</a:t>
            </a:r>
            <a:r>
              <a:rPr lang="en-US" sz="3200" dirty="0" err="1" smtClean="0"/>
              <a:t>bàng</a:t>
            </a:r>
            <a:r>
              <a:rPr lang="en-US" sz="3200" dirty="0" smtClean="0"/>
              <a:t> </a:t>
            </a:r>
            <a:r>
              <a:rPr lang="en-US" sz="3200" dirty="0" err="1" smtClean="0"/>
              <a:t>quang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- </a:t>
            </a:r>
            <a:r>
              <a:rPr lang="en-US" sz="3200" dirty="0" err="1" smtClean="0"/>
              <a:t>Chọc</a:t>
            </a:r>
            <a:r>
              <a:rPr lang="en-US" sz="3200" dirty="0" smtClean="0"/>
              <a:t> </a:t>
            </a:r>
            <a:r>
              <a:rPr lang="en-US" sz="3200" dirty="0" err="1" smtClean="0"/>
              <a:t>hút</a:t>
            </a:r>
            <a:r>
              <a:rPr lang="en-US" sz="3200" dirty="0" smtClean="0"/>
              <a:t> </a:t>
            </a:r>
            <a:r>
              <a:rPr lang="en-US" sz="3200" dirty="0" err="1" smtClean="0"/>
              <a:t>bàng</a:t>
            </a:r>
            <a:r>
              <a:rPr lang="en-US" sz="3200" dirty="0" smtClean="0"/>
              <a:t> </a:t>
            </a:r>
            <a:r>
              <a:rPr lang="en-US" sz="3200" dirty="0" err="1" smtClean="0"/>
              <a:t>quang</a:t>
            </a:r>
            <a:r>
              <a:rPr lang="en-US" sz="3200" dirty="0" smtClean="0"/>
              <a:t> </a:t>
            </a:r>
            <a:r>
              <a:rPr lang="en-US" sz="3200" dirty="0" err="1" smtClean="0"/>
              <a:t>trên</a:t>
            </a:r>
            <a:r>
              <a:rPr lang="en-US" sz="3200" dirty="0" smtClean="0"/>
              <a:t> </a:t>
            </a:r>
            <a:r>
              <a:rPr lang="en-US" sz="3200" dirty="0" err="1" smtClean="0"/>
              <a:t>xương</a:t>
            </a:r>
            <a:r>
              <a:rPr lang="en-US" sz="3200" dirty="0" smtClean="0"/>
              <a:t> mu.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-</a:t>
            </a:r>
            <a:r>
              <a:rPr lang="en-US" sz="3200" dirty="0" smtClean="0"/>
              <a:t> </a:t>
            </a:r>
            <a:r>
              <a:rPr lang="en-US" sz="3200" dirty="0" err="1" smtClean="0"/>
              <a:t>Lấy</a:t>
            </a:r>
            <a:r>
              <a:rPr lang="en-US" sz="3200" dirty="0" smtClean="0"/>
              <a:t> </a:t>
            </a:r>
            <a:r>
              <a:rPr lang="en-US" sz="3200" dirty="0" err="1" smtClean="0"/>
              <a:t>trong</a:t>
            </a:r>
            <a:r>
              <a:rPr lang="en-US" sz="3200" dirty="0" smtClean="0"/>
              <a:t> </a:t>
            </a:r>
            <a:r>
              <a:rPr lang="en-US" sz="3200" dirty="0" err="1" smtClean="0"/>
              <a:t>túi</a:t>
            </a:r>
            <a:r>
              <a:rPr lang="en-US" sz="3200" dirty="0" smtClean="0"/>
              <a:t> </a:t>
            </a:r>
            <a:r>
              <a:rPr lang="en-US" sz="3200" dirty="0" err="1" smtClean="0"/>
              <a:t>đựng</a:t>
            </a:r>
            <a:r>
              <a:rPr lang="en-US" sz="3200" dirty="0" smtClean="0"/>
              <a:t> </a:t>
            </a:r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4365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</a:rPr>
              <a:t>Tiêu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chuẩn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cấy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nước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tiểu</a:t>
            </a:r>
            <a:endParaRPr lang="en-US" sz="7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88397645"/>
                  </p:ext>
                </p:extLst>
              </p:nvPr>
            </p:nvGraphicFramePr>
            <p:xfrm>
              <a:off x="685800" y="1295400"/>
              <a:ext cx="7620000" cy="52595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9444"/>
                    <a:gridCol w="2610556"/>
                    <a:gridCol w="2540000"/>
                  </a:tblGrid>
                  <a:tr h="737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Phương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pháp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lấy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nước</a:t>
                          </a:r>
                          <a:r>
                            <a:rPr lang="en-US" sz="2400" baseline="0" dirty="0" smtClean="0"/>
                            <a:t>  </a:t>
                          </a:r>
                          <a:r>
                            <a:rPr lang="en-US" sz="2400" baseline="0" dirty="0" err="1" smtClean="0"/>
                            <a:t>tiểu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Số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lượng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khuẩn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lạc</a:t>
                          </a:r>
                          <a:r>
                            <a:rPr lang="en-US" sz="2400" baseline="0" dirty="0" smtClean="0"/>
                            <a:t>/ml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Khả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năng</a:t>
                          </a:r>
                          <a:r>
                            <a:rPr lang="en-US" sz="2400" baseline="0" dirty="0" smtClean="0"/>
                            <a:t> NKTN</a:t>
                          </a:r>
                        </a:p>
                        <a:p>
                          <a:pPr algn="ctr"/>
                          <a:r>
                            <a:rPr lang="en-US" sz="2400" baseline="0" dirty="0" smtClean="0"/>
                            <a:t>(%)</a:t>
                          </a:r>
                        </a:p>
                      </a:txBody>
                      <a:tcPr/>
                    </a:tc>
                  </a:tr>
                  <a:tr h="1178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/>
                            <a:t>Chọc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dò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bàng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quang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trên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xương</a:t>
                          </a:r>
                          <a:r>
                            <a:rPr lang="en-US" sz="1800" baseline="0" dirty="0" smtClean="0"/>
                            <a:t> mu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 smtClean="0"/>
                            <a:t>-TK gram </a:t>
                          </a:r>
                          <a:r>
                            <a:rPr lang="en-US" sz="1800" dirty="0" err="1" smtClean="0"/>
                            <a:t>âm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không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tính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số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lượng</a:t>
                          </a:r>
                          <a:endParaRPr lang="en-US" sz="1800" baseline="0" dirty="0" smtClean="0"/>
                        </a:p>
                        <a:p>
                          <a:pPr algn="l"/>
                          <a:r>
                            <a:rPr lang="en-US" sz="1800" baseline="0" dirty="0" smtClean="0"/>
                            <a:t>-TK gram (+) </a:t>
                          </a:r>
                          <a:r>
                            <a:rPr lang="en-US" sz="1800" baseline="0" dirty="0" err="1" smtClean="0"/>
                            <a:t>chỉ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hơn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vài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ngàn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99</a:t>
                          </a:r>
                        </a:p>
                        <a:p>
                          <a:pPr algn="ctr"/>
                          <a:endParaRPr lang="en-US" sz="1800" dirty="0" smtClean="0"/>
                        </a:p>
                        <a:p>
                          <a:pPr algn="ctr"/>
                          <a:r>
                            <a:rPr lang="en-US" sz="1800" dirty="0" smtClean="0"/>
                            <a:t>95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94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/>
                            <a:t>Đặt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sonde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bàng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quang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&gt;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− 10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NKTN</a:t>
                          </a:r>
                        </a:p>
                        <a:p>
                          <a:pPr algn="ctr"/>
                          <a:r>
                            <a:rPr lang="en-US" sz="1800" dirty="0" err="1" smtClean="0"/>
                            <a:t>Nghi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ngờ</a:t>
                          </a:r>
                          <a:endParaRPr lang="en-US" sz="1800" dirty="0" smtClean="0"/>
                        </a:p>
                        <a:p>
                          <a:pPr algn="ctr"/>
                          <a:r>
                            <a:rPr lang="en-US" sz="1800" dirty="0" err="1" smtClean="0"/>
                            <a:t>Không</a:t>
                          </a:r>
                          <a:r>
                            <a:rPr lang="en-US" sz="1800" baseline="0" dirty="0" smtClean="0"/>
                            <a:t> NKTN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21631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/>
                            <a:t>Nước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tiểu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giữa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dòng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&gt;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sz="1800" i="1" dirty="0" smtClean="0">
                            <a:latin typeface="Cambria Math"/>
                          </a:endParaRPr>
                        </a:p>
                        <a:p>
                          <a:pPr algn="ctr"/>
                          <a:r>
                            <a:rPr lang="en-US" sz="1800" i="0" dirty="0" smtClean="0">
                              <a:latin typeface="+mn-lt"/>
                            </a:rPr>
                            <a:t>3</a:t>
                          </a:r>
                          <a:r>
                            <a:rPr lang="en-US" sz="1800" i="0" baseline="0" dirty="0" smtClean="0">
                              <a:latin typeface="+mn-lt"/>
                            </a:rPr>
                            <a:t> </a:t>
                          </a:r>
                          <a:r>
                            <a:rPr lang="en-US" sz="1800" i="0" baseline="0" dirty="0" err="1" smtClean="0">
                              <a:latin typeface="+mn-lt"/>
                            </a:rPr>
                            <a:t>mẫu</a:t>
                          </a:r>
                          <a:r>
                            <a:rPr lang="en-US" sz="1800" i="0" baseline="0" dirty="0" smtClean="0">
                              <a:latin typeface="+mn-lt"/>
                            </a:rPr>
                            <a:t> &gt;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1800" i="1" dirty="0" smtClean="0">
                            <a:latin typeface="Cambria Math"/>
                          </a:endParaRPr>
                        </a:p>
                        <a:p>
                          <a:pPr algn="ctr"/>
                          <a:r>
                            <a:rPr lang="en-US" sz="1800" dirty="0" smtClean="0"/>
                            <a:t>2mẫu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&gt;10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sz="1800" i="1" dirty="0" smtClean="0">
                            <a:latin typeface="Cambria Math"/>
                          </a:endParaRPr>
                        </a:p>
                        <a:p>
                          <a:pPr algn="ctr"/>
                          <a:r>
                            <a:rPr lang="en-US" sz="1800" dirty="0" smtClean="0"/>
                            <a:t>1mẫu &gt;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sz="1800" i="1" dirty="0" smtClean="0">
                            <a:latin typeface="Cambria Math"/>
                          </a:endParaRPr>
                        </a:p>
                        <a:p>
                          <a:pPr algn="ctr"/>
                          <a:r>
                            <a:rPr lang="en-US" sz="1800" dirty="0" smtClean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sz="1800" i="1" dirty="0" smtClean="0"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−5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  <a:ea typeface="Cambria Math"/>
                                      </a:rPr>
                                      <m:t>×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 dirty="0" smtClean="0"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−5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  <a:ea typeface="Cambria Math"/>
                                      </a:rPr>
                                      <m:t>×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 smtClean="0"/>
                        </a:p>
                        <a:p>
                          <a:pPr algn="ctr"/>
                          <a:r>
                            <a:rPr lang="en-US" sz="1800" dirty="0" smtClean="0"/>
                            <a:t>&lt;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NKTN</a:t>
                          </a:r>
                        </a:p>
                        <a:p>
                          <a:pPr algn="ctr"/>
                          <a:r>
                            <a:rPr lang="en-US" sz="1800" dirty="0" smtClean="0"/>
                            <a:t>95</a:t>
                          </a:r>
                        </a:p>
                        <a:p>
                          <a:pPr algn="ctr"/>
                          <a:r>
                            <a:rPr lang="en-US" sz="1800" dirty="0" smtClean="0"/>
                            <a:t>90</a:t>
                          </a:r>
                        </a:p>
                        <a:p>
                          <a:pPr algn="ctr"/>
                          <a:r>
                            <a:rPr lang="en-US" sz="1800" dirty="0" smtClean="0"/>
                            <a:t>80</a:t>
                          </a:r>
                        </a:p>
                        <a:p>
                          <a:pPr algn="ctr"/>
                          <a:r>
                            <a:rPr lang="en-US" sz="1800" dirty="0" err="1" smtClean="0"/>
                            <a:t>Nghi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ngờ</a:t>
                          </a:r>
                          <a:endParaRPr lang="en-US" sz="1800" baseline="0" dirty="0" smtClean="0"/>
                        </a:p>
                        <a:p>
                          <a:pPr algn="ctr"/>
                          <a:r>
                            <a:rPr lang="en-US" sz="1800" baseline="0" dirty="0" err="1" smtClean="0"/>
                            <a:t>Có</a:t>
                          </a:r>
                          <a:r>
                            <a:rPr lang="en-US" sz="1800" baseline="0" dirty="0" smtClean="0"/>
                            <a:t> TC, </a:t>
                          </a:r>
                          <a:r>
                            <a:rPr lang="en-US" sz="1800" baseline="0" dirty="0" err="1" smtClean="0"/>
                            <a:t>nghi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ngờ</a:t>
                          </a:r>
                          <a:endParaRPr lang="en-US" sz="1800" baseline="0" dirty="0" smtClean="0"/>
                        </a:p>
                        <a:p>
                          <a:pPr algn="ctr"/>
                          <a:r>
                            <a:rPr lang="en-US" sz="1800" baseline="0" dirty="0" err="1" smtClean="0"/>
                            <a:t>Không</a:t>
                          </a:r>
                          <a:r>
                            <a:rPr lang="en-US" sz="1800" baseline="0" dirty="0" smtClean="0"/>
                            <a:t> TC, </a:t>
                          </a:r>
                          <a:r>
                            <a:rPr lang="en-US" sz="1800" baseline="0" dirty="0" err="1" smtClean="0"/>
                            <a:t>không</a:t>
                          </a:r>
                          <a:r>
                            <a:rPr lang="en-US" sz="1800" baseline="0" dirty="0" smtClean="0"/>
                            <a:t> NKTN</a:t>
                          </a:r>
                        </a:p>
                        <a:p>
                          <a:pPr algn="ctr"/>
                          <a:r>
                            <a:rPr lang="en-US" sz="1800" dirty="0" err="1" smtClean="0"/>
                            <a:t>Không</a:t>
                          </a:r>
                          <a:r>
                            <a:rPr lang="en-US" sz="1800" baseline="0" dirty="0" smtClean="0"/>
                            <a:t> NKTN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88397645"/>
                  </p:ext>
                </p:extLst>
              </p:nvPr>
            </p:nvGraphicFramePr>
            <p:xfrm>
              <a:off x="685800" y="1295400"/>
              <a:ext cx="7620000" cy="52595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9444"/>
                    <a:gridCol w="2610556"/>
                    <a:gridCol w="2540000"/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Phương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pháp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lấy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nước</a:t>
                          </a:r>
                          <a:r>
                            <a:rPr lang="en-US" sz="2400" baseline="0" dirty="0" smtClean="0"/>
                            <a:t>  </a:t>
                          </a:r>
                          <a:r>
                            <a:rPr lang="en-US" sz="2400" baseline="0" dirty="0" err="1" smtClean="0"/>
                            <a:t>tiểu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Số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lượng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khuẩn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lạc</a:t>
                          </a:r>
                          <a:r>
                            <a:rPr lang="en-US" sz="2400" baseline="0" dirty="0" smtClean="0"/>
                            <a:t>/ml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Khả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năng</a:t>
                          </a:r>
                          <a:r>
                            <a:rPr lang="en-US" sz="2400" baseline="0" dirty="0" smtClean="0"/>
                            <a:t> NKTN</a:t>
                          </a:r>
                        </a:p>
                        <a:p>
                          <a:pPr algn="ctr"/>
                          <a:r>
                            <a:rPr lang="en-US" sz="2400" baseline="0" dirty="0" smtClean="0"/>
                            <a:t>(%)</a:t>
                          </a:r>
                        </a:p>
                      </a:txBody>
                      <a:tcPr/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/>
                            <a:t>Chọc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dò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bàng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quang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trên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xương</a:t>
                          </a:r>
                          <a:r>
                            <a:rPr lang="en-US" sz="1800" baseline="0" dirty="0" smtClean="0"/>
                            <a:t> mu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 smtClean="0"/>
                            <a:t>-TK gram </a:t>
                          </a:r>
                          <a:r>
                            <a:rPr lang="en-US" sz="1800" dirty="0" err="1" smtClean="0"/>
                            <a:t>âm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không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tính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số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lượng</a:t>
                          </a:r>
                          <a:endParaRPr lang="en-US" sz="1800" baseline="0" dirty="0" smtClean="0"/>
                        </a:p>
                        <a:p>
                          <a:pPr algn="l"/>
                          <a:r>
                            <a:rPr lang="en-US" sz="1800" baseline="0" dirty="0" smtClean="0"/>
                            <a:t>-TK gram (+) </a:t>
                          </a:r>
                          <a:r>
                            <a:rPr lang="en-US" sz="1800" baseline="0" dirty="0" err="1" smtClean="0"/>
                            <a:t>chỉ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hơn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vài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ngàn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99</a:t>
                          </a:r>
                        </a:p>
                        <a:p>
                          <a:pPr algn="ctr"/>
                          <a:endParaRPr lang="en-US" sz="1800" dirty="0" smtClean="0"/>
                        </a:p>
                        <a:p>
                          <a:pPr algn="ctr"/>
                          <a:r>
                            <a:rPr lang="en-US" sz="1800" dirty="0" smtClean="0"/>
                            <a:t>95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94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/>
                            <a:t>Đặt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sonde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bàng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quang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4860" t="-218065" r="-97430" b="-25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NKTN</a:t>
                          </a:r>
                        </a:p>
                        <a:p>
                          <a:pPr algn="ctr"/>
                          <a:r>
                            <a:rPr lang="en-US" sz="1800" dirty="0" err="1" smtClean="0"/>
                            <a:t>Nghi</a:t>
                          </a:r>
                          <a:r>
                            <a:rPr lang="en-US" sz="1800" dirty="0" smtClean="0"/>
                            <a:t> </a:t>
                          </a:r>
                          <a:r>
                            <a:rPr lang="en-US" sz="1800" dirty="0" err="1" smtClean="0"/>
                            <a:t>ngờ</a:t>
                          </a:r>
                          <a:endParaRPr lang="en-US" sz="1800" dirty="0" smtClean="0"/>
                        </a:p>
                        <a:p>
                          <a:pPr algn="ctr"/>
                          <a:r>
                            <a:rPr lang="en-US" sz="1800" dirty="0" err="1" smtClean="0"/>
                            <a:t>Không</a:t>
                          </a:r>
                          <a:r>
                            <a:rPr lang="en-US" sz="1800" baseline="0" dirty="0" smtClean="0"/>
                            <a:t> NKTN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22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/>
                            <a:t>Nước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tiểu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giữa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dòng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4860" t="-130769" r="-97430" b="-4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NKTN</a:t>
                          </a:r>
                        </a:p>
                        <a:p>
                          <a:pPr algn="ctr"/>
                          <a:r>
                            <a:rPr lang="en-US" sz="1800" dirty="0" smtClean="0"/>
                            <a:t>95</a:t>
                          </a:r>
                        </a:p>
                        <a:p>
                          <a:pPr algn="ctr"/>
                          <a:r>
                            <a:rPr lang="en-US" sz="1800" dirty="0" smtClean="0"/>
                            <a:t>90</a:t>
                          </a:r>
                        </a:p>
                        <a:p>
                          <a:pPr algn="ctr"/>
                          <a:r>
                            <a:rPr lang="en-US" sz="1800" dirty="0" smtClean="0"/>
                            <a:t>80</a:t>
                          </a:r>
                        </a:p>
                        <a:p>
                          <a:pPr algn="ctr"/>
                          <a:r>
                            <a:rPr lang="en-US" sz="1800" dirty="0" err="1" smtClean="0"/>
                            <a:t>Nghi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ngờ</a:t>
                          </a:r>
                          <a:endParaRPr lang="en-US" sz="1800" baseline="0" dirty="0" smtClean="0"/>
                        </a:p>
                        <a:p>
                          <a:pPr algn="ctr"/>
                          <a:r>
                            <a:rPr lang="en-US" sz="1800" baseline="0" dirty="0" err="1" smtClean="0"/>
                            <a:t>Có</a:t>
                          </a:r>
                          <a:r>
                            <a:rPr lang="en-US" sz="1800" baseline="0" dirty="0" smtClean="0"/>
                            <a:t> TC, </a:t>
                          </a:r>
                          <a:r>
                            <a:rPr lang="en-US" sz="1800" baseline="0" dirty="0" err="1" smtClean="0"/>
                            <a:t>nghi</a:t>
                          </a:r>
                          <a:r>
                            <a:rPr lang="en-US" sz="1800" baseline="0" dirty="0" smtClean="0"/>
                            <a:t> </a:t>
                          </a:r>
                          <a:r>
                            <a:rPr lang="en-US" sz="1800" baseline="0" dirty="0" err="1" smtClean="0"/>
                            <a:t>ngờ</a:t>
                          </a:r>
                          <a:endParaRPr lang="en-US" sz="1800" baseline="0" dirty="0" smtClean="0"/>
                        </a:p>
                        <a:p>
                          <a:pPr algn="ctr"/>
                          <a:r>
                            <a:rPr lang="en-US" sz="1800" baseline="0" dirty="0" err="1" smtClean="0"/>
                            <a:t>Không</a:t>
                          </a:r>
                          <a:r>
                            <a:rPr lang="en-US" sz="1800" baseline="0" dirty="0" smtClean="0"/>
                            <a:t> TC, </a:t>
                          </a:r>
                          <a:r>
                            <a:rPr lang="en-US" sz="1800" baseline="0" dirty="0" err="1" smtClean="0"/>
                            <a:t>không</a:t>
                          </a:r>
                          <a:r>
                            <a:rPr lang="en-US" sz="1800" baseline="0" dirty="0" smtClean="0"/>
                            <a:t> NKTN</a:t>
                          </a:r>
                        </a:p>
                        <a:p>
                          <a:pPr algn="ctr"/>
                          <a:r>
                            <a:rPr lang="en-US" sz="1800" dirty="0" err="1" smtClean="0"/>
                            <a:t>Không</a:t>
                          </a:r>
                          <a:r>
                            <a:rPr lang="en-US" sz="1800" baseline="0" dirty="0" smtClean="0"/>
                            <a:t> NKTN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283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1.2 </a:t>
            </a:r>
            <a:r>
              <a:rPr lang="en-US" dirty="0" err="1" smtClean="0"/>
              <a:t>Soi</a:t>
            </a:r>
            <a:r>
              <a:rPr lang="en-US" dirty="0" smtClean="0"/>
              <a:t> </a:t>
            </a:r>
            <a:r>
              <a:rPr lang="en-US" dirty="0" err="1" smtClean="0"/>
              <a:t>nước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77433880"/>
                  </p:ext>
                </p:extLst>
              </p:nvPr>
            </p:nvGraphicFramePr>
            <p:xfrm>
              <a:off x="457200" y="2286001"/>
              <a:ext cx="8229600" cy="31089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14800"/>
                    <a:gridCol w="4114800"/>
                  </a:tblGrid>
                  <a:tr h="7174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Phương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pháp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xét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nghiệm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Tiêu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chuẩn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chẩn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đoán</a:t>
                          </a:r>
                          <a:r>
                            <a:rPr lang="en-US" sz="2400" baseline="0" dirty="0" smtClean="0"/>
                            <a:t> NKTN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625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Soi</a:t>
                          </a:r>
                          <a:r>
                            <a:rPr lang="en-US" sz="2800" dirty="0" smtClean="0"/>
                            <a:t> </a:t>
                          </a:r>
                          <a:r>
                            <a:rPr lang="en-US" sz="2800" dirty="0" err="1" smtClean="0"/>
                            <a:t>cặn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sau</a:t>
                          </a:r>
                          <a:r>
                            <a:rPr lang="en-US" sz="2800" baseline="0" dirty="0" smtClean="0"/>
                            <a:t> li </a:t>
                          </a:r>
                          <a:r>
                            <a:rPr lang="en-US" sz="2800" baseline="0" dirty="0" err="1" smtClean="0"/>
                            <a:t>tâm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sz="2400" dirty="0" smtClean="0"/>
                            <a:t>10BC/ vi </a:t>
                          </a:r>
                          <a:r>
                            <a:rPr lang="en-US" sz="2400" dirty="0" err="1" smtClean="0"/>
                            <a:t>trường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625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Cặn</a:t>
                          </a:r>
                          <a:r>
                            <a:rPr lang="en-US" sz="2800" baseline="0" dirty="0" smtClean="0"/>
                            <a:t> Addis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sz="2400" dirty="0" smtClean="0"/>
                            <a:t>10000 BC/ </a:t>
                          </a:r>
                          <a:r>
                            <a:rPr lang="en-US" sz="2400" dirty="0" err="1" smtClean="0"/>
                            <a:t>phút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11405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Soi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tươi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theo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Webbs-Stansfeld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sz="2400" dirty="0" smtClean="0"/>
                            <a:t>30 BC/ mm3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77433880"/>
                  </p:ext>
                </p:extLst>
              </p:nvPr>
            </p:nvGraphicFramePr>
            <p:xfrm>
              <a:off x="457200" y="2286001"/>
              <a:ext cx="8229600" cy="31089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14800"/>
                    <a:gridCol w="4114800"/>
                  </a:tblGrid>
                  <a:tr h="7174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Phương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pháp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xét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nghiệm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/>
                            <a:t>Tiêu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chuẩn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chẩn</a:t>
                          </a:r>
                          <a:r>
                            <a:rPr lang="en-US" sz="2400" baseline="0" dirty="0" smtClean="0"/>
                            <a:t> </a:t>
                          </a:r>
                          <a:r>
                            <a:rPr lang="en-US" sz="2400" baseline="0" dirty="0" err="1" smtClean="0"/>
                            <a:t>đoán</a:t>
                          </a:r>
                          <a:r>
                            <a:rPr lang="en-US" sz="2400" baseline="0" dirty="0" smtClean="0"/>
                            <a:t> NKTN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625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Soi</a:t>
                          </a:r>
                          <a:r>
                            <a:rPr lang="en-US" sz="2800" dirty="0" smtClean="0"/>
                            <a:t> </a:t>
                          </a:r>
                          <a:r>
                            <a:rPr lang="en-US" sz="2800" dirty="0" err="1" smtClean="0"/>
                            <a:t>cặn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sau</a:t>
                          </a:r>
                          <a:r>
                            <a:rPr lang="en-US" sz="2800" baseline="0" dirty="0" smtClean="0"/>
                            <a:t> li </a:t>
                          </a:r>
                          <a:r>
                            <a:rPr lang="en-US" sz="2800" baseline="0" dirty="0" err="1" smtClean="0"/>
                            <a:t>tâm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t="-125490" b="-284314"/>
                          </a:stretch>
                        </a:blipFill>
                      </a:tcPr>
                    </a:tc>
                  </a:tr>
                  <a:tr h="625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Cặn</a:t>
                          </a:r>
                          <a:r>
                            <a:rPr lang="en-US" sz="2800" baseline="0" dirty="0" smtClean="0"/>
                            <a:t> Addis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t="-223301" b="-181553"/>
                          </a:stretch>
                        </a:blipFill>
                      </a:tcPr>
                    </a:tc>
                  </a:tr>
                  <a:tr h="11405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err="1" smtClean="0"/>
                            <a:t>Soi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tươi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theo</a:t>
                          </a:r>
                          <a:r>
                            <a:rPr lang="en-US" sz="2800" baseline="0" dirty="0" smtClean="0"/>
                            <a:t> </a:t>
                          </a:r>
                          <a:r>
                            <a:rPr lang="en-US" sz="2800" baseline="0" dirty="0" err="1" smtClean="0"/>
                            <a:t>Webbs-Stansfeld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t="-1780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47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896112"/>
          </a:xfrm>
        </p:spPr>
        <p:txBody>
          <a:bodyPr/>
          <a:lstStyle/>
          <a:p>
            <a:r>
              <a:rPr lang="en-US" dirty="0" smtClean="0"/>
              <a:t>1.3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nước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116221"/>
              </p:ext>
            </p:extLst>
          </p:nvPr>
        </p:nvGraphicFramePr>
        <p:xfrm>
          <a:off x="457200" y="1676400"/>
          <a:ext cx="8229600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3429000"/>
                <a:gridCol w="3276600"/>
              </a:tblGrid>
              <a:tr h="53340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BC (+)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BC (-)</a:t>
                      </a:r>
                      <a:endParaRPr lang="en-US" dirty="0"/>
                    </a:p>
                  </a:txBody>
                  <a:tcPr/>
                </a:tc>
              </a:tr>
              <a:tr h="17137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Nitrite (+)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- </a:t>
                      </a:r>
                      <a:r>
                        <a:rPr lang="en-US" sz="2800" dirty="0" err="1" smtClean="0"/>
                        <a:t>Cấy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nước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tiểu</a:t>
                      </a:r>
                      <a:endParaRPr lang="en-US" sz="2800" baseline="0" dirty="0" smtClean="0"/>
                    </a:p>
                    <a:p>
                      <a:pPr algn="l"/>
                      <a:r>
                        <a:rPr lang="en-US" sz="2800" baseline="0" dirty="0" smtClean="0"/>
                        <a:t>- </a:t>
                      </a:r>
                      <a:r>
                        <a:rPr lang="en-US" sz="2800" baseline="0" dirty="0" err="1" smtClean="0"/>
                        <a:t>Điều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trị</a:t>
                      </a:r>
                      <a:r>
                        <a:rPr lang="en-US" sz="2800" baseline="0" dirty="0" smtClean="0"/>
                        <a:t> NKTN</a:t>
                      </a:r>
                    </a:p>
                    <a:p>
                      <a:pPr algn="l"/>
                      <a:r>
                        <a:rPr lang="en-US" sz="2800" baseline="0" dirty="0" smtClean="0"/>
                        <a:t>- </a:t>
                      </a:r>
                      <a:r>
                        <a:rPr lang="en-US" sz="2800" baseline="0" dirty="0" err="1" smtClean="0"/>
                        <a:t>Bắt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đầu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dùng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kháng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sinh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- </a:t>
                      </a:r>
                      <a:r>
                        <a:rPr lang="en-US" sz="2800" dirty="0" err="1" smtClean="0"/>
                        <a:t>Cấy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nước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tiểu</a:t>
                      </a:r>
                      <a:endParaRPr lang="en-US" sz="2800" baseline="0" dirty="0" smtClean="0"/>
                    </a:p>
                    <a:p>
                      <a:pPr algn="l"/>
                      <a:r>
                        <a:rPr lang="en-US" sz="2800" baseline="0" dirty="0" smtClean="0"/>
                        <a:t>- </a:t>
                      </a:r>
                      <a:r>
                        <a:rPr lang="en-US" sz="2800" baseline="0" dirty="0" err="1" smtClean="0"/>
                        <a:t>Bắt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đầu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điều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trị</a:t>
                      </a:r>
                      <a:r>
                        <a:rPr lang="en-US" sz="2800" baseline="0" dirty="0" smtClean="0"/>
                        <a:t> KS </a:t>
                      </a:r>
                      <a:r>
                        <a:rPr lang="en-US" sz="2800" baseline="0" dirty="0" err="1" smtClean="0"/>
                        <a:t>nếu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lấy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mẫu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nước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tiểu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tươi</a:t>
                      </a:r>
                      <a:endParaRPr lang="en-US" sz="2800" dirty="0"/>
                    </a:p>
                  </a:txBody>
                  <a:tcPr/>
                </a:tc>
              </a:tr>
              <a:tr h="17137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Nitrite</a:t>
                      </a:r>
                    </a:p>
                    <a:p>
                      <a:pPr algn="ctr"/>
                      <a:r>
                        <a:rPr lang="en-US" sz="2800" dirty="0" smtClean="0"/>
                        <a:t> (-)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- </a:t>
                      </a:r>
                      <a:r>
                        <a:rPr lang="en-US" sz="2800" dirty="0" err="1" smtClean="0"/>
                        <a:t>Gửi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nước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tiểu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đi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soi,cấy</a:t>
                      </a:r>
                      <a:endParaRPr lang="en-US" sz="2800" baseline="0" dirty="0" smtClean="0"/>
                    </a:p>
                    <a:p>
                      <a:pPr algn="l"/>
                      <a:r>
                        <a:rPr lang="en-US" sz="2800" baseline="0" dirty="0" smtClean="0"/>
                        <a:t>- </a:t>
                      </a:r>
                      <a:r>
                        <a:rPr lang="en-US" sz="2800" baseline="0" dirty="0" err="1" smtClean="0"/>
                        <a:t>Bắt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đầu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điều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trị</a:t>
                      </a:r>
                      <a:r>
                        <a:rPr lang="en-US" sz="2800" baseline="0" dirty="0" smtClean="0"/>
                        <a:t> KS </a:t>
                      </a:r>
                      <a:r>
                        <a:rPr lang="en-US" sz="2800" baseline="0" dirty="0" err="1" smtClean="0"/>
                        <a:t>nếu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có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bằng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chứng</a:t>
                      </a:r>
                      <a:r>
                        <a:rPr lang="en-US" sz="2800" baseline="0" dirty="0" smtClean="0"/>
                        <a:t> NKTN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2800" dirty="0" smtClean="0"/>
                        <a:t>-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dirty="0" err="1" smtClean="0"/>
                        <a:t>Không</a:t>
                      </a:r>
                      <a:r>
                        <a:rPr lang="en-US" sz="2800" dirty="0" smtClean="0"/>
                        <a:t> NKTN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2800" baseline="0" dirty="0" smtClean="0"/>
                        <a:t>- </a:t>
                      </a:r>
                      <a:r>
                        <a:rPr lang="en-US" sz="2800" baseline="0" dirty="0" err="1" smtClean="0"/>
                        <a:t>Soi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nước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tiểu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nấu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thấu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bất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thường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cấu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trúc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đường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niệu</a:t>
                      </a:r>
                      <a:r>
                        <a:rPr lang="en-US" sz="2800" baseline="0" dirty="0" smtClean="0"/>
                        <a:t> 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02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08888"/>
          </a:xfrm>
        </p:spPr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máu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/>
          </a:bodyPr>
          <a:lstStyle/>
          <a:p>
            <a:r>
              <a:rPr lang="en-US" sz="3200" dirty="0" err="1" smtClean="0"/>
              <a:t>Công</a:t>
            </a:r>
            <a:r>
              <a:rPr lang="en-US" sz="3200" dirty="0" smtClean="0"/>
              <a:t> </a:t>
            </a:r>
            <a:r>
              <a:rPr lang="en-US" sz="3200" dirty="0" err="1" smtClean="0"/>
              <a:t>thức</a:t>
            </a:r>
            <a:r>
              <a:rPr lang="en-US" sz="3200" dirty="0" smtClean="0"/>
              <a:t> </a:t>
            </a:r>
            <a:r>
              <a:rPr lang="en-US" sz="3200" dirty="0" err="1" smtClean="0"/>
              <a:t>máu</a:t>
            </a:r>
            <a:r>
              <a:rPr lang="en-US" sz="3200" dirty="0" smtClean="0"/>
              <a:t>: BC </a:t>
            </a:r>
            <a:r>
              <a:rPr lang="en-US" sz="3200" dirty="0" err="1" smtClean="0"/>
              <a:t>tăng</a:t>
            </a:r>
            <a:r>
              <a:rPr lang="en-US" sz="3200" dirty="0" smtClean="0"/>
              <a:t> </a:t>
            </a:r>
            <a:r>
              <a:rPr lang="en-US" sz="3200" dirty="0" err="1" smtClean="0"/>
              <a:t>cao</a:t>
            </a:r>
            <a:r>
              <a:rPr lang="en-US" sz="3200" dirty="0" smtClean="0"/>
              <a:t> </a:t>
            </a:r>
            <a:r>
              <a:rPr lang="en-US" sz="3200" dirty="0" smtClean="0"/>
              <a:t>(BC </a:t>
            </a:r>
            <a:r>
              <a:rPr lang="en-US" sz="3200" dirty="0" smtClean="0"/>
              <a:t>ĐNTT)</a:t>
            </a:r>
          </a:p>
          <a:p>
            <a:r>
              <a:rPr lang="en-US" sz="3200" dirty="0" err="1" smtClean="0"/>
              <a:t>Tốc</a:t>
            </a:r>
            <a:r>
              <a:rPr lang="en-US" sz="3200" dirty="0" smtClean="0"/>
              <a:t> </a:t>
            </a: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máu</a:t>
            </a:r>
            <a:r>
              <a:rPr lang="en-US" sz="3200" dirty="0" smtClean="0"/>
              <a:t> </a:t>
            </a:r>
            <a:r>
              <a:rPr lang="en-US" sz="3200" dirty="0" err="1" smtClean="0"/>
              <a:t>lắng</a:t>
            </a:r>
            <a:r>
              <a:rPr lang="en-US" sz="3200" dirty="0"/>
              <a:t> </a:t>
            </a:r>
            <a:r>
              <a:rPr lang="en-US" sz="3200" dirty="0" err="1" smtClean="0"/>
              <a:t>tăng</a:t>
            </a:r>
            <a:r>
              <a:rPr lang="en-US" sz="3200" dirty="0" smtClean="0"/>
              <a:t> </a:t>
            </a:r>
            <a:r>
              <a:rPr lang="en-US" sz="3200" dirty="0" err="1" smtClean="0"/>
              <a:t>cao</a:t>
            </a:r>
            <a:r>
              <a:rPr lang="en-US" sz="3200" dirty="0" smtClean="0"/>
              <a:t> &gt;30mm ở </a:t>
            </a:r>
            <a:r>
              <a:rPr lang="en-US" sz="3200" dirty="0" err="1" smtClean="0"/>
              <a:t>giờ</a:t>
            </a:r>
            <a:r>
              <a:rPr lang="en-US" sz="3200" dirty="0" smtClean="0"/>
              <a:t> </a:t>
            </a:r>
            <a:r>
              <a:rPr lang="en-US" sz="3200" dirty="0" err="1" smtClean="0"/>
              <a:t>thứ</a:t>
            </a:r>
            <a:r>
              <a:rPr lang="en-US" sz="3200" dirty="0" smtClean="0"/>
              <a:t> </a:t>
            </a:r>
            <a:r>
              <a:rPr lang="en-US" sz="3200" dirty="0" err="1" smtClean="0"/>
              <a:t>nhất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CRP </a:t>
            </a:r>
            <a:r>
              <a:rPr lang="en-US" sz="3200" dirty="0" err="1" smtClean="0"/>
              <a:t>tăng</a:t>
            </a:r>
            <a:r>
              <a:rPr lang="en-US" sz="3200" dirty="0" smtClean="0"/>
              <a:t>   </a:t>
            </a:r>
          </a:p>
          <a:p>
            <a:r>
              <a:rPr lang="en-US" sz="3200" dirty="0" err="1" smtClean="0"/>
              <a:t>Ure</a:t>
            </a:r>
            <a:r>
              <a:rPr lang="en-US" sz="3200" dirty="0" smtClean="0"/>
              <a:t>, </a:t>
            </a:r>
            <a:r>
              <a:rPr lang="en-US" sz="3200" dirty="0" err="1" smtClean="0"/>
              <a:t>creatinin</a:t>
            </a:r>
            <a:r>
              <a:rPr lang="en-US" sz="3200" dirty="0" smtClean="0"/>
              <a:t>, </a:t>
            </a:r>
            <a:r>
              <a:rPr lang="en-US" sz="3200" dirty="0" err="1" smtClean="0"/>
              <a:t>điện</a:t>
            </a:r>
            <a:r>
              <a:rPr lang="en-US" sz="3200" dirty="0" smtClean="0"/>
              <a:t> </a:t>
            </a:r>
            <a:r>
              <a:rPr lang="en-US" sz="3200" dirty="0" err="1" smtClean="0"/>
              <a:t>giải</a:t>
            </a:r>
            <a:r>
              <a:rPr lang="en-US" sz="3200" dirty="0" smtClean="0"/>
              <a:t> </a:t>
            </a:r>
            <a:r>
              <a:rPr lang="en-US" sz="3200" dirty="0" err="1" smtClean="0"/>
              <a:t>đồ</a:t>
            </a:r>
            <a:r>
              <a:rPr lang="en-US" sz="3200" dirty="0" smtClean="0"/>
              <a:t> </a:t>
            </a:r>
            <a:r>
              <a:rPr lang="en-US" sz="3200" dirty="0" err="1" smtClean="0"/>
              <a:t>để</a:t>
            </a:r>
            <a:r>
              <a:rPr lang="en-US" sz="3200" dirty="0" smtClean="0"/>
              <a:t> </a:t>
            </a:r>
            <a:r>
              <a:rPr lang="en-US" sz="3200" dirty="0" err="1" smtClean="0"/>
              <a:t>đánh</a:t>
            </a:r>
            <a:r>
              <a:rPr lang="en-US" sz="3200" dirty="0" smtClean="0"/>
              <a:t> </a:t>
            </a:r>
            <a:r>
              <a:rPr lang="en-US" sz="3200" dirty="0" err="1" smtClean="0"/>
              <a:t>giá</a:t>
            </a:r>
            <a:r>
              <a:rPr lang="en-US" sz="3200" dirty="0" smtClean="0"/>
              <a:t> </a:t>
            </a:r>
            <a:r>
              <a:rPr lang="en-US" sz="3200" dirty="0" err="1" smtClean="0"/>
              <a:t>chức</a:t>
            </a:r>
            <a:r>
              <a:rPr lang="en-US" sz="3200" dirty="0" smtClean="0"/>
              <a:t> </a:t>
            </a:r>
            <a:r>
              <a:rPr lang="en-US" sz="3200" dirty="0" err="1" smtClean="0"/>
              <a:t>năng</a:t>
            </a:r>
            <a:r>
              <a:rPr lang="en-US" sz="3200" dirty="0" smtClean="0"/>
              <a:t> </a:t>
            </a:r>
            <a:r>
              <a:rPr lang="en-US" sz="3200" dirty="0" err="1" smtClean="0"/>
              <a:t>thận</a:t>
            </a:r>
            <a:r>
              <a:rPr lang="en-US" sz="3200" dirty="0" smtClean="0"/>
              <a:t> </a:t>
            </a:r>
            <a:r>
              <a:rPr lang="en-US" sz="3200" dirty="0" err="1" smtClean="0"/>
              <a:t>nghi</a:t>
            </a:r>
            <a:r>
              <a:rPr lang="en-US" sz="3200" dirty="0" smtClean="0"/>
              <a:t> </a:t>
            </a:r>
            <a:r>
              <a:rPr lang="en-US" sz="3200" dirty="0" err="1" smtClean="0"/>
              <a:t>ngờ</a:t>
            </a:r>
            <a:r>
              <a:rPr lang="en-US" sz="3200" dirty="0" smtClean="0"/>
              <a:t> </a:t>
            </a:r>
            <a:r>
              <a:rPr lang="en-US" sz="3200" dirty="0" err="1" smtClean="0"/>
              <a:t>viêm</a:t>
            </a:r>
            <a:r>
              <a:rPr lang="en-US" sz="3200" dirty="0" smtClean="0"/>
              <a:t> </a:t>
            </a:r>
            <a:r>
              <a:rPr lang="en-US" sz="3200" dirty="0" err="1" smtClean="0"/>
              <a:t>thận</a:t>
            </a:r>
            <a:r>
              <a:rPr lang="en-US" sz="3200" dirty="0" smtClean="0"/>
              <a:t>- </a:t>
            </a:r>
            <a:r>
              <a:rPr lang="en-US" sz="3200" dirty="0" err="1" smtClean="0"/>
              <a:t>bể</a:t>
            </a:r>
            <a:r>
              <a:rPr lang="en-US" sz="3200" dirty="0" smtClean="0"/>
              <a:t> </a:t>
            </a:r>
            <a:r>
              <a:rPr lang="en-US" sz="3200" dirty="0" err="1" smtClean="0"/>
              <a:t>thận</a:t>
            </a:r>
            <a:r>
              <a:rPr lang="en-US" sz="3200" dirty="0" smtClean="0"/>
              <a:t>.</a:t>
            </a:r>
          </a:p>
          <a:p>
            <a:r>
              <a:rPr lang="en-US" sz="3200" dirty="0" err="1" smtClean="0"/>
              <a:t>Cấy</a:t>
            </a:r>
            <a:r>
              <a:rPr lang="en-US" sz="3200" dirty="0" smtClean="0"/>
              <a:t> </a:t>
            </a:r>
            <a:r>
              <a:rPr lang="en-US" sz="3200" dirty="0" err="1" smtClean="0"/>
              <a:t>máu</a:t>
            </a:r>
            <a:r>
              <a:rPr lang="en-US" sz="3200" dirty="0" smtClean="0"/>
              <a:t> </a:t>
            </a:r>
            <a:r>
              <a:rPr lang="en-US" sz="3200" dirty="0" err="1" smtClean="0"/>
              <a:t>có</a:t>
            </a:r>
            <a:r>
              <a:rPr lang="en-US" sz="3200" dirty="0" smtClean="0"/>
              <a:t> </a:t>
            </a:r>
            <a:r>
              <a:rPr lang="en-US" sz="3200" dirty="0" err="1" smtClean="0"/>
              <a:t>thể</a:t>
            </a:r>
            <a:r>
              <a:rPr lang="en-US" sz="3200" dirty="0" smtClean="0"/>
              <a:t> </a:t>
            </a:r>
            <a:r>
              <a:rPr lang="en-US" sz="3200" dirty="0" smtClean="0"/>
              <a:t>(+) </a:t>
            </a:r>
            <a:r>
              <a:rPr lang="en-US" sz="3200" dirty="0" err="1" smtClean="0"/>
              <a:t>trong</a:t>
            </a:r>
            <a:r>
              <a:rPr lang="en-US" sz="3200" dirty="0" smtClean="0"/>
              <a:t> </a:t>
            </a:r>
            <a:r>
              <a:rPr lang="en-US" sz="3200" dirty="0" err="1" smtClean="0"/>
              <a:t>viêm</a:t>
            </a:r>
            <a:r>
              <a:rPr lang="en-US" sz="3200" dirty="0" smtClean="0"/>
              <a:t> </a:t>
            </a:r>
            <a:r>
              <a:rPr lang="en-US" sz="3200" dirty="0" err="1" smtClean="0"/>
              <a:t>thận</a:t>
            </a:r>
            <a:r>
              <a:rPr lang="en-US" sz="3200" dirty="0" smtClean="0"/>
              <a:t> </a:t>
            </a:r>
            <a:r>
              <a:rPr lang="en-US" sz="3200" dirty="0" err="1" smtClean="0"/>
              <a:t>bể</a:t>
            </a:r>
            <a:r>
              <a:rPr lang="en-US" sz="3200" dirty="0" smtClean="0"/>
              <a:t> </a:t>
            </a:r>
            <a:r>
              <a:rPr lang="en-US" sz="3200" dirty="0" err="1" smtClean="0"/>
              <a:t>thận</a:t>
            </a:r>
            <a:r>
              <a:rPr lang="en-US" sz="3200" dirty="0" smtClean="0"/>
              <a:t> </a:t>
            </a:r>
            <a:r>
              <a:rPr lang="en-US" sz="3200" dirty="0" err="1" smtClean="0"/>
              <a:t>cấp</a:t>
            </a:r>
            <a:r>
              <a:rPr lang="en-US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06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3. </a:t>
            </a:r>
            <a:r>
              <a:rPr lang="en-US" b="1" dirty="0" err="1" smtClean="0">
                <a:solidFill>
                  <a:srgbClr val="FF0000"/>
                </a:solidFill>
              </a:rPr>
              <a:t>Chẩn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đoán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ảnh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495800"/>
          </a:xfrm>
        </p:spPr>
        <p:txBody>
          <a:bodyPr>
            <a:noAutofit/>
          </a:bodyPr>
          <a:lstStyle/>
          <a:p>
            <a:pPr algn="just"/>
            <a:r>
              <a:rPr lang="en-US" sz="2400" dirty="0" err="1" smtClean="0">
                <a:solidFill>
                  <a:srgbClr val="FF0000"/>
                </a:solidFill>
              </a:rPr>
              <a:t>Siêu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âm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thận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: </a:t>
            </a:r>
            <a:r>
              <a:rPr lang="en-US" sz="2400" dirty="0" err="1" smtClean="0"/>
              <a:t>đị</a:t>
            </a:r>
            <a:r>
              <a:rPr lang="en-US" sz="2400" dirty="0" smtClean="0"/>
              <a:t> </a:t>
            </a:r>
            <a:r>
              <a:rPr lang="en-US" sz="2400" dirty="0" err="1" smtClean="0"/>
              <a:t>tật</a:t>
            </a:r>
            <a:r>
              <a:rPr lang="en-US" sz="2400" dirty="0" smtClean="0"/>
              <a:t> </a:t>
            </a:r>
            <a:r>
              <a:rPr lang="en-US" sz="2400" dirty="0" err="1" smtClean="0"/>
              <a:t>bẩm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, </a:t>
            </a:r>
            <a:r>
              <a:rPr lang="en-US" sz="2400" dirty="0" err="1" smtClean="0"/>
              <a:t>tắc</a:t>
            </a:r>
            <a:r>
              <a:rPr lang="en-US" sz="2400" dirty="0" smtClean="0"/>
              <a:t> </a:t>
            </a:r>
            <a:r>
              <a:rPr lang="en-US" sz="2400" dirty="0" err="1" smtClean="0"/>
              <a:t>nghẽn</a:t>
            </a:r>
            <a:r>
              <a:rPr lang="en-US" sz="2400" dirty="0" smtClean="0"/>
              <a:t>,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thước</a:t>
            </a:r>
            <a:r>
              <a:rPr lang="en-US" sz="2400" dirty="0" smtClean="0"/>
              <a:t> </a:t>
            </a:r>
            <a:r>
              <a:rPr lang="en-US" sz="2400" dirty="0" err="1" smtClean="0"/>
              <a:t>thận</a:t>
            </a:r>
            <a:r>
              <a:rPr lang="en-US" sz="2400" dirty="0" smtClean="0"/>
              <a:t>,…</a:t>
            </a:r>
          </a:p>
          <a:p>
            <a:pPr algn="just"/>
            <a:r>
              <a:rPr lang="en-US" sz="2400" dirty="0" smtClean="0">
                <a:solidFill>
                  <a:srgbClr val="FF0000"/>
                </a:solidFill>
              </a:rPr>
              <a:t>UIV</a:t>
            </a:r>
            <a:r>
              <a:rPr lang="en-US" sz="2400" dirty="0" smtClean="0"/>
              <a:t> </a:t>
            </a:r>
            <a:r>
              <a:rPr lang="en-US" sz="2400" dirty="0" err="1" smtClean="0"/>
              <a:t>ít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định</a:t>
            </a:r>
            <a:endParaRPr lang="en-US" sz="2400" dirty="0" smtClean="0"/>
          </a:p>
          <a:p>
            <a:pPr algn="just"/>
            <a:r>
              <a:rPr lang="en-US" sz="2400" dirty="0" err="1" smtClean="0">
                <a:solidFill>
                  <a:srgbClr val="FF0000"/>
                </a:solidFill>
              </a:rPr>
              <a:t>Chụp</a:t>
            </a:r>
            <a:r>
              <a:rPr lang="en-US" sz="2400" dirty="0" smtClean="0">
                <a:solidFill>
                  <a:srgbClr val="FF0000"/>
                </a:solidFill>
              </a:rPr>
              <a:t> BQ </a:t>
            </a:r>
            <a:r>
              <a:rPr lang="en-US" sz="2400" dirty="0" smtClean="0">
                <a:solidFill>
                  <a:srgbClr val="FF0000"/>
                </a:solidFill>
              </a:rPr>
              <a:t>NĐ </a:t>
            </a:r>
            <a:r>
              <a:rPr lang="en-US" sz="2400" dirty="0" err="1" smtClean="0"/>
              <a:t>khi</a:t>
            </a:r>
            <a:r>
              <a:rPr lang="en-US" sz="2400" dirty="0" smtClean="0"/>
              <a:t> </a:t>
            </a:r>
            <a:r>
              <a:rPr lang="en-US" sz="2400" dirty="0" err="1" smtClean="0"/>
              <a:t>đi</a:t>
            </a:r>
            <a:r>
              <a:rPr lang="en-US" sz="2400" dirty="0" smtClean="0"/>
              <a:t> </a:t>
            </a:r>
            <a:r>
              <a:rPr lang="en-US" sz="2400" dirty="0" err="1" smtClean="0"/>
              <a:t>tiểu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khảo</a:t>
            </a:r>
            <a:r>
              <a:rPr lang="en-US" sz="2400" dirty="0" smtClean="0"/>
              <a:t> </a:t>
            </a:r>
            <a:r>
              <a:rPr lang="en-US" sz="2400" dirty="0" err="1" smtClean="0"/>
              <a:t>sát</a:t>
            </a:r>
            <a:r>
              <a:rPr lang="en-US" sz="2400" dirty="0" smtClean="0"/>
              <a:t> </a:t>
            </a:r>
            <a:r>
              <a:rPr lang="en-US" sz="2400" dirty="0" err="1" smtClean="0"/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dạng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thước</a:t>
            </a:r>
            <a:r>
              <a:rPr lang="en-US" sz="2400" dirty="0" smtClean="0"/>
              <a:t> BQ, </a:t>
            </a: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trào</a:t>
            </a:r>
            <a:r>
              <a:rPr lang="en-US" sz="2400" dirty="0" smtClean="0"/>
              <a:t> </a:t>
            </a:r>
            <a:r>
              <a:rPr lang="en-US" sz="2400" dirty="0" err="1" smtClean="0"/>
              <a:t>ngược</a:t>
            </a:r>
            <a:r>
              <a:rPr lang="en-US" sz="2400" dirty="0" smtClean="0"/>
              <a:t> BQ- </a:t>
            </a:r>
            <a:r>
              <a:rPr lang="en-US" sz="2400" dirty="0" err="1" smtClean="0"/>
              <a:t>niệu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err="1" smtClean="0">
                <a:solidFill>
                  <a:srgbClr val="FF0000"/>
                </a:solidFill>
              </a:rPr>
              <a:t>Xạ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hình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thận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: DMSA- </a:t>
            </a:r>
            <a:r>
              <a:rPr lang="en-US" sz="2400" dirty="0" err="1" smtClean="0"/>
              <a:t>khuyết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thận</a:t>
            </a:r>
            <a:r>
              <a:rPr lang="en-US" sz="2400" dirty="0" smtClean="0"/>
              <a:t> do NT hay </a:t>
            </a:r>
            <a:r>
              <a:rPr lang="en-US" sz="2400" dirty="0" err="1" smtClean="0"/>
              <a:t>sẹo</a:t>
            </a:r>
            <a:r>
              <a:rPr lang="en-US" sz="2400" dirty="0" smtClean="0"/>
              <a:t> </a:t>
            </a:r>
            <a:r>
              <a:rPr lang="en-US" sz="2400" dirty="0" err="1" smtClean="0"/>
              <a:t>thận</a:t>
            </a: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                           DTPA-</a:t>
            </a:r>
            <a:r>
              <a:rPr lang="en-US" sz="2400" dirty="0" err="1" smtClean="0"/>
              <a:t>lasix</a:t>
            </a:r>
            <a:r>
              <a:rPr lang="en-US" sz="2400" dirty="0" smtClean="0"/>
              <a:t> </a:t>
            </a:r>
            <a:r>
              <a:rPr lang="en-US" sz="2400" dirty="0" err="1" smtClean="0"/>
              <a:t>tắc</a:t>
            </a:r>
            <a:r>
              <a:rPr lang="en-US" sz="2400" dirty="0" smtClean="0"/>
              <a:t> </a:t>
            </a:r>
            <a:r>
              <a:rPr lang="en-US" sz="2400" dirty="0" err="1" smtClean="0"/>
              <a:t>nghẽn</a:t>
            </a:r>
            <a:r>
              <a:rPr lang="en-US" sz="2400" dirty="0" smtClean="0"/>
              <a:t> </a:t>
            </a:r>
            <a:r>
              <a:rPr lang="en-US" sz="2400" dirty="0" err="1" smtClean="0"/>
              <a:t>thận</a:t>
            </a:r>
            <a:endParaRPr lang="en-US" sz="2400" dirty="0" smtClean="0"/>
          </a:p>
          <a:p>
            <a:pPr algn="just"/>
            <a:r>
              <a:rPr lang="en-US" sz="2400" dirty="0" smtClean="0">
                <a:solidFill>
                  <a:srgbClr val="FF0000"/>
                </a:solidFill>
              </a:rPr>
              <a:t>CT, MRI </a:t>
            </a: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niệu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511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IV. </a:t>
            </a:r>
            <a:r>
              <a:rPr lang="en-US" dirty="0" err="1" smtClean="0"/>
              <a:t>Chẩn</a:t>
            </a:r>
            <a:r>
              <a:rPr lang="en-US" dirty="0" smtClean="0"/>
              <a:t> </a:t>
            </a:r>
            <a:r>
              <a:rPr lang="en-US" dirty="0" err="1" smtClean="0"/>
              <a:t>đoán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AutoNum type="arabicPeriod"/>
            </a:pPr>
            <a:r>
              <a:rPr lang="en-US" sz="3200" dirty="0" err="1" smtClean="0">
                <a:solidFill>
                  <a:srgbClr val="FF0000"/>
                </a:solidFill>
              </a:rPr>
              <a:t>Chẩn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</a:rPr>
              <a:t>đoán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</a:rPr>
              <a:t>xác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</a:rPr>
              <a:t>định</a:t>
            </a:r>
            <a:endParaRPr lang="en-US" sz="3200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US" sz="3200" dirty="0" err="1" smtClean="0"/>
              <a:t>Lâm</a:t>
            </a:r>
            <a:r>
              <a:rPr lang="en-US" sz="3200" dirty="0" smtClean="0"/>
              <a:t> </a:t>
            </a:r>
            <a:r>
              <a:rPr lang="en-US" sz="3200" dirty="0" err="1" smtClean="0"/>
              <a:t>sàng</a:t>
            </a:r>
            <a:r>
              <a:rPr lang="en-US" sz="3200" dirty="0" smtClean="0"/>
              <a:t>: </a:t>
            </a:r>
            <a:r>
              <a:rPr lang="en-US" sz="3200" dirty="0" err="1" smtClean="0"/>
              <a:t>chỉ</a:t>
            </a:r>
            <a:r>
              <a:rPr lang="en-US" sz="3200" dirty="0" smtClean="0"/>
              <a:t> </a:t>
            </a:r>
            <a:r>
              <a:rPr lang="en-US" sz="3200" dirty="0" err="1" smtClean="0"/>
              <a:t>có</a:t>
            </a:r>
            <a:r>
              <a:rPr lang="en-US" sz="3200" dirty="0" smtClean="0"/>
              <a:t> </a:t>
            </a:r>
            <a:r>
              <a:rPr lang="en-US" sz="3200" dirty="0" err="1" smtClean="0"/>
              <a:t>giá</a:t>
            </a:r>
            <a:r>
              <a:rPr lang="en-US" sz="3200" dirty="0" smtClean="0"/>
              <a:t> </a:t>
            </a:r>
            <a:r>
              <a:rPr lang="en-US" sz="3200" dirty="0" err="1" smtClean="0"/>
              <a:t>trị</a:t>
            </a:r>
            <a:r>
              <a:rPr lang="en-US" sz="3200" dirty="0" smtClean="0"/>
              <a:t> </a:t>
            </a:r>
            <a:r>
              <a:rPr lang="en-US" sz="3200" dirty="0" err="1" smtClean="0"/>
              <a:t>gợi</a:t>
            </a:r>
            <a:r>
              <a:rPr lang="en-US" sz="3200" dirty="0" smtClean="0"/>
              <a:t> ý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buốt</a:t>
            </a:r>
            <a:r>
              <a:rPr lang="en-US" sz="3200" dirty="0" smtClean="0"/>
              <a:t>,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rắt</a:t>
            </a:r>
            <a:r>
              <a:rPr lang="en-US" sz="3200" dirty="0" smtClean="0"/>
              <a:t>, </a:t>
            </a:r>
            <a:r>
              <a:rPr lang="en-US" sz="3200" dirty="0" err="1" smtClean="0"/>
              <a:t>sốt</a:t>
            </a:r>
            <a:r>
              <a:rPr lang="en-US" sz="3200" dirty="0" smtClean="0"/>
              <a:t>…</a:t>
            </a:r>
          </a:p>
          <a:p>
            <a:pPr>
              <a:buFontTx/>
              <a:buChar char="-"/>
            </a:pPr>
            <a:r>
              <a:rPr lang="en-US" sz="3200" dirty="0" err="1" smtClean="0"/>
              <a:t>Cận</a:t>
            </a:r>
            <a:r>
              <a:rPr lang="en-US" sz="3200" dirty="0" smtClean="0"/>
              <a:t> </a:t>
            </a:r>
            <a:r>
              <a:rPr lang="en-US" sz="3200" dirty="0" err="1" smtClean="0"/>
              <a:t>lâm</a:t>
            </a:r>
            <a:r>
              <a:rPr lang="en-US" sz="3200" dirty="0" smtClean="0"/>
              <a:t> </a:t>
            </a:r>
            <a:r>
              <a:rPr lang="en-US" sz="3200" dirty="0" err="1" smtClean="0"/>
              <a:t>sàng</a:t>
            </a:r>
            <a:r>
              <a:rPr lang="en-US" sz="3200" dirty="0" smtClean="0"/>
              <a:t>: </a:t>
            </a:r>
            <a:r>
              <a:rPr lang="en-US" sz="3200" dirty="0" err="1" smtClean="0"/>
              <a:t>nuôi</a:t>
            </a:r>
            <a:r>
              <a:rPr lang="en-US" sz="3200" dirty="0" smtClean="0"/>
              <a:t> </a:t>
            </a:r>
            <a:r>
              <a:rPr lang="en-US" sz="3200" dirty="0" err="1" smtClean="0"/>
              <a:t>cấy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định</a:t>
            </a:r>
            <a:r>
              <a:rPr lang="en-US" sz="3200" dirty="0" smtClean="0"/>
              <a:t> </a:t>
            </a:r>
            <a:r>
              <a:rPr lang="en-US" sz="3200" dirty="0" err="1" smtClean="0"/>
              <a:t>lượng</a:t>
            </a:r>
            <a:r>
              <a:rPr lang="en-US" sz="3200" dirty="0" smtClean="0"/>
              <a:t> vi </a:t>
            </a:r>
            <a:r>
              <a:rPr lang="en-US" sz="3200" dirty="0" err="1" smtClean="0"/>
              <a:t>khuẩn</a:t>
            </a:r>
            <a:r>
              <a:rPr lang="en-US" sz="3200" dirty="0" smtClean="0"/>
              <a:t> </a:t>
            </a:r>
            <a:r>
              <a:rPr lang="en-US" sz="3200" dirty="0" err="1" smtClean="0"/>
              <a:t>trong</a:t>
            </a:r>
            <a:r>
              <a:rPr lang="en-US" sz="3200" dirty="0" smtClean="0"/>
              <a:t> </a:t>
            </a:r>
            <a:r>
              <a:rPr lang="en-US" sz="3200" dirty="0" err="1" smtClean="0"/>
              <a:t>nước</a:t>
            </a:r>
            <a:r>
              <a:rPr lang="en-US" sz="3200" dirty="0" smtClean="0"/>
              <a:t> </a:t>
            </a:r>
            <a:r>
              <a:rPr lang="en-US" sz="3200" dirty="0" err="1" smtClean="0"/>
              <a:t>tiểu</a:t>
            </a:r>
            <a:r>
              <a:rPr lang="en-US" sz="3200" dirty="0" smtClean="0"/>
              <a:t> </a:t>
            </a:r>
            <a:r>
              <a:rPr lang="en-US" sz="3200" dirty="0" err="1" smtClean="0"/>
              <a:t>là</a:t>
            </a:r>
            <a:r>
              <a:rPr lang="en-US" sz="3200" dirty="0" smtClean="0"/>
              <a:t> </a:t>
            </a:r>
            <a:r>
              <a:rPr lang="en-US" sz="3200" dirty="0" err="1" smtClean="0"/>
              <a:t>tiêu</a:t>
            </a:r>
            <a:r>
              <a:rPr lang="en-US" sz="3200" dirty="0" smtClean="0"/>
              <a:t> </a:t>
            </a:r>
            <a:r>
              <a:rPr lang="en-US" sz="3200" dirty="0" err="1" smtClean="0"/>
              <a:t>chuẩn</a:t>
            </a:r>
            <a:r>
              <a:rPr lang="en-US" sz="3200" dirty="0" smtClean="0"/>
              <a:t> </a:t>
            </a:r>
            <a:r>
              <a:rPr lang="en-US" sz="3200" dirty="0" err="1" smtClean="0"/>
              <a:t>vàng</a:t>
            </a:r>
            <a:r>
              <a:rPr lang="en-US" sz="3200" dirty="0" smtClean="0"/>
              <a:t> </a:t>
            </a:r>
            <a:r>
              <a:rPr lang="en-US" sz="3200" dirty="0" err="1" smtClean="0"/>
              <a:t>trong</a:t>
            </a:r>
            <a:r>
              <a:rPr lang="en-US" sz="3200" dirty="0" smtClean="0"/>
              <a:t> </a:t>
            </a:r>
            <a:r>
              <a:rPr lang="en-US" sz="3200" dirty="0" err="1" smtClean="0"/>
              <a:t>chẩn</a:t>
            </a:r>
            <a:r>
              <a:rPr lang="en-US" sz="3200" dirty="0" smtClean="0"/>
              <a:t> </a:t>
            </a:r>
            <a:r>
              <a:rPr lang="en-US" sz="3200" dirty="0" err="1" smtClean="0"/>
              <a:t>đoán</a:t>
            </a:r>
            <a:r>
              <a:rPr lang="en-US" sz="3200" dirty="0" smtClean="0"/>
              <a:t> </a:t>
            </a:r>
            <a:r>
              <a:rPr lang="en-US" sz="3200" dirty="0" err="1" smtClean="0"/>
              <a:t>bệnh</a:t>
            </a:r>
            <a:r>
              <a:rPr lang="en-US" sz="3200" dirty="0" smtClean="0"/>
              <a:t> , </a:t>
            </a:r>
            <a:r>
              <a:rPr lang="en-US" sz="3200" dirty="0" err="1" smtClean="0"/>
              <a:t>ít</a:t>
            </a:r>
            <a:r>
              <a:rPr lang="en-US" sz="3200" dirty="0" smtClean="0"/>
              <a:t> </a:t>
            </a:r>
            <a:r>
              <a:rPr lang="en-US" sz="3200" dirty="0" err="1" smtClean="0"/>
              <a:t>nhất</a:t>
            </a:r>
            <a:r>
              <a:rPr lang="en-US" sz="3200" dirty="0" smtClean="0"/>
              <a:t> </a:t>
            </a:r>
            <a:r>
              <a:rPr lang="en-US" sz="3200" dirty="0" err="1" smtClean="0"/>
              <a:t>phải</a:t>
            </a:r>
            <a:r>
              <a:rPr lang="en-US" sz="3200" dirty="0" smtClean="0"/>
              <a:t> </a:t>
            </a:r>
            <a:r>
              <a:rPr lang="en-US" sz="3200" dirty="0" err="1" smtClean="0"/>
              <a:t>làm</a:t>
            </a:r>
            <a:r>
              <a:rPr lang="en-US" sz="3200" dirty="0" smtClean="0"/>
              <a:t> 2 </a:t>
            </a:r>
            <a:r>
              <a:rPr lang="en-US" sz="3200" dirty="0" err="1" smtClean="0"/>
              <a:t>lần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- </a:t>
            </a:r>
            <a:r>
              <a:rPr lang="en-US" sz="3200" dirty="0" err="1" smtClean="0"/>
              <a:t>Việc</a:t>
            </a:r>
            <a:r>
              <a:rPr lang="en-US" sz="3200" dirty="0" smtClean="0"/>
              <a:t> </a:t>
            </a:r>
            <a:r>
              <a:rPr lang="en-US" sz="3200" dirty="0" err="1" smtClean="0"/>
              <a:t>chẩn</a:t>
            </a:r>
            <a:r>
              <a:rPr lang="en-US" sz="3200" dirty="0" smtClean="0"/>
              <a:t> </a:t>
            </a:r>
            <a:r>
              <a:rPr lang="en-US" sz="3200" dirty="0" err="1" smtClean="0"/>
              <a:t>đoán</a:t>
            </a:r>
            <a:r>
              <a:rPr lang="en-US" sz="3200" dirty="0" smtClean="0"/>
              <a:t> </a:t>
            </a:r>
            <a:r>
              <a:rPr lang="en-US" sz="3200" dirty="0" err="1" smtClean="0"/>
              <a:t>còn</a:t>
            </a:r>
            <a:r>
              <a:rPr lang="en-US" sz="3200" dirty="0" smtClean="0"/>
              <a:t> </a:t>
            </a:r>
            <a:r>
              <a:rPr lang="en-US" sz="3200" dirty="0" err="1" smtClean="0"/>
              <a:t>phụ</a:t>
            </a:r>
            <a:r>
              <a:rPr lang="en-US" sz="3200" dirty="0" smtClean="0"/>
              <a:t> </a:t>
            </a:r>
            <a:r>
              <a:rPr lang="en-US" sz="3200" dirty="0" err="1" smtClean="0"/>
              <a:t>thuộc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đk</a:t>
            </a:r>
            <a:r>
              <a:rPr lang="en-US" sz="3200" dirty="0" smtClean="0"/>
              <a:t> </a:t>
            </a:r>
            <a:r>
              <a:rPr lang="en-US" sz="3200" dirty="0" err="1" smtClean="0"/>
              <a:t>cơ</a:t>
            </a:r>
            <a:r>
              <a:rPr lang="en-US" sz="3200" dirty="0" smtClean="0"/>
              <a:t> </a:t>
            </a:r>
            <a:r>
              <a:rPr lang="en-US" sz="3200" dirty="0" err="1" smtClean="0"/>
              <a:t>sở</a:t>
            </a:r>
            <a:r>
              <a:rPr lang="en-US" sz="3200" dirty="0" smtClean="0"/>
              <a:t> </a:t>
            </a:r>
            <a:r>
              <a:rPr lang="en-US" sz="3200" dirty="0" err="1" smtClean="0"/>
              <a:t>từng</a:t>
            </a:r>
            <a:r>
              <a:rPr lang="en-US" sz="3200" dirty="0" smtClean="0"/>
              <a:t> </a:t>
            </a:r>
            <a:r>
              <a:rPr lang="en-US" sz="3200" dirty="0" err="1" smtClean="0"/>
              <a:t>tuyến</a:t>
            </a:r>
            <a:r>
              <a:rPr lang="en-US" sz="3200" dirty="0" smtClean="0"/>
              <a:t> </a:t>
            </a:r>
            <a:r>
              <a:rPr lang="en-US" sz="3200" dirty="0" err="1" smtClean="0"/>
              <a:t>xã</a:t>
            </a:r>
            <a:r>
              <a:rPr lang="en-US" sz="3200" dirty="0" smtClean="0"/>
              <a:t>, </a:t>
            </a:r>
            <a:r>
              <a:rPr lang="en-US" sz="3200" dirty="0" err="1" smtClean="0"/>
              <a:t>huyện</a:t>
            </a:r>
            <a:r>
              <a:rPr lang="en-US" sz="3200" dirty="0" smtClean="0"/>
              <a:t>, </a:t>
            </a:r>
            <a:r>
              <a:rPr lang="en-US" sz="3200" dirty="0" err="1" smtClean="0"/>
              <a:t>tỉnh</a:t>
            </a:r>
            <a:r>
              <a:rPr lang="en-US" sz="3200" dirty="0" smtClean="0"/>
              <a:t>/ </a:t>
            </a:r>
            <a:r>
              <a:rPr lang="en-US" sz="3200" dirty="0" err="1" smtClean="0"/>
              <a:t>trung</a:t>
            </a:r>
            <a:r>
              <a:rPr lang="en-US" sz="3200" dirty="0" smtClean="0"/>
              <a:t> </a:t>
            </a:r>
            <a:r>
              <a:rPr lang="en-US" sz="3200" dirty="0" err="1" smtClean="0"/>
              <a:t>ương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48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533400"/>
            <a:ext cx="8229600" cy="17068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 smtClean="0">
                <a:solidFill>
                  <a:srgbClr val="00B0F0"/>
                </a:solidFill>
              </a:rPr>
              <a:t>Một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số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khuyến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cáo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trên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uptodate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giúp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chẩn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đoán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dựa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trên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bệnh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sử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và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cac</a:t>
            </a:r>
            <a:r>
              <a:rPr lang="en-US" sz="3200" dirty="0" smtClean="0">
                <a:solidFill>
                  <a:srgbClr val="00B0F0"/>
                </a:solidFill>
              </a:rPr>
              <a:t> TCLS </a:t>
            </a:r>
            <a:r>
              <a:rPr lang="en-US" sz="3200" dirty="0" err="1" smtClean="0">
                <a:solidFill>
                  <a:srgbClr val="00B0F0"/>
                </a:solidFill>
              </a:rPr>
              <a:t>trên</a:t>
            </a:r>
            <a:r>
              <a:rPr lang="en-US" sz="3200" dirty="0" smtClean="0">
                <a:solidFill>
                  <a:srgbClr val="00B0F0"/>
                </a:solidFill>
              </a:rPr>
              <a:t> 2 </a:t>
            </a:r>
            <a:r>
              <a:rPr lang="en-US" sz="3200" dirty="0" err="1" smtClean="0">
                <a:solidFill>
                  <a:srgbClr val="00B0F0"/>
                </a:solidFill>
              </a:rPr>
              <a:t>nhóm</a:t>
            </a:r>
            <a:r>
              <a:rPr lang="en-US" sz="3200" dirty="0" smtClean="0">
                <a:solidFill>
                  <a:srgbClr val="00B0F0"/>
                </a:solidFill>
              </a:rPr>
              <a:t> </a:t>
            </a:r>
            <a:r>
              <a:rPr lang="en-US" sz="3200" dirty="0" err="1" smtClean="0">
                <a:solidFill>
                  <a:srgbClr val="00B0F0"/>
                </a:solidFill>
              </a:rPr>
              <a:t>trẻ</a:t>
            </a:r>
            <a:r>
              <a:rPr lang="en-US" sz="3200" dirty="0" smtClean="0">
                <a:solidFill>
                  <a:srgbClr val="00B0F0"/>
                </a:solidFill>
              </a:rPr>
              <a:t>:</a:t>
            </a:r>
            <a:fld id="{2DC61415-1141-4850-B18A-F58FCB4104CC}" type="slidenum">
              <a:rPr lang="en-US" sz="3200" smtClean="0">
                <a:solidFill>
                  <a:srgbClr val="00B0F0"/>
                </a:solidFill>
              </a:rPr>
              <a:t>32</a:t>
            </a:fld>
            <a:endParaRPr lang="en-US" sz="32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9600" y="1524000"/>
                <a:ext cx="4038600" cy="51816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>
                    <a:solidFill>
                      <a:srgbClr val="00B0F0"/>
                    </a:solidFill>
                  </a:rPr>
                  <a:t>-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Trẻ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sơ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sinh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và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trẻ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nhỏ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hơn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2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tuổi</a:t>
                </a:r>
                <a:endParaRPr lang="en-US" sz="2400" b="1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err="1" smtClean="0"/>
                  <a:t>Có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tiền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bị</a:t>
                </a:r>
                <a:r>
                  <a:rPr lang="en-US" sz="2400" dirty="0" smtClean="0"/>
                  <a:t> NKTN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err="1" smtClean="0"/>
                  <a:t>Thân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nhiệt</a:t>
                </a:r>
                <a:r>
                  <a:rPr lang="en-US" sz="2400" dirty="0" smtClean="0"/>
                  <a:t> &gt;40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℃</m:t>
                    </m:r>
                  </m:oMath>
                </a14:m>
                <a:endParaRPr lang="en-US" sz="2400" dirty="0" smtClean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err="1" smtClean="0"/>
                  <a:t>Quấy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khóc</a:t>
                </a:r>
                <a:endParaRPr lang="en-US" sz="2400" dirty="0" smtClean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err="1" smtClean="0"/>
                  <a:t>Hẹp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bao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quy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endParaRPr lang="en-US" sz="2400" dirty="0" smtClean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err="1" smtClean="0"/>
                  <a:t>Sốt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kéo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dài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trên</a:t>
                </a:r>
                <a:r>
                  <a:rPr lang="en-US" sz="2400" dirty="0" smtClean="0"/>
                  <a:t> 24h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 err="1" smtClean="0"/>
                  <a:t>Trẻ</a:t>
                </a:r>
                <a:r>
                  <a:rPr lang="en-US" sz="2400" dirty="0" smtClean="0"/>
                  <a:t> &lt;2 </a:t>
                </a:r>
                <a:r>
                  <a:rPr lang="en-US" sz="2400" dirty="0" err="1" smtClean="0"/>
                  <a:t>tuổi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có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sốt</a:t>
                </a:r>
                <a:r>
                  <a:rPr lang="en-US" sz="2400" dirty="0" smtClean="0"/>
                  <a:t>  </a:t>
                </a:r>
                <a:r>
                  <a:rPr lang="en-US" sz="2400" dirty="0" err="1" smtClean="0"/>
                  <a:t>chẩn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đoán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khi</a:t>
                </a:r>
                <a:r>
                  <a:rPr lang="en-US" sz="2400" dirty="0" smtClean="0"/>
                  <a:t> 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err="1" smtClean="0"/>
                  <a:t>Thân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nhiệt</a:t>
                </a:r>
                <a:r>
                  <a:rPr lang="en-US" sz="2400" dirty="0" smtClean="0"/>
                  <a:t> &gt;39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℃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400" b="0" dirty="0" err="1" smtClean="0">
                    <a:ea typeface="Cambria Math"/>
                  </a:rPr>
                  <a:t>kéo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dài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≥48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không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có</a:t>
                </a:r>
                <a:r>
                  <a:rPr lang="en-US" sz="2400" b="0" dirty="0" smtClean="0">
                    <a:ea typeface="Cambria Math"/>
                  </a:rPr>
                  <a:t> ổ NK </a:t>
                </a:r>
                <a:r>
                  <a:rPr lang="en-US" sz="2400" b="0" dirty="0" err="1" smtClean="0">
                    <a:ea typeface="Cambria Math"/>
                  </a:rPr>
                  <a:t>khác</a:t>
                </a:r>
                <a:endParaRPr lang="en-US" sz="2400" b="0" dirty="0" smtClean="0">
                  <a:ea typeface="Cambria Math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400" dirty="0" smtClean="0">
                    <a:ea typeface="Cambria Math"/>
                  </a:rPr>
                  <a:t>&lt;39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℃</m:t>
                    </m:r>
                  </m:oMath>
                </a14:m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và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xuất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hiện</a:t>
                </a:r>
                <a:r>
                  <a:rPr lang="en-US" sz="2400" b="0" dirty="0" smtClean="0">
                    <a:ea typeface="Cambria Math"/>
                  </a:rPr>
                  <a:t> 1 </a:t>
                </a:r>
                <a:r>
                  <a:rPr lang="en-US" sz="2400" b="0" dirty="0" err="1" smtClean="0">
                    <a:ea typeface="Cambria Math"/>
                  </a:rPr>
                  <a:t>ooe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nhiễm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khuẩn</a:t>
                </a:r>
                <a:r>
                  <a:rPr lang="en-US" sz="2400" b="0" dirty="0" smtClean="0">
                    <a:ea typeface="Cambria Math"/>
                  </a:rPr>
                  <a:t> </a:t>
                </a:r>
                <a:r>
                  <a:rPr lang="en-US" sz="2400" b="0" dirty="0" err="1" smtClean="0">
                    <a:ea typeface="Cambria Math"/>
                  </a:rPr>
                  <a:t>khác</a:t>
                </a:r>
                <a:endParaRPr lang="en-US" sz="2400" b="0" dirty="0" smtClean="0">
                  <a:ea typeface="Cambria Math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24000"/>
                <a:ext cx="4038600" cy="5181600"/>
              </a:xfrm>
              <a:prstGeom prst="rect">
                <a:avLst/>
              </a:prstGeom>
              <a:blipFill rotWithShape="1">
                <a:blip r:embed="rId2"/>
                <a:stretch>
                  <a:fillRect l="-1649" t="-937" r="-3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800600" y="1524000"/>
            <a:ext cx="3657600" cy="518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 smtClean="0">
                <a:solidFill>
                  <a:schemeClr val="tx1"/>
                </a:solidFill>
              </a:rPr>
              <a:t>Trẻ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lớn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hơn</a:t>
            </a:r>
            <a:r>
              <a:rPr lang="en-US" sz="2400" b="1" dirty="0" smtClean="0">
                <a:solidFill>
                  <a:schemeClr val="tx1"/>
                </a:solidFill>
              </a:rPr>
              <a:t> TC </a:t>
            </a:r>
            <a:r>
              <a:rPr lang="en-US" sz="2400" b="1" dirty="0" err="1" smtClean="0">
                <a:solidFill>
                  <a:schemeClr val="tx1"/>
                </a:solidFill>
              </a:rPr>
              <a:t>gợi</a:t>
            </a:r>
            <a:r>
              <a:rPr lang="en-US" sz="2400" b="1" dirty="0" smtClean="0">
                <a:solidFill>
                  <a:schemeClr val="tx1"/>
                </a:solidFill>
              </a:rPr>
              <a:t> ý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Đau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bụng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Đau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thắt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lưng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Tiểu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buốt</a:t>
            </a:r>
            <a:r>
              <a:rPr lang="en-US" sz="2400" dirty="0" smtClean="0">
                <a:solidFill>
                  <a:schemeClr val="tx1"/>
                </a:solidFill>
              </a:rPr>
              <a:t> ( HC </a:t>
            </a:r>
            <a:r>
              <a:rPr lang="en-US" sz="2400" dirty="0" err="1" smtClean="0">
                <a:solidFill>
                  <a:schemeClr val="tx1"/>
                </a:solidFill>
              </a:rPr>
              <a:t>kích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thích</a:t>
            </a:r>
            <a:r>
              <a:rPr lang="en-US" sz="2400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Rối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loạn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tiểu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tiện</a:t>
            </a:r>
            <a:r>
              <a:rPr lang="en-US" sz="2400" dirty="0" smtClean="0">
                <a:solidFill>
                  <a:schemeClr val="tx1"/>
                </a:solidFill>
              </a:rPr>
              <a:t> ( HC </a:t>
            </a:r>
            <a:r>
              <a:rPr lang="en-US" sz="2400" dirty="0" err="1" smtClean="0">
                <a:solidFill>
                  <a:schemeClr val="tx1"/>
                </a:solidFill>
              </a:rPr>
              <a:t>tắc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nghẽn</a:t>
            </a:r>
            <a:r>
              <a:rPr lang="en-US" sz="2400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5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2.Chẩn </a:t>
            </a:r>
            <a:r>
              <a:rPr lang="en-US" dirty="0" err="1" smtClean="0"/>
              <a:t>đoán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92202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027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V.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b="1" dirty="0"/>
              <a:t>1.Nguyên </a:t>
            </a:r>
            <a:r>
              <a:rPr lang="en-US" sz="3200" b="1" dirty="0" err="1"/>
              <a:t>tắc</a:t>
            </a:r>
            <a:r>
              <a:rPr lang="en-US" sz="3200" b="1" dirty="0"/>
              <a:t> </a:t>
            </a:r>
            <a:r>
              <a:rPr lang="en-US" sz="3200" b="1" dirty="0" err="1"/>
              <a:t>điều</a:t>
            </a:r>
            <a:r>
              <a:rPr lang="en-US" sz="3200" b="1" dirty="0"/>
              <a:t> </a:t>
            </a:r>
            <a:r>
              <a:rPr lang="en-US" sz="3200" b="1" dirty="0" err="1"/>
              <a:t>trị</a:t>
            </a:r>
            <a:r>
              <a:rPr lang="en-US" sz="3200" b="1" dirty="0"/>
              <a:t> </a:t>
            </a:r>
            <a:endParaRPr lang="en-US" sz="3200" dirty="0"/>
          </a:p>
          <a:p>
            <a:r>
              <a:rPr lang="en-US" sz="3200" dirty="0" err="1"/>
              <a:t>Điều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triệt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nhiễm</a:t>
            </a:r>
            <a:r>
              <a:rPr lang="en-US" sz="3200" dirty="0"/>
              <a:t> </a:t>
            </a:r>
            <a:r>
              <a:rPr lang="en-US" sz="3200" dirty="0" err="1"/>
              <a:t>trùng</a:t>
            </a:r>
            <a:r>
              <a:rPr lang="en-US" sz="3200" dirty="0"/>
              <a:t> , </a:t>
            </a:r>
            <a:r>
              <a:rPr lang="en-US" sz="3200" dirty="0" err="1"/>
              <a:t>cải</a:t>
            </a:r>
            <a:r>
              <a:rPr lang="en-US" sz="3200" dirty="0"/>
              <a:t> </a:t>
            </a:r>
            <a:r>
              <a:rPr lang="en-US" sz="3200" dirty="0" err="1"/>
              <a:t>thiện</a:t>
            </a:r>
            <a:r>
              <a:rPr lang="en-US" sz="3200" dirty="0"/>
              <a:t> </a:t>
            </a:r>
            <a:r>
              <a:rPr lang="en-US" sz="3200" dirty="0" err="1"/>
              <a:t>triệu</a:t>
            </a:r>
            <a:r>
              <a:rPr lang="en-US" sz="3200" dirty="0"/>
              <a:t> </a:t>
            </a:r>
            <a:r>
              <a:rPr lang="en-US" sz="3200" dirty="0" err="1"/>
              <a:t>chứng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Phòng</a:t>
            </a:r>
            <a:r>
              <a:rPr lang="en-US" sz="3200" dirty="0"/>
              <a:t> </a:t>
            </a:r>
            <a:r>
              <a:rPr lang="en-US" sz="3200" dirty="0" err="1"/>
              <a:t>ngừa</a:t>
            </a:r>
            <a:r>
              <a:rPr lang="en-US" sz="3200" dirty="0"/>
              <a:t> </a:t>
            </a:r>
            <a:r>
              <a:rPr lang="en-US" sz="3200" dirty="0" err="1"/>
              <a:t>tạo</a:t>
            </a:r>
            <a:r>
              <a:rPr lang="en-US" sz="3200" dirty="0"/>
              <a:t> </a:t>
            </a:r>
            <a:r>
              <a:rPr lang="en-US" sz="3200" dirty="0" err="1"/>
              <a:t>thành</a:t>
            </a:r>
            <a:r>
              <a:rPr lang="en-US" sz="3200" dirty="0"/>
              <a:t> </a:t>
            </a:r>
            <a:r>
              <a:rPr lang="en-US" sz="3200" dirty="0" err="1"/>
              <a:t>sẹo</a:t>
            </a:r>
            <a:r>
              <a:rPr lang="en-US" sz="3200" dirty="0"/>
              <a:t> ở </a:t>
            </a:r>
            <a:r>
              <a:rPr lang="en-US" sz="3200" dirty="0" err="1"/>
              <a:t>nhu</a:t>
            </a:r>
            <a:r>
              <a:rPr lang="en-US" sz="3200" dirty="0"/>
              <a:t> </a:t>
            </a:r>
            <a:r>
              <a:rPr lang="en-US" sz="3200" dirty="0" err="1"/>
              <a:t>mô</a:t>
            </a:r>
            <a:r>
              <a:rPr lang="en-US" sz="3200" dirty="0"/>
              <a:t> </a:t>
            </a:r>
            <a:r>
              <a:rPr lang="en-US" sz="3200" dirty="0" err="1"/>
              <a:t>thận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Điều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phòng</a:t>
            </a:r>
            <a:r>
              <a:rPr lang="en-US" sz="3200" dirty="0"/>
              <a:t> </a:t>
            </a:r>
            <a:r>
              <a:rPr lang="en-US" sz="3200" dirty="0" err="1"/>
              <a:t>ngừa</a:t>
            </a:r>
            <a:r>
              <a:rPr lang="en-US" sz="3200" dirty="0"/>
              <a:t> NKTN </a:t>
            </a:r>
            <a:r>
              <a:rPr lang="en-US" sz="3200" dirty="0" err="1"/>
              <a:t>tái</a:t>
            </a:r>
            <a:r>
              <a:rPr lang="en-US" sz="3200" dirty="0"/>
              <a:t> </a:t>
            </a:r>
            <a:r>
              <a:rPr lang="en-US" sz="3200" dirty="0" err="1"/>
              <a:t>phát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Sửa</a:t>
            </a:r>
            <a:r>
              <a:rPr lang="en-US" sz="3200" dirty="0"/>
              <a:t> </a:t>
            </a:r>
            <a:r>
              <a:rPr lang="en-US" sz="3200" dirty="0" err="1"/>
              <a:t>chữa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tổn</a:t>
            </a:r>
            <a:r>
              <a:rPr lang="en-US" sz="3200" dirty="0"/>
              <a:t> </a:t>
            </a:r>
            <a:r>
              <a:rPr lang="en-US" sz="3200" dirty="0" err="1"/>
              <a:t>thương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bất</a:t>
            </a:r>
            <a:r>
              <a:rPr lang="en-US" sz="3200" dirty="0"/>
              <a:t> </a:t>
            </a:r>
            <a:r>
              <a:rPr lang="en-US" sz="3200" dirty="0" err="1"/>
              <a:t>thường</a:t>
            </a:r>
            <a:r>
              <a:rPr lang="en-US" sz="3200" dirty="0"/>
              <a:t> </a:t>
            </a:r>
            <a:r>
              <a:rPr lang="en-US" sz="3200" dirty="0" err="1"/>
              <a:t>đường</a:t>
            </a:r>
            <a:r>
              <a:rPr lang="en-US" sz="3200" dirty="0"/>
              <a:t> </a:t>
            </a:r>
            <a:r>
              <a:rPr lang="en-US" sz="3200" dirty="0" err="1"/>
              <a:t>tiết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</a:t>
            </a:r>
            <a:r>
              <a:rPr lang="en-US" sz="3200" dirty="0" err="1"/>
              <a:t>đi</a:t>
            </a:r>
            <a:r>
              <a:rPr lang="en-US" sz="3200" dirty="0"/>
              <a:t> </a:t>
            </a:r>
            <a:r>
              <a:rPr lang="en-US" sz="3200" dirty="0" err="1"/>
              <a:t>kèm</a:t>
            </a:r>
            <a:r>
              <a:rPr lang="en-US" sz="3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1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914400"/>
          </a:xfrm>
        </p:spPr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Autofit/>
          </a:bodyPr>
          <a:lstStyle/>
          <a:p>
            <a:r>
              <a:rPr lang="en-US"/>
              <a:t>Nên bắt đầu điều trị kháng sinh  ngay sau khi lấy mẫu nước tiểu đối với những trẻ có biểu hiện nghi ngờ  NKTN. Điều này càng có ý nghĩa hơn đối với những trẻ nguy cơ cao để lại sẹo thận nếu không điều trị kịp thời, bao gồm những trẻ:</a:t>
            </a:r>
          </a:p>
          <a:p>
            <a:pPr lvl="0"/>
            <a:r>
              <a:rPr lang="en-US" i="1"/>
              <a:t>Sốt (đặc biệt là sốt&gt;39°C hoặc kéo dài trên 48h)</a:t>
            </a:r>
            <a:endParaRPr lang="en-US"/>
          </a:p>
          <a:p>
            <a:pPr lvl="0"/>
            <a:r>
              <a:rPr lang="en-US" i="1"/>
              <a:t>Mệt mỏi</a:t>
            </a:r>
            <a:endParaRPr lang="en-US"/>
          </a:p>
          <a:p>
            <a:pPr lvl="0"/>
            <a:r>
              <a:rPr lang="en-US" i="1"/>
              <a:t>Đau góc sườn- sống</a:t>
            </a:r>
            <a:endParaRPr lang="en-US"/>
          </a:p>
          <a:p>
            <a:pPr lvl="0"/>
            <a:r>
              <a:rPr lang="en-US" i="1"/>
              <a:t>Suy giảm miễn dịch</a:t>
            </a:r>
            <a:endParaRPr lang="en-US"/>
          </a:p>
          <a:p>
            <a:r>
              <a:rPr lang="en-US" i="1"/>
              <a:t>Bất thường hệ tiết niệu</a:t>
            </a:r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381023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kháng sinh tại nhà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Sử dụng kháng sinh phổ biến amoxicillin, ampicillin, Ciprofloxacin, Cefuroxim… khuyến cáo dùng amoxicillin- axit clavulanic, cephalosporin 3.</a:t>
            </a:r>
          </a:p>
          <a:p>
            <a:r>
              <a:rPr lang="en-US"/>
              <a:t>Ưu  tiên dùng kháng sinh nhóm cephalosphorin với trẻ không có bất thường về sinh dục.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78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:</a:t>
            </a:r>
          </a:p>
          <a:p>
            <a:r>
              <a:rPr lang="en-US" dirty="0"/>
              <a:t>● </a:t>
            </a:r>
            <a:r>
              <a:rPr lang="en-US" dirty="0" err="1">
                <a:solidFill>
                  <a:srgbClr val="FF0000"/>
                </a:solidFill>
              </a:rPr>
              <a:t>Cefixime</a:t>
            </a:r>
            <a:r>
              <a:rPr lang="en-US" dirty="0"/>
              <a:t> (16 mg/kg </a:t>
            </a:r>
            <a:r>
              <a:rPr lang="en-US" dirty="0" err="1"/>
              <a:t>uống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8 mg/kg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)</a:t>
            </a:r>
          </a:p>
          <a:p>
            <a:r>
              <a:rPr lang="en-US" dirty="0"/>
              <a:t>● </a:t>
            </a:r>
            <a:r>
              <a:rPr lang="en-US" dirty="0" err="1">
                <a:solidFill>
                  <a:srgbClr val="FF0000"/>
                </a:solidFill>
              </a:rPr>
              <a:t>Cefdinir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(14 mg/kg/</a:t>
            </a:r>
            <a:r>
              <a:rPr lang="en-US" dirty="0" err="1"/>
              <a:t>ngày</a:t>
            </a:r>
            <a:r>
              <a:rPr lang="en-US" dirty="0"/>
              <a:t>)</a:t>
            </a:r>
          </a:p>
          <a:p>
            <a:r>
              <a:rPr lang="en-US" dirty="0"/>
              <a:t>● </a:t>
            </a:r>
            <a:r>
              <a:rPr lang="en-US" dirty="0" err="1">
                <a:solidFill>
                  <a:srgbClr val="FF0000"/>
                </a:solidFill>
              </a:rPr>
              <a:t>Ceftibuten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(9 mg/kg/</a:t>
            </a:r>
            <a:r>
              <a:rPr lang="en-US" dirty="0" err="1"/>
              <a:t>ngày</a:t>
            </a:r>
            <a:r>
              <a:rPr lang="en-US" dirty="0"/>
              <a:t>)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cephalosporin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cefpodoxime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(10 mg / kg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)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cephalexin</a:t>
            </a:r>
            <a:r>
              <a:rPr lang="en-US" dirty="0"/>
              <a:t> (50 </a:t>
            </a:r>
            <a:r>
              <a:rPr lang="en-US" dirty="0" err="1"/>
              <a:t>đến</a:t>
            </a:r>
            <a:r>
              <a:rPr lang="en-US" dirty="0"/>
              <a:t> 100 mg / kg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 chia 3 </a:t>
            </a:r>
            <a:r>
              <a:rPr lang="en-US" dirty="0" err="1"/>
              <a:t>lần</a:t>
            </a:r>
            <a:r>
              <a:rPr lang="en-US" dirty="0"/>
              <a:t>)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852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Amoxicillin-</a:t>
            </a:r>
            <a:r>
              <a:rPr lang="en-US" dirty="0" err="1"/>
              <a:t>clavulanate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 (50 mg / kg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smtClean="0"/>
              <a:t>3 </a:t>
            </a:r>
            <a:r>
              <a:rPr lang="en-US" dirty="0" err="1"/>
              <a:t>lần</a:t>
            </a:r>
            <a:r>
              <a:rPr lang="en-US" dirty="0"/>
              <a:t>)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minh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amoxicillin </a:t>
            </a:r>
            <a:r>
              <a:rPr lang="en-US" dirty="0" err="1"/>
              <a:t>và</a:t>
            </a:r>
            <a:r>
              <a:rPr lang="en-US" dirty="0"/>
              <a:t> ampicillin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 smtClean="0"/>
              <a:t>kháng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E</a:t>
            </a:r>
            <a:r>
              <a:rPr lang="en-US" dirty="0"/>
              <a:t>. coli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84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Ở </a:t>
            </a:r>
            <a:r>
              <a:rPr lang="en-US" dirty="0" err="1"/>
              <a:t>trẻ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dị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ứng</a:t>
            </a:r>
            <a:r>
              <a:rPr lang="en-US" dirty="0">
                <a:solidFill>
                  <a:srgbClr val="FF0000"/>
                </a:solidFill>
              </a:rPr>
              <a:t> penicillin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cephalosporin</a:t>
            </a:r>
            <a:r>
              <a:rPr lang="en-US" dirty="0"/>
              <a:t>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TMP-SMX, </a:t>
            </a:r>
            <a:r>
              <a:rPr lang="en-US" dirty="0" err="1">
                <a:solidFill>
                  <a:srgbClr val="FF0000"/>
                </a:solidFill>
              </a:rPr>
              <a:t>hoặc</a:t>
            </a:r>
            <a:r>
              <a:rPr lang="en-US" dirty="0">
                <a:solidFill>
                  <a:srgbClr val="FF0000"/>
                </a:solidFill>
              </a:rPr>
              <a:t> ciprofloxacin</a:t>
            </a:r>
            <a:r>
              <a:rPr lang="en-US" dirty="0"/>
              <a:t>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quinolon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kĩ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thuốc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575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5-7 </a:t>
            </a:r>
            <a:r>
              <a:rPr lang="en-US" dirty="0" err="1"/>
              <a:t>ngày</a:t>
            </a:r>
            <a:r>
              <a:rPr lang="en-US" dirty="0"/>
              <a:t>.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, </a:t>
            </a:r>
            <a:r>
              <a:rPr lang="en-US" dirty="0" err="1"/>
              <a:t>đau</a:t>
            </a:r>
            <a:r>
              <a:rPr lang="en-US" dirty="0"/>
              <a:t> </a:t>
            </a:r>
            <a:r>
              <a:rPr lang="en-US" dirty="0" err="1"/>
              <a:t>rát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trẻ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. 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 KS </a:t>
            </a:r>
            <a:r>
              <a:rPr lang="en-US" dirty="0" err="1"/>
              <a:t>trong</a:t>
            </a:r>
            <a:r>
              <a:rPr lang="en-US" dirty="0"/>
              <a:t> 3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trẻ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,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khuẩn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ngừng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40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2.2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i="1" dirty="0" smtClean="0"/>
              <a:t>*</a:t>
            </a:r>
            <a:r>
              <a:rPr lang="en-US" sz="2800" b="1" dirty="0" err="1"/>
              <a:t>Chỉ</a:t>
            </a:r>
            <a:r>
              <a:rPr lang="en-US" sz="2800" b="1" dirty="0"/>
              <a:t> </a:t>
            </a:r>
            <a:r>
              <a:rPr lang="en-US" sz="2800" b="1" dirty="0" err="1"/>
              <a:t>định</a:t>
            </a:r>
            <a:r>
              <a:rPr lang="en-US" sz="2800" b="1" dirty="0"/>
              <a:t> </a:t>
            </a:r>
            <a:r>
              <a:rPr lang="en-US" sz="2800" b="1" dirty="0" err="1"/>
              <a:t>nhập</a:t>
            </a:r>
            <a:r>
              <a:rPr lang="en-US" sz="2800" b="1" dirty="0"/>
              <a:t> </a:t>
            </a:r>
            <a:r>
              <a:rPr lang="en-US" sz="2800" b="1" dirty="0" err="1"/>
              <a:t>viện</a:t>
            </a:r>
            <a:r>
              <a:rPr lang="en-US" sz="2800" b="1" dirty="0"/>
              <a:t> </a:t>
            </a:r>
            <a:r>
              <a:rPr lang="en-US" sz="2800" b="1" dirty="0" err="1"/>
              <a:t>đối</a:t>
            </a:r>
            <a:r>
              <a:rPr lang="en-US" sz="2800" b="1" dirty="0"/>
              <a:t> </a:t>
            </a:r>
            <a:r>
              <a:rPr lang="en-US" sz="2800" b="1" dirty="0" err="1"/>
              <a:t>với</a:t>
            </a:r>
            <a:r>
              <a:rPr lang="en-US" sz="2800" b="1" dirty="0"/>
              <a:t> </a:t>
            </a: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 smtClean="0"/>
              <a:t>trường</a:t>
            </a:r>
            <a:r>
              <a:rPr lang="en-US" sz="2800" b="1" dirty="0" smtClean="0"/>
              <a:t> </a:t>
            </a:r>
            <a:r>
              <a:rPr lang="en-US" sz="2800" b="1" dirty="0" err="1"/>
              <a:t>hợp</a:t>
            </a:r>
            <a:endParaRPr lang="en-US" sz="2800" b="1" dirty="0"/>
          </a:p>
          <a:p>
            <a:pPr lvl="0"/>
            <a:r>
              <a:rPr lang="en-US" sz="2800" dirty="0" err="1"/>
              <a:t>Tuổi</a:t>
            </a:r>
            <a:r>
              <a:rPr lang="en-US" sz="2800" dirty="0"/>
              <a:t> &lt;2 </a:t>
            </a:r>
            <a:r>
              <a:rPr lang="en-US" sz="2800" dirty="0" err="1"/>
              <a:t>tháng</a:t>
            </a:r>
            <a:endParaRPr lang="en-US" sz="2800" dirty="0"/>
          </a:p>
          <a:p>
            <a:pPr lvl="0"/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hiệu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nhiễm</a:t>
            </a:r>
            <a:r>
              <a:rPr lang="en-US" sz="2800" dirty="0"/>
              <a:t> </a:t>
            </a:r>
            <a:r>
              <a:rPr lang="en-US" sz="2800" dirty="0" err="1"/>
              <a:t>khuẩn</a:t>
            </a:r>
            <a:r>
              <a:rPr lang="en-US" sz="2800" dirty="0"/>
              <a:t> </a:t>
            </a:r>
            <a:r>
              <a:rPr lang="en-US" sz="2800" dirty="0" err="1"/>
              <a:t>huyết</a:t>
            </a:r>
            <a:r>
              <a:rPr lang="en-US" sz="2800" dirty="0"/>
              <a:t> (</a:t>
            </a: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hội</a:t>
            </a:r>
            <a:r>
              <a:rPr lang="en-US" sz="2800" dirty="0"/>
              <a:t> </a:t>
            </a:r>
            <a:r>
              <a:rPr lang="en-US" sz="2800" dirty="0" err="1"/>
              <a:t>chứng</a:t>
            </a:r>
            <a:r>
              <a:rPr lang="en-US" sz="2800" dirty="0"/>
              <a:t> </a:t>
            </a:r>
            <a:r>
              <a:rPr lang="en-US" sz="2800" dirty="0" err="1"/>
              <a:t>nhiễm</a:t>
            </a:r>
            <a:r>
              <a:rPr lang="en-US" sz="2800" dirty="0"/>
              <a:t> </a:t>
            </a:r>
            <a:r>
              <a:rPr lang="en-US" sz="2800" dirty="0" err="1"/>
              <a:t>đôc</a:t>
            </a:r>
            <a:r>
              <a:rPr lang="en-US" sz="2800" dirty="0"/>
              <a:t>, </a:t>
            </a:r>
            <a:r>
              <a:rPr lang="en-US" sz="2800" dirty="0" err="1"/>
              <a:t>hạ</a:t>
            </a:r>
            <a:r>
              <a:rPr lang="en-US" sz="2800" dirty="0"/>
              <a:t> </a:t>
            </a:r>
            <a:r>
              <a:rPr lang="en-US" sz="2800" dirty="0" err="1"/>
              <a:t>huyết</a:t>
            </a:r>
            <a:r>
              <a:rPr lang="en-US" sz="2800" dirty="0"/>
              <a:t> </a:t>
            </a:r>
            <a:r>
              <a:rPr lang="en-US" sz="2800" dirty="0" err="1"/>
              <a:t>áp</a:t>
            </a:r>
            <a:r>
              <a:rPr lang="en-US" sz="2800" dirty="0"/>
              <a:t>, </a:t>
            </a:r>
            <a:r>
              <a:rPr lang="en-US" sz="2800" dirty="0" err="1"/>
              <a:t>đổ</a:t>
            </a:r>
            <a:r>
              <a:rPr lang="en-US" sz="2800" dirty="0"/>
              <a:t> </a:t>
            </a:r>
            <a:r>
              <a:rPr lang="en-US" sz="2800" dirty="0" err="1"/>
              <a:t>đầy</a:t>
            </a:r>
            <a:r>
              <a:rPr lang="en-US" sz="2800" dirty="0"/>
              <a:t> </a:t>
            </a:r>
            <a:r>
              <a:rPr lang="en-US" sz="2800" dirty="0" err="1"/>
              <a:t>mao</a:t>
            </a:r>
            <a:r>
              <a:rPr lang="en-US" sz="2800" dirty="0"/>
              <a:t> </a:t>
            </a: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kém</a:t>
            </a:r>
            <a:r>
              <a:rPr lang="en-US" sz="2800" dirty="0"/>
              <a:t>..)</a:t>
            </a:r>
          </a:p>
          <a:p>
            <a:pPr lvl="0"/>
            <a:r>
              <a:rPr lang="en-US" sz="2800" dirty="0"/>
              <a:t> </a:t>
            </a:r>
            <a:r>
              <a:rPr lang="en-US" sz="2800" dirty="0" err="1"/>
              <a:t>Bệnh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suy</a:t>
            </a:r>
            <a:r>
              <a:rPr lang="en-US" sz="2800" dirty="0"/>
              <a:t> </a:t>
            </a:r>
            <a:r>
              <a:rPr lang="en-US" sz="2800" dirty="0" err="1"/>
              <a:t>giảm</a:t>
            </a:r>
            <a:r>
              <a:rPr lang="en-US" sz="2800" dirty="0"/>
              <a:t> </a:t>
            </a:r>
            <a:r>
              <a:rPr lang="en-US" sz="2800" dirty="0" err="1"/>
              <a:t>miễn</a:t>
            </a:r>
            <a:r>
              <a:rPr lang="en-US" sz="2800" dirty="0"/>
              <a:t> </a:t>
            </a:r>
            <a:r>
              <a:rPr lang="en-US" sz="2800" dirty="0" err="1"/>
              <a:t>dịch</a:t>
            </a:r>
            <a:endParaRPr lang="en-US" sz="2800" dirty="0"/>
          </a:p>
          <a:p>
            <a:pPr lvl="0"/>
            <a:r>
              <a:rPr lang="en-US" sz="2800" dirty="0"/>
              <a:t> </a:t>
            </a:r>
            <a:r>
              <a:rPr lang="en-US" sz="2800" dirty="0" err="1"/>
              <a:t>Nôn</a:t>
            </a:r>
            <a:r>
              <a:rPr lang="en-US" sz="2800" dirty="0"/>
              <a:t> </a:t>
            </a:r>
            <a:r>
              <a:rPr lang="en-US" sz="2800" dirty="0" err="1"/>
              <a:t>mửa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khả</a:t>
            </a:r>
            <a:r>
              <a:rPr lang="en-US" sz="2800" dirty="0"/>
              <a:t> </a:t>
            </a:r>
            <a:r>
              <a:rPr lang="en-US" sz="2800" dirty="0" err="1"/>
              <a:t>năng</a:t>
            </a:r>
            <a:r>
              <a:rPr lang="en-US" sz="2800" dirty="0"/>
              <a:t> </a:t>
            </a:r>
            <a:r>
              <a:rPr lang="en-US" sz="2800" dirty="0" err="1"/>
              <a:t>chịu</a:t>
            </a:r>
            <a:r>
              <a:rPr lang="en-US" sz="2800" dirty="0"/>
              <a:t> </a:t>
            </a:r>
            <a:r>
              <a:rPr lang="en-US" sz="2800" dirty="0" err="1"/>
              <a:t>đựng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thuốc</a:t>
            </a:r>
            <a:r>
              <a:rPr lang="en-US" sz="2800" dirty="0"/>
              <a:t> </a:t>
            </a:r>
            <a:r>
              <a:rPr lang="en-US" sz="2800" dirty="0" err="1"/>
              <a:t>uống</a:t>
            </a:r>
            <a:endParaRPr lang="en-US" sz="2800" dirty="0"/>
          </a:p>
          <a:p>
            <a:pPr lvl="0"/>
            <a:r>
              <a:rPr lang="en-US" sz="2800" dirty="0"/>
              <a:t> </a:t>
            </a:r>
            <a:r>
              <a:rPr lang="en-US" sz="2800" dirty="0" err="1"/>
              <a:t>Khó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dõi</a:t>
            </a:r>
            <a:r>
              <a:rPr lang="en-US" sz="2800" dirty="0"/>
              <a:t> </a:t>
            </a:r>
            <a:r>
              <a:rPr lang="en-US" sz="2800" dirty="0" err="1"/>
              <a:t>bệnh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ngoại</a:t>
            </a:r>
            <a:r>
              <a:rPr lang="en-US" sz="2800" dirty="0"/>
              <a:t> </a:t>
            </a:r>
            <a:r>
              <a:rPr lang="en-US" sz="2800" dirty="0" err="1"/>
              <a:t>trú</a:t>
            </a:r>
            <a:r>
              <a:rPr lang="en-US" sz="2800" dirty="0"/>
              <a:t> </a:t>
            </a:r>
            <a:r>
              <a:rPr lang="en-US" sz="2800" dirty="0" err="1"/>
              <a:t>đầy</a:t>
            </a:r>
            <a:r>
              <a:rPr lang="en-US" sz="2800" dirty="0"/>
              <a:t> </a:t>
            </a:r>
            <a:r>
              <a:rPr lang="en-US" sz="2800" dirty="0" err="1"/>
              <a:t>đủ</a:t>
            </a:r>
            <a:r>
              <a:rPr lang="en-US" sz="2800" dirty="0"/>
              <a:t> (</a:t>
            </a: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,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điện</a:t>
            </a:r>
            <a:r>
              <a:rPr lang="en-US" sz="2800" dirty="0"/>
              <a:t> </a:t>
            </a:r>
            <a:r>
              <a:rPr lang="en-US" sz="2800" dirty="0" err="1"/>
              <a:t>thoại</a:t>
            </a:r>
            <a:r>
              <a:rPr lang="en-US" sz="2800" dirty="0"/>
              <a:t>, </a:t>
            </a:r>
            <a:r>
              <a:rPr lang="en-US" sz="2800" dirty="0" err="1"/>
              <a:t>sống</a:t>
            </a:r>
            <a:r>
              <a:rPr lang="en-US" sz="2800" dirty="0"/>
              <a:t> </a:t>
            </a:r>
            <a:r>
              <a:rPr lang="en-US" sz="2800" dirty="0" err="1"/>
              <a:t>xa</a:t>
            </a:r>
            <a:r>
              <a:rPr lang="en-US" sz="2800" dirty="0"/>
              <a:t> </a:t>
            </a:r>
            <a:r>
              <a:rPr lang="en-US" sz="2800" dirty="0" err="1"/>
              <a:t>bệnh</a:t>
            </a:r>
            <a:r>
              <a:rPr lang="en-US" sz="2800" dirty="0"/>
              <a:t> </a:t>
            </a:r>
            <a:r>
              <a:rPr lang="en-US" sz="2800" dirty="0" err="1"/>
              <a:t>viện</a:t>
            </a:r>
            <a:r>
              <a:rPr lang="en-US" sz="2800" dirty="0"/>
              <a:t>)</a:t>
            </a:r>
          </a:p>
          <a:p>
            <a:pPr lvl="0"/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đáp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pháp</a:t>
            </a:r>
            <a:r>
              <a:rPr lang="en-US" sz="2800" dirty="0"/>
              <a:t> </a:t>
            </a:r>
            <a:r>
              <a:rPr lang="en-US" sz="2800" dirty="0" err="1"/>
              <a:t>ngoại</a:t>
            </a:r>
            <a:r>
              <a:rPr lang="en-US" sz="2800" dirty="0"/>
              <a:t> </a:t>
            </a:r>
            <a:r>
              <a:rPr lang="en-US" sz="2800" dirty="0" err="1"/>
              <a:t>trú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826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Bù dịch bằng đường uống hoặc tiêm truyền, thường tăng gấp 1,5 lần nhu cầu sinh lý theo lứa tuổi.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132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Dùng một loại kháng sinh cephalosporin thế hệ 3: ceftriaxone 75mg/kg/ngày tiêm TM hoặc TB, 1-2 lần/ngày hoặc cefotaxin 150mg/kg/ngày, TM/TB 3-4 lần/ngày hoặc ceftazidin 100mg/kg/ngày, TB/TM 3-4 lần/ngày.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67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458200" cy="438912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nghi</a:t>
            </a:r>
            <a:r>
              <a:rPr lang="en-US" dirty="0"/>
              <a:t> </a:t>
            </a:r>
            <a:r>
              <a:rPr lang="en-US" dirty="0" err="1"/>
              <a:t>ngờ</a:t>
            </a:r>
            <a:r>
              <a:rPr lang="en-US" dirty="0"/>
              <a:t> do pseudomonas </a:t>
            </a:r>
            <a:r>
              <a:rPr lang="en-US" dirty="0" err="1"/>
              <a:t>aeroginosa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penicillin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aminosid</a:t>
            </a:r>
            <a:r>
              <a:rPr lang="en-US" dirty="0"/>
              <a:t>. </a:t>
            </a:r>
            <a:r>
              <a:rPr lang="en-US" dirty="0" err="1"/>
              <a:t>Ampicilin,amoxicillin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gentamycin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netilmycin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liều</a:t>
            </a:r>
            <a:r>
              <a:rPr lang="en-US" dirty="0"/>
              <a:t> </a:t>
            </a:r>
            <a:r>
              <a:rPr lang="en-US" dirty="0" smtClean="0"/>
              <a:t>:</a:t>
            </a:r>
            <a:endParaRPr lang="en-US" dirty="0"/>
          </a:p>
          <a:p>
            <a:pPr lvl="0"/>
            <a:r>
              <a:rPr lang="en-US" dirty="0">
                <a:solidFill>
                  <a:srgbClr val="FF0000"/>
                </a:solidFill>
              </a:rPr>
              <a:t>Ampicillin</a:t>
            </a:r>
            <a:r>
              <a:rPr lang="en-US" dirty="0"/>
              <a:t> 50-100 mg/kg/</a:t>
            </a:r>
            <a:r>
              <a:rPr lang="en-US" dirty="0" err="1"/>
              <a:t>ngày</a:t>
            </a:r>
            <a:r>
              <a:rPr lang="en-US" dirty="0"/>
              <a:t> chia 3 </a:t>
            </a:r>
            <a:r>
              <a:rPr lang="en-US" dirty="0" err="1"/>
              <a:t>lần</a:t>
            </a:r>
            <a:r>
              <a:rPr lang="en-US" dirty="0"/>
              <a:t> ,TB/TM</a:t>
            </a:r>
          </a:p>
          <a:p>
            <a:pPr lvl="0"/>
            <a:r>
              <a:rPr lang="en-US" dirty="0" err="1">
                <a:solidFill>
                  <a:srgbClr val="FF0000"/>
                </a:solidFill>
              </a:rPr>
              <a:t>Amocilin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30-50mg/kg/</a:t>
            </a:r>
            <a:r>
              <a:rPr lang="en-US" dirty="0" err="1"/>
              <a:t>ngày</a:t>
            </a:r>
            <a:r>
              <a:rPr lang="en-US" dirty="0"/>
              <a:t> chia 3 </a:t>
            </a:r>
            <a:r>
              <a:rPr lang="en-US" dirty="0" err="1"/>
              <a:t>lần,TM</a:t>
            </a:r>
            <a:r>
              <a:rPr lang="en-US" dirty="0"/>
              <a:t>/TB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Gentamycin</a:t>
            </a:r>
            <a:r>
              <a:rPr lang="en-US" dirty="0"/>
              <a:t> 5-7mg/kg/</a:t>
            </a:r>
            <a:r>
              <a:rPr lang="en-US" dirty="0" err="1"/>
              <a:t>ngày</a:t>
            </a:r>
            <a:r>
              <a:rPr lang="en-US" dirty="0"/>
              <a:t> 1-2 </a:t>
            </a:r>
            <a:r>
              <a:rPr lang="en-US" dirty="0" err="1"/>
              <a:t>lần</a:t>
            </a:r>
            <a:r>
              <a:rPr lang="en-US" dirty="0"/>
              <a:t> , TM/TB</a:t>
            </a:r>
          </a:p>
          <a:p>
            <a:pPr lvl="0"/>
            <a:r>
              <a:rPr lang="en-US" dirty="0" err="1">
                <a:solidFill>
                  <a:srgbClr val="FF0000"/>
                </a:solidFill>
              </a:rPr>
              <a:t>Netilmycin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5-6mg/kg/</a:t>
            </a:r>
            <a:r>
              <a:rPr lang="en-US" dirty="0" err="1"/>
              <a:t>ngày</a:t>
            </a:r>
            <a:r>
              <a:rPr lang="en-US" dirty="0"/>
              <a:t> chia 2 </a:t>
            </a:r>
            <a:r>
              <a:rPr lang="en-US" dirty="0" err="1"/>
              <a:t>lần</a:t>
            </a:r>
            <a:r>
              <a:rPr lang="en-US" dirty="0"/>
              <a:t> , TM/TB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385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Thời gian điều trị trung bình 10-14 ngày đối với thể không biến chứng và 4-6 tuần với thể có biến chứng.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72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Chú</a:t>
            </a:r>
            <a:r>
              <a:rPr lang="en-US" dirty="0" smtClean="0"/>
              <a:t> 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3200" dirty="0" err="1"/>
              <a:t>Nếu</a:t>
            </a:r>
            <a:r>
              <a:rPr lang="en-US" sz="3200" dirty="0"/>
              <a:t> </a:t>
            </a:r>
            <a:r>
              <a:rPr lang="en-US" sz="3200" dirty="0" err="1"/>
              <a:t>dị</a:t>
            </a:r>
            <a:r>
              <a:rPr lang="en-US" sz="3200" dirty="0"/>
              <a:t> </a:t>
            </a:r>
            <a:r>
              <a:rPr lang="en-US" sz="3200" dirty="0" err="1"/>
              <a:t>ứng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cephalosporin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thể</a:t>
            </a:r>
            <a:r>
              <a:rPr lang="en-US" sz="3200" dirty="0"/>
              <a:t> </a:t>
            </a:r>
            <a:r>
              <a:rPr lang="en-US" sz="3200" dirty="0" err="1"/>
              <a:t>lựa</a:t>
            </a:r>
            <a:r>
              <a:rPr lang="en-US" sz="3200" dirty="0"/>
              <a:t> </a:t>
            </a: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Aztreonam</a:t>
            </a:r>
            <a:r>
              <a:rPr lang="en-US" sz="3200" dirty="0"/>
              <a:t> hay </a:t>
            </a:r>
            <a:r>
              <a:rPr lang="en-US" sz="3200" dirty="0" err="1"/>
              <a:t>Aminoside</a:t>
            </a:r>
            <a:r>
              <a:rPr lang="en-US" sz="3200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 </a:t>
            </a:r>
            <a:r>
              <a:rPr lang="en-US" sz="3200" dirty="0"/>
              <a:t>Ở </a:t>
            </a:r>
            <a:r>
              <a:rPr lang="en-US" sz="3200" dirty="0" err="1"/>
              <a:t>trẻ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tránh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chloramphenicol, </a:t>
            </a:r>
            <a:r>
              <a:rPr lang="en-US" sz="3200" dirty="0" err="1"/>
              <a:t>sulphamides</a:t>
            </a:r>
            <a:r>
              <a:rPr lang="en-US" sz="3200" dirty="0"/>
              <a:t>, </a:t>
            </a:r>
            <a:r>
              <a:rPr lang="en-US" sz="3200" dirty="0" err="1"/>
              <a:t>tetracyclin</a:t>
            </a:r>
            <a:r>
              <a:rPr lang="en-US" sz="3200" dirty="0"/>
              <a:t>, rifampicin, Amphotericin B. </a:t>
            </a:r>
            <a:r>
              <a:rPr lang="en-US" sz="3200" dirty="0" err="1"/>
              <a:t>Tránh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Cetriaxone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nguy</a:t>
            </a:r>
            <a:r>
              <a:rPr lang="en-US" sz="3200" dirty="0"/>
              <a:t> </a:t>
            </a:r>
            <a:r>
              <a:rPr lang="en-US" sz="3200" dirty="0" err="1"/>
              <a:t>cơ</a:t>
            </a:r>
            <a:r>
              <a:rPr lang="en-US" sz="3200" dirty="0"/>
              <a:t> </a:t>
            </a:r>
            <a:r>
              <a:rPr lang="en-US" sz="3200" dirty="0" err="1"/>
              <a:t>gây</a:t>
            </a:r>
            <a:r>
              <a:rPr lang="en-US" sz="3200" dirty="0"/>
              <a:t> </a:t>
            </a:r>
            <a:r>
              <a:rPr lang="en-US" sz="3200" dirty="0" err="1"/>
              <a:t>vàng</a:t>
            </a:r>
            <a:r>
              <a:rPr lang="en-US" sz="3200" dirty="0"/>
              <a:t> da</a:t>
            </a:r>
          </a:p>
        </p:txBody>
      </p:sp>
    </p:spTree>
    <p:extLst>
      <p:ext uri="{BB962C8B-B14F-4D97-AF65-F5344CB8AC3E}">
        <p14:creationId xmlns:p14="http://schemas.microsoft.com/office/powerpoint/2010/main" val="53050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3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3200" dirty="0" smtClean="0"/>
              <a:t> </a:t>
            </a:r>
            <a:r>
              <a:rPr lang="en-US" sz="3200" dirty="0" err="1"/>
              <a:t>đối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</a:t>
            </a:r>
            <a:r>
              <a:rPr lang="en-US" sz="3200" dirty="0" err="1"/>
              <a:t>nhiễm</a:t>
            </a:r>
            <a:r>
              <a:rPr lang="en-US" sz="3200" dirty="0"/>
              <a:t> </a:t>
            </a:r>
            <a:r>
              <a:rPr lang="en-US" sz="3200" dirty="0" err="1"/>
              <a:t>khuẩn</a:t>
            </a:r>
            <a:r>
              <a:rPr lang="en-US" sz="3200" dirty="0"/>
              <a:t> </a:t>
            </a:r>
            <a:r>
              <a:rPr lang="en-US" sz="3200" dirty="0" err="1"/>
              <a:t>tiết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</a:t>
            </a:r>
            <a:r>
              <a:rPr lang="en-US" sz="3200" dirty="0" err="1"/>
              <a:t>không</a:t>
            </a:r>
            <a:r>
              <a:rPr lang="en-US" sz="3200" dirty="0"/>
              <a:t> </a:t>
            </a:r>
            <a:r>
              <a:rPr lang="en-US" sz="3200" dirty="0" err="1"/>
              <a:t>triệu</a:t>
            </a:r>
            <a:r>
              <a:rPr lang="en-US" sz="3200" dirty="0"/>
              <a:t> </a:t>
            </a:r>
            <a:r>
              <a:rPr lang="en-US" sz="3200" dirty="0" err="1"/>
              <a:t>chứng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làm</a:t>
            </a:r>
            <a:r>
              <a:rPr lang="en-US" sz="3200" dirty="0"/>
              <a:t> </a:t>
            </a:r>
            <a:r>
              <a:rPr lang="en-US" sz="3200" dirty="0" err="1"/>
              <a:t>xét</a:t>
            </a:r>
            <a:r>
              <a:rPr lang="en-US" sz="3200" dirty="0"/>
              <a:t> </a:t>
            </a:r>
            <a:r>
              <a:rPr lang="en-US" sz="3200" dirty="0" err="1"/>
              <a:t>nghiệm</a:t>
            </a:r>
            <a:r>
              <a:rPr lang="en-US" sz="3200" dirty="0"/>
              <a:t> </a:t>
            </a:r>
            <a:r>
              <a:rPr lang="en-US" sz="3200" dirty="0" err="1"/>
              <a:t>nước</a:t>
            </a:r>
            <a:r>
              <a:rPr lang="en-US" sz="3200" dirty="0"/>
              <a:t> </a:t>
            </a:r>
            <a:r>
              <a:rPr lang="en-US" sz="3200" dirty="0" err="1"/>
              <a:t>tiểu</a:t>
            </a:r>
            <a:r>
              <a:rPr lang="en-US" sz="3200" dirty="0"/>
              <a:t> </a:t>
            </a:r>
            <a:r>
              <a:rPr lang="en-US" sz="3200" dirty="0" err="1"/>
              <a:t>nhiều</a:t>
            </a:r>
            <a:r>
              <a:rPr lang="en-US" sz="3200" dirty="0"/>
              <a:t> </a:t>
            </a:r>
            <a:r>
              <a:rPr lang="en-US" sz="3200" dirty="0" err="1" smtClean="0"/>
              <a:t>lần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/>
              <a:t>phát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bệnh</a:t>
            </a:r>
            <a:r>
              <a:rPr lang="en-US" sz="3200" dirty="0"/>
              <a:t> </a:t>
            </a:r>
            <a:r>
              <a:rPr lang="en-US" sz="3200" dirty="0" err="1"/>
              <a:t>tiết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</a:t>
            </a:r>
            <a:r>
              <a:rPr lang="en-US" sz="3200" dirty="0" err="1"/>
              <a:t>kèm</a:t>
            </a:r>
            <a:r>
              <a:rPr lang="en-US" sz="3200" dirty="0"/>
              <a:t> </a:t>
            </a:r>
            <a:r>
              <a:rPr lang="en-US" sz="3200" dirty="0" err="1"/>
              <a:t>theo.</a:t>
            </a:r>
            <a:r>
              <a:rPr lang="en-US" sz="3200" dirty="0"/>
              <a:t> </a:t>
            </a:r>
            <a:r>
              <a:rPr lang="en-US" sz="3200" dirty="0" err="1"/>
              <a:t>Không</a:t>
            </a:r>
            <a:r>
              <a:rPr lang="en-US" sz="3200" dirty="0"/>
              <a:t> </a:t>
            </a:r>
            <a:r>
              <a:rPr lang="en-US" sz="3200" dirty="0" err="1"/>
              <a:t>điều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kháng</a:t>
            </a:r>
            <a:r>
              <a:rPr lang="en-US" sz="3200" dirty="0"/>
              <a:t> </a:t>
            </a:r>
            <a:r>
              <a:rPr lang="en-US" sz="3200" dirty="0" err="1"/>
              <a:t>sinh</a:t>
            </a:r>
            <a:r>
              <a:rPr lang="en-US" sz="3200" dirty="0"/>
              <a:t> </a:t>
            </a:r>
            <a:r>
              <a:rPr lang="en-US" sz="3200" dirty="0" err="1"/>
              <a:t>nhưng</a:t>
            </a:r>
            <a:r>
              <a:rPr lang="en-US" sz="3200" dirty="0"/>
              <a:t> </a:t>
            </a:r>
            <a:r>
              <a:rPr lang="en-US" sz="3200" dirty="0" err="1"/>
              <a:t>những</a:t>
            </a:r>
            <a:r>
              <a:rPr lang="en-US" sz="3200" dirty="0"/>
              <a:t> </a:t>
            </a:r>
            <a:r>
              <a:rPr lang="en-US" sz="3200" dirty="0" err="1"/>
              <a:t>trẻ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vk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ý </a:t>
            </a:r>
            <a:r>
              <a:rPr lang="en-US" sz="3200" dirty="0" err="1"/>
              <a:t>nghĩa</a:t>
            </a:r>
            <a:r>
              <a:rPr lang="en-US" sz="3200" dirty="0"/>
              <a:t> (&gt;= 10cfu/ml) </a:t>
            </a:r>
            <a:r>
              <a:rPr lang="en-US" sz="3200" dirty="0" err="1"/>
              <a:t>phải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dõi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kì</a:t>
            </a:r>
            <a:r>
              <a:rPr lang="en-US" sz="3200" dirty="0"/>
              <a:t> 2-3 </a:t>
            </a:r>
            <a:r>
              <a:rPr lang="en-US" sz="3200" dirty="0" err="1"/>
              <a:t>tháng</a:t>
            </a:r>
            <a:r>
              <a:rPr lang="en-US" sz="3200" dirty="0"/>
              <a:t> /</a:t>
            </a:r>
            <a:r>
              <a:rPr lang="en-US" sz="3200" dirty="0" err="1"/>
              <a:t>lần</a:t>
            </a:r>
            <a:r>
              <a:rPr lang="en-US" sz="3200" dirty="0"/>
              <a:t> </a:t>
            </a:r>
            <a:r>
              <a:rPr lang="en-US" sz="3200" dirty="0" err="1"/>
              <a:t>cho</a:t>
            </a:r>
            <a:r>
              <a:rPr lang="en-US" sz="3200" dirty="0"/>
              <a:t> </a:t>
            </a:r>
            <a:r>
              <a:rPr lang="en-US" sz="3200" dirty="0" err="1"/>
              <a:t>đến</a:t>
            </a:r>
            <a:r>
              <a:rPr lang="en-US" sz="3200" dirty="0"/>
              <a:t> </a:t>
            </a:r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hết</a:t>
            </a:r>
            <a:r>
              <a:rPr lang="en-US" sz="3200" dirty="0"/>
              <a:t> vi </a:t>
            </a:r>
            <a:r>
              <a:rPr lang="en-US" sz="3200" dirty="0" err="1"/>
              <a:t>khuẩn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. </a:t>
            </a:r>
          </a:p>
          <a:p>
            <a:r>
              <a:rPr lang="en-US" dirty="0" smtClean="0"/>
              <a:t>Do </a:t>
            </a:r>
            <a:r>
              <a:rPr lang="en-US" dirty="0" err="1" smtClean="0"/>
              <a:t>nghiên</a:t>
            </a:r>
            <a:r>
              <a:rPr lang="en-US" dirty="0" smtClean="0"/>
              <a:t> </a:t>
            </a:r>
            <a:r>
              <a:rPr lang="en-US" dirty="0" err="1" smtClean="0"/>
              <a:t>cứu</a:t>
            </a:r>
            <a:r>
              <a:rPr lang="en-US" dirty="0" smtClean="0"/>
              <a:t> 1980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KS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trái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4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Bảng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KS </a:t>
            </a:r>
            <a:r>
              <a:rPr lang="en-US" dirty="0" err="1" smtClean="0"/>
              <a:t>trong</a:t>
            </a:r>
            <a:r>
              <a:rPr lang="en-US" dirty="0" smtClean="0"/>
              <a:t> NKTN ở </a:t>
            </a:r>
            <a:r>
              <a:rPr lang="en-US" dirty="0" err="1" smtClean="0"/>
              <a:t>trẻ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28112"/>
            <a:ext cx="8153400" cy="572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32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 </a:t>
            </a:r>
            <a:r>
              <a:rPr lang="en-US" b="1" dirty="0" err="1"/>
              <a:t>ngoại</a:t>
            </a:r>
            <a:r>
              <a:rPr lang="en-US" b="1" dirty="0"/>
              <a:t> </a:t>
            </a:r>
            <a:r>
              <a:rPr lang="en-US" b="1" dirty="0" err="1" smtClean="0"/>
              <a:t>khoa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 err="1" smtClean="0"/>
              <a:t>Chỉ</a:t>
            </a:r>
            <a:r>
              <a:rPr lang="en-US" sz="3200" dirty="0" smtClean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</a:t>
            </a:r>
            <a:r>
              <a:rPr lang="en-US" sz="3200" dirty="0" err="1"/>
              <a:t>thể</a:t>
            </a:r>
            <a:r>
              <a:rPr lang="en-US" sz="3200" dirty="0"/>
              <a:t> </a:t>
            </a:r>
            <a:r>
              <a:rPr lang="en-US" sz="3200" dirty="0" err="1"/>
              <a:t>viêm</a:t>
            </a:r>
            <a:r>
              <a:rPr lang="en-US" sz="3200" dirty="0"/>
              <a:t> </a:t>
            </a:r>
            <a:r>
              <a:rPr lang="en-US" sz="3200" dirty="0" err="1"/>
              <a:t>thận</a:t>
            </a:r>
            <a:r>
              <a:rPr lang="en-US" sz="3200" dirty="0"/>
              <a:t>- </a:t>
            </a:r>
            <a:r>
              <a:rPr lang="en-US" sz="3200" dirty="0" err="1"/>
              <a:t>bể</a:t>
            </a:r>
            <a:r>
              <a:rPr lang="en-US" sz="3200" dirty="0"/>
              <a:t> </a:t>
            </a:r>
            <a:r>
              <a:rPr lang="en-US" sz="3200" dirty="0" err="1"/>
              <a:t>thận</a:t>
            </a:r>
            <a:r>
              <a:rPr lang="en-US" sz="3200" dirty="0"/>
              <a:t> </a:t>
            </a:r>
            <a:r>
              <a:rPr lang="en-US" sz="3200" dirty="0" err="1"/>
              <a:t>kèm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bệnh</a:t>
            </a:r>
            <a:r>
              <a:rPr lang="en-US" sz="3200" dirty="0"/>
              <a:t> </a:t>
            </a:r>
            <a:r>
              <a:rPr lang="en-US" sz="3200" dirty="0" err="1"/>
              <a:t>tiết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(</a:t>
            </a:r>
            <a:r>
              <a:rPr lang="en-US" sz="3200" dirty="0" err="1"/>
              <a:t>sỏi</a:t>
            </a:r>
            <a:r>
              <a:rPr lang="en-US" sz="3200" dirty="0"/>
              <a:t>, </a:t>
            </a:r>
            <a:r>
              <a:rPr lang="en-US" sz="3200" dirty="0" err="1"/>
              <a:t>dị</a:t>
            </a:r>
            <a:r>
              <a:rPr lang="en-US" sz="3200" dirty="0"/>
              <a:t> </a:t>
            </a:r>
            <a:r>
              <a:rPr lang="en-US" sz="3200" dirty="0" err="1"/>
              <a:t>dạng</a:t>
            </a:r>
            <a:r>
              <a:rPr lang="en-US" sz="3200" dirty="0"/>
              <a:t> </a:t>
            </a:r>
            <a:r>
              <a:rPr lang="en-US" sz="3200" dirty="0" err="1"/>
              <a:t>đường</a:t>
            </a:r>
            <a:r>
              <a:rPr lang="en-US" sz="3200" dirty="0"/>
              <a:t> </a:t>
            </a:r>
            <a:r>
              <a:rPr lang="en-US" sz="3200" dirty="0" err="1"/>
              <a:t>tiết</a:t>
            </a:r>
            <a:r>
              <a:rPr lang="en-US" sz="3200" dirty="0"/>
              <a:t> </a:t>
            </a:r>
            <a:r>
              <a:rPr lang="en-US" sz="3200" dirty="0" err="1"/>
              <a:t>niêu</a:t>
            </a:r>
            <a:r>
              <a:rPr lang="en-US" sz="3200" dirty="0"/>
              <a:t>, </a:t>
            </a:r>
            <a:r>
              <a:rPr lang="en-US" sz="3200" dirty="0" err="1"/>
              <a:t>luồng</a:t>
            </a:r>
            <a:r>
              <a:rPr lang="en-US" sz="3200" dirty="0"/>
              <a:t> </a:t>
            </a:r>
            <a:r>
              <a:rPr lang="en-US" sz="3200" dirty="0" err="1"/>
              <a:t>trào</a:t>
            </a:r>
            <a:r>
              <a:rPr lang="en-US" sz="3200" dirty="0"/>
              <a:t> </a:t>
            </a:r>
            <a:r>
              <a:rPr lang="en-US" sz="3200" dirty="0" err="1"/>
              <a:t>ngươc</a:t>
            </a:r>
            <a:r>
              <a:rPr lang="en-US" sz="3200" dirty="0"/>
              <a:t> </a:t>
            </a:r>
            <a:r>
              <a:rPr lang="en-US" sz="3200" dirty="0" err="1"/>
              <a:t>bàng</a:t>
            </a:r>
            <a:r>
              <a:rPr lang="en-US" sz="3200" dirty="0"/>
              <a:t> </a:t>
            </a:r>
            <a:r>
              <a:rPr lang="en-US" sz="3200" dirty="0" err="1"/>
              <a:t>quang-niệu</a:t>
            </a:r>
            <a:r>
              <a:rPr lang="en-US" sz="3200" dirty="0"/>
              <a:t> </a:t>
            </a:r>
            <a:r>
              <a:rPr lang="en-US" sz="3200" dirty="0" err="1"/>
              <a:t>quản</a:t>
            </a:r>
            <a:r>
              <a:rPr lang="en-US" sz="3200" dirty="0" smtClean="0"/>
              <a:t>) </a:t>
            </a:r>
            <a:r>
              <a:rPr lang="en-US" sz="3200" dirty="0" err="1" smtClean="0"/>
              <a:t>thường</a:t>
            </a:r>
            <a:r>
              <a:rPr lang="en-US" sz="3200" dirty="0" smtClean="0"/>
              <a:t> </a:t>
            </a:r>
            <a:r>
              <a:rPr lang="en-US" sz="3200" dirty="0" err="1"/>
              <a:t>chỉ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sau</a:t>
            </a:r>
            <a:r>
              <a:rPr lang="en-US" sz="3200" dirty="0"/>
              <a:t> </a:t>
            </a:r>
            <a:r>
              <a:rPr lang="en-US" sz="3200" dirty="0" err="1"/>
              <a:t>điều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nội</a:t>
            </a:r>
            <a:r>
              <a:rPr lang="en-US" sz="3200" dirty="0"/>
              <a:t> </a:t>
            </a:r>
            <a:r>
              <a:rPr lang="en-US" sz="3200" dirty="0" err="1"/>
              <a:t>khoa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kháng</a:t>
            </a:r>
            <a:r>
              <a:rPr lang="en-US" sz="3200" dirty="0"/>
              <a:t> </a:t>
            </a:r>
            <a:r>
              <a:rPr lang="en-US" sz="3200" dirty="0" err="1"/>
              <a:t>sinh</a:t>
            </a:r>
            <a:r>
              <a:rPr lang="en-US" sz="3200" dirty="0"/>
              <a:t> </a:t>
            </a:r>
            <a:r>
              <a:rPr lang="en-US" sz="3200" dirty="0" err="1"/>
              <a:t>hết</a:t>
            </a:r>
            <a:r>
              <a:rPr lang="en-US" sz="3200" dirty="0"/>
              <a:t> vi </a:t>
            </a:r>
            <a:r>
              <a:rPr lang="en-US" sz="3200" dirty="0" err="1"/>
              <a:t>khuẩn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, </a:t>
            </a:r>
            <a:r>
              <a:rPr lang="en-US" sz="3200" dirty="0" err="1"/>
              <a:t>trừ</a:t>
            </a:r>
            <a:r>
              <a:rPr lang="en-US" sz="3200" dirty="0"/>
              <a:t> </a:t>
            </a:r>
            <a:r>
              <a:rPr lang="en-US" sz="3200" dirty="0" err="1"/>
              <a:t>trường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tắc</a:t>
            </a:r>
            <a:r>
              <a:rPr lang="en-US" sz="3200" dirty="0"/>
              <a:t> </a:t>
            </a:r>
            <a:r>
              <a:rPr lang="en-US" sz="3200" dirty="0" err="1"/>
              <a:t>đường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</a:t>
            </a:r>
            <a:r>
              <a:rPr lang="en-US" sz="3200" dirty="0" err="1"/>
              <a:t>cấp</a:t>
            </a:r>
            <a:r>
              <a:rPr lang="en-US" sz="3200" dirty="0"/>
              <a:t> </a:t>
            </a:r>
            <a:r>
              <a:rPr lang="en-US" sz="3200" dirty="0" err="1"/>
              <a:t>tính</a:t>
            </a:r>
            <a:r>
              <a:rPr lang="en-US" sz="3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87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 smtClean="0"/>
              <a:t>VI.PHÒNG BỆNH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Autofit/>
          </a:bodyPr>
          <a:lstStyle/>
          <a:p>
            <a:r>
              <a:rPr lang="en-US" sz="3200" dirty="0" err="1" smtClean="0"/>
              <a:t>Uống</a:t>
            </a:r>
            <a:r>
              <a:rPr lang="en-US" sz="3200" dirty="0" smtClean="0"/>
              <a:t> </a:t>
            </a:r>
            <a:r>
              <a:rPr lang="en-US" sz="3200" dirty="0" err="1"/>
              <a:t>nhiều</a:t>
            </a:r>
            <a:r>
              <a:rPr lang="en-US" sz="3200" dirty="0"/>
              <a:t> </a:t>
            </a:r>
            <a:r>
              <a:rPr lang="en-US" sz="3200" dirty="0" err="1"/>
              <a:t>nước</a:t>
            </a:r>
            <a:r>
              <a:rPr lang="en-US" sz="3200" dirty="0"/>
              <a:t>.</a:t>
            </a:r>
          </a:p>
          <a:p>
            <a:r>
              <a:rPr lang="en-US" sz="3200" dirty="0" err="1" smtClean="0"/>
              <a:t>Không</a:t>
            </a:r>
            <a:r>
              <a:rPr lang="en-US" sz="3200" dirty="0" smtClean="0"/>
              <a:t> </a:t>
            </a:r>
            <a:r>
              <a:rPr lang="en-US" sz="3200" dirty="0" err="1"/>
              <a:t>nhịn</a:t>
            </a:r>
            <a:r>
              <a:rPr lang="en-US" sz="3200" dirty="0"/>
              <a:t> </a:t>
            </a:r>
            <a:r>
              <a:rPr lang="en-US" sz="3200" dirty="0" err="1"/>
              <a:t>tiểu</a:t>
            </a:r>
            <a:r>
              <a:rPr lang="en-US" sz="3200" dirty="0"/>
              <a:t> </a:t>
            </a:r>
            <a:r>
              <a:rPr lang="en-US" sz="3200" dirty="0" err="1"/>
              <a:t>mỗi</a:t>
            </a:r>
            <a:r>
              <a:rPr lang="en-US" sz="3200" dirty="0"/>
              <a:t> </a:t>
            </a:r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buồn</a:t>
            </a:r>
            <a:r>
              <a:rPr lang="en-US" sz="3200" dirty="0"/>
              <a:t> </a:t>
            </a:r>
            <a:r>
              <a:rPr lang="en-US" sz="3200" dirty="0" err="1"/>
              <a:t>tiểu</a:t>
            </a:r>
            <a:r>
              <a:rPr lang="en-US" sz="3200" dirty="0"/>
              <a:t>.</a:t>
            </a:r>
          </a:p>
          <a:p>
            <a:r>
              <a:rPr lang="en-US" sz="3200" dirty="0" err="1" smtClean="0"/>
              <a:t>Hướng</a:t>
            </a:r>
            <a:r>
              <a:rPr lang="en-US" sz="3200" dirty="0" smtClean="0"/>
              <a:t> </a:t>
            </a:r>
            <a:r>
              <a:rPr lang="en-US" sz="3200" dirty="0" err="1"/>
              <a:t>dẫn</a:t>
            </a:r>
            <a:r>
              <a:rPr lang="en-US" sz="3200" dirty="0"/>
              <a:t> </a:t>
            </a:r>
            <a:r>
              <a:rPr lang="en-US" sz="3200" dirty="0" err="1"/>
              <a:t>bà</a:t>
            </a:r>
            <a:r>
              <a:rPr lang="en-US" sz="3200" dirty="0"/>
              <a:t> </a:t>
            </a:r>
            <a:r>
              <a:rPr lang="en-US" sz="3200" dirty="0" err="1"/>
              <a:t>mẹ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trẻ</a:t>
            </a:r>
            <a:r>
              <a:rPr lang="en-US" sz="3200" dirty="0"/>
              <a:t> </a:t>
            </a:r>
            <a:r>
              <a:rPr lang="en-US" sz="3200" dirty="0" err="1"/>
              <a:t>lớn</a:t>
            </a:r>
            <a:r>
              <a:rPr lang="en-US" sz="3200" dirty="0"/>
              <a:t> </a:t>
            </a:r>
            <a:r>
              <a:rPr lang="en-US" sz="3200" dirty="0" err="1"/>
              <a:t>kỹ</a:t>
            </a:r>
            <a:r>
              <a:rPr lang="en-US" sz="3200" dirty="0"/>
              <a:t> </a:t>
            </a:r>
            <a:r>
              <a:rPr lang="en-US" sz="3200" dirty="0" err="1"/>
              <a:t>thuật</a:t>
            </a:r>
            <a:r>
              <a:rPr lang="en-US" sz="3200" dirty="0"/>
              <a:t> </a:t>
            </a:r>
            <a:r>
              <a:rPr lang="en-US" sz="3200" dirty="0" err="1"/>
              <a:t>lau</a:t>
            </a:r>
            <a:r>
              <a:rPr lang="en-US" sz="3200" dirty="0"/>
              <a:t> </a:t>
            </a:r>
            <a:r>
              <a:rPr lang="en-US" sz="3200" dirty="0" err="1"/>
              <a:t>chùi</a:t>
            </a:r>
            <a:r>
              <a:rPr lang="en-US" sz="3200" dirty="0"/>
              <a:t> </a:t>
            </a:r>
            <a:r>
              <a:rPr lang="en-US" sz="3200" dirty="0" err="1"/>
              <a:t>đúng</a:t>
            </a:r>
            <a:r>
              <a:rPr lang="en-US" sz="3200" dirty="0"/>
              <a:t> </a:t>
            </a:r>
            <a:r>
              <a:rPr lang="en-US" sz="3200" dirty="0" err="1" smtClean="0"/>
              <a:t>cách</a:t>
            </a:r>
            <a:r>
              <a:rPr lang="en-US" sz="3200" dirty="0" smtClean="0"/>
              <a:t>: </a:t>
            </a:r>
            <a:r>
              <a:rPr lang="en-US" sz="3200" dirty="0" err="1" smtClean="0"/>
              <a:t>Mỗi</a:t>
            </a:r>
            <a:r>
              <a:rPr lang="en-US" sz="3200" dirty="0" smtClean="0"/>
              <a:t> </a:t>
            </a:r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đi</a:t>
            </a:r>
            <a:r>
              <a:rPr lang="en-US" sz="3200" dirty="0"/>
              <a:t> </a:t>
            </a:r>
            <a:r>
              <a:rPr lang="en-US" sz="3200" dirty="0" err="1"/>
              <a:t>đại</a:t>
            </a:r>
            <a:r>
              <a:rPr lang="en-US" sz="3200" dirty="0"/>
              <a:t> </a:t>
            </a:r>
            <a:r>
              <a:rPr lang="en-US" sz="3200" dirty="0" err="1"/>
              <a:t>tiện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lau</a:t>
            </a:r>
            <a:r>
              <a:rPr lang="en-US" sz="3200" dirty="0"/>
              <a:t>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trước</a:t>
            </a:r>
            <a:r>
              <a:rPr lang="en-US" sz="3200" dirty="0"/>
              <a:t> </a:t>
            </a:r>
            <a:r>
              <a:rPr lang="en-US" sz="3200" dirty="0" err="1"/>
              <a:t>ra</a:t>
            </a:r>
            <a:r>
              <a:rPr lang="en-US" sz="3200" dirty="0"/>
              <a:t> </a:t>
            </a:r>
            <a:r>
              <a:rPr lang="en-US" sz="3200" dirty="0" err="1"/>
              <a:t>sau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tránh</a:t>
            </a:r>
            <a:r>
              <a:rPr lang="en-US" sz="3200" dirty="0"/>
              <a:t> </a:t>
            </a:r>
            <a:r>
              <a:rPr lang="en-US" sz="3200" dirty="0" err="1"/>
              <a:t>lây</a:t>
            </a:r>
            <a:r>
              <a:rPr lang="en-US" sz="3200" dirty="0"/>
              <a:t> </a:t>
            </a:r>
            <a:r>
              <a:rPr lang="en-US" sz="3200" dirty="0" err="1"/>
              <a:t>lan</a:t>
            </a:r>
            <a:r>
              <a:rPr lang="en-US" sz="3200" dirty="0"/>
              <a:t> vi </a:t>
            </a:r>
            <a:r>
              <a:rPr lang="en-US" sz="3200" dirty="0" err="1"/>
              <a:t>khuẩn</a:t>
            </a:r>
            <a:r>
              <a:rPr lang="en-US" sz="3200" dirty="0"/>
              <a:t>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hậu</a:t>
            </a:r>
            <a:r>
              <a:rPr lang="en-US" sz="3200" dirty="0"/>
              <a:t> </a:t>
            </a:r>
            <a:r>
              <a:rPr lang="en-US" sz="3200" dirty="0" err="1"/>
              <a:t>môn</a:t>
            </a:r>
            <a:r>
              <a:rPr lang="en-US" sz="3200" dirty="0"/>
              <a:t> </a:t>
            </a:r>
            <a:r>
              <a:rPr lang="en-US" sz="3200" dirty="0" err="1"/>
              <a:t>lên</a:t>
            </a:r>
            <a:r>
              <a:rPr lang="en-US" sz="3200" dirty="0"/>
              <a:t> </a:t>
            </a:r>
            <a:r>
              <a:rPr lang="en-US" sz="3200" dirty="0" err="1"/>
              <a:t>âm</a:t>
            </a:r>
            <a:r>
              <a:rPr lang="en-US" sz="3200" dirty="0"/>
              <a:t> </a:t>
            </a:r>
            <a:r>
              <a:rPr lang="en-US" sz="3200" dirty="0" err="1"/>
              <a:t>đạo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niệu</a:t>
            </a:r>
            <a:r>
              <a:rPr lang="en-US" sz="3200" dirty="0"/>
              <a:t> </a:t>
            </a:r>
            <a:r>
              <a:rPr lang="en-US" sz="3200" dirty="0" err="1"/>
              <a:t>đạo</a:t>
            </a:r>
            <a:r>
              <a:rPr lang="en-US" sz="3200" dirty="0"/>
              <a:t>.</a:t>
            </a:r>
          </a:p>
          <a:p>
            <a:r>
              <a:rPr lang="en-US" sz="3200" dirty="0" err="1" smtClean="0"/>
              <a:t>Tránh</a:t>
            </a:r>
            <a:r>
              <a:rPr lang="en-US" sz="3200" dirty="0" smtClean="0"/>
              <a:t> </a:t>
            </a:r>
            <a:r>
              <a:rPr lang="en-US" sz="3200" dirty="0" err="1"/>
              <a:t>mặc</a:t>
            </a:r>
            <a:r>
              <a:rPr lang="en-US" sz="3200" dirty="0"/>
              <a:t> </a:t>
            </a:r>
            <a:r>
              <a:rPr lang="en-US" sz="3200" dirty="0" err="1"/>
              <a:t>quần</a:t>
            </a:r>
            <a:r>
              <a:rPr lang="en-US" sz="3200" dirty="0"/>
              <a:t> </a:t>
            </a:r>
            <a:r>
              <a:rPr lang="en-US" sz="3200" dirty="0" err="1"/>
              <a:t>bó</a:t>
            </a:r>
            <a:r>
              <a:rPr lang="en-US" sz="3200" dirty="0"/>
              <a:t> </a:t>
            </a:r>
            <a:r>
              <a:rPr lang="en-US" sz="3200" dirty="0" err="1"/>
              <a:t>sát,đặc</a:t>
            </a:r>
            <a:r>
              <a:rPr lang="en-US" sz="3200" dirty="0"/>
              <a:t> </a:t>
            </a:r>
            <a:r>
              <a:rPr lang="en-US" sz="3200" dirty="0" err="1"/>
              <a:t>biệt</a:t>
            </a:r>
            <a:r>
              <a:rPr lang="en-US" sz="3200" dirty="0"/>
              <a:t> </a:t>
            </a:r>
            <a:r>
              <a:rPr lang="en-US" sz="3200" dirty="0" err="1"/>
              <a:t>là</a:t>
            </a:r>
            <a:r>
              <a:rPr lang="en-US" sz="3200" dirty="0"/>
              <a:t> </a:t>
            </a:r>
            <a:r>
              <a:rPr lang="en-US" sz="3200" dirty="0" err="1"/>
              <a:t>trẻ</a:t>
            </a:r>
            <a:r>
              <a:rPr lang="en-US" sz="3200" dirty="0"/>
              <a:t> </a:t>
            </a:r>
            <a:r>
              <a:rPr lang="en-US" sz="3200" dirty="0" err="1"/>
              <a:t>gái</a:t>
            </a:r>
            <a:r>
              <a:rPr lang="en-US" sz="3200" dirty="0"/>
              <a:t>.</a:t>
            </a:r>
          </a:p>
          <a:p>
            <a:r>
              <a:rPr lang="en-US" sz="3200" dirty="0" err="1" smtClean="0"/>
              <a:t>Thay</a:t>
            </a:r>
            <a:r>
              <a:rPr lang="en-US" sz="3200" dirty="0" smtClean="0"/>
              <a:t> </a:t>
            </a:r>
            <a:r>
              <a:rPr lang="en-US" sz="3200" dirty="0" err="1"/>
              <a:t>tã</a:t>
            </a:r>
            <a:r>
              <a:rPr lang="en-US" sz="3200" dirty="0"/>
              <a:t> </a:t>
            </a:r>
            <a:r>
              <a:rPr lang="en-US" sz="3200" dirty="0" err="1"/>
              <a:t>thường</a:t>
            </a:r>
            <a:r>
              <a:rPr lang="en-US" sz="3200" dirty="0"/>
              <a:t> </a:t>
            </a:r>
            <a:r>
              <a:rPr lang="en-US" sz="3200" dirty="0" err="1"/>
              <a:t>xuyên</a:t>
            </a:r>
            <a:r>
              <a:rPr lang="en-US" sz="3200" dirty="0"/>
              <a:t> ở </a:t>
            </a:r>
            <a:r>
              <a:rPr lang="en-US" sz="3200" dirty="0" err="1"/>
              <a:t>trẻ</a:t>
            </a:r>
            <a:r>
              <a:rPr lang="en-US" sz="3200" dirty="0"/>
              <a:t> </a:t>
            </a:r>
            <a:r>
              <a:rPr lang="en-US" sz="3200" dirty="0" err="1"/>
              <a:t>nhỏ</a:t>
            </a:r>
            <a:r>
              <a:rPr lang="en-US" sz="3200" dirty="0"/>
              <a:t>.</a:t>
            </a:r>
          </a:p>
          <a:p>
            <a:r>
              <a:rPr lang="en-US" sz="3200" dirty="0" err="1" smtClean="0"/>
              <a:t>Tránh</a:t>
            </a:r>
            <a:r>
              <a:rPr lang="en-US" sz="3200" dirty="0" smtClean="0"/>
              <a:t> </a:t>
            </a:r>
            <a:r>
              <a:rPr lang="en-US" sz="3200" dirty="0" err="1"/>
              <a:t>tái</a:t>
            </a:r>
            <a:r>
              <a:rPr lang="en-US" sz="3200" dirty="0"/>
              <a:t> </a:t>
            </a:r>
            <a:r>
              <a:rPr lang="en-US" sz="3200" dirty="0" err="1"/>
              <a:t>phát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kháng</a:t>
            </a:r>
            <a:r>
              <a:rPr lang="en-US" sz="3200" dirty="0"/>
              <a:t> </a:t>
            </a:r>
            <a:r>
              <a:rPr lang="en-US" sz="3200" dirty="0" err="1"/>
              <a:t>sinh</a:t>
            </a:r>
            <a:r>
              <a:rPr lang="en-US" sz="3200" dirty="0"/>
              <a:t> </a:t>
            </a:r>
            <a:r>
              <a:rPr lang="en-US" sz="3200" dirty="0" err="1"/>
              <a:t>liều</a:t>
            </a:r>
            <a:r>
              <a:rPr lang="en-US" sz="3200" dirty="0"/>
              <a:t> </a:t>
            </a:r>
            <a:r>
              <a:rPr lang="en-US" sz="3200" dirty="0" err="1"/>
              <a:t>thấp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0808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000" dirty="0" err="1" smtClean="0">
                <a:solidFill>
                  <a:srgbClr val="00B0F0"/>
                </a:solidFill>
              </a:rPr>
              <a:t>Khái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niệm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nhiễm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khuẩn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tiết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niệu</a:t>
            </a:r>
            <a:r>
              <a:rPr lang="en-US" sz="4000" dirty="0" smtClean="0">
                <a:solidFill>
                  <a:srgbClr val="00B0F0"/>
                </a:solidFill>
              </a:rPr>
              <a:t> ở </a:t>
            </a:r>
            <a:r>
              <a:rPr lang="en-US" sz="4000" dirty="0" err="1" smtClean="0">
                <a:solidFill>
                  <a:srgbClr val="00B0F0"/>
                </a:solidFill>
              </a:rPr>
              <a:t>trẻ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là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gì</a:t>
            </a:r>
            <a:r>
              <a:rPr lang="en-US" sz="4000" dirty="0" smtClean="0">
                <a:solidFill>
                  <a:srgbClr val="00B0F0"/>
                </a:solidFill>
              </a:rPr>
              <a:t>? </a:t>
            </a:r>
            <a:endParaRPr lang="en-US" sz="4000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4000" dirty="0" err="1" smtClean="0">
                <a:solidFill>
                  <a:srgbClr val="00B0F0"/>
                </a:solidFill>
              </a:rPr>
              <a:t>Trẻ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sơ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sinh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thì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gặp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nhiều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hơn</a:t>
            </a:r>
            <a:r>
              <a:rPr lang="en-US" sz="4000" dirty="0" smtClean="0">
                <a:solidFill>
                  <a:srgbClr val="00B0F0"/>
                </a:solidFill>
              </a:rPr>
              <a:t> ở </a:t>
            </a:r>
            <a:r>
              <a:rPr lang="en-US" sz="4000" dirty="0" err="1" smtClean="0">
                <a:solidFill>
                  <a:srgbClr val="00B0F0"/>
                </a:solidFill>
              </a:rPr>
              <a:t>nam</a:t>
            </a:r>
            <a:r>
              <a:rPr lang="en-US" sz="4000" dirty="0" smtClean="0">
                <a:solidFill>
                  <a:srgbClr val="00B0F0"/>
                </a:solidFill>
              </a:rPr>
              <a:t> hay </a:t>
            </a:r>
            <a:r>
              <a:rPr lang="en-US" sz="4000" dirty="0" err="1" smtClean="0">
                <a:solidFill>
                  <a:srgbClr val="00B0F0"/>
                </a:solidFill>
              </a:rPr>
              <a:t>nữ</a:t>
            </a:r>
            <a:r>
              <a:rPr lang="en-US" sz="4000" dirty="0" smtClean="0">
                <a:solidFill>
                  <a:srgbClr val="00B0F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</a:rPr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(</a:t>
            </a:r>
            <a:r>
              <a:rPr lang="en-US" sz="4000" dirty="0" err="1" smtClean="0">
                <a:solidFill>
                  <a:srgbClr val="FF0000"/>
                </a:solidFill>
              </a:rPr>
              <a:t>nam</a:t>
            </a:r>
            <a:r>
              <a:rPr lang="en-US" sz="4000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00B0F0"/>
                </a:solidFill>
              </a:rPr>
              <a:t>3.Trẻ </a:t>
            </a:r>
            <a:r>
              <a:rPr lang="en-US" sz="4000" dirty="0" err="1" smtClean="0">
                <a:solidFill>
                  <a:srgbClr val="00B0F0"/>
                </a:solidFill>
              </a:rPr>
              <a:t>nhỏ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gặp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nhiều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err="1" smtClean="0">
                <a:solidFill>
                  <a:srgbClr val="00B0F0"/>
                </a:solidFill>
              </a:rPr>
              <a:t>hơn</a:t>
            </a:r>
            <a:r>
              <a:rPr lang="en-US" sz="4000" dirty="0" smtClean="0">
                <a:solidFill>
                  <a:srgbClr val="00B0F0"/>
                </a:solidFill>
              </a:rPr>
              <a:t> ở </a:t>
            </a:r>
            <a:r>
              <a:rPr lang="en-US" sz="4000" dirty="0" err="1" smtClean="0">
                <a:solidFill>
                  <a:srgbClr val="00B0F0"/>
                </a:solidFill>
              </a:rPr>
              <a:t>nam</a:t>
            </a:r>
            <a:r>
              <a:rPr lang="en-US" sz="4000" dirty="0" smtClean="0">
                <a:solidFill>
                  <a:srgbClr val="00B0F0"/>
                </a:solidFill>
              </a:rPr>
              <a:t> hay </a:t>
            </a:r>
            <a:r>
              <a:rPr lang="en-US" sz="4000" dirty="0" err="1" smtClean="0">
                <a:solidFill>
                  <a:srgbClr val="00B0F0"/>
                </a:solidFill>
              </a:rPr>
              <a:t>nữ</a:t>
            </a:r>
            <a:r>
              <a:rPr lang="en-US" sz="4000" dirty="0" smtClean="0">
                <a:solidFill>
                  <a:srgbClr val="00B0F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00B0F0"/>
                </a:solidFill>
              </a:rPr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(</a:t>
            </a:r>
            <a:r>
              <a:rPr lang="en-US" sz="4000" dirty="0" err="1" smtClean="0">
                <a:solidFill>
                  <a:srgbClr val="FF0000"/>
                </a:solidFill>
              </a:rPr>
              <a:t>nam</a:t>
            </a:r>
            <a:r>
              <a:rPr lang="en-US" sz="4000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sz="4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27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B0F0"/>
                </a:solidFill>
              </a:rPr>
              <a:t>4.NKTN </a:t>
            </a:r>
            <a:r>
              <a:rPr lang="en-US" sz="3600" dirty="0" err="1" smtClean="0">
                <a:solidFill>
                  <a:srgbClr val="00B0F0"/>
                </a:solidFill>
              </a:rPr>
              <a:t>phân</a:t>
            </a:r>
            <a:r>
              <a:rPr lang="en-US" sz="3600" dirty="0" smtClean="0">
                <a:solidFill>
                  <a:srgbClr val="00B0F0"/>
                </a:solidFill>
              </a:rPr>
              <a:t> loại </a:t>
            </a:r>
            <a:r>
              <a:rPr lang="en-US" sz="3600" dirty="0" err="1" smtClean="0">
                <a:solidFill>
                  <a:srgbClr val="00B0F0"/>
                </a:solidFill>
              </a:rPr>
              <a:t>theo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mấy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cách</a:t>
            </a:r>
            <a:r>
              <a:rPr lang="en-US" sz="3600" dirty="0" smtClean="0">
                <a:solidFill>
                  <a:srgbClr val="00B0F0"/>
                </a:solidFill>
              </a:rPr>
              <a:t> ?</a:t>
            </a:r>
          </a:p>
          <a:p>
            <a:pPr marL="742950" indent="-742950">
              <a:buAutoNum type="alphaUcPeriod"/>
            </a:pPr>
            <a:r>
              <a:rPr lang="en-US" sz="3600" dirty="0" smtClean="0">
                <a:solidFill>
                  <a:srgbClr val="00B0F0"/>
                </a:solidFill>
              </a:rPr>
              <a:t>1 </a:t>
            </a:r>
            <a:r>
              <a:rPr lang="en-US" sz="3600" dirty="0" err="1" smtClean="0">
                <a:solidFill>
                  <a:srgbClr val="00B0F0"/>
                </a:solidFill>
              </a:rPr>
              <a:t>cách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742950" indent="-742950">
              <a:buAutoNum type="alphaUcPeriod"/>
            </a:pPr>
            <a:r>
              <a:rPr lang="en-US" sz="3600" dirty="0" smtClean="0">
                <a:solidFill>
                  <a:srgbClr val="00B0F0"/>
                </a:solidFill>
              </a:rPr>
              <a:t>2 </a:t>
            </a:r>
            <a:r>
              <a:rPr lang="en-US" sz="3600" dirty="0" err="1" smtClean="0">
                <a:solidFill>
                  <a:srgbClr val="00B0F0"/>
                </a:solidFill>
              </a:rPr>
              <a:t>cách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742950" indent="-742950">
              <a:buAutoNum type="alphaUcPeriod"/>
            </a:pPr>
            <a:r>
              <a:rPr lang="en-US" sz="3600" dirty="0" smtClean="0">
                <a:solidFill>
                  <a:srgbClr val="00B0F0"/>
                </a:solidFill>
              </a:rPr>
              <a:t>3 </a:t>
            </a:r>
            <a:r>
              <a:rPr lang="en-US" sz="3600" dirty="0" err="1" smtClean="0">
                <a:solidFill>
                  <a:srgbClr val="00B0F0"/>
                </a:solidFill>
              </a:rPr>
              <a:t>cách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742950" indent="-742950">
              <a:buAutoNum type="alphaUcPeriod"/>
            </a:pPr>
            <a:r>
              <a:rPr lang="en-US" sz="3600" dirty="0" err="1" smtClean="0">
                <a:solidFill>
                  <a:srgbClr val="00B0F0"/>
                </a:solidFill>
              </a:rPr>
              <a:t>Vô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số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rgbClr val="00B0F0"/>
                </a:solidFill>
              </a:rPr>
              <a:t>  </a:t>
            </a:r>
            <a:r>
              <a:rPr lang="en-US" sz="3600" dirty="0" smtClean="0">
                <a:solidFill>
                  <a:srgbClr val="FF0000"/>
                </a:solidFill>
              </a:rPr>
              <a:t>C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7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B0F0"/>
                </a:solidFill>
              </a:rPr>
              <a:t>5. </a:t>
            </a:r>
            <a:r>
              <a:rPr lang="en-US" sz="3600" dirty="0" err="1" smtClean="0">
                <a:solidFill>
                  <a:srgbClr val="00B0F0"/>
                </a:solidFill>
              </a:rPr>
              <a:t>Nguyên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nhân</a:t>
            </a:r>
            <a:r>
              <a:rPr lang="en-US" sz="3600" dirty="0" smtClean="0">
                <a:solidFill>
                  <a:srgbClr val="00B0F0"/>
                </a:solidFill>
              </a:rPr>
              <a:t> hay </a:t>
            </a:r>
            <a:r>
              <a:rPr lang="en-US" sz="3600" dirty="0" err="1" smtClean="0">
                <a:solidFill>
                  <a:srgbClr val="00B0F0"/>
                </a:solidFill>
              </a:rPr>
              <a:t>gặp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nhất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là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</a:p>
          <a:p>
            <a:pPr marL="742950" indent="-742950">
              <a:buAutoNum type="alphaUcPeriod"/>
            </a:pPr>
            <a:r>
              <a:rPr lang="en-US" sz="3600" dirty="0" smtClean="0">
                <a:solidFill>
                  <a:srgbClr val="00B0F0"/>
                </a:solidFill>
              </a:rPr>
              <a:t>Gram </a:t>
            </a:r>
            <a:r>
              <a:rPr lang="en-US" sz="3600" dirty="0" err="1" smtClean="0">
                <a:solidFill>
                  <a:srgbClr val="00B0F0"/>
                </a:solidFill>
              </a:rPr>
              <a:t>dương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742950" indent="-742950">
              <a:buAutoNum type="alphaUcPeriod"/>
            </a:pPr>
            <a:r>
              <a:rPr lang="en-US" sz="3600" dirty="0" smtClean="0">
                <a:solidFill>
                  <a:srgbClr val="00B0F0"/>
                </a:solidFill>
              </a:rPr>
              <a:t>Gram </a:t>
            </a:r>
            <a:r>
              <a:rPr lang="en-US" sz="3600" dirty="0" err="1" smtClean="0">
                <a:solidFill>
                  <a:srgbClr val="00B0F0"/>
                </a:solidFill>
              </a:rPr>
              <a:t>âm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742950" indent="-742950">
              <a:buAutoNum type="alphaUcPeriod"/>
            </a:pPr>
            <a:r>
              <a:rPr lang="en-US" sz="3600" dirty="0" err="1" smtClean="0">
                <a:solidFill>
                  <a:srgbClr val="00B0F0"/>
                </a:solidFill>
              </a:rPr>
              <a:t>Kí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sinh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trùng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742950" indent="-742950">
              <a:buAutoNum type="alphaUcPeriod"/>
            </a:pPr>
            <a:r>
              <a:rPr lang="en-US" sz="3600" dirty="0" err="1" smtClean="0">
                <a:solidFill>
                  <a:srgbClr val="00B0F0"/>
                </a:solidFill>
              </a:rPr>
              <a:t>Nấm</a:t>
            </a:r>
            <a:endParaRPr lang="en-US" sz="3600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  B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99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B0F0"/>
                </a:solidFill>
              </a:rPr>
              <a:t>6. </a:t>
            </a:r>
            <a:r>
              <a:rPr lang="en-US" sz="3600" dirty="0" err="1" smtClean="0">
                <a:solidFill>
                  <a:srgbClr val="00B0F0"/>
                </a:solidFill>
              </a:rPr>
              <a:t>Có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bao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nhiêu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cơ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chế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bệnh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sinh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để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bảo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vệ</a:t>
            </a:r>
            <a:r>
              <a:rPr lang="en-US" sz="3600" dirty="0" smtClean="0">
                <a:solidFill>
                  <a:srgbClr val="00B0F0"/>
                </a:solidFill>
              </a:rPr>
              <a:t>? </a:t>
            </a:r>
            <a:r>
              <a:rPr lang="en-US" sz="3600" dirty="0" err="1" smtClean="0">
                <a:solidFill>
                  <a:srgbClr val="00B0F0"/>
                </a:solidFill>
              </a:rPr>
              <a:t>Bao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nhiêu</a:t>
            </a:r>
            <a:r>
              <a:rPr lang="en-US" sz="3600" dirty="0" smtClean="0">
                <a:solidFill>
                  <a:srgbClr val="00B0F0"/>
                </a:solidFill>
              </a:rPr>
              <a:t> con </a:t>
            </a:r>
            <a:r>
              <a:rPr lang="en-US" sz="3600" dirty="0" err="1" smtClean="0">
                <a:solidFill>
                  <a:srgbClr val="00B0F0"/>
                </a:solidFill>
              </a:rPr>
              <a:t>đường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câm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nhập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của</a:t>
            </a:r>
            <a:r>
              <a:rPr lang="en-US" sz="3600" dirty="0" smtClean="0">
                <a:solidFill>
                  <a:srgbClr val="00B0F0"/>
                </a:solidFill>
              </a:rPr>
              <a:t> vi </a:t>
            </a:r>
            <a:r>
              <a:rPr lang="en-US" sz="3600" dirty="0" err="1" smtClean="0">
                <a:solidFill>
                  <a:srgbClr val="00B0F0"/>
                </a:solidFill>
              </a:rPr>
              <a:t>khuẩn</a:t>
            </a:r>
            <a:r>
              <a:rPr lang="en-US" sz="3600" dirty="0" smtClean="0">
                <a:solidFill>
                  <a:srgbClr val="00B0F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4 </a:t>
            </a:r>
            <a:r>
              <a:rPr lang="en-US" sz="3600" dirty="0" err="1" smtClean="0">
                <a:solidFill>
                  <a:srgbClr val="FF0000"/>
                </a:solidFill>
              </a:rPr>
              <a:t>và</a:t>
            </a:r>
            <a:r>
              <a:rPr lang="en-US" sz="3600" dirty="0" smtClean="0">
                <a:solidFill>
                  <a:srgbClr val="FF0000"/>
                </a:solidFill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94281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B0F0"/>
                </a:solidFill>
              </a:rPr>
              <a:t>7. </a:t>
            </a:r>
            <a:r>
              <a:rPr lang="en-US" sz="3600" dirty="0" err="1" smtClean="0">
                <a:solidFill>
                  <a:srgbClr val="00B0F0"/>
                </a:solidFill>
              </a:rPr>
              <a:t>chẩn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đoán</a:t>
            </a:r>
            <a:r>
              <a:rPr lang="en-US" sz="3600" dirty="0" smtClean="0">
                <a:solidFill>
                  <a:srgbClr val="00B0F0"/>
                </a:solidFill>
              </a:rPr>
              <a:t> NKTN </a:t>
            </a:r>
            <a:r>
              <a:rPr lang="en-US" sz="3600" dirty="0" err="1" smtClean="0">
                <a:solidFill>
                  <a:srgbClr val="00B0F0"/>
                </a:solidFill>
              </a:rPr>
              <a:t>dựa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vào</a:t>
            </a:r>
            <a:r>
              <a:rPr lang="en-US" sz="3600" dirty="0" smtClean="0">
                <a:solidFill>
                  <a:srgbClr val="00B0F0"/>
                </a:solidFill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</a:rPr>
              <a:t>đâu</a:t>
            </a:r>
            <a:r>
              <a:rPr lang="en-US" sz="3600" dirty="0" smtClean="0">
                <a:solidFill>
                  <a:srgbClr val="00B0F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3600" dirty="0" err="1" smtClean="0">
                <a:solidFill>
                  <a:srgbClr val="FF0000"/>
                </a:solidFill>
              </a:rPr>
              <a:t>Lâm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sàng</a:t>
            </a:r>
            <a:endParaRPr lang="en-US" sz="36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CLS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NKTN </a:t>
            </a:r>
            <a:r>
              <a:rPr lang="en-US" sz="3600" dirty="0" err="1" smtClean="0">
                <a:solidFill>
                  <a:srgbClr val="FF0000"/>
                </a:solidFill>
              </a:rPr>
              <a:t>trên</a:t>
            </a:r>
            <a:r>
              <a:rPr lang="en-US" sz="3600" dirty="0" smtClean="0">
                <a:solidFill>
                  <a:srgbClr val="FF0000"/>
                </a:solidFill>
              </a:rPr>
              <a:t> hay </a:t>
            </a:r>
            <a:r>
              <a:rPr lang="en-US" sz="3600" dirty="0" err="1" smtClean="0">
                <a:solidFill>
                  <a:srgbClr val="FF0000"/>
                </a:solidFill>
              </a:rPr>
              <a:t>dưới</a:t>
            </a:r>
            <a:r>
              <a:rPr lang="en-US" sz="3600" dirty="0" smtClean="0">
                <a:solidFill>
                  <a:srgbClr val="FF0000"/>
                </a:solidFill>
              </a:rPr>
              <a:t>? </a:t>
            </a:r>
            <a:r>
              <a:rPr lang="en-US" sz="3600" dirty="0" err="1" smtClean="0">
                <a:solidFill>
                  <a:srgbClr val="FF0000"/>
                </a:solidFill>
              </a:rPr>
              <a:t>Mức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độ</a:t>
            </a:r>
            <a:r>
              <a:rPr lang="en-US" sz="3600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978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553712"/>
          </a:xfrm>
        </p:spPr>
        <p:txBody>
          <a:bodyPr>
            <a:normAutofit/>
          </a:bodyPr>
          <a:lstStyle/>
          <a:p>
            <a:pPr algn="ctr"/>
            <a:r>
              <a:rPr lang="en-US" sz="8000" dirty="0" smtClean="0"/>
              <a:t>THANK YOU FOR WATCHING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816</TotalTime>
  <Words>2647</Words>
  <Application>Microsoft Office PowerPoint</Application>
  <PresentationFormat>On-screen Show (4:3)</PresentationFormat>
  <Paragraphs>275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Flow</vt:lpstr>
      <vt:lpstr>NHIỄM KHUẨN TIẾT NIỆU  Ở TRẺ EM URINARY TRACT IFNECTION</vt:lpstr>
      <vt:lpstr>ĐẠI CƯƠNG</vt:lpstr>
      <vt:lpstr>GIẢI PHẪU ĐƯỜNG TIẾT NIỆU</vt:lpstr>
      <vt:lpstr>PowerPoint Presentation</vt:lpstr>
      <vt:lpstr>PowerPoint Presentation</vt:lpstr>
      <vt:lpstr>PowerPoint Presentation</vt:lpstr>
      <vt:lpstr>2. Dịch tễ  </vt:lpstr>
      <vt:lpstr>PowerPoint Presentation</vt:lpstr>
      <vt:lpstr>PowerPoint Presentation</vt:lpstr>
      <vt:lpstr>PowerPoint Presentation</vt:lpstr>
      <vt:lpstr>3. Phân loại</vt:lpstr>
      <vt:lpstr>4. Nguyên nhân</vt:lpstr>
      <vt:lpstr>PowerPoint Presentation</vt:lpstr>
      <vt:lpstr>PowerPoint Presentation</vt:lpstr>
      <vt:lpstr>5.Cơ chế bệnh sinh </vt:lpstr>
      <vt:lpstr>5.2 Cơ chế xâm nhập của VK vào đường niệu</vt:lpstr>
      <vt:lpstr>Vi khuẩn E.coli</vt:lpstr>
      <vt:lpstr>Triệu chứng lâm sàng</vt:lpstr>
      <vt:lpstr>II. Triệu chứng lâm sàng</vt:lpstr>
      <vt:lpstr>Ngoài ra trẻ có thể có các triệu chứng sau:</vt:lpstr>
      <vt:lpstr>2. Trẻ em từ 2 tháng đến 2 tuổi:</vt:lpstr>
      <vt:lpstr>3. Trẻ lớn</vt:lpstr>
      <vt:lpstr>II. Triệu chứng lâm sàng</vt:lpstr>
      <vt:lpstr>PowerPoint Presentation</vt:lpstr>
      <vt:lpstr>III. Cận lâm sàng</vt:lpstr>
      <vt:lpstr>Tiêu chuẩn cấy nước tiểu</vt:lpstr>
      <vt:lpstr>1.2 Soi nước tiểu</vt:lpstr>
      <vt:lpstr>1.3 Tổng phân tích nước tiểu</vt:lpstr>
      <vt:lpstr>2. Xét nghiệm máu</vt:lpstr>
      <vt:lpstr>3. Chẩn đoán hình ảnh</vt:lpstr>
      <vt:lpstr>IV. Chẩn đoán</vt:lpstr>
      <vt:lpstr>PowerPoint Presentation</vt:lpstr>
      <vt:lpstr>2.Chẩn đoán vị trí </vt:lpstr>
      <vt:lpstr>V. Điều trị </vt:lpstr>
      <vt:lpstr>2. Điều trị nội khoa</vt:lpstr>
      <vt:lpstr>kháng sinh tại nhà</vt:lpstr>
      <vt:lpstr>PowerPoint Presentation</vt:lpstr>
      <vt:lpstr>PowerPoint Presentation</vt:lpstr>
      <vt:lpstr>PowerPoint Presentation</vt:lpstr>
      <vt:lpstr>PowerPoint Presentation</vt:lpstr>
      <vt:lpstr>2.2 Điều trị tại bệnh viện.</vt:lpstr>
      <vt:lpstr>PowerPoint Presentation</vt:lpstr>
      <vt:lpstr>PowerPoint Presentation</vt:lpstr>
      <vt:lpstr>PowerPoint Presentation</vt:lpstr>
      <vt:lpstr>PowerPoint Presentation</vt:lpstr>
      <vt:lpstr>Chú ý</vt:lpstr>
      <vt:lpstr>PowerPoint Presentation</vt:lpstr>
      <vt:lpstr>Bảng chọn KS trong NKTN ở trẻ</vt:lpstr>
      <vt:lpstr>2. Điều trị ngoại khoa</vt:lpstr>
      <vt:lpstr>VI.PHÒNG BỆNH</vt:lpstr>
      <vt:lpstr>Câu hỏi lượng giá</vt:lpstr>
      <vt:lpstr>PowerPoint Presentation</vt:lpstr>
      <vt:lpstr>PowerPoint Presentation</vt:lpstr>
      <vt:lpstr>PowerPoint Presentation</vt:lpstr>
      <vt:lpstr>PowerPoint Presentation</vt:lpstr>
      <vt:lpstr>THANK YOU FOR WATCHING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NHIỄM KHUẨN TIẾT NIỆU  Ở TRẺ EM URINARY TRACT IFNECTION</dc:title>
  <dc:creator>USER</dc:creator>
  <cp:lastModifiedBy>Manh Ung Van</cp:lastModifiedBy>
  <cp:revision>105</cp:revision>
  <dcterms:created xsi:type="dcterms:W3CDTF">2018-06-08T23:37:20Z</dcterms:created>
  <dcterms:modified xsi:type="dcterms:W3CDTF">2018-06-13T09:35:07Z</dcterms:modified>
</cp:coreProperties>
</file>